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8"/>
  </p:notesMasterIdLst>
  <p:sldIdLst>
    <p:sldId id="1313" r:id="rId2"/>
    <p:sldId id="1314" r:id="rId3"/>
    <p:sldId id="1315" r:id="rId4"/>
    <p:sldId id="1316" r:id="rId5"/>
    <p:sldId id="1317" r:id="rId6"/>
    <p:sldId id="1318" r:id="rId7"/>
    <p:sldId id="1319" r:id="rId8"/>
    <p:sldId id="1320" r:id="rId9"/>
    <p:sldId id="1321" r:id="rId10"/>
    <p:sldId id="1322" r:id="rId11"/>
    <p:sldId id="1323" r:id="rId12"/>
    <p:sldId id="1324" r:id="rId13"/>
    <p:sldId id="1325" r:id="rId14"/>
    <p:sldId id="1326" r:id="rId15"/>
    <p:sldId id="1327" r:id="rId16"/>
    <p:sldId id="1328" r:id="rId17"/>
    <p:sldId id="1329" r:id="rId18"/>
    <p:sldId id="1330" r:id="rId19"/>
    <p:sldId id="1331" r:id="rId20"/>
    <p:sldId id="1332" r:id="rId21"/>
    <p:sldId id="1333" r:id="rId22"/>
    <p:sldId id="1334" r:id="rId23"/>
    <p:sldId id="1335" r:id="rId24"/>
    <p:sldId id="1336" r:id="rId25"/>
    <p:sldId id="1337" r:id="rId26"/>
    <p:sldId id="1338" r:id="rId27"/>
    <p:sldId id="1339" r:id="rId28"/>
    <p:sldId id="1340" r:id="rId29"/>
    <p:sldId id="1341" r:id="rId30"/>
    <p:sldId id="1342" r:id="rId31"/>
    <p:sldId id="1343" r:id="rId32"/>
    <p:sldId id="1344" r:id="rId33"/>
    <p:sldId id="1345" r:id="rId34"/>
    <p:sldId id="1346" r:id="rId35"/>
    <p:sldId id="1347" r:id="rId36"/>
    <p:sldId id="1348" r:id="rId37"/>
    <p:sldId id="1349" r:id="rId38"/>
    <p:sldId id="1350" r:id="rId39"/>
    <p:sldId id="1351" r:id="rId40"/>
    <p:sldId id="1352" r:id="rId41"/>
    <p:sldId id="1353" r:id="rId42"/>
    <p:sldId id="1354" r:id="rId43"/>
    <p:sldId id="1355" r:id="rId44"/>
    <p:sldId id="1356" r:id="rId45"/>
    <p:sldId id="1357" r:id="rId46"/>
    <p:sldId id="1358" r:id="rId47"/>
    <p:sldId id="1359" r:id="rId48"/>
    <p:sldId id="1360" r:id="rId49"/>
    <p:sldId id="1361" r:id="rId50"/>
    <p:sldId id="1362" r:id="rId51"/>
    <p:sldId id="1363" r:id="rId52"/>
    <p:sldId id="1364" r:id="rId53"/>
    <p:sldId id="1365" r:id="rId54"/>
    <p:sldId id="1366" r:id="rId55"/>
    <p:sldId id="1367" r:id="rId56"/>
    <p:sldId id="1368" r:id="rId57"/>
    <p:sldId id="1419" r:id="rId58"/>
    <p:sldId id="1305" r:id="rId59"/>
    <p:sldId id="1306" r:id="rId60"/>
    <p:sldId id="1124" r:id="rId61"/>
    <p:sldId id="1125" r:id="rId62"/>
    <p:sldId id="1139" r:id="rId63"/>
    <p:sldId id="1145" r:id="rId64"/>
    <p:sldId id="1141" r:id="rId65"/>
    <p:sldId id="1146" r:id="rId66"/>
    <p:sldId id="1308" r:id="rId67"/>
    <p:sldId id="1151" r:id="rId68"/>
    <p:sldId id="1152" r:id="rId69"/>
    <p:sldId id="1310" r:id="rId70"/>
    <p:sldId id="1153" r:id="rId71"/>
    <p:sldId id="1155" r:id="rId72"/>
    <p:sldId id="1157" r:id="rId73"/>
    <p:sldId id="1312" r:id="rId74"/>
    <p:sldId id="1159" r:id="rId75"/>
    <p:sldId id="1161" r:id="rId76"/>
    <p:sldId id="1370" r:id="rId77"/>
    <p:sldId id="1163" r:id="rId78"/>
    <p:sldId id="1164" r:id="rId79"/>
    <p:sldId id="1165" r:id="rId80"/>
    <p:sldId id="1372" r:id="rId81"/>
    <p:sldId id="1166" r:id="rId82"/>
    <p:sldId id="1168" r:id="rId83"/>
    <p:sldId id="1374" r:id="rId84"/>
    <p:sldId id="1169" r:id="rId85"/>
    <p:sldId id="1376" r:id="rId86"/>
    <p:sldId id="1171" r:id="rId87"/>
    <p:sldId id="1378" r:id="rId88"/>
    <p:sldId id="1175" r:id="rId89"/>
    <p:sldId id="1176" r:id="rId90"/>
    <p:sldId id="1380" r:id="rId91"/>
    <p:sldId id="1177" r:id="rId92"/>
    <p:sldId id="1382" r:id="rId93"/>
    <p:sldId id="1180" r:id="rId94"/>
    <p:sldId id="1182" r:id="rId95"/>
    <p:sldId id="1384" r:id="rId96"/>
    <p:sldId id="1190" r:id="rId97"/>
    <p:sldId id="1129" r:id="rId98"/>
    <p:sldId id="1130" r:id="rId99"/>
    <p:sldId id="1386" r:id="rId100"/>
    <p:sldId id="1131" r:id="rId101"/>
    <p:sldId id="1195" r:id="rId102"/>
    <p:sldId id="1388" r:id="rId103"/>
    <p:sldId id="1196" r:id="rId104"/>
    <p:sldId id="1197" r:id="rId105"/>
    <p:sldId id="1391" r:id="rId106"/>
    <p:sldId id="1390" r:id="rId107"/>
    <p:sldId id="1138" r:id="rId108"/>
    <p:sldId id="1392" r:id="rId109"/>
    <p:sldId id="1393" r:id="rId110"/>
    <p:sldId id="1204" r:id="rId111"/>
    <p:sldId id="1394" r:id="rId112"/>
    <p:sldId id="1205" r:id="rId113"/>
    <p:sldId id="1395" r:id="rId114"/>
    <p:sldId id="1206" r:id="rId115"/>
    <p:sldId id="1208" r:id="rId116"/>
    <p:sldId id="1210" r:id="rId117"/>
    <p:sldId id="1398" r:id="rId118"/>
    <p:sldId id="1215" r:id="rId119"/>
    <p:sldId id="1216" r:id="rId120"/>
    <p:sldId id="1399" r:id="rId121"/>
    <p:sldId id="1217" r:id="rId122"/>
    <p:sldId id="1400" r:id="rId123"/>
    <p:sldId id="1223" r:id="rId124"/>
    <p:sldId id="1224" r:id="rId125"/>
    <p:sldId id="1225" r:id="rId126"/>
    <p:sldId id="1402" r:id="rId127"/>
    <p:sldId id="1226" r:id="rId128"/>
    <p:sldId id="1227" r:id="rId129"/>
    <p:sldId id="1228" r:id="rId130"/>
    <p:sldId id="1229" r:id="rId131"/>
    <p:sldId id="1404" r:id="rId132"/>
    <p:sldId id="1405" r:id="rId133"/>
    <p:sldId id="1231" r:id="rId134"/>
    <p:sldId id="1233" r:id="rId135"/>
    <p:sldId id="1234" r:id="rId136"/>
    <p:sldId id="1406" r:id="rId137"/>
    <p:sldId id="1236" r:id="rId138"/>
    <p:sldId id="1408" r:id="rId139"/>
    <p:sldId id="1241" r:id="rId140"/>
    <p:sldId id="1242" r:id="rId141"/>
    <p:sldId id="1243" r:id="rId142"/>
    <p:sldId id="1248" r:id="rId143"/>
    <p:sldId id="1249" r:id="rId144"/>
    <p:sldId id="1410" r:id="rId145"/>
    <p:sldId id="1251" r:id="rId146"/>
    <p:sldId id="1253" r:id="rId147"/>
    <p:sldId id="1413" r:id="rId148"/>
    <p:sldId id="1256" r:id="rId149"/>
    <p:sldId id="1257" r:id="rId150"/>
    <p:sldId id="1415" r:id="rId151"/>
    <p:sldId id="1263" r:id="rId152"/>
    <p:sldId id="1417" r:id="rId153"/>
    <p:sldId id="1264" r:id="rId154"/>
    <p:sldId id="1418" r:id="rId155"/>
    <p:sldId id="1420" r:id="rId156"/>
    <p:sldId id="1421" r:id="rId157"/>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CAC3CF8-6F15-4C9B-8563-F0C66172CE1A}">
          <p14:sldIdLst>
            <p14:sldId id="1313"/>
            <p14:sldId id="1314"/>
            <p14:sldId id="1315"/>
            <p14:sldId id="1316"/>
            <p14:sldId id="1317"/>
            <p14:sldId id="1318"/>
            <p14:sldId id="1319"/>
            <p14:sldId id="1320"/>
            <p14:sldId id="1321"/>
            <p14:sldId id="1322"/>
            <p14:sldId id="1323"/>
            <p14:sldId id="1324"/>
            <p14:sldId id="1325"/>
            <p14:sldId id="1326"/>
            <p14:sldId id="1327"/>
            <p14:sldId id="1328"/>
            <p14:sldId id="1329"/>
            <p14:sldId id="1330"/>
            <p14:sldId id="1331"/>
            <p14:sldId id="1332"/>
            <p14:sldId id="1333"/>
            <p14:sldId id="1334"/>
            <p14:sldId id="1335"/>
            <p14:sldId id="1336"/>
            <p14:sldId id="1337"/>
            <p14:sldId id="1338"/>
            <p14:sldId id="1339"/>
            <p14:sldId id="1340"/>
            <p14:sldId id="1341"/>
            <p14:sldId id="1342"/>
            <p14:sldId id="1343"/>
            <p14:sldId id="1344"/>
            <p14:sldId id="1345"/>
            <p14:sldId id="1346"/>
            <p14:sldId id="1347"/>
            <p14:sldId id="1348"/>
            <p14:sldId id="1349"/>
            <p14:sldId id="1350"/>
            <p14:sldId id="1351"/>
            <p14:sldId id="1352"/>
            <p14:sldId id="1353"/>
            <p14:sldId id="1354"/>
            <p14:sldId id="1355"/>
            <p14:sldId id="1356"/>
            <p14:sldId id="1357"/>
            <p14:sldId id="1358"/>
            <p14:sldId id="1359"/>
            <p14:sldId id="1360"/>
            <p14:sldId id="1361"/>
            <p14:sldId id="1362"/>
            <p14:sldId id="1363"/>
            <p14:sldId id="1364"/>
            <p14:sldId id="1365"/>
            <p14:sldId id="1366"/>
            <p14:sldId id="1367"/>
            <p14:sldId id="1368"/>
          </p14:sldIdLst>
        </p14:section>
        <p14:section name="默认节" id="{F7566624-F175-486E-8409-E1AEF6D2B907}">
          <p14:sldIdLst>
            <p14:sldId id="1419"/>
          </p14:sldIdLst>
        </p14:section>
        <p14:section name="无标题节" id="{EA69E17C-4731-4F39-B01B-078F3D91E8F6}">
          <p14:sldIdLst>
            <p14:sldId id="1305"/>
            <p14:sldId id="1306"/>
            <p14:sldId id="1124"/>
            <p14:sldId id="1125"/>
            <p14:sldId id="1139"/>
            <p14:sldId id="1145"/>
            <p14:sldId id="1141"/>
            <p14:sldId id="1146"/>
            <p14:sldId id="1308"/>
            <p14:sldId id="1151"/>
            <p14:sldId id="1152"/>
            <p14:sldId id="1310"/>
            <p14:sldId id="1153"/>
            <p14:sldId id="1155"/>
            <p14:sldId id="1157"/>
            <p14:sldId id="1312"/>
            <p14:sldId id="1159"/>
            <p14:sldId id="1161"/>
            <p14:sldId id="1370"/>
            <p14:sldId id="1163"/>
            <p14:sldId id="1164"/>
            <p14:sldId id="1165"/>
            <p14:sldId id="1372"/>
            <p14:sldId id="1166"/>
            <p14:sldId id="1168"/>
            <p14:sldId id="1374"/>
            <p14:sldId id="1169"/>
            <p14:sldId id="1376"/>
            <p14:sldId id="1171"/>
            <p14:sldId id="1378"/>
            <p14:sldId id="1175"/>
            <p14:sldId id="1176"/>
            <p14:sldId id="1380"/>
            <p14:sldId id="1177"/>
            <p14:sldId id="1382"/>
            <p14:sldId id="1180"/>
            <p14:sldId id="1182"/>
            <p14:sldId id="1384"/>
            <p14:sldId id="1190"/>
            <p14:sldId id="1129"/>
            <p14:sldId id="1130"/>
            <p14:sldId id="1386"/>
            <p14:sldId id="1131"/>
            <p14:sldId id="1195"/>
            <p14:sldId id="1388"/>
            <p14:sldId id="1196"/>
            <p14:sldId id="1197"/>
            <p14:sldId id="1391"/>
            <p14:sldId id="1390"/>
            <p14:sldId id="1138"/>
            <p14:sldId id="1392"/>
            <p14:sldId id="1393"/>
            <p14:sldId id="1204"/>
            <p14:sldId id="1394"/>
            <p14:sldId id="1205"/>
            <p14:sldId id="1395"/>
            <p14:sldId id="1206"/>
            <p14:sldId id="1208"/>
            <p14:sldId id="1210"/>
            <p14:sldId id="1398"/>
            <p14:sldId id="1215"/>
            <p14:sldId id="1216"/>
            <p14:sldId id="1399"/>
            <p14:sldId id="1217"/>
            <p14:sldId id="1400"/>
            <p14:sldId id="1223"/>
            <p14:sldId id="1224"/>
            <p14:sldId id="1225"/>
            <p14:sldId id="1402"/>
            <p14:sldId id="1226"/>
            <p14:sldId id="1227"/>
            <p14:sldId id="1228"/>
            <p14:sldId id="1229"/>
            <p14:sldId id="1404"/>
            <p14:sldId id="1405"/>
            <p14:sldId id="1231"/>
            <p14:sldId id="1233"/>
            <p14:sldId id="1234"/>
            <p14:sldId id="1406"/>
            <p14:sldId id="1236"/>
            <p14:sldId id="1408"/>
            <p14:sldId id="1241"/>
            <p14:sldId id="1242"/>
            <p14:sldId id="1243"/>
            <p14:sldId id="1248"/>
            <p14:sldId id="1249"/>
            <p14:sldId id="1410"/>
            <p14:sldId id="1251"/>
            <p14:sldId id="1253"/>
            <p14:sldId id="1413"/>
            <p14:sldId id="1256"/>
            <p14:sldId id="1257"/>
            <p14:sldId id="1415"/>
            <p14:sldId id="1263"/>
            <p14:sldId id="1417"/>
            <p14:sldId id="1264"/>
            <p14:sldId id="1418"/>
            <p14:sldId id="1420"/>
            <p14:sldId id="1421"/>
          </p14:sldIdLst>
        </p14:section>
      </p14:sectionLst>
    </p:ext>
    <p:ext uri="{EFAFB233-063F-42B5-8137-9DF3F51BA10A}">
      <p15:sldGuideLst xmlns:p15="http://schemas.microsoft.com/office/powerpoint/2012/main">
        <p15:guide id="1" orient="horz" pos="2032">
          <p15:clr>
            <a:srgbClr val="A4A3A4"/>
          </p15:clr>
        </p15:guide>
        <p15:guide id="2" pos="37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61FF"/>
    <a:srgbClr val="FFFFFF"/>
    <a:srgbClr val="CFA57C"/>
    <a:srgbClr val="002F7C"/>
    <a:srgbClr val="104AA8"/>
    <a:srgbClr val="0C3EAC"/>
    <a:srgbClr val="3D557A"/>
    <a:srgbClr val="4556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467" autoAdjust="0"/>
    <p:restoredTop sz="54858" autoAdjust="0"/>
  </p:normalViewPr>
  <p:slideViewPr>
    <p:cSldViewPr snapToGrid="0" showGuides="1">
      <p:cViewPr varScale="1">
        <p:scale>
          <a:sx n="57" d="100"/>
          <a:sy n="57" d="100"/>
        </p:scale>
        <p:origin x="936" y="64"/>
      </p:cViewPr>
      <p:guideLst>
        <p:guide orient="horz" pos="2032"/>
        <p:guide pos="3798"/>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slide" Target="slides/slide152.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873E485D-0A46-47F7-A37C-0200B173D2B8}" type="datetimeFigureOut">
              <a:rPr lang="zh-CN" altLang="en-US" smtClean="0"/>
              <a:t>2025/6/17</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CAFE74B6-F93C-4D90-BE1A-7EFEDB35C0D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9.1 </a:t>
            </a:r>
            <a:r>
              <a:rPr lang="zh-CN" altLang="en-US" dirty="0"/>
              <a:t>二元运算及其性质 </a:t>
            </a:r>
            <a:r>
              <a:rPr lang="en-US" altLang="zh-CN" dirty="0"/>
              <a:t>9.2 </a:t>
            </a:r>
            <a:r>
              <a:rPr lang="zh-CN" altLang="en-US" dirty="0"/>
              <a:t>代数系统 </a:t>
            </a:r>
            <a:r>
              <a:rPr lang="en-US" altLang="zh-CN" dirty="0"/>
              <a:t>9.3 </a:t>
            </a:r>
            <a:r>
              <a:rPr lang="zh-CN" altLang="en-US" dirty="0"/>
              <a:t>几个典型的代数系统</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50000"/>
              </a:spcBef>
              <a:buNone/>
            </a:pPr>
            <a:r>
              <a:rPr lang="en-US" altLang="zh-CN" b="1" dirty="0"/>
              <a:t>9.1.1 </a:t>
            </a:r>
            <a:r>
              <a:rPr lang="zh-CN" altLang="en-US" b="1" dirty="0"/>
              <a:t>二元运算与一元运算</a:t>
            </a:r>
          </a:p>
          <a:p>
            <a:pPr marL="631825" indent="87313">
              <a:spcBef>
                <a:spcPct val="50000"/>
              </a:spcBef>
            </a:pPr>
            <a:r>
              <a:rPr lang="zh-CN" altLang="en-US" b="1" dirty="0"/>
              <a:t>二元运算定义及其实例</a:t>
            </a:r>
          </a:p>
          <a:p>
            <a:pPr marL="631825" indent="87313">
              <a:spcBef>
                <a:spcPct val="50000"/>
              </a:spcBef>
            </a:pPr>
            <a:r>
              <a:rPr lang="zh-CN" altLang="en-US" b="1" dirty="0"/>
              <a:t> 一元运算定义及其实例</a:t>
            </a:r>
          </a:p>
          <a:p>
            <a:pPr marL="631825" indent="87313">
              <a:spcBef>
                <a:spcPct val="50000"/>
              </a:spcBef>
            </a:pPr>
            <a:r>
              <a:rPr lang="zh-CN" altLang="en-US" b="1" dirty="0"/>
              <a:t> 运算的表示</a:t>
            </a:r>
          </a:p>
          <a:p>
            <a:pPr marL="0" indent="0">
              <a:spcBef>
                <a:spcPct val="50000"/>
              </a:spcBef>
              <a:buNone/>
            </a:pPr>
            <a:r>
              <a:rPr lang="en-US" altLang="zh-CN" b="1" dirty="0"/>
              <a:t>9.1.2 </a:t>
            </a:r>
            <a:r>
              <a:rPr lang="zh-CN" altLang="en-US" b="1" dirty="0"/>
              <a:t>二元运算的性质</a:t>
            </a:r>
          </a:p>
          <a:p>
            <a:pPr marL="631825" indent="87313">
              <a:spcBef>
                <a:spcPct val="50000"/>
              </a:spcBef>
            </a:pPr>
            <a:r>
              <a:rPr lang="zh-CN" altLang="en-US" b="1" dirty="0"/>
              <a:t>交换律、结合律、幂等律、分配律、吸收律</a:t>
            </a:r>
          </a:p>
          <a:p>
            <a:pPr marL="631825" indent="87313">
              <a:spcBef>
                <a:spcPct val="50000"/>
              </a:spcBef>
            </a:pPr>
            <a:r>
              <a:rPr lang="zh-CN" altLang="en-US" b="1" dirty="0"/>
              <a:t>特异元素：单位元、零元、可逆元</a:t>
            </a:r>
          </a:p>
          <a:p>
            <a:pPr marL="631825" indent="87313">
              <a:spcBef>
                <a:spcPct val="50000"/>
              </a:spcBef>
            </a:pPr>
            <a:r>
              <a:rPr lang="zh-CN" altLang="en-US" b="1" dirty="0"/>
              <a:t>消去律</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a:t>
            </a:fld>
            <a:endParaRPr lang="zh-CN" altLang="en-US"/>
          </a:p>
        </p:txBody>
      </p:sp>
    </p:spTree>
    <p:extLst>
      <p:ext uri="{BB962C8B-B14F-4D97-AF65-F5344CB8AC3E}">
        <p14:creationId xmlns:p14="http://schemas.microsoft.com/office/powerpoint/2010/main" val="1831554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非零实数集上，严格意义上除法并不是一个二元运算，因为它不满足结合律</a:t>
            </a:r>
            <a:endParaRPr lang="en-US" altLang="zh-CN" dirty="0"/>
          </a:p>
          <a:p>
            <a:r>
              <a:rPr lang="zh-CN" altLang="en-US" dirty="0"/>
              <a:t>（</a:t>
            </a:r>
            <a:r>
              <a:rPr lang="en-US" altLang="zh-CN" dirty="0"/>
              <a:t>5</a:t>
            </a:r>
            <a:r>
              <a:rPr lang="zh-CN" altLang="en-US" dirty="0"/>
              <a:t>）在集合</a:t>
            </a:r>
            <a:r>
              <a:rPr lang="en-US" altLang="zh-CN" dirty="0"/>
              <a:t>S </a:t>
            </a:r>
            <a:r>
              <a:rPr lang="zh-CN" altLang="en-US" dirty="0"/>
              <a:t>上定义的一个非常特殊的二元运算，使用运算∘对这两个元素进行操作时，无论</a:t>
            </a:r>
            <a:r>
              <a:rPr lang="en-US" altLang="zh-CN" dirty="0"/>
              <a:t>j </a:t>
            </a:r>
            <a:r>
              <a:rPr lang="zh-CN" altLang="en-US" dirty="0"/>
              <a:t>的值是多少，结果总是</a:t>
            </a:r>
            <a:r>
              <a:rPr lang="en-US" altLang="zh-CN" dirty="0"/>
              <a:t>ai</a:t>
            </a:r>
          </a:p>
          <a:p>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为集合</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函数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称为</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上的二元运算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简称为</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二元运算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也称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对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 </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封闭</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spcBef>
                <a:spcPct val="40000"/>
              </a:spcBef>
            </a:pP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endPar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40000"/>
              </a:spcBef>
            </a:pP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自然数集合</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上的二元运算：加法、乘法</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spcBef>
                <a:spcPct val="40000"/>
              </a:spcBef>
            </a:pP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减法和除法的结果不满足封闭性</a:t>
            </a:r>
            <a:endPar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(2)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整数集合</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Z</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上的二元运算：加法、减法、乘法</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除法可能产生非整数结果</a:t>
            </a:r>
            <a:endPar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(3)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非零实数集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上的二元运算</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乘法、除法</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加减法计算结果不满足封闭性</a:t>
            </a:r>
            <a:endPar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(4)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1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a:t>
            </a:r>
            <a:r>
              <a:rPr lang="en-US" altLang="zh-CN" sz="11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1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a:t>
            </a:r>
            <a:r>
              <a:rPr lang="en-US" altLang="zh-CN" sz="11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1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11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1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 </a:t>
            </a:r>
            <a:r>
              <a:rPr lang="zh-CN" altLang="en-US" sz="11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en-US" altLang="zh-CN" sz="11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上二元运算</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a:t>
            </a:fld>
            <a:endParaRPr lang="zh-CN" altLang="en-US"/>
          </a:p>
        </p:txBody>
      </p:sp>
    </p:spTree>
    <p:extLst>
      <p:ext uri="{BB962C8B-B14F-4D97-AF65-F5344CB8AC3E}">
        <p14:creationId xmlns:p14="http://schemas.microsoft.com/office/powerpoint/2010/main" val="563713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非零实数集上，严格意义上除法并不是一个二元运算，因为它不满足结合律</a:t>
            </a:r>
            <a:endParaRPr lang="en-US" altLang="zh-CN" dirty="0"/>
          </a:p>
          <a:p>
            <a:r>
              <a:rPr lang="zh-CN" altLang="en-US" dirty="0"/>
              <a:t>（</a:t>
            </a:r>
            <a:r>
              <a:rPr lang="en-US" altLang="zh-CN" dirty="0"/>
              <a:t>5</a:t>
            </a:r>
            <a:r>
              <a:rPr lang="zh-CN" altLang="en-US" dirty="0"/>
              <a:t>）在集合</a:t>
            </a:r>
            <a:r>
              <a:rPr lang="en-US" altLang="zh-CN" dirty="0"/>
              <a:t>S </a:t>
            </a:r>
            <a:r>
              <a:rPr lang="zh-CN" altLang="en-US" dirty="0"/>
              <a:t>上定义的一个非常特殊的二元运算，使用运算∘对这两个元素进行操作时，无论</a:t>
            </a:r>
            <a:r>
              <a:rPr lang="en-US" altLang="zh-CN" dirty="0"/>
              <a:t>j </a:t>
            </a:r>
            <a:r>
              <a:rPr lang="zh-CN" altLang="en-US" dirty="0"/>
              <a:t>的值是多少，结果总是</a:t>
            </a:r>
            <a:r>
              <a:rPr lang="en-US" altLang="zh-CN" dirty="0"/>
              <a:t>ai</a:t>
            </a:r>
          </a:p>
          <a:p>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为集合</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函数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称为</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上的二元运算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简称为</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二元运算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也称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对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 </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封闭</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spcBef>
                <a:spcPct val="40000"/>
              </a:spcBef>
            </a:pP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endPar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(4)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1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a:t>
            </a:r>
            <a:r>
              <a:rPr lang="en-US" altLang="zh-CN" sz="11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1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a:t>
            </a:r>
            <a:r>
              <a:rPr lang="en-US" altLang="zh-CN" sz="11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1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11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1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 </a:t>
            </a:r>
            <a:r>
              <a:rPr lang="zh-CN" altLang="en-US" sz="11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en-US" altLang="zh-CN" sz="11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上二元运算</a:t>
            </a:r>
            <a:endPar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(5)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设</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表示所有</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阶</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实矩阵的集合，即</a:t>
            </a:r>
          </a:p>
          <a:p>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矩阵加法和乘法都是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上的二元运算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(6)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幂集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上的二元运算：∪、∩、－、</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(7)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i="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上的所有函数的集合</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合成运算</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solidFill>
                  <a:schemeClr val="tx1"/>
                </a:solidFill>
                <a:latin typeface="+mn-ea"/>
                <a:ea typeface="+mn-ea"/>
                <a:cs typeface="Times New Roman" panose="02020603050405020304" pitchFamily="18" charset="0"/>
                <a:sym typeface="Symbol" panose="05050102010706020507" pitchFamily="18" charset="2"/>
              </a:rPr>
              <a:t>是</a:t>
            </a:r>
            <a:r>
              <a:rPr lang="en-US" altLang="zh-CN" sz="1200" b="1" dirty="0">
                <a:solidFill>
                  <a:schemeClr val="tx1"/>
                </a:solidFill>
                <a:latin typeface="+mn-ea"/>
                <a:ea typeface="+mn-ea"/>
                <a:cs typeface="Times New Roman" panose="02020603050405020304" pitchFamily="18" charset="0"/>
                <a:sym typeface="Symbol" panose="05050102010706020507" pitchFamily="18" charset="2"/>
              </a:rPr>
              <a:t>S</a:t>
            </a:r>
            <a:r>
              <a:rPr lang="zh-CN" altLang="en-US" sz="1200" b="1" dirty="0">
                <a:solidFill>
                  <a:schemeClr val="tx1"/>
                </a:solidFill>
                <a:latin typeface="+mn-ea"/>
                <a:ea typeface="+mn-ea"/>
                <a:cs typeface="Times New Roman" panose="02020603050405020304" pitchFamily="18" charset="0"/>
                <a:sym typeface="Symbol" panose="05050102010706020507" pitchFamily="18" charset="2"/>
              </a:rPr>
              <a:t>上的二元运算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a:t>
            </a:fld>
            <a:endParaRPr lang="zh-CN" altLang="en-US"/>
          </a:p>
        </p:txBody>
      </p:sp>
    </p:spTree>
    <p:extLst>
      <p:ext uri="{BB962C8B-B14F-4D97-AF65-F5344CB8AC3E}">
        <p14:creationId xmlns:p14="http://schemas.microsoft.com/office/powerpoint/2010/main" val="808984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050" b="0" kern="2200" dirty="0">
                <a:effectLst/>
                <a:latin typeface="Times New Roman" panose="02020603050405020304" pitchFamily="18" charset="0"/>
                <a:ea typeface="宋体" panose="02010600030101010101" pitchFamily="2" charset="-122"/>
                <a:cs typeface="Times New Roman" panose="02020603050405020304" pitchFamily="18" charset="0"/>
              </a:rPr>
              <a:t>整数集</a:t>
            </a:r>
            <a:r>
              <a:rPr lang="en-US" altLang="zh-CN" sz="1050" b="0" kern="2200" dirty="0">
                <a:effectLst/>
                <a:latin typeface="Times New Roman" panose="02020603050405020304" pitchFamily="18" charset="0"/>
                <a:ea typeface="宋体" panose="02010600030101010101" pitchFamily="2" charset="-122"/>
                <a:cs typeface="Times New Roman" panose="02020603050405020304" pitchFamily="18" charset="0"/>
              </a:rPr>
              <a:t>Z</a:t>
            </a:r>
            <a:r>
              <a:rPr lang="zh-CN" altLang="zh-CN" sz="1050" b="0" kern="2200" dirty="0">
                <a:effectLst/>
                <a:latin typeface="Times New Roman" panose="02020603050405020304" pitchFamily="18" charset="0"/>
                <a:ea typeface="宋体" panose="02010600030101010101" pitchFamily="2" charset="-122"/>
                <a:cs typeface="Times New Roman" panose="02020603050405020304" pitchFamily="18" charset="0"/>
              </a:rPr>
              <a:t>、有理数集</a:t>
            </a:r>
            <a:r>
              <a:rPr lang="en-US" altLang="zh-CN" sz="1050" b="0" kern="2200" dirty="0">
                <a:effectLst/>
                <a:latin typeface="Times New Roman" panose="02020603050405020304" pitchFamily="18" charset="0"/>
                <a:ea typeface="宋体" panose="02010600030101010101" pitchFamily="2" charset="-122"/>
                <a:cs typeface="Times New Roman" panose="02020603050405020304" pitchFamily="18" charset="0"/>
              </a:rPr>
              <a:t>Q</a:t>
            </a:r>
            <a:r>
              <a:rPr lang="zh-CN" altLang="zh-CN" sz="1050" b="0" kern="2200" dirty="0">
                <a:effectLst/>
                <a:latin typeface="Times New Roman" panose="02020603050405020304" pitchFamily="18" charset="0"/>
                <a:ea typeface="宋体" panose="02010600030101010101" pitchFamily="2" charset="-122"/>
                <a:cs typeface="Times New Roman" panose="02020603050405020304" pitchFamily="18" charset="0"/>
              </a:rPr>
              <a:t>、实数集 </a:t>
            </a:r>
            <a:r>
              <a:rPr lang="en-US" altLang="zh-CN" sz="1050" b="0" kern="22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1050" b="0" kern="2200" dirty="0">
                <a:effectLst/>
                <a:latin typeface="Times New Roman" panose="02020603050405020304" pitchFamily="18" charset="0"/>
                <a:ea typeface="宋体" panose="02010600030101010101" pitchFamily="2" charset="-122"/>
                <a:cs typeface="Times New Roman" panose="02020603050405020304" pitchFamily="18" charset="0"/>
              </a:rPr>
              <a:t>上的求反运算</a:t>
            </a:r>
            <a:endParaRPr lang="en-US" altLang="zh-CN" sz="1050" b="0" kern="22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050" b="0" kern="22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00000"/>
              </a:lnSpc>
              <a:buNone/>
            </a:pPr>
            <a:r>
              <a:rPr lang="zh-CN" altLang="en-US" sz="105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105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9.2</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为集合，函数 </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 </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称为</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上的一元运算，简称为</a:t>
            </a:r>
            <a:r>
              <a:rPr lang="zh-CN" altLang="en-US" sz="105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一元运算</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函数</a:t>
            </a:r>
            <a:endPar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00000"/>
              </a:lnSpc>
              <a:buNone/>
            </a:pPr>
            <a:r>
              <a:rPr lang="zh-CN" altLang="en-US" sz="1050" b="1" dirty="0">
                <a:latin typeface="Times New Roman" panose="02020603050405020304" pitchFamily="18" charset="0"/>
                <a:cs typeface="Times New Roman" panose="02020603050405020304" pitchFamily="18" charset="0"/>
              </a:rPr>
              <a:t>称为 </a:t>
            </a:r>
            <a:r>
              <a:rPr lang="en-US" altLang="zh-CN" sz="1050" b="1" i="1" dirty="0">
                <a:latin typeface="Times New Roman" panose="02020603050405020304" pitchFamily="18" charset="0"/>
                <a:cs typeface="Times New Roman" panose="02020603050405020304" pitchFamily="18" charset="0"/>
              </a:rPr>
              <a:t>S </a:t>
            </a:r>
            <a:r>
              <a:rPr lang="zh-CN" altLang="en-US" sz="1050" b="1" dirty="0">
                <a:latin typeface="Times New Roman" panose="02020603050405020304" pitchFamily="18" charset="0"/>
                <a:cs typeface="Times New Roman" panose="02020603050405020304" pitchFamily="18" charset="0"/>
              </a:rPr>
              <a:t>上的 </a:t>
            </a:r>
            <a:r>
              <a:rPr lang="en-US" altLang="zh-CN" sz="1050" b="1" i="1" dirty="0">
                <a:latin typeface="Times New Roman" panose="02020603050405020304" pitchFamily="18" charset="0"/>
                <a:cs typeface="Times New Roman" panose="02020603050405020304" pitchFamily="18" charset="0"/>
              </a:rPr>
              <a:t>n </a:t>
            </a:r>
            <a:r>
              <a:rPr lang="zh-CN" altLang="en-US" sz="1050" b="1" dirty="0">
                <a:latin typeface="Times New Roman" panose="02020603050405020304" pitchFamily="18" charset="0"/>
                <a:cs typeface="Times New Roman" panose="02020603050405020304" pitchFamily="18" charset="0"/>
              </a:rPr>
              <a:t>元运算，简称为 </a:t>
            </a:r>
            <a:r>
              <a:rPr lang="en-US" altLang="zh-CN" sz="1050" b="1" i="1" dirty="0">
                <a:solidFill>
                  <a:srgbClr val="FF0000"/>
                </a:solidFill>
                <a:latin typeface="Times New Roman" panose="02020603050405020304" pitchFamily="18" charset="0"/>
                <a:cs typeface="Times New Roman" panose="02020603050405020304" pitchFamily="18" charset="0"/>
              </a:rPr>
              <a:t>n</a:t>
            </a:r>
            <a:r>
              <a:rPr lang="zh-CN" altLang="en-US" sz="1050" b="1" dirty="0">
                <a:solidFill>
                  <a:srgbClr val="FF3300"/>
                </a:solidFill>
                <a:latin typeface="Times New Roman" panose="02020603050405020304" pitchFamily="18" charset="0"/>
                <a:cs typeface="Times New Roman" panose="02020603050405020304" pitchFamily="18" charset="0"/>
              </a:rPr>
              <a:t>元运算</a:t>
            </a:r>
            <a:endParaRPr lang="en-US" altLang="zh-CN" sz="1400" b="1"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00000"/>
              </a:lnSpc>
              <a:spcBef>
                <a:spcPct val="50000"/>
              </a:spcBef>
              <a:buNone/>
            </a:pPr>
            <a:r>
              <a:rPr lang="zh-CN" altLang="en-US" sz="105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105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050" b="1" dirty="0">
                <a:latin typeface="Times New Roman" panose="02020603050405020304" pitchFamily="18" charset="0"/>
                <a:ea typeface="宋体" panose="02010600030101010101" pitchFamily="2" charset="-122"/>
                <a:cs typeface="Times New Roman" panose="02020603050405020304" pitchFamily="18" charset="0"/>
              </a:rPr>
              <a:t>如下运算都是</a:t>
            </a:r>
            <a:r>
              <a:rPr lang="zh-CN" altLang="en-US" sz="1400" b="1" dirty="0">
                <a:latin typeface="Times New Roman" panose="02020603050405020304" pitchFamily="18" charset="0"/>
                <a:ea typeface="宋体" panose="02010600030101010101" pitchFamily="2" charset="-122"/>
                <a:cs typeface="Times New Roman" panose="02020603050405020304" pitchFamily="18" charset="0"/>
              </a:rPr>
              <a:t>一</a:t>
            </a:r>
            <a:r>
              <a:rPr lang="zh-CN" altLang="en-US" sz="1050" b="1" dirty="0">
                <a:latin typeface="Times New Roman" panose="02020603050405020304" pitchFamily="18" charset="0"/>
                <a:ea typeface="宋体" panose="02010600030101010101" pitchFamily="2" charset="-122"/>
                <a:cs typeface="Times New Roman" panose="02020603050405020304" pitchFamily="18" charset="0"/>
              </a:rPr>
              <a:t>元运算</a:t>
            </a:r>
            <a:endParaRPr lang="en-US" altLang="zh-CN" sz="1050" b="1"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00000"/>
              </a:lnSpc>
              <a:buNone/>
            </a:pPr>
            <a:r>
              <a:rPr lang="en-US" altLang="zh-CN" sz="1050" b="1" dirty="0">
                <a:solidFill>
                  <a:srgbClr val="8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Z</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 </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上求相反数的运算</a:t>
            </a:r>
          </a:p>
          <a:p>
            <a:pPr marL="0" indent="0">
              <a:lnSpc>
                <a:spcPct val="100000"/>
              </a:lnSpc>
              <a:buNone/>
            </a:pP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 </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非零有理数集</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，非零实数集 </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上求倒数运算</a:t>
            </a:r>
          </a:p>
          <a:p>
            <a:pPr marL="0" indent="0">
              <a:lnSpc>
                <a:spcPct val="100000"/>
              </a:lnSpc>
              <a:buNone/>
            </a:pP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 </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复数集合</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上求共轭复数的运算</a:t>
            </a:r>
          </a:p>
          <a:p>
            <a:pPr marL="0" indent="0">
              <a:lnSpc>
                <a:spcPct val="100000"/>
              </a:lnSpc>
              <a:buNone/>
            </a:pP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(4) </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幂集</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全集为</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，求绝对补运算</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marL="0" indent="0">
              <a:lnSpc>
                <a:spcPct val="100000"/>
              </a:lnSpc>
              <a:buNone/>
            </a:pP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(5) </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上所有双射函数的集合，</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050" b="1" i="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，求反函数  </a:t>
            </a:r>
          </a:p>
          <a:p>
            <a:pPr marL="0" indent="0">
              <a:lnSpc>
                <a:spcPct val="100000"/>
              </a:lnSpc>
              <a:buNone/>
            </a:pP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(6) </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在</a:t>
            </a:r>
            <a:r>
              <a:rPr lang="zh-CN" altLang="en-US"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sz="105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 (</a:t>
            </a:r>
            <a:r>
              <a:rPr lang="en-US" altLang="zh-CN" sz="105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05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上求转置矩阵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050" b="0" kern="22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a:t>
            </a:fld>
            <a:endParaRPr lang="zh-CN" altLang="en-US"/>
          </a:p>
        </p:txBody>
      </p:sp>
    </p:spTree>
    <p:extLst>
      <p:ext uri="{BB962C8B-B14F-4D97-AF65-F5344CB8AC3E}">
        <p14:creationId xmlns:p14="http://schemas.microsoft.com/office/powerpoint/2010/main" val="4244156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b="1" dirty="0">
                <a:solidFill>
                  <a:srgbClr val="FF0000"/>
                </a:solidFill>
                <a:latin typeface="Times New Roman" panose="02020603050405020304" pitchFamily="18" charset="0"/>
                <a:cs typeface="Times New Roman" panose="02020603050405020304" pitchFamily="18" charset="0"/>
              </a:rPr>
              <a:t>算符</a:t>
            </a:r>
            <a:r>
              <a:rPr lang="zh-CN" altLang="en-US"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 · ,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cs typeface="Times New Roman" panose="02020603050405020304" pitchFamily="18" charset="0"/>
              </a:rPr>
              <a:t>等符号表示二元或一元运算  </a:t>
            </a:r>
          </a:p>
          <a:p>
            <a:pPr eaLnBrk="1" hangingPunct="1">
              <a:buFontTx/>
              <a:buNone/>
            </a:pPr>
            <a:r>
              <a:rPr lang="zh-CN" altLang="en-US" b="1" dirty="0">
                <a:latin typeface="Times New Roman" panose="02020603050405020304" pitchFamily="18" charset="0"/>
                <a:cs typeface="Times New Roman" panose="02020603050405020304" pitchFamily="18" charset="0"/>
              </a:rPr>
              <a:t>    对二元运算</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b="1" dirty="0">
                <a:latin typeface="Times New Roman" panose="02020603050405020304" pitchFamily="18" charset="0"/>
                <a:cs typeface="Times New Roman" panose="02020603050405020304" pitchFamily="18" charset="0"/>
              </a:rPr>
              <a:t>，如果 </a:t>
            </a:r>
            <a:r>
              <a:rPr lang="en-US" altLang="zh-CN" b="1" i="1" dirty="0">
                <a:latin typeface="Times New Roman" panose="02020603050405020304" pitchFamily="18" charset="0"/>
                <a:cs typeface="Times New Roman" panose="02020603050405020304" pitchFamily="18" charset="0"/>
              </a:rPr>
              <a:t>x </a:t>
            </a:r>
            <a:r>
              <a:rPr lang="zh-CN" altLang="en-US" b="1" dirty="0">
                <a:latin typeface="Times New Roman" panose="02020603050405020304" pitchFamily="18" charset="0"/>
                <a:cs typeface="Times New Roman" panose="02020603050405020304" pitchFamily="18" charset="0"/>
              </a:rPr>
              <a:t>与 </a:t>
            </a:r>
            <a:r>
              <a:rPr lang="en-US" altLang="zh-CN" b="1" i="1" dirty="0">
                <a:latin typeface="Times New Roman" panose="02020603050405020304" pitchFamily="18" charset="0"/>
                <a:cs typeface="Times New Roman" panose="02020603050405020304" pitchFamily="18" charset="0"/>
              </a:rPr>
              <a:t>y </a:t>
            </a:r>
            <a:r>
              <a:rPr lang="zh-CN" altLang="en-US" b="1" dirty="0">
                <a:latin typeface="Times New Roman" panose="02020603050405020304" pitchFamily="18" charset="0"/>
                <a:cs typeface="Times New Roman" panose="02020603050405020304" pitchFamily="18" charset="0"/>
              </a:rPr>
              <a:t>运算得到 </a:t>
            </a:r>
            <a:r>
              <a:rPr lang="en-US" altLang="zh-CN" b="1" i="1" dirty="0">
                <a:latin typeface="Times New Roman" panose="02020603050405020304" pitchFamily="18" charset="0"/>
                <a:cs typeface="Times New Roman" panose="02020603050405020304" pitchFamily="18" charset="0"/>
              </a:rPr>
              <a:t>z</a:t>
            </a:r>
            <a:r>
              <a:rPr lang="zh-CN" altLang="en-US" b="1" dirty="0">
                <a:latin typeface="Times New Roman" panose="02020603050405020304" pitchFamily="18" charset="0"/>
                <a:cs typeface="Times New Roman" panose="02020603050405020304" pitchFamily="18" charset="0"/>
              </a:rPr>
              <a:t>，记做  </a:t>
            </a:r>
            <a:r>
              <a:rPr lang="en-US" altLang="zh-CN" b="1" i="1" dirty="0">
                <a:latin typeface="Times New Roman" panose="02020603050405020304" pitchFamily="18" charset="0"/>
                <a:cs typeface="Times New Roman" panose="02020603050405020304" pitchFamily="18" charset="0"/>
              </a:rPr>
              <a:t>x</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y</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z</a:t>
            </a:r>
            <a:r>
              <a:rPr lang="zh-CN" altLang="en-US" b="1" dirty="0">
                <a:latin typeface="Times New Roman" panose="02020603050405020304" pitchFamily="18" charset="0"/>
                <a:cs typeface="Times New Roman" panose="02020603050405020304" pitchFamily="18" charset="0"/>
              </a:rPr>
              <a:t>；</a:t>
            </a:r>
          </a:p>
          <a:p>
            <a:pPr eaLnBrk="1" hangingPunct="1">
              <a:buFontTx/>
              <a:buNone/>
            </a:pPr>
            <a:r>
              <a:rPr lang="zh-CN" altLang="en-US" b="1" dirty="0">
                <a:latin typeface="Times New Roman" panose="02020603050405020304" pitchFamily="18" charset="0"/>
                <a:cs typeface="Times New Roman" panose="02020603050405020304" pitchFamily="18" charset="0"/>
              </a:rPr>
              <a:t>    对一元运算</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x </a:t>
            </a:r>
            <a:r>
              <a:rPr lang="zh-CN" altLang="en-US" b="1" dirty="0">
                <a:latin typeface="Times New Roman" panose="02020603050405020304" pitchFamily="18" charset="0"/>
                <a:cs typeface="Times New Roman" panose="02020603050405020304" pitchFamily="18" charset="0"/>
              </a:rPr>
              <a:t>的运算结果记作 </a:t>
            </a:r>
            <a:r>
              <a:rPr lang="zh-CN" altLang="en-US"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x  </a:t>
            </a:r>
            <a:r>
              <a:rPr lang="en-US" altLang="zh-CN" b="1" dirty="0">
                <a:latin typeface="Times New Roman" panose="02020603050405020304" pitchFamily="18" charset="0"/>
                <a:cs typeface="Times New Roman" panose="02020603050405020304" pitchFamily="18" charset="0"/>
              </a:rPr>
              <a:t> </a:t>
            </a:r>
          </a:p>
          <a:p>
            <a:pPr eaLnBrk="1" hangingPunct="1">
              <a:buFont typeface="Wingdings" panose="05000000000000000000" pitchFamily="2" charset="2"/>
              <a:buNone/>
            </a:pPr>
            <a:r>
              <a:rPr lang="en-US" altLang="zh-CN" sz="1800" b="1" i="1" dirty="0">
                <a:latin typeface="Times New Roman" panose="02020603050405020304" pitchFamily="18" charset="0"/>
              </a:rPr>
              <a:t>          n </a:t>
            </a:r>
            <a:r>
              <a:rPr lang="zh-CN" altLang="en-US" sz="1800" b="1" dirty="0">
                <a:latin typeface="Times New Roman" panose="02020603050405020304" pitchFamily="18" charset="0"/>
              </a:rPr>
              <a:t>元运算 ，</a:t>
            </a:r>
            <a:r>
              <a:rPr lang="en-US" altLang="zh-CN" sz="24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a</a:t>
            </a:r>
            <a:r>
              <a:rPr lang="en-US" altLang="zh-CN" sz="1800" b="1" baseline="-25000" dirty="0">
                <a:latin typeface="Times New Roman" panose="02020603050405020304" pitchFamily="18" charset="0"/>
                <a:cs typeface="Times New Roman" panose="02020603050405020304" pitchFamily="18" charset="0"/>
              </a:rPr>
              <a:t>1</a:t>
            </a:r>
            <a:r>
              <a:rPr lang="en-US" altLang="zh-CN" sz="1800" b="1" dirty="0">
                <a:latin typeface="Times New Roman" panose="02020603050405020304" pitchFamily="18" charset="0"/>
                <a:cs typeface="Times New Roman" panose="02020603050405020304" pitchFamily="18" charset="0"/>
              </a:rPr>
              <a:t>, </a:t>
            </a:r>
            <a:r>
              <a:rPr lang="en-US" altLang="zh-CN" sz="1800" b="1" i="1" dirty="0">
                <a:latin typeface="Times New Roman" panose="02020603050405020304" pitchFamily="18" charset="0"/>
                <a:cs typeface="Times New Roman" panose="02020603050405020304" pitchFamily="18" charset="0"/>
              </a:rPr>
              <a:t>a</a:t>
            </a:r>
            <a:r>
              <a:rPr lang="en-US" altLang="zh-CN" sz="1800" b="1" baseline="-25000" dirty="0">
                <a:latin typeface="Times New Roman" panose="02020603050405020304" pitchFamily="18" charset="0"/>
                <a:cs typeface="Times New Roman" panose="02020603050405020304" pitchFamily="18" charset="0"/>
              </a:rPr>
              <a:t>2</a:t>
            </a:r>
            <a:r>
              <a:rPr lang="en-US" altLang="zh-CN" sz="1800" b="1" dirty="0">
                <a:latin typeface="Times New Roman" panose="02020603050405020304" pitchFamily="18" charset="0"/>
                <a:cs typeface="Times New Roman" panose="02020603050405020304" pitchFamily="18" charset="0"/>
              </a:rPr>
              <a:t>, </a:t>
            </a:r>
            <a:r>
              <a:rPr lang="zh-CN" altLang="zh-CN"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 </a:t>
            </a:r>
            <a:r>
              <a:rPr lang="en-US" altLang="zh-CN" sz="1800" b="1" i="1" dirty="0">
                <a:latin typeface="Times New Roman" panose="02020603050405020304" pitchFamily="18" charset="0"/>
                <a:cs typeface="Times New Roman" panose="02020603050405020304" pitchFamily="18" charset="0"/>
              </a:rPr>
              <a:t>a</a:t>
            </a:r>
            <a:r>
              <a:rPr lang="en-US" altLang="zh-CN" sz="1800" b="1" i="1" baseline="-25000" dirty="0">
                <a:latin typeface="Times New Roman" panose="02020603050405020304" pitchFamily="18" charset="0"/>
                <a:cs typeface="Times New Roman" panose="02020603050405020304" pitchFamily="18" charset="0"/>
              </a:rPr>
              <a:t>n</a:t>
            </a:r>
            <a:r>
              <a:rPr lang="en-US" altLang="zh-CN" sz="1800" b="1" dirty="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b</a:t>
            </a:r>
            <a:r>
              <a:rPr lang="en-US" altLang="zh-CN" sz="1800" b="1" dirty="0">
                <a:latin typeface="Times New Roman" panose="02020603050405020304" pitchFamily="18" charset="0"/>
                <a:cs typeface="Times New Roman" panose="02020603050405020304" pitchFamily="18" charset="0"/>
              </a:rPr>
              <a:t>. </a:t>
            </a:r>
            <a:endParaRPr lang="zh-CN" altLang="zh-CN" sz="1800" b="1" dirty="0">
              <a:latin typeface="Times New Roman" panose="02020603050405020304" pitchFamily="18" charset="0"/>
              <a:cs typeface="Times New Roman" panose="02020603050405020304" pitchFamily="18" charset="0"/>
            </a:endParaRPr>
          </a:p>
          <a:p>
            <a:pPr eaLnBrk="1" hangingPunct="1">
              <a:buFontTx/>
              <a:buNone/>
            </a:pPr>
            <a:endParaRPr lang="zh-CN" altLang="en-US" b="1" dirty="0">
              <a:latin typeface="Times New Roman" panose="02020603050405020304" pitchFamily="18" charset="0"/>
              <a:cs typeface="Times New Roman" panose="02020603050405020304" pitchFamily="18" charset="0"/>
            </a:endParaRPr>
          </a:p>
          <a:p>
            <a:pPr eaLnBrk="1" hangingPunct="1">
              <a:buFontTx/>
              <a:buNone/>
            </a:pPr>
            <a:r>
              <a:rPr lang="zh-CN" altLang="en-US" b="1" dirty="0">
                <a:latin typeface="Times New Roman" panose="02020603050405020304" pitchFamily="18" charset="0"/>
                <a:cs typeface="Times New Roman" panose="02020603050405020304" pitchFamily="18" charset="0"/>
              </a:rPr>
              <a:t>二元或一元运算的</a:t>
            </a:r>
            <a:r>
              <a:rPr lang="zh-CN" altLang="en-US" b="1" dirty="0">
                <a:solidFill>
                  <a:srgbClr val="FF0000"/>
                </a:solidFill>
                <a:latin typeface="Times New Roman" panose="02020603050405020304" pitchFamily="18" charset="0"/>
                <a:cs typeface="Times New Roman" panose="02020603050405020304" pitchFamily="18" charset="0"/>
              </a:rPr>
              <a:t>表示方法</a:t>
            </a:r>
            <a:r>
              <a:rPr lang="zh-CN" altLang="en-US" b="1" dirty="0">
                <a:latin typeface="Times New Roman" panose="02020603050405020304" pitchFamily="18" charset="0"/>
                <a:cs typeface="Times New Roman" panose="02020603050405020304" pitchFamily="18" charset="0"/>
              </a:rPr>
              <a:t>：公式</a:t>
            </a:r>
            <a:r>
              <a:rPr lang="zh-CN" altLang="en-US" b="1" dirty="0">
                <a:solidFill>
                  <a:schemeClr val="tx2"/>
                </a:solidFill>
                <a:latin typeface="Times New Roman" panose="02020603050405020304" pitchFamily="18" charset="0"/>
                <a:cs typeface="Times New Roman" panose="02020603050405020304" pitchFamily="18" charset="0"/>
              </a:rPr>
              <a:t>、</a:t>
            </a:r>
            <a:r>
              <a:rPr lang="zh-CN" altLang="en-US" b="1" dirty="0">
                <a:solidFill>
                  <a:srgbClr val="FF0000"/>
                </a:solidFill>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运算表</a:t>
            </a:r>
          </a:p>
          <a:p>
            <a:pPr eaLnBrk="1" hangingPunct="1">
              <a:buFontTx/>
              <a:buNone/>
            </a:pPr>
            <a:endParaRPr lang="zh-CN" altLang="en-US" b="1" dirty="0">
              <a:latin typeface="Times New Roman" panose="02020603050405020304" pitchFamily="18" charset="0"/>
              <a:cs typeface="Times New Roman" panose="02020603050405020304" pitchFamily="18" charset="0"/>
            </a:endParaRPr>
          </a:p>
          <a:p>
            <a:pPr eaLnBrk="1" hangingPunct="1">
              <a:buFontTx/>
              <a:buNone/>
            </a:pPr>
            <a:r>
              <a:rPr lang="zh-CN" altLang="en-US" b="1" dirty="0">
                <a:latin typeface="Times New Roman" panose="02020603050405020304" pitchFamily="18" charset="0"/>
                <a:cs typeface="Times New Roman" panose="02020603050405020304" pitchFamily="18" charset="0"/>
              </a:rPr>
              <a:t>注意：在同一个问题中不同的运算使用不同的算符</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a:t>
            </a:fld>
            <a:endParaRPr lang="zh-CN" altLang="en-US"/>
          </a:p>
        </p:txBody>
      </p:sp>
    </p:spTree>
    <p:extLst>
      <p:ext uri="{BB962C8B-B14F-4D97-AF65-F5344CB8AC3E}">
        <p14:creationId xmlns:p14="http://schemas.microsoft.com/office/powerpoint/2010/main" val="148386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400" b="1" dirty="0">
                <a:solidFill>
                  <a:srgbClr val="FF0000"/>
                </a:solidFill>
                <a:latin typeface="+mn-ea"/>
              </a:rPr>
              <a:t>公式表示</a:t>
            </a:r>
            <a:r>
              <a:rPr lang="zh-CN" altLang="en-US" sz="1200" b="1" dirty="0">
                <a:solidFill>
                  <a:srgbClr val="FF0000"/>
                </a:solidFill>
                <a:latin typeface="+mn-ea"/>
              </a:rPr>
              <a:t> </a:t>
            </a:r>
          </a:p>
          <a:p>
            <a:r>
              <a:rPr lang="zh-CN" altLang="en-US" sz="1200" b="1" dirty="0">
                <a:solidFill>
                  <a:srgbClr val="00B0F0"/>
                </a:solidFill>
                <a:latin typeface="+mn-ea"/>
              </a:rPr>
              <a:t>例：</a:t>
            </a:r>
            <a:r>
              <a:rPr lang="zh-CN" altLang="en-US" sz="1200" b="1" dirty="0">
                <a:solidFill>
                  <a:schemeClr val="tx1"/>
                </a:solidFill>
                <a:latin typeface="Times New Roman" panose="02020603050405020304" pitchFamily="18" charset="0"/>
                <a:cs typeface="Times New Roman" panose="02020603050405020304" pitchFamily="18" charset="0"/>
              </a:rPr>
              <a:t>设</a:t>
            </a:r>
            <a:r>
              <a:rPr lang="en-US" altLang="zh-CN" sz="1200" b="1" dirty="0">
                <a:solidFill>
                  <a:schemeClr val="tx1"/>
                </a:solidFill>
                <a:latin typeface="Times New Roman" panose="02020603050405020304" pitchFamily="18" charset="0"/>
                <a:cs typeface="Times New Roman" panose="02020603050405020304" pitchFamily="18" charset="0"/>
              </a:rPr>
              <a:t>R</a:t>
            </a:r>
            <a:r>
              <a:rPr lang="zh-CN" altLang="en-US" sz="1200" b="1" dirty="0">
                <a:solidFill>
                  <a:schemeClr val="tx1"/>
                </a:solidFill>
                <a:latin typeface="Times New Roman" panose="02020603050405020304" pitchFamily="18" charset="0"/>
                <a:cs typeface="Times New Roman" panose="02020603050405020304" pitchFamily="18" charset="0"/>
              </a:rPr>
              <a:t>为实数集合</a:t>
            </a:r>
            <a:r>
              <a:rPr lang="en-US" altLang="zh-CN" sz="1200" b="1" dirty="0">
                <a:solidFill>
                  <a:schemeClr val="tx1"/>
                </a:solidFill>
                <a:latin typeface="Times New Roman" panose="02020603050405020304" pitchFamily="18" charset="0"/>
                <a:cs typeface="Times New Roman" panose="02020603050405020304" pitchFamily="18" charset="0"/>
              </a:rPr>
              <a:t>,</a:t>
            </a:r>
            <a:r>
              <a:rPr lang="zh-CN" altLang="en-US" sz="1200" b="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R </a:t>
            </a:r>
            <a:r>
              <a:rPr lang="zh-CN" altLang="en-US" sz="1200" b="1" dirty="0">
                <a:solidFill>
                  <a:schemeClr val="tx1"/>
                </a:solidFill>
                <a:latin typeface="Times New Roman" panose="02020603050405020304" pitchFamily="18" charset="0"/>
                <a:cs typeface="Times New Roman" panose="02020603050405020304" pitchFamily="18" charset="0"/>
              </a:rPr>
              <a:t>上的二元运算 ∗定义</a:t>
            </a:r>
            <a:r>
              <a:rPr lang="zh-CN" altLang="en-US" sz="1200" b="1" dirty="0">
                <a:latin typeface="Times New Roman" panose="02020603050405020304" pitchFamily="18" charset="0"/>
                <a:cs typeface="Times New Roman" panose="02020603050405020304" pitchFamily="18" charset="0"/>
              </a:rPr>
              <a:t>为</a:t>
            </a:r>
            <a:r>
              <a:rPr lang="zh-CN" altLang="en-US" sz="1200" b="1" dirty="0">
                <a:solidFill>
                  <a:schemeClr val="tx1"/>
                </a:solidFill>
                <a:latin typeface="Times New Roman" panose="02020603050405020304" pitchFamily="18" charset="0"/>
                <a:cs typeface="Times New Roman" panose="02020603050405020304" pitchFamily="18" charset="0"/>
              </a:rPr>
              <a:t>：</a:t>
            </a:r>
            <a:endPar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cs typeface="Times New Roman" panose="02020603050405020304" pitchFamily="18" charset="0"/>
              </a:rPr>
              <a:t>x</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err="1">
                <a:solidFill>
                  <a:schemeClr val="tx1"/>
                </a:solidFill>
                <a:latin typeface="Times New Roman" panose="02020603050405020304" pitchFamily="18" charset="0"/>
                <a:cs typeface="Times New Roman" panose="02020603050405020304" pitchFamily="18" charset="0"/>
              </a:rPr>
              <a:t>y</a:t>
            </a:r>
            <a:r>
              <a:rPr lang="en-US" altLang="zh-CN" sz="1200" b="1" dirty="0" err="1">
                <a:solidFill>
                  <a:schemeClr val="tx1"/>
                </a:solidFill>
                <a:latin typeface="Times New Roman" panose="02020603050405020304" pitchFamily="18" charset="0"/>
                <a:cs typeface="Times New Roman" panose="02020603050405020304" pitchFamily="18" charset="0"/>
              </a:rPr>
              <a:t>∈R</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x</a:t>
            </a:r>
            <a:r>
              <a:rPr lang="en-US" altLang="zh-CN" sz="800" b="1" i="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8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y </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x</a:t>
            </a:r>
            <a:r>
              <a:rPr lang="en-US" altLang="zh-CN" sz="1200" b="1" dirty="0">
                <a:solidFill>
                  <a:schemeClr val="tx1"/>
                </a:solidFill>
                <a:latin typeface="Times New Roman" panose="02020603050405020304" pitchFamily="18" charset="0"/>
                <a:cs typeface="Times New Roman" panose="02020603050405020304" pitchFamily="18" charset="0"/>
              </a:rPr>
              <a:t>. </a:t>
            </a:r>
          </a:p>
          <a:p>
            <a:r>
              <a:rPr lang="zh-CN" altLang="en-US" sz="1200" b="1" dirty="0">
                <a:solidFill>
                  <a:schemeClr val="tx1"/>
                </a:solidFill>
                <a:latin typeface="Times New Roman" panose="02020603050405020304" pitchFamily="18" charset="0"/>
                <a:cs typeface="Times New Roman" panose="02020603050405020304" pitchFamily="18" charset="0"/>
              </a:rPr>
              <a:t>如    </a:t>
            </a:r>
            <a:r>
              <a:rPr lang="en-US" altLang="zh-CN" sz="1200" b="1" dirty="0">
                <a:solidFill>
                  <a:schemeClr val="tx1"/>
                </a:solidFill>
                <a:latin typeface="Times New Roman" panose="02020603050405020304" pitchFamily="18" charset="0"/>
                <a:cs typeface="Times New Roman" panose="02020603050405020304" pitchFamily="18" charset="0"/>
              </a:rPr>
              <a:t>3</a:t>
            </a:r>
            <a:r>
              <a:rPr lang="en-US" altLang="zh-CN" sz="800" b="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800" b="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4 = 3</a:t>
            </a:r>
            <a:r>
              <a:rPr lang="zh-CN" altLang="en-US" sz="1200" b="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0.5</a:t>
            </a:r>
            <a:r>
              <a:rPr lang="en-US" altLang="zh-CN" sz="800" b="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800" b="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cs typeface="Times New Roman" panose="02020603050405020304" pitchFamily="18" charset="0"/>
              </a:rPr>
              <a:t>3) = 0.5</a:t>
            </a:r>
          </a:p>
          <a:p>
            <a:pPr>
              <a:lnSpc>
                <a:spcPct val="150000"/>
              </a:lnSpc>
            </a:pPr>
            <a:r>
              <a:rPr lang="zh-CN" altLang="en-US" sz="1400" b="1" dirty="0">
                <a:solidFill>
                  <a:srgbClr val="FF0000"/>
                </a:solidFill>
                <a:latin typeface="Times New Roman" panose="02020603050405020304" pitchFamily="18" charset="0"/>
                <a:cs typeface="Times New Roman" panose="02020603050405020304" pitchFamily="18" charset="0"/>
              </a:rPr>
              <a:t>运算表</a:t>
            </a:r>
            <a:r>
              <a:rPr lang="zh-CN" altLang="en-US" sz="1200" b="1" dirty="0">
                <a:latin typeface="Times New Roman" panose="02020603050405020304" pitchFamily="18" charset="0"/>
                <a:cs typeface="Times New Roman" panose="02020603050405020304" pitchFamily="18" charset="0"/>
              </a:rPr>
              <a:t>（可</a:t>
            </a:r>
            <a:r>
              <a:rPr lang="zh-CN" altLang="en-US" sz="1200" b="1" dirty="0">
                <a:solidFill>
                  <a:schemeClr val="tx1"/>
                </a:solidFill>
                <a:latin typeface="Times New Roman" panose="02020603050405020304" pitchFamily="18" charset="0"/>
                <a:cs typeface="Times New Roman" panose="02020603050405020304" pitchFamily="18" charset="0"/>
              </a:rPr>
              <a:t>表示有穷集上的一元和二元运算）</a:t>
            </a:r>
            <a:endParaRPr lang="en-US" altLang="zh-CN" sz="1200" b="1" dirty="0">
              <a:solidFill>
                <a:schemeClr val="tx1"/>
              </a:solidFill>
              <a:latin typeface="Times New Roman" panose="02020603050405020304" pitchFamily="18" charset="0"/>
              <a:cs typeface="Times New Roman" panose="02020603050405020304" pitchFamily="18" charset="0"/>
            </a:endParaRPr>
          </a:p>
          <a:p>
            <a:r>
              <a:rPr lang="zh-CN" altLang="en-US" sz="1200" b="1" dirty="0">
                <a:solidFill>
                  <a:schemeClr val="tx1"/>
                </a:solidFill>
                <a:latin typeface="Times New Roman" panose="02020603050405020304" pitchFamily="18" charset="0"/>
                <a:cs typeface="Times New Roman" panose="02020603050405020304" pitchFamily="18" charset="0"/>
              </a:rPr>
              <a:t>        二元运算的运算表              </a:t>
            </a:r>
            <a:r>
              <a:rPr lang="zh-CN" altLang="en-US" sz="1200" b="1" dirty="0">
                <a:solidFill>
                  <a:schemeClr val="tx1"/>
                </a:solidFill>
                <a:latin typeface="+mn-ea"/>
              </a:rPr>
              <a:t>一元运算的运算表</a:t>
            </a:r>
            <a:endParaRPr lang="zh-CN" altLang="en-US" sz="1200" b="1" i="1" dirty="0">
              <a:solidFill>
                <a:schemeClr val="tx1"/>
              </a:solidFill>
              <a:latin typeface="+mn-ea"/>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a:t>
            </a:fld>
            <a:endParaRPr lang="zh-CN" altLang="en-US"/>
          </a:p>
        </p:txBody>
      </p:sp>
    </p:spTree>
    <p:extLst>
      <p:ext uri="{BB962C8B-B14F-4D97-AF65-F5344CB8AC3E}">
        <p14:creationId xmlns:p14="http://schemas.microsoft.com/office/powerpoint/2010/main" val="2807931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设全集</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S= {</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err="1">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 给出</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幂集</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上的对称差</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和绝对补</a:t>
            </a:r>
            <a:r>
              <a:rPr lang="en-US" altLang="zh-CN" sz="1200" b="1" dirty="0">
                <a:latin typeface="Times New Roman" panose="02020603050405020304" pitchFamily="18" charset="0"/>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运算表</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的运算表                          ∼的运算表</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a:t>
            </a:fld>
            <a:endParaRPr lang="zh-CN" altLang="en-US"/>
          </a:p>
        </p:txBody>
      </p:sp>
    </p:spTree>
    <p:extLst>
      <p:ext uri="{BB962C8B-B14F-4D97-AF65-F5344CB8AC3E}">
        <p14:creationId xmlns:p14="http://schemas.microsoft.com/office/powerpoint/2010/main" val="12721802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dirty="0">
                <a:solidFill>
                  <a:srgbClr val="00B0F0"/>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Z</a:t>
            </a:r>
            <a:r>
              <a:rPr lang="en-US" altLang="zh-CN" sz="1200" b="1" baseline="-25000" dirty="0">
                <a:solidFill>
                  <a:schemeClr val="tx1"/>
                </a:solidFill>
                <a:latin typeface="Times New Roman" panose="02020603050405020304" pitchFamily="18" charset="0"/>
                <a:ea typeface="宋体" panose="02010600030101010101" pitchFamily="2" charset="-122"/>
              </a:rPr>
              <a:t>5</a:t>
            </a:r>
            <a:r>
              <a:rPr lang="en-US" altLang="zh-CN" sz="1200" b="1" dirty="0">
                <a:solidFill>
                  <a:schemeClr val="tx1"/>
                </a:solidFill>
                <a:latin typeface="Times New Roman" panose="02020603050405020304" pitchFamily="18" charset="0"/>
                <a:ea typeface="宋体" panose="02010600030101010101" pitchFamily="2" charset="-122"/>
              </a:rPr>
              <a:t>= { 0, 1, 2, 3, 4 },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rPr>
              <a:t>分别为模 </a:t>
            </a:r>
            <a:r>
              <a:rPr lang="en-US" altLang="zh-CN" sz="1200" b="1" dirty="0">
                <a:solidFill>
                  <a:schemeClr val="tx1"/>
                </a:solidFill>
                <a:latin typeface="Times New Roman" panose="02020603050405020304" pitchFamily="18" charset="0"/>
                <a:ea typeface="宋体" panose="02010600030101010101" pitchFamily="2" charset="-122"/>
              </a:rPr>
              <a:t>5 </a:t>
            </a:r>
            <a:r>
              <a:rPr lang="zh-CN" altLang="en-US" sz="1200" b="1" dirty="0">
                <a:solidFill>
                  <a:schemeClr val="tx1"/>
                </a:solidFill>
                <a:latin typeface="Times New Roman" panose="02020603050405020304" pitchFamily="18" charset="0"/>
                <a:ea typeface="宋体" panose="02010600030101010101" pitchFamily="2" charset="-122"/>
              </a:rPr>
              <a:t>加法与乘法                      </a:t>
            </a:r>
          </a:p>
          <a:p>
            <a:endParaRPr lang="zh-CN" altLang="en-US" sz="1200" b="1" dirty="0">
              <a:solidFill>
                <a:schemeClr val="tx1"/>
              </a:solidFill>
              <a:latin typeface="Times New Roman" panose="02020603050405020304" pitchFamily="18" charset="0"/>
              <a:ea typeface="宋体" panose="02010600030101010101" pitchFamily="2" charset="-122"/>
            </a:endParaRPr>
          </a:p>
          <a:p>
            <a:r>
              <a:rPr lang="zh-CN" altLang="en-US"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rPr>
              <a:t>的运算表                             </a:t>
            </a:r>
            <a:r>
              <a:rPr lang="zh-CN" altLang="en-US" sz="1200" b="1" dirty="0">
                <a:solidFill>
                  <a:schemeClr val="tx1"/>
                </a:solidFill>
                <a:ea typeface="宋体" panose="02010600030101010101" pitchFamily="2" charset="-122"/>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rPr>
              <a:t>的运算表</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a:t>
            </a:fld>
            <a:endParaRPr lang="zh-CN" altLang="en-US"/>
          </a:p>
        </p:txBody>
      </p:sp>
    </p:spTree>
    <p:extLst>
      <p:ext uri="{BB962C8B-B14F-4D97-AF65-F5344CB8AC3E}">
        <p14:creationId xmlns:p14="http://schemas.microsoft.com/office/powerpoint/2010/main" val="447396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50000"/>
              </a:spcBef>
              <a:buNone/>
            </a:pPr>
            <a:r>
              <a:rPr lang="en-US" altLang="zh-CN" b="1" dirty="0"/>
              <a:t>9.1.1 </a:t>
            </a:r>
            <a:r>
              <a:rPr lang="zh-CN" altLang="en-US" b="1" dirty="0"/>
              <a:t>二元运算与一元运算</a:t>
            </a:r>
          </a:p>
          <a:p>
            <a:pPr marL="631825" indent="87313">
              <a:spcBef>
                <a:spcPct val="50000"/>
              </a:spcBef>
            </a:pPr>
            <a:r>
              <a:rPr lang="zh-CN" altLang="en-US" b="1" dirty="0"/>
              <a:t>二元运算定义及其实例</a:t>
            </a:r>
          </a:p>
          <a:p>
            <a:pPr marL="631825" indent="87313">
              <a:spcBef>
                <a:spcPct val="50000"/>
              </a:spcBef>
            </a:pPr>
            <a:r>
              <a:rPr lang="zh-CN" altLang="en-US" b="1" dirty="0"/>
              <a:t> 一元运算定义及其实例</a:t>
            </a:r>
          </a:p>
          <a:p>
            <a:pPr marL="631825" indent="87313">
              <a:spcBef>
                <a:spcPct val="50000"/>
              </a:spcBef>
            </a:pPr>
            <a:r>
              <a:rPr lang="zh-CN" altLang="en-US" b="1" dirty="0"/>
              <a:t> 运算的表示</a:t>
            </a:r>
          </a:p>
          <a:p>
            <a:pPr marL="0" indent="0">
              <a:spcBef>
                <a:spcPct val="50000"/>
              </a:spcBef>
              <a:buNone/>
            </a:pPr>
            <a:r>
              <a:rPr lang="en-US" altLang="zh-CN" b="1" dirty="0"/>
              <a:t>9.1.2 </a:t>
            </a:r>
            <a:r>
              <a:rPr lang="zh-CN" altLang="en-US" b="1" dirty="0"/>
              <a:t>二元运算的性质</a:t>
            </a:r>
          </a:p>
          <a:p>
            <a:pPr marL="631825" indent="87313">
              <a:spcBef>
                <a:spcPct val="50000"/>
              </a:spcBef>
            </a:pPr>
            <a:r>
              <a:rPr lang="zh-CN" altLang="en-US" b="1" dirty="0"/>
              <a:t>交换律、结合律、幂等律、分配律、吸收律</a:t>
            </a:r>
          </a:p>
          <a:p>
            <a:pPr marL="631825" indent="87313">
              <a:spcBef>
                <a:spcPct val="50000"/>
              </a:spcBef>
            </a:pPr>
            <a:r>
              <a:rPr lang="zh-CN" altLang="en-US" b="1" dirty="0"/>
              <a:t>特异元素：单位元、零元、可逆元</a:t>
            </a:r>
          </a:p>
          <a:p>
            <a:pPr marL="631825" indent="87313">
              <a:spcBef>
                <a:spcPct val="50000"/>
              </a:spcBef>
            </a:pPr>
            <a:r>
              <a:rPr lang="zh-CN" altLang="en-US" b="1" dirty="0"/>
              <a:t>消去律</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a:t>
            </a:fld>
            <a:endParaRPr lang="zh-CN" altLang="en-US"/>
          </a:p>
        </p:txBody>
      </p:sp>
    </p:spTree>
    <p:extLst>
      <p:ext uri="{BB962C8B-B14F-4D97-AF65-F5344CB8AC3E}">
        <p14:creationId xmlns:p14="http://schemas.microsoft.com/office/powerpoint/2010/main" val="3154391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pP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9.3</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上的二元运算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15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(1)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如果对于任意的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a:t>
            </a:r>
          </a:p>
          <a:p>
            <a:pPr>
              <a:lnSpc>
                <a:spcPct val="115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800" dirty="0">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15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则称运算在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上满足</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交换律</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15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(2)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如果对于任意的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z</a:t>
            </a:r>
            <a:r>
              <a:rPr lang="en-US" altLang="zh-CN" sz="1200" b="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cs typeface="Times New Roman" panose="02020603050405020304" pitchFamily="18" charset="0"/>
              </a:rPr>
              <a:t>S</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a:t>
            </a:r>
          </a:p>
          <a:p>
            <a:pPr>
              <a:lnSpc>
                <a:spcPct val="115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z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800" dirty="0">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z</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15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则称运算在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上满足</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结合律</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15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(3)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如果对于任意的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err="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a:t>
            </a:r>
          </a:p>
          <a:p>
            <a:pPr>
              <a:lnSpc>
                <a:spcPct val="115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800" dirty="0">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15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则称运算在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上满足</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幂等律</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a:t>
            </a:fld>
            <a:endParaRPr lang="zh-CN" altLang="en-US"/>
          </a:p>
        </p:txBody>
      </p:sp>
    </p:spTree>
    <p:extLst>
      <p:ext uri="{BB962C8B-B14F-4D97-AF65-F5344CB8AC3E}">
        <p14:creationId xmlns:p14="http://schemas.microsoft.com/office/powerpoint/2010/main" val="2712899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1" i="1" dirty="0">
                <a:solidFill>
                  <a:schemeClr val="tx1"/>
                </a:solidFill>
                <a:latin typeface="Times New Roman" panose="02020603050405020304" pitchFamily="18" charset="0"/>
                <a:ea typeface="宋体" panose="02010600030101010101" pitchFamily="2" charset="-122"/>
              </a:rPr>
              <a:t>A</a:t>
            </a:r>
            <a:r>
              <a:rPr lang="en-US" altLang="zh-CN" sz="1800" b="1" i="1" baseline="30000" dirty="0">
                <a:solidFill>
                  <a:schemeClr val="tx1"/>
                </a:solidFill>
                <a:latin typeface="Times New Roman" panose="02020603050405020304" pitchFamily="18" charset="0"/>
                <a:ea typeface="宋体" panose="02010600030101010101" pitchFamily="2" charset="-122"/>
              </a:rPr>
              <a:t>A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集合</a:t>
            </a:r>
            <a:r>
              <a:rPr lang="en-US" altLang="zh-CN" sz="1800" i="1" dirty="0">
                <a:solidFill>
                  <a:srgbClr val="0D0D0D"/>
                </a:solidFill>
                <a:effectLst/>
                <a:latin typeface="KaTeX_Math"/>
                <a:ea typeface="宋体" panose="02010600030101010101" pitchFamily="2" charset="-122"/>
                <a:cs typeface="Times New Roman" panose="02020603050405020304" pitchFamily="18" charset="0"/>
              </a:rPr>
              <a:t>A</a:t>
            </a:r>
            <a:r>
              <a:rPr lang="zh-CN" altLang="zh-CN" dirty="0">
                <a:effectLst/>
              </a:rPr>
              <a:t>到集合</a:t>
            </a:r>
            <a:r>
              <a:rPr lang="en-US" altLang="zh-CN" sz="1800" i="1" dirty="0">
                <a:solidFill>
                  <a:srgbClr val="0D0D0D"/>
                </a:solidFill>
                <a:effectLst/>
                <a:latin typeface="KaTeX_Math"/>
                <a:ea typeface="宋体" panose="02010600030101010101" pitchFamily="2" charset="-122"/>
                <a:cs typeface="Times New Roman" panose="02020603050405020304" pitchFamily="18" charset="0"/>
              </a:rPr>
              <a:t>A</a:t>
            </a:r>
            <a:r>
              <a:rPr lang="zh-CN" altLang="zh-CN" dirty="0">
                <a:effectLst/>
              </a:rPr>
              <a:t>本身的函数的集合</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Z, Q, R</a:t>
            </a:r>
            <a:r>
              <a:rPr lang="zh-CN" altLang="en-US" sz="1200" b="1" dirty="0">
                <a:solidFill>
                  <a:schemeClr val="tx1"/>
                </a:solidFill>
                <a:latin typeface="Times New Roman" panose="02020603050405020304" pitchFamily="18" charset="0"/>
                <a:ea typeface="宋体" panose="02010600030101010101" pitchFamily="2" charset="-122"/>
              </a:rPr>
              <a:t>分别为整数、有理数、实数集；</a:t>
            </a:r>
            <a:r>
              <a:rPr lang="en-US" altLang="zh-CN" sz="1200" b="1" i="1" dirty="0">
                <a:solidFill>
                  <a:schemeClr val="tx1"/>
                </a:solidFill>
                <a:latin typeface="Times New Roman" panose="02020603050405020304" pitchFamily="18" charset="0"/>
                <a:ea typeface="宋体" panose="02010600030101010101" pitchFamily="2" charset="-122"/>
              </a:rPr>
              <a:t>M</a:t>
            </a:r>
            <a:r>
              <a:rPr lang="en-US" altLang="zh-CN" sz="1200" b="1" i="1" baseline="-25000" dirty="0">
                <a:solidFill>
                  <a:schemeClr val="tx1"/>
                </a:solidFill>
                <a:latin typeface="Times New Roman" panose="02020603050405020304" pitchFamily="18" charset="0"/>
                <a:ea typeface="宋体" panose="02010600030101010101" pitchFamily="2" charset="-122"/>
              </a:rPr>
              <a:t>n</a:t>
            </a:r>
            <a:r>
              <a:rPr lang="en-US" altLang="zh-CN" sz="1200" b="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阶实矩阵集合</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n</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2</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P</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为幂集；</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i="1" baseline="30000"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2.</a:t>
            </a:r>
          </a:p>
          <a:p>
            <a:pPr marL="347472" marR="0" indent="-347472" algn="ctr" rtl="0" eaLnBrk="1" fontAlgn="base" latinLnBrk="0" hangingPunct="1">
              <a:spcBef>
                <a:spcPts val="0"/>
              </a:spcBef>
              <a:spcAft>
                <a:spcPts val="0"/>
              </a:spcAft>
            </a:pP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普通加法</a:t>
            </a:r>
            <a:r>
              <a:rPr lang="en-US"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a:t>
            </a:r>
            <a:endParaRPr lang="en-US" sz="1800" b="0" i="0" u="none" strike="noStrike" dirty="0">
              <a:effectLst/>
              <a:latin typeface="Arial" panose="020B0604020202020204" pitchFamily="34" charset="0"/>
            </a:endParaRPr>
          </a:p>
          <a:p>
            <a:pPr marL="347472" marR="0" indent="-347472" algn="ctr" rtl="0" eaLnBrk="0" fontAlgn="base" latinLnBrk="0" hangingPunct="0">
              <a:spcBef>
                <a:spcPts val="0"/>
              </a:spcBef>
              <a:spcAft>
                <a:spcPts val="0"/>
              </a:spcAft>
            </a:pP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普通乘法</a:t>
            </a: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矩阵加法</a:t>
            </a:r>
            <a:r>
              <a:rPr lang="en-US"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a:t>
            </a:r>
            <a:endParaRPr lang="en-US" sz="1800" b="0" i="0" u="none" strike="noStrike" dirty="0">
              <a:effectLst/>
              <a:latin typeface="Arial" panose="020B0604020202020204" pitchFamily="34" charset="0"/>
            </a:endParaRPr>
          </a:p>
          <a:p>
            <a:pPr marL="347472" marR="0" indent="-347472" algn="ctr" rtl="0" eaLnBrk="0" fontAlgn="base" latinLnBrk="0" hangingPunct="0">
              <a:spcBef>
                <a:spcPts val="0"/>
              </a:spcBef>
              <a:spcAft>
                <a:spcPts val="0"/>
              </a:spcAft>
            </a:pP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矩阵乘法</a:t>
            </a: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并</a:t>
            </a: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en-US" sz="1800" b="0" i="0" u="none" strike="noStrike" dirty="0">
              <a:effectLst/>
              <a:latin typeface="Arial" panose="020B0604020202020204" pitchFamily="34" charset="0"/>
            </a:endParaRPr>
          </a:p>
          <a:p>
            <a:pPr marL="347472" marR="0" indent="-347472" algn="ctr" rtl="0" eaLnBrk="0" fontAlgn="base" latinLnBrk="0" hangingPunct="0">
              <a:spcBef>
                <a:spcPts val="0"/>
              </a:spcBef>
              <a:spcAft>
                <a:spcPts val="0"/>
              </a:spcAft>
            </a:pP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交</a:t>
            </a: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en-US" sz="1800" b="0" i="0" u="none" strike="noStrike" dirty="0">
              <a:effectLst/>
              <a:latin typeface="Arial" panose="020B0604020202020204" pitchFamily="34" charset="0"/>
            </a:endParaRPr>
          </a:p>
          <a:p>
            <a:pPr marL="347472" marR="0" indent="-347472" algn="ctr" rtl="0" eaLnBrk="0" fontAlgn="base" latinLnBrk="0" hangingPunct="0">
              <a:spcBef>
                <a:spcPts val="0"/>
              </a:spcBef>
              <a:spcAft>
                <a:spcPts val="0"/>
              </a:spcAft>
            </a:pP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相对补</a:t>
            </a: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en-US" sz="1800" b="0" i="0" u="none" strike="noStrike" dirty="0">
              <a:effectLst/>
              <a:latin typeface="Arial" panose="020B0604020202020204" pitchFamily="34" charset="0"/>
            </a:endParaRPr>
          </a:p>
          <a:p>
            <a:pPr marL="347472" marR="0" indent="-347472" algn="ctr" rtl="0" eaLnBrk="0" fontAlgn="base" latinLnBrk="0" hangingPunct="0">
              <a:spcBef>
                <a:spcPts val="0"/>
              </a:spcBef>
              <a:spcAft>
                <a:spcPts val="0"/>
              </a:spcAft>
            </a:pP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对称差</a:t>
            </a: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en-US" sz="1800" b="0" i="0" u="none" strike="noStrike" dirty="0">
              <a:effectLst/>
              <a:latin typeface="Arial" panose="020B0604020202020204" pitchFamily="34" charset="0"/>
            </a:endParaRPr>
          </a:p>
          <a:p>
            <a:pPr marL="347472" marR="0" indent="-347472" algn="ctr" rtl="0" eaLnBrk="1" fontAlgn="base" latinLnBrk="0" hangingPunct="1">
              <a:spcBef>
                <a:spcPts val="0"/>
              </a:spcBef>
              <a:spcAft>
                <a:spcPts val="0"/>
              </a:spcAft>
            </a:pPr>
            <a:r>
              <a:rPr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函数复合</a:t>
            </a:r>
            <a:r>
              <a:rPr lang="zh-CN" sz="1800" b="1" i="0" u="none" strike="noStrike" kern="1200" baseline="0" dirty="0">
                <a:ln>
                  <a:noFill/>
                </a:ln>
                <a:solidFill>
                  <a:srgbClr val="000000"/>
                </a:solidFill>
                <a:effectLst/>
                <a:latin typeface="Lucida Sans Unicode" panose="020B0602030504020204" pitchFamily="34" charset="0"/>
                <a:ea typeface="Lucida Sans Unicode" panose="020B0602030504020204" pitchFamily="34" charset="0"/>
              </a:rPr>
              <a:t>∘</a:t>
            </a:r>
            <a:endParaRPr lang="en-US" sz="18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不管你是先合 </a:t>
            </a:r>
            <a:r>
              <a:rPr lang="en-US" altLang="zh-CN" dirty="0" err="1"/>
              <a:t>ggg</a:t>
            </a:r>
            <a:r>
              <a:rPr lang="en-US" altLang="zh-CN" dirty="0"/>
              <a:t> </a:t>
            </a:r>
            <a:r>
              <a:rPr lang="zh-CN" altLang="en-US" dirty="0"/>
              <a:t>和 </a:t>
            </a:r>
            <a:r>
              <a:rPr lang="en-US" altLang="zh-CN" dirty="0" err="1"/>
              <a:t>fff</a:t>
            </a:r>
            <a:r>
              <a:rPr lang="zh-CN" altLang="en-US" dirty="0"/>
              <a:t>，还是先合 </a:t>
            </a:r>
            <a:r>
              <a:rPr lang="en-US" altLang="zh-CN" dirty="0" err="1"/>
              <a:t>hhh</a:t>
            </a:r>
            <a:r>
              <a:rPr lang="en-US" altLang="zh-CN" dirty="0"/>
              <a:t> </a:t>
            </a:r>
            <a:r>
              <a:rPr lang="zh-CN" altLang="en-US" dirty="0"/>
              <a:t>和 </a:t>
            </a:r>
            <a:r>
              <a:rPr lang="en-US" altLang="zh-CN" dirty="0" err="1"/>
              <a:t>ggg</a:t>
            </a:r>
            <a:r>
              <a:rPr lang="zh-CN" altLang="en-US" dirty="0"/>
              <a:t>，到头来它们都是连起来传递下去的，一步不漏。</a:t>
            </a:r>
            <a:endParaRPr lang="en-US" altLang="zh-CN" sz="1200" b="1" dirty="0">
              <a:solidFill>
                <a:schemeClr val="tx1"/>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a:t>
            </a:fld>
            <a:endParaRPr lang="zh-CN" altLang="en-US"/>
          </a:p>
        </p:txBody>
      </p:sp>
    </p:spTree>
    <p:extLst>
      <p:ext uri="{BB962C8B-B14F-4D97-AF65-F5344CB8AC3E}">
        <p14:creationId xmlns:p14="http://schemas.microsoft.com/office/powerpoint/2010/main" val="2427500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highlight>
                  <a:srgbClr val="FFFF00"/>
                </a:highlight>
                <a:latin typeface="Times New Roman" panose="02020603050405020304" pitchFamily="18" charset="0"/>
                <a:ea typeface="MS Gothic" panose="020B0609070205080204" pitchFamily="49" charset="-128"/>
                <a:cs typeface="MS Gothic" panose="020B0609070205080204" pitchFamily="49" charset="-128"/>
              </a:rPr>
              <a:t>∗</a:t>
            </a:r>
            <a:r>
              <a:rPr lang="zh-CN" altLang="zh-CN" sz="1800"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运算对</a:t>
            </a:r>
            <a:r>
              <a:rPr lang="zh-CN" altLang="zh-CN" sz="1800" kern="100" dirty="0">
                <a:effectLst/>
                <a:highlight>
                  <a:srgbClr val="FFFF00"/>
                </a:highlight>
                <a:latin typeface="Times New Roman" panose="02020603050405020304" pitchFamily="18" charset="0"/>
                <a:ea typeface="MS Gothic" panose="020B0609070205080204" pitchFamily="49" charset="-128"/>
                <a:cs typeface="MS Gothic" panose="020B0609070205080204" pitchFamily="49" charset="-128"/>
              </a:rPr>
              <a:t>∘</a:t>
            </a:r>
            <a:r>
              <a:rPr lang="zh-CN" altLang="zh-CN" sz="1800"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运算满足分配律</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时，意味着对于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中的所有元素</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 b, c</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，有：</a:t>
            </a:r>
          </a:p>
          <a:p>
            <a:pPr indent="266700"/>
            <a:r>
              <a:rPr lang="en-US" altLang="zh-CN" sz="1800" i="1" kern="100" dirty="0">
                <a:effectLst/>
                <a:latin typeface="KaTeX_Math"/>
                <a:ea typeface="宋体" panose="02010600030101010101" pitchFamily="2" charset="-122"/>
                <a:cs typeface="Times New Roman" panose="02020603050405020304" pitchFamily="18" charset="0"/>
              </a:rPr>
              <a:t>a</a:t>
            </a:r>
            <a:r>
              <a:rPr lang="en-US" altLang="zh-CN" sz="1800" kern="100" dirty="0">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b</a:t>
            </a:r>
            <a:r>
              <a:rPr lang="en-US" altLang="zh-CN" sz="1800" kern="100" dirty="0" err="1">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c</a:t>
            </a:r>
            <a:r>
              <a:rPr lang="en-US" altLang="zh-CN" sz="1800" kern="100" dirty="0">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a</a:t>
            </a:r>
            <a:r>
              <a:rPr lang="en-US" altLang="zh-CN" sz="1800" kern="100" dirty="0" err="1">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b</a:t>
            </a:r>
            <a:r>
              <a:rPr lang="en-US" altLang="zh-CN" sz="1800" kern="100" dirty="0">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a</a:t>
            </a:r>
            <a:r>
              <a:rPr lang="en-US" altLang="zh-CN" sz="1800" kern="100" dirty="0" err="1">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c</a:t>
            </a:r>
            <a:r>
              <a:rPr lang="en-US" altLang="zh-CN" sz="1800" kern="100" dirty="0">
                <a:effectLst/>
                <a:latin typeface="KaTeX_Main"/>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以及可能的</a:t>
            </a:r>
            <a:r>
              <a:rPr lang="en-US" altLang="zh-CN" sz="1800" kern="100" dirty="0">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b</a:t>
            </a:r>
            <a:r>
              <a:rPr lang="en-US" altLang="zh-CN" sz="1800" kern="100" dirty="0" err="1">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c</a:t>
            </a:r>
            <a:r>
              <a:rPr lang="en-US" altLang="zh-CN" sz="1800" kern="100" dirty="0">
                <a:effectLst/>
                <a:latin typeface="KaTeX_Main"/>
                <a:ea typeface="宋体" panose="02010600030101010101" pitchFamily="2" charset="-122"/>
                <a:cs typeface="Times New Roman" panose="02020603050405020304" pitchFamily="18" charset="0"/>
              </a:rPr>
              <a:t>)∗</a:t>
            </a:r>
            <a:r>
              <a:rPr lang="en-US" altLang="zh-CN" sz="1800" i="1" kern="100" dirty="0">
                <a:effectLst/>
                <a:latin typeface="KaTeX_Math"/>
                <a:ea typeface="宋体" panose="02010600030101010101" pitchFamily="2" charset="-122"/>
                <a:cs typeface="Times New Roman" panose="02020603050405020304" pitchFamily="18" charset="0"/>
              </a:rPr>
              <a:t>a</a:t>
            </a:r>
            <a:r>
              <a:rPr lang="en-US" altLang="zh-CN" sz="1800" kern="100" dirty="0">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b</a:t>
            </a:r>
            <a:r>
              <a:rPr lang="en-US" altLang="zh-CN" sz="1800" kern="100" dirty="0" err="1">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a</a:t>
            </a:r>
            <a:r>
              <a:rPr lang="en-US" altLang="zh-CN" sz="1800" kern="100" dirty="0">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c</a:t>
            </a:r>
            <a:r>
              <a:rPr lang="en-US" altLang="zh-CN" sz="1800" kern="100" dirty="0" err="1">
                <a:effectLst/>
                <a:latin typeface="KaTeX_Main"/>
                <a:ea typeface="宋体" panose="02010600030101010101" pitchFamily="2" charset="-122"/>
                <a:cs typeface="Times New Roman" panose="02020603050405020304" pitchFamily="18" charset="0"/>
              </a:rPr>
              <a:t>∗</a:t>
            </a:r>
            <a:r>
              <a:rPr lang="en-US" altLang="zh-CN" sz="1800" i="1" kern="100" dirty="0" err="1">
                <a:effectLst/>
                <a:latin typeface="KaTeX_Math"/>
                <a:ea typeface="宋体" panose="02010600030101010101" pitchFamily="2" charset="-122"/>
                <a:cs typeface="Times New Roman" panose="02020603050405020304" pitchFamily="18" charset="0"/>
              </a:rPr>
              <a:t>a</a:t>
            </a:r>
            <a:r>
              <a:rPr lang="en-US" altLang="zh-CN" sz="1800" kern="100" dirty="0">
                <a:effectLst/>
                <a:latin typeface="KaTeX_Main"/>
                <a:ea typeface="宋体" panose="02010600030101010101" pitchFamily="2" charset="-122"/>
                <a:cs typeface="Times New Roman" panose="02020603050405020304" pitchFamily="18" charset="0"/>
              </a:rPr>
              <a:t>)</a:t>
            </a:r>
          </a:p>
          <a:p>
            <a:pPr indent="266700"/>
            <a:endParaRPr lang="en-US" altLang="zh-CN" sz="1800" kern="100" dirty="0">
              <a:effectLst/>
              <a:latin typeface="KaTeX_Main"/>
              <a:ea typeface="宋体" panose="02010600030101010101" pitchFamily="2" charset="-122"/>
              <a:cs typeface="Times New Roman" panose="02020603050405020304" pitchFamily="18" charset="0"/>
            </a:endParaRPr>
          </a:p>
          <a:p>
            <a:pPr>
              <a:lnSpc>
                <a:spcPct val="120000"/>
              </a:lnSpc>
            </a:pPr>
            <a:r>
              <a:rPr lang="zh-CN" altLang="en-US" sz="1800" b="1" dirty="0">
                <a:solidFill>
                  <a:srgbClr val="FF0000"/>
                </a:solidFill>
                <a:latin typeface="Times New Roman" panose="02020603050405020304" pitchFamily="18" charset="0"/>
                <a:ea typeface="宋体" panose="02010600030101010101" pitchFamily="2" charset="-122"/>
              </a:rPr>
              <a:t>定义</a:t>
            </a:r>
            <a:r>
              <a:rPr lang="en-US" altLang="zh-CN" sz="1800" b="1" dirty="0">
                <a:solidFill>
                  <a:srgbClr val="FF0000"/>
                </a:solidFill>
                <a:latin typeface="Times New Roman" panose="02020603050405020304" pitchFamily="18" charset="0"/>
                <a:ea typeface="宋体" panose="02010600030101010101" pitchFamily="2" charset="-122"/>
              </a:rPr>
              <a:t>9.4</a:t>
            </a:r>
            <a:r>
              <a:rPr lang="en-US" altLang="zh-CN" sz="1800" b="1" dirty="0">
                <a:solidFill>
                  <a:schemeClr val="tx1"/>
                </a:solidFill>
                <a:latin typeface="Times New Roman" panose="02020603050405020304" pitchFamily="18" charset="0"/>
                <a:ea typeface="宋体" panose="02010600030101010101" pitchFamily="2" charset="-122"/>
              </a:rPr>
              <a:t>  </a:t>
            </a:r>
            <a:r>
              <a:rPr lang="zh-CN" altLang="en-US" sz="1800" b="1" dirty="0">
                <a:solidFill>
                  <a:schemeClr val="tx1"/>
                </a:solidFill>
                <a:latin typeface="Times New Roman" panose="02020603050405020304" pitchFamily="18" charset="0"/>
                <a:ea typeface="宋体" panose="02010600030101010101" pitchFamily="2" charset="-122"/>
              </a:rPr>
              <a:t>设 </a:t>
            </a:r>
            <a:r>
              <a:rPr lang="en-US" altLang="zh-CN" sz="1800" b="1" dirty="0">
                <a:solidFill>
                  <a:schemeClr val="tx1"/>
                </a:solidFill>
                <a:sym typeface="Symbol" panose="05050102010706020507" pitchFamily="18" charset="2"/>
              </a:rPr>
              <a:t>∘</a:t>
            </a:r>
            <a:r>
              <a:rPr lang="zh-CN" altLang="en-US" sz="1800" b="1" dirty="0">
                <a:solidFill>
                  <a:schemeClr val="tx1"/>
                </a:solidFill>
                <a:latin typeface="Times New Roman" panose="02020603050405020304" pitchFamily="18" charset="0"/>
                <a:ea typeface="宋体" panose="02010600030101010101" pitchFamily="2" charset="-122"/>
              </a:rPr>
              <a:t>和 ∗ 为 </a:t>
            </a:r>
            <a:r>
              <a:rPr lang="en-US" altLang="zh-CN" sz="1800" b="1" i="1" dirty="0">
                <a:solidFill>
                  <a:schemeClr val="tx1"/>
                </a:solidFill>
                <a:latin typeface="Times New Roman" panose="02020603050405020304" pitchFamily="18" charset="0"/>
                <a:ea typeface="宋体" panose="02010600030101010101" pitchFamily="2" charset="-122"/>
              </a:rPr>
              <a:t>S </a:t>
            </a:r>
            <a:r>
              <a:rPr lang="zh-CN" altLang="en-US" sz="1800" b="1" dirty="0">
                <a:solidFill>
                  <a:schemeClr val="tx1"/>
                </a:solidFill>
                <a:latin typeface="Times New Roman" panose="02020603050405020304" pitchFamily="18" charset="0"/>
                <a:ea typeface="宋体" panose="02010600030101010101" pitchFamily="2" charset="-122"/>
              </a:rPr>
              <a:t>上两个不同的二元运算</a:t>
            </a:r>
            <a:r>
              <a:rPr lang="en-US" altLang="zh-CN" sz="1800" b="1" dirty="0">
                <a:solidFill>
                  <a:schemeClr val="tx1"/>
                </a:solidFill>
                <a:latin typeface="Times New Roman" panose="02020603050405020304" pitchFamily="18" charset="0"/>
                <a:ea typeface="宋体" panose="02010600030101010101" pitchFamily="2" charset="-122"/>
              </a:rPr>
              <a:t>,</a:t>
            </a:r>
          </a:p>
          <a:p>
            <a:pPr>
              <a:lnSpc>
                <a:spcPct val="120000"/>
              </a:lnSpc>
            </a:pPr>
            <a:r>
              <a:rPr lang="en-US" altLang="zh-CN" sz="1800" b="1" dirty="0">
                <a:solidFill>
                  <a:schemeClr val="tx1"/>
                </a:solidFill>
                <a:latin typeface="Times New Roman" panose="02020603050405020304" pitchFamily="18" charset="0"/>
                <a:ea typeface="宋体" panose="02010600030101010101" pitchFamily="2" charset="-122"/>
              </a:rPr>
              <a:t>    (1) </a:t>
            </a:r>
            <a:r>
              <a:rPr lang="zh-CN" altLang="en-US" sz="1800" b="1" dirty="0">
                <a:solidFill>
                  <a:schemeClr val="tx1"/>
                </a:solidFill>
                <a:latin typeface="Times New Roman" panose="02020603050405020304" pitchFamily="18" charset="0"/>
                <a:ea typeface="宋体" panose="02010600030101010101" pitchFamily="2" charset="-122"/>
              </a:rPr>
              <a:t>如果对于任意的 </a:t>
            </a:r>
            <a:r>
              <a:rPr lang="en-US" altLang="zh-CN" sz="1800" b="1" i="1" dirty="0">
                <a:solidFill>
                  <a:schemeClr val="tx1"/>
                </a:solidFill>
                <a:latin typeface="Times New Roman" panose="02020603050405020304" pitchFamily="18" charset="0"/>
                <a:ea typeface="宋体" panose="02010600030101010101" pitchFamily="2" charset="-122"/>
              </a:rPr>
              <a:t>x</a:t>
            </a:r>
            <a:r>
              <a:rPr lang="en-US" altLang="zh-CN" sz="1800" b="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y</a:t>
            </a:r>
            <a:r>
              <a:rPr lang="en-US" altLang="zh-CN" sz="1800" b="1" dirty="0">
                <a:solidFill>
                  <a:schemeClr val="tx1"/>
                </a:solidFill>
                <a:latin typeface="Times New Roman" panose="02020603050405020304" pitchFamily="18" charset="0"/>
                <a:ea typeface="宋体" panose="02010600030101010101" pitchFamily="2" charset="-122"/>
              </a:rPr>
              <a:t>, </a:t>
            </a:r>
            <a:r>
              <a:rPr lang="en-US" altLang="zh-CN" sz="1800" b="1" i="1" dirty="0" err="1">
                <a:solidFill>
                  <a:schemeClr val="tx1"/>
                </a:solidFill>
                <a:latin typeface="Times New Roman" panose="02020603050405020304" pitchFamily="18" charset="0"/>
                <a:ea typeface="宋体" panose="02010600030101010101" pitchFamily="2" charset="-122"/>
              </a:rPr>
              <a:t>z</a:t>
            </a:r>
            <a:r>
              <a:rPr lang="en-US" altLang="zh-CN" sz="1800" b="1" dirty="0" err="1">
                <a:solidFill>
                  <a:schemeClr val="tx1"/>
                </a:solidFill>
                <a:latin typeface="Times New Roman" panose="02020603050405020304" pitchFamily="18" charset="0"/>
                <a:ea typeface="宋体" panose="02010600030101010101" pitchFamily="2" charset="-122"/>
              </a:rPr>
              <a:t>∈</a:t>
            </a:r>
            <a:r>
              <a:rPr lang="en-US" altLang="zh-CN" sz="1800" b="1" i="1" dirty="0" err="1">
                <a:solidFill>
                  <a:schemeClr val="tx1"/>
                </a:solidFill>
                <a:latin typeface="Times New Roman" panose="02020603050405020304" pitchFamily="18" charset="0"/>
                <a:ea typeface="宋体" panose="02010600030101010101" pitchFamily="2" charset="-122"/>
              </a:rPr>
              <a:t>S</a:t>
            </a:r>
            <a:r>
              <a:rPr lang="en-US" altLang="zh-CN" sz="1800" b="1" i="1" dirty="0">
                <a:solidFill>
                  <a:schemeClr val="tx1"/>
                </a:solidFill>
                <a:latin typeface="Times New Roman" panose="02020603050405020304" pitchFamily="18" charset="0"/>
                <a:ea typeface="宋体" panose="02010600030101010101" pitchFamily="2" charset="-122"/>
              </a:rPr>
              <a:t> </a:t>
            </a:r>
            <a:r>
              <a:rPr lang="zh-CN" altLang="en-US" sz="1800" b="1" dirty="0">
                <a:solidFill>
                  <a:schemeClr val="tx1"/>
                </a:solidFill>
                <a:latin typeface="Times New Roman" panose="02020603050405020304" pitchFamily="18" charset="0"/>
                <a:ea typeface="宋体" panose="02010600030101010101" pitchFamily="2" charset="-122"/>
              </a:rPr>
              <a:t>有 </a:t>
            </a:r>
          </a:p>
          <a:p>
            <a:pPr>
              <a:lnSpc>
                <a:spcPct val="120000"/>
              </a:lnSpc>
            </a:pPr>
            <a:r>
              <a:rPr lang="zh-CN" altLang="en-US" sz="1800" b="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x </a:t>
            </a:r>
            <a:r>
              <a:rPr lang="en-US" altLang="zh-CN" sz="1800" b="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y</a:t>
            </a:r>
            <a:r>
              <a:rPr lang="en-US" altLang="zh-CN" sz="1800" b="1" dirty="0">
                <a:solidFill>
                  <a:schemeClr val="tx1"/>
                </a:solidFill>
                <a:latin typeface="Times New Roman" panose="02020603050405020304" pitchFamily="18" charset="0"/>
                <a:ea typeface="宋体" panose="02010600030101010101" pitchFamily="2" charset="-122"/>
              </a:rPr>
              <a:t>)</a:t>
            </a:r>
            <a:r>
              <a:rPr lang="en-US" altLang="zh-CN" sz="800" b="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800" b="1" i="1" dirty="0">
                <a:solidFill>
                  <a:schemeClr val="tx1"/>
                </a:solidFill>
                <a:latin typeface="Times New Roman" panose="02020603050405020304" pitchFamily="18" charset="0"/>
                <a:ea typeface="宋体" panose="02010600030101010101" pitchFamily="2" charset="-122"/>
              </a:rPr>
              <a:t>z </a:t>
            </a:r>
            <a:r>
              <a:rPr lang="en-US" altLang="zh-CN" sz="1800" b="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x</a:t>
            </a:r>
            <a:r>
              <a:rPr lang="en-US" altLang="zh-CN" sz="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800" b="1" i="1" dirty="0">
                <a:solidFill>
                  <a:schemeClr val="tx1"/>
                </a:solidFill>
                <a:latin typeface="Times New Roman" panose="02020603050405020304" pitchFamily="18" charset="0"/>
                <a:ea typeface="宋体" panose="02010600030101010101" pitchFamily="2" charset="-122"/>
              </a:rPr>
              <a:t>z</a:t>
            </a:r>
            <a:r>
              <a:rPr lang="en-US" altLang="zh-CN" sz="1800" b="1" dirty="0">
                <a:solidFill>
                  <a:schemeClr val="tx1"/>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y</a:t>
            </a:r>
            <a:r>
              <a:rPr lang="en-US" altLang="zh-CN" sz="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800" b="1" i="1" dirty="0">
                <a:solidFill>
                  <a:schemeClr val="tx1"/>
                </a:solidFill>
                <a:latin typeface="Times New Roman" panose="02020603050405020304" pitchFamily="18" charset="0"/>
                <a:ea typeface="宋体" panose="02010600030101010101" pitchFamily="2" charset="-122"/>
              </a:rPr>
              <a:t>z</a:t>
            </a:r>
            <a:r>
              <a:rPr lang="en-US" altLang="zh-CN" sz="1800" b="1" dirty="0">
                <a:solidFill>
                  <a:schemeClr val="tx1"/>
                </a:solidFill>
                <a:latin typeface="Times New Roman" panose="02020603050405020304" pitchFamily="18" charset="0"/>
                <a:ea typeface="宋体" panose="02010600030101010101" pitchFamily="2" charset="-122"/>
              </a:rPr>
              <a:t>)</a:t>
            </a:r>
          </a:p>
          <a:p>
            <a:pPr>
              <a:lnSpc>
                <a:spcPct val="120000"/>
              </a:lnSpc>
            </a:pPr>
            <a:r>
              <a:rPr lang="en-US" altLang="zh-CN" sz="1800" b="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z</a:t>
            </a:r>
            <a:r>
              <a:rPr lang="en-US" altLang="zh-CN" sz="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sym typeface="Symbol" panose="05050102010706020507" pitchFamily="18" charset="2"/>
              </a:rPr>
              <a:t>∘</a:t>
            </a:r>
            <a:r>
              <a:rPr lang="en-US" altLang="zh-CN" sz="1800" b="1" dirty="0">
                <a:solidFill>
                  <a:schemeClr val="tx1"/>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x </a:t>
            </a:r>
            <a:r>
              <a:rPr lang="en-US" altLang="zh-CN" sz="1800" b="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y</a:t>
            </a:r>
            <a:r>
              <a:rPr lang="en-US" altLang="zh-CN" sz="1800" b="1" dirty="0">
                <a:solidFill>
                  <a:schemeClr val="tx1"/>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z</a:t>
            </a:r>
            <a:r>
              <a:rPr lang="en-US" altLang="zh-CN" sz="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800" b="1" i="1" dirty="0">
                <a:solidFill>
                  <a:schemeClr val="tx1"/>
                </a:solidFill>
                <a:latin typeface="Times New Roman" panose="02020603050405020304" pitchFamily="18" charset="0"/>
                <a:ea typeface="宋体" panose="02010600030101010101" pitchFamily="2" charset="-122"/>
              </a:rPr>
              <a:t>x</a:t>
            </a:r>
            <a:r>
              <a:rPr lang="en-US" altLang="zh-CN" sz="1800" b="1" dirty="0">
                <a:solidFill>
                  <a:schemeClr val="tx1"/>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z</a:t>
            </a:r>
            <a:r>
              <a:rPr lang="en-US" altLang="zh-CN" sz="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800" b="1" i="1" dirty="0">
                <a:solidFill>
                  <a:schemeClr val="tx1"/>
                </a:solidFill>
                <a:latin typeface="Times New Roman" panose="02020603050405020304" pitchFamily="18" charset="0"/>
                <a:ea typeface="宋体" panose="02010600030101010101" pitchFamily="2" charset="-122"/>
              </a:rPr>
              <a:t>y</a:t>
            </a:r>
            <a:r>
              <a:rPr lang="en-US" altLang="zh-CN" sz="1800" b="1" dirty="0">
                <a:solidFill>
                  <a:schemeClr val="tx1"/>
                </a:solidFill>
                <a:latin typeface="Times New Roman" panose="02020603050405020304" pitchFamily="18" charset="0"/>
                <a:ea typeface="宋体" panose="02010600030101010101" pitchFamily="2" charset="-122"/>
              </a:rPr>
              <a:t>) </a:t>
            </a:r>
          </a:p>
          <a:p>
            <a:pPr>
              <a:lnSpc>
                <a:spcPct val="120000"/>
              </a:lnSpc>
            </a:pPr>
            <a:r>
              <a:rPr lang="en-US" altLang="zh-CN" sz="1800" b="1" dirty="0">
                <a:solidFill>
                  <a:schemeClr val="tx1"/>
                </a:solidFill>
                <a:latin typeface="Times New Roman" panose="02020603050405020304" pitchFamily="18" charset="0"/>
                <a:ea typeface="宋体" panose="02010600030101010101" pitchFamily="2" charset="-122"/>
              </a:rPr>
              <a:t>          </a:t>
            </a:r>
            <a:r>
              <a:rPr lang="zh-CN" altLang="en-US" sz="1800" b="1" dirty="0">
                <a:solidFill>
                  <a:schemeClr val="tx1"/>
                </a:solidFill>
                <a:latin typeface="Times New Roman" panose="02020603050405020304" pitchFamily="18" charset="0"/>
                <a:ea typeface="宋体" panose="02010600030101010101" pitchFamily="2" charset="-122"/>
              </a:rPr>
              <a:t>则称 </a:t>
            </a:r>
            <a:r>
              <a:rPr lang="en-US" altLang="zh-CN" sz="1800" b="1" dirty="0">
                <a:solidFill>
                  <a:schemeClr val="tx1"/>
                </a:solidFill>
                <a:sym typeface="Symbol" panose="05050102010706020507" pitchFamily="18" charset="2"/>
              </a:rPr>
              <a:t>∘</a:t>
            </a:r>
            <a:r>
              <a:rPr lang="zh-CN" altLang="en-US"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800" b="1" dirty="0">
                <a:solidFill>
                  <a:schemeClr val="tx1"/>
                </a:solidFill>
                <a:latin typeface="Times New Roman" panose="02020603050405020304" pitchFamily="18" charset="0"/>
                <a:ea typeface="宋体" panose="02010600030101010101" pitchFamily="2" charset="-122"/>
              </a:rPr>
              <a:t>运算对 ∗ 运算满足</a:t>
            </a:r>
            <a:r>
              <a:rPr lang="zh-CN" altLang="en-US" sz="1800" b="1" dirty="0">
                <a:solidFill>
                  <a:srgbClr val="FF0000"/>
                </a:solidFill>
                <a:latin typeface="Times New Roman" panose="02020603050405020304" pitchFamily="18" charset="0"/>
                <a:ea typeface="宋体" panose="02010600030101010101" pitchFamily="2" charset="-122"/>
              </a:rPr>
              <a:t>分配律</a:t>
            </a:r>
            <a:r>
              <a:rPr lang="en-US" altLang="zh-CN" sz="1800" b="1" dirty="0">
                <a:solidFill>
                  <a:schemeClr val="tx1"/>
                </a:solidFill>
                <a:latin typeface="Times New Roman" panose="02020603050405020304" pitchFamily="18" charset="0"/>
                <a:ea typeface="宋体" panose="02010600030101010101" pitchFamily="2" charset="-122"/>
              </a:rPr>
              <a:t>.  </a:t>
            </a:r>
          </a:p>
          <a:p>
            <a:pPr>
              <a:lnSpc>
                <a:spcPct val="120000"/>
              </a:lnSpc>
            </a:pPr>
            <a:r>
              <a:rPr lang="en-US" altLang="zh-CN" sz="1800" b="1" dirty="0">
                <a:solidFill>
                  <a:schemeClr val="tx1"/>
                </a:solidFill>
                <a:latin typeface="Times New Roman" panose="02020603050405020304" pitchFamily="18" charset="0"/>
                <a:ea typeface="宋体" panose="02010600030101010101" pitchFamily="2" charset="-122"/>
              </a:rPr>
              <a:t>    (2) </a:t>
            </a:r>
            <a:r>
              <a:rPr lang="zh-CN" altLang="en-US" sz="1800" b="1" dirty="0">
                <a:solidFill>
                  <a:schemeClr val="tx1"/>
                </a:solidFill>
                <a:latin typeface="Times New Roman" panose="02020603050405020304" pitchFamily="18" charset="0"/>
                <a:ea typeface="宋体" panose="02010600030101010101" pitchFamily="2" charset="-122"/>
              </a:rPr>
              <a:t>如果 </a:t>
            </a:r>
            <a:r>
              <a:rPr lang="en-US" altLang="zh-CN" sz="1800" b="1" dirty="0">
                <a:solidFill>
                  <a:schemeClr val="tx1"/>
                </a:solidFill>
                <a:sym typeface="Symbol" panose="05050102010706020507" pitchFamily="18" charset="2"/>
              </a:rPr>
              <a:t>∘</a:t>
            </a:r>
            <a:r>
              <a:rPr lang="zh-CN" altLang="en-US"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800" b="1" dirty="0">
                <a:solidFill>
                  <a:schemeClr val="tx1"/>
                </a:solidFill>
                <a:latin typeface="Times New Roman" panose="02020603050405020304" pitchFamily="18" charset="0"/>
                <a:ea typeface="宋体" panose="02010600030101010101" pitchFamily="2" charset="-122"/>
              </a:rPr>
              <a:t>和 ∗ 都可交换</a:t>
            </a:r>
            <a:r>
              <a:rPr lang="en-US" altLang="zh-CN" sz="1800" b="1" dirty="0">
                <a:solidFill>
                  <a:schemeClr val="tx1"/>
                </a:solidFill>
                <a:latin typeface="Times New Roman" panose="02020603050405020304" pitchFamily="18" charset="0"/>
                <a:ea typeface="宋体" panose="02010600030101010101" pitchFamily="2" charset="-122"/>
              </a:rPr>
              <a:t>, </a:t>
            </a:r>
            <a:r>
              <a:rPr lang="zh-CN" altLang="en-US" sz="1800" b="1" dirty="0">
                <a:solidFill>
                  <a:schemeClr val="tx1"/>
                </a:solidFill>
                <a:latin typeface="Times New Roman" panose="02020603050405020304" pitchFamily="18" charset="0"/>
                <a:ea typeface="宋体" panose="02010600030101010101" pitchFamily="2" charset="-122"/>
              </a:rPr>
              <a:t>并且对于任意的 </a:t>
            </a:r>
            <a:r>
              <a:rPr lang="en-US" altLang="zh-CN" sz="1800" b="1" i="1" dirty="0">
                <a:solidFill>
                  <a:schemeClr val="tx1"/>
                </a:solidFill>
                <a:latin typeface="Times New Roman" panose="02020603050405020304" pitchFamily="18" charset="0"/>
                <a:ea typeface="宋体" panose="02010600030101010101" pitchFamily="2" charset="-122"/>
              </a:rPr>
              <a:t>x</a:t>
            </a:r>
            <a:r>
              <a:rPr lang="en-US" altLang="zh-CN" sz="1800" b="1" dirty="0">
                <a:solidFill>
                  <a:schemeClr val="tx1"/>
                </a:solidFill>
                <a:latin typeface="Times New Roman" panose="02020603050405020304" pitchFamily="18" charset="0"/>
                <a:ea typeface="宋体" panose="02010600030101010101" pitchFamily="2" charset="-122"/>
              </a:rPr>
              <a:t>, </a:t>
            </a:r>
            <a:r>
              <a:rPr lang="en-US" altLang="zh-CN" sz="1800" b="1" i="1" dirty="0" err="1">
                <a:solidFill>
                  <a:schemeClr val="tx1"/>
                </a:solidFill>
                <a:latin typeface="Times New Roman" panose="02020603050405020304" pitchFamily="18" charset="0"/>
                <a:ea typeface="宋体" panose="02010600030101010101" pitchFamily="2" charset="-122"/>
              </a:rPr>
              <a:t>y</a:t>
            </a:r>
            <a:r>
              <a:rPr lang="en-US" altLang="zh-CN" sz="1800" b="1" dirty="0" err="1">
                <a:solidFill>
                  <a:schemeClr val="tx1"/>
                </a:solidFill>
                <a:latin typeface="Times New Roman" panose="02020603050405020304" pitchFamily="18" charset="0"/>
                <a:ea typeface="宋体" panose="02010600030101010101" pitchFamily="2" charset="-122"/>
              </a:rPr>
              <a:t>∈</a:t>
            </a:r>
            <a:r>
              <a:rPr lang="en-US" altLang="zh-CN" sz="1800" b="1" i="1" dirty="0" err="1">
                <a:solidFill>
                  <a:schemeClr val="tx1"/>
                </a:solidFill>
                <a:latin typeface="Times New Roman" panose="02020603050405020304" pitchFamily="18" charset="0"/>
                <a:ea typeface="宋体" panose="02010600030101010101" pitchFamily="2" charset="-122"/>
              </a:rPr>
              <a:t>S</a:t>
            </a:r>
            <a:r>
              <a:rPr lang="en-US" altLang="zh-CN" sz="1800" b="1" i="1" dirty="0">
                <a:solidFill>
                  <a:schemeClr val="tx1"/>
                </a:solidFill>
                <a:latin typeface="Times New Roman" panose="02020603050405020304" pitchFamily="18" charset="0"/>
                <a:ea typeface="宋体" panose="02010600030101010101" pitchFamily="2" charset="-122"/>
              </a:rPr>
              <a:t> </a:t>
            </a:r>
            <a:r>
              <a:rPr lang="zh-CN" altLang="en-US" sz="1800" b="1" dirty="0">
                <a:solidFill>
                  <a:schemeClr val="tx1"/>
                </a:solidFill>
                <a:latin typeface="Times New Roman" panose="02020603050405020304" pitchFamily="18" charset="0"/>
                <a:ea typeface="宋体" panose="02010600030101010101" pitchFamily="2" charset="-122"/>
              </a:rPr>
              <a:t>有       </a:t>
            </a:r>
          </a:p>
          <a:p>
            <a:pPr>
              <a:lnSpc>
                <a:spcPct val="120000"/>
              </a:lnSpc>
            </a:pPr>
            <a:r>
              <a:rPr lang="zh-CN" altLang="en-US" sz="1800" b="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x</a:t>
            </a:r>
            <a:r>
              <a:rPr lang="en-US" altLang="zh-CN" sz="800" b="1" i="1" dirty="0">
                <a:solidFill>
                  <a:schemeClr val="tx1"/>
                </a:solidFill>
                <a:latin typeface="Times New Roman" panose="02020603050405020304" pitchFamily="18" charset="0"/>
                <a:ea typeface="宋体" panose="02010600030101010101" pitchFamily="2" charset="-122"/>
              </a:rPr>
              <a:t> </a:t>
            </a:r>
            <a:r>
              <a:rPr lang="en-US" altLang="zh-CN" sz="18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800" b="1" dirty="0">
                <a:solidFill>
                  <a:schemeClr val="tx1"/>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x </a:t>
            </a:r>
            <a:r>
              <a:rPr lang="en-US" altLang="zh-CN" sz="1800" b="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y</a:t>
            </a:r>
            <a:r>
              <a:rPr lang="en-US" altLang="zh-CN" sz="1800" b="1" dirty="0">
                <a:solidFill>
                  <a:schemeClr val="tx1"/>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x </a:t>
            </a:r>
          </a:p>
          <a:p>
            <a:pPr>
              <a:lnSpc>
                <a:spcPct val="120000"/>
              </a:lnSpc>
            </a:pPr>
            <a:r>
              <a:rPr lang="en-US" altLang="zh-CN" sz="1800" b="1" i="1" dirty="0">
                <a:solidFill>
                  <a:schemeClr val="tx1"/>
                </a:solidFill>
                <a:latin typeface="Times New Roman" panose="02020603050405020304" pitchFamily="18" charset="0"/>
                <a:ea typeface="宋体" panose="02010600030101010101" pitchFamily="2" charset="-122"/>
              </a:rPr>
              <a:t>               x </a:t>
            </a:r>
            <a:r>
              <a:rPr lang="en-US" altLang="zh-CN" sz="1800" b="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x</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800" b="1" dirty="0">
                <a:solidFill>
                  <a:schemeClr val="tx1"/>
                </a:solidFill>
                <a:sym typeface="Symbol" panose="05050102010706020507" pitchFamily="18" charset="2"/>
              </a:rPr>
              <a:t>∘</a:t>
            </a:r>
            <a:r>
              <a:rPr lang="en-US" altLang="zh-CN" sz="800" dirty="0">
                <a:sym typeface="Symbol" panose="05050102010706020507" pitchFamily="18" charset="2"/>
              </a:rPr>
              <a:t> </a:t>
            </a:r>
            <a:r>
              <a:rPr lang="en-US" altLang="zh-CN" sz="1800" b="1" i="1" dirty="0">
                <a:solidFill>
                  <a:schemeClr val="tx1"/>
                </a:solidFill>
                <a:latin typeface="Times New Roman" panose="02020603050405020304" pitchFamily="18" charset="0"/>
                <a:ea typeface="宋体" panose="02010600030101010101" pitchFamily="2" charset="-122"/>
              </a:rPr>
              <a:t>y</a:t>
            </a:r>
            <a:r>
              <a:rPr lang="en-US" altLang="zh-CN" sz="1800" b="1" dirty="0">
                <a:solidFill>
                  <a:schemeClr val="tx1"/>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x</a:t>
            </a:r>
            <a:r>
              <a:rPr lang="en-US" altLang="zh-CN" sz="1800" b="1" dirty="0">
                <a:solidFill>
                  <a:schemeClr val="tx1"/>
                </a:solidFill>
                <a:latin typeface="Times New Roman" panose="02020603050405020304" pitchFamily="18" charset="0"/>
                <a:ea typeface="宋体" panose="02010600030101010101" pitchFamily="2" charset="-122"/>
              </a:rPr>
              <a:t> </a:t>
            </a:r>
          </a:p>
          <a:p>
            <a:pPr>
              <a:lnSpc>
                <a:spcPct val="120000"/>
              </a:lnSpc>
            </a:pPr>
            <a:r>
              <a:rPr lang="en-US" altLang="zh-CN" sz="1800" b="1" dirty="0">
                <a:solidFill>
                  <a:schemeClr val="tx1"/>
                </a:solidFill>
                <a:latin typeface="Times New Roman" panose="02020603050405020304" pitchFamily="18" charset="0"/>
                <a:ea typeface="宋体" panose="02010600030101010101" pitchFamily="2" charset="-122"/>
              </a:rPr>
              <a:t>          </a:t>
            </a:r>
            <a:r>
              <a:rPr lang="zh-CN" altLang="en-US" sz="1800" b="1" dirty="0">
                <a:solidFill>
                  <a:schemeClr val="tx1"/>
                </a:solidFill>
                <a:latin typeface="Times New Roman" panose="02020603050405020304" pitchFamily="18" charset="0"/>
                <a:ea typeface="宋体" panose="02010600030101010101" pitchFamily="2" charset="-122"/>
              </a:rPr>
              <a:t>则称 </a:t>
            </a:r>
            <a:r>
              <a:rPr lang="en-US" altLang="zh-CN" sz="1800" b="1" dirty="0">
                <a:solidFill>
                  <a:schemeClr val="tx1"/>
                </a:solidFill>
                <a:sym typeface="Symbol" panose="05050102010706020507" pitchFamily="18" charset="2"/>
              </a:rPr>
              <a:t>∘</a:t>
            </a:r>
            <a:r>
              <a:rPr lang="zh-CN" altLang="en-US" sz="1800" b="1" dirty="0">
                <a:solidFill>
                  <a:schemeClr val="tx1"/>
                </a:solidFill>
                <a:latin typeface="Times New Roman" panose="02020603050405020304" pitchFamily="18" charset="0"/>
                <a:ea typeface="宋体" panose="02010600030101010101" pitchFamily="2" charset="-122"/>
              </a:rPr>
              <a:t>和 ∗ 运算满足</a:t>
            </a:r>
            <a:r>
              <a:rPr lang="zh-CN" altLang="en-US" sz="1800" b="1" dirty="0">
                <a:solidFill>
                  <a:srgbClr val="FF0000"/>
                </a:solidFill>
                <a:latin typeface="Times New Roman" panose="02020603050405020304" pitchFamily="18" charset="0"/>
                <a:ea typeface="宋体" panose="02010600030101010101" pitchFamily="2" charset="-122"/>
              </a:rPr>
              <a:t>吸收律</a:t>
            </a:r>
            <a:r>
              <a:rPr lang="en-US" altLang="zh-CN" sz="1800" b="1" dirty="0">
                <a:solidFill>
                  <a:schemeClr val="tx1"/>
                </a:solidFill>
                <a:latin typeface="Times New Roman" panose="02020603050405020304" pitchFamily="18" charset="0"/>
                <a:ea typeface="宋体" panose="02010600030101010101" pitchFamily="2" charset="-122"/>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a:t>
            </a:fld>
            <a:endParaRPr lang="zh-CN" altLang="en-US"/>
          </a:p>
        </p:txBody>
      </p:sp>
    </p:spTree>
    <p:extLst>
      <p:ext uri="{BB962C8B-B14F-4D97-AF65-F5344CB8AC3E}">
        <p14:creationId xmlns:p14="http://schemas.microsoft.com/office/powerpoint/2010/main" val="4275993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Z, Q, R</a:t>
            </a:r>
            <a:r>
              <a:rPr lang="zh-CN" altLang="en-US" sz="1200" b="1" dirty="0">
                <a:solidFill>
                  <a:schemeClr val="tx1"/>
                </a:solidFill>
                <a:latin typeface="Times New Roman" panose="02020603050405020304" pitchFamily="18" charset="0"/>
                <a:ea typeface="宋体" panose="02010600030101010101" pitchFamily="2" charset="-122"/>
              </a:rPr>
              <a:t>分别为整数、有理数、实数集；</a:t>
            </a:r>
            <a:r>
              <a:rPr lang="en-US" altLang="zh-CN" sz="1200" b="1" i="1" dirty="0">
                <a:solidFill>
                  <a:schemeClr val="tx1"/>
                </a:solidFill>
                <a:latin typeface="Times New Roman" panose="02020603050405020304" pitchFamily="18" charset="0"/>
                <a:ea typeface="宋体" panose="02010600030101010101" pitchFamily="2" charset="-122"/>
              </a:rPr>
              <a:t>M</a:t>
            </a:r>
            <a:r>
              <a:rPr lang="en-US" altLang="zh-CN" sz="1200" b="1" i="1" baseline="-25000" dirty="0">
                <a:solidFill>
                  <a:schemeClr val="tx1"/>
                </a:solidFill>
                <a:latin typeface="Times New Roman" panose="02020603050405020304" pitchFamily="18" charset="0"/>
                <a:ea typeface="宋体" panose="02010600030101010101" pitchFamily="2" charset="-122"/>
              </a:rPr>
              <a:t>n</a:t>
            </a:r>
            <a:r>
              <a:rPr lang="en-US" altLang="zh-CN" sz="1200" b="1" dirty="0">
                <a:solidFill>
                  <a:schemeClr val="tx1"/>
                </a:solidFill>
                <a:latin typeface="Times New Roman" panose="02020603050405020304" pitchFamily="18" charset="0"/>
                <a:ea typeface="宋体" panose="02010600030101010101" pitchFamily="2" charset="-122"/>
              </a:rPr>
              <a:t>(R)</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阶实矩阵集合</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n</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2</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P</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为幂集；</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i="1" baseline="30000"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上</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交 </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与对称差 </a:t>
            </a:r>
            <a:r>
              <a:rPr kumimoji="1" lang="zh-CN" altLang="en-US"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347472" marR="0" indent="-347472" algn="ctr" rtl="0" eaLnBrk="1" fontAlgn="base" latinLnBrk="0" hangingPunct="1">
              <a:spcBef>
                <a:spcPts val="0"/>
              </a:spcBef>
              <a:spcAft>
                <a:spcPts val="0"/>
              </a:spcAft>
            </a:pPr>
            <a:r>
              <a:rPr lang="en-US" sz="1800" b="1" i="0" u="none" strike="noStrike" kern="1200" dirty="0">
                <a:solidFill>
                  <a:srgbClr val="000000"/>
                </a:solidFill>
                <a:effectLst/>
                <a:latin typeface="Calibri" panose="020F0502020204030204" pitchFamily="34" charset="0"/>
              </a:rPr>
              <a:t>Distributive Law</a:t>
            </a:r>
            <a:r>
              <a:rPr lang="en-US" sz="1800" b="0" i="0" u="none" strike="noStrike" kern="1200" dirty="0">
                <a:solidFill>
                  <a:srgbClr val="000000"/>
                </a:solidFill>
                <a:effectLst/>
                <a:latin typeface="Calibri" panose="020F0502020204030204" pitchFamily="34" charset="0"/>
              </a:rPr>
              <a:t> </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rPr>
              <a:t> </a:t>
            </a:r>
            <a:r>
              <a:rPr kumimoji="1" lang="en-US"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to</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rPr>
              <a:t> </a:t>
            </a:r>
            <a:r>
              <a:rPr kumimoji="1" lang="en-US"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 dis</a:t>
            </a:r>
            <a:endParaRPr lang="en-US" sz="1800" b="0" i="0" u="none" strike="noStrike" dirty="0">
              <a:effectLst/>
              <a:latin typeface="Arial" panose="020B0604020202020204" pitchFamily="34" charset="0"/>
            </a:endParaRPr>
          </a:p>
          <a:p>
            <a:pPr marL="347472" marR="0" indent="-347472" algn="l" rtl="0" eaLnBrk="0" fontAlgn="base" latinLnBrk="0" hangingPunct="0">
              <a:spcBef>
                <a:spcPts val="0"/>
              </a:spcBef>
              <a:spcAft>
                <a:spcPts val="0"/>
              </a:spcAft>
            </a:pPr>
            <a:r>
              <a:rPr kumimoji="1" lang="en-US"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对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rPr>
              <a:t> </a:t>
            </a:r>
            <a:r>
              <a:rPr kumimoji="1" lang="zh-CN" sz="1800" b="1" i="0" u="none" strike="noStrike" kern="1200" baseline="0" dirty="0">
                <a:ln>
                  <a:noFill/>
                </a:ln>
                <a:solidFill>
                  <a:srgbClr val="FF0000"/>
                </a:solidFill>
                <a:effectLst/>
                <a:latin typeface="Times New Roman" panose="02020603050405020304" pitchFamily="18" charset="0"/>
                <a:ea typeface="宋体" panose="02010600030101010101" pitchFamily="2" charset="-122"/>
              </a:rPr>
              <a:t>不</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分配</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rPr>
              <a:t>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对 </a:t>
            </a:r>
            <a:r>
              <a:rPr kumimoji="1" lang="en-US"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可分配</a:t>
            </a:r>
            <a:endParaRPr lang="en-US" sz="1800" b="0" i="0" u="none" strike="noStrike" dirty="0">
              <a:effectLst/>
              <a:latin typeface="Arial" panose="020B0604020202020204" pitchFamily="34" charset="0"/>
            </a:endParaRPr>
          </a:p>
          <a:p>
            <a:pPr marL="347472" marR="0" indent="-347472" algn="l" rtl="0" eaLnBrk="0" fontAlgn="base" latinLnBrk="0" hangingPunct="0">
              <a:spcBef>
                <a:spcPts val="0"/>
              </a:spcBef>
              <a:spcAft>
                <a:spcPts val="0"/>
              </a:spcAft>
            </a:pPr>
            <a:r>
              <a:rPr kumimoji="1" lang="en-US"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对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rPr>
              <a:t> </a:t>
            </a:r>
            <a:r>
              <a:rPr kumimoji="1" lang="zh-CN" sz="1800" b="1" i="0" u="none" strike="noStrike" kern="1200" baseline="0" dirty="0">
                <a:ln>
                  <a:noFill/>
                </a:ln>
                <a:solidFill>
                  <a:srgbClr val="FF0000"/>
                </a:solidFill>
                <a:effectLst/>
                <a:latin typeface="Times New Roman" panose="02020603050405020304" pitchFamily="18" charset="0"/>
                <a:ea typeface="宋体" panose="02010600030101010101" pitchFamily="2" charset="-122"/>
              </a:rPr>
              <a:t>不</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分配</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对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可分配</a:t>
            </a:r>
            <a:endParaRPr lang="en-US" sz="1800" b="0" i="0" u="none" strike="noStrike" dirty="0">
              <a:effectLst/>
              <a:latin typeface="Arial" panose="020B0604020202020204" pitchFamily="34" charset="0"/>
            </a:endParaRPr>
          </a:p>
          <a:p>
            <a:pPr marL="347472" marR="0" indent="-347472" algn="l" rtl="0" eaLnBrk="0" fontAlgn="base" latinLnBrk="0" hangingPunct="0">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对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可分配</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rPr>
              <a:t> 对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rPr>
              <a:t> 可分配</a:t>
            </a:r>
            <a:endParaRPr lang="en-US" sz="1800" b="0" i="0" u="none" strike="noStrike" dirty="0">
              <a:effectLst/>
              <a:latin typeface="Arial" panose="020B0604020202020204" pitchFamily="34" charset="0"/>
            </a:endParaRPr>
          </a:p>
          <a:p>
            <a:pPr marL="347472" marR="0" indent="-347472" algn="l" rtl="0" eaLnBrk="1" fontAlgn="base" latinLnBrk="0" hangingPunct="1">
              <a:spcBef>
                <a:spcPts val="0"/>
              </a:spcBef>
              <a:spcAft>
                <a:spcPts val="0"/>
              </a:spcAft>
            </a:pP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rPr>
              <a:t> 对 </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r>
              <a:rPr kumimoji="1" lang="zh-CN" sz="1800" b="1" i="0" u="none" strike="noStrike" kern="1200" baseline="0" dirty="0">
                <a:ln>
                  <a:noFill/>
                </a:ln>
                <a:solidFill>
                  <a:srgbClr val="000000"/>
                </a:solidFill>
                <a:effectLst/>
                <a:latin typeface="Times New Roman" panose="02020603050405020304" pitchFamily="18" charset="0"/>
                <a:ea typeface="Times New Roman" panose="02020603050405020304" pitchFamily="18" charset="0"/>
              </a:rPr>
              <a:t> </a:t>
            </a:r>
            <a:r>
              <a:rPr kumimoji="1" lang="zh-CN" sz="1800" b="1" i="0" u="none" strike="noStrike" kern="1200" baseline="0" dirty="0">
                <a:ln>
                  <a:noFill/>
                </a:ln>
                <a:solidFill>
                  <a:srgbClr val="FF0000"/>
                </a:solidFill>
                <a:effectLst/>
                <a:latin typeface="Times New Roman" panose="02020603050405020304" pitchFamily="18" charset="0"/>
                <a:ea typeface="宋体" panose="02010600030101010101" pitchFamily="2" charset="-122"/>
              </a:rPr>
              <a:t>不</a:t>
            </a:r>
            <a:r>
              <a:rPr kumimoji="1" 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rPr>
              <a:t>分配</a:t>
            </a:r>
            <a:endParaRPr kumimoji="1" lang="en-US" altLang="zh-CN" sz="1800" b="1" i="0" u="none" strike="noStrike" kern="1200" baseline="0" dirty="0">
              <a:ln>
                <a:noFill/>
              </a:ln>
              <a:solidFill>
                <a:srgbClr val="000000"/>
              </a:solidFill>
              <a:effectLst/>
              <a:latin typeface="Times New Roman" panose="02020603050405020304" pitchFamily="18" charset="0"/>
              <a:ea typeface="宋体" panose="02010600030101010101" pitchFamily="2" charset="-122"/>
            </a:endParaRPr>
          </a:p>
          <a:p>
            <a:pPr marL="347472" marR="0" indent="-347472" algn="l" rtl="0" eaLnBrk="1" fontAlgn="base" latinLnBrk="0" hangingPunct="1">
              <a:spcBef>
                <a:spcPts val="0"/>
              </a:spcBef>
              <a:spcAft>
                <a:spcPts val="0"/>
              </a:spcAft>
            </a:pPr>
            <a:endParaRPr lang="en-US" sz="1800" b="0" i="0" u="none" strike="noStrike" dirty="0">
              <a:effectLst/>
              <a:latin typeface="Arial" panose="020B0604020202020204" pitchFamily="34" charset="0"/>
            </a:endParaRPr>
          </a:p>
          <a:p>
            <a:r>
              <a:rPr lang="zh-CN" altLang="en-US" dirty="0"/>
              <a:t>对称差</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a:t>
            </a:fld>
            <a:endParaRPr lang="zh-CN" altLang="en-US"/>
          </a:p>
        </p:txBody>
      </p:sp>
    </p:spTree>
    <p:extLst>
      <p:ext uri="{BB962C8B-B14F-4D97-AF65-F5344CB8AC3E}">
        <p14:creationId xmlns:p14="http://schemas.microsoft.com/office/powerpoint/2010/main" val="1372691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identity element</a:t>
            </a:r>
          </a:p>
          <a:p>
            <a:pPr>
              <a:lnSpc>
                <a:spcPct val="120000"/>
              </a:lnSpc>
            </a:pPr>
            <a:r>
              <a:rPr lang="zh-CN" altLang="en-US" sz="1200" b="1" dirty="0">
                <a:solidFill>
                  <a:srgbClr val="FF0000"/>
                </a:solidFill>
                <a:latin typeface="Times New Roman" panose="02020603050405020304" pitchFamily="18" charset="0"/>
                <a:cs typeface="Times New Roman" panose="02020603050405020304" pitchFamily="18" charset="0"/>
              </a:rPr>
              <a:t>定义</a:t>
            </a:r>
            <a:r>
              <a:rPr lang="en-US" altLang="zh-CN" sz="1200" b="1" dirty="0">
                <a:solidFill>
                  <a:srgbClr val="FF0000"/>
                </a:solidFill>
                <a:latin typeface="Times New Roman" panose="02020603050405020304" pitchFamily="18" charset="0"/>
                <a:cs typeface="Times New Roman" panose="02020603050405020304" pitchFamily="18" charset="0"/>
              </a:rPr>
              <a:t>9.5</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设</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cs typeface="Times New Roman" panose="02020603050405020304" pitchFamily="18" charset="0"/>
              </a:rPr>
              <a:t>为</a:t>
            </a:r>
            <a:r>
              <a:rPr lang="en-US" altLang="zh-CN" sz="1200" b="1" i="1" dirty="0">
                <a:solidFill>
                  <a:schemeClr val="tx1"/>
                </a:solidFill>
                <a:latin typeface="Times New Roman" panose="02020603050405020304" pitchFamily="18" charset="0"/>
                <a:cs typeface="Times New Roman" panose="02020603050405020304" pitchFamily="18" charset="0"/>
              </a:rPr>
              <a:t>S</a:t>
            </a:r>
            <a:r>
              <a:rPr lang="zh-CN" altLang="en-US" sz="1200" b="1" dirty="0">
                <a:solidFill>
                  <a:schemeClr val="tx1"/>
                </a:solidFill>
                <a:latin typeface="Times New Roman" panose="02020603050405020304" pitchFamily="18" charset="0"/>
                <a:cs typeface="Times New Roman" panose="02020603050405020304" pitchFamily="18" charset="0"/>
              </a:rPr>
              <a:t>上的二元运算</a:t>
            </a:r>
            <a:r>
              <a:rPr lang="en-US" altLang="zh-CN" sz="1200" b="1" dirty="0">
                <a:solidFill>
                  <a:schemeClr val="tx1"/>
                </a:solidFill>
                <a:latin typeface="Times New Roman" panose="02020603050405020304" pitchFamily="18" charset="0"/>
                <a:cs typeface="Times New Roman" panose="02020603050405020304" pitchFamily="18" charset="0"/>
              </a:rPr>
              <a:t>.</a:t>
            </a:r>
          </a:p>
          <a:p>
            <a:pPr>
              <a:lnSpc>
                <a:spcPct val="120000"/>
              </a:lnSpc>
            </a:pPr>
            <a:r>
              <a:rPr lang="en-US" altLang="zh-CN" sz="1200" b="1" dirty="0">
                <a:solidFill>
                  <a:schemeClr val="tx1"/>
                </a:solidFill>
                <a:latin typeface="Times New Roman" panose="02020603050405020304" pitchFamily="18" charset="0"/>
                <a:cs typeface="Times New Roman" panose="02020603050405020304" pitchFamily="18" charset="0"/>
              </a:rPr>
              <a:t> (1)</a:t>
            </a:r>
            <a:r>
              <a:rPr lang="zh-CN" altLang="en-US" sz="1200" b="1" dirty="0">
                <a:solidFill>
                  <a:schemeClr val="tx1"/>
                </a:solidFill>
                <a:latin typeface="Times New Roman" panose="02020603050405020304" pitchFamily="18" charset="0"/>
                <a:cs typeface="Times New Roman" panose="02020603050405020304" pitchFamily="18" charset="0"/>
              </a:rPr>
              <a:t>若存在元素</a:t>
            </a:r>
            <a:r>
              <a:rPr lang="en-US" altLang="zh-CN" sz="1200" b="1" i="1" dirty="0" err="1">
                <a:solidFill>
                  <a:schemeClr val="tx1"/>
                </a:solidFill>
                <a:latin typeface="Times New Roman" panose="02020603050405020304" pitchFamily="18" charset="0"/>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l</a:t>
            </a:r>
            <a:r>
              <a:rPr lang="zh-CN" altLang="en-US" sz="1200" b="1" i="1" baseline="-25000" dirty="0">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或</a:t>
            </a:r>
            <a:r>
              <a:rPr lang="en-US" altLang="zh-CN" sz="1200" b="1" i="1" dirty="0">
                <a:latin typeface="Times New Roman" panose="02020603050405020304" pitchFamily="18" charset="0"/>
                <a:cs typeface="Times New Roman" panose="02020603050405020304" pitchFamily="18" charset="0"/>
              </a:rPr>
              <a:t>e</a:t>
            </a:r>
            <a:r>
              <a:rPr lang="en-US" altLang="zh-CN" sz="1200" b="1" i="1" baseline="-25000" dirty="0">
                <a:latin typeface="Times New Roman" panose="02020603050405020304" pitchFamily="18" charset="0"/>
                <a:cs typeface="Times New Roman" panose="02020603050405020304" pitchFamily="18" charset="0"/>
              </a:rPr>
              <a:t>r</a:t>
            </a:r>
            <a:r>
              <a:rPr lang="en-US" altLang="zh-CN" sz="1200" b="1" dirty="0">
                <a:solidFill>
                  <a:schemeClr val="tx1"/>
                </a:solidFill>
                <a:latin typeface="Times New Roman" panose="02020603050405020304" pitchFamily="18" charset="0"/>
                <a:cs typeface="Times New Roman" panose="02020603050405020304" pitchFamily="18" charset="0"/>
              </a:rPr>
              <a:t>)</a:t>
            </a:r>
            <a:r>
              <a:rPr lang="zh-CN" altLang="en-US"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cs typeface="Times New Roman" panose="02020603050405020304" pitchFamily="18" charset="0"/>
              </a:rPr>
              <a:t>S</a:t>
            </a:r>
            <a:r>
              <a:rPr lang="zh-CN" altLang="en-US" sz="1200" b="1" dirty="0">
                <a:solidFill>
                  <a:schemeClr val="tx1"/>
                </a:solidFill>
                <a:latin typeface="Times New Roman" panose="02020603050405020304" pitchFamily="18" charset="0"/>
                <a:cs typeface="Times New Roman" panose="02020603050405020304" pitchFamily="18" charset="0"/>
              </a:rPr>
              <a:t>，使得对任意 </a:t>
            </a:r>
            <a:r>
              <a:rPr lang="en-US" altLang="zh-CN" sz="1200" b="1" i="1" dirty="0" err="1">
                <a:solidFill>
                  <a:schemeClr val="tx1"/>
                </a:solidFill>
                <a:latin typeface="Times New Roman" panose="02020603050405020304" pitchFamily="18" charset="0"/>
                <a:cs typeface="Times New Roman" panose="02020603050405020304" pitchFamily="18" charset="0"/>
              </a:rPr>
              <a:t>x</a:t>
            </a:r>
            <a:r>
              <a:rPr lang="en-US" altLang="zh-CN" sz="1200" b="1" dirty="0" err="1">
                <a:solidFill>
                  <a:schemeClr val="tx1"/>
                </a:solidFill>
                <a:latin typeface="Times New Roman" panose="02020603050405020304" pitchFamily="18" charset="0"/>
                <a:cs typeface="Times New Roman" panose="02020603050405020304" pitchFamily="18" charset="0"/>
              </a:rPr>
              <a:t>∈</a:t>
            </a:r>
            <a:r>
              <a:rPr lang="en-US" altLang="zh-CN" sz="1200" b="1" i="1" dirty="0" err="1">
                <a:solidFill>
                  <a:schemeClr val="tx1"/>
                </a:solidFill>
                <a:latin typeface="Times New Roman" panose="02020603050405020304" pitchFamily="18" charset="0"/>
                <a:cs typeface="Times New Roman" panose="02020603050405020304" pitchFamily="18" charset="0"/>
              </a:rPr>
              <a:t>S</a:t>
            </a:r>
            <a:r>
              <a:rPr lang="en-US" altLang="zh-CN" sz="1200" b="1" i="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都有</a:t>
            </a:r>
            <a:endParaRPr lang="zh-CN" altLang="en-US" sz="1200" b="1"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zh-CN" altLang="en-US" sz="1200" b="1" i="1" dirty="0">
                <a:solidFill>
                  <a:schemeClr val="tx1"/>
                </a:solidFill>
                <a:latin typeface="Times New Roman" panose="02020603050405020304" pitchFamily="18" charset="0"/>
                <a:cs typeface="Times New Roman" panose="02020603050405020304" pitchFamily="18" charset="0"/>
              </a:rPr>
              <a:t>             </a:t>
            </a:r>
            <a:r>
              <a:rPr lang="en-US" altLang="zh-CN" sz="1200" b="1" i="1" dirty="0" err="1">
                <a:solidFill>
                  <a:schemeClr val="tx1"/>
                </a:solidFill>
                <a:latin typeface="Times New Roman" panose="02020603050405020304" pitchFamily="18" charset="0"/>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l</a:t>
            </a:r>
            <a:r>
              <a:rPr lang="en-US" altLang="zh-CN" sz="1200" b="1" i="1" baseline="-25000"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en-US" altLang="zh-CN" sz="1200" b="1" dirty="0">
                <a:solidFill>
                  <a:schemeClr val="tx1"/>
                </a:solidFill>
                <a:latin typeface="Times New Roman" panose="02020603050405020304" pitchFamily="18" charset="0"/>
                <a:cs typeface="Times New Roman" panose="02020603050405020304" pitchFamily="18" charset="0"/>
              </a:rPr>
              <a:t> ( </a:t>
            </a:r>
            <a:r>
              <a:rPr lang="zh-CN" altLang="en-US" sz="1200" b="1" dirty="0">
                <a:solidFill>
                  <a:schemeClr val="tx1"/>
                </a:solidFill>
                <a:latin typeface="Times New Roman" panose="02020603050405020304" pitchFamily="18" charset="0"/>
                <a:cs typeface="Times New Roman" panose="02020603050405020304" pitchFamily="18" charset="0"/>
              </a:rPr>
              <a:t>或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cs typeface="Times New Roman" panose="02020603050405020304" pitchFamily="18" charset="0"/>
              </a:rPr>
              <a:t>e</a:t>
            </a:r>
            <a:r>
              <a:rPr lang="en-US" altLang="zh-CN" sz="1200" b="1" i="1" baseline="-25000" dirty="0">
                <a:solidFill>
                  <a:schemeClr val="tx1"/>
                </a:solidFill>
                <a:latin typeface="Times New Roman" panose="02020603050405020304" pitchFamily="18" charset="0"/>
                <a:cs typeface="Times New Roman" panose="02020603050405020304" pitchFamily="18" charset="0"/>
              </a:rPr>
              <a:t>r </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en-US" altLang="zh-CN" sz="1200" b="1" dirty="0">
                <a:solidFill>
                  <a:schemeClr val="tx1"/>
                </a:solidFill>
                <a:latin typeface="Times New Roman" panose="02020603050405020304" pitchFamily="18" charset="0"/>
                <a:cs typeface="Times New Roman" panose="02020603050405020304" pitchFamily="18" charset="0"/>
              </a:rPr>
              <a:t>)</a:t>
            </a:r>
            <a:r>
              <a:rPr lang="zh-CN" altLang="en-US" sz="1200" b="1" dirty="0">
                <a:solidFill>
                  <a:schemeClr val="tx1"/>
                </a:solidFill>
                <a:latin typeface="Times New Roman" panose="02020603050405020304" pitchFamily="18" charset="0"/>
                <a:cs typeface="Times New Roman" panose="02020603050405020304" pitchFamily="18" charset="0"/>
              </a:rPr>
              <a:t>，</a:t>
            </a:r>
          </a:p>
          <a:p>
            <a:pPr>
              <a:lnSpc>
                <a:spcPct val="120000"/>
              </a:lnSpc>
            </a:pPr>
            <a:r>
              <a:rPr lang="zh-CN" altLang="en-US" sz="1200" b="1" dirty="0">
                <a:solidFill>
                  <a:schemeClr val="tx1"/>
                </a:solidFill>
                <a:latin typeface="Times New Roman" panose="02020603050405020304" pitchFamily="18" charset="0"/>
                <a:cs typeface="Times New Roman" panose="02020603050405020304" pitchFamily="18" charset="0"/>
              </a:rPr>
              <a:t>则称 </a:t>
            </a:r>
            <a:r>
              <a:rPr lang="en-US" altLang="zh-CN" sz="1200" b="1" i="1" dirty="0" err="1">
                <a:solidFill>
                  <a:schemeClr val="tx1"/>
                </a:solidFill>
                <a:latin typeface="Times New Roman" panose="02020603050405020304" pitchFamily="18" charset="0"/>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l</a:t>
            </a:r>
            <a:r>
              <a:rPr lang="en-US" altLang="zh-CN" sz="1200" b="1" i="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或 </a:t>
            </a:r>
            <a:r>
              <a:rPr lang="en-US" altLang="zh-CN" sz="1200" b="1" i="1" dirty="0">
                <a:solidFill>
                  <a:schemeClr val="tx1"/>
                </a:solidFill>
                <a:latin typeface="Times New Roman" panose="02020603050405020304" pitchFamily="18" charset="0"/>
                <a:cs typeface="Times New Roman" panose="02020603050405020304" pitchFamily="18" charset="0"/>
              </a:rPr>
              <a:t>e</a:t>
            </a:r>
            <a:r>
              <a:rPr lang="en-US" altLang="zh-CN" sz="1200" b="1" i="1" baseline="-25000" dirty="0">
                <a:solidFill>
                  <a:schemeClr val="tx1"/>
                </a:solidFill>
                <a:latin typeface="Times New Roman" panose="02020603050405020304" pitchFamily="18" charset="0"/>
                <a:cs typeface="Times New Roman" panose="02020603050405020304" pitchFamily="18" charset="0"/>
              </a:rPr>
              <a:t>r </a:t>
            </a:r>
            <a:r>
              <a:rPr lang="en-US" altLang="zh-CN" sz="1200" b="1" dirty="0">
                <a:solidFill>
                  <a:schemeClr val="tx1"/>
                </a:solidFill>
                <a:latin typeface="Times New Roman" panose="02020603050405020304" pitchFamily="18" charset="0"/>
                <a:cs typeface="Times New Roman" panose="02020603050405020304" pitchFamily="18" charset="0"/>
              </a:rPr>
              <a:t>)</a:t>
            </a:r>
            <a:r>
              <a:rPr lang="zh-CN" altLang="en-US" sz="1200" b="1" dirty="0">
                <a:solidFill>
                  <a:schemeClr val="tx1"/>
                </a:solidFill>
                <a:latin typeface="Times New Roman" panose="02020603050405020304" pitchFamily="18" charset="0"/>
                <a:cs typeface="Times New Roman" panose="02020603050405020304" pitchFamily="18" charset="0"/>
              </a:rPr>
              <a:t>是 </a:t>
            </a:r>
            <a:r>
              <a:rPr lang="en-US" altLang="zh-CN" sz="1200" b="1" i="1" dirty="0">
                <a:solidFill>
                  <a:schemeClr val="tx1"/>
                </a:solidFill>
                <a:latin typeface="Times New Roman" panose="02020603050405020304" pitchFamily="18" charset="0"/>
                <a:cs typeface="Times New Roman" panose="02020603050405020304" pitchFamily="18" charset="0"/>
              </a:rPr>
              <a:t>S </a:t>
            </a:r>
            <a:r>
              <a:rPr lang="zh-CN" altLang="en-US" sz="1200" b="1" dirty="0">
                <a:solidFill>
                  <a:schemeClr val="tx1"/>
                </a:solidFill>
                <a:latin typeface="Times New Roman" panose="02020603050405020304" pitchFamily="18" charset="0"/>
                <a:cs typeface="Times New Roman" panose="02020603050405020304" pitchFamily="18" charset="0"/>
              </a:rPr>
              <a:t>中关于</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cs typeface="Times New Roman" panose="02020603050405020304" pitchFamily="18" charset="0"/>
              </a:rPr>
              <a:t>运算</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cs typeface="Times New Roman" panose="02020603050405020304" pitchFamily="18" charset="0"/>
              </a:rPr>
              <a:t>的 </a:t>
            </a:r>
            <a:r>
              <a:rPr lang="zh-CN" altLang="en-US" sz="1200" b="1" dirty="0">
                <a:solidFill>
                  <a:srgbClr val="FF0000"/>
                </a:solidFill>
                <a:latin typeface="Times New Roman" panose="02020603050405020304" pitchFamily="18" charset="0"/>
                <a:cs typeface="Times New Roman" panose="02020603050405020304" pitchFamily="18" charset="0"/>
              </a:rPr>
              <a:t>左幺元 </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或</a:t>
            </a:r>
            <a:r>
              <a:rPr lang="zh-CN" altLang="en-US" sz="1200" b="1" dirty="0">
                <a:solidFill>
                  <a:srgbClr val="FF0000"/>
                </a:solidFill>
                <a:latin typeface="Times New Roman" panose="02020603050405020304" pitchFamily="18" charset="0"/>
                <a:cs typeface="Times New Roman" panose="02020603050405020304" pitchFamily="18" charset="0"/>
              </a:rPr>
              <a:t>右幺元</a:t>
            </a:r>
            <a:r>
              <a:rPr lang="en-US" altLang="zh-CN" sz="1200" b="1" dirty="0">
                <a:solidFill>
                  <a:schemeClr val="tx1"/>
                </a:solidFill>
                <a:latin typeface="Times New Roman" panose="02020603050405020304" pitchFamily="18" charset="0"/>
                <a:cs typeface="Times New Roman" panose="02020603050405020304" pitchFamily="18" charset="0"/>
              </a:rPr>
              <a:t>). </a:t>
            </a:r>
          </a:p>
          <a:p>
            <a:pPr>
              <a:lnSpc>
                <a:spcPct val="120000"/>
              </a:lnSpc>
            </a:pPr>
            <a:r>
              <a:rPr lang="en-US" altLang="zh-CN" sz="1200" b="1" dirty="0">
                <a:solidFill>
                  <a:schemeClr val="tx1"/>
                </a:solidFill>
                <a:latin typeface="Times New Roman" panose="02020603050405020304" pitchFamily="18" charset="0"/>
                <a:cs typeface="Times New Roman" panose="02020603050405020304" pitchFamily="18" charset="0"/>
              </a:rPr>
              <a:t> (2)</a:t>
            </a:r>
            <a:r>
              <a:rPr lang="zh-CN" altLang="en-US" sz="1200" b="1" dirty="0">
                <a:solidFill>
                  <a:schemeClr val="tx1"/>
                </a:solidFill>
                <a:latin typeface="Times New Roman" panose="02020603050405020304" pitchFamily="18" charset="0"/>
                <a:cs typeface="Times New Roman" panose="02020603050405020304" pitchFamily="18" charset="0"/>
              </a:rPr>
              <a:t>若 </a:t>
            </a:r>
            <a:r>
              <a:rPr lang="en-US" altLang="zh-CN" sz="1200" b="1" i="1" dirty="0" err="1">
                <a:solidFill>
                  <a:schemeClr val="tx1"/>
                </a:solidFill>
                <a:latin typeface="Times New Roman" panose="02020603050405020304" pitchFamily="18" charset="0"/>
                <a:cs typeface="Times New Roman" panose="02020603050405020304" pitchFamily="18" charset="0"/>
              </a:rPr>
              <a:t>e</a:t>
            </a:r>
            <a:r>
              <a:rPr lang="en-US" altLang="zh-CN" sz="1200" b="1" dirty="0" err="1">
                <a:solidFill>
                  <a:schemeClr val="tx1"/>
                </a:solidFill>
                <a:latin typeface="Times New Roman" panose="02020603050405020304" pitchFamily="18" charset="0"/>
                <a:cs typeface="Times New Roman" panose="02020603050405020304" pitchFamily="18" charset="0"/>
              </a:rPr>
              <a:t>∈</a:t>
            </a:r>
            <a:r>
              <a:rPr lang="en-US" altLang="zh-CN" sz="1200" b="1" i="1" dirty="0" err="1">
                <a:solidFill>
                  <a:schemeClr val="tx1"/>
                </a:solidFill>
                <a:latin typeface="Times New Roman" panose="02020603050405020304" pitchFamily="18" charset="0"/>
                <a:cs typeface="Times New Roman" panose="02020603050405020304" pitchFamily="18" charset="0"/>
              </a:rPr>
              <a:t>S</a:t>
            </a:r>
            <a:r>
              <a:rPr lang="en-US" altLang="zh-CN" sz="1200" b="1" i="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关于 运算</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cs typeface="Times New Roman" panose="02020603050405020304" pitchFamily="18" charset="0"/>
              </a:rPr>
              <a:t>既是左</a:t>
            </a:r>
            <a:r>
              <a:rPr lang="zh-CN" altLang="en-US" sz="1200" b="1" dirty="0">
                <a:solidFill>
                  <a:srgbClr val="FF0000"/>
                </a:solidFill>
                <a:latin typeface="Times New Roman" panose="02020603050405020304" pitchFamily="18" charset="0"/>
                <a:cs typeface="Times New Roman" panose="02020603050405020304" pitchFamily="18" charset="0"/>
              </a:rPr>
              <a:t>幺</a:t>
            </a:r>
            <a:r>
              <a:rPr lang="zh-CN" altLang="en-US" sz="1200" b="1" dirty="0">
                <a:solidFill>
                  <a:schemeClr val="tx1"/>
                </a:solidFill>
                <a:latin typeface="Times New Roman" panose="02020603050405020304" pitchFamily="18" charset="0"/>
                <a:cs typeface="Times New Roman" panose="02020603050405020304" pitchFamily="18" charset="0"/>
              </a:rPr>
              <a:t>元又是右</a:t>
            </a:r>
            <a:r>
              <a:rPr lang="zh-CN" altLang="en-US" sz="1200" b="1" dirty="0">
                <a:solidFill>
                  <a:srgbClr val="FF0000"/>
                </a:solidFill>
                <a:latin typeface="Times New Roman" panose="02020603050405020304" pitchFamily="18" charset="0"/>
                <a:cs typeface="Times New Roman" panose="02020603050405020304" pitchFamily="18" charset="0"/>
              </a:rPr>
              <a:t>幺</a:t>
            </a:r>
            <a:r>
              <a:rPr lang="zh-CN" altLang="en-US" sz="1200" b="1" dirty="0">
                <a:solidFill>
                  <a:schemeClr val="tx1"/>
                </a:solidFill>
                <a:latin typeface="Times New Roman" panose="02020603050405020304" pitchFamily="18" charset="0"/>
                <a:cs typeface="Times New Roman" panose="02020603050405020304" pitchFamily="18" charset="0"/>
              </a:rPr>
              <a:t>元，则称 </a:t>
            </a:r>
            <a:r>
              <a:rPr lang="en-US" altLang="zh-CN" sz="1200" b="1" i="1" dirty="0">
                <a:solidFill>
                  <a:schemeClr val="tx1"/>
                </a:solidFill>
                <a:latin typeface="Times New Roman" panose="02020603050405020304" pitchFamily="18" charset="0"/>
                <a:cs typeface="Times New Roman" panose="02020603050405020304" pitchFamily="18" charset="0"/>
              </a:rPr>
              <a:t>e </a:t>
            </a:r>
            <a:r>
              <a:rPr lang="zh-CN" altLang="en-US" sz="1200" b="1" dirty="0">
                <a:solidFill>
                  <a:schemeClr val="tx1"/>
                </a:solidFill>
                <a:latin typeface="Times New Roman" panose="02020603050405020304" pitchFamily="18" charset="0"/>
                <a:cs typeface="Times New Roman" panose="02020603050405020304" pitchFamily="18" charset="0"/>
              </a:rPr>
              <a:t>为 </a:t>
            </a:r>
            <a:r>
              <a:rPr lang="en-US" altLang="zh-CN" sz="1200" b="1" i="1" dirty="0">
                <a:solidFill>
                  <a:schemeClr val="tx1"/>
                </a:solidFill>
                <a:latin typeface="Times New Roman" panose="02020603050405020304" pitchFamily="18" charset="0"/>
                <a:cs typeface="Times New Roman" panose="02020603050405020304" pitchFamily="18" charset="0"/>
              </a:rPr>
              <a:t>S </a:t>
            </a:r>
            <a:r>
              <a:rPr lang="zh-CN" altLang="en-US" sz="1200" b="1" dirty="0">
                <a:solidFill>
                  <a:schemeClr val="tx1"/>
                </a:solidFill>
                <a:latin typeface="Times New Roman" panose="02020603050405020304" pitchFamily="18" charset="0"/>
                <a:cs typeface="Times New Roman" panose="02020603050405020304" pitchFamily="18" charset="0"/>
              </a:rPr>
              <a:t>上关于 运算</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cs typeface="Times New Roman" panose="02020603050405020304" pitchFamily="18" charset="0"/>
              </a:rPr>
              <a:t>的</a:t>
            </a:r>
            <a:r>
              <a:rPr lang="zh-CN" altLang="en-US" sz="1200" b="1" dirty="0">
                <a:solidFill>
                  <a:srgbClr val="FF0000"/>
                </a:solidFill>
                <a:latin typeface="Times New Roman" panose="02020603050405020304" pitchFamily="18" charset="0"/>
                <a:cs typeface="Times New Roman" panose="02020603050405020304" pitchFamily="18" charset="0"/>
              </a:rPr>
              <a:t>幺元</a:t>
            </a:r>
            <a:r>
              <a:rPr lang="en-US" altLang="zh-CN" sz="1200" b="1" dirty="0">
                <a:solidFill>
                  <a:schemeClr val="tx1"/>
                </a:solidFill>
                <a:latin typeface="Times New Roman" panose="02020603050405020304" pitchFamily="18" charset="0"/>
                <a:cs typeface="Times New Roman" panose="02020603050405020304" pitchFamily="18" charset="0"/>
              </a:rPr>
              <a:t>. </a:t>
            </a:r>
          </a:p>
          <a:p>
            <a:pPr>
              <a:lnSpc>
                <a:spcPct val="120000"/>
              </a:lnSpc>
            </a:pPr>
            <a:endParaRPr lang="en-US" altLang="zh-CN" sz="1200" b="1" dirty="0">
              <a:latin typeface="Times New Roman" panose="02020603050405020304" pitchFamily="18" charset="0"/>
              <a:cs typeface="Times New Roman" panose="02020603050405020304" pitchFamily="18" charset="0"/>
            </a:endParaRPr>
          </a:p>
          <a:p>
            <a:pPr>
              <a:lnSpc>
                <a:spcPct val="120000"/>
              </a:lnSpc>
            </a:pPr>
            <a:r>
              <a:rPr lang="zh-CN" altLang="en-US" sz="1200" b="1" dirty="0">
                <a:solidFill>
                  <a:srgbClr val="00B0F0"/>
                </a:solidFill>
                <a:latin typeface="Times New Roman" panose="02020603050405020304" pitchFamily="18" charset="0"/>
                <a:cs typeface="Times New Roman" panose="02020603050405020304" pitchFamily="18" charset="0"/>
              </a:rPr>
              <a:t>注：</a:t>
            </a:r>
            <a:r>
              <a:rPr lang="zh-CN" altLang="en-US" sz="1200" b="1" dirty="0">
                <a:latin typeface="Times New Roman" panose="02020603050405020304" pitchFamily="18" charset="0"/>
                <a:cs typeface="Times New Roman" panose="02020603050405020304" pitchFamily="18" charset="0"/>
              </a:rPr>
              <a:t>幺元</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单位元</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是在给定运算</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下具有不改变其他元素属性的特殊元素</a:t>
            </a:r>
            <a:r>
              <a:rPr lang="en-US" altLang="zh-CN" sz="1200" b="1" dirty="0">
                <a:latin typeface="Times New Roman" panose="02020603050405020304" pitchFamily="18" charset="0"/>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16</a:t>
            </a:fld>
            <a:endParaRPr lang="zh-CN" altLang="en-US"/>
          </a:p>
        </p:txBody>
      </p:sp>
    </p:spTree>
    <p:extLst>
      <p:ext uri="{BB962C8B-B14F-4D97-AF65-F5344CB8AC3E}">
        <p14:creationId xmlns:p14="http://schemas.microsoft.com/office/powerpoint/2010/main" val="387951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D0D0D"/>
                </a:solidFill>
                <a:effectLst/>
                <a:latin typeface="Söhne"/>
              </a:rPr>
              <a:t>在乘法中，任何元素与零的乘积都是零，而不是元素本身</a:t>
            </a:r>
            <a:endParaRPr lang="en-US" altLang="zh-CN" b="0" i="0" dirty="0">
              <a:solidFill>
                <a:srgbClr val="0D0D0D"/>
              </a:solidFill>
              <a:effectLst/>
              <a:latin typeface="Söhne"/>
            </a:endParaRPr>
          </a:p>
          <a:p>
            <a:endParaRPr lang="en-US" altLang="zh-CN" b="0" i="0" dirty="0">
              <a:solidFill>
                <a:srgbClr val="0D0D0D"/>
              </a:solidFill>
              <a:effectLst/>
              <a:latin typeface="Söhne"/>
            </a:endParaRPr>
          </a:p>
          <a:p>
            <a:pPr>
              <a:lnSpc>
                <a:spcPct val="120000"/>
              </a:lnSpc>
            </a:pPr>
            <a:r>
              <a:rPr lang="zh-CN" altLang="en-US" sz="1200" b="1" dirty="0">
                <a:solidFill>
                  <a:srgbClr val="FF0000"/>
                </a:solidFill>
                <a:latin typeface="Times New Roman" panose="02020603050405020304" pitchFamily="18" charset="0"/>
                <a:cs typeface="Times New Roman" panose="02020603050405020304" pitchFamily="18" charset="0"/>
              </a:rPr>
              <a:t>定义 </a:t>
            </a:r>
            <a:r>
              <a:rPr lang="zh-CN" altLang="en-US" sz="1200" b="1" dirty="0">
                <a:solidFill>
                  <a:schemeClr val="tx1"/>
                </a:solidFill>
                <a:latin typeface="Times New Roman" panose="02020603050405020304" pitchFamily="18" charset="0"/>
                <a:cs typeface="Times New Roman" panose="02020603050405020304" pitchFamily="18" charset="0"/>
              </a:rPr>
              <a:t> 设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cs typeface="Times New Roman" panose="02020603050405020304" pitchFamily="18" charset="0"/>
              </a:rPr>
              <a:t>为 </a:t>
            </a:r>
            <a:r>
              <a:rPr lang="en-US" altLang="zh-CN" sz="1200" b="1" i="1" dirty="0">
                <a:solidFill>
                  <a:schemeClr val="tx1"/>
                </a:solidFill>
                <a:latin typeface="Times New Roman" panose="02020603050405020304" pitchFamily="18" charset="0"/>
                <a:cs typeface="Times New Roman" panose="02020603050405020304" pitchFamily="18" charset="0"/>
              </a:rPr>
              <a:t>S </a:t>
            </a:r>
            <a:r>
              <a:rPr lang="zh-CN" altLang="en-US" sz="1200" b="1" dirty="0">
                <a:solidFill>
                  <a:schemeClr val="tx1"/>
                </a:solidFill>
                <a:latin typeface="Times New Roman" panose="02020603050405020304" pitchFamily="18" charset="0"/>
                <a:cs typeface="Times New Roman" panose="02020603050405020304" pitchFamily="18" charset="0"/>
              </a:rPr>
              <a:t>上的二元运算</a:t>
            </a:r>
            <a:endParaRPr lang="en-US" altLang="zh-CN" sz="1200" b="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若存在元素</a:t>
            </a:r>
            <a:r>
              <a:rPr lang="en-US" altLang="zh-CN" sz="1200" b="1" i="1" dirty="0" err="1">
                <a:solidFill>
                  <a:schemeClr val="tx1"/>
                </a:solidFill>
                <a:latin typeface="Times New Roman" panose="02020603050405020304" pitchFamily="18" charset="0"/>
                <a:cs typeface="Times New Roman" panose="02020603050405020304" pitchFamily="18" charset="0"/>
              </a:rPr>
              <a:t>θ</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l</a:t>
            </a:r>
            <a:r>
              <a:rPr lang="en-US" altLang="zh-CN" sz="1200" b="1" i="1" baseline="-25000"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或</a:t>
            </a:r>
            <a:r>
              <a:rPr lang="en-US" altLang="zh-CN" sz="1200" b="1" i="1" dirty="0" err="1">
                <a:solidFill>
                  <a:schemeClr val="tx1"/>
                </a:solidFill>
                <a:latin typeface="Times New Roman" panose="02020603050405020304" pitchFamily="18" charset="0"/>
                <a:cs typeface="Times New Roman" panose="02020603050405020304" pitchFamily="18" charset="0"/>
              </a:rPr>
              <a:t>θ</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r</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cs typeface="Times New Roman" panose="02020603050405020304" pitchFamily="18" charset="0"/>
              </a:rPr>
              <a:t>S</a:t>
            </a:r>
            <a:r>
              <a:rPr lang="zh-CN" altLang="en-US" sz="1200" b="1" dirty="0">
                <a:solidFill>
                  <a:schemeClr val="tx1"/>
                </a:solidFill>
                <a:latin typeface="Times New Roman" panose="02020603050405020304" pitchFamily="18" charset="0"/>
                <a:cs typeface="Times New Roman" panose="02020603050405020304" pitchFamily="18" charset="0"/>
              </a:rPr>
              <a:t>，使得对任意 </a:t>
            </a:r>
            <a:r>
              <a:rPr lang="en-US" altLang="zh-CN" sz="1200" b="1" i="1" dirty="0" err="1">
                <a:solidFill>
                  <a:schemeClr val="tx1"/>
                </a:solidFill>
                <a:latin typeface="Times New Roman" panose="02020603050405020304" pitchFamily="18" charset="0"/>
                <a:cs typeface="Times New Roman" panose="02020603050405020304" pitchFamily="18" charset="0"/>
              </a:rPr>
              <a:t>x</a:t>
            </a:r>
            <a:r>
              <a:rPr lang="en-US" altLang="zh-CN" sz="1200" b="1" dirty="0" err="1">
                <a:solidFill>
                  <a:schemeClr val="tx1"/>
                </a:solidFill>
                <a:latin typeface="Times New Roman" panose="02020603050405020304" pitchFamily="18" charset="0"/>
                <a:cs typeface="Times New Roman" panose="02020603050405020304" pitchFamily="18" charset="0"/>
              </a:rPr>
              <a:t>∈</a:t>
            </a:r>
            <a:r>
              <a:rPr lang="en-US" altLang="zh-CN" sz="1200" b="1" i="1" dirty="0" err="1">
                <a:solidFill>
                  <a:schemeClr val="tx1"/>
                </a:solidFill>
                <a:latin typeface="Times New Roman" panose="02020603050405020304" pitchFamily="18" charset="0"/>
                <a:cs typeface="Times New Roman" panose="02020603050405020304" pitchFamily="18" charset="0"/>
              </a:rPr>
              <a:t>S</a:t>
            </a:r>
            <a:r>
              <a:rPr lang="en-US" altLang="zh-CN" sz="1200" b="1" i="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都有</a:t>
            </a:r>
            <a:endParaRPr lang="zh-CN" altLang="en-US" sz="1200" b="1"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zh-CN" altLang="en-US" sz="1200" b="1" i="1" dirty="0">
                <a:solidFill>
                  <a:schemeClr val="tx1"/>
                </a:solidFill>
                <a:latin typeface="Times New Roman" panose="02020603050405020304" pitchFamily="18" charset="0"/>
                <a:cs typeface="Times New Roman" panose="02020603050405020304" pitchFamily="18" charset="0"/>
              </a:rPr>
              <a:t>           </a:t>
            </a:r>
            <a:r>
              <a:rPr lang="en-US" altLang="zh-CN" sz="1200" b="1" i="1" dirty="0" err="1">
                <a:solidFill>
                  <a:schemeClr val="tx1"/>
                </a:solidFill>
                <a:latin typeface="Times New Roman" panose="02020603050405020304" pitchFamily="18" charset="0"/>
                <a:cs typeface="Times New Roman" panose="02020603050405020304" pitchFamily="18" charset="0"/>
              </a:rPr>
              <a:t>θ</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l</a:t>
            </a:r>
            <a:r>
              <a:rPr lang="en-US" altLang="zh-CN" sz="1200" b="1" i="1" baseline="-25000"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err="1">
                <a:solidFill>
                  <a:schemeClr val="tx1"/>
                </a:solidFill>
                <a:latin typeface="Times New Roman" panose="02020603050405020304" pitchFamily="18" charset="0"/>
                <a:cs typeface="Times New Roman" panose="02020603050405020304" pitchFamily="18" charset="0"/>
              </a:rPr>
              <a:t>θ</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l</a:t>
            </a:r>
            <a:r>
              <a:rPr lang="en-US" altLang="zh-CN" sz="1200" b="1" baseline="-25000"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 ( </a:t>
            </a:r>
            <a:r>
              <a:rPr lang="zh-CN" altLang="en-US" sz="1200" b="1" dirty="0">
                <a:solidFill>
                  <a:schemeClr val="tx1"/>
                </a:solidFill>
                <a:latin typeface="Times New Roman" panose="02020603050405020304" pitchFamily="18" charset="0"/>
                <a:cs typeface="Times New Roman" panose="02020603050405020304" pitchFamily="18" charset="0"/>
              </a:rPr>
              <a:t>或 </a:t>
            </a:r>
            <a:r>
              <a:rPr lang="en-US" altLang="zh-CN" sz="1200" b="1" i="1" dirty="0">
                <a:solidFill>
                  <a:schemeClr val="tx1"/>
                </a:solidFill>
                <a:latin typeface="Times New Roman" panose="02020603050405020304" pitchFamily="18" charset="0"/>
                <a:cs typeface="Times New Roman" panose="02020603050405020304" pitchFamily="18" charset="0"/>
              </a:rPr>
              <a:t>x</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cs typeface="Times New Roman" panose="02020603050405020304" pitchFamily="18" charset="0"/>
              </a:rPr>
              <a:t>θ</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r</a:t>
            </a:r>
            <a:r>
              <a:rPr lang="en-US" altLang="zh-CN" sz="1200" b="1" i="1" baseline="-25000"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err="1">
                <a:solidFill>
                  <a:schemeClr val="tx1"/>
                </a:solidFill>
                <a:latin typeface="Times New Roman" panose="02020603050405020304" pitchFamily="18" charset="0"/>
                <a:cs typeface="Times New Roman" panose="02020603050405020304" pitchFamily="18" charset="0"/>
              </a:rPr>
              <a:t>θ</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r</a:t>
            </a:r>
            <a:r>
              <a:rPr lang="en-US" altLang="zh-CN" sz="1200" b="1" i="1" baseline="-25000"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a:t>
            </a:r>
            <a:r>
              <a:rPr lang="zh-CN" altLang="en-US" sz="1200" b="1" dirty="0">
                <a:solidFill>
                  <a:schemeClr val="tx1"/>
                </a:solidFill>
                <a:latin typeface="Times New Roman" panose="02020603050405020304" pitchFamily="18" charset="0"/>
                <a:cs typeface="Times New Roman" panose="02020603050405020304" pitchFamily="18" charset="0"/>
              </a:rPr>
              <a:t>，</a:t>
            </a:r>
          </a:p>
          <a:p>
            <a:pPr>
              <a:lnSpc>
                <a:spcPct val="120000"/>
              </a:lnSpc>
            </a:pPr>
            <a:r>
              <a:rPr lang="zh-CN" altLang="en-US" sz="1200" b="1" dirty="0">
                <a:solidFill>
                  <a:schemeClr val="tx1"/>
                </a:solidFill>
                <a:latin typeface="Times New Roman" panose="02020603050405020304" pitchFamily="18" charset="0"/>
                <a:cs typeface="Times New Roman" panose="02020603050405020304" pitchFamily="18" charset="0"/>
              </a:rPr>
              <a:t>则称</a:t>
            </a:r>
            <a:r>
              <a:rPr lang="en-US" altLang="zh-CN" sz="1200" b="1" i="1" dirty="0" err="1">
                <a:solidFill>
                  <a:schemeClr val="tx1"/>
                </a:solidFill>
                <a:latin typeface="Times New Roman" panose="02020603050405020304" pitchFamily="18" charset="0"/>
                <a:cs typeface="Times New Roman" panose="02020603050405020304" pitchFamily="18" charset="0"/>
              </a:rPr>
              <a:t>θ</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l</a:t>
            </a:r>
            <a:r>
              <a:rPr lang="en-US" altLang="zh-CN" sz="1200" b="1" i="1" baseline="-25000"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或</a:t>
            </a:r>
            <a:r>
              <a:rPr lang="en-US" altLang="zh-CN" sz="1200" b="1" i="1" dirty="0" err="1">
                <a:solidFill>
                  <a:schemeClr val="tx1"/>
                </a:solidFill>
                <a:latin typeface="Times New Roman" panose="02020603050405020304" pitchFamily="18" charset="0"/>
                <a:cs typeface="Times New Roman" panose="02020603050405020304" pitchFamily="18" charset="0"/>
              </a:rPr>
              <a:t>θ</a:t>
            </a:r>
            <a:r>
              <a:rPr lang="en-US" altLang="zh-CN" sz="1200" b="1" i="1" baseline="-25000" dirty="0" err="1">
                <a:solidFill>
                  <a:schemeClr val="tx1"/>
                </a:solidFill>
                <a:latin typeface="Times New Roman" panose="02020603050405020304" pitchFamily="18" charset="0"/>
                <a:cs typeface="Times New Roman" panose="02020603050405020304" pitchFamily="18" charset="0"/>
              </a:rPr>
              <a:t>r</a:t>
            </a:r>
            <a:r>
              <a:rPr lang="en-US" altLang="zh-CN" sz="1200" b="1" i="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a:t>
            </a:r>
            <a:r>
              <a:rPr lang="zh-CN" altLang="en-US" sz="1200" b="1" dirty="0">
                <a:solidFill>
                  <a:schemeClr val="tx1"/>
                </a:solidFill>
                <a:latin typeface="Times New Roman" panose="02020603050405020304" pitchFamily="18" charset="0"/>
                <a:cs typeface="Times New Roman" panose="02020603050405020304" pitchFamily="18" charset="0"/>
              </a:rPr>
              <a:t>是 </a:t>
            </a:r>
            <a:r>
              <a:rPr lang="en-US" altLang="zh-CN" sz="1200" b="1" i="1" dirty="0">
                <a:solidFill>
                  <a:schemeClr val="tx1"/>
                </a:solidFill>
                <a:latin typeface="Times New Roman" panose="02020603050405020304" pitchFamily="18" charset="0"/>
                <a:cs typeface="Times New Roman" panose="02020603050405020304" pitchFamily="18" charset="0"/>
              </a:rPr>
              <a:t>S </a:t>
            </a:r>
            <a:r>
              <a:rPr lang="zh-CN" altLang="en-US" sz="1200" b="1" dirty="0">
                <a:solidFill>
                  <a:schemeClr val="tx1"/>
                </a:solidFill>
                <a:latin typeface="Times New Roman" panose="02020603050405020304" pitchFamily="18" charset="0"/>
                <a:cs typeface="Times New Roman" panose="02020603050405020304" pitchFamily="18" charset="0"/>
              </a:rPr>
              <a:t>中关于运算</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cs typeface="Times New Roman" panose="02020603050405020304" pitchFamily="18" charset="0"/>
              </a:rPr>
              <a:t>的 </a:t>
            </a:r>
            <a:r>
              <a:rPr lang="zh-CN" altLang="en-US" sz="1200" b="1" dirty="0">
                <a:solidFill>
                  <a:srgbClr val="FF0000"/>
                </a:solidFill>
                <a:latin typeface="Times New Roman" panose="02020603050405020304" pitchFamily="18" charset="0"/>
                <a:cs typeface="Times New Roman" panose="02020603050405020304" pitchFamily="18" charset="0"/>
              </a:rPr>
              <a:t>左零元</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或</a:t>
            </a:r>
            <a:r>
              <a:rPr lang="zh-CN" altLang="en-US" sz="1200" b="1" dirty="0">
                <a:solidFill>
                  <a:srgbClr val="FF0000"/>
                </a:solidFill>
                <a:latin typeface="Times New Roman" panose="02020603050405020304" pitchFamily="18" charset="0"/>
                <a:cs typeface="Times New Roman" panose="02020603050405020304" pitchFamily="18" charset="0"/>
              </a:rPr>
              <a:t>右零元</a:t>
            </a:r>
            <a:r>
              <a:rPr lang="en-US" altLang="zh-CN" sz="1200" b="1" dirty="0">
                <a:solidFill>
                  <a:schemeClr val="tx1"/>
                </a:solidFill>
                <a:latin typeface="Times New Roman" panose="02020603050405020304" pitchFamily="18" charset="0"/>
                <a:cs typeface="Times New Roman" panose="02020603050405020304" pitchFamily="18" charset="0"/>
              </a:rPr>
              <a:t>). </a:t>
            </a:r>
          </a:p>
          <a:p>
            <a:pPr>
              <a:lnSpc>
                <a:spcPct val="120000"/>
              </a:lnSpc>
            </a:pPr>
            <a:r>
              <a:rPr lang="en-US" altLang="zh-CN" sz="1200" b="1" dirty="0">
                <a:latin typeface="Times New Roman" panose="02020603050405020304" pitchFamily="18" charset="0"/>
                <a:cs typeface="Times New Roman" panose="02020603050405020304" pitchFamily="18" charset="0"/>
              </a:rPr>
              <a:t>(2)</a:t>
            </a:r>
            <a:r>
              <a:rPr lang="zh-CN" altLang="en-US" sz="1200" b="1" dirty="0">
                <a:solidFill>
                  <a:schemeClr val="tx1"/>
                </a:solidFill>
                <a:latin typeface="Times New Roman" panose="02020603050405020304" pitchFamily="18" charset="0"/>
                <a:cs typeface="Times New Roman" panose="02020603050405020304" pitchFamily="18" charset="0"/>
              </a:rPr>
              <a:t>若</a:t>
            </a:r>
            <a:r>
              <a:rPr lang="en-US" altLang="zh-CN" sz="1200" b="1" i="1" dirty="0" err="1">
                <a:solidFill>
                  <a:schemeClr val="tx1"/>
                </a:solidFill>
                <a:latin typeface="Times New Roman" panose="02020603050405020304" pitchFamily="18" charset="0"/>
                <a:cs typeface="Times New Roman" panose="02020603050405020304" pitchFamily="18" charset="0"/>
              </a:rPr>
              <a:t>θ</a:t>
            </a:r>
            <a:r>
              <a:rPr lang="en-US" altLang="zh-CN" sz="1200" b="1" dirty="0" err="1">
                <a:solidFill>
                  <a:schemeClr val="tx1"/>
                </a:solidFill>
                <a:latin typeface="Times New Roman" panose="02020603050405020304" pitchFamily="18" charset="0"/>
                <a:cs typeface="Times New Roman" panose="02020603050405020304" pitchFamily="18" charset="0"/>
              </a:rPr>
              <a:t>∈</a:t>
            </a:r>
            <a:r>
              <a:rPr lang="en-US" altLang="zh-CN" sz="1200" b="1" i="1" dirty="0" err="1">
                <a:solidFill>
                  <a:schemeClr val="tx1"/>
                </a:solidFill>
                <a:latin typeface="Times New Roman" panose="02020603050405020304" pitchFamily="18" charset="0"/>
                <a:cs typeface="Times New Roman" panose="02020603050405020304" pitchFamily="18" charset="0"/>
              </a:rPr>
              <a:t>S</a:t>
            </a:r>
            <a:r>
              <a:rPr lang="zh-CN" altLang="en-US" sz="1200" b="1" dirty="0">
                <a:solidFill>
                  <a:schemeClr val="tx1"/>
                </a:solidFill>
                <a:latin typeface="Times New Roman" panose="02020603050405020304" pitchFamily="18" charset="0"/>
                <a:cs typeface="Times New Roman" panose="02020603050405020304" pitchFamily="18" charset="0"/>
              </a:rPr>
              <a:t>关于运算</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cs typeface="Times New Roman" panose="02020603050405020304" pitchFamily="18" charset="0"/>
              </a:rPr>
              <a:t>既是左零元又是右零元，则称</a:t>
            </a:r>
            <a:r>
              <a:rPr lang="en-US" altLang="zh-CN" sz="1200" b="1" i="1" dirty="0">
                <a:solidFill>
                  <a:schemeClr val="tx1"/>
                </a:solidFill>
                <a:latin typeface="Times New Roman" panose="02020603050405020304" pitchFamily="18" charset="0"/>
                <a:cs typeface="Times New Roman" panose="02020603050405020304" pitchFamily="18" charset="0"/>
              </a:rPr>
              <a:t>θ</a:t>
            </a:r>
            <a:r>
              <a:rPr lang="zh-CN" altLang="en-US" sz="1200" b="1" dirty="0">
                <a:solidFill>
                  <a:schemeClr val="tx1"/>
                </a:solidFill>
                <a:latin typeface="Times New Roman" panose="02020603050405020304" pitchFamily="18" charset="0"/>
                <a:cs typeface="Times New Roman" panose="02020603050405020304" pitchFamily="18" charset="0"/>
              </a:rPr>
              <a:t>为 </a:t>
            </a:r>
            <a:r>
              <a:rPr lang="en-US" altLang="zh-CN" sz="1200" b="1" i="1" dirty="0">
                <a:solidFill>
                  <a:schemeClr val="tx1"/>
                </a:solidFill>
                <a:latin typeface="Times New Roman" panose="02020603050405020304" pitchFamily="18" charset="0"/>
                <a:cs typeface="Times New Roman" panose="02020603050405020304" pitchFamily="18" charset="0"/>
              </a:rPr>
              <a:t>S </a:t>
            </a:r>
            <a:r>
              <a:rPr lang="zh-CN" altLang="en-US" sz="1200" b="1" dirty="0">
                <a:solidFill>
                  <a:schemeClr val="tx1"/>
                </a:solidFill>
                <a:latin typeface="Times New Roman" panose="02020603050405020304" pitchFamily="18" charset="0"/>
                <a:cs typeface="Times New Roman" panose="02020603050405020304" pitchFamily="18" charset="0"/>
              </a:rPr>
              <a:t>上关于运算</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cs typeface="Times New Roman" panose="02020603050405020304" pitchFamily="18" charset="0"/>
              </a:rPr>
              <a:t>的</a:t>
            </a:r>
            <a:r>
              <a:rPr lang="zh-CN" altLang="en-US" sz="1200" b="1" dirty="0">
                <a:solidFill>
                  <a:srgbClr val="FF0000"/>
                </a:solidFill>
                <a:latin typeface="Times New Roman" panose="02020603050405020304" pitchFamily="18" charset="0"/>
                <a:cs typeface="Times New Roman" panose="02020603050405020304" pitchFamily="18" charset="0"/>
              </a:rPr>
              <a:t>零元</a:t>
            </a:r>
            <a:r>
              <a:rPr lang="en-US" altLang="zh-CN" sz="1200" b="1" dirty="0">
                <a:solidFill>
                  <a:schemeClr val="tx1"/>
                </a:solidFill>
                <a:latin typeface="Times New Roman" panose="02020603050405020304" pitchFamily="18" charset="0"/>
                <a:cs typeface="Times New Roman" panose="02020603050405020304" pitchFamily="18" charset="0"/>
              </a:rPr>
              <a:t>.</a:t>
            </a:r>
          </a:p>
          <a:p>
            <a:pPr>
              <a:lnSpc>
                <a:spcPct val="120000"/>
              </a:lnSpc>
            </a:pPr>
            <a:endParaRPr lang="en-US" altLang="zh-CN" sz="1200" b="1" dirty="0">
              <a:latin typeface="Times New Roman" panose="02020603050405020304" pitchFamily="18" charset="0"/>
              <a:cs typeface="Times New Roman" panose="02020603050405020304" pitchFamily="18" charset="0"/>
            </a:endParaRPr>
          </a:p>
          <a:p>
            <a:pPr>
              <a:lnSpc>
                <a:spcPct val="120000"/>
              </a:lnSpc>
            </a:pPr>
            <a:r>
              <a:rPr lang="zh-CN" altLang="en-US" sz="1200" b="1" dirty="0">
                <a:solidFill>
                  <a:srgbClr val="00B0F0"/>
                </a:solidFill>
                <a:latin typeface="Times New Roman" panose="02020603050405020304" pitchFamily="18" charset="0"/>
                <a:cs typeface="Times New Roman" panose="02020603050405020304" pitchFamily="18" charset="0"/>
              </a:rPr>
              <a:t>注：</a:t>
            </a:r>
            <a:r>
              <a:rPr lang="zh-CN" altLang="en-US" sz="1200" b="1" dirty="0">
                <a:solidFill>
                  <a:schemeClr val="tx1"/>
                </a:solidFill>
                <a:latin typeface="Times New Roman" panose="02020603050405020304" pitchFamily="18" charset="0"/>
                <a:cs typeface="Times New Roman" panose="02020603050405020304" pitchFamily="18" charset="0"/>
              </a:rPr>
              <a:t>零元是一种特殊的元素</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它们在与集合中其</a:t>
            </a:r>
            <a:r>
              <a:rPr lang="zh-CN" altLang="en-US" sz="1200" b="1" dirty="0">
                <a:latin typeface="Times New Roman" panose="02020603050405020304" pitchFamily="18" charset="0"/>
                <a:cs typeface="Times New Roman" panose="02020603050405020304" pitchFamily="18" charset="0"/>
              </a:rPr>
              <a:t>它</a:t>
            </a:r>
            <a:r>
              <a:rPr lang="zh-CN" altLang="en-US" sz="1200" b="1" dirty="0">
                <a:solidFill>
                  <a:schemeClr val="tx1"/>
                </a:solidFill>
                <a:latin typeface="Times New Roman" panose="02020603050405020304" pitchFamily="18" charset="0"/>
                <a:cs typeface="Times New Roman" panose="02020603050405020304" pitchFamily="18" charset="0"/>
              </a:rPr>
              <a:t>元素进行某种特定二元运算时</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能够“吸收”这些元素并</a:t>
            </a:r>
            <a:r>
              <a:rPr lang="zh-CN" altLang="en-US" sz="1200" b="1" dirty="0">
                <a:latin typeface="Times New Roman" panose="02020603050405020304" pitchFamily="18" charset="0"/>
                <a:cs typeface="Times New Roman" panose="02020603050405020304" pitchFamily="18" charset="0"/>
              </a:rPr>
              <a:t>将</a:t>
            </a:r>
            <a:r>
              <a:rPr lang="zh-CN" altLang="en-US" sz="1200" b="1" dirty="0">
                <a:solidFill>
                  <a:schemeClr val="tx1"/>
                </a:solidFill>
                <a:latin typeface="Times New Roman" panose="02020603050405020304" pitchFamily="18" charset="0"/>
                <a:cs typeface="Times New Roman" panose="02020603050405020304" pitchFamily="18" charset="0"/>
              </a:rPr>
              <a:t>自己作为结果</a:t>
            </a:r>
            <a:r>
              <a:rPr lang="en-US" altLang="zh-CN" sz="1200" b="1" dirty="0">
                <a:solidFill>
                  <a:schemeClr val="tx1"/>
                </a:solidFill>
                <a:latin typeface="Times New Roman" panose="02020603050405020304" pitchFamily="18" charset="0"/>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17</a:t>
            </a:fld>
            <a:endParaRPr lang="zh-CN" altLang="en-US"/>
          </a:p>
        </p:txBody>
      </p:sp>
    </p:spTree>
    <p:extLst>
      <p:ext uri="{BB962C8B-B14F-4D97-AF65-F5344CB8AC3E}">
        <p14:creationId xmlns:p14="http://schemas.microsoft.com/office/powerpoint/2010/main" val="651823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1" dirty="0">
                <a:solidFill>
                  <a:srgbClr val="FF0000"/>
                </a:solidFill>
                <a:latin typeface="Times New Roman" panose="02020603050405020304" pitchFamily="18" charset="0"/>
                <a:cs typeface="Times New Roman" panose="02020603050405020304" pitchFamily="18" charset="0"/>
              </a:rPr>
              <a:t>定义</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令 </a:t>
            </a:r>
            <a:r>
              <a:rPr lang="en-US" altLang="zh-CN" sz="1200" b="1" i="1" dirty="0">
                <a:solidFill>
                  <a:schemeClr val="tx1"/>
                </a:solidFill>
                <a:latin typeface="Times New Roman" panose="02020603050405020304" pitchFamily="18" charset="0"/>
                <a:cs typeface="Times New Roman" panose="02020603050405020304" pitchFamily="18" charset="0"/>
              </a:rPr>
              <a:t>e </a:t>
            </a:r>
            <a:r>
              <a:rPr lang="zh-CN" altLang="en-US" sz="1200" b="1" dirty="0">
                <a:solidFill>
                  <a:schemeClr val="tx1"/>
                </a:solidFill>
                <a:latin typeface="Times New Roman" panose="02020603050405020304" pitchFamily="18" charset="0"/>
                <a:cs typeface="Times New Roman" panose="02020603050405020304" pitchFamily="18" charset="0"/>
              </a:rPr>
              <a:t>为 </a:t>
            </a:r>
            <a:r>
              <a:rPr lang="en-US" altLang="zh-CN" sz="1200" b="1" i="1" dirty="0">
                <a:solidFill>
                  <a:schemeClr val="tx1"/>
                </a:solidFill>
                <a:latin typeface="Times New Roman" panose="02020603050405020304" pitchFamily="18" charset="0"/>
                <a:cs typeface="Times New Roman" panose="02020603050405020304" pitchFamily="18" charset="0"/>
              </a:rPr>
              <a:t>S </a:t>
            </a:r>
            <a:r>
              <a:rPr lang="zh-CN" altLang="en-US" sz="1200" b="1" dirty="0">
                <a:solidFill>
                  <a:schemeClr val="tx1"/>
                </a:solidFill>
                <a:latin typeface="Times New Roman" panose="02020603050405020304" pitchFamily="18" charset="0"/>
                <a:cs typeface="Times New Roman" panose="02020603050405020304" pitchFamily="18" charset="0"/>
              </a:rPr>
              <a:t>中关于运算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1200" dirty="0">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的</a:t>
            </a:r>
            <a:r>
              <a:rPr lang="zh-CN" altLang="en-US" sz="1200" b="1" dirty="0">
                <a:latin typeface="Times New Roman" panose="02020603050405020304" pitchFamily="18" charset="0"/>
                <a:cs typeface="Times New Roman" panose="02020603050405020304" pitchFamily="18" charset="0"/>
              </a:rPr>
              <a:t>幺</a:t>
            </a:r>
            <a:r>
              <a:rPr lang="en-US" altLang="zh-CN" sz="1200" b="1" dirty="0">
                <a:latin typeface="Times New Roman" panose="02020603050405020304" pitchFamily="18" charset="0"/>
                <a:cs typeface="Times New Roman" panose="02020603050405020304" pitchFamily="18" charset="0"/>
              </a:rPr>
              <a:t>(</a:t>
            </a:r>
            <a:r>
              <a:rPr lang="zh-CN" altLang="en-US" sz="1200" b="1" dirty="0">
                <a:solidFill>
                  <a:schemeClr val="tx1"/>
                </a:solidFill>
                <a:latin typeface="Times New Roman" panose="02020603050405020304" pitchFamily="18" charset="0"/>
                <a:cs typeface="Times New Roman" panose="02020603050405020304" pitchFamily="18" charset="0"/>
              </a:rPr>
              <a:t>单位</a:t>
            </a:r>
            <a:r>
              <a:rPr lang="en-US" altLang="zh-CN" sz="1200" b="1" dirty="0">
                <a:solidFill>
                  <a:schemeClr val="tx1"/>
                </a:solidFill>
                <a:latin typeface="Times New Roman" panose="02020603050405020304" pitchFamily="18" charset="0"/>
                <a:cs typeface="Times New Roman" panose="02020603050405020304" pitchFamily="18" charset="0"/>
              </a:rPr>
              <a:t>)</a:t>
            </a:r>
            <a:r>
              <a:rPr lang="zh-CN" altLang="en-US" sz="1200" b="1" dirty="0">
                <a:solidFill>
                  <a:schemeClr val="tx1"/>
                </a:solidFill>
                <a:latin typeface="Times New Roman" panose="02020603050405020304" pitchFamily="18" charset="0"/>
                <a:cs typeface="Times New Roman" panose="02020603050405020304" pitchFamily="18" charset="0"/>
              </a:rPr>
              <a:t>元</a:t>
            </a:r>
            <a:r>
              <a:rPr lang="en-US" altLang="zh-CN" sz="1200" b="1" dirty="0">
                <a:solidFill>
                  <a:schemeClr val="tx1"/>
                </a:solidFill>
                <a:latin typeface="Times New Roman" panose="02020603050405020304" pitchFamily="18" charset="0"/>
                <a:cs typeface="Times New Roman" panose="02020603050405020304" pitchFamily="18" charset="0"/>
              </a:rPr>
              <a:t>. </a:t>
            </a:r>
          </a:p>
          <a:p>
            <a:pPr>
              <a:lnSpc>
                <a:spcPct val="120000"/>
              </a:lnSpc>
            </a:pPr>
            <a:r>
              <a:rPr lang="en-US" altLang="zh-CN" sz="1200" b="1" dirty="0">
                <a:solidFill>
                  <a:schemeClr val="tx1"/>
                </a:solidFill>
                <a:latin typeface="Times New Roman" panose="02020603050405020304" pitchFamily="18" charset="0"/>
                <a:cs typeface="Times New Roman" panose="02020603050405020304" pitchFamily="18" charset="0"/>
              </a:rPr>
              <a:t>(1)</a:t>
            </a:r>
            <a:r>
              <a:rPr lang="zh-CN" altLang="en-US" sz="1200" b="1" dirty="0">
                <a:solidFill>
                  <a:schemeClr val="tx1"/>
                </a:solidFill>
                <a:latin typeface="Times New Roman" panose="02020603050405020304" pitchFamily="18" charset="0"/>
                <a:cs typeface="Times New Roman" panose="02020603050405020304" pitchFamily="18" charset="0"/>
              </a:rPr>
              <a:t>对于 </a:t>
            </a:r>
            <a:r>
              <a:rPr lang="zh-CN" altLang="en-US" sz="1200" b="1" dirty="0">
                <a:latin typeface="Times New Roman" panose="02020603050405020304" pitchFamily="18" charset="0"/>
                <a:cs typeface="Times New Roman" panose="02020603050405020304" pitchFamily="18" charset="0"/>
              </a:rPr>
              <a:t>任意</a:t>
            </a:r>
            <a:r>
              <a:rPr lang="en-US" altLang="zh-CN" sz="1200" b="1" i="1" dirty="0" err="1">
                <a:solidFill>
                  <a:schemeClr val="tx1"/>
                </a:solidFill>
                <a:latin typeface="Times New Roman" panose="02020603050405020304" pitchFamily="18" charset="0"/>
                <a:cs typeface="Times New Roman" panose="02020603050405020304" pitchFamily="18" charset="0"/>
              </a:rPr>
              <a:t>x</a:t>
            </a:r>
            <a:r>
              <a:rPr lang="en-US" altLang="zh-CN" sz="1200" b="1" dirty="0" err="1">
                <a:solidFill>
                  <a:schemeClr val="tx1"/>
                </a:solidFill>
                <a:latin typeface="Times New Roman" panose="02020603050405020304" pitchFamily="18" charset="0"/>
                <a:cs typeface="Times New Roman" panose="02020603050405020304" pitchFamily="18" charset="0"/>
              </a:rPr>
              <a:t>∈</a:t>
            </a:r>
            <a:r>
              <a:rPr lang="en-US" altLang="zh-CN" sz="1200" b="1" i="1" dirty="0" err="1">
                <a:solidFill>
                  <a:schemeClr val="tx1"/>
                </a:solidFill>
                <a:latin typeface="Times New Roman" panose="02020603050405020304" pitchFamily="18" charset="0"/>
                <a:cs typeface="Times New Roman" panose="02020603050405020304" pitchFamily="18" charset="0"/>
              </a:rPr>
              <a:t>S</a:t>
            </a:r>
            <a:r>
              <a:rPr lang="zh-CN" altLang="en-US" sz="1200" b="1" dirty="0">
                <a:solidFill>
                  <a:schemeClr val="tx1"/>
                </a:solidFill>
                <a:latin typeface="Times New Roman" panose="02020603050405020304" pitchFamily="18" charset="0"/>
                <a:cs typeface="Times New Roman" panose="02020603050405020304" pitchFamily="18" charset="0"/>
              </a:rPr>
              <a:t>，如果存在</a:t>
            </a:r>
            <a:r>
              <a:rPr lang="en-US" altLang="zh-CN" sz="1200" b="1" i="1" dirty="0">
                <a:solidFill>
                  <a:schemeClr val="tx1"/>
                </a:solidFill>
                <a:latin typeface="Times New Roman" panose="02020603050405020304" pitchFamily="18" charset="0"/>
                <a:cs typeface="Times New Roman" panose="02020603050405020304" pitchFamily="18" charset="0"/>
              </a:rPr>
              <a:t>y</a:t>
            </a:r>
            <a:r>
              <a:rPr lang="en-US" altLang="zh-CN" sz="1200" b="1" i="1" baseline="-25000" dirty="0">
                <a:solidFill>
                  <a:schemeClr val="tx1"/>
                </a:solidFill>
                <a:latin typeface="Times New Roman" panose="02020603050405020304" pitchFamily="18" charset="0"/>
                <a:cs typeface="Times New Roman" panose="02020603050405020304" pitchFamily="18" charset="0"/>
              </a:rPr>
              <a:t>l</a:t>
            </a:r>
            <a:r>
              <a:rPr lang="en-US" altLang="zh-CN" sz="1200" b="1" dirty="0">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或 </a:t>
            </a:r>
            <a:r>
              <a:rPr lang="en-US" altLang="zh-CN" sz="1200" b="1" i="1" dirty="0">
                <a:solidFill>
                  <a:schemeClr val="tx1"/>
                </a:solidFill>
                <a:latin typeface="Times New Roman" panose="02020603050405020304" pitchFamily="18" charset="0"/>
                <a:cs typeface="Times New Roman" panose="02020603050405020304" pitchFamily="18" charset="0"/>
              </a:rPr>
              <a:t>y</a:t>
            </a:r>
            <a:r>
              <a:rPr lang="en-US" altLang="zh-CN" sz="1200" b="1" i="1" baseline="-25000" dirty="0">
                <a:solidFill>
                  <a:schemeClr val="tx1"/>
                </a:solidFill>
                <a:latin typeface="Times New Roman" panose="02020603050405020304" pitchFamily="18" charset="0"/>
                <a:cs typeface="Times New Roman" panose="02020603050405020304" pitchFamily="18" charset="0"/>
              </a:rPr>
              <a:t>r</a:t>
            </a:r>
            <a:r>
              <a:rPr lang="en-US" altLang="zh-CN" sz="1200" b="1" dirty="0">
                <a:solidFill>
                  <a:schemeClr val="tx1"/>
                </a:solidFill>
                <a:latin typeface="Times New Roman" panose="02020603050405020304" pitchFamily="18" charset="0"/>
                <a:cs typeface="Times New Roman" panose="02020603050405020304" pitchFamily="18" charset="0"/>
              </a:rPr>
              <a:t> ) </a:t>
            </a:r>
            <a:r>
              <a:rPr lang="zh-CN" altLang="en-US" sz="1200" b="1" dirty="0">
                <a:solidFill>
                  <a:schemeClr val="tx1"/>
                </a:solidFill>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cs typeface="Times New Roman" panose="02020603050405020304" pitchFamily="18" charset="0"/>
              </a:rPr>
              <a:t>S </a:t>
            </a:r>
            <a:r>
              <a:rPr lang="zh-CN" altLang="en-US" sz="1200" b="1" dirty="0">
                <a:solidFill>
                  <a:schemeClr val="tx1"/>
                </a:solidFill>
                <a:latin typeface="Times New Roman" panose="02020603050405020304" pitchFamily="18" charset="0"/>
                <a:cs typeface="Times New Roman" panose="02020603050405020304" pitchFamily="18" charset="0"/>
              </a:rPr>
              <a:t>使得</a:t>
            </a:r>
            <a:endParaRPr lang="zh-CN" altLang="en-US" sz="1200" b="1"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zh-CN" altLang="en-US" sz="1200" b="1" i="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y</a:t>
            </a:r>
            <a:r>
              <a:rPr lang="en-US" altLang="zh-CN" sz="1200" b="1" i="1" baseline="-25000" dirty="0">
                <a:solidFill>
                  <a:schemeClr val="tx1"/>
                </a:solidFill>
                <a:latin typeface="Times New Roman" panose="02020603050405020304" pitchFamily="18" charset="0"/>
                <a:cs typeface="Times New Roman" panose="02020603050405020304" pitchFamily="18" charset="0"/>
              </a:rPr>
              <a:t>l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e</a:t>
            </a:r>
            <a:r>
              <a:rPr lang="zh-CN" altLang="en-US" sz="1200" b="1" dirty="0">
                <a:solidFill>
                  <a:schemeClr val="tx1"/>
                </a:solidFill>
                <a:latin typeface="Times New Roman" panose="02020603050405020304" pitchFamily="18" charset="0"/>
                <a:cs typeface="Times New Roman" panose="02020603050405020304" pitchFamily="18" charset="0"/>
              </a:rPr>
              <a:t>（或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cs typeface="Times New Roman" panose="02020603050405020304" pitchFamily="18" charset="0"/>
              </a:rPr>
              <a:t>y</a:t>
            </a:r>
            <a:r>
              <a:rPr lang="en-US" altLang="zh-CN" sz="1200" b="1" i="1" baseline="-25000" dirty="0">
                <a:solidFill>
                  <a:schemeClr val="tx1"/>
                </a:solidFill>
                <a:latin typeface="Times New Roman" panose="02020603050405020304" pitchFamily="18" charset="0"/>
                <a:cs typeface="Times New Roman" panose="02020603050405020304" pitchFamily="18" charset="0"/>
              </a:rPr>
              <a:t>r </a:t>
            </a:r>
            <a:r>
              <a:rPr lang="en-US" altLang="zh-CN"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e</a:t>
            </a:r>
            <a:r>
              <a:rPr lang="zh-CN" altLang="en-US" sz="1200" b="1" dirty="0">
                <a:solidFill>
                  <a:schemeClr val="tx1"/>
                </a:solidFill>
                <a:latin typeface="Times New Roman" panose="02020603050405020304" pitchFamily="18" charset="0"/>
                <a:cs typeface="Times New Roman" panose="02020603050405020304" pitchFamily="18" charset="0"/>
              </a:rPr>
              <a:t>），</a:t>
            </a:r>
          </a:p>
          <a:p>
            <a:pPr>
              <a:lnSpc>
                <a:spcPct val="120000"/>
              </a:lnSpc>
            </a:pPr>
            <a:r>
              <a:rPr lang="zh-CN" altLang="en-US" sz="1200" b="1" dirty="0">
                <a:solidFill>
                  <a:schemeClr val="tx1"/>
                </a:solidFill>
                <a:latin typeface="Times New Roman" panose="02020603050405020304" pitchFamily="18" charset="0"/>
                <a:cs typeface="Times New Roman" panose="02020603050405020304" pitchFamily="18" charset="0"/>
              </a:rPr>
              <a:t>     则称 </a:t>
            </a:r>
            <a:r>
              <a:rPr lang="en-US" altLang="zh-CN" sz="1200" b="1" i="1" dirty="0">
                <a:solidFill>
                  <a:schemeClr val="tx1"/>
                </a:solidFill>
                <a:latin typeface="Times New Roman" panose="02020603050405020304" pitchFamily="18" charset="0"/>
                <a:cs typeface="Times New Roman" panose="02020603050405020304" pitchFamily="18" charset="0"/>
              </a:rPr>
              <a:t>y</a:t>
            </a:r>
            <a:r>
              <a:rPr lang="en-US" altLang="zh-CN" sz="1200" b="1" i="1" baseline="-25000" dirty="0">
                <a:solidFill>
                  <a:schemeClr val="tx1"/>
                </a:solidFill>
                <a:latin typeface="Times New Roman" panose="02020603050405020304" pitchFamily="18" charset="0"/>
                <a:cs typeface="Times New Roman" panose="02020603050405020304" pitchFamily="18" charset="0"/>
              </a:rPr>
              <a:t>l </a:t>
            </a:r>
            <a:r>
              <a:rPr lang="en-US" altLang="zh-CN" sz="1200" b="1" dirty="0">
                <a:latin typeface="Times New Roman" panose="02020603050405020304" pitchFamily="18" charset="0"/>
                <a:cs typeface="Times New Roman" panose="02020603050405020304" pitchFamily="18" charset="0"/>
              </a:rPr>
              <a:t>(</a:t>
            </a:r>
            <a:r>
              <a:rPr lang="zh-CN" altLang="en-US" sz="1200" b="1" dirty="0">
                <a:solidFill>
                  <a:schemeClr val="tx1"/>
                </a:solidFill>
                <a:latin typeface="Times New Roman" panose="02020603050405020304" pitchFamily="18" charset="0"/>
                <a:cs typeface="Times New Roman" panose="02020603050405020304" pitchFamily="18" charset="0"/>
              </a:rPr>
              <a:t>或 </a:t>
            </a:r>
            <a:r>
              <a:rPr lang="en-US" altLang="zh-CN" sz="1200" b="1" i="1" dirty="0">
                <a:solidFill>
                  <a:schemeClr val="tx1"/>
                </a:solidFill>
                <a:latin typeface="Times New Roman" panose="02020603050405020304" pitchFamily="18" charset="0"/>
                <a:cs typeface="Times New Roman" panose="02020603050405020304" pitchFamily="18" charset="0"/>
              </a:rPr>
              <a:t>y</a:t>
            </a:r>
            <a:r>
              <a:rPr lang="en-US" altLang="zh-CN" sz="1200" b="1" i="1" baseline="-25000" dirty="0">
                <a:solidFill>
                  <a:schemeClr val="tx1"/>
                </a:solidFill>
                <a:latin typeface="Times New Roman" panose="02020603050405020304" pitchFamily="18" charset="0"/>
                <a:cs typeface="Times New Roman" panose="02020603050405020304" pitchFamily="18" charset="0"/>
              </a:rPr>
              <a:t>r</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是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zh-CN" altLang="en-US" sz="1200" b="1" dirty="0">
                <a:solidFill>
                  <a:schemeClr val="tx1"/>
                </a:solidFill>
                <a:latin typeface="Times New Roman" panose="02020603050405020304" pitchFamily="18" charset="0"/>
                <a:cs typeface="Times New Roman" panose="02020603050405020304" pitchFamily="18" charset="0"/>
              </a:rPr>
              <a:t>的</a:t>
            </a:r>
            <a:r>
              <a:rPr lang="zh-CN" altLang="en-US" sz="1200" b="1" dirty="0">
                <a:solidFill>
                  <a:srgbClr val="FF0000"/>
                </a:solidFill>
                <a:latin typeface="Times New Roman" panose="02020603050405020304" pitchFamily="18" charset="0"/>
                <a:cs typeface="Times New Roman" panose="02020603050405020304" pitchFamily="18" charset="0"/>
              </a:rPr>
              <a:t>左逆元 </a:t>
            </a:r>
            <a:r>
              <a:rPr lang="en-US" altLang="zh-CN" sz="1200" b="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或</a:t>
            </a:r>
            <a:r>
              <a:rPr lang="zh-CN" altLang="en-US" sz="1200" b="1" dirty="0">
                <a:solidFill>
                  <a:srgbClr val="FF0000"/>
                </a:solidFill>
                <a:latin typeface="Times New Roman" panose="02020603050405020304" pitchFamily="18" charset="0"/>
                <a:cs typeface="Times New Roman" panose="02020603050405020304" pitchFamily="18" charset="0"/>
              </a:rPr>
              <a:t>右逆元</a:t>
            </a:r>
            <a:r>
              <a:rPr lang="zh-CN" altLang="en-US" sz="1200" b="1"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cs typeface="Times New Roman" panose="02020603050405020304" pitchFamily="18" charset="0"/>
              </a:rPr>
              <a:t>). </a:t>
            </a:r>
          </a:p>
          <a:p>
            <a:pPr>
              <a:lnSpc>
                <a:spcPct val="120000"/>
              </a:lnSpc>
            </a:pPr>
            <a:r>
              <a:rPr lang="en-US" altLang="zh-CN" sz="1200" b="1" dirty="0">
                <a:solidFill>
                  <a:schemeClr val="tx1"/>
                </a:solidFill>
                <a:latin typeface="Times New Roman" panose="02020603050405020304" pitchFamily="18" charset="0"/>
                <a:cs typeface="Times New Roman" panose="02020603050405020304" pitchFamily="18" charset="0"/>
              </a:rPr>
              <a:t>(2)</a:t>
            </a:r>
            <a:r>
              <a:rPr lang="zh-CN" altLang="en-US" sz="1200" b="1" dirty="0">
                <a:solidFill>
                  <a:schemeClr val="tx1"/>
                </a:solidFill>
                <a:latin typeface="Times New Roman" panose="02020603050405020304" pitchFamily="18" charset="0"/>
                <a:cs typeface="Times New Roman" panose="02020603050405020304" pitchFamily="18" charset="0"/>
              </a:rPr>
              <a:t> 若 </a:t>
            </a:r>
            <a:r>
              <a:rPr lang="en-US" altLang="zh-CN" sz="1200" b="1" i="1" dirty="0" err="1">
                <a:solidFill>
                  <a:schemeClr val="tx1"/>
                </a:solidFill>
                <a:latin typeface="Times New Roman" panose="02020603050405020304" pitchFamily="18" charset="0"/>
                <a:cs typeface="Times New Roman" panose="02020603050405020304" pitchFamily="18" charset="0"/>
              </a:rPr>
              <a:t>y</a:t>
            </a:r>
            <a:r>
              <a:rPr lang="en-US" altLang="zh-CN" sz="1200" b="1" dirty="0" err="1">
                <a:solidFill>
                  <a:schemeClr val="tx1"/>
                </a:solidFill>
                <a:latin typeface="Times New Roman" panose="02020603050405020304" pitchFamily="18" charset="0"/>
                <a:cs typeface="Times New Roman" panose="02020603050405020304" pitchFamily="18" charset="0"/>
              </a:rPr>
              <a:t>∈</a:t>
            </a:r>
            <a:r>
              <a:rPr lang="en-US" altLang="zh-CN" sz="1200" b="1" i="1" dirty="0" err="1">
                <a:solidFill>
                  <a:schemeClr val="tx1"/>
                </a:solidFill>
                <a:latin typeface="Times New Roman" panose="02020603050405020304" pitchFamily="18" charset="0"/>
                <a:cs typeface="Times New Roman" panose="02020603050405020304" pitchFamily="18" charset="0"/>
              </a:rPr>
              <a:t>S</a:t>
            </a:r>
            <a:r>
              <a:rPr lang="en-US" altLang="zh-CN" sz="1200" b="1" i="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既是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zh-CN" altLang="en-US" sz="1200" b="1" dirty="0">
                <a:solidFill>
                  <a:schemeClr val="tx1"/>
                </a:solidFill>
                <a:latin typeface="Times New Roman" panose="02020603050405020304" pitchFamily="18" charset="0"/>
                <a:cs typeface="Times New Roman" panose="02020603050405020304" pitchFamily="18" charset="0"/>
              </a:rPr>
              <a:t>的左逆元又是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zh-CN" altLang="en-US" sz="1200" b="1" dirty="0">
                <a:solidFill>
                  <a:schemeClr val="tx1"/>
                </a:solidFill>
                <a:latin typeface="Times New Roman" panose="02020603050405020304" pitchFamily="18" charset="0"/>
                <a:cs typeface="Times New Roman" panose="02020603050405020304" pitchFamily="18" charset="0"/>
              </a:rPr>
              <a:t>的右逆元，则称 </a:t>
            </a:r>
            <a:r>
              <a:rPr lang="en-US" altLang="zh-CN" sz="1200" b="1" i="1" dirty="0">
                <a:solidFill>
                  <a:schemeClr val="tx1"/>
                </a:solidFill>
                <a:latin typeface="Times New Roman" panose="02020603050405020304" pitchFamily="18" charset="0"/>
                <a:cs typeface="Times New Roman" panose="02020603050405020304" pitchFamily="18" charset="0"/>
              </a:rPr>
              <a:t>y</a:t>
            </a:r>
            <a:r>
              <a:rPr lang="zh-CN" altLang="en-US" sz="1200" b="1" dirty="0">
                <a:solidFill>
                  <a:schemeClr val="tx1"/>
                </a:solidFill>
                <a:latin typeface="Times New Roman" panose="02020603050405020304" pitchFamily="18" charset="0"/>
                <a:cs typeface="Times New Roman" panose="02020603050405020304" pitchFamily="18" charset="0"/>
              </a:rPr>
              <a:t>为</a:t>
            </a:r>
            <a:endParaRPr lang="en-US" altLang="zh-CN" sz="1200" b="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US" altLang="zh-CN" sz="1200" b="1" dirty="0">
                <a:latin typeface="Times New Roman" panose="02020603050405020304" pitchFamily="18" charset="0"/>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zh-CN" altLang="en-US" sz="1200" b="1" dirty="0">
                <a:solidFill>
                  <a:schemeClr val="tx1"/>
                </a:solidFill>
                <a:latin typeface="Times New Roman" panose="02020603050405020304" pitchFamily="18" charset="0"/>
                <a:cs typeface="Times New Roman" panose="02020603050405020304" pitchFamily="18" charset="0"/>
              </a:rPr>
              <a:t>的</a:t>
            </a:r>
            <a:r>
              <a:rPr lang="zh-CN" altLang="en-US" sz="1200" b="1" dirty="0">
                <a:solidFill>
                  <a:srgbClr val="FF0000"/>
                </a:solidFill>
                <a:latin typeface="Times New Roman" panose="02020603050405020304" pitchFamily="18" charset="0"/>
                <a:cs typeface="Times New Roman" panose="02020603050405020304" pitchFamily="18" charset="0"/>
              </a:rPr>
              <a:t>逆元</a:t>
            </a:r>
            <a:r>
              <a:rPr lang="en-US" altLang="zh-CN" sz="1200" b="1" dirty="0">
                <a:solidFill>
                  <a:schemeClr val="tx1"/>
                </a:solidFill>
                <a:latin typeface="Times New Roman" panose="02020603050405020304" pitchFamily="18" charset="0"/>
                <a:cs typeface="Times New Roman" panose="02020603050405020304" pitchFamily="18" charset="0"/>
              </a:rPr>
              <a:t>. </a:t>
            </a:r>
          </a:p>
          <a:p>
            <a:pPr>
              <a:lnSpc>
                <a:spcPct val="120000"/>
              </a:lnSpc>
            </a:pPr>
            <a:r>
              <a:rPr lang="en-US" altLang="zh-CN" sz="1200" b="1" dirty="0">
                <a:solidFill>
                  <a:schemeClr val="tx1"/>
                </a:solidFill>
                <a:latin typeface="Times New Roman" panose="02020603050405020304" pitchFamily="18" charset="0"/>
                <a:cs typeface="Times New Roman" panose="02020603050405020304" pitchFamily="18" charset="0"/>
              </a:rPr>
              <a:t>(2)</a:t>
            </a:r>
            <a:r>
              <a:rPr lang="zh-CN" altLang="en-US" sz="1200" b="1" dirty="0">
                <a:solidFill>
                  <a:schemeClr val="tx1"/>
                </a:solidFill>
                <a:latin typeface="Times New Roman" panose="02020603050405020304" pitchFamily="18" charset="0"/>
                <a:cs typeface="Times New Roman" panose="02020603050405020304" pitchFamily="18" charset="0"/>
              </a:rPr>
              <a:t>如果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zh-CN" altLang="en-US" sz="1200" b="1" dirty="0">
                <a:solidFill>
                  <a:schemeClr val="tx1"/>
                </a:solidFill>
                <a:latin typeface="Times New Roman" panose="02020603050405020304" pitchFamily="18" charset="0"/>
                <a:cs typeface="Times New Roman" panose="02020603050405020304" pitchFamily="18" charset="0"/>
              </a:rPr>
              <a:t>的逆元存在，</a:t>
            </a:r>
            <a:r>
              <a:rPr lang="zh-CN" altLang="en-US" sz="1200" b="1" dirty="0">
                <a:latin typeface="Times New Roman" panose="02020603050405020304" pitchFamily="18" charset="0"/>
                <a:cs typeface="Times New Roman" panose="02020603050405020304" pitchFamily="18" charset="0"/>
              </a:rPr>
              <a:t>则</a:t>
            </a:r>
            <a:r>
              <a:rPr lang="zh-CN" altLang="en-US" sz="1200" b="1" dirty="0">
                <a:solidFill>
                  <a:schemeClr val="tx1"/>
                </a:solidFill>
                <a:latin typeface="Times New Roman" panose="02020603050405020304" pitchFamily="18" charset="0"/>
                <a:cs typeface="Times New Roman" panose="02020603050405020304" pitchFamily="18" charset="0"/>
              </a:rPr>
              <a:t>称 </a:t>
            </a:r>
            <a:r>
              <a:rPr lang="en-US" altLang="zh-CN" sz="1200" b="1" i="1" dirty="0">
                <a:solidFill>
                  <a:schemeClr val="tx1"/>
                </a:solidFill>
                <a:latin typeface="Times New Roman" panose="02020603050405020304" pitchFamily="18" charset="0"/>
                <a:cs typeface="Times New Roman" panose="02020603050405020304" pitchFamily="18" charset="0"/>
              </a:rPr>
              <a:t>x </a:t>
            </a:r>
            <a:r>
              <a:rPr lang="zh-CN" altLang="en-US" sz="1200" b="1" dirty="0">
                <a:solidFill>
                  <a:schemeClr val="tx1"/>
                </a:solidFill>
                <a:latin typeface="Times New Roman" panose="02020603050405020304" pitchFamily="18" charset="0"/>
                <a:cs typeface="Times New Roman" panose="02020603050405020304" pitchFamily="18" charset="0"/>
              </a:rPr>
              <a:t>是</a:t>
            </a:r>
            <a:r>
              <a:rPr lang="zh-CN" altLang="en-US" sz="1200" b="1" dirty="0">
                <a:solidFill>
                  <a:srgbClr val="FF0000"/>
                </a:solidFill>
                <a:latin typeface="Times New Roman" panose="02020603050405020304" pitchFamily="18" charset="0"/>
                <a:cs typeface="Times New Roman" panose="02020603050405020304" pitchFamily="18" charset="0"/>
              </a:rPr>
              <a:t>可逆的</a:t>
            </a:r>
            <a:r>
              <a:rPr lang="en-US" altLang="zh-CN" sz="1200" b="1" dirty="0">
                <a:solidFill>
                  <a:schemeClr val="tx1"/>
                </a:solidFill>
                <a:latin typeface="Times New Roman" panose="02020603050405020304" pitchFamily="18" charset="0"/>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18</a:t>
            </a:fld>
            <a:endParaRPr lang="zh-CN" altLang="en-US"/>
          </a:p>
        </p:txBody>
      </p:sp>
    </p:spTree>
    <p:extLst>
      <p:ext uri="{BB962C8B-B14F-4D97-AF65-F5344CB8AC3E}">
        <p14:creationId xmlns:p14="http://schemas.microsoft.com/office/powerpoint/2010/main" val="154923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只有</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方阵</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（即行数和列数相等的矩阵）才可能有逆矩阵</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dirty="0"/>
              <a:t>且这个逆元也要 </a:t>
            </a:r>
            <a:r>
              <a:rPr lang="zh-CN" altLang="en-US" b="1" dirty="0"/>
              <a:t>落在同一个集合中</a:t>
            </a:r>
            <a:r>
              <a:rPr lang="zh-CN" altLang="en-US" dirty="0"/>
              <a:t>，不能跑到集合外面去。</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和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分别</a:t>
            </a:r>
            <a:r>
              <a:rPr lang="zh-CN" altLang="en-US" sz="1200" b="1" dirty="0">
                <a:solidFill>
                  <a:schemeClr val="tx1"/>
                </a:solidFill>
                <a:latin typeface="Times New Roman" panose="02020603050405020304" pitchFamily="18" charset="0"/>
                <a:ea typeface="宋体" panose="02010600030101010101" pitchFamily="2" charset="-122"/>
              </a:rPr>
              <a:t>表示</a:t>
            </a:r>
            <a:r>
              <a:rPr lang="en-US" altLang="zh-CN" sz="1200" b="1" i="1" dirty="0">
                <a:solidFill>
                  <a:schemeClr val="tx1"/>
                </a:solidFill>
                <a:latin typeface="Times New Roman" panose="02020603050405020304" pitchFamily="18" charset="0"/>
                <a:ea typeface="宋体" panose="02010600030101010101" pitchFamily="2" charset="-122"/>
              </a:rPr>
              <a:t>n </a:t>
            </a:r>
            <a:r>
              <a:rPr lang="zh-CN" altLang="en-US" sz="1200" b="1" dirty="0">
                <a:solidFill>
                  <a:schemeClr val="tx1"/>
                </a:solidFill>
                <a:latin typeface="Times New Roman" panose="02020603050405020304" pitchFamily="18" charset="0"/>
                <a:ea typeface="宋体" panose="02010600030101010101" pitchFamily="2" charset="-122"/>
              </a:rPr>
              <a:t>阶全</a:t>
            </a:r>
            <a:r>
              <a:rPr lang="en-US" altLang="zh-CN" sz="1200" b="1" dirty="0">
                <a:solidFill>
                  <a:schemeClr val="tx1"/>
                </a:solidFill>
                <a:latin typeface="Times New Roman" panose="02020603050405020304" pitchFamily="18" charset="0"/>
                <a:ea typeface="宋体" panose="02010600030101010101" pitchFamily="2" charset="-122"/>
              </a:rPr>
              <a:t>0 </a:t>
            </a:r>
            <a:r>
              <a:rPr lang="zh-CN" altLang="en-US" sz="1200" b="1" dirty="0">
                <a:solidFill>
                  <a:schemeClr val="tx1"/>
                </a:solidFill>
                <a:latin typeface="Times New Roman" panose="02020603050405020304" pitchFamily="18" charset="0"/>
                <a:ea typeface="宋体" panose="02010600030101010101" pitchFamily="2" charset="-122"/>
              </a:rPr>
              <a:t>矩阵和单位实数矩阵</a:t>
            </a:r>
            <a:endParaRPr lang="en-US" altLang="zh-CN" sz="1200" b="1" dirty="0">
              <a:solidFill>
                <a:schemeClr val="tx1"/>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19</a:t>
            </a:fld>
            <a:endParaRPr lang="zh-CN" altLang="en-US"/>
          </a:p>
        </p:txBody>
      </p:sp>
    </p:spTree>
    <p:extLst>
      <p:ext uri="{BB962C8B-B14F-4D97-AF65-F5344CB8AC3E}">
        <p14:creationId xmlns:p14="http://schemas.microsoft.com/office/powerpoint/2010/main" val="42672282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因为</a:t>
            </a:r>
            <a:r>
              <a:rPr lang="zh-CN" altLang="zh-CN" sz="1800" dirty="0">
                <a:effectLst/>
                <a:ea typeface="Times New Roman" panose="02020603050405020304" pitchFamily="18" charset="0"/>
              </a:rPr>
              <a:t> </a:t>
            </a:r>
            <a:r>
              <a:rPr lang="en-US" altLang="zh-CN" sz="1800" dirty="0">
                <a:effectLst/>
                <a:latin typeface="KaTeX_Main"/>
                <a:ea typeface="宋体" panose="02010600030101010101" pitchFamily="2" charset="-122"/>
                <a:cs typeface="Times New Roman" panose="02020603050405020304" pitchFamily="18" charset="0"/>
              </a:rPr>
              <a:t>1×1=1</a:t>
            </a:r>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800" dirty="0">
                <a:effectLst/>
                <a:ea typeface="Times New Roman" panose="02020603050405020304" pitchFamily="18" charset="0"/>
              </a:rPr>
              <a:t> </a:t>
            </a:r>
            <a:r>
              <a:rPr lang="en-US" altLang="zh-CN" sz="1800" dirty="0">
                <a:effectLst/>
                <a:latin typeface="KaTeX_Main"/>
                <a:ea typeface="宋体" panose="02010600030101010101" pitchFamily="2" charset="-122"/>
                <a:cs typeface="Times New Roman" panose="02020603050405020304" pitchFamily="18" charset="0"/>
              </a:rPr>
              <a:t>(−1)×(−1)=1</a:t>
            </a:r>
            <a:r>
              <a:rPr lang="zh-CN" altLang="en-US" sz="1800" dirty="0">
                <a:effectLst/>
                <a:latin typeface="KaTeX_Main"/>
                <a:ea typeface="宋体" panose="02010600030101010101" pitchFamily="2" charset="-122"/>
                <a:cs typeface="Times New Roman" panose="02020603050405020304" pitchFamily="18" charset="0"/>
              </a:rPr>
              <a:t>，</a:t>
            </a:r>
            <a:r>
              <a:rPr lang="en-US" altLang="zh-CN" sz="2800" b="1"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和</a:t>
            </a:r>
            <a:r>
              <a:rPr lang="en-US" altLang="zh-CN" sz="2800" b="1" dirty="0">
                <a:latin typeface="Times New Roman" panose="02020603050405020304" pitchFamily="18" charset="0"/>
                <a:ea typeface="宋体" panose="02010600030101010101" pitchFamily="2" charset="-122"/>
              </a:rPr>
              <a:t>-1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乘法逆元是它们自身</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i="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i="0" kern="100" dirty="0">
                <a:solidFill>
                  <a:srgbClr val="0D0D0D"/>
                </a:solidFill>
                <a:effectLst/>
                <a:latin typeface="KaTeX_Main"/>
                <a:ea typeface="宋体" panose="02010600030101010101" pitchFamily="2" charset="-122"/>
                <a:cs typeface="Times New Roman" panose="02020603050405020304" pitchFamily="18" charset="0"/>
              </a:rPr>
              <a:t>∣</a:t>
            </a:r>
            <a:r>
              <a:rPr lang="en-US" altLang="zh-CN" sz="1800" i="0" kern="100" dirty="0">
                <a:solidFill>
                  <a:srgbClr val="0D0D0D"/>
                </a:solidFill>
                <a:effectLst/>
                <a:latin typeface="KaTeX_Math"/>
                <a:ea typeface="宋体" panose="02010600030101010101" pitchFamily="2" charset="-122"/>
                <a:cs typeface="Times New Roman" panose="02020603050405020304" pitchFamily="18" charset="0"/>
              </a:rPr>
              <a:t>a</a:t>
            </a:r>
            <a:r>
              <a:rPr lang="en-US" altLang="zh-CN" sz="1800" i="0" kern="100" dirty="0">
                <a:solidFill>
                  <a:srgbClr val="0D0D0D"/>
                </a:solidFill>
                <a:effectLst/>
                <a:latin typeface="KaTeX_Main"/>
                <a:ea typeface="宋体" panose="02010600030101010101" pitchFamily="2" charset="-122"/>
                <a:cs typeface="Times New Roman" panose="02020603050405020304" pitchFamily="18" charset="0"/>
              </a:rPr>
              <a:t>∣&gt;</a:t>
            </a:r>
            <a:r>
              <a:rPr lang="zh-CN" altLang="zh-CN" sz="1800" i="0" kern="1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1800" i="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时，</a:t>
            </a:r>
            <a:r>
              <a:rPr lang="zh-CN" altLang="zh-CN" sz="1800" i="0" kern="100" dirty="0">
                <a:solidFill>
                  <a:srgbClr val="0D0D0D"/>
                </a:solidFill>
                <a:effectLst/>
                <a:latin typeface="Times New Roman" panose="02020603050405020304" pitchFamily="18" charset="0"/>
                <a:ea typeface="KaTeX_Math"/>
                <a:cs typeface="Times New Roman" panose="02020603050405020304" pitchFamily="18" charset="0"/>
              </a:rPr>
              <a:t> </a:t>
            </a:r>
            <a:r>
              <a:rPr lang="en-US" altLang="zh-CN" sz="1800" i="0" kern="100" dirty="0">
                <a:solidFill>
                  <a:srgbClr val="0D0D0D"/>
                </a:solidFill>
                <a:effectLst/>
                <a:latin typeface="Times New Roman" panose="02020603050405020304" pitchFamily="18" charset="0"/>
                <a:ea typeface="KaTeX_Math"/>
                <a:cs typeface="Times New Roman" panose="02020603050405020304" pitchFamily="18" charset="0"/>
              </a:rPr>
              <a:t>a</a:t>
            </a:r>
            <a:r>
              <a:rPr lang="en-US" altLang="zh-CN" sz="1800" i="0" kern="100" dirty="0">
                <a:solidFill>
                  <a:srgbClr val="0D0D0D"/>
                </a:solidFill>
                <a:effectLst/>
                <a:latin typeface="KaTeX_Main"/>
                <a:ea typeface="KaTeX_Math"/>
                <a:cs typeface="Times New Roman" panose="02020603050405020304" pitchFamily="18" charset="0"/>
              </a:rPr>
              <a:t>×</a:t>
            </a:r>
            <a:r>
              <a:rPr lang="zh-CN" altLang="zh-CN" sz="1800" i="0" kern="100" dirty="0">
                <a:solidFill>
                  <a:srgbClr val="0D0D0D"/>
                </a:solidFill>
                <a:effectLst/>
                <a:latin typeface="Times New Roman" panose="02020603050405020304" pitchFamily="18" charset="0"/>
                <a:ea typeface="KaTeX_Math"/>
                <a:cs typeface="Times New Roman" panose="02020603050405020304" pitchFamily="18" charset="0"/>
              </a:rPr>
              <a:t>b</a:t>
            </a:r>
            <a:r>
              <a:rPr lang="zh-CN" altLang="zh-CN" sz="1800" i="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i="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的结果至少为 </a:t>
            </a:r>
            <a:r>
              <a:rPr lang="en-US" altLang="zh-CN" sz="1800" i="0" kern="100" dirty="0">
                <a:solidFill>
                  <a:srgbClr val="0D0D0D"/>
                </a:solidFill>
                <a:effectLst/>
                <a:latin typeface="KaTeX_Math"/>
                <a:ea typeface="宋体" panose="02010600030101010101" pitchFamily="2" charset="-122"/>
                <a:cs typeface="Times New Roman" panose="02020603050405020304" pitchFamily="18" charset="0"/>
              </a:rPr>
              <a:t>a</a:t>
            </a:r>
            <a:r>
              <a:rPr lang="zh-CN" altLang="zh-CN" sz="1800" i="0" kern="100" dirty="0">
                <a:effectLst/>
                <a:latin typeface="Times New Roman" panose="02020603050405020304" pitchFamily="18" charset="0"/>
                <a:ea typeface="宋体" panose="02010600030101010101" pitchFamily="2" charset="-122"/>
                <a:cs typeface="Times New Roman" panose="02020603050405020304" pitchFamily="18" charset="0"/>
              </a:rPr>
              <a:t>（如果</a:t>
            </a:r>
            <a:r>
              <a:rPr lang="zh-CN" altLang="zh-CN" sz="1800" i="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0" kern="100" dirty="0">
                <a:solidFill>
                  <a:srgbClr val="0D0D0D"/>
                </a:solidFill>
                <a:effectLst/>
                <a:latin typeface="KaTeX_Math"/>
                <a:ea typeface="宋体" panose="02010600030101010101" pitchFamily="2" charset="-122"/>
                <a:cs typeface="Times New Roman" panose="02020603050405020304" pitchFamily="18" charset="0"/>
              </a:rPr>
              <a:t>b</a:t>
            </a:r>
            <a:r>
              <a:rPr lang="en-US" altLang="zh-CN" sz="1800" i="0" kern="100" dirty="0">
                <a:solidFill>
                  <a:srgbClr val="0D0D0D"/>
                </a:solidFill>
                <a:effectLst/>
                <a:latin typeface="KaTeX_Main"/>
                <a:ea typeface="宋体" panose="02010600030101010101" pitchFamily="2" charset="-122"/>
                <a:cs typeface="Times New Roman" panose="02020603050405020304" pitchFamily="18" charset="0"/>
              </a:rPr>
              <a:t>=</a:t>
            </a:r>
            <a:r>
              <a:rPr lang="en-US" altLang="zh-CN" sz="1800" i="0" kern="100" dirty="0">
                <a:solidFill>
                  <a:srgbClr val="0D0D0D"/>
                </a:solidFill>
                <a:effectLst/>
                <a:latin typeface="KaTeX_Math"/>
                <a:ea typeface="宋体" panose="02010600030101010101" pitchFamily="2" charset="-122"/>
                <a:cs typeface="Times New Roman" panose="02020603050405020304" pitchFamily="18" charset="0"/>
              </a:rPr>
              <a:t>1</a:t>
            </a:r>
            <a:r>
              <a:rPr lang="zh-CN" altLang="zh-CN" sz="1800" i="0" kern="100" dirty="0">
                <a:effectLst/>
                <a:latin typeface="Times New Roman" panose="02020603050405020304" pitchFamily="18" charset="0"/>
                <a:ea typeface="宋体" panose="02010600030101010101" pitchFamily="2" charset="-122"/>
                <a:cs typeface="Times New Roman" panose="02020603050405020304" pitchFamily="18" charset="0"/>
              </a:rPr>
              <a:t>）或更大（如果</a:t>
            </a:r>
            <a:r>
              <a:rPr lang="zh-CN" altLang="zh-CN" sz="1800" i="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0" kern="100" dirty="0">
                <a:solidFill>
                  <a:srgbClr val="0D0D0D"/>
                </a:solidFill>
                <a:effectLst/>
                <a:latin typeface="KaTeX_Math"/>
                <a:ea typeface="宋体" panose="02010600030101010101" pitchFamily="2" charset="-122"/>
                <a:cs typeface="Times New Roman" panose="02020603050405020304" pitchFamily="18" charset="0"/>
              </a:rPr>
              <a:t>b</a:t>
            </a:r>
            <a:r>
              <a:rPr lang="en-US" altLang="zh-CN" sz="1800" i="0" kern="100" dirty="0">
                <a:solidFill>
                  <a:srgbClr val="0D0D0D"/>
                </a:solidFill>
                <a:effectLst/>
                <a:latin typeface="KaTeX_Main"/>
                <a:ea typeface="宋体" panose="02010600030101010101" pitchFamily="2" charset="-122"/>
                <a:cs typeface="Times New Roman" panose="02020603050405020304" pitchFamily="18" charset="0"/>
              </a:rPr>
              <a:t>&gt;</a:t>
            </a:r>
            <a:r>
              <a:rPr lang="en-US" altLang="zh-CN" sz="1800" i="0" kern="100" dirty="0">
                <a:solidFill>
                  <a:srgbClr val="0D0D0D"/>
                </a:solidFill>
                <a:effectLst/>
                <a:latin typeface="KaTeX_Math"/>
                <a:ea typeface="宋体" panose="02010600030101010101" pitchFamily="2" charset="-122"/>
                <a:cs typeface="Times New Roman" panose="02020603050405020304" pitchFamily="18" charset="0"/>
              </a:rPr>
              <a:t>1</a:t>
            </a:r>
            <a:r>
              <a:rPr lang="zh-CN" altLang="zh-CN" sz="1800" i="0" kern="100" dirty="0">
                <a:effectLst/>
                <a:latin typeface="Times New Roman" panose="02020603050405020304" pitchFamily="18" charset="0"/>
                <a:ea typeface="宋体" panose="02010600030101010101" pitchFamily="2" charset="-122"/>
                <a:cs typeface="Times New Roman" panose="02020603050405020304" pitchFamily="18" charset="0"/>
              </a:rPr>
              <a:t>）或者为负数但绝对值至少为</a:t>
            </a:r>
            <a:r>
              <a:rPr lang="zh-CN" altLang="zh-CN" sz="1800" i="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0" kern="100" dirty="0">
                <a:solidFill>
                  <a:srgbClr val="0D0D0D"/>
                </a:solidFill>
                <a:effectLst/>
                <a:latin typeface="KaTeX_Math"/>
                <a:ea typeface="宋体" panose="02010600030101010101" pitchFamily="2" charset="-122"/>
                <a:cs typeface="Times New Roman" panose="02020603050405020304" pitchFamily="18" charset="0"/>
              </a:rPr>
              <a:t>a</a:t>
            </a:r>
            <a:r>
              <a:rPr lang="zh-CN" altLang="zh-CN" sz="1800" i="0" kern="100" dirty="0">
                <a:effectLst/>
                <a:latin typeface="Times New Roman" panose="02020603050405020304" pitchFamily="18" charset="0"/>
                <a:ea typeface="宋体" panose="02010600030101010101" pitchFamily="2" charset="-122"/>
                <a:cs typeface="Times New Roman" panose="02020603050405020304" pitchFamily="18" charset="0"/>
              </a:rPr>
              <a:t>（如果</a:t>
            </a:r>
            <a:r>
              <a:rPr lang="zh-CN" altLang="zh-CN" sz="1800" i="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0" kern="100" dirty="0">
                <a:solidFill>
                  <a:srgbClr val="0D0D0D"/>
                </a:solidFill>
                <a:effectLst/>
                <a:latin typeface="KaTeX_Math"/>
                <a:ea typeface="宋体" panose="02010600030101010101" pitchFamily="2" charset="-122"/>
                <a:cs typeface="Times New Roman" panose="02020603050405020304" pitchFamily="18" charset="0"/>
              </a:rPr>
              <a:t>b</a:t>
            </a:r>
            <a:r>
              <a:rPr lang="en-US" altLang="zh-CN" sz="1800" i="0" kern="100" dirty="0">
                <a:solidFill>
                  <a:srgbClr val="0D0D0D"/>
                </a:solidFill>
                <a:effectLst/>
                <a:latin typeface="KaTeX_Main"/>
                <a:ea typeface="宋体" panose="02010600030101010101" pitchFamily="2" charset="-122"/>
                <a:cs typeface="Times New Roman" panose="02020603050405020304" pitchFamily="18" charset="0"/>
              </a:rPr>
              <a:t>&lt;</a:t>
            </a:r>
            <a:r>
              <a:rPr lang="en-US" altLang="zh-CN" sz="1800" i="0" kern="100" dirty="0">
                <a:solidFill>
                  <a:srgbClr val="0D0D0D"/>
                </a:solidFill>
                <a:effectLst/>
                <a:latin typeface="KaTeX_Math"/>
                <a:ea typeface="宋体" panose="02010600030101010101" pitchFamily="2" charset="-122"/>
                <a:cs typeface="Times New Roman" panose="02020603050405020304" pitchFamily="18" charset="0"/>
              </a:rPr>
              <a:t>−1</a:t>
            </a:r>
            <a:r>
              <a:rPr lang="zh-CN" altLang="zh-CN" sz="1800" i="0" kern="100" dirty="0">
                <a:effectLst/>
                <a:latin typeface="Times New Roman" panose="02020603050405020304" pitchFamily="18" charset="0"/>
                <a:ea typeface="宋体" panose="02010600030101010101" pitchFamily="2" charset="-122"/>
                <a:cs typeface="Times New Roman" panose="02020603050405020304" pitchFamily="18" charset="0"/>
              </a:rPr>
              <a:t>）。因此，结果永远不可能恰好为</a:t>
            </a:r>
            <a:r>
              <a:rPr lang="en-US" altLang="zh-CN" sz="1800" i="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i="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i="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因为有理数的定义允许分数的形式，因此可以通过倒数作为乘法逆元</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i="0" dirty="0"/>
          </a:p>
          <a:p>
            <a:pPr marL="0" indent="0">
              <a:lnSpc>
                <a:spcPct val="110000"/>
              </a:lnSpc>
              <a:buNone/>
            </a:pPr>
            <a:r>
              <a:rPr lang="zh-CN" altLang="en-US" b="1" dirty="0">
                <a:solidFill>
                  <a:srgbClr val="FF0000"/>
                </a:solidFill>
                <a:latin typeface="Times New Roman" panose="02020603050405020304" pitchFamily="18" charset="0"/>
                <a:ea typeface="宋体" panose="02010600030101010101" pitchFamily="2" charset="-122"/>
              </a:rPr>
              <a:t>乘法逆元</a:t>
            </a:r>
            <a:r>
              <a:rPr kumimoji="0" lang="en-US" altLang="zh-CN" b="1" i="1" u="none" strike="noStrike" cap="none" normalizeH="0" baseline="0" dirty="0">
                <a:ln>
                  <a:noFill/>
                </a:ln>
                <a:solidFill>
                  <a:srgbClr val="FF0000"/>
                </a:solidFill>
                <a:effectLst/>
                <a:latin typeface="Times New Roman" panose="02020603050405020304" pitchFamily="18" charset="0"/>
                <a:ea typeface="宋体" panose="02010600030101010101" pitchFamily="2" charset="-122"/>
                <a:sym typeface="Symbol" panose="05050102010706020507" pitchFamily="18" charset="2"/>
              </a:rPr>
              <a:t>x</a:t>
            </a:r>
            <a:r>
              <a:rPr kumimoji="0" lang="en-US" altLang="zh-CN" b="1"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sym typeface="Symbol" panose="05050102010706020507" pitchFamily="18" charset="2"/>
              </a:rPr>
              <a:t>-1</a:t>
            </a:r>
            <a:r>
              <a:rPr lang="zh-CN" altLang="en-US"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的归属：</a:t>
            </a:r>
            <a:endParaRPr lang="en-US" altLang="zh-CN" b="1" dirty="0">
              <a:solidFill>
                <a:srgbClr val="FF0000"/>
              </a:solidFill>
              <a:latin typeface="Times New Roman" panose="02020603050405020304" pitchFamily="18" charset="0"/>
              <a:ea typeface="宋体" panose="02010600030101010101" pitchFamily="2" charset="-122"/>
            </a:endParaRPr>
          </a:p>
          <a:p>
            <a:pPr>
              <a:lnSpc>
                <a:spcPct val="110000"/>
              </a:lnSpc>
              <a:buFont typeface="Wingdings" panose="05000000000000000000" pitchFamily="2" charset="2"/>
              <a:buChar char="Ø"/>
            </a:pPr>
            <a:r>
              <a:rPr lang="zh-CN" altLang="en-US" b="1" dirty="0">
                <a:latin typeface="Times New Roman" panose="02020603050405020304" pitchFamily="18" charset="0"/>
                <a:ea typeface="宋体" panose="02010600030101010101" pitchFamily="2" charset="-122"/>
              </a:rPr>
              <a:t>除了</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和</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以外</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整数集</a:t>
            </a:r>
            <a:r>
              <a:rPr lang="en-US" altLang="zh-CN" b="1" dirty="0">
                <a:latin typeface="Times New Roman" panose="02020603050405020304" pitchFamily="18" charset="0"/>
                <a:ea typeface="宋体" panose="02010600030101010101" pitchFamily="2" charset="-122"/>
              </a:rPr>
              <a:t>Z</a:t>
            </a:r>
            <a:r>
              <a:rPr lang="zh-CN" altLang="en-US" b="1" dirty="0">
                <a:latin typeface="Times New Roman" panose="02020603050405020304" pitchFamily="18" charset="0"/>
                <a:ea typeface="宋体" panose="02010600030101010101" pitchFamily="2" charset="-122"/>
              </a:rPr>
              <a:t>中其余元素的乘法逆元不在</a:t>
            </a:r>
            <a:r>
              <a:rPr lang="en-US" altLang="zh-CN" b="1" dirty="0">
                <a:latin typeface="Times New Roman" panose="02020603050405020304" pitchFamily="18" charset="0"/>
                <a:ea typeface="宋体" panose="02010600030101010101" pitchFamily="2" charset="-122"/>
              </a:rPr>
              <a:t>Z</a:t>
            </a:r>
            <a:r>
              <a:rPr lang="zh-CN" altLang="en-US" b="1" dirty="0">
                <a:latin typeface="Times New Roman" panose="02020603050405020304" pitchFamily="18" charset="0"/>
                <a:ea typeface="宋体" panose="02010600030101010101" pitchFamily="2" charset="-122"/>
              </a:rPr>
              <a:t>内</a:t>
            </a:r>
            <a:r>
              <a:rPr lang="en-US" altLang="zh-CN" b="1" dirty="0">
                <a:latin typeface="Times New Roman" panose="02020603050405020304" pitchFamily="18" charset="0"/>
                <a:ea typeface="宋体" panose="02010600030101010101" pitchFamily="2" charset="-122"/>
              </a:rPr>
              <a:t>.</a:t>
            </a:r>
          </a:p>
          <a:p>
            <a:pPr>
              <a:lnSpc>
                <a:spcPct val="110000"/>
              </a:lnSpc>
              <a:buFont typeface="Wingdings" panose="05000000000000000000" pitchFamily="2" charset="2"/>
              <a:buChar char="Ø"/>
            </a:pPr>
            <a:r>
              <a:rPr lang="zh-CN" altLang="en-US" b="1" dirty="0">
                <a:latin typeface="Times New Roman" panose="02020603050405020304" pitchFamily="18" charset="0"/>
                <a:ea typeface="宋体" panose="02010600030101010101" pitchFamily="2" charset="-122"/>
              </a:rPr>
              <a:t>有理数集</a:t>
            </a:r>
            <a:r>
              <a:rPr lang="en-US" altLang="zh-CN" b="1" dirty="0">
                <a:solidFill>
                  <a:schemeClr val="tx1"/>
                </a:solidFill>
                <a:latin typeface="Times New Roman" panose="02020603050405020304" pitchFamily="18" charset="0"/>
                <a:ea typeface="宋体" panose="02010600030101010101" pitchFamily="2" charset="-122"/>
              </a:rPr>
              <a:t>Q</a:t>
            </a:r>
            <a:r>
              <a:rPr lang="zh-CN" altLang="en-US" b="1" dirty="0">
                <a:latin typeface="Times New Roman" panose="02020603050405020304" pitchFamily="18" charset="0"/>
                <a:ea typeface="宋体" panose="02010600030101010101" pitchFamily="2" charset="-122"/>
              </a:rPr>
              <a:t>中除</a:t>
            </a:r>
            <a:r>
              <a:rPr lang="en-US" altLang="zh-CN" b="1" dirty="0">
                <a:latin typeface="Times New Roman" panose="02020603050405020304" pitchFamily="18" charset="0"/>
                <a:ea typeface="宋体" panose="02010600030101010101" pitchFamily="2" charset="-122"/>
              </a:rPr>
              <a:t>0</a:t>
            </a:r>
            <a:r>
              <a:rPr lang="zh-CN" altLang="en-US" b="1" dirty="0">
                <a:latin typeface="Times New Roman" panose="02020603050405020304" pitchFamily="18" charset="0"/>
                <a:ea typeface="宋体" panose="02010600030101010101" pitchFamily="2" charset="-122"/>
              </a:rPr>
              <a:t>之外的所有元素都有乘法逆元</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这些逆元也属于</a:t>
            </a:r>
            <a:r>
              <a:rPr lang="en-US" altLang="zh-CN" b="1" dirty="0">
                <a:solidFill>
                  <a:schemeClr val="tx1"/>
                </a:solidFill>
                <a:latin typeface="Times New Roman" panose="02020603050405020304" pitchFamily="18" charset="0"/>
                <a:ea typeface="宋体" panose="02010600030101010101" pitchFamily="2" charset="-122"/>
              </a:rPr>
              <a:t>Q.</a:t>
            </a:r>
            <a:endParaRPr lang="en-US" altLang="zh-CN" b="1" dirty="0">
              <a:latin typeface="Times New Roman" panose="02020603050405020304" pitchFamily="18" charset="0"/>
              <a:ea typeface="宋体" panose="02010600030101010101" pitchFamily="2" charset="-122"/>
            </a:endParaRPr>
          </a:p>
          <a:p>
            <a:pPr>
              <a:lnSpc>
                <a:spcPct val="110000"/>
              </a:lnSpc>
              <a:buFont typeface="Wingdings" panose="05000000000000000000" pitchFamily="2" charset="2"/>
              <a:buChar char="Ø"/>
            </a:pPr>
            <a:r>
              <a:rPr lang="zh-CN" altLang="en-US" b="1" dirty="0">
                <a:solidFill>
                  <a:schemeClr val="tx1"/>
                </a:solidFill>
                <a:latin typeface="Times New Roman" panose="02020603050405020304" pitchFamily="18" charset="0"/>
                <a:ea typeface="宋体" panose="02010600030101010101" pitchFamily="2" charset="-122"/>
              </a:rPr>
              <a:t>实数集</a:t>
            </a:r>
            <a:r>
              <a:rPr lang="en-US" altLang="zh-CN" b="1" dirty="0">
                <a:solidFill>
                  <a:schemeClr val="tx1"/>
                </a:solidFill>
                <a:latin typeface="Times New Roman" panose="02020603050405020304" pitchFamily="18" charset="0"/>
                <a:ea typeface="宋体" panose="02010600030101010101" pitchFamily="2" charset="-122"/>
              </a:rPr>
              <a:t>R</a:t>
            </a:r>
            <a:r>
              <a:rPr lang="zh-CN" altLang="en-US" b="1" dirty="0">
                <a:solidFill>
                  <a:schemeClr val="tx1"/>
                </a:solidFill>
                <a:latin typeface="Times New Roman" panose="02020603050405020304" pitchFamily="18" charset="0"/>
                <a:ea typeface="宋体" panose="02010600030101010101" pitchFamily="2" charset="-122"/>
              </a:rPr>
              <a:t>中除</a:t>
            </a:r>
            <a:r>
              <a:rPr lang="en-US" altLang="zh-CN" b="1" dirty="0">
                <a:solidFill>
                  <a:schemeClr val="tx1"/>
                </a:solidFill>
                <a:latin typeface="Times New Roman" panose="02020603050405020304" pitchFamily="18" charset="0"/>
                <a:ea typeface="宋体" panose="02010600030101010101" pitchFamily="2" charset="-122"/>
              </a:rPr>
              <a:t>0</a:t>
            </a:r>
            <a:r>
              <a:rPr lang="zh-CN" altLang="en-US" b="1" dirty="0">
                <a:solidFill>
                  <a:schemeClr val="tx1"/>
                </a:solidFill>
                <a:latin typeface="Times New Roman" panose="02020603050405020304" pitchFamily="18" charset="0"/>
                <a:ea typeface="宋体" panose="02010600030101010101" pitchFamily="2" charset="-122"/>
              </a:rPr>
              <a:t>之外的所有元素都有乘法逆元</a:t>
            </a:r>
            <a:r>
              <a:rPr lang="en-US" altLang="zh-CN" b="1" dirty="0">
                <a:solidFill>
                  <a:schemeClr val="tx1"/>
                </a:solidFill>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这些逆元也属于</a:t>
            </a:r>
            <a:r>
              <a:rPr lang="en-US" altLang="zh-CN" b="1" dirty="0">
                <a:solidFill>
                  <a:schemeClr val="tx1"/>
                </a:solidFill>
                <a:latin typeface="Times New Roman" panose="02020603050405020304" pitchFamily="18" charset="0"/>
                <a:ea typeface="宋体" panose="02010600030101010101" pitchFamily="2" charset="-122"/>
              </a:rPr>
              <a:t>R.</a:t>
            </a:r>
            <a:endParaRPr lang="en-US" altLang="zh-CN" b="1" dirty="0">
              <a:latin typeface="Times New Roman" panose="02020603050405020304" pitchFamily="18" charset="0"/>
              <a:ea typeface="宋体" panose="02010600030101010101" pitchFamily="2" charset="-122"/>
            </a:endParaRPr>
          </a:p>
          <a:p>
            <a:endParaRPr lang="zh-CN" altLang="en-US" i="0"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20</a:t>
            </a:fld>
            <a:endParaRPr lang="zh-CN" altLang="en-US"/>
          </a:p>
        </p:txBody>
      </p:sp>
    </p:spTree>
    <p:extLst>
      <p:ext uri="{BB962C8B-B14F-4D97-AF65-F5344CB8AC3E}">
        <p14:creationId xmlns:p14="http://schemas.microsoft.com/office/powerpoint/2010/main" val="2488718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0000"/>
              </a:lnSpc>
            </a:pP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定理</a:t>
            </a:r>
            <a:r>
              <a:rPr lang="en-US" altLang="zh-CN"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9.1</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上的二元运算，</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分别为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中关于运算</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的左幺元和右幺元，则有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，且</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上关于</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运算的</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唯一的幺元</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10000"/>
              </a:lnSpc>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证</a:t>
            </a: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200" b="1" dirty="0">
              <a:latin typeface="Times New Roman" panose="02020603050405020304" pitchFamily="18" charset="0"/>
              <a:ea typeface="宋体" panose="02010600030101010101" pitchFamily="2" charset="-122"/>
              <a:cs typeface="Times New Roman" panose="02020603050405020304" pitchFamily="18" charset="0"/>
            </a:endParaRPr>
          </a:p>
          <a:p>
            <a:pPr indent="266700">
              <a:lnSpc>
                <a:spcPct val="110000"/>
              </a:lnSpc>
            </a:pPr>
            <a:r>
              <a:rPr lang="zh-CN" altLang="zh-CN" sz="1200" b="1" kern="100" dirty="0">
                <a:effectLst/>
                <a:latin typeface="Times New Roman" panose="02020603050405020304" pitchFamily="18" charset="0"/>
                <a:cs typeface="Times New Roman" panose="02020603050405020304" pitchFamily="18" charset="0"/>
              </a:rPr>
              <a:t>根据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zh-CN" altLang="zh-CN" sz="1200" b="1" kern="100" dirty="0">
                <a:effectLst/>
                <a:latin typeface="Times New Roman" panose="02020603050405020304" pitchFamily="18" charset="0"/>
                <a:cs typeface="Times New Roman" panose="02020603050405020304" pitchFamily="18" charset="0"/>
              </a:rPr>
              <a:t>是左</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幺元</a:t>
            </a:r>
            <a:r>
              <a:rPr lang="zh-CN" altLang="zh-CN" sz="1200" b="1" kern="100" dirty="0">
                <a:effectLst/>
                <a:latin typeface="Times New Roman" panose="02020603050405020304" pitchFamily="18" charset="0"/>
                <a:cs typeface="Times New Roman" panose="02020603050405020304" pitchFamily="18" charset="0"/>
              </a:rPr>
              <a:t>的性质</a:t>
            </a:r>
            <a:r>
              <a:rPr lang="en-US" altLang="zh-CN" sz="1200" b="1" kern="100" dirty="0">
                <a:effectLst/>
                <a:latin typeface="Times New Roman" panose="02020603050405020304" pitchFamily="18" charset="0"/>
                <a:cs typeface="Times New Roman" panose="02020603050405020304" pitchFamily="18" charset="0"/>
              </a:rPr>
              <a:t>,</a:t>
            </a:r>
            <a:r>
              <a:rPr lang="zh-CN" altLang="zh-CN" sz="1200" b="1" kern="100" dirty="0">
                <a:effectLst/>
                <a:latin typeface="Times New Roman" panose="02020603050405020304" pitchFamily="18" charset="0"/>
                <a:cs typeface="Times New Roman" panose="02020603050405020304" pitchFamily="18" charset="0"/>
              </a:rPr>
              <a:t>有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kern="100" dirty="0">
                <a:effectLst/>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e</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 </a:t>
            </a:r>
            <a:r>
              <a:rPr lang="en-US" altLang="zh-CN" sz="1200" b="1" kern="100" dirty="0">
                <a:effectLst/>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e</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kern="100" dirty="0">
                <a:effectLst/>
                <a:latin typeface="Times New Roman" panose="02020603050405020304" pitchFamily="18" charset="0"/>
                <a:cs typeface="Times New Roman" panose="02020603050405020304" pitchFamily="18" charset="0"/>
              </a:rPr>
              <a:t>.</a:t>
            </a:r>
            <a:endParaRPr lang="zh-CN" altLang="zh-CN" sz="1200" b="1" kern="100" dirty="0">
              <a:effectLst/>
              <a:latin typeface="Times New Roman" panose="02020603050405020304" pitchFamily="18" charset="0"/>
              <a:cs typeface="Times New Roman" panose="02020603050405020304" pitchFamily="18" charset="0"/>
            </a:endParaRPr>
          </a:p>
          <a:p>
            <a:pPr indent="266700">
              <a:lnSpc>
                <a:spcPct val="110000"/>
              </a:lnSpc>
            </a:pPr>
            <a:r>
              <a:rPr lang="zh-CN" altLang="zh-CN" sz="1200" b="1" kern="100" dirty="0">
                <a:effectLst/>
                <a:latin typeface="Times New Roman" panose="02020603050405020304" pitchFamily="18" charset="0"/>
                <a:cs typeface="Times New Roman" panose="02020603050405020304" pitchFamily="18" charset="0"/>
              </a:rPr>
              <a:t>根据 </a:t>
            </a:r>
            <a:r>
              <a:rPr lang="en-US" altLang="zh-CN" sz="1200" b="1" i="1" kern="100" dirty="0">
                <a:effectLst/>
                <a:latin typeface="Times New Roman" panose="02020603050405020304" pitchFamily="18" charset="0"/>
                <a:cs typeface="Times New Roman" panose="02020603050405020304" pitchFamily="18" charset="0"/>
              </a:rPr>
              <a:t>er</a:t>
            </a:r>
            <a:r>
              <a:rPr lang="en-US" altLang="zh-CN" sz="1200" b="1" kern="100" dirty="0">
                <a:effectLst/>
                <a:latin typeface="Times New Roman" panose="02020603050405020304" pitchFamily="18" charset="0"/>
                <a:cs typeface="Times New Roman" panose="02020603050405020304" pitchFamily="18" charset="0"/>
              </a:rPr>
              <a:t> </a:t>
            </a:r>
            <a:r>
              <a:rPr lang="zh-CN" altLang="zh-CN" sz="1200" b="1" kern="100" dirty="0">
                <a:effectLst/>
                <a:latin typeface="Times New Roman" panose="02020603050405020304" pitchFamily="18" charset="0"/>
                <a:cs typeface="Times New Roman" panose="02020603050405020304" pitchFamily="18" charset="0"/>
              </a:rPr>
              <a:t>是右</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幺</a:t>
            </a:r>
            <a:r>
              <a:rPr lang="zh-CN" altLang="zh-CN" sz="1200" b="1" kern="100" dirty="0">
                <a:effectLst/>
                <a:latin typeface="Times New Roman" panose="02020603050405020304" pitchFamily="18" charset="0"/>
                <a:cs typeface="Times New Roman" panose="02020603050405020304" pitchFamily="18" charset="0"/>
              </a:rPr>
              <a:t>元的性质</a:t>
            </a:r>
            <a:r>
              <a:rPr lang="en-US" altLang="zh-CN" sz="1200" b="1" kern="100" dirty="0">
                <a:effectLst/>
                <a:latin typeface="Times New Roman" panose="02020603050405020304" pitchFamily="18" charset="0"/>
                <a:cs typeface="Times New Roman" panose="02020603050405020304" pitchFamily="18" charset="0"/>
              </a:rPr>
              <a:t>,</a:t>
            </a:r>
            <a:r>
              <a:rPr lang="zh-CN" altLang="zh-CN" sz="1200" b="1" kern="100" dirty="0">
                <a:effectLst/>
                <a:latin typeface="Times New Roman" panose="02020603050405020304" pitchFamily="18" charset="0"/>
                <a:cs typeface="Times New Roman" panose="02020603050405020304" pitchFamily="18" charset="0"/>
              </a:rPr>
              <a:t>有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kern="100" dirty="0">
                <a:effectLst/>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e</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 </a:t>
            </a:r>
            <a:r>
              <a:rPr lang="en-US" altLang="zh-CN" sz="1200" b="1" kern="100" dirty="0">
                <a:effectLst/>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e</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kern="100" dirty="0">
                <a:effectLst/>
                <a:latin typeface="Times New Roman" panose="02020603050405020304" pitchFamily="18" charset="0"/>
                <a:cs typeface="Times New Roman" panose="02020603050405020304" pitchFamily="18" charset="0"/>
              </a:rPr>
              <a:t>.</a:t>
            </a:r>
            <a:endParaRPr lang="zh-CN" altLang="zh-CN" sz="1200" b="1" kern="100" dirty="0">
              <a:effectLst/>
              <a:latin typeface="Times New Roman" panose="02020603050405020304" pitchFamily="18" charset="0"/>
              <a:cs typeface="Times New Roman" panose="02020603050405020304" pitchFamily="18" charset="0"/>
            </a:endParaRPr>
          </a:p>
          <a:p>
            <a:pPr indent="266700">
              <a:lnSpc>
                <a:spcPct val="110000"/>
              </a:lnSpc>
            </a:pPr>
            <a:r>
              <a:rPr lang="zh-CN" altLang="zh-CN" sz="1200" b="1" kern="100" dirty="0">
                <a:effectLst/>
                <a:latin typeface="Times New Roman" panose="02020603050405020304" pitchFamily="18" charset="0"/>
                <a:cs typeface="Times New Roman" panose="02020603050405020304" pitchFamily="18" charset="0"/>
              </a:rPr>
              <a:t>两个等式结合得到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kern="100" dirty="0">
                <a:effectLst/>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kern="100" dirty="0">
                <a:effectLst/>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e</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 </a:t>
            </a:r>
            <a:r>
              <a:rPr lang="en-US" altLang="zh-CN" sz="1200" b="1" kern="100" dirty="0">
                <a:effectLst/>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e</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kern="100" dirty="0">
                <a:effectLst/>
                <a:latin typeface="Times New Roman" panose="02020603050405020304" pitchFamily="18" charset="0"/>
                <a:cs typeface="Times New Roman" panose="02020603050405020304" pitchFamily="18" charset="0"/>
              </a:rPr>
              <a:t>.</a:t>
            </a:r>
            <a:endParaRPr lang="zh-CN" altLang="zh-CN" sz="1200" b="1" kern="100" dirty="0">
              <a:effectLst/>
              <a:latin typeface="Times New Roman" panose="02020603050405020304" pitchFamily="18" charset="0"/>
              <a:cs typeface="Times New Roman" panose="02020603050405020304" pitchFamily="18" charset="0"/>
            </a:endParaRPr>
          </a:p>
          <a:p>
            <a:pPr>
              <a:lnSpc>
                <a:spcPct val="110000"/>
              </a:lnSpc>
            </a:pP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将</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记作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假设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也是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中的幺元，则有</a:t>
            </a:r>
          </a:p>
          <a:p>
            <a:pPr>
              <a:lnSpc>
                <a:spcPct val="11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幺元</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的唯一性得证</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10000"/>
              </a:lnSpc>
            </a:pP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40000"/>
              </a:spcBef>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类似地可以证明关于零元的惟一性定理</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21</a:t>
            </a:fld>
            <a:endParaRPr lang="zh-CN" altLang="en-US"/>
          </a:p>
        </p:txBody>
      </p:sp>
    </p:spTree>
    <p:extLst>
      <p:ext uri="{BB962C8B-B14F-4D97-AF65-F5344CB8AC3E}">
        <p14:creationId xmlns:p14="http://schemas.microsoft.com/office/powerpoint/2010/main" val="25705775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rgbClr val="FF0000"/>
                </a:solidFill>
                <a:latin typeface="Times New Roman" panose="02020603050405020304" pitchFamily="18" charset="0"/>
                <a:ea typeface="宋体" panose="02010600030101010101" pitchFamily="2" charset="-122"/>
              </a:rPr>
              <a:t>定理</a:t>
            </a:r>
            <a:r>
              <a:rPr lang="en-US" altLang="zh-CN" sz="1200" b="1" dirty="0">
                <a:solidFill>
                  <a:srgbClr val="FF0000"/>
                </a:solidFill>
                <a:latin typeface="Times New Roman" panose="02020603050405020304" pitchFamily="18" charset="0"/>
                <a:ea typeface="宋体" panose="02010600030101010101" pitchFamily="2" charset="-122"/>
              </a:rPr>
              <a:t>9.2</a:t>
            </a:r>
            <a:r>
              <a:rPr lang="en-US" altLang="zh-CN" sz="1200" b="1" dirty="0">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上可结合的二元运算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为该运算的幺元。对于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如果存在左逆元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和右逆元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则有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且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的惟一的逆元</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证：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由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2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得</a:t>
            </a:r>
            <a:endParaRPr lang="zh-CN" altLang="en-US"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solidFill>
                  <a:schemeClr val="tx1"/>
                </a:solidFill>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2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endPar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令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的逆元</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假若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也是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的逆元</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a:t>
            </a:r>
            <a:endParaRPr lang="zh-CN" altLang="en-US"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2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zh-CN" altLang="en-US" sz="12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所以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惟一的逆元</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40000"/>
              </a:spcBef>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说明：</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对于可结合的二元运算，可逆元素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只有惟一的逆元，记作</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baseline="30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22</a:t>
            </a:fld>
            <a:endParaRPr lang="zh-CN" altLang="en-US"/>
          </a:p>
        </p:txBody>
      </p:sp>
    </p:spTree>
    <p:extLst>
      <p:ext uri="{BB962C8B-B14F-4D97-AF65-F5344CB8AC3E}">
        <p14:creationId xmlns:p14="http://schemas.microsoft.com/office/powerpoint/2010/main" val="3004893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buFont typeface="Wingdings" panose="05000000000000000000" pitchFamily="2" charset="2"/>
              <a:buNone/>
            </a:pPr>
            <a:r>
              <a:rPr lang="zh-CN" altLang="fr-FR" sz="1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定义</a:t>
            </a:r>
            <a:r>
              <a:rPr lang="fr-FR" altLang="zh-CN" sz="1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9.6 </a:t>
            </a:r>
            <a:r>
              <a:rPr lang="zh-CN" altLang="en-US" sz="1200" b="1" dirty="0">
                <a:latin typeface="Times New Roman" panose="02020603050405020304" pitchFamily="18" charset="0"/>
              </a:rPr>
              <a:t>设</a:t>
            </a:r>
            <a:r>
              <a:rPr lang="zh-CN" altLang="en-US" sz="1200" b="1" dirty="0"/>
              <a:t>∘</a:t>
            </a:r>
            <a:r>
              <a:rPr lang="zh-CN" altLang="en-US" sz="1200" b="1" dirty="0">
                <a:latin typeface="Times New Roman" panose="02020603050405020304" pitchFamily="18" charset="0"/>
              </a:rPr>
              <a:t>为</a:t>
            </a:r>
            <a:r>
              <a:rPr lang="en-US" altLang="zh-CN" sz="1200" b="1" i="1" dirty="0">
                <a:latin typeface="Times New Roman" panose="02020603050405020304" pitchFamily="18" charset="0"/>
              </a:rPr>
              <a:t>V</a:t>
            </a:r>
            <a:r>
              <a:rPr lang="zh-CN" altLang="en-US" sz="1200" b="1" dirty="0">
                <a:latin typeface="Times New Roman" panose="02020603050405020304" pitchFamily="18" charset="0"/>
              </a:rPr>
              <a:t>上二元运算，如果</a:t>
            </a:r>
            <a:r>
              <a:rPr lang="zh-CN" altLang="en-US" sz="1200" b="1" dirty="0">
                <a:latin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rPr>
              <a:t> </a:t>
            </a:r>
            <a:r>
              <a:rPr lang="en-US" altLang="zh-CN" sz="1200" b="1" i="1" dirty="0">
                <a:latin typeface="Times New Roman" panose="02020603050405020304" pitchFamily="18" charset="0"/>
              </a:rPr>
              <a:t>x, y, z</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sym typeface="Symbol" panose="05050102010706020507" pitchFamily="18" charset="2"/>
              </a:rPr>
              <a:t>V</a:t>
            </a:r>
            <a:r>
              <a:rPr lang="zh-CN" altLang="en-US" sz="1200" b="1" dirty="0">
                <a:latin typeface="Times New Roman" panose="02020603050405020304" pitchFamily="18" charset="0"/>
                <a:sym typeface="Symbol" panose="05050102010706020507" pitchFamily="18" charset="2"/>
              </a:rPr>
              <a:t>，</a:t>
            </a:r>
          </a:p>
          <a:p>
            <a:pPr eaLnBrk="1" hangingPunct="1">
              <a:lnSpc>
                <a:spcPct val="110000"/>
              </a:lnSpc>
              <a:buFont typeface="Wingdings" panose="05000000000000000000" pitchFamily="2" charset="2"/>
              <a:buNone/>
            </a:pPr>
            <a:r>
              <a:rPr lang="zh-CN" altLang="en-US" sz="1200" b="1" dirty="0">
                <a:latin typeface="Times New Roman" panose="02020603050405020304" pitchFamily="18" charset="0"/>
                <a:sym typeface="Symbol" panose="05050102010706020507" pitchFamily="18" charset="2"/>
              </a:rPr>
              <a:t>     若 </a:t>
            </a:r>
            <a:r>
              <a:rPr lang="en-US" altLang="zh-CN" sz="1200" b="1" i="1" dirty="0">
                <a:latin typeface="Times New Roman" panose="02020603050405020304" pitchFamily="18" charset="0"/>
                <a:sym typeface="Symbol" panose="05050102010706020507" pitchFamily="18" charset="2"/>
              </a:rPr>
              <a:t>x </a:t>
            </a:r>
            <a:r>
              <a:rPr lang="en-US" altLang="zh-CN" sz="1200" b="1" dirty="0"/>
              <a:t>∘</a:t>
            </a:r>
            <a:r>
              <a:rPr lang="en-US" altLang="zh-CN" sz="1200" dirty="0">
                <a:sym typeface="Symbol" panose="05050102010706020507" pitchFamily="18" charset="2"/>
              </a:rPr>
              <a:t> </a:t>
            </a:r>
            <a:r>
              <a:rPr lang="en-US" altLang="zh-CN" sz="1200" b="1" i="1" dirty="0">
                <a:latin typeface="Times New Roman" panose="02020603050405020304" pitchFamily="18" charset="0"/>
                <a:sym typeface="Symbol" panose="05050102010706020507" pitchFamily="18" charset="2"/>
              </a:rPr>
              <a:t>y </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sym typeface="Symbol" panose="05050102010706020507" pitchFamily="18" charset="2"/>
              </a:rPr>
              <a:t>x </a:t>
            </a:r>
            <a:r>
              <a:rPr lang="en-US" altLang="zh-CN" sz="1200" b="1" dirty="0"/>
              <a:t>∘</a:t>
            </a:r>
            <a:r>
              <a:rPr lang="en-US" altLang="zh-CN" sz="1200" dirty="0">
                <a:sym typeface="Symbol" panose="05050102010706020507" pitchFamily="18" charset="2"/>
              </a:rPr>
              <a:t> </a:t>
            </a:r>
            <a:r>
              <a:rPr lang="en-US" altLang="zh-CN" sz="1200" b="1" i="1" dirty="0">
                <a:latin typeface="Times New Roman" panose="02020603050405020304" pitchFamily="18" charset="0"/>
                <a:sym typeface="Symbol" panose="05050102010706020507" pitchFamily="18" charset="2"/>
              </a:rPr>
              <a:t>z</a:t>
            </a:r>
            <a:r>
              <a:rPr lang="zh-CN" altLang="en-US" sz="1200" b="1" dirty="0">
                <a:latin typeface="Times New Roman" panose="02020603050405020304" pitchFamily="18" charset="0"/>
                <a:sym typeface="Symbol" panose="05050102010706020507" pitchFamily="18" charset="2"/>
              </a:rPr>
              <a:t>，且 </a:t>
            </a:r>
            <a:r>
              <a:rPr lang="en-US" altLang="zh-CN" sz="1200" b="1" i="1" dirty="0">
                <a:latin typeface="Times New Roman" panose="02020603050405020304" pitchFamily="18" charset="0"/>
                <a:sym typeface="Symbol" panose="05050102010706020507" pitchFamily="18" charset="2"/>
              </a:rPr>
              <a:t>x</a:t>
            </a:r>
            <a:r>
              <a:rPr lang="zh-CN" altLang="en-US" sz="1200" b="1" dirty="0">
                <a:latin typeface="Times New Roman" panose="02020603050405020304" pitchFamily="18" charset="0"/>
                <a:sym typeface="Symbol" panose="05050102010706020507" pitchFamily="18" charset="2"/>
              </a:rPr>
              <a:t>不是零元，则 </a:t>
            </a:r>
            <a:r>
              <a:rPr lang="en-US" altLang="zh-CN" sz="1200" b="1" i="1" dirty="0">
                <a:latin typeface="Times New Roman" panose="02020603050405020304" pitchFamily="18" charset="0"/>
                <a:sym typeface="Symbol" panose="05050102010706020507" pitchFamily="18" charset="2"/>
              </a:rPr>
              <a:t>y </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sym typeface="Symbol" panose="05050102010706020507" pitchFamily="18" charset="2"/>
              </a:rPr>
              <a:t>z</a:t>
            </a:r>
          </a:p>
          <a:p>
            <a:pPr eaLnBrk="1" hangingPunct="1">
              <a:lnSpc>
                <a:spcPct val="110000"/>
              </a:lnSpc>
              <a:buFont typeface="Wingdings" panose="05000000000000000000" pitchFamily="2" charset="2"/>
              <a:buNone/>
            </a:pPr>
            <a:r>
              <a:rPr lang="en-US" altLang="zh-CN" sz="1200" b="1" dirty="0">
                <a:latin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sym typeface="Symbol" panose="05050102010706020507" pitchFamily="18" charset="2"/>
              </a:rPr>
              <a:t>若 </a:t>
            </a:r>
            <a:r>
              <a:rPr lang="en-US" altLang="zh-CN" sz="1200" b="1" i="1" dirty="0">
                <a:latin typeface="Times New Roman" panose="02020603050405020304" pitchFamily="18" charset="0"/>
                <a:sym typeface="Symbol" panose="05050102010706020507" pitchFamily="18" charset="2"/>
              </a:rPr>
              <a:t>y </a:t>
            </a:r>
            <a:r>
              <a:rPr lang="en-US" altLang="zh-CN" sz="1200" b="1" dirty="0"/>
              <a:t>∘</a:t>
            </a:r>
            <a:r>
              <a:rPr lang="en-US" altLang="zh-CN" sz="1200" dirty="0">
                <a:sym typeface="Symbol" panose="05050102010706020507" pitchFamily="18" charset="2"/>
              </a:rPr>
              <a:t> </a:t>
            </a:r>
            <a:r>
              <a:rPr lang="en-US" altLang="zh-CN" sz="1200" b="1" i="1" dirty="0">
                <a:latin typeface="Times New Roman" panose="02020603050405020304" pitchFamily="18" charset="0"/>
                <a:sym typeface="Symbol" panose="05050102010706020507" pitchFamily="18" charset="2"/>
              </a:rPr>
              <a:t>x</a:t>
            </a:r>
            <a:r>
              <a:rPr lang="en-US" altLang="zh-CN" sz="1200" b="1" dirty="0">
                <a:latin typeface="Times New Roman" panose="02020603050405020304" pitchFamily="18" charset="0"/>
                <a:sym typeface="Symbol" panose="05050102010706020507" pitchFamily="18" charset="2"/>
              </a:rPr>
              <a:t> = </a:t>
            </a:r>
            <a:r>
              <a:rPr lang="en-US" altLang="zh-CN" sz="1200" b="1" i="1" dirty="0">
                <a:latin typeface="Times New Roman" panose="02020603050405020304" pitchFamily="18" charset="0"/>
                <a:sym typeface="Symbol" panose="05050102010706020507" pitchFamily="18" charset="2"/>
              </a:rPr>
              <a:t>z </a:t>
            </a:r>
            <a:r>
              <a:rPr lang="en-US" altLang="zh-CN" sz="1200" b="1" dirty="0"/>
              <a:t>∘</a:t>
            </a:r>
            <a:r>
              <a:rPr lang="en-US" altLang="zh-CN" sz="1200" dirty="0">
                <a:sym typeface="Symbol" panose="05050102010706020507" pitchFamily="18" charset="2"/>
              </a:rPr>
              <a:t> </a:t>
            </a:r>
            <a:r>
              <a:rPr lang="en-US" altLang="zh-CN" sz="1200" b="1" i="1" dirty="0">
                <a:latin typeface="Times New Roman" panose="02020603050405020304" pitchFamily="18" charset="0"/>
                <a:sym typeface="Symbol" panose="05050102010706020507" pitchFamily="18" charset="2"/>
              </a:rPr>
              <a:t>x</a:t>
            </a:r>
            <a:r>
              <a:rPr lang="en-US" altLang="zh-CN" sz="1200" b="1" dirty="0">
                <a:latin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sym typeface="Symbol" panose="05050102010706020507" pitchFamily="18" charset="2"/>
              </a:rPr>
              <a:t>且 </a:t>
            </a:r>
            <a:r>
              <a:rPr lang="en-US" altLang="zh-CN" sz="1200" b="1" i="1" dirty="0">
                <a:latin typeface="Times New Roman" panose="02020603050405020304" pitchFamily="18" charset="0"/>
                <a:sym typeface="Symbol" panose="05050102010706020507" pitchFamily="18" charset="2"/>
              </a:rPr>
              <a:t>x </a:t>
            </a:r>
            <a:r>
              <a:rPr lang="zh-CN" altLang="en-US" sz="1200" b="1" dirty="0">
                <a:latin typeface="Times New Roman" panose="02020603050405020304" pitchFamily="18" charset="0"/>
                <a:sym typeface="Symbol" panose="05050102010706020507" pitchFamily="18" charset="2"/>
              </a:rPr>
              <a:t>不是零元，则 </a:t>
            </a:r>
            <a:r>
              <a:rPr lang="en-US" altLang="zh-CN" sz="1200" b="1" i="1" dirty="0">
                <a:latin typeface="Times New Roman" panose="02020603050405020304" pitchFamily="18" charset="0"/>
                <a:sym typeface="Symbol" panose="05050102010706020507" pitchFamily="18" charset="2"/>
              </a:rPr>
              <a:t>y</a:t>
            </a:r>
            <a:r>
              <a:rPr lang="en-US" altLang="zh-CN" sz="1200" b="1" dirty="0">
                <a:latin typeface="Times New Roman" panose="02020603050405020304" pitchFamily="18" charset="0"/>
                <a:sym typeface="Symbol" panose="05050102010706020507" pitchFamily="18" charset="2"/>
              </a:rPr>
              <a:t> = </a:t>
            </a:r>
            <a:r>
              <a:rPr lang="en-US" altLang="zh-CN" sz="1200" b="1" i="1" dirty="0">
                <a:latin typeface="Times New Roman" panose="02020603050405020304" pitchFamily="18" charset="0"/>
                <a:sym typeface="Symbol" panose="05050102010706020507" pitchFamily="18" charset="2"/>
              </a:rPr>
              <a:t>z</a:t>
            </a:r>
            <a:r>
              <a:rPr lang="en-US" altLang="zh-CN" sz="1200" b="1" dirty="0">
                <a:latin typeface="Times New Roman" panose="02020603050405020304" pitchFamily="18" charset="0"/>
                <a:sym typeface="Symbol" panose="05050102010706020507" pitchFamily="18" charset="2"/>
              </a:rPr>
              <a:t> </a:t>
            </a:r>
          </a:p>
          <a:p>
            <a:pPr eaLnBrk="1" hangingPunct="1">
              <a:lnSpc>
                <a:spcPct val="110000"/>
              </a:lnSpc>
              <a:buFont typeface="Wingdings" panose="05000000000000000000" pitchFamily="2" charset="2"/>
              <a:buNone/>
            </a:pPr>
            <a:r>
              <a:rPr lang="zh-CN" altLang="en-US" sz="1200" b="1" dirty="0">
                <a:latin typeface="Times New Roman" panose="02020603050405020304" pitchFamily="18" charset="0"/>
                <a:sym typeface="Symbol" panose="05050102010706020507" pitchFamily="18" charset="2"/>
              </a:rPr>
              <a:t>那么称 </a:t>
            </a:r>
            <a:r>
              <a:rPr lang="zh-CN" altLang="en-US" sz="1200" b="1" dirty="0"/>
              <a:t>∘</a:t>
            </a:r>
            <a:r>
              <a:rPr lang="zh-CN" altLang="en-US" sz="1200" dirty="0">
                <a:sym typeface="Symbol" panose="05050102010706020507" pitchFamily="18" charset="2"/>
              </a:rPr>
              <a:t> </a:t>
            </a:r>
            <a:r>
              <a:rPr lang="zh-CN" altLang="en-US" sz="1200" b="1" dirty="0">
                <a:latin typeface="Times New Roman" panose="02020603050405020304" pitchFamily="18" charset="0"/>
                <a:sym typeface="Symbol" panose="05050102010706020507" pitchFamily="18" charset="2"/>
              </a:rPr>
              <a:t>运算满足 </a:t>
            </a:r>
            <a:r>
              <a:rPr lang="zh-CN" altLang="en-US" sz="1200" b="1" dirty="0">
                <a:solidFill>
                  <a:srgbClr val="FF3300"/>
                </a:solidFill>
                <a:latin typeface="Times New Roman" panose="02020603050405020304" pitchFamily="18" charset="0"/>
                <a:sym typeface="Symbol" panose="05050102010706020507" pitchFamily="18" charset="2"/>
              </a:rPr>
              <a:t>消去律</a:t>
            </a:r>
            <a:r>
              <a:rPr lang="en-US" altLang="zh-CN" sz="1200" b="1" dirty="0">
                <a:latin typeface="Times New Roman" panose="02020603050405020304" pitchFamily="18" charset="0"/>
                <a:sym typeface="Symbol" panose="05050102010706020507" pitchFamily="18" charset="2"/>
              </a:rPr>
              <a:t>.  </a:t>
            </a:r>
            <a:endParaRPr lang="zh-CN" altLang="fr-FR" sz="1400" b="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a:p>
            <a:endParaRPr lang="en-US" altLang="zh-CN" dirty="0"/>
          </a:p>
          <a:p>
            <a:pPr eaLnBrk="1" hangingPunct="1">
              <a:buFont typeface="Wingdings" panose="05000000000000000000" pitchFamily="2" charset="2"/>
              <a:buNone/>
            </a:pPr>
            <a:r>
              <a:rPr lang="zh-CN" altLang="en-US" sz="1200" b="1" dirty="0">
                <a:solidFill>
                  <a:srgbClr val="00B0F0"/>
                </a:solidFill>
                <a:latin typeface="Times New Roman" panose="02020603050405020304" pitchFamily="18" charset="0"/>
                <a:sym typeface="Symbol" panose="05050102010706020507" pitchFamily="18" charset="2"/>
              </a:rPr>
              <a:t>例</a:t>
            </a:r>
            <a:r>
              <a:rPr lang="en-US" altLang="zh-CN" sz="1200" b="1" dirty="0">
                <a:solidFill>
                  <a:srgbClr val="00B0F0"/>
                </a:solidFill>
                <a:latin typeface="Times New Roman" panose="02020603050405020304" pitchFamily="18" charset="0"/>
                <a:sym typeface="Symbol" panose="05050102010706020507" pitchFamily="18" charset="2"/>
              </a:rPr>
              <a:t>:</a:t>
            </a:r>
          </a:p>
          <a:p>
            <a:pPr eaLnBrk="1" hangingPunct="1">
              <a:lnSpc>
                <a:spcPct val="110000"/>
              </a:lnSpc>
              <a:buFont typeface="Wingdings" panose="05000000000000000000" pitchFamily="2" charset="2"/>
              <a:buNone/>
            </a:pPr>
            <a:r>
              <a:rPr lang="en-US" altLang="zh-CN" sz="1200" b="1" dirty="0">
                <a:latin typeface="Times New Roman" panose="02020603050405020304" pitchFamily="18" charset="0"/>
                <a:sym typeface="Symbol" panose="05050102010706020507" pitchFamily="18" charset="2"/>
              </a:rPr>
              <a:t>(1) Z, Q, R </a:t>
            </a:r>
            <a:r>
              <a:rPr lang="zh-CN" altLang="en-US" sz="1200" b="1" dirty="0">
                <a:latin typeface="Times New Roman" panose="02020603050405020304" pitchFamily="18" charset="0"/>
                <a:sym typeface="Symbol" panose="05050102010706020507" pitchFamily="18" charset="2"/>
              </a:rPr>
              <a:t>关于普通加法和乘法满足消去律</a:t>
            </a:r>
            <a:r>
              <a:rPr lang="en-US" altLang="zh-CN" sz="1200" b="1" dirty="0">
                <a:latin typeface="Times New Roman" panose="02020603050405020304" pitchFamily="18" charset="0"/>
                <a:sym typeface="Symbol" panose="05050102010706020507" pitchFamily="18" charset="2"/>
              </a:rPr>
              <a:t>.</a:t>
            </a:r>
          </a:p>
          <a:p>
            <a:pPr eaLnBrk="1" hangingPunct="1">
              <a:lnSpc>
                <a:spcPct val="110000"/>
              </a:lnSpc>
              <a:buFont typeface="Wingdings" panose="05000000000000000000" pitchFamily="2" charset="2"/>
              <a:buNone/>
            </a:pPr>
            <a:r>
              <a:rPr lang="en-US" altLang="zh-CN" sz="1200" b="1" dirty="0">
                <a:latin typeface="Times New Roman" panose="02020603050405020304" pitchFamily="18" charset="0"/>
                <a:sym typeface="Symbol" panose="05050102010706020507" pitchFamily="18" charset="2"/>
              </a:rPr>
              <a:t>(2) </a:t>
            </a:r>
            <a:r>
              <a:rPr lang="en-US" altLang="zh-CN" sz="1200" b="1" i="1" dirty="0">
                <a:latin typeface="Times New Roman" panose="02020603050405020304" pitchFamily="18" charset="0"/>
                <a:sym typeface="Symbol" panose="05050102010706020507" pitchFamily="18" charset="2"/>
              </a:rPr>
              <a:t>M</a:t>
            </a:r>
            <a:r>
              <a:rPr lang="en-US" altLang="zh-CN" sz="1200" b="1" i="1" baseline="-25000" dirty="0">
                <a:latin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sym typeface="Symbol" panose="05050102010706020507" pitchFamily="18" charset="2"/>
              </a:rPr>
              <a:t>(R) </a:t>
            </a:r>
            <a:r>
              <a:rPr lang="zh-CN" altLang="en-US" sz="1200" b="1" dirty="0">
                <a:latin typeface="Times New Roman" panose="02020603050405020304" pitchFamily="18" charset="0"/>
                <a:sym typeface="Symbol" panose="05050102010706020507" pitchFamily="18" charset="2"/>
              </a:rPr>
              <a:t>关于矩阵加法满足消去律</a:t>
            </a:r>
            <a:r>
              <a:rPr lang="en-US" altLang="zh-CN" sz="1200" b="1" dirty="0">
                <a:latin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sym typeface="Symbol" panose="05050102010706020507" pitchFamily="18" charset="2"/>
              </a:rPr>
              <a:t>但矩阵乘法不满足消去律</a:t>
            </a:r>
            <a:r>
              <a:rPr lang="en-US" altLang="zh-CN" sz="1200" b="1" dirty="0">
                <a:latin typeface="Times New Roman" panose="02020603050405020304" pitchFamily="18" charset="0"/>
                <a:sym typeface="Symbol" panose="05050102010706020507" pitchFamily="18" charset="2"/>
              </a:rPr>
              <a:t>. </a:t>
            </a:r>
          </a:p>
          <a:p>
            <a:pPr eaLnBrk="1" hangingPunct="1">
              <a:lnSpc>
                <a:spcPct val="110000"/>
              </a:lnSpc>
              <a:buFont typeface="Wingdings" panose="05000000000000000000" pitchFamily="2" charset="2"/>
              <a:buNone/>
            </a:pPr>
            <a:r>
              <a:rPr lang="en-US" altLang="zh-CN" sz="1200" b="1" dirty="0">
                <a:latin typeface="Times New Roman" panose="02020603050405020304" pitchFamily="18" charset="0"/>
                <a:sym typeface="Symbol" panose="05050102010706020507" pitchFamily="18" charset="2"/>
              </a:rPr>
              <a:t>(3) Z</a:t>
            </a:r>
            <a:r>
              <a:rPr lang="en-US" altLang="zh-CN" sz="1200" b="1" i="1" baseline="-25000" dirty="0">
                <a:latin typeface="Times New Roman" panose="02020603050405020304" pitchFamily="18" charset="0"/>
                <a:sym typeface="Symbol" panose="05050102010706020507" pitchFamily="18" charset="2"/>
              </a:rPr>
              <a:t>n</a:t>
            </a:r>
            <a:r>
              <a:rPr lang="zh-CN" altLang="en-US" sz="1200" b="1" dirty="0">
                <a:latin typeface="Times New Roman" panose="02020603050405020304" pitchFamily="18" charset="0"/>
                <a:sym typeface="Symbol" panose="05050102010706020507" pitchFamily="18" charset="2"/>
              </a:rPr>
              <a:t>关于模 </a:t>
            </a:r>
            <a:r>
              <a:rPr lang="en-US" altLang="zh-CN" sz="1200" b="1" i="1" dirty="0">
                <a:latin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sym typeface="Symbol" panose="05050102010706020507" pitchFamily="18" charset="2"/>
              </a:rPr>
              <a:t>加法满足消去律</a:t>
            </a:r>
            <a:r>
              <a:rPr lang="en-US" altLang="zh-CN" sz="1200" b="1" dirty="0">
                <a:latin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sym typeface="Symbol" panose="05050102010706020507" pitchFamily="18" charset="2"/>
              </a:rPr>
              <a:t>当 </a:t>
            </a:r>
            <a:r>
              <a:rPr lang="en-US" altLang="zh-CN" sz="1200" b="1" i="1" dirty="0">
                <a:latin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sym typeface="Symbol" panose="05050102010706020507" pitchFamily="18" charset="2"/>
              </a:rPr>
              <a:t>为素数时关于模 </a:t>
            </a:r>
            <a:r>
              <a:rPr lang="en-US" altLang="zh-CN" sz="1200" b="1" i="1" dirty="0">
                <a:latin typeface="Times New Roman" panose="02020603050405020304" pitchFamily="18" charset="0"/>
                <a:sym typeface="Symbol" panose="05050102010706020507" pitchFamily="18" charset="2"/>
              </a:rPr>
              <a:t>n</a:t>
            </a:r>
            <a:r>
              <a:rPr lang="zh-CN" altLang="en-US" sz="1200" b="1" dirty="0">
                <a:latin typeface="Times New Roman" panose="02020603050405020304" pitchFamily="18" charset="0"/>
                <a:sym typeface="Symbol" panose="05050102010706020507" pitchFamily="18" charset="2"/>
              </a:rPr>
              <a:t>乘法满足消去律</a:t>
            </a:r>
            <a:r>
              <a:rPr lang="en-US" altLang="zh-CN" sz="1200" b="1" dirty="0">
                <a:latin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sym typeface="Symbol" panose="05050102010706020507" pitchFamily="18" charset="2"/>
              </a:rPr>
              <a:t>当 </a:t>
            </a:r>
            <a:r>
              <a:rPr lang="en-US" altLang="zh-CN" sz="1200" b="1" i="1" dirty="0">
                <a:latin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sym typeface="Symbol" panose="05050102010706020507" pitchFamily="18" charset="2"/>
              </a:rPr>
              <a:t>为合数时关于模 </a:t>
            </a:r>
            <a:r>
              <a:rPr lang="en-US" altLang="zh-CN" sz="1200" b="1" i="1" dirty="0">
                <a:latin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sym typeface="Symbol" panose="05050102010706020507" pitchFamily="18" charset="2"/>
              </a:rPr>
              <a:t>乘法不满足消去律</a:t>
            </a:r>
            <a:r>
              <a:rPr lang="en-US" altLang="zh-CN" sz="1200" b="1" dirty="0">
                <a:latin typeface="Times New Roman" panose="02020603050405020304" pitchFamily="18" charset="0"/>
                <a:sym typeface="Symbol" panose="05050102010706020507" pitchFamily="18" charset="2"/>
              </a:rPr>
              <a:t>. </a:t>
            </a:r>
          </a:p>
          <a:p>
            <a:pPr eaLnBrk="1" hangingPunct="1">
              <a:lnSpc>
                <a:spcPct val="110000"/>
              </a:lnSpc>
              <a:buFont typeface="Wingdings" panose="05000000000000000000" pitchFamily="2" charset="2"/>
              <a:buNone/>
            </a:pPr>
            <a:r>
              <a:rPr lang="en-US" altLang="zh-CN" sz="1200" b="1" dirty="0">
                <a:latin typeface="Times New Roman" panose="02020603050405020304" pitchFamily="18" charset="0"/>
                <a:sym typeface="Symbol" panose="05050102010706020507" pitchFamily="18" charset="2"/>
              </a:rPr>
              <a:t>(4)</a:t>
            </a:r>
            <a:r>
              <a:rPr lang="zh-CN" altLang="fr-FR" sz="1200" b="1" dirty="0">
                <a:latin typeface="Times New Roman" panose="02020603050405020304" pitchFamily="18" charset="0"/>
                <a:ea typeface="宋体" panose="02010600030101010101" pitchFamily="2" charset="-122"/>
                <a:sym typeface="Symbol" panose="05050102010706020507" pitchFamily="18" charset="2"/>
              </a:rPr>
              <a:t>集合的并和交运算也不满足消去律，例</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如</a:t>
            </a:r>
            <a:r>
              <a:rPr lang="fr-FR" altLang="zh-CN" sz="1200" b="1" dirty="0">
                <a:latin typeface="Times New Roman" panose="02020603050405020304" pitchFamily="18" charset="0"/>
                <a:ea typeface="宋体" panose="02010600030101010101" pitchFamily="2" charset="-122"/>
                <a:sym typeface="Symbol" panose="05050102010706020507" pitchFamily="18" charset="2"/>
              </a:rPr>
              <a:t>{1}</a:t>
            </a:r>
            <a:r>
              <a:rPr lang="fr-FR" altLang="zh-CN" sz="1200" b="1" dirty="0">
                <a:latin typeface="Times New Roman" panose="02020603050405020304" pitchFamily="18" charset="0"/>
                <a:ea typeface="宋体" panose="02010600030101010101" pitchFamily="2" charset="-122"/>
              </a:rPr>
              <a:t>{1,2}={2}</a:t>
            </a:r>
            <a:r>
              <a:rPr lang="fr-FR" altLang="zh-CN" sz="1200" b="1" dirty="0">
                <a:latin typeface="Times New Roman" panose="02020603050405020304" pitchFamily="18" charset="0"/>
                <a:ea typeface="宋体" panose="02010600030101010101" pitchFamily="2" charset="-122"/>
                <a:sym typeface="Symbol" panose="05050102010706020507" pitchFamily="18" charset="2"/>
              </a:rPr>
              <a:t></a:t>
            </a:r>
            <a:r>
              <a:rPr lang="fr-FR" altLang="zh-CN" sz="1200" b="1" dirty="0">
                <a:latin typeface="Times New Roman" panose="02020603050405020304" pitchFamily="18" charset="0"/>
                <a:ea typeface="宋体" panose="02010600030101010101" pitchFamily="2" charset="-122"/>
              </a:rPr>
              <a:t>{1,2}</a:t>
            </a:r>
            <a:r>
              <a:rPr lang="zh-CN" altLang="fr-FR" sz="1200" b="1" dirty="0">
                <a:latin typeface="Times New Roman" panose="02020603050405020304" pitchFamily="18" charset="0"/>
                <a:ea typeface="宋体" panose="02010600030101010101" pitchFamily="2" charset="-122"/>
                <a:sym typeface="Symbol" panose="05050102010706020507" pitchFamily="18" charset="2"/>
              </a:rPr>
              <a:t>，但是</a:t>
            </a:r>
            <a:r>
              <a:rPr lang="fr-FR" altLang="zh-CN" sz="1200" b="1" dirty="0">
                <a:latin typeface="Times New Roman" panose="02020603050405020304" pitchFamily="18" charset="0"/>
                <a:ea typeface="宋体" panose="02010600030101010101" pitchFamily="2" charset="-122"/>
                <a:sym typeface="Symbol" panose="05050102010706020507" pitchFamily="18" charset="2"/>
              </a:rPr>
              <a:t>{1}</a:t>
            </a:r>
            <a:r>
              <a:rPr lang="fr-FR" altLang="zh-CN" sz="1200" b="1" dirty="0">
                <a:latin typeface="Times New Roman" panose="02020603050405020304" pitchFamily="18" charset="0"/>
                <a:ea typeface="宋体" panose="02010600030101010101" pitchFamily="2" charset="-122"/>
              </a:rPr>
              <a:t>{2}.</a:t>
            </a:r>
          </a:p>
          <a:p>
            <a:pPr eaLnBrk="1" hangingPunct="1">
              <a:lnSpc>
                <a:spcPct val="110000"/>
              </a:lnSpc>
              <a:buFont typeface="Wingdings" panose="05000000000000000000" pitchFamily="2" charset="2"/>
              <a:buNone/>
            </a:pPr>
            <a:r>
              <a:rPr lang="zh-CN" altLang="en-US" dirty="0"/>
              <a:t>当 </a:t>
            </a:r>
            <a:r>
              <a:rPr lang="en-US" altLang="zh-CN" dirty="0" err="1"/>
              <a:t>nnn</a:t>
            </a:r>
            <a:r>
              <a:rPr lang="en-US" altLang="zh-CN" dirty="0"/>
              <a:t> </a:t>
            </a:r>
            <a:r>
              <a:rPr lang="zh-CN" altLang="en-US" dirty="0"/>
              <a:t>是素数，模 </a:t>
            </a:r>
            <a:r>
              <a:rPr lang="en-US" altLang="zh-CN" dirty="0"/>
              <a:t>n</a:t>
            </a:r>
            <a:r>
              <a:rPr lang="zh-CN" altLang="en-US" dirty="0"/>
              <a:t>下的非零元素都可逆（因为 </a:t>
            </a:r>
            <a:r>
              <a:rPr lang="en-US" altLang="zh-CN" dirty="0" err="1"/>
              <a:t>gcd</a:t>
            </a:r>
            <a:r>
              <a:rPr lang="en-US" altLang="zh-CN" dirty="0"/>
              <a:t>(</a:t>
            </a:r>
            <a:r>
              <a:rPr lang="en-US" altLang="zh-CN" dirty="0" err="1"/>
              <a:t>a,n</a:t>
            </a:r>
            <a:r>
              <a:rPr lang="en-US" altLang="zh-CN" dirty="0"/>
              <a:t>)=1</a:t>
            </a:r>
            <a:r>
              <a:rPr lang="zh-CN" altLang="en-US" dirty="0"/>
              <a:t>），所以：</a:t>
            </a:r>
            <a:endParaRPr lang="en-US" altLang="zh-CN" sz="1200" b="1" dirty="0">
              <a:latin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23</a:t>
            </a:fld>
            <a:endParaRPr lang="zh-CN" altLang="en-US"/>
          </a:p>
        </p:txBody>
      </p:sp>
    </p:spTree>
    <p:extLst>
      <p:ext uri="{BB962C8B-B14F-4D97-AF65-F5344CB8AC3E}">
        <p14:creationId xmlns:p14="http://schemas.microsoft.com/office/powerpoint/2010/main" val="16979974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0000"/>
              </a:lnSpc>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 </a:t>
            </a:r>
            <a:r>
              <a:rPr lang="zh-CN" altLang="en-US" sz="1200" b="1" dirty="0">
                <a:solidFill>
                  <a:schemeClr val="tx1"/>
                </a:solidFill>
                <a:latin typeface="Lucida Sans Unicode" panose="020B0602030504020204" pitchFamily="34" charset="0"/>
                <a:ea typeface="宋体" panose="02010600030101010101" pitchFamily="2" charset="-122"/>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rPr>
              <a:t>运算为 </a:t>
            </a:r>
            <a:r>
              <a:rPr lang="en-US" altLang="zh-CN" sz="1200" b="1" dirty="0">
                <a:solidFill>
                  <a:schemeClr val="tx1"/>
                </a:solidFill>
                <a:latin typeface="Times New Roman" panose="02020603050405020304" pitchFamily="18" charset="0"/>
                <a:ea typeface="宋体" panose="02010600030101010101" pitchFamily="2" charset="-122"/>
              </a:rPr>
              <a:t>Q</a:t>
            </a:r>
            <a:r>
              <a:rPr lang="en-US" altLang="zh-CN" sz="12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上的二元运算，</a:t>
            </a:r>
            <a:endPar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a:p>
            <a:pPr>
              <a:lnSpc>
                <a:spcPct val="110000"/>
              </a:lnSpc>
            </a:pP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Q,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8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xy</a:t>
            </a:r>
            <a:r>
              <a:rPr lang="en-US" altLang="zh-CN" sz="1200" b="1" dirty="0">
                <a:solidFill>
                  <a:schemeClr val="tx1"/>
                </a:solidFill>
                <a:latin typeface="Times New Roman" panose="02020603050405020304" pitchFamily="18" charset="0"/>
                <a:ea typeface="宋体" panose="02010600030101010101" pitchFamily="2" charset="-122"/>
              </a:rPr>
              <a:t>, </a:t>
            </a: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rPr>
              <a:t>  (1) </a:t>
            </a:r>
            <a:r>
              <a:rPr lang="zh-CN" altLang="en-US" sz="1200" b="1" dirty="0">
                <a:solidFill>
                  <a:schemeClr val="tx1"/>
                </a:solidFill>
                <a:latin typeface="Times New Roman" panose="02020603050405020304" pitchFamily="18" charset="0"/>
                <a:ea typeface="宋体" panose="02010600030101010101" pitchFamily="2" charset="-122"/>
              </a:rPr>
              <a:t>判断 </a:t>
            </a:r>
            <a:r>
              <a:rPr lang="zh-CN" altLang="en-US" sz="1200" b="1" dirty="0">
                <a:solidFill>
                  <a:schemeClr val="tx1"/>
                </a:solidFill>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rPr>
              <a:t>运算是否满足交换律和结合律，并说明理由</a:t>
            </a:r>
            <a:r>
              <a:rPr lang="en-US" altLang="zh-CN" sz="1200" b="1" dirty="0">
                <a:solidFill>
                  <a:schemeClr val="tx1"/>
                </a:solidFill>
                <a:latin typeface="Times New Roman" panose="02020603050405020304" pitchFamily="18" charset="0"/>
                <a:ea typeface="宋体" panose="02010600030101010101" pitchFamily="2" charset="-122"/>
              </a:rPr>
              <a:t>.</a:t>
            </a: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rPr>
              <a:t>  (2) </a:t>
            </a:r>
            <a:r>
              <a:rPr lang="zh-CN" altLang="en-US" sz="1200" b="1" dirty="0">
                <a:solidFill>
                  <a:schemeClr val="tx1"/>
                </a:solidFill>
                <a:latin typeface="Times New Roman" panose="02020603050405020304" pitchFamily="18" charset="0"/>
                <a:ea typeface="宋体" panose="02010600030101010101" pitchFamily="2" charset="-122"/>
              </a:rPr>
              <a:t>求出 </a:t>
            </a:r>
            <a:r>
              <a:rPr lang="zh-CN" altLang="en-US" sz="1200" b="1" dirty="0">
                <a:solidFill>
                  <a:schemeClr val="tx1"/>
                </a:solidFill>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rPr>
              <a:t> 运算的单位元、零元和所有可逆元素的逆元</a:t>
            </a:r>
            <a:r>
              <a:rPr lang="en-US" altLang="zh-CN" sz="1200" b="1" dirty="0">
                <a:solidFill>
                  <a:schemeClr val="tx1"/>
                </a:solidFill>
                <a:latin typeface="Times New Roman" panose="02020603050405020304" pitchFamily="18" charset="0"/>
                <a:ea typeface="宋体" panose="02010600030101010101" pitchFamily="2" charset="-122"/>
              </a:rPr>
              <a:t>.</a:t>
            </a:r>
          </a:p>
          <a:p>
            <a:endParaRPr lang="en-US" altLang="zh-CN" dirty="0"/>
          </a:p>
          <a:p>
            <a:pPr>
              <a:lnSpc>
                <a:spcPct val="110000"/>
              </a:lnSpc>
            </a:pPr>
            <a:r>
              <a:rPr lang="zh-CN" altLang="en-US" sz="1200" b="1" dirty="0">
                <a:solidFill>
                  <a:srgbClr val="00B0F0"/>
                </a:solidFill>
                <a:latin typeface="Times New Roman" panose="02020603050405020304" pitchFamily="18" charset="0"/>
                <a:ea typeface="宋体" panose="02010600030101010101" pitchFamily="2" charset="-122"/>
              </a:rPr>
              <a:t>解  </a:t>
            </a:r>
            <a:r>
              <a:rPr lang="en-US" altLang="zh-CN" sz="1200" b="1" dirty="0">
                <a:solidFill>
                  <a:srgbClr val="00B0F0"/>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rPr>
              <a:t>运算可交换</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任取</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Q,</a:t>
            </a:r>
          </a:p>
          <a:p>
            <a:pPr>
              <a:lnSpc>
                <a:spcPct val="110000"/>
              </a:lnSpc>
            </a:pPr>
            <a:r>
              <a:rPr lang="en-US" altLang="zh-CN" sz="1200" b="1" i="1" dirty="0">
                <a:solidFill>
                  <a:schemeClr val="tx1"/>
                </a:solidFill>
                <a:latin typeface="Times New Roman" panose="02020603050405020304" pitchFamily="18" charset="0"/>
                <a:ea typeface="宋体" panose="02010600030101010101" pitchFamily="2" charset="-122"/>
              </a:rPr>
              <a:t>            x</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sym typeface="Symbol" panose="05050102010706020507" pitchFamily="18" charset="2"/>
              </a:rPr>
              <a:t>∘</a:t>
            </a:r>
            <a:r>
              <a:rPr lang="en-US" altLang="zh-CN" sz="800" dirty="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xy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yx</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8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sym typeface="Symbol" panose="05050102010706020507" pitchFamily="18" charset="2"/>
              </a:rPr>
              <a:t>∘</a:t>
            </a:r>
            <a:r>
              <a:rPr lang="en-US" altLang="zh-CN" sz="800" dirty="0"/>
              <a:t> </a:t>
            </a:r>
            <a:r>
              <a:rPr lang="en-US" altLang="zh-CN" sz="1200" b="1" i="1" dirty="0">
                <a:solidFill>
                  <a:schemeClr val="tx1"/>
                </a:solidFill>
                <a:latin typeface="Times New Roman" panose="02020603050405020304" pitchFamily="18" charset="0"/>
                <a:ea typeface="宋体" panose="02010600030101010101" pitchFamily="2" charset="-122"/>
              </a:rPr>
              <a:t>x</a:t>
            </a:r>
          </a:p>
          <a:p>
            <a:pPr>
              <a:lnSpc>
                <a:spcPct val="110000"/>
              </a:lnSpc>
            </a:pPr>
            <a:endParaRPr lang="en-US" altLang="zh-CN" sz="1200" b="1" i="1" dirty="0">
              <a:solidFill>
                <a:schemeClr val="tx1"/>
              </a:solidFill>
              <a:latin typeface="Times New Roman" panose="02020603050405020304" pitchFamily="18" charset="0"/>
              <a:ea typeface="宋体" panose="02010600030101010101" pitchFamily="2" charset="-122"/>
            </a:endParaRPr>
          </a:p>
          <a:p>
            <a:pPr>
              <a:lnSpc>
                <a:spcPct val="110000"/>
              </a:lnSpc>
            </a:pP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 </a:t>
            </a:r>
            <a:r>
              <a:rPr lang="zh-CN" altLang="en-US" sz="1200" b="1" dirty="0">
                <a:solidFill>
                  <a:schemeClr val="tx1"/>
                </a:solidFill>
                <a:latin typeface="Times New Roman" panose="02020603050405020304" pitchFamily="18" charset="0"/>
                <a:ea typeface="宋体" panose="02010600030101010101" pitchFamily="2" charset="-122"/>
              </a:rPr>
              <a:t>运算可结合，任取</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Q,</a:t>
            </a: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rPr>
              <a:t>z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xy</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a:solidFill>
                  <a:schemeClr val="tx1"/>
                </a:solidFill>
                <a:latin typeface="Times New Roman" panose="02020603050405020304" pitchFamily="18" charset="0"/>
                <a:ea typeface="宋体" panose="02010600030101010101" pitchFamily="2" charset="-122"/>
              </a:rPr>
              <a:t>z </a:t>
            </a:r>
            <a:r>
              <a:rPr lang="en-US" altLang="zh-CN" sz="1200" b="1" dirty="0">
                <a:solidFill>
                  <a:schemeClr val="tx1"/>
                </a:solidFill>
                <a:latin typeface="Times New Roman" panose="02020603050405020304" pitchFamily="18" charset="0"/>
                <a:ea typeface="宋体" panose="02010600030101010101" pitchFamily="2" charset="-122"/>
              </a:rPr>
              <a:t>+ 2(</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xy</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z </a:t>
            </a:r>
            <a:r>
              <a:rPr lang="en-US" altLang="zh-CN" sz="1200" b="1" dirty="0">
                <a:solidFill>
                  <a:schemeClr val="tx1"/>
                </a:solidFill>
                <a:latin typeface="Times New Roman" panose="02020603050405020304" pitchFamily="18" charset="0"/>
                <a:ea typeface="宋体" panose="02010600030101010101" pitchFamily="2" charset="-122"/>
              </a:rPr>
              <a:t> </a:t>
            </a: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xy</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xz</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yz</a:t>
            </a:r>
            <a:r>
              <a:rPr lang="en-US" altLang="zh-CN" sz="1200" b="1" dirty="0">
                <a:solidFill>
                  <a:schemeClr val="tx1"/>
                </a:solidFill>
                <a:latin typeface="Times New Roman" panose="02020603050405020304" pitchFamily="18" charset="0"/>
                <a:ea typeface="宋体" panose="02010600030101010101" pitchFamily="2" charset="-122"/>
              </a:rPr>
              <a:t>+4</a:t>
            </a:r>
            <a:r>
              <a:rPr lang="en-US" altLang="zh-CN" sz="1200" b="1" i="1" dirty="0">
                <a:solidFill>
                  <a:schemeClr val="tx1"/>
                </a:solidFill>
                <a:latin typeface="Times New Roman" panose="02020603050405020304" pitchFamily="18" charset="0"/>
                <a:ea typeface="宋体" panose="02010600030101010101" pitchFamily="2" charset="-122"/>
              </a:rPr>
              <a:t>xyz </a:t>
            </a:r>
          </a:p>
          <a:p>
            <a:pPr>
              <a:lnSpc>
                <a:spcPct val="110000"/>
              </a:lnSpc>
            </a:pPr>
            <a:r>
              <a:rPr lang="en-US" altLang="zh-CN" sz="1200" b="1" i="1" dirty="0">
                <a:solidFill>
                  <a:schemeClr val="tx1"/>
                </a:solidFill>
                <a:latin typeface="Times New Roman" panose="02020603050405020304" pitchFamily="18" charset="0"/>
                <a:ea typeface="宋体" panose="02010600030101010101" pitchFamily="2" charset="-122"/>
              </a:rPr>
              <a:t>            x</a:t>
            </a:r>
            <a:r>
              <a:rPr lang="en-US" altLang="zh-CN" sz="8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a:solidFill>
                  <a:schemeClr val="tx1"/>
                </a:solidFill>
                <a:latin typeface="Times New Roman" panose="02020603050405020304" pitchFamily="18" charset="0"/>
                <a:ea typeface="宋体" panose="02010600030101010101" pitchFamily="2" charset="-122"/>
              </a:rPr>
              <a:t>x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yz</a:t>
            </a:r>
            <a:r>
              <a:rPr lang="en-US" altLang="zh-CN" sz="1200" b="1" dirty="0">
                <a:solidFill>
                  <a:schemeClr val="tx1"/>
                </a:solidFill>
                <a:latin typeface="Times New Roman" panose="02020603050405020304" pitchFamily="18" charset="0"/>
                <a:ea typeface="宋体" panose="02010600030101010101" pitchFamily="2" charset="-122"/>
              </a:rPr>
              <a:t>) + 2</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yz</a:t>
            </a:r>
            <a:r>
              <a:rPr lang="en-US" altLang="zh-CN" sz="1200" b="1" dirty="0">
                <a:solidFill>
                  <a:schemeClr val="tx1"/>
                </a:solidFill>
                <a:latin typeface="Times New Roman" panose="02020603050405020304" pitchFamily="18" charset="0"/>
                <a:ea typeface="宋体" panose="02010600030101010101" pitchFamily="2" charset="-122"/>
              </a:rPr>
              <a:t>)</a:t>
            </a: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y</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xy</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xz</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yz</a:t>
            </a:r>
            <a:r>
              <a:rPr lang="en-US" altLang="zh-CN" sz="1200" b="1" dirty="0">
                <a:solidFill>
                  <a:schemeClr val="tx1"/>
                </a:solidFill>
                <a:latin typeface="Times New Roman" panose="02020603050405020304" pitchFamily="18" charset="0"/>
                <a:ea typeface="宋体" panose="02010600030101010101" pitchFamily="2" charset="-122"/>
              </a:rPr>
              <a:t>+4</a:t>
            </a:r>
            <a:r>
              <a:rPr lang="en-US" altLang="zh-CN" sz="1200" b="1" i="1" dirty="0">
                <a:solidFill>
                  <a:schemeClr val="tx1"/>
                </a:solidFill>
                <a:latin typeface="Times New Roman" panose="02020603050405020304" pitchFamily="18" charset="0"/>
                <a:ea typeface="宋体" panose="02010600030101010101" pitchFamily="2" charset="-122"/>
              </a:rPr>
              <a:t>xyz</a:t>
            </a:r>
            <a:endParaRPr lang="en-US" altLang="zh-CN" sz="1200" b="1" dirty="0">
              <a:solidFill>
                <a:schemeClr val="tx1"/>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24</a:t>
            </a:fld>
            <a:endParaRPr lang="zh-CN" altLang="en-US"/>
          </a:p>
        </p:txBody>
      </p:sp>
    </p:spTree>
    <p:extLst>
      <p:ext uri="{BB962C8B-B14F-4D97-AF65-F5344CB8AC3E}">
        <p14:creationId xmlns:p14="http://schemas.microsoft.com/office/powerpoint/2010/main" val="2173641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在数学中，一个运算的零元是指一个特定的元素，使得任何元素与它进行该运算后结果仍然是原来的元素</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p>
              <a:p>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b="1" dirty="0">
                    <a:solidFill>
                      <a:srgbClr val="00B0F0"/>
                    </a:solidFill>
                    <a:latin typeface="Times New Roman" panose="02020603050405020304" pitchFamily="18" charset="0"/>
                  </a:rPr>
                  <a:t>解</a:t>
                </a: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a:t>
                </a:r>
              </a:p>
              <a:p>
                <a:r>
                  <a:rPr lang="zh-CN" altLang="en-US" sz="1200" b="1" dirty="0">
                    <a:solidFill>
                      <a:srgbClr val="FF0000"/>
                    </a:solidFill>
                    <a:latin typeface="Times New Roman" panose="02020603050405020304" pitchFamily="18" charset="0"/>
                  </a:rPr>
                  <a:t>求单位元</a:t>
                </a:r>
                <a:r>
                  <a:rPr lang="en-US" altLang="zh-CN" sz="1200" b="1" i="1" dirty="0">
                    <a:solidFill>
                      <a:srgbClr val="FF0000"/>
                    </a:solidFill>
                    <a:latin typeface="Times New Roman" panose="02020603050405020304" pitchFamily="18" charset="0"/>
                    <a:cs typeface="Times New Roman" panose="02020603050405020304" pitchFamily="18" charset="0"/>
                  </a:rPr>
                  <a:t>e</a:t>
                </a:r>
                <a:endParaRPr lang="en-US" altLang="zh-CN"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运算的单位元和零元分别为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 </a:t>
                </a:r>
                <a:r>
                  <a:rPr lang="zh-CN" altLang="en-US"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，则对于任意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成立，即</a:t>
                </a:r>
                <a:r>
                  <a:rPr lang="zh-CN" altLang="en-US"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0 </a:t>
                </a:r>
              </a:p>
              <a:p>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由于</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运算可交换，所以 </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0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是单位元</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幺元</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200" b="1" dirty="0">
                    <a:solidFill>
                      <a:srgbClr val="FF0000"/>
                    </a:solidFill>
                    <a:latin typeface="Times New Roman" panose="02020603050405020304" pitchFamily="18" charset="0"/>
                  </a:rPr>
                  <a:t>求零元</a:t>
                </a:r>
                <a:r>
                  <a:rPr lang="en-US" altLang="zh-CN" sz="1200" b="1" i="1" dirty="0">
                    <a:solidFill>
                      <a:srgbClr val="FF0000"/>
                    </a:solidFill>
                    <a:latin typeface="Times New Roman" panose="02020603050405020304" pitchFamily="18" charset="0"/>
                    <a:sym typeface="Symbol" panose="05050102010706020507" pitchFamily="18" charset="2"/>
                  </a:rPr>
                  <a:t></a:t>
                </a:r>
                <a:endParaRPr lang="en-US" altLang="zh-CN" sz="1200" b="1" dirty="0">
                  <a:solidFill>
                    <a:srgbClr val="FF0000"/>
                  </a:solidFill>
                  <a:latin typeface="Times New Roman" panose="02020603050405020304" pitchFamily="18" charset="0"/>
                  <a:cs typeface="Times New Roman" panose="02020603050405020304" pitchFamily="18" charset="0"/>
                </a:endParaRPr>
              </a:p>
              <a:p>
                <a:r>
                  <a:rPr lang="zh-CN" altLang="en-US" sz="1200" b="1" dirty="0">
                    <a:solidFill>
                      <a:schemeClr val="tx1"/>
                    </a:solidFill>
                    <a:latin typeface="Times New Roman" panose="02020603050405020304" pitchFamily="18" charset="0"/>
                    <a:ea typeface="宋体" panose="02010600030101010101" pitchFamily="2" charset="-122"/>
                  </a:rPr>
                  <a:t>对于任意 </a:t>
                </a:r>
                <a:r>
                  <a:rPr lang="en-US" altLang="zh-CN" sz="1200" b="1" i="1" dirty="0">
                    <a:solidFill>
                      <a:schemeClr val="tx1"/>
                    </a:solidFill>
                    <a:latin typeface="Times New Roman" panose="02020603050405020304" pitchFamily="18" charset="0"/>
                    <a:ea typeface="宋体" panose="02010600030101010101" pitchFamily="2" charset="-122"/>
                  </a:rPr>
                  <a:t>x </a:t>
                </a:r>
                <a:r>
                  <a:rPr lang="zh-CN" altLang="en-US" sz="1200" b="1" dirty="0">
                    <a:solidFill>
                      <a:schemeClr val="tx1"/>
                    </a:solidFill>
                    <a:latin typeface="Times New Roman" panose="02020603050405020304" pitchFamily="18" charset="0"/>
                    <a:ea typeface="宋体" panose="02010600030101010101" pitchFamily="2" charset="-122"/>
                  </a:rPr>
                  <a:t>有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8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latin typeface="Times New Roman" panose="02020603050405020304" pitchFamily="18" charset="0"/>
                  </a:rPr>
                  <a:t> </a:t>
                </a:r>
                <a:r>
                  <a:rPr lang="en-US" altLang="zh-CN" sz="1200" b="1" i="1" dirty="0">
                    <a:latin typeface="Times New Roman" panose="02020603050405020304" pitchFamily="18" charset="0"/>
                    <a:sym typeface="Symbol" panose="05050102010706020507" pitchFamily="18" charset="2"/>
                  </a:rPr>
                  <a:t> </a:t>
                </a:r>
                <a:r>
                  <a:rPr lang="zh-CN" altLang="en-US" sz="1200" b="1" dirty="0">
                    <a:sym typeface="Symbol" panose="05050102010706020507" pitchFamily="18" charset="2"/>
                  </a:rPr>
                  <a:t>∘ </a:t>
                </a:r>
                <a:r>
                  <a:rPr lang="en-US" altLang="zh-CN" sz="1200" b="1" i="1" dirty="0">
                    <a:latin typeface="Times New Roman" panose="02020603050405020304" pitchFamily="18" charset="0"/>
                  </a:rPr>
                  <a:t>x</a:t>
                </a:r>
                <a:r>
                  <a:rPr lang="en-US" altLang="zh-CN" sz="800" b="1" i="1" dirty="0">
                    <a:latin typeface="Times New Roman" panose="02020603050405020304" pitchFamily="18" charset="0"/>
                  </a:rPr>
                  <a:t> </a:t>
                </a:r>
                <a:r>
                  <a:rPr lang="en-US" altLang="zh-CN" sz="1200" b="1" dirty="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rPr>
                  <a:t>成立，即</a:t>
                </a:r>
              </a:p>
              <a:p>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=0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1/2 </a:t>
                </a:r>
              </a:p>
              <a:p>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1/2</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为零元</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p>
              <a:p>
                <a:r>
                  <a:rPr lang="zh-CN" altLang="en-US" sz="1200" b="1" dirty="0">
                    <a:solidFill>
                      <a:srgbClr val="FF0000"/>
                    </a:solidFill>
                    <a:latin typeface="Times New Roman" panose="02020603050405020304" pitchFamily="18" charset="0"/>
                  </a:rPr>
                  <a:t>逆元</a:t>
                </a:r>
                <a:r>
                  <a:rPr lang="en-US" altLang="zh-CN" sz="1200" b="1" i="1" dirty="0">
                    <a:solidFill>
                      <a:srgbClr val="FF0000"/>
                    </a:solidFill>
                    <a:latin typeface="Times New Roman" panose="02020603050405020304" pitchFamily="18" charset="0"/>
                  </a:rPr>
                  <a:t>y</a:t>
                </a:r>
                <a:endParaRPr lang="en-US" altLang="zh-CN" sz="1200" b="1" dirty="0">
                  <a:solidFill>
                    <a:srgbClr val="FF0000"/>
                  </a:solidFill>
                  <a:latin typeface="Times New Roman" panose="02020603050405020304" pitchFamily="18" charset="0"/>
                  <a:cs typeface="Times New Roman" panose="02020603050405020304" pitchFamily="18" charset="0"/>
                </a:endParaRPr>
              </a:p>
              <a:p>
                <a:r>
                  <a:rPr lang="zh-CN" altLang="en-US" sz="1200" b="1" dirty="0">
                    <a:latin typeface="Times New Roman" panose="02020603050405020304" pitchFamily="18" charset="0"/>
                  </a:rPr>
                  <a:t>设 </a:t>
                </a:r>
                <a:r>
                  <a:rPr lang="en-US" altLang="zh-CN" sz="1200" b="1" i="1" dirty="0">
                    <a:latin typeface="Times New Roman" panose="02020603050405020304" pitchFamily="18" charset="0"/>
                  </a:rPr>
                  <a:t>x </a:t>
                </a:r>
                <a:r>
                  <a:rPr lang="zh-CN" altLang="en-US" sz="1200" b="1" dirty="0">
                    <a:latin typeface="Times New Roman" panose="02020603050405020304" pitchFamily="18" charset="0"/>
                  </a:rPr>
                  <a:t>的逆元为 </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则有 </a:t>
                </a:r>
                <a:r>
                  <a:rPr lang="en-US" altLang="zh-CN" sz="1200" b="1" i="1" dirty="0">
                    <a:latin typeface="Times New Roman" panose="02020603050405020304" pitchFamily="18" charset="0"/>
                  </a:rPr>
                  <a:t>x</a:t>
                </a:r>
                <a:r>
                  <a:rPr lang="en-US" altLang="zh-CN" sz="800" b="1" i="1" dirty="0">
                    <a:latin typeface="Times New Roman" panose="02020603050405020304" pitchFamily="18" charset="0"/>
                  </a:rPr>
                  <a:t> </a:t>
                </a:r>
                <a:r>
                  <a:rPr lang="zh-CN" altLang="en-US" sz="1200" b="1" dirty="0">
                    <a:sym typeface="Symbol" panose="05050102010706020507" pitchFamily="18" charset="2"/>
                  </a:rPr>
                  <a:t>∘</a:t>
                </a:r>
                <a:r>
                  <a:rPr lang="en-US" altLang="zh-CN" sz="8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 </a:t>
                </a:r>
                <a:r>
                  <a:rPr lang="en-US" altLang="zh-CN" sz="1200" b="1" i="1" dirty="0">
                    <a:latin typeface="Times New Roman" panose="02020603050405020304" pitchFamily="18" charset="0"/>
                  </a:rPr>
                  <a:t>e</a:t>
                </a:r>
                <a:r>
                  <a:rPr lang="en-US" altLang="zh-CN" sz="1200" b="1" dirty="0">
                    <a:latin typeface="Times New Roman" panose="02020603050405020304" pitchFamily="18" charset="0"/>
                  </a:rPr>
                  <a:t> =0</a:t>
                </a:r>
                <a:r>
                  <a:rPr lang="zh-CN" altLang="en-US" sz="1200" b="1" dirty="0">
                    <a:latin typeface="Times New Roman" panose="02020603050405020304" pitchFamily="18" charset="0"/>
                  </a:rPr>
                  <a:t>成立，</a:t>
                </a:r>
                <a:r>
                  <a:rPr lang="zh-CN" altLang="en-US" sz="1200" b="1" dirty="0">
                    <a:solidFill>
                      <a:schemeClr val="tx1"/>
                    </a:solidFill>
                    <a:latin typeface="Times New Roman" panose="02020603050405020304" pitchFamily="18" charset="0"/>
                    <a:ea typeface="宋体" panose="02010600030101010101" pitchFamily="2" charset="-122"/>
                  </a:rPr>
                  <a:t>即</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+2</a:t>
                </a:r>
                <a:r>
                  <a:rPr lang="en-US" altLang="zh-CN" sz="1200" b="1" i="1" dirty="0">
                    <a:latin typeface="Times New Roman" panose="02020603050405020304" pitchFamily="18" charset="0"/>
                  </a:rPr>
                  <a:t>xy</a:t>
                </a:r>
                <a:r>
                  <a:rPr lang="en-US" altLang="zh-CN" sz="1200" b="1" dirty="0">
                    <a:latin typeface="Times New Roman" panose="02020603050405020304" pitchFamily="18" charset="0"/>
                  </a:rPr>
                  <a:t> = 0 </a:t>
                </a:r>
                <a:endParaRPr lang="en-US" altLang="zh-CN" sz="1200" b="1" i="1" dirty="0"/>
              </a:p>
              <a:p>
                <a14:m>
                  <m:oMath xmlns:m="http://schemas.openxmlformats.org/officeDocument/2006/math">
                    <m:r>
                      <a:rPr lang="en-US" altLang="zh-CN" sz="1200" b="1" i="1" smtClean="0">
                        <a:solidFill>
                          <a:schemeClr val="tx1"/>
                        </a:solidFill>
                        <a:latin typeface="Cambria Math" panose="02040503050406030204" pitchFamily="18" charset="0"/>
                      </a:rPr>
                      <m:t>𝒚</m:t>
                    </m:r>
                    <m:r>
                      <a:rPr lang="en-US" altLang="zh-CN" sz="1200" b="1" i="1">
                        <a:latin typeface="Cambria Math" panose="02040503050406030204" pitchFamily="18" charset="0"/>
                      </a:rPr>
                      <m:t>=−</m:t>
                    </m:r>
                    <m:f>
                      <m:fPr>
                        <m:ctrlPr>
                          <a:rPr lang="zh-CN" altLang="zh-CN" sz="1200" b="1" i="1">
                            <a:latin typeface="Cambria Math" panose="02040503050406030204" pitchFamily="18" charset="0"/>
                          </a:rPr>
                        </m:ctrlPr>
                      </m:fPr>
                      <m:num>
                        <m:r>
                          <a:rPr lang="en-US" altLang="zh-CN" sz="1200" b="1" i="1">
                            <a:latin typeface="Cambria Math" panose="02040503050406030204" pitchFamily="18" charset="0"/>
                          </a:rPr>
                          <m:t>𝒙</m:t>
                        </m:r>
                      </m:num>
                      <m:den>
                        <m:r>
                          <a:rPr lang="en-US" altLang="zh-CN" sz="1200" b="1" i="1">
                            <a:latin typeface="Cambria Math" panose="02040503050406030204" pitchFamily="18" charset="0"/>
                          </a:rPr>
                          <m:t>𝟐</m:t>
                        </m:r>
                        <m:r>
                          <a:rPr lang="en-US" altLang="zh-CN" sz="1200" b="1" i="1">
                            <a:latin typeface="Cambria Math" panose="02040503050406030204" pitchFamily="18" charset="0"/>
                          </a:rPr>
                          <m:t>𝒙</m:t>
                        </m:r>
                        <m:r>
                          <a:rPr lang="en-US" altLang="zh-CN" sz="1200" b="1" i="1">
                            <a:latin typeface="Cambria Math" panose="02040503050406030204" pitchFamily="18" charset="0"/>
                          </a:rPr>
                          <m:t>+</m:t>
                        </m:r>
                        <m:r>
                          <a:rPr lang="en-US" altLang="zh-CN" sz="1200" b="1" i="1">
                            <a:latin typeface="Cambria Math" panose="02040503050406030204" pitchFamily="18" charset="0"/>
                          </a:rPr>
                          <m:t>𝟏</m:t>
                        </m:r>
                      </m:den>
                    </m:f>
                  </m:oMath>
                </a14:m>
                <a:r>
                  <a:rPr lang="zh-CN" altLang="en-US" sz="1200" b="1" dirty="0">
                    <a:latin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这意味着每个</a:t>
                </a:r>
                <a:r>
                  <a:rPr lang="en-US" altLang="zh-CN" sz="1200" b="1" i="1" dirty="0">
                    <a:latin typeface="Times New Roman" panose="02020603050405020304" pitchFamily="18" charset="0"/>
                  </a:rPr>
                  <a:t>x</a:t>
                </a:r>
                <a:r>
                  <a:rPr lang="zh-CN" altLang="zh-CN" sz="1200" b="1"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200" b="1" i="1">
                        <a:latin typeface="Cambria Math" panose="02040503050406030204" pitchFamily="18" charset="0"/>
                      </a:rPr>
                      <m:t>𝒙</m:t>
                    </m:r>
                    <m:r>
                      <a:rPr lang="en-US" altLang="zh-CN" sz="1200" b="1" i="1">
                        <a:latin typeface="Cambria Math" panose="02040503050406030204" pitchFamily="18" charset="0"/>
                      </a:rPr>
                      <m:t>≠−</m:t>
                    </m:r>
                    <m:f>
                      <m:fPr>
                        <m:ctrlPr>
                          <a:rPr lang="zh-CN" altLang="zh-CN" sz="1200" b="1" i="1">
                            <a:latin typeface="Cambria Math" panose="02040503050406030204" pitchFamily="18" charset="0"/>
                          </a:rPr>
                        </m:ctrlPr>
                      </m:fPr>
                      <m:num>
                        <m:r>
                          <a:rPr lang="en-US" altLang="zh-CN" sz="1200" b="1" i="1">
                            <a:latin typeface="Cambria Math" panose="02040503050406030204" pitchFamily="18" charset="0"/>
                          </a:rPr>
                          <m:t>𝟏</m:t>
                        </m:r>
                      </m:num>
                      <m:den>
                        <m:r>
                          <a:rPr lang="en-US" altLang="zh-CN" sz="1200" b="1" i="1">
                            <a:latin typeface="Cambria Math" panose="02040503050406030204" pitchFamily="18" charset="0"/>
                          </a:rPr>
                          <m:t>𝟐</m:t>
                        </m:r>
                      </m:den>
                    </m:f>
                  </m:oMath>
                </a14:m>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）都有逆元</a:t>
                </a:r>
                <a:r>
                  <a:rPr lang="en-US" altLang="zh-CN" sz="1200" b="1" dirty="0">
                    <a:latin typeface="Times New Roman" panose="02020603050405020304" pitchFamily="18" charset="0"/>
                    <a:cs typeface="Times New Roman" panose="02020603050405020304" pitchFamily="18" charset="0"/>
                  </a:rPr>
                  <a:t>y</a:t>
                </a:r>
                <a:r>
                  <a:rPr lang="zh-CN" altLang="zh-CN" sz="1200" b="1" dirty="0">
                    <a:latin typeface="Times New Roman" panose="02020603050405020304" pitchFamily="18" charset="0"/>
                    <a:cs typeface="Times New Roman" panose="02020603050405020304" pitchFamily="18" charset="0"/>
                  </a:rPr>
                  <a:t>。</a:t>
                </a:r>
              </a:p>
              <a:p>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在数学中，一个运算的零元是指一个特定的元素，使得任何元素与它进行该运算后结果仍然是原来的元素</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p>
              <a:p>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b="1" dirty="0">
                    <a:solidFill>
                      <a:srgbClr val="00B0F0"/>
                    </a:solidFill>
                    <a:latin typeface="Times New Roman" panose="02020603050405020304" pitchFamily="18" charset="0"/>
                  </a:rPr>
                  <a:t>解</a:t>
                </a: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a:t>
                </a:r>
              </a:p>
              <a:p>
                <a:r>
                  <a:rPr lang="zh-CN" altLang="en-US" sz="1200" b="1" dirty="0">
                    <a:solidFill>
                      <a:srgbClr val="FF0000"/>
                    </a:solidFill>
                    <a:latin typeface="Times New Roman" panose="02020603050405020304" pitchFamily="18" charset="0"/>
                  </a:rPr>
                  <a:t>求单位元</a:t>
                </a:r>
                <a:r>
                  <a:rPr lang="en-US" altLang="zh-CN" sz="1200" b="1" i="1" dirty="0">
                    <a:solidFill>
                      <a:srgbClr val="FF0000"/>
                    </a:solidFill>
                    <a:latin typeface="Times New Roman" panose="02020603050405020304" pitchFamily="18" charset="0"/>
                    <a:cs typeface="Times New Roman" panose="02020603050405020304" pitchFamily="18" charset="0"/>
                  </a:rPr>
                  <a:t>e</a:t>
                </a:r>
                <a:endParaRPr lang="en-US" altLang="zh-CN"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运算的单位元和零元分别为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 </a:t>
                </a:r>
                <a:r>
                  <a:rPr lang="zh-CN" altLang="en-US"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，则对于任意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成立，即</a:t>
                </a:r>
                <a:r>
                  <a:rPr lang="zh-CN" altLang="en-US"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0 </a:t>
                </a:r>
              </a:p>
              <a:p>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由于</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运算可交换，所以 </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0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是单位元</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幺元</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200" b="1" dirty="0">
                    <a:solidFill>
                      <a:srgbClr val="FF0000"/>
                    </a:solidFill>
                    <a:latin typeface="Times New Roman" panose="02020603050405020304" pitchFamily="18" charset="0"/>
                  </a:rPr>
                  <a:t>求零元</a:t>
                </a:r>
                <a:r>
                  <a:rPr lang="en-US" altLang="zh-CN" sz="1200" b="1" i="1" dirty="0">
                    <a:solidFill>
                      <a:srgbClr val="FF0000"/>
                    </a:solidFill>
                    <a:latin typeface="Times New Roman" panose="02020603050405020304" pitchFamily="18" charset="0"/>
                    <a:sym typeface="Symbol" panose="05050102010706020507" pitchFamily="18" charset="2"/>
                  </a:rPr>
                  <a:t></a:t>
                </a:r>
                <a:endParaRPr lang="en-US" altLang="zh-CN" sz="1200" b="1" dirty="0">
                  <a:solidFill>
                    <a:srgbClr val="FF0000"/>
                  </a:solidFill>
                  <a:latin typeface="Times New Roman" panose="02020603050405020304" pitchFamily="18" charset="0"/>
                  <a:cs typeface="Times New Roman" panose="02020603050405020304" pitchFamily="18" charset="0"/>
                </a:endParaRPr>
              </a:p>
              <a:p>
                <a:r>
                  <a:rPr lang="zh-CN" altLang="en-US" sz="1200" b="1" dirty="0">
                    <a:solidFill>
                      <a:schemeClr val="tx1"/>
                    </a:solidFill>
                    <a:latin typeface="Times New Roman" panose="02020603050405020304" pitchFamily="18" charset="0"/>
                    <a:ea typeface="宋体" panose="02010600030101010101" pitchFamily="2" charset="-122"/>
                  </a:rPr>
                  <a:t>对于任意 </a:t>
                </a:r>
                <a:r>
                  <a:rPr lang="en-US" altLang="zh-CN" sz="1200" b="1" i="1" dirty="0">
                    <a:solidFill>
                      <a:schemeClr val="tx1"/>
                    </a:solidFill>
                    <a:latin typeface="Times New Roman" panose="02020603050405020304" pitchFamily="18" charset="0"/>
                    <a:ea typeface="宋体" panose="02010600030101010101" pitchFamily="2" charset="-122"/>
                  </a:rPr>
                  <a:t>x </a:t>
                </a:r>
                <a:r>
                  <a:rPr lang="zh-CN" altLang="en-US" sz="1200" b="1" dirty="0">
                    <a:solidFill>
                      <a:schemeClr val="tx1"/>
                    </a:solidFill>
                    <a:latin typeface="Times New Roman" panose="02020603050405020304" pitchFamily="18" charset="0"/>
                    <a:ea typeface="宋体" panose="02010600030101010101" pitchFamily="2" charset="-122"/>
                  </a:rPr>
                  <a:t>有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8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sym typeface="Symbol" panose="05050102010706020507" pitchFamily="18" charset="2"/>
                  </a:rPr>
                  <a:t>∘</a:t>
                </a:r>
                <a:r>
                  <a:rPr lang="en-US" altLang="zh-CN" sz="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latin typeface="Times New Roman" panose="02020603050405020304" pitchFamily="18" charset="0"/>
                  </a:rPr>
                  <a:t> </a:t>
                </a:r>
                <a:r>
                  <a:rPr lang="en-US" altLang="zh-CN" sz="1200" b="1" i="1" dirty="0">
                    <a:latin typeface="Times New Roman" panose="02020603050405020304" pitchFamily="18" charset="0"/>
                    <a:sym typeface="Symbol" panose="05050102010706020507" pitchFamily="18" charset="2"/>
                  </a:rPr>
                  <a:t> </a:t>
                </a:r>
                <a:r>
                  <a:rPr lang="zh-CN" altLang="en-US" sz="1200" b="1" dirty="0">
                    <a:sym typeface="Symbol" panose="05050102010706020507" pitchFamily="18" charset="2"/>
                  </a:rPr>
                  <a:t>∘ </a:t>
                </a:r>
                <a:r>
                  <a:rPr lang="en-US" altLang="zh-CN" sz="1200" b="1" i="1" dirty="0">
                    <a:latin typeface="Times New Roman" panose="02020603050405020304" pitchFamily="18" charset="0"/>
                  </a:rPr>
                  <a:t>x</a:t>
                </a:r>
                <a:r>
                  <a:rPr lang="en-US" altLang="zh-CN" sz="800" b="1" i="1" dirty="0">
                    <a:latin typeface="Times New Roman" panose="02020603050405020304" pitchFamily="18" charset="0"/>
                  </a:rPr>
                  <a:t> </a:t>
                </a:r>
                <a:r>
                  <a:rPr lang="en-US" altLang="zh-CN" sz="1200" b="1" dirty="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rPr>
                  <a:t>成立，即</a:t>
                </a:r>
              </a:p>
              <a:p>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rPr>
                  <a:t>+2</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=0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1/2 </a:t>
                </a:r>
              </a:p>
              <a:p>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1/2</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为零元</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p>
              <a:p>
                <a:r>
                  <a:rPr lang="zh-CN" altLang="en-US" sz="1200" b="1" dirty="0">
                    <a:solidFill>
                      <a:srgbClr val="FF0000"/>
                    </a:solidFill>
                    <a:latin typeface="Times New Roman" panose="02020603050405020304" pitchFamily="18" charset="0"/>
                  </a:rPr>
                  <a:t>逆元</a:t>
                </a:r>
                <a:r>
                  <a:rPr lang="en-US" altLang="zh-CN" sz="1200" b="1" i="1" dirty="0">
                    <a:solidFill>
                      <a:srgbClr val="FF0000"/>
                    </a:solidFill>
                    <a:latin typeface="Times New Roman" panose="02020603050405020304" pitchFamily="18" charset="0"/>
                  </a:rPr>
                  <a:t>y</a:t>
                </a:r>
                <a:endParaRPr lang="en-US" altLang="zh-CN" sz="1200" b="1" dirty="0">
                  <a:solidFill>
                    <a:srgbClr val="FF0000"/>
                  </a:solidFill>
                  <a:latin typeface="Times New Roman" panose="02020603050405020304" pitchFamily="18" charset="0"/>
                  <a:cs typeface="Times New Roman" panose="02020603050405020304" pitchFamily="18" charset="0"/>
                </a:endParaRPr>
              </a:p>
              <a:p>
                <a:r>
                  <a:rPr lang="zh-CN" altLang="en-US" sz="1200" b="1" dirty="0">
                    <a:latin typeface="Times New Roman" panose="02020603050405020304" pitchFamily="18" charset="0"/>
                  </a:rPr>
                  <a:t>设 </a:t>
                </a:r>
                <a:r>
                  <a:rPr lang="en-US" altLang="zh-CN" sz="1200" b="1" i="1" dirty="0">
                    <a:latin typeface="Times New Roman" panose="02020603050405020304" pitchFamily="18" charset="0"/>
                  </a:rPr>
                  <a:t>x </a:t>
                </a:r>
                <a:r>
                  <a:rPr lang="zh-CN" altLang="en-US" sz="1200" b="1" dirty="0">
                    <a:latin typeface="Times New Roman" panose="02020603050405020304" pitchFamily="18" charset="0"/>
                  </a:rPr>
                  <a:t>的逆元为 </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则有 </a:t>
                </a:r>
                <a:r>
                  <a:rPr lang="en-US" altLang="zh-CN" sz="1200" b="1" i="1" dirty="0">
                    <a:latin typeface="Times New Roman" panose="02020603050405020304" pitchFamily="18" charset="0"/>
                  </a:rPr>
                  <a:t>x</a:t>
                </a:r>
                <a:r>
                  <a:rPr lang="en-US" altLang="zh-CN" sz="800" b="1" i="1" dirty="0">
                    <a:latin typeface="Times New Roman" panose="02020603050405020304" pitchFamily="18" charset="0"/>
                  </a:rPr>
                  <a:t> </a:t>
                </a:r>
                <a:r>
                  <a:rPr lang="zh-CN" altLang="en-US" sz="1200" b="1" dirty="0">
                    <a:sym typeface="Symbol" panose="05050102010706020507" pitchFamily="18" charset="2"/>
                  </a:rPr>
                  <a:t>∘</a:t>
                </a:r>
                <a:r>
                  <a:rPr lang="en-US" altLang="zh-CN" sz="8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 = </a:t>
                </a:r>
                <a:r>
                  <a:rPr lang="en-US" altLang="zh-CN" sz="1200" b="1" i="1" dirty="0">
                    <a:latin typeface="Times New Roman" panose="02020603050405020304" pitchFamily="18" charset="0"/>
                  </a:rPr>
                  <a:t>e</a:t>
                </a:r>
                <a:r>
                  <a:rPr lang="en-US" altLang="zh-CN" sz="1200" b="1" dirty="0">
                    <a:latin typeface="Times New Roman" panose="02020603050405020304" pitchFamily="18" charset="0"/>
                  </a:rPr>
                  <a:t> =0</a:t>
                </a:r>
                <a:r>
                  <a:rPr lang="zh-CN" altLang="en-US" sz="1200" b="1" dirty="0">
                    <a:latin typeface="Times New Roman" panose="02020603050405020304" pitchFamily="18" charset="0"/>
                  </a:rPr>
                  <a:t>成立，</a:t>
                </a:r>
                <a:r>
                  <a:rPr lang="zh-CN" altLang="en-US" sz="1200" b="1" dirty="0">
                    <a:solidFill>
                      <a:schemeClr val="tx1"/>
                    </a:solidFill>
                    <a:latin typeface="Times New Roman" panose="02020603050405020304" pitchFamily="18" charset="0"/>
                    <a:ea typeface="宋体" panose="02010600030101010101" pitchFamily="2" charset="-122"/>
                  </a:rPr>
                  <a:t>即</a:t>
                </a:r>
                <a:r>
                  <a:rPr lang="en-US" altLang="zh-CN" sz="1200" b="1" i="1" dirty="0">
                    <a:latin typeface="Times New Roman" panose="02020603050405020304" pitchFamily="18" charset="0"/>
                  </a:rPr>
                  <a:t>x</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y</a:t>
                </a:r>
                <a:r>
                  <a:rPr lang="en-US" altLang="zh-CN" sz="1200" b="1" dirty="0">
                    <a:latin typeface="Times New Roman" panose="02020603050405020304" pitchFamily="18" charset="0"/>
                  </a:rPr>
                  <a:t>+2</a:t>
                </a:r>
                <a:r>
                  <a:rPr lang="en-US" altLang="zh-CN" sz="1200" b="1" i="1" dirty="0">
                    <a:latin typeface="Times New Roman" panose="02020603050405020304" pitchFamily="18" charset="0"/>
                  </a:rPr>
                  <a:t>xy</a:t>
                </a:r>
                <a:r>
                  <a:rPr lang="en-US" altLang="zh-CN" sz="1200" b="1" dirty="0">
                    <a:latin typeface="Times New Roman" panose="02020603050405020304" pitchFamily="18" charset="0"/>
                  </a:rPr>
                  <a:t> = 0 </a:t>
                </a:r>
                <a:endParaRPr lang="en-US" altLang="zh-CN" sz="1200" b="1" i="1" dirty="0"/>
              </a:p>
              <a:p>
                <a:r>
                  <a:rPr lang="en-US" altLang="zh-CN" sz="1200" b="1" i="0">
                    <a:solidFill>
                      <a:schemeClr val="tx1"/>
                    </a:solidFill>
                    <a:latin typeface="Cambria Math" panose="02040503050406030204" pitchFamily="18" charset="0"/>
                  </a:rPr>
                  <a:t>𝒚</a:t>
                </a:r>
                <a:r>
                  <a:rPr lang="en-US" altLang="zh-CN" sz="1200" b="1" i="0">
                    <a:latin typeface="Cambria Math" panose="02040503050406030204" pitchFamily="18" charset="0"/>
                  </a:rPr>
                  <a:t>=−𝒙</a:t>
                </a:r>
                <a:r>
                  <a:rPr lang="zh-CN" altLang="zh-CN" sz="1200" b="1" i="0">
                    <a:latin typeface="Cambria Math" panose="02040503050406030204" pitchFamily="18" charset="0"/>
                  </a:rPr>
                  <a:t>/(</a:t>
                </a:r>
                <a:r>
                  <a:rPr lang="en-US" altLang="zh-CN" sz="1200" b="1" i="0">
                    <a:latin typeface="Cambria Math" panose="02040503050406030204" pitchFamily="18" charset="0"/>
                  </a:rPr>
                  <a:t>𝟐𝒙+𝟏</a:t>
                </a:r>
                <a:r>
                  <a:rPr lang="zh-CN" altLang="zh-CN" sz="1200" b="1" i="0">
                    <a:latin typeface="Cambria Math" panose="02040503050406030204" pitchFamily="18" charset="0"/>
                  </a:rPr>
                  <a:t>)</a:t>
                </a:r>
                <a:r>
                  <a:rPr lang="zh-CN" altLang="en-US" sz="1200" b="1" dirty="0">
                    <a:latin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这意味着每个</a:t>
                </a:r>
                <a:r>
                  <a:rPr lang="en-US" altLang="zh-CN" sz="1200" b="1" i="1" dirty="0">
                    <a:latin typeface="Times New Roman" panose="02020603050405020304" pitchFamily="18" charset="0"/>
                  </a:rPr>
                  <a:t>x</a:t>
                </a:r>
                <a:r>
                  <a:rPr lang="zh-CN" altLang="zh-CN" sz="1200" b="1" dirty="0">
                    <a:latin typeface="Times New Roman" panose="02020603050405020304" pitchFamily="18" charset="0"/>
                    <a:cs typeface="Times New Roman" panose="02020603050405020304" pitchFamily="18" charset="0"/>
                  </a:rPr>
                  <a:t>（</a:t>
                </a:r>
                <a:r>
                  <a:rPr lang="en-US" altLang="zh-CN" sz="1200" b="1" i="0">
                    <a:latin typeface="Cambria Math" panose="02040503050406030204" pitchFamily="18" charset="0"/>
                  </a:rPr>
                  <a:t>𝒙≠−𝟏</a:t>
                </a:r>
                <a:r>
                  <a:rPr lang="zh-CN" altLang="zh-CN" sz="1200" b="1" i="0">
                    <a:latin typeface="Cambria Math" panose="02040503050406030204" pitchFamily="18" charset="0"/>
                  </a:rPr>
                  <a:t>/</a:t>
                </a:r>
                <a:r>
                  <a:rPr lang="en-US" altLang="zh-CN" sz="1200" b="1" i="0">
                    <a:latin typeface="Cambria Math" panose="02040503050406030204" pitchFamily="18" charset="0"/>
                  </a:rPr>
                  <a:t>𝟐</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）都有逆元</a:t>
                </a:r>
                <a:r>
                  <a:rPr lang="en-US" altLang="zh-CN" sz="1200" b="1" dirty="0">
                    <a:latin typeface="Times New Roman" panose="02020603050405020304" pitchFamily="18" charset="0"/>
                    <a:cs typeface="Times New Roman" panose="02020603050405020304" pitchFamily="18" charset="0"/>
                  </a:rPr>
                  <a:t>y</a:t>
                </a:r>
                <a:r>
                  <a:rPr lang="zh-CN" altLang="zh-CN" sz="1200" b="1" dirty="0">
                    <a:latin typeface="Times New Roman" panose="02020603050405020304" pitchFamily="18" charset="0"/>
                    <a:cs typeface="Times New Roman" panose="02020603050405020304" pitchFamily="18" charset="0"/>
                  </a:rPr>
                  <a:t>。</a:t>
                </a:r>
              </a:p>
              <a:p>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25</a:t>
            </a:fld>
            <a:endParaRPr lang="zh-CN" altLang="en-US"/>
          </a:p>
        </p:txBody>
      </p:sp>
    </p:spTree>
    <p:extLst>
      <p:ext uri="{BB962C8B-B14F-4D97-AF65-F5344CB8AC3E}">
        <p14:creationId xmlns:p14="http://schemas.microsoft.com/office/powerpoint/2010/main" val="25451152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chemeClr val="tx1"/>
                </a:solidFill>
                <a:latin typeface="Times New Roman" panose="02020603050405020304" pitchFamily="18" charset="0"/>
                <a:ea typeface="宋体" panose="02010600030101010101" pitchFamily="2" charset="-122"/>
              </a:rPr>
              <a:t>下面是三个运算表</a:t>
            </a:r>
          </a:p>
          <a:p>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(1) </a:t>
            </a:r>
            <a:r>
              <a:rPr lang="zh-CN" altLang="en-US" sz="1200" b="1" dirty="0">
                <a:solidFill>
                  <a:schemeClr val="tx1"/>
                </a:solidFill>
                <a:latin typeface="Times New Roman" panose="02020603050405020304" pitchFamily="18" charset="0"/>
                <a:ea typeface="宋体" panose="02010600030101010101" pitchFamily="2" charset="-122"/>
              </a:rPr>
              <a:t>说明那些运算是可交换的、可结合的、幂等的</a:t>
            </a:r>
            <a:r>
              <a:rPr lang="en-US" altLang="zh-CN" sz="1200" b="1" dirty="0">
                <a:solidFill>
                  <a:schemeClr val="tx1"/>
                </a:solidFill>
                <a:latin typeface="Times New Roman" panose="02020603050405020304" pitchFamily="18" charset="0"/>
                <a:ea typeface="宋体" panose="02010600030101010101" pitchFamily="2" charset="-122"/>
              </a:rPr>
              <a:t>. </a:t>
            </a:r>
          </a:p>
          <a:p>
            <a:r>
              <a:rPr lang="en-US" altLang="zh-CN" sz="1200" b="1" dirty="0">
                <a:solidFill>
                  <a:schemeClr val="tx1"/>
                </a:solidFill>
                <a:latin typeface="Times New Roman" panose="02020603050405020304" pitchFamily="18" charset="0"/>
                <a:ea typeface="宋体" panose="02010600030101010101" pitchFamily="2" charset="-122"/>
              </a:rPr>
              <a:t> (2) </a:t>
            </a:r>
            <a:r>
              <a:rPr lang="zh-CN" altLang="en-US" sz="1200" b="1" dirty="0">
                <a:solidFill>
                  <a:schemeClr val="tx1"/>
                </a:solidFill>
                <a:latin typeface="Times New Roman" panose="02020603050405020304" pitchFamily="18" charset="0"/>
                <a:ea typeface="宋体" panose="02010600030101010101" pitchFamily="2" charset="-122"/>
              </a:rPr>
              <a:t>求出每个运算的单位元、零元、所有可逆元素的逆元</a:t>
            </a:r>
            <a:r>
              <a:rPr lang="en-US" altLang="zh-CN" sz="1200" b="1" dirty="0">
                <a:solidFill>
                  <a:schemeClr val="tx1"/>
                </a:solidFill>
                <a:latin typeface="Times New Roman" panose="02020603050405020304" pitchFamily="18" charset="0"/>
                <a:ea typeface="宋体" panose="02010600030101010101" pitchFamily="2" charset="-122"/>
              </a:rPr>
              <a:t>.</a:t>
            </a:r>
          </a:p>
          <a:p>
            <a:r>
              <a:rPr lang="zh-CN" altLang="en-US" sz="1200" b="1" dirty="0">
                <a:solidFill>
                  <a:srgbClr val="00B0F0"/>
                </a:solidFill>
                <a:latin typeface="Times New Roman" panose="02020603050405020304" pitchFamily="18" charset="0"/>
                <a:ea typeface="宋体" panose="02010600030101010101" pitchFamily="2" charset="-122"/>
              </a:rPr>
              <a:t>解</a:t>
            </a:r>
            <a:endParaRPr lang="en-US" altLang="zh-CN" sz="1200" b="1" dirty="0">
              <a:solidFill>
                <a:srgbClr val="00B0F0"/>
              </a:solidFill>
              <a:latin typeface="Times New Roman" panose="02020603050405020304" pitchFamily="18" charset="0"/>
              <a:ea typeface="宋体" panose="02010600030101010101" pitchFamily="2" charset="-122"/>
            </a:endParaRPr>
          </a:p>
          <a:p>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(1)</a:t>
            </a:r>
            <a:r>
              <a:rPr lang="zh-CN" altLang="en-US" sz="1200" b="1" dirty="0">
                <a:solidFill>
                  <a:schemeClr val="tx1"/>
                </a:solidFill>
                <a:latin typeface="Times New Roman" panose="02020603050405020304" pitchFamily="18" charset="0"/>
                <a:ea typeface="宋体" panose="02010600030101010101" pitchFamily="2" charset="-122"/>
              </a:rPr>
              <a:t> </a:t>
            </a:r>
            <a:r>
              <a:rPr lang="zh-CN" altLang="en-US" sz="1200" dirty="0">
                <a:solidFill>
                  <a:srgbClr val="000000"/>
                </a:solidFill>
                <a:ea typeface="宋体" panose="02010600030101010101" pitchFamily="2" charset="-122"/>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rPr>
              <a:t> 满足交换律、结合律； </a:t>
            </a:r>
            <a:r>
              <a:rPr lang="zh-CN" altLang="en-US" sz="1200" b="1" dirty="0">
                <a:solidFill>
                  <a:schemeClr val="tx1"/>
                </a:solidFill>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rPr>
              <a:t> 满足结合律、幂等律；  </a:t>
            </a:r>
          </a:p>
          <a:p>
            <a:r>
              <a:rPr lang="zh-CN" altLang="en-US" sz="800" b="1" dirty="0">
                <a:solidFill>
                  <a:schemeClr val="tx1"/>
                </a:solidFill>
                <a:latin typeface="Times New Roman" panose="02020603050405020304" pitchFamily="18" charset="0"/>
                <a:ea typeface="宋体" panose="02010600030101010101" pitchFamily="2" charset="-122"/>
              </a:rPr>
              <a:t>                      </a:t>
            </a:r>
            <a:r>
              <a:rPr lang="zh-CN" altLang="en-US" sz="3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 满足交换律、结合律</a:t>
            </a:r>
            <a:r>
              <a:rPr lang="en-US" altLang="zh-CN" sz="1200" b="1" dirty="0">
                <a:solidFill>
                  <a:schemeClr val="tx1"/>
                </a:solidFill>
                <a:latin typeface="Times New Roman" panose="02020603050405020304" pitchFamily="18" charset="0"/>
                <a:ea typeface="宋体" panose="02010600030101010101" pitchFamily="2" charset="-122"/>
              </a:rPr>
              <a:t>.      </a:t>
            </a:r>
          </a:p>
          <a:p>
            <a:r>
              <a:rPr lang="en-US" altLang="zh-CN" sz="1200" b="1" dirty="0">
                <a:solidFill>
                  <a:schemeClr val="tx1"/>
                </a:solidFill>
                <a:latin typeface="Times New Roman" panose="02020603050405020304" pitchFamily="18" charset="0"/>
                <a:ea typeface="宋体" panose="02010600030101010101" pitchFamily="2" charset="-122"/>
              </a:rPr>
              <a:t>(2) </a:t>
            </a:r>
            <a:r>
              <a:rPr lang="zh-CN" altLang="en-US" sz="1200" dirty="0">
                <a:solidFill>
                  <a:srgbClr val="000000"/>
                </a:solidFill>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rPr>
              <a:t> 的单位元为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没有零元，</a:t>
            </a:r>
            <a:r>
              <a:rPr lang="zh-CN" altLang="en-US" sz="1200" b="1" i="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p>
          <a:p>
            <a:r>
              <a:rPr lang="zh-CN" altLang="en-US" dirty="0">
                <a:solidFill>
                  <a:schemeClr val="tx1"/>
                </a:solidFill>
                <a:sym typeface="Symbol" panose="05050102010706020507" pitchFamily="18" charset="2"/>
              </a:rPr>
              <a:t>        </a:t>
            </a:r>
            <a:r>
              <a:rPr lang="zh-CN" altLang="en-US" sz="1200" b="1" dirty="0">
                <a:solidFill>
                  <a:schemeClr val="tx1"/>
                </a:solidFill>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的单位元和零元都不存在，没有可逆元素</a:t>
            </a:r>
            <a:r>
              <a:rPr lang="en-US" altLang="zh-CN" sz="1200" b="1" dirty="0">
                <a:solidFill>
                  <a:schemeClr val="tx1"/>
                </a:solidFill>
                <a:latin typeface="Times New Roman" panose="02020603050405020304" pitchFamily="18" charset="0"/>
                <a:ea typeface="宋体" panose="02010600030101010101" pitchFamily="2" charset="-122"/>
              </a:rPr>
              <a:t>.</a:t>
            </a:r>
          </a:p>
          <a:p>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8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的单位元为 </a:t>
            </a:r>
            <a:r>
              <a:rPr lang="en-US" altLang="zh-CN" sz="1200" b="1" i="1" dirty="0">
                <a:solidFill>
                  <a:schemeClr val="tx1"/>
                </a:solidFill>
                <a:latin typeface="Times New Roman" panose="02020603050405020304" pitchFamily="18" charset="0"/>
                <a:ea typeface="宋体" panose="02010600030101010101" pitchFamily="2" charset="-122"/>
              </a:rPr>
              <a:t>a</a:t>
            </a:r>
            <a:r>
              <a:rPr lang="zh-CN" altLang="en-US" sz="1200" b="1" dirty="0">
                <a:solidFill>
                  <a:schemeClr val="tx1"/>
                </a:solidFill>
                <a:latin typeface="Times New Roman" panose="02020603050405020304" pitchFamily="18" charset="0"/>
                <a:ea typeface="宋体" panose="02010600030101010101" pitchFamily="2" charset="-122"/>
              </a:rPr>
              <a:t>，零元为</a:t>
            </a:r>
            <a:r>
              <a:rPr lang="en-US" altLang="zh-CN" sz="1200" b="1" i="1" dirty="0">
                <a:solidFill>
                  <a:schemeClr val="tx1"/>
                </a:solidFill>
                <a:latin typeface="Times New Roman" panose="02020603050405020304" pitchFamily="18" charset="0"/>
                <a:ea typeface="宋体" panose="02010600030101010101" pitchFamily="2" charset="-122"/>
              </a:rPr>
              <a:t>c</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a:t>
            </a:r>
            <a:r>
              <a:rPr lang="zh-CN" altLang="en-US" sz="1200" b="1" dirty="0">
                <a:solidFill>
                  <a:schemeClr val="tx1"/>
                </a:solidFill>
                <a:latin typeface="Times New Roman" panose="02020603050405020304" pitchFamily="18" charset="0"/>
                <a:ea typeface="宋体" panose="02010600030101010101" pitchFamily="2" charset="-122"/>
              </a:rPr>
              <a:t>不是可逆元素</a:t>
            </a:r>
            <a:r>
              <a:rPr lang="en-US" altLang="zh-CN" sz="1200" b="1" dirty="0">
                <a:solidFill>
                  <a:schemeClr val="tx1"/>
                </a:solidFill>
                <a:latin typeface="Times New Roman" panose="02020603050405020304" pitchFamily="18" charset="0"/>
                <a:ea typeface="宋体" panose="02010600030101010101" pitchFamily="2" charset="-12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26</a:t>
            </a:fld>
            <a:endParaRPr lang="zh-CN" altLang="en-US"/>
          </a:p>
        </p:txBody>
      </p:sp>
    </p:spTree>
    <p:extLst>
      <p:ext uri="{BB962C8B-B14F-4D97-AF65-F5344CB8AC3E}">
        <p14:creationId xmlns:p14="http://schemas.microsoft.com/office/powerpoint/2010/main" val="31420081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27</a:t>
            </a:fld>
            <a:endParaRPr lang="zh-CN" altLang="en-US"/>
          </a:p>
        </p:txBody>
      </p:sp>
    </p:spTree>
    <p:extLst>
      <p:ext uri="{BB962C8B-B14F-4D97-AF65-F5344CB8AC3E}">
        <p14:creationId xmlns:p14="http://schemas.microsoft.com/office/powerpoint/2010/main" val="5763761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28</a:t>
            </a:fld>
            <a:endParaRPr lang="zh-CN" altLang="en-US"/>
          </a:p>
        </p:txBody>
      </p:sp>
    </p:spTree>
    <p:extLst>
      <p:ext uri="{BB962C8B-B14F-4D97-AF65-F5344CB8AC3E}">
        <p14:creationId xmlns:p14="http://schemas.microsoft.com/office/powerpoint/2010/main" val="23640220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9.1 </a:t>
            </a:r>
            <a:r>
              <a:rPr lang="zh-CN" altLang="en-US" dirty="0"/>
              <a:t>二元运算及其性质 </a:t>
            </a:r>
            <a:r>
              <a:rPr lang="en-US" altLang="zh-CN" dirty="0"/>
              <a:t>9.2 </a:t>
            </a:r>
            <a:r>
              <a:rPr lang="zh-CN" altLang="en-US" dirty="0"/>
              <a:t>代数系统 </a:t>
            </a:r>
            <a:r>
              <a:rPr lang="en-US" altLang="zh-CN" dirty="0"/>
              <a:t>9.3 </a:t>
            </a:r>
            <a:r>
              <a:rPr lang="zh-CN" altLang="en-US" dirty="0"/>
              <a:t>几个典型的代数系统</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29</a:t>
            </a:fld>
            <a:endParaRPr lang="zh-CN" altLang="en-US"/>
          </a:p>
        </p:txBody>
      </p:sp>
    </p:spTree>
    <p:extLst>
      <p:ext uri="{BB962C8B-B14F-4D97-AF65-F5344CB8AC3E}">
        <p14:creationId xmlns:p14="http://schemas.microsoft.com/office/powerpoint/2010/main" val="18680387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50000"/>
              </a:spcBef>
              <a:buNone/>
            </a:pPr>
            <a:r>
              <a:rPr lang="en-US" altLang="zh-CN" b="1" dirty="0"/>
              <a:t>9.2.1 </a:t>
            </a:r>
            <a:r>
              <a:rPr lang="zh-CN" altLang="en-US" b="1" dirty="0"/>
              <a:t>代数系统的定义与实例</a:t>
            </a:r>
            <a:endParaRPr lang="en-US" altLang="zh-CN" b="1" dirty="0"/>
          </a:p>
          <a:p>
            <a:pPr marL="0" indent="0">
              <a:spcBef>
                <a:spcPct val="50000"/>
              </a:spcBef>
              <a:buNone/>
            </a:pPr>
            <a:endParaRPr lang="zh-CN" altLang="en-US" b="1" dirty="0"/>
          </a:p>
          <a:p>
            <a:pPr marL="0" indent="0">
              <a:spcBef>
                <a:spcPct val="50000"/>
              </a:spcBef>
              <a:buNone/>
            </a:pPr>
            <a:r>
              <a:rPr lang="en-US" altLang="zh-CN" b="1" dirty="0"/>
              <a:t>9.2.2 </a:t>
            </a:r>
            <a:r>
              <a:rPr lang="zh-CN" altLang="en-US" b="1" dirty="0"/>
              <a:t>子代数系统与积代数系统</a:t>
            </a:r>
            <a:endParaRPr lang="en-US" altLang="zh-CN" b="1" dirty="0"/>
          </a:p>
          <a:p>
            <a:pPr marL="0" indent="0">
              <a:spcBef>
                <a:spcPct val="50000"/>
              </a:spcBef>
              <a:buNone/>
            </a:pPr>
            <a:endParaRPr lang="zh-CN" altLang="en-US" b="1" dirty="0"/>
          </a:p>
          <a:p>
            <a:pPr marL="0" indent="0">
              <a:spcBef>
                <a:spcPct val="50000"/>
              </a:spcBef>
              <a:buNone/>
            </a:pPr>
            <a:r>
              <a:rPr lang="en-US" altLang="zh-CN" b="1" dirty="0"/>
              <a:t>9.2.3 </a:t>
            </a:r>
            <a:r>
              <a:rPr lang="zh-CN" altLang="en-US" b="1" dirty="0"/>
              <a:t>代数系统的同态与同构</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30</a:t>
            </a:fld>
            <a:endParaRPr lang="zh-CN" altLang="en-US"/>
          </a:p>
        </p:txBody>
      </p:sp>
    </p:spTree>
    <p:extLst>
      <p:ext uri="{BB962C8B-B14F-4D97-AF65-F5344CB8AC3E}">
        <p14:creationId xmlns:p14="http://schemas.microsoft.com/office/powerpoint/2010/main" val="18315542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基础数学的代数部分包括：代数表达式</a:t>
            </a:r>
            <a:r>
              <a:rPr lang="en-US" altLang="zh-CN" b="0" dirty="0"/>
              <a:t>(</a:t>
            </a:r>
            <a:r>
              <a:rPr lang="zh-CN" altLang="en-US" b="0" dirty="0"/>
              <a:t>变量、代数式、多项式</a:t>
            </a:r>
            <a:r>
              <a:rPr lang="en-US" altLang="zh-CN" b="0" dirty="0"/>
              <a:t>)</a:t>
            </a:r>
            <a:r>
              <a:rPr lang="zh-CN" altLang="en-US" b="0" dirty="0"/>
              <a:t>；方程和不等式；函数；坐标几何；序列和级数；概率与统计；矩阵</a:t>
            </a:r>
            <a:endParaRPr lang="en-US" altLang="zh-CN" b="0" dirty="0"/>
          </a:p>
          <a:p>
            <a:endParaRPr lang="en-US" altLang="zh-CN" b="0" dirty="0"/>
          </a:p>
          <a:p>
            <a:r>
              <a:rPr lang="zh-CN" altLang="zh-CN" sz="1200" b="1" dirty="0">
                <a:solidFill>
                  <a:srgbClr val="FF0000"/>
                </a:solidFill>
                <a:latin typeface="Times New Roman" panose="02020603050405020304" pitchFamily="18" charset="0"/>
                <a:ea typeface="宋体" panose="02010600030101010101" pitchFamily="2" charset="-122"/>
              </a:rPr>
              <a:t>代数</a:t>
            </a:r>
            <a:r>
              <a:rPr lang="zh-CN" altLang="en-US" sz="1200" b="1" dirty="0">
                <a:latin typeface="Times New Roman" panose="02020603050405020304" pitchFamily="18" charset="0"/>
                <a:ea typeface="宋体" panose="02010600030101010101" pitchFamily="2" charset="-122"/>
              </a:rPr>
              <a:t>（</a:t>
            </a:r>
            <a:r>
              <a:rPr lang="zh-CN" altLang="zh-CN" sz="1200" b="1" dirty="0">
                <a:latin typeface="Times New Roman" panose="02020603050405020304" pitchFamily="18" charset="0"/>
              </a:rPr>
              <a:t>广义</a:t>
            </a:r>
            <a:r>
              <a:rPr lang="zh-CN" altLang="en-US" sz="1200" b="1" dirty="0">
                <a:latin typeface="Times New Roman" panose="02020603050405020304" pitchFamily="18" charset="0"/>
                <a:ea typeface="宋体" panose="02010600030101010101" pitchFamily="2" charset="-122"/>
              </a:rPr>
              <a:t>）</a:t>
            </a:r>
            <a:r>
              <a:rPr lang="zh-CN" altLang="zh-CN" sz="1200" b="1" dirty="0">
                <a:latin typeface="Times New Roman" panose="02020603050405020304" pitchFamily="18" charset="0"/>
                <a:ea typeface="宋体" panose="02010600030101010101" pitchFamily="2" charset="-122"/>
              </a:rPr>
              <a:t>作为数学的一个主要分支，研究各种代数结构以及相关的运算、方程和理论。代数的研究对象不仅是数字，而是各种抽象化的结构。</a:t>
            </a:r>
            <a:endParaRPr lang="en-US" altLang="zh-CN" sz="1200" b="1" dirty="0">
              <a:latin typeface="Times New Roman" panose="02020603050405020304" pitchFamily="18" charset="0"/>
              <a:ea typeface="宋体" panose="02010600030101010101" pitchFamily="2" charset="-122"/>
            </a:endParaRPr>
          </a:p>
          <a:p>
            <a:endParaRPr lang="zh-CN" altLang="zh-CN" sz="1200" b="1" dirty="0">
              <a:latin typeface="Times New Roman" panose="02020603050405020304" pitchFamily="18" charset="0"/>
              <a:ea typeface="宋体" panose="02010600030101010101" pitchFamily="2" charset="-122"/>
            </a:endParaRPr>
          </a:p>
          <a:p>
            <a:r>
              <a:rPr lang="zh-CN" altLang="en-US" sz="1200" b="1" dirty="0">
                <a:latin typeface="Times New Roman" panose="02020603050405020304" pitchFamily="18" charset="0"/>
                <a:ea typeface="宋体" panose="02010600030101010101" pitchFamily="2" charset="-122"/>
              </a:rPr>
              <a:t>代数的发展是一个</a:t>
            </a:r>
            <a:r>
              <a:rPr lang="zh-CN" altLang="en-US" sz="1200" b="1" dirty="0">
                <a:solidFill>
                  <a:srgbClr val="FF0000"/>
                </a:solidFill>
                <a:latin typeface="Times New Roman" panose="02020603050405020304" pitchFamily="18" charset="0"/>
                <a:ea typeface="宋体" panose="02010600030101010101" pitchFamily="2" charset="-122"/>
              </a:rPr>
              <a:t>逐步抽象和系统化</a:t>
            </a:r>
            <a:r>
              <a:rPr lang="zh-CN" altLang="en-US" sz="1200" b="1" dirty="0">
                <a:latin typeface="Times New Roman" panose="02020603050405020304" pitchFamily="18" charset="0"/>
                <a:ea typeface="宋体" panose="02010600030101010101" pitchFamily="2" charset="-122"/>
              </a:rPr>
              <a:t>的过程，从初等代数中的基本概念（如加法、乘法、变量和多项式），到线性代数（向量、矩阵和行列式），再到更抽象的高等代数（群、环、域等）结构类型，是人类对未知量的不断追踪和探索过程。</a:t>
            </a:r>
            <a:endParaRPr lang="en-US" altLang="zh-CN" sz="1200" b="1" dirty="0">
              <a:latin typeface="Times New Roman" panose="02020603050405020304" pitchFamily="18" charset="0"/>
              <a:ea typeface="宋体" panose="02010600030101010101" pitchFamily="2" charset="-122"/>
            </a:endParaRPr>
          </a:p>
          <a:p>
            <a:endParaRPr lang="zh-CN" altLang="en-US" b="0" dirty="0"/>
          </a:p>
          <a:p>
            <a:endParaRPr lang="zh-CN" altLang="en-US" b="0"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31</a:t>
            </a:fld>
            <a:endParaRPr lang="zh-CN" altLang="en-US"/>
          </a:p>
        </p:txBody>
      </p:sp>
    </p:spTree>
    <p:extLst>
      <p:ext uri="{BB962C8B-B14F-4D97-AF65-F5344CB8AC3E}">
        <p14:creationId xmlns:p14="http://schemas.microsoft.com/office/powerpoint/2010/main" val="5637131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基础数学的代数部分包括：代数表达式</a:t>
            </a:r>
            <a:r>
              <a:rPr lang="en-US" altLang="zh-CN" b="0" dirty="0"/>
              <a:t>(</a:t>
            </a:r>
            <a:r>
              <a:rPr lang="zh-CN" altLang="en-US" b="0" dirty="0"/>
              <a:t>变量、代数式、多项式</a:t>
            </a:r>
            <a:r>
              <a:rPr lang="en-US" altLang="zh-CN" b="0" dirty="0"/>
              <a:t>)</a:t>
            </a:r>
            <a:r>
              <a:rPr lang="zh-CN" altLang="en-US" b="0" dirty="0"/>
              <a:t>；方程和不等式；函数；坐标几何；序列和级数；概率与统计；矩阵</a:t>
            </a:r>
            <a:endParaRPr lang="en-US" altLang="zh-CN" b="0" dirty="0"/>
          </a:p>
          <a:p>
            <a:endParaRPr lang="en-US" altLang="zh-CN" b="0" dirty="0"/>
          </a:p>
          <a:p>
            <a:r>
              <a:rPr lang="zh-CN" altLang="zh-CN" sz="1200" b="1" dirty="0">
                <a:solidFill>
                  <a:srgbClr val="FF0000"/>
                </a:solidFill>
                <a:latin typeface="Times New Roman" panose="02020603050405020304" pitchFamily="18" charset="0"/>
              </a:rPr>
              <a:t>代数结构</a:t>
            </a:r>
            <a:r>
              <a:rPr lang="zh-CN" altLang="en-US" sz="1200" b="1" dirty="0">
                <a:latin typeface="Times New Roman" panose="02020603050405020304" pitchFamily="18" charset="0"/>
              </a:rPr>
              <a:t>（代数系统的类型）</a:t>
            </a:r>
            <a:r>
              <a:rPr lang="zh-CN" altLang="zh-CN" sz="1200" b="1" dirty="0">
                <a:latin typeface="Times New Roman" panose="02020603050405020304" pitchFamily="18" charset="0"/>
              </a:rPr>
              <a:t>是一种抽象的数学概念，用于描述在一个或多个集合上定义的运算及其</a:t>
            </a:r>
            <a:r>
              <a:rPr lang="zh-CN" altLang="en-US" sz="1200" b="1" dirty="0">
                <a:latin typeface="Times New Roman" panose="02020603050405020304" pitchFamily="18" charset="0"/>
              </a:rPr>
              <a:t>（</a:t>
            </a:r>
            <a:r>
              <a:rPr lang="zh-CN" altLang="zh-CN" sz="1200" b="1" dirty="0">
                <a:latin typeface="Times New Roman" panose="02020603050405020304" pitchFamily="18" charset="0"/>
              </a:rPr>
              <a:t>抽象</a:t>
            </a:r>
            <a:r>
              <a:rPr lang="zh-CN" altLang="en-US" sz="1200" b="1" dirty="0">
                <a:latin typeface="Times New Roman" panose="02020603050405020304" pitchFamily="18" charset="0"/>
              </a:rPr>
              <a:t>）</a:t>
            </a:r>
            <a:r>
              <a:rPr lang="zh-CN" altLang="zh-CN" sz="1200" b="1" dirty="0">
                <a:latin typeface="Times New Roman" panose="02020603050405020304" pitchFamily="18" charset="0"/>
              </a:rPr>
              <a:t>性质</a:t>
            </a:r>
            <a:r>
              <a:rPr lang="zh-CN" altLang="en-US" sz="1200" b="1" dirty="0">
                <a:latin typeface="Times New Roman" panose="02020603050405020304" pitchFamily="18" charset="0"/>
              </a:rPr>
              <a:t>，</a:t>
            </a:r>
            <a:r>
              <a:rPr lang="zh-CN" altLang="zh-CN" sz="1200" b="1" dirty="0">
                <a:latin typeface="Times New Roman" panose="02020603050405020304" pitchFamily="18" charset="0"/>
              </a:rPr>
              <a:t>这些运算需要满足特定的规则和公理。</a:t>
            </a:r>
            <a:r>
              <a:rPr lang="zh-CN" altLang="en-US" sz="1200" b="1" dirty="0">
                <a:latin typeface="Times New Roman" panose="02020603050405020304" pitchFamily="18" charset="0"/>
              </a:rPr>
              <a:t>如：群、环、域等代数结构。</a:t>
            </a:r>
            <a:endParaRPr lang="zh-CN" altLang="zh-CN" sz="1200" b="1" dirty="0">
              <a:latin typeface="Times New Roman" panose="02020603050405020304" pitchFamily="18" charset="0"/>
            </a:endParaRPr>
          </a:p>
          <a:p>
            <a:endParaRPr lang="zh-CN" altLang="zh-CN" sz="1200" b="1" dirty="0">
              <a:latin typeface="Times New Roman" panose="02020603050405020304" pitchFamily="18" charset="0"/>
              <a:ea typeface="宋体" panose="02010600030101010101" pitchFamily="2" charset="-122"/>
            </a:endParaRPr>
          </a:p>
          <a:p>
            <a:r>
              <a:rPr lang="zh-CN" altLang="zh-CN" sz="1200" b="1" dirty="0">
                <a:solidFill>
                  <a:srgbClr val="FF0000"/>
                </a:solidFill>
                <a:latin typeface="Times New Roman" panose="02020603050405020304" pitchFamily="18" charset="0"/>
              </a:rPr>
              <a:t>代数系统</a:t>
            </a:r>
            <a:r>
              <a:rPr lang="zh-CN" altLang="zh-CN" sz="1200" b="1" dirty="0">
                <a:latin typeface="Times New Roman" panose="02020603050405020304" pitchFamily="18" charset="0"/>
              </a:rPr>
              <a:t>是代数结构的具体实现或实例，包括特定的集合及</a:t>
            </a:r>
            <a:r>
              <a:rPr lang="zh-CN" altLang="en-US" sz="1200" b="1" dirty="0">
                <a:latin typeface="Times New Roman" panose="02020603050405020304" pitchFamily="18" charset="0"/>
              </a:rPr>
              <a:t>集合</a:t>
            </a:r>
            <a:r>
              <a:rPr lang="zh-CN" altLang="zh-CN" sz="1200" b="1" dirty="0">
                <a:latin typeface="Times New Roman" panose="02020603050405020304" pitchFamily="18" charset="0"/>
              </a:rPr>
              <a:t>上的</a:t>
            </a:r>
            <a:r>
              <a:rPr lang="zh-CN" altLang="en-US" sz="1200" b="1" dirty="0">
                <a:latin typeface="Times New Roman" panose="02020603050405020304" pitchFamily="18" charset="0"/>
              </a:rPr>
              <a:t>具体</a:t>
            </a:r>
            <a:r>
              <a:rPr lang="zh-CN" altLang="zh-CN" sz="1200" b="1" dirty="0">
                <a:latin typeface="Times New Roman" panose="02020603050405020304" pitchFamily="18" charset="0"/>
              </a:rPr>
              <a:t>运算。</a:t>
            </a:r>
            <a:endParaRPr lang="en-US" altLang="zh-CN" sz="1200" b="1" dirty="0">
              <a:latin typeface="Times New Roman" panose="02020603050405020304" pitchFamily="18" charset="0"/>
            </a:endParaRPr>
          </a:p>
          <a:p>
            <a:r>
              <a:rPr lang="zh-CN" altLang="en-US" sz="1200" b="1" dirty="0">
                <a:solidFill>
                  <a:srgbClr val="00B0F0"/>
                </a:solidFill>
                <a:latin typeface="Times New Roman" panose="02020603050405020304" pitchFamily="18" charset="0"/>
                <a:ea typeface="宋体" panose="02010600030101010101" pitchFamily="2" charset="-122"/>
              </a:rPr>
              <a:t>如：</a:t>
            </a:r>
            <a:r>
              <a:rPr lang="zh-CN" altLang="zh-CN" sz="1200" b="1" dirty="0">
                <a:latin typeface="Times New Roman" panose="02020603050405020304" pitchFamily="18" charset="0"/>
              </a:rPr>
              <a:t>自然数集</a:t>
            </a:r>
            <a:r>
              <a:rPr lang="zh-CN" altLang="en-US" sz="1200" b="1" dirty="0">
                <a:latin typeface="Times New Roman" panose="02020603050405020304" pitchFamily="18" charset="0"/>
              </a:rPr>
              <a:t>合</a:t>
            </a:r>
            <a:r>
              <a:rPr lang="en-US" altLang="zh-CN" sz="1200" b="1" dirty="0">
                <a:latin typeface="Times New Roman" panose="02020603050405020304" pitchFamily="18" charset="0"/>
              </a:rPr>
              <a:t>N</a:t>
            </a:r>
            <a:r>
              <a:rPr lang="zh-CN" altLang="en-US" sz="1200" b="1" dirty="0">
                <a:latin typeface="Times New Roman" panose="02020603050405020304" pitchFamily="18" charset="0"/>
              </a:rPr>
              <a:t>上的加法；</a:t>
            </a:r>
            <a:r>
              <a:rPr lang="zh-CN" altLang="zh-CN" sz="1200" b="1" dirty="0">
                <a:latin typeface="Times New Roman" panose="02020603050405020304" pitchFamily="18" charset="0"/>
              </a:rPr>
              <a:t>整数集</a:t>
            </a:r>
            <a:r>
              <a:rPr lang="zh-CN" altLang="en-US" sz="1200" b="1" dirty="0">
                <a:latin typeface="Times New Roman" panose="02020603050405020304" pitchFamily="18" charset="0"/>
              </a:rPr>
              <a:t>合</a:t>
            </a:r>
            <a:r>
              <a:rPr lang="en-US" altLang="zh-CN" sz="1200" b="1" dirty="0">
                <a:latin typeface="Times New Roman" panose="02020603050405020304" pitchFamily="18" charset="0"/>
              </a:rPr>
              <a:t>Z</a:t>
            </a:r>
            <a:r>
              <a:rPr lang="zh-CN" altLang="en-US" sz="1200" b="1" dirty="0">
                <a:latin typeface="Times New Roman" panose="02020603050405020304" pitchFamily="18" charset="0"/>
              </a:rPr>
              <a:t>上的加法和乘法</a:t>
            </a:r>
            <a:r>
              <a:rPr lang="en-US" altLang="zh-CN" sz="1200" b="1" dirty="0">
                <a:latin typeface="Times New Roman" panose="02020603050405020304" pitchFamily="18" charset="0"/>
              </a:rPr>
              <a:t>;</a:t>
            </a:r>
          </a:p>
          <a:p>
            <a:r>
              <a:rPr lang="zh-CN" altLang="zh-CN" sz="1200" b="1" dirty="0">
                <a:latin typeface="Times New Roman" panose="02020603050405020304" pitchFamily="18" charset="0"/>
              </a:rPr>
              <a:t>实数集</a:t>
            </a:r>
            <a:r>
              <a:rPr lang="zh-CN" altLang="en-US" sz="1200" b="1" dirty="0">
                <a:latin typeface="Times New Roman" panose="02020603050405020304" pitchFamily="18" charset="0"/>
              </a:rPr>
              <a:t>合</a:t>
            </a:r>
            <a:r>
              <a:rPr lang="en-US" altLang="zh-CN" sz="1200" b="1" dirty="0">
                <a:latin typeface="Times New Roman" panose="02020603050405020304" pitchFamily="18" charset="0"/>
              </a:rPr>
              <a:t>R</a:t>
            </a:r>
            <a:r>
              <a:rPr lang="zh-CN" altLang="en-US" sz="1200" b="1" dirty="0">
                <a:latin typeface="Times New Roman" panose="02020603050405020304" pitchFamily="18" charset="0"/>
              </a:rPr>
              <a:t>上的加法和乘法；</a:t>
            </a:r>
            <a:r>
              <a:rPr lang="en-US" altLang="zh-CN" sz="1200" b="1" i="1" dirty="0">
                <a:latin typeface="Times New Roman" panose="02020603050405020304" pitchFamily="18" charset="0"/>
                <a:ea typeface="宋体" panose="02010600030101010101" pitchFamily="2" charset="-122"/>
              </a:rPr>
              <a:t>n </a:t>
            </a:r>
            <a:r>
              <a:rPr lang="zh-CN" altLang="en-US" sz="1200" b="1" dirty="0">
                <a:latin typeface="Times New Roman" panose="02020603050405020304" pitchFamily="18" charset="0"/>
                <a:ea typeface="宋体" panose="02010600030101010101" pitchFamily="2" charset="-122"/>
              </a:rPr>
              <a:t>阶</a:t>
            </a:r>
            <a:r>
              <a:rPr lang="en-US" altLang="zh-CN" sz="1200" b="1" dirty="0">
                <a:latin typeface="Times New Roman" panose="02020603050405020304" pitchFamily="18" charset="0"/>
                <a:ea typeface="宋体" panose="02010600030101010101" pitchFamily="2" charset="-122"/>
              </a:rPr>
              <a:t>(</a:t>
            </a:r>
            <a:r>
              <a:rPr lang="en-US" altLang="zh-CN" sz="1200" b="1" i="1" dirty="0">
                <a:latin typeface="Times New Roman" panose="02020603050405020304" pitchFamily="18" charset="0"/>
                <a:ea typeface="宋体" panose="02010600030101010101" pitchFamily="2" charset="-122"/>
              </a:rPr>
              <a:t>n</a:t>
            </a:r>
            <a:r>
              <a:rPr lang="en-US" altLang="zh-CN" sz="1200" b="1" dirty="0">
                <a:latin typeface="Times New Roman" panose="02020603050405020304" pitchFamily="18" charset="0"/>
                <a:ea typeface="宋体" panose="02010600030101010101" pitchFamily="2" charset="-122"/>
              </a:rPr>
              <a:t>≥2)</a:t>
            </a:r>
            <a:r>
              <a:rPr lang="zh-CN" altLang="en-US" sz="1200" b="1" dirty="0">
                <a:latin typeface="Times New Roman" panose="02020603050405020304" pitchFamily="18" charset="0"/>
                <a:ea typeface="宋体" panose="02010600030101010101" pitchFamily="2" charset="-122"/>
              </a:rPr>
              <a:t>实矩阵集合</a:t>
            </a:r>
            <a:r>
              <a:rPr lang="en-US" altLang="zh-CN" sz="1200" b="1" i="1" dirty="0">
                <a:latin typeface="Times New Roman" panose="02020603050405020304" pitchFamily="18" charset="0"/>
                <a:ea typeface="宋体" panose="02010600030101010101" pitchFamily="2" charset="-122"/>
              </a:rPr>
              <a:t>M</a:t>
            </a:r>
            <a:r>
              <a:rPr lang="en-US" altLang="zh-CN" sz="1200" b="1" i="1" baseline="-25000" dirty="0">
                <a:latin typeface="Times New Roman" panose="02020603050405020304" pitchFamily="18" charset="0"/>
                <a:ea typeface="宋体" panose="02010600030101010101" pitchFamily="2" charset="-122"/>
              </a:rPr>
              <a:t>n</a:t>
            </a:r>
            <a:r>
              <a:rPr lang="en-US" altLang="zh-CN" sz="1200" b="1" dirty="0">
                <a:latin typeface="Times New Roman" panose="02020603050405020304" pitchFamily="18" charset="0"/>
                <a:ea typeface="宋体" panose="02010600030101010101" pitchFamily="2" charset="-122"/>
              </a:rPr>
              <a:t>(R)</a:t>
            </a:r>
            <a:r>
              <a:rPr lang="zh-CN" altLang="en-US" sz="1200" b="1" dirty="0">
                <a:latin typeface="Times New Roman" panose="02020603050405020304" pitchFamily="18" charset="0"/>
                <a:ea typeface="宋体" panose="02010600030101010101" pitchFamily="2" charset="-122"/>
              </a:rPr>
              <a:t>上的加法和乘法；</a:t>
            </a:r>
            <a:r>
              <a:rPr lang="zh-CN" altLang="en-US" sz="1200" b="1" dirty="0">
                <a:latin typeface="Times New Roman" panose="02020603050405020304" pitchFamily="18" charset="0"/>
              </a:rPr>
              <a:t>集合</a:t>
            </a:r>
            <a:r>
              <a:rPr lang="en-US" altLang="zh-CN" sz="1200" b="1" i="1" dirty="0">
                <a:latin typeface="Times New Roman" panose="02020603050405020304" pitchFamily="18" charset="0"/>
                <a:ea typeface="宋体" panose="02010600030101010101" pitchFamily="2" charset="-122"/>
              </a:rPr>
              <a:t>Z</a:t>
            </a:r>
            <a:r>
              <a:rPr lang="en-US" altLang="zh-CN" sz="1200" b="1" i="1" baseline="-25000" dirty="0">
                <a:latin typeface="Times New Roman" panose="02020603050405020304" pitchFamily="18" charset="0"/>
                <a:ea typeface="宋体" panose="02010600030101010101" pitchFamily="2" charset="-122"/>
              </a:rPr>
              <a:t>n</a:t>
            </a:r>
            <a:r>
              <a:rPr lang="zh-CN" altLang="en-US" sz="1200" b="1" dirty="0">
                <a:latin typeface="Times New Roman" panose="02020603050405020304" pitchFamily="18" charset="0"/>
                <a:ea typeface="宋体" panose="02010600030101010101" pitchFamily="2" charset="-122"/>
              </a:rPr>
              <a:t>＝</a:t>
            </a:r>
            <a:r>
              <a:rPr lang="en-US" altLang="zh-CN" sz="1200" b="1" dirty="0">
                <a:latin typeface="Times New Roman" panose="02020603050405020304" pitchFamily="18" charset="0"/>
                <a:ea typeface="宋体" panose="02010600030101010101" pitchFamily="2" charset="-122"/>
              </a:rPr>
              <a:t>{ 0, 1, … , </a:t>
            </a:r>
            <a:r>
              <a:rPr lang="en-US" altLang="zh-CN" sz="1200" b="1" i="1" dirty="0">
                <a:latin typeface="Times New Roman" panose="02020603050405020304" pitchFamily="18" charset="0"/>
                <a:ea typeface="宋体" panose="02010600030101010101" pitchFamily="2" charset="-122"/>
              </a:rPr>
              <a:t>n</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rPr>
              <a:t>1 }</a:t>
            </a:r>
            <a:r>
              <a:rPr lang="zh-CN" altLang="en-US" sz="1200" b="1" dirty="0">
                <a:latin typeface="Times New Roman" panose="02020603050405020304" pitchFamily="18" charset="0"/>
                <a:ea typeface="宋体" panose="02010600030101010101" pitchFamily="2" charset="-122"/>
              </a:rPr>
              <a:t>上模 </a:t>
            </a:r>
            <a:r>
              <a:rPr lang="en-US" altLang="zh-CN" sz="1200" b="1" i="1" dirty="0">
                <a:latin typeface="Times New Roman" panose="02020603050405020304" pitchFamily="18" charset="0"/>
                <a:ea typeface="宋体" panose="02010600030101010101" pitchFamily="2" charset="-122"/>
              </a:rPr>
              <a:t>n </a:t>
            </a:r>
            <a:r>
              <a:rPr lang="zh-CN" altLang="en-US" sz="1200" b="1" dirty="0">
                <a:latin typeface="Times New Roman" panose="02020603050405020304" pitchFamily="18" charset="0"/>
                <a:ea typeface="宋体" panose="02010600030101010101" pitchFamily="2" charset="-122"/>
              </a:rPr>
              <a:t>的加法和乘法；集合 </a:t>
            </a:r>
            <a:r>
              <a:rPr lang="en-US" altLang="zh-CN" sz="1200" b="1" i="1" dirty="0">
                <a:latin typeface="Times New Roman" panose="02020603050405020304" pitchFamily="18" charset="0"/>
                <a:ea typeface="宋体" panose="02010600030101010101" pitchFamily="2" charset="-122"/>
              </a:rPr>
              <a:t>S</a:t>
            </a:r>
            <a:r>
              <a:rPr lang="en-US" altLang="zh-CN" sz="1200" b="1" dirty="0">
                <a:latin typeface="Times New Roman" panose="02020603050405020304" pitchFamily="18" charset="0"/>
                <a:ea typeface="宋体" panose="02010600030101010101" pitchFamily="2" charset="-122"/>
              </a:rPr>
              <a:t> </a:t>
            </a:r>
            <a:r>
              <a:rPr lang="zh-CN" altLang="en-US" sz="1200" b="1" dirty="0">
                <a:latin typeface="Times New Roman" panose="02020603050405020304" pitchFamily="18" charset="0"/>
                <a:ea typeface="宋体" panose="02010600030101010101" pitchFamily="2" charset="-122"/>
              </a:rPr>
              <a:t>幂集</a:t>
            </a:r>
            <a:r>
              <a:rPr lang="en-US" altLang="zh-CN" sz="1200" b="1" i="1" dirty="0">
                <a:latin typeface="Times New Roman" panose="02020603050405020304" pitchFamily="18" charset="0"/>
                <a:ea typeface="宋体" panose="02010600030101010101" pitchFamily="2" charset="-122"/>
              </a:rPr>
              <a:t>P</a:t>
            </a:r>
            <a:r>
              <a:rPr lang="en-US" altLang="zh-CN" sz="1200" b="1" dirty="0">
                <a:latin typeface="Times New Roman" panose="02020603050405020304" pitchFamily="18" charset="0"/>
                <a:ea typeface="宋体" panose="02010600030101010101" pitchFamily="2" charset="-122"/>
              </a:rPr>
              <a:t>(</a:t>
            </a:r>
            <a:r>
              <a:rPr lang="en-US" altLang="zh-CN" sz="1200" b="1" i="1" dirty="0">
                <a:latin typeface="Times New Roman" panose="02020603050405020304" pitchFamily="18" charset="0"/>
                <a:ea typeface="宋体" panose="02010600030101010101" pitchFamily="2" charset="-122"/>
              </a:rPr>
              <a:t>S</a:t>
            </a:r>
            <a:r>
              <a:rPr lang="en-US" altLang="zh-CN" sz="1200" b="1" dirty="0">
                <a:latin typeface="Times New Roman" panose="02020603050405020304" pitchFamily="18" charset="0"/>
                <a:ea typeface="宋体" panose="02010600030101010101" pitchFamily="2" charset="-122"/>
              </a:rPr>
              <a:t>)</a:t>
            </a:r>
            <a:r>
              <a:rPr lang="zh-CN" altLang="en-US" sz="1200" b="1" dirty="0">
                <a:latin typeface="Times New Roman" panose="02020603050405020304" pitchFamily="18" charset="0"/>
                <a:ea typeface="宋体" panose="02010600030101010101" pitchFamily="2" charset="-122"/>
              </a:rPr>
              <a:t>上的并、交和绝对补。</a:t>
            </a:r>
            <a:endParaRPr lang="en-US" altLang="zh-CN" sz="1200" b="1" dirty="0">
              <a:latin typeface="Times New Roman" panose="02020603050405020304" pitchFamily="18" charset="0"/>
              <a:ea typeface="宋体" panose="02010600030101010101" pitchFamily="2" charset="-122"/>
            </a:endParaRPr>
          </a:p>
          <a:p>
            <a:endParaRPr lang="zh-CN" altLang="en-US" b="0" dirty="0"/>
          </a:p>
          <a:p>
            <a:endParaRPr lang="zh-CN" altLang="en-US" b="0"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32</a:t>
            </a:fld>
            <a:endParaRPr lang="zh-CN" altLang="en-US"/>
          </a:p>
        </p:txBody>
      </p:sp>
    </p:spTree>
    <p:extLst>
      <p:ext uri="{BB962C8B-B14F-4D97-AF65-F5344CB8AC3E}">
        <p14:creationId xmlns:p14="http://schemas.microsoft.com/office/powerpoint/2010/main" val="32501964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1" dirty="0">
                <a:latin typeface="Times New Roman" panose="02020603050405020304" pitchFamily="18" charset="0"/>
              </a:rPr>
              <a:t>S</a:t>
            </a:r>
            <a:r>
              <a:rPr lang="en-US" altLang="zh-CN" sz="1200" b="0" dirty="0">
                <a:latin typeface="Times New Roman" panose="02020603050405020304" pitchFamily="18" charset="0"/>
              </a:rPr>
              <a:t> </a:t>
            </a:r>
            <a:r>
              <a:rPr lang="zh-CN" altLang="en-US" sz="1200" b="0" dirty="0">
                <a:latin typeface="Times New Roman" panose="02020603050405020304" pitchFamily="18" charset="0"/>
              </a:rPr>
              <a:t>称为代数系统的</a:t>
            </a:r>
            <a:r>
              <a:rPr lang="zh-CN" altLang="en-US" sz="1200" b="0" dirty="0">
                <a:solidFill>
                  <a:srgbClr val="FF0000"/>
                </a:solidFill>
                <a:latin typeface="Times New Roman" panose="02020603050405020304" pitchFamily="18" charset="0"/>
              </a:rPr>
              <a:t>载体</a:t>
            </a:r>
            <a:r>
              <a:rPr lang="zh-CN" altLang="en-US" sz="1200" b="0" dirty="0">
                <a:latin typeface="Times New Roman" panose="02020603050405020304" pitchFamily="18" charset="0"/>
              </a:rPr>
              <a:t>， </a:t>
            </a:r>
            <a:r>
              <a:rPr lang="en-US" altLang="zh-CN" sz="1200" b="0" i="1" dirty="0">
                <a:latin typeface="Times New Roman" panose="02020603050405020304" pitchFamily="18" charset="0"/>
              </a:rPr>
              <a:t>S </a:t>
            </a:r>
            <a:r>
              <a:rPr lang="zh-CN" altLang="en-US" sz="1200" b="0" dirty="0">
                <a:latin typeface="Times New Roman" panose="02020603050405020304" pitchFamily="18" charset="0"/>
              </a:rPr>
              <a:t>和运算叫做代数系统的成分</a:t>
            </a:r>
            <a:r>
              <a:rPr lang="en-US" altLang="zh-CN" sz="1200" b="0" dirty="0">
                <a:latin typeface="Times New Roman" panose="02020603050405020304" pitchFamily="18" charset="0"/>
              </a:rPr>
              <a:t>. </a:t>
            </a:r>
            <a:r>
              <a:rPr lang="zh-CN" altLang="en-US" sz="1200" b="0" dirty="0">
                <a:latin typeface="Times New Roman" panose="02020603050405020304" pitchFamily="18" charset="0"/>
              </a:rPr>
              <a:t>有的代数系统定义指定了</a:t>
            </a:r>
            <a:r>
              <a:rPr lang="en-US" altLang="zh-CN" sz="1200" b="0" i="1" dirty="0">
                <a:latin typeface="Times New Roman" panose="02020603050405020304" pitchFamily="18" charset="0"/>
              </a:rPr>
              <a:t>S</a:t>
            </a:r>
            <a:r>
              <a:rPr lang="zh-CN" altLang="en-US" sz="1200" b="0" dirty="0">
                <a:latin typeface="Times New Roman" panose="02020603050405020304" pitchFamily="18" charset="0"/>
              </a:rPr>
              <a:t>中的特殊元素，称为代数常数</a:t>
            </a:r>
            <a:r>
              <a:rPr lang="en-US" altLang="zh-CN" sz="1200" b="0" dirty="0">
                <a:latin typeface="Times New Roman" panose="02020603050405020304" pitchFamily="18" charset="0"/>
              </a:rPr>
              <a:t>, </a:t>
            </a:r>
            <a:r>
              <a:rPr lang="zh-CN" altLang="en-US" sz="1200" b="0" dirty="0">
                <a:latin typeface="Times New Roman" panose="02020603050405020304" pitchFamily="18" charset="0"/>
              </a:rPr>
              <a:t>例如二元运算的单位元</a:t>
            </a:r>
            <a:r>
              <a:rPr lang="en-US" altLang="zh-CN" sz="1200" b="0" dirty="0">
                <a:latin typeface="Times New Roman" panose="02020603050405020304" pitchFamily="18" charset="0"/>
              </a:rPr>
              <a:t>.</a:t>
            </a:r>
            <a:r>
              <a:rPr lang="zh-CN" altLang="en-US" sz="1200" b="0" dirty="0">
                <a:latin typeface="Times New Roman" panose="02020603050405020304" pitchFamily="18" charset="0"/>
              </a:rPr>
              <a:t>有时也将代数常数作为系统的成分</a:t>
            </a:r>
            <a:r>
              <a:rPr lang="en-US" altLang="zh-CN" sz="1200" b="0" dirty="0">
                <a:latin typeface="Times New Roman" panose="02020603050405020304" pitchFamily="18" charset="0"/>
              </a:rPr>
              <a:t>. </a:t>
            </a:r>
          </a:p>
          <a:p>
            <a:endParaRPr lang="en-US" altLang="zh-CN" sz="1200" b="0" dirty="0">
              <a:latin typeface="Times New Roman" panose="02020603050405020304" pitchFamily="18" charset="0"/>
            </a:endParaRPr>
          </a:p>
          <a:p>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14.7</a:t>
            </a:r>
            <a:r>
              <a:rPr lang="en-US" altLang="zh-CN" sz="1200" b="1" dirty="0">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非空集合 </a:t>
            </a:r>
            <a:r>
              <a:rPr lang="en-US" altLang="zh-CN" sz="1200" b="1" i="1" dirty="0">
                <a:solidFill>
                  <a:schemeClr val="tx1"/>
                </a:solidFill>
                <a:latin typeface="Times New Roman" panose="02020603050405020304" pitchFamily="18" charset="0"/>
                <a:ea typeface="宋体" panose="02010600030101010101" pitchFamily="2" charset="-122"/>
              </a:rPr>
              <a:t>S </a:t>
            </a:r>
            <a:r>
              <a:rPr lang="zh-CN" altLang="en-US" sz="1200" b="1" dirty="0">
                <a:solidFill>
                  <a:schemeClr val="tx1"/>
                </a:solidFill>
                <a:latin typeface="Times New Roman" panose="02020603050405020304" pitchFamily="18" charset="0"/>
                <a:ea typeface="宋体" panose="02010600030101010101" pitchFamily="2" charset="-122"/>
              </a:rPr>
              <a:t>和 </a:t>
            </a:r>
            <a:r>
              <a:rPr lang="en-US" altLang="zh-CN" sz="1200" b="1" i="1" dirty="0">
                <a:solidFill>
                  <a:schemeClr val="tx1"/>
                </a:solidFill>
                <a:latin typeface="Times New Roman" panose="02020603050405020304" pitchFamily="18" charset="0"/>
                <a:ea typeface="宋体" panose="02010600030101010101" pitchFamily="2" charset="-122"/>
              </a:rPr>
              <a:t>S </a:t>
            </a:r>
            <a:r>
              <a:rPr lang="zh-CN" altLang="en-US" sz="1200" b="1" dirty="0">
                <a:solidFill>
                  <a:schemeClr val="tx1"/>
                </a:solidFill>
                <a:latin typeface="Times New Roman" panose="02020603050405020304" pitchFamily="18" charset="0"/>
                <a:ea typeface="宋体" panose="02010600030101010101" pitchFamily="2" charset="-122"/>
              </a:rPr>
              <a:t>上 </a:t>
            </a:r>
            <a:r>
              <a:rPr lang="en-US" altLang="zh-CN" sz="1200" b="1" i="1" dirty="0">
                <a:solidFill>
                  <a:schemeClr val="tx1"/>
                </a:solidFill>
                <a:latin typeface="Times New Roman" panose="02020603050405020304" pitchFamily="18" charset="0"/>
                <a:ea typeface="宋体" panose="02010600030101010101" pitchFamily="2" charset="-122"/>
              </a:rPr>
              <a:t>k </a:t>
            </a:r>
            <a:r>
              <a:rPr lang="zh-CN" altLang="en-US" sz="1200" b="1" dirty="0">
                <a:solidFill>
                  <a:schemeClr val="tx1"/>
                </a:solidFill>
                <a:latin typeface="Times New Roman" panose="02020603050405020304" pitchFamily="18" charset="0"/>
                <a:ea typeface="宋体" panose="02010600030101010101" pitchFamily="2" charset="-122"/>
              </a:rPr>
              <a:t>个运算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en-US" altLang="zh-CN" sz="1200" b="1" dirty="0">
                <a:solidFill>
                  <a:schemeClr val="tx1"/>
                </a:solidFill>
                <a:latin typeface="Times New Roman" panose="02020603050405020304" pitchFamily="18" charset="0"/>
                <a:ea typeface="宋体" panose="02010600030101010101" pitchFamily="2" charset="-122"/>
              </a:rPr>
              <a:t>, … ,  </a:t>
            </a:r>
            <a:r>
              <a:rPr lang="en-US" altLang="zh-CN" sz="1200" b="1" i="1" dirty="0" err="1">
                <a:solidFill>
                  <a:schemeClr val="tx1"/>
                </a:solidFill>
                <a:latin typeface="Times New Roman" panose="02020603050405020304" pitchFamily="18" charset="0"/>
                <a:ea typeface="宋体" panose="02010600030101010101" pitchFamily="2" charset="-122"/>
              </a:rPr>
              <a:t>f</a:t>
            </a:r>
            <a:r>
              <a:rPr lang="en-US" altLang="zh-CN" sz="1200" b="1" i="1" baseline="-25000" dirty="0" err="1">
                <a:solidFill>
                  <a:schemeClr val="tx1"/>
                </a:solidFill>
                <a:latin typeface="Times New Roman" panose="02020603050405020304" pitchFamily="18" charset="0"/>
                <a:ea typeface="宋体" panose="02010600030101010101" pitchFamily="2" charset="-122"/>
              </a:rPr>
              <a:t>k</a:t>
            </a:r>
            <a:r>
              <a:rPr lang="en-US" altLang="zh-CN" sz="1200" b="1" i="1" baseline="-25000" dirty="0">
                <a:solidFill>
                  <a:schemeClr val="tx1"/>
                </a:solidFill>
                <a:latin typeface="Times New Roman" panose="02020603050405020304" pitchFamily="18" charset="0"/>
                <a:ea typeface="宋体" panose="02010600030101010101" pitchFamily="2" charset="-122"/>
              </a:rPr>
              <a:t> </a:t>
            </a:r>
            <a:r>
              <a:rPr lang="zh-CN" altLang="en-US" sz="1200" b="1" dirty="0">
                <a:latin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rPr>
              <a:t>其中</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i="1" baseline="-25000" dirty="0">
                <a:solidFill>
                  <a:schemeClr val="tx1"/>
                </a:solidFill>
                <a:latin typeface="Times New Roman" panose="02020603050405020304" pitchFamily="18" charset="0"/>
                <a:ea typeface="宋体" panose="02010600030101010101" pitchFamily="2" charset="-122"/>
              </a:rPr>
              <a:t>i</a:t>
            </a:r>
            <a:r>
              <a:rPr lang="zh-CN" altLang="en-US" sz="1200" b="1" dirty="0">
                <a:solidFill>
                  <a:schemeClr val="tx1"/>
                </a:solidFill>
                <a:latin typeface="Times New Roman" panose="02020603050405020304" pitchFamily="18" charset="0"/>
                <a:ea typeface="宋体" panose="02010600030101010101" pitchFamily="2" charset="-122"/>
              </a:rPr>
              <a:t>为</a:t>
            </a:r>
            <a:r>
              <a:rPr lang="en-US" altLang="zh-CN" sz="1200" b="1" i="1" dirty="0" err="1">
                <a:solidFill>
                  <a:schemeClr val="tx1"/>
                </a:solidFill>
                <a:latin typeface="Times New Roman" panose="02020603050405020304" pitchFamily="18" charset="0"/>
                <a:ea typeface="宋体" panose="02010600030101010101" pitchFamily="2" charset="-122"/>
              </a:rPr>
              <a:t>n</a:t>
            </a:r>
            <a:r>
              <a:rPr lang="en-US" altLang="zh-CN" sz="1200" b="1" i="1" baseline="-25000" dirty="0" err="1">
                <a:solidFill>
                  <a:schemeClr val="tx1"/>
                </a:solidFill>
                <a:latin typeface="Times New Roman" panose="02020603050405020304" pitchFamily="18" charset="0"/>
                <a:ea typeface="宋体" panose="02010600030101010101" pitchFamily="2" charset="-122"/>
              </a:rPr>
              <a:t>i</a:t>
            </a:r>
            <a:r>
              <a:rPr lang="zh-CN" altLang="en-US" sz="1200" b="1" dirty="0">
                <a:latin typeface="Times New Roman" panose="02020603050405020304" pitchFamily="18" charset="0"/>
              </a:rPr>
              <a:t>元运算</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err="1">
                <a:latin typeface="Times New Roman" panose="02020603050405020304" pitchFamily="18" charset="0"/>
                <a:ea typeface="宋体" panose="02010600030101010101" pitchFamily="2" charset="-122"/>
              </a:rPr>
              <a:t>i</a:t>
            </a:r>
            <a:r>
              <a:rPr lang="en-US" altLang="zh-CN" sz="1200" b="1" dirty="0">
                <a:latin typeface="Times New Roman" panose="02020603050405020304" pitchFamily="18" charset="0"/>
                <a:ea typeface="宋体" panose="02010600030101010101" pitchFamily="2" charset="-122"/>
              </a:rPr>
              <a:t>=1,2,…,k</a:t>
            </a:r>
            <a:r>
              <a:rPr lang="en-US" altLang="zh-CN" sz="1200" b="1" i="1" baseline="-25000"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a:t>
            </a:r>
            <a:r>
              <a:rPr lang="zh-CN" altLang="en-US" sz="1200" b="1" dirty="0">
                <a:latin typeface="Times New Roman" panose="02020603050405020304" pitchFamily="18" charset="0"/>
              </a:rPr>
              <a:t>组成</a:t>
            </a:r>
            <a:r>
              <a:rPr lang="zh-CN" altLang="en-US" sz="1200" b="1" dirty="0">
                <a:solidFill>
                  <a:schemeClr val="tx1"/>
                </a:solidFill>
                <a:latin typeface="Times New Roman" panose="02020603050405020304" pitchFamily="18" charset="0"/>
                <a:ea typeface="宋体" panose="02010600030101010101" pitchFamily="2" charset="-122"/>
              </a:rPr>
              <a:t>的系统称为一个</a:t>
            </a:r>
            <a:r>
              <a:rPr lang="zh-CN" altLang="en-US" sz="1200" b="1" dirty="0">
                <a:solidFill>
                  <a:srgbClr val="FF0000"/>
                </a:solidFill>
                <a:latin typeface="Times New Roman" panose="02020603050405020304" pitchFamily="18" charset="0"/>
                <a:ea typeface="宋体" panose="02010600030101010101" pitchFamily="2" charset="-122"/>
              </a:rPr>
              <a:t>代数系统</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简称</a:t>
            </a:r>
            <a:r>
              <a:rPr lang="zh-CN" altLang="en-US" sz="1200" b="1" dirty="0">
                <a:solidFill>
                  <a:srgbClr val="FF0000"/>
                </a:solidFill>
                <a:latin typeface="Times New Roman" panose="02020603050405020304" pitchFamily="18" charset="0"/>
                <a:ea typeface="宋体" panose="02010600030101010101" pitchFamily="2" charset="-122"/>
              </a:rPr>
              <a:t>代数</a:t>
            </a:r>
            <a:r>
              <a:rPr lang="zh-CN" altLang="en-US" sz="1200" b="1" dirty="0">
                <a:solidFill>
                  <a:schemeClr val="tx1"/>
                </a:solidFill>
                <a:latin typeface="Times New Roman" panose="02020603050405020304" pitchFamily="18" charset="0"/>
                <a:ea typeface="宋体" panose="02010600030101010101" pitchFamily="2" charset="-122"/>
              </a:rPr>
              <a:t>，记作</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S</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err="1">
                <a:solidFill>
                  <a:schemeClr val="tx1"/>
                </a:solidFill>
                <a:latin typeface="Times New Roman" panose="02020603050405020304" pitchFamily="18" charset="0"/>
                <a:ea typeface="宋体" panose="02010600030101010101" pitchFamily="2" charset="-122"/>
              </a:rPr>
              <a:t>f</a:t>
            </a:r>
            <a:r>
              <a:rPr lang="en-US" altLang="zh-CN" sz="1200" b="1" i="1" baseline="-25000" dirty="0" err="1">
                <a:solidFill>
                  <a:schemeClr val="tx1"/>
                </a:solidFill>
                <a:latin typeface="Times New Roman" panose="02020603050405020304" pitchFamily="18" charset="0"/>
                <a:ea typeface="宋体" panose="02010600030101010101" pitchFamily="2" charset="-122"/>
              </a:rPr>
              <a:t>k</a:t>
            </a:r>
            <a:r>
              <a:rPr lang="en-US" altLang="zh-CN" sz="1200" b="1" dirty="0">
                <a:solidFill>
                  <a:schemeClr val="tx1"/>
                </a:solidFill>
                <a:latin typeface="Times New Roman" panose="02020603050405020304" pitchFamily="18" charset="0"/>
                <a:ea typeface="宋体" panose="02010600030101010101" pitchFamily="2" charset="-122"/>
              </a:rPr>
              <a:t>&gt;. </a:t>
            </a:r>
          </a:p>
          <a:p>
            <a:pPr>
              <a:spcBef>
                <a:spcPct val="50000"/>
              </a:spcBef>
            </a:pPr>
            <a:r>
              <a:rPr lang="zh-CN" altLang="en-US" sz="1200" b="1" dirty="0">
                <a:solidFill>
                  <a:srgbClr val="00B0F0"/>
                </a:solidFill>
                <a:latin typeface="Times New Roman" panose="02020603050405020304" pitchFamily="18" charset="0"/>
                <a:ea typeface="宋体" panose="02010600030101010101" pitchFamily="2" charset="-122"/>
              </a:rPr>
              <a:t>例如：</a:t>
            </a:r>
          </a:p>
          <a:p>
            <a:r>
              <a:rPr lang="en-US" altLang="zh-CN" sz="1200" b="1" dirty="0">
                <a:latin typeface="Times New Roman" panose="02020603050405020304" pitchFamily="18" charset="0"/>
                <a:ea typeface="宋体" panose="02010600030101010101" pitchFamily="2" charset="-122"/>
              </a:rPr>
              <a:t>&lt;N, </a:t>
            </a:r>
            <a:r>
              <a:rPr lang="en-US" altLang="zh-CN" sz="1200" b="1" dirty="0">
                <a:latin typeface="Times New Roman" panose="02020603050405020304" pitchFamily="18" charset="0"/>
              </a:rPr>
              <a:t>+</a:t>
            </a:r>
            <a:r>
              <a:rPr lang="en-US" altLang="zh-CN" sz="1200" dirty="0">
                <a:latin typeface="Times New Roman" panose="02020603050405020304" pitchFamily="18" charset="0"/>
              </a:rPr>
              <a:t> </a:t>
            </a:r>
            <a:r>
              <a:rPr lang="en-US" altLang="zh-CN" sz="1200" b="1" dirty="0">
                <a:latin typeface="Times New Roman" panose="02020603050405020304" pitchFamily="18" charset="0"/>
                <a:ea typeface="宋体" panose="02010600030101010101" pitchFamily="2" charset="-122"/>
              </a:rPr>
              <a:t>&gt;,&lt;Z, </a:t>
            </a:r>
            <a:r>
              <a:rPr lang="en-US" altLang="zh-CN" sz="1200" b="1" dirty="0">
                <a:latin typeface="Times New Roman" panose="02020603050405020304" pitchFamily="18" charset="0"/>
              </a:rPr>
              <a:t>+</a:t>
            </a:r>
            <a:r>
              <a:rPr lang="en-US" altLang="zh-CN" sz="1200" b="1" dirty="0">
                <a:latin typeface="Times New Roman" panose="02020603050405020304" pitchFamily="18" charset="0"/>
                <a:ea typeface="宋体" panose="02010600030101010101" pitchFamily="2" charset="-122"/>
              </a:rPr>
              <a:t>,·&gt;,&lt;R, </a:t>
            </a:r>
            <a:r>
              <a:rPr lang="en-US" altLang="zh-CN" sz="1200" b="1" dirty="0">
                <a:latin typeface="Times New Roman" panose="02020603050405020304" pitchFamily="18" charset="0"/>
              </a:rPr>
              <a:t>+</a:t>
            </a:r>
            <a:r>
              <a:rPr lang="en-US" altLang="zh-CN" sz="1200" b="1" dirty="0">
                <a:latin typeface="Times New Roman" panose="02020603050405020304" pitchFamily="18" charset="0"/>
                <a:ea typeface="宋体" panose="02010600030101010101" pitchFamily="2" charset="-122"/>
              </a:rPr>
              <a:t>,·&gt;</a:t>
            </a:r>
            <a:r>
              <a:rPr lang="zh-CN" altLang="en-US" sz="1200" b="1" dirty="0">
                <a:latin typeface="Times New Roman" panose="02020603050405020304" pitchFamily="18" charset="0"/>
                <a:ea typeface="宋体" panose="02010600030101010101" pitchFamily="2" charset="-122"/>
              </a:rPr>
              <a:t>是代数系统，</a:t>
            </a:r>
          </a:p>
          <a:p>
            <a:r>
              <a:rPr lang="en-US" altLang="zh-CN" sz="1200" b="1" dirty="0">
                <a:latin typeface="Times New Roman" panose="02020603050405020304" pitchFamily="18" charset="0"/>
                <a:ea typeface="宋体" panose="02010600030101010101" pitchFamily="2" charset="-122"/>
              </a:rPr>
              <a:t>    +</a:t>
            </a:r>
            <a:r>
              <a:rPr lang="zh-CN" altLang="en-US" sz="1200" b="1" dirty="0">
                <a:latin typeface="Times New Roman" panose="02020603050405020304" pitchFamily="18" charset="0"/>
                <a:ea typeface="宋体" panose="02010600030101010101" pitchFamily="2" charset="-122"/>
              </a:rPr>
              <a:t>和</a:t>
            </a:r>
            <a:r>
              <a:rPr lang="en-US" altLang="zh-CN" sz="1200" b="1" dirty="0">
                <a:latin typeface="Times New Roman" panose="02020603050405020304" pitchFamily="18" charset="0"/>
                <a:ea typeface="宋体" panose="02010600030101010101" pitchFamily="2" charset="-122"/>
              </a:rPr>
              <a:t>·</a:t>
            </a:r>
            <a:r>
              <a:rPr lang="zh-CN" altLang="en-US" sz="1200" b="1" dirty="0">
                <a:latin typeface="Times New Roman" panose="02020603050405020304" pitchFamily="18" charset="0"/>
                <a:ea typeface="宋体" panose="02010600030101010101" pitchFamily="2" charset="-122"/>
              </a:rPr>
              <a:t>分别表示普通加法和乘法</a:t>
            </a:r>
            <a:r>
              <a:rPr lang="en-US" altLang="zh-CN" sz="1200" b="1" dirty="0">
                <a:latin typeface="Times New Roman" panose="02020603050405020304" pitchFamily="18" charset="0"/>
                <a:ea typeface="宋体" panose="02010600030101010101" pitchFamily="2" charset="-122"/>
              </a:rPr>
              <a:t>. </a:t>
            </a:r>
          </a:p>
          <a:p>
            <a:pPr>
              <a:spcBef>
                <a:spcPct val="20000"/>
              </a:spcBef>
            </a:pPr>
            <a:r>
              <a:rPr lang="en-US" altLang="zh-CN" sz="1200" b="1" dirty="0">
                <a:latin typeface="Times New Roman" panose="02020603050405020304" pitchFamily="18" charset="0"/>
                <a:ea typeface="宋体" panose="02010600030101010101" pitchFamily="2" charset="-122"/>
              </a:rPr>
              <a:t>&lt;</a:t>
            </a:r>
            <a:r>
              <a:rPr lang="en-US" altLang="zh-CN" sz="1200" b="1" i="1" dirty="0">
                <a:latin typeface="Times New Roman" panose="02020603050405020304" pitchFamily="18" charset="0"/>
                <a:ea typeface="宋体" panose="02010600030101010101" pitchFamily="2" charset="-122"/>
              </a:rPr>
              <a:t>M</a:t>
            </a:r>
            <a:r>
              <a:rPr lang="en-US" altLang="zh-CN" sz="1200" b="1" i="1" baseline="-25000" dirty="0">
                <a:latin typeface="Times New Roman" panose="02020603050405020304" pitchFamily="18" charset="0"/>
                <a:ea typeface="宋体" panose="02010600030101010101" pitchFamily="2" charset="-122"/>
              </a:rPr>
              <a:t>n</a:t>
            </a:r>
            <a:r>
              <a:rPr lang="en-US" altLang="zh-CN" sz="1200" b="1" dirty="0">
                <a:latin typeface="Times New Roman" panose="02020603050405020304" pitchFamily="18" charset="0"/>
                <a:ea typeface="宋体" panose="02010600030101010101" pitchFamily="2" charset="-122"/>
              </a:rPr>
              <a:t>(R), </a:t>
            </a:r>
            <a:r>
              <a:rPr lang="en-US" altLang="zh-CN" sz="1200" b="1" dirty="0">
                <a:latin typeface="Times New Roman" panose="02020603050405020304" pitchFamily="18" charset="0"/>
              </a:rPr>
              <a:t>+</a:t>
            </a:r>
            <a:r>
              <a:rPr lang="en-US" altLang="zh-CN" sz="1200" b="1" dirty="0">
                <a:latin typeface="Times New Roman" panose="02020603050405020304" pitchFamily="18" charset="0"/>
                <a:ea typeface="宋体" panose="02010600030101010101" pitchFamily="2" charset="-122"/>
              </a:rPr>
              <a:t>,·&gt;</a:t>
            </a:r>
            <a:r>
              <a:rPr lang="zh-CN" altLang="en-US" sz="1200" b="1" dirty="0">
                <a:latin typeface="Times New Roman" panose="02020603050405020304" pitchFamily="18" charset="0"/>
                <a:ea typeface="宋体" panose="02010600030101010101" pitchFamily="2" charset="-122"/>
              </a:rPr>
              <a:t>是代数系统，</a:t>
            </a:r>
          </a:p>
          <a:p>
            <a:r>
              <a:rPr lang="zh-CN" altLang="en-US" sz="1200" b="1" dirty="0">
                <a:latin typeface="Times New Roman" panose="02020603050405020304" pitchFamily="18" charset="0"/>
                <a:ea typeface="宋体" panose="02010600030101010101" pitchFamily="2" charset="-122"/>
              </a:rPr>
              <a:t>   </a:t>
            </a:r>
            <a:r>
              <a:rPr lang="en-US" altLang="zh-CN" sz="1200" dirty="0">
                <a:latin typeface="Times New Roman" panose="02020603050405020304" pitchFamily="18" charset="0"/>
                <a:ea typeface="宋体" panose="02010600030101010101" pitchFamily="2" charset="-122"/>
              </a:rPr>
              <a:t>+</a:t>
            </a:r>
            <a:r>
              <a:rPr lang="zh-CN" altLang="en-US" sz="1200" b="1" dirty="0">
                <a:latin typeface="Times New Roman" panose="02020603050405020304" pitchFamily="18" charset="0"/>
                <a:ea typeface="宋体" panose="02010600030101010101" pitchFamily="2" charset="-122"/>
              </a:rPr>
              <a:t>和 </a:t>
            </a:r>
            <a:r>
              <a:rPr lang="en-US" altLang="zh-CN" sz="1200" b="1" dirty="0">
                <a:latin typeface="Times New Roman" panose="02020603050405020304" pitchFamily="18" charset="0"/>
                <a:ea typeface="宋体" panose="02010600030101010101" pitchFamily="2" charset="-122"/>
              </a:rPr>
              <a:t>· </a:t>
            </a:r>
            <a:r>
              <a:rPr lang="zh-CN" altLang="en-US" sz="1200" b="1" dirty="0">
                <a:latin typeface="Times New Roman" panose="02020603050405020304" pitchFamily="18" charset="0"/>
                <a:ea typeface="宋体" panose="02010600030101010101" pitchFamily="2" charset="-122"/>
              </a:rPr>
              <a:t>分别表示 </a:t>
            </a:r>
            <a:r>
              <a:rPr lang="en-US" altLang="zh-CN" sz="1200" b="1" i="1" dirty="0">
                <a:latin typeface="Times New Roman" panose="02020603050405020304" pitchFamily="18" charset="0"/>
                <a:ea typeface="宋体" panose="02010600030101010101" pitchFamily="2" charset="-122"/>
              </a:rPr>
              <a:t>n </a:t>
            </a:r>
            <a:r>
              <a:rPr lang="zh-CN" altLang="en-US" sz="1200" b="1" dirty="0">
                <a:latin typeface="Times New Roman" panose="02020603050405020304" pitchFamily="18" charset="0"/>
                <a:ea typeface="宋体" panose="02010600030101010101" pitchFamily="2" charset="-122"/>
              </a:rPr>
              <a:t>阶</a:t>
            </a:r>
            <a:r>
              <a:rPr lang="en-US" altLang="zh-CN" sz="1200" b="1" dirty="0">
                <a:latin typeface="Times New Roman" panose="02020603050405020304" pitchFamily="18" charset="0"/>
                <a:ea typeface="宋体" panose="02010600030101010101" pitchFamily="2" charset="-122"/>
              </a:rPr>
              <a:t>(</a:t>
            </a:r>
            <a:r>
              <a:rPr lang="en-US" altLang="zh-CN" sz="1200" b="1" i="1" dirty="0">
                <a:latin typeface="Times New Roman" panose="02020603050405020304" pitchFamily="18" charset="0"/>
                <a:ea typeface="宋体" panose="02010600030101010101" pitchFamily="2" charset="-122"/>
              </a:rPr>
              <a:t>n</a:t>
            </a:r>
            <a:r>
              <a:rPr lang="en-US" altLang="zh-CN" sz="1200" b="1" dirty="0">
                <a:latin typeface="Times New Roman" panose="02020603050405020304" pitchFamily="18" charset="0"/>
                <a:ea typeface="宋体" panose="02010600030101010101" pitchFamily="2" charset="-122"/>
              </a:rPr>
              <a:t>≥2)</a:t>
            </a:r>
            <a:r>
              <a:rPr lang="zh-CN" altLang="en-US" sz="1200" b="1" dirty="0">
                <a:latin typeface="Times New Roman" panose="02020603050405020304" pitchFamily="18" charset="0"/>
                <a:ea typeface="宋体" panose="02010600030101010101" pitchFamily="2" charset="-122"/>
              </a:rPr>
              <a:t>实矩阵的加法和乘法</a:t>
            </a:r>
            <a:r>
              <a:rPr lang="en-US" altLang="zh-CN" sz="1200" b="1" dirty="0">
                <a:latin typeface="Times New Roman" panose="02020603050405020304" pitchFamily="18" charset="0"/>
                <a:ea typeface="宋体" panose="02010600030101010101" pitchFamily="2" charset="-122"/>
              </a:rPr>
              <a:t>. </a:t>
            </a:r>
          </a:p>
          <a:p>
            <a:pPr>
              <a:spcBef>
                <a:spcPct val="20000"/>
              </a:spcBef>
            </a:pPr>
            <a:r>
              <a:rPr lang="en-US" altLang="zh-CN" sz="1200" b="1" dirty="0">
                <a:latin typeface="Times New Roman" panose="02020603050405020304" pitchFamily="18" charset="0"/>
                <a:ea typeface="宋体" panose="02010600030101010101" pitchFamily="2" charset="-122"/>
              </a:rPr>
              <a:t>&lt;</a:t>
            </a:r>
            <a:r>
              <a:rPr lang="en-US" altLang="zh-CN" sz="1200" b="1" i="1" dirty="0">
                <a:latin typeface="Times New Roman" panose="02020603050405020304" pitchFamily="18" charset="0"/>
                <a:ea typeface="宋体" panose="02010600030101010101" pitchFamily="2" charset="-122"/>
              </a:rPr>
              <a:t>Z</a:t>
            </a:r>
            <a:r>
              <a:rPr lang="en-US" altLang="zh-CN" sz="1200" b="1" i="1" baseline="-25000" dirty="0">
                <a:latin typeface="Times New Roman" panose="02020603050405020304" pitchFamily="18" charset="0"/>
                <a:ea typeface="宋体" panose="02010600030101010101" pitchFamily="2" charset="-122"/>
              </a:rPr>
              <a:t>n</a:t>
            </a:r>
            <a:r>
              <a:rPr lang="en-US" altLang="zh-CN" sz="1200" b="1" dirty="0">
                <a:latin typeface="Times New Roman" panose="02020603050405020304" pitchFamily="18" charset="0"/>
                <a:ea typeface="宋体" panose="02010600030101010101" pitchFamily="2" charset="-122"/>
              </a:rPr>
              <a:t>,</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rPr>
              <a:t>,</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rPr>
              <a:t>&gt;</a:t>
            </a:r>
            <a:r>
              <a:rPr lang="zh-CN" altLang="en-US" sz="1200" b="1" dirty="0">
                <a:latin typeface="Times New Roman" panose="02020603050405020304" pitchFamily="18" charset="0"/>
                <a:ea typeface="宋体" panose="02010600030101010101" pitchFamily="2" charset="-122"/>
              </a:rPr>
              <a:t>是代数系统，</a:t>
            </a:r>
            <a:r>
              <a:rPr lang="en-US" altLang="zh-CN" sz="1200" b="1" i="1" dirty="0">
                <a:latin typeface="Times New Roman" panose="02020603050405020304" pitchFamily="18" charset="0"/>
                <a:ea typeface="宋体" panose="02010600030101010101" pitchFamily="2" charset="-122"/>
              </a:rPr>
              <a:t>Z</a:t>
            </a:r>
            <a:r>
              <a:rPr lang="en-US" altLang="zh-CN" sz="1200" b="1" i="1" baseline="-25000" dirty="0">
                <a:latin typeface="Times New Roman" panose="02020603050405020304" pitchFamily="18" charset="0"/>
                <a:ea typeface="宋体" panose="02010600030101010101" pitchFamily="2" charset="-122"/>
              </a:rPr>
              <a:t>n</a:t>
            </a:r>
            <a:r>
              <a:rPr lang="zh-CN" altLang="en-US" sz="1200" b="1" dirty="0">
                <a:latin typeface="Times New Roman" panose="02020603050405020304" pitchFamily="18" charset="0"/>
                <a:ea typeface="宋体" panose="02010600030101010101" pitchFamily="2" charset="-122"/>
              </a:rPr>
              <a:t>＝</a:t>
            </a:r>
            <a:r>
              <a:rPr lang="en-US" altLang="zh-CN" sz="1200" b="1" dirty="0">
                <a:latin typeface="Times New Roman" panose="02020603050405020304" pitchFamily="18" charset="0"/>
                <a:ea typeface="宋体" panose="02010600030101010101" pitchFamily="2" charset="-122"/>
              </a:rPr>
              <a:t>{ 0, 1, … , </a:t>
            </a:r>
            <a:r>
              <a:rPr lang="en-US" altLang="zh-CN" sz="1200" b="1" i="1" dirty="0">
                <a:latin typeface="Times New Roman" panose="02020603050405020304" pitchFamily="18" charset="0"/>
                <a:ea typeface="宋体" panose="02010600030101010101" pitchFamily="2" charset="-122"/>
              </a:rPr>
              <a:t>n</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rPr>
              <a:t>1 }</a:t>
            </a:r>
            <a:r>
              <a:rPr lang="zh-CN" altLang="en-US" sz="1200" b="1" dirty="0">
                <a:latin typeface="Times New Roman" panose="02020603050405020304" pitchFamily="18" charset="0"/>
                <a:ea typeface="宋体" panose="02010600030101010101" pitchFamily="2" charset="-122"/>
              </a:rPr>
              <a:t>，</a:t>
            </a:r>
          </a:p>
          <a:p>
            <a:r>
              <a:rPr lang="zh-CN" altLang="en-US" sz="1200" b="1" dirty="0">
                <a:latin typeface="Times New Roman" panose="02020603050405020304" pitchFamily="18" charset="0"/>
                <a:ea typeface="宋体" panose="02010600030101010101" pitchFamily="2" charset="-122"/>
              </a:rPr>
              <a:t>   </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rPr>
              <a:t>和</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rPr>
              <a:t>分别表示模 </a:t>
            </a:r>
            <a:r>
              <a:rPr lang="en-US" altLang="zh-CN" sz="1200" b="1" i="1" dirty="0">
                <a:latin typeface="Times New Roman" panose="02020603050405020304" pitchFamily="18" charset="0"/>
                <a:ea typeface="宋体" panose="02010600030101010101" pitchFamily="2" charset="-122"/>
              </a:rPr>
              <a:t>n </a:t>
            </a:r>
            <a:r>
              <a:rPr lang="zh-CN" altLang="en-US" sz="1200" b="1" dirty="0">
                <a:latin typeface="Times New Roman" panose="02020603050405020304" pitchFamily="18" charset="0"/>
                <a:ea typeface="宋体" panose="02010600030101010101" pitchFamily="2" charset="-122"/>
              </a:rPr>
              <a:t>的加法和乘法，对于</a:t>
            </a:r>
            <a:r>
              <a:rPr lang="en-US" altLang="zh-CN" sz="1200" b="1" i="1" dirty="0">
                <a:latin typeface="Times New Roman" panose="02020603050405020304" pitchFamily="18" charset="0"/>
                <a:ea typeface="宋体" panose="02010600030101010101" pitchFamily="2" charset="-122"/>
              </a:rPr>
              <a:t>x</a:t>
            </a:r>
            <a:r>
              <a:rPr lang="en-US" altLang="zh-CN" sz="1200" b="1" dirty="0">
                <a:latin typeface="Times New Roman" panose="02020603050405020304" pitchFamily="18" charset="0"/>
                <a:ea typeface="宋体" panose="02010600030101010101" pitchFamily="2" charset="-122"/>
              </a:rPr>
              <a:t>, </a:t>
            </a:r>
            <a:r>
              <a:rPr lang="en-US" altLang="zh-CN" sz="1200" b="1" i="1" dirty="0" err="1">
                <a:latin typeface="Times New Roman" panose="02020603050405020304" pitchFamily="18" charset="0"/>
                <a:ea typeface="宋体" panose="02010600030101010101" pitchFamily="2" charset="-122"/>
              </a:rPr>
              <a:t>y</a:t>
            </a:r>
            <a:r>
              <a:rPr lang="en-US" altLang="zh-CN" sz="1200" b="1" dirty="0" err="1">
                <a:latin typeface="Times New Roman" panose="02020603050405020304" pitchFamily="18" charset="0"/>
                <a:ea typeface="宋体" panose="02010600030101010101" pitchFamily="2" charset="-122"/>
              </a:rPr>
              <a:t>∈</a:t>
            </a:r>
            <a:r>
              <a:rPr lang="en-US" altLang="zh-CN" sz="1200" b="1" i="1" dirty="0" err="1">
                <a:latin typeface="Times New Roman" panose="02020603050405020304" pitchFamily="18" charset="0"/>
                <a:ea typeface="宋体" panose="02010600030101010101" pitchFamily="2" charset="-122"/>
              </a:rPr>
              <a:t>Z</a:t>
            </a:r>
            <a:r>
              <a:rPr lang="en-US" altLang="zh-CN" sz="1200" b="1" i="1" baseline="-25000" dirty="0" err="1">
                <a:latin typeface="Times New Roman" panose="02020603050405020304" pitchFamily="18" charset="0"/>
                <a:ea typeface="宋体" panose="02010600030101010101" pitchFamily="2" charset="-122"/>
              </a:rPr>
              <a:t>n</a:t>
            </a:r>
            <a:r>
              <a:rPr lang="zh-CN" altLang="en-US" sz="1200" b="1" dirty="0">
                <a:latin typeface="Times New Roman" panose="02020603050405020304" pitchFamily="18" charset="0"/>
                <a:ea typeface="宋体" panose="02010600030101010101" pitchFamily="2" charset="-122"/>
              </a:rPr>
              <a:t>，</a:t>
            </a:r>
          </a:p>
          <a:p>
            <a:r>
              <a:rPr lang="zh-CN" altLang="en-US" sz="1200" b="1" dirty="0">
                <a:latin typeface="Times New Roman" panose="02020603050405020304" pitchFamily="18" charset="0"/>
                <a:ea typeface="宋体" panose="02010600030101010101" pitchFamily="2" charset="-122"/>
              </a:rPr>
              <a:t>             </a:t>
            </a:r>
            <a:r>
              <a:rPr lang="en-US" altLang="zh-CN" sz="1200" b="1" i="1" dirty="0" err="1">
                <a:latin typeface="Times New Roman" panose="02020603050405020304" pitchFamily="18" charset="0"/>
                <a:ea typeface="宋体" panose="02010600030101010101" pitchFamily="2" charset="-122"/>
              </a:rPr>
              <a:t>x</a:t>
            </a:r>
            <a:r>
              <a:rPr lang="en-US" altLang="zh-CN" sz="1200" b="1" dirty="0" err="1">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latin typeface="Times New Roman" panose="02020603050405020304" pitchFamily="18" charset="0"/>
                <a:ea typeface="宋体" panose="02010600030101010101" pitchFamily="2" charset="-122"/>
              </a:rPr>
              <a:t>y</a:t>
            </a:r>
            <a:r>
              <a:rPr lang="en-US" altLang="zh-CN" sz="1200" b="1" dirty="0">
                <a:latin typeface="Times New Roman" panose="02020603050405020304" pitchFamily="18" charset="0"/>
                <a:ea typeface="宋体" panose="02010600030101010101" pitchFamily="2" charset="-122"/>
              </a:rPr>
              <a:t>=(</a:t>
            </a:r>
            <a:r>
              <a:rPr lang="en-US" altLang="zh-CN" sz="1200" b="1" i="1" dirty="0">
                <a:latin typeface="Times New Roman" panose="02020603050405020304" pitchFamily="18" charset="0"/>
                <a:ea typeface="宋体" panose="02010600030101010101" pitchFamily="2" charset="-122"/>
              </a:rPr>
              <a:t>x</a:t>
            </a:r>
            <a:r>
              <a:rPr lang="zh-CN" altLang="en-US" sz="1200" b="1" dirty="0">
                <a:latin typeface="Times New Roman" panose="02020603050405020304" pitchFamily="18" charset="0"/>
                <a:ea typeface="宋体" panose="02010600030101010101" pitchFamily="2" charset="-122"/>
              </a:rPr>
              <a:t>＋</a:t>
            </a:r>
            <a:r>
              <a:rPr lang="en-US" altLang="zh-CN" sz="1200" b="1" i="1" dirty="0">
                <a:latin typeface="Times New Roman" panose="02020603050405020304" pitchFamily="18" charset="0"/>
                <a:ea typeface="宋体" panose="02010600030101010101" pitchFamily="2" charset="-122"/>
              </a:rPr>
              <a:t>y</a:t>
            </a:r>
            <a:r>
              <a:rPr lang="en-US" altLang="zh-CN" sz="1200" b="1" dirty="0">
                <a:latin typeface="Times New Roman" panose="02020603050405020304" pitchFamily="18" charset="0"/>
                <a:ea typeface="宋体" panose="02010600030101010101" pitchFamily="2" charset="-122"/>
              </a:rPr>
              <a:t>)mod </a:t>
            </a:r>
            <a:r>
              <a:rPr lang="en-US" altLang="zh-CN" sz="1200" b="1" i="1" dirty="0">
                <a:latin typeface="Times New Roman" panose="02020603050405020304" pitchFamily="18" charset="0"/>
                <a:ea typeface="宋体" panose="02010600030101010101" pitchFamily="2" charset="-122"/>
              </a:rPr>
              <a:t>n</a:t>
            </a:r>
            <a:r>
              <a:rPr lang="zh-CN" altLang="en-US" sz="1200" b="1" dirty="0">
                <a:latin typeface="Times New Roman" panose="02020603050405020304" pitchFamily="18" charset="0"/>
                <a:ea typeface="宋体" panose="02010600030101010101" pitchFamily="2" charset="-122"/>
              </a:rPr>
              <a:t>，</a:t>
            </a:r>
            <a:r>
              <a:rPr lang="en-US" altLang="zh-CN" sz="1200" b="1" i="1" dirty="0" err="1">
                <a:latin typeface="Times New Roman" panose="02020603050405020304" pitchFamily="18" charset="0"/>
                <a:ea typeface="宋体" panose="02010600030101010101" pitchFamily="2" charset="-122"/>
              </a:rPr>
              <a:t>x</a:t>
            </a:r>
            <a:r>
              <a:rPr lang="en-US" altLang="zh-CN" sz="1200" b="1" dirty="0" err="1">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latin typeface="Times New Roman" panose="02020603050405020304" pitchFamily="18" charset="0"/>
                <a:ea typeface="宋体" panose="02010600030101010101" pitchFamily="2" charset="-122"/>
              </a:rPr>
              <a:t>y</a:t>
            </a:r>
            <a:r>
              <a:rPr lang="en-US" altLang="zh-CN" sz="1200" b="1" dirty="0">
                <a:latin typeface="Times New Roman" panose="02020603050405020304" pitchFamily="18" charset="0"/>
                <a:ea typeface="宋体" panose="02010600030101010101" pitchFamily="2" charset="-122"/>
              </a:rPr>
              <a:t>=(</a:t>
            </a:r>
            <a:r>
              <a:rPr lang="en-US" altLang="zh-CN" sz="1200" b="1" i="1" dirty="0" err="1">
                <a:latin typeface="Times New Roman" panose="02020603050405020304" pitchFamily="18" charset="0"/>
                <a:ea typeface="宋体" panose="02010600030101010101" pitchFamily="2" charset="-122"/>
              </a:rPr>
              <a:t>xy</a:t>
            </a:r>
            <a:r>
              <a:rPr lang="en-US" altLang="zh-CN" sz="1200" b="1" dirty="0">
                <a:latin typeface="Times New Roman" panose="02020603050405020304" pitchFamily="18" charset="0"/>
                <a:ea typeface="宋体" panose="02010600030101010101" pitchFamily="2" charset="-122"/>
              </a:rPr>
              <a:t>)mod </a:t>
            </a:r>
            <a:r>
              <a:rPr lang="en-US" altLang="zh-CN" sz="1200" b="1" i="1" dirty="0">
                <a:latin typeface="Times New Roman" panose="02020603050405020304" pitchFamily="18" charset="0"/>
                <a:ea typeface="宋体" panose="02010600030101010101" pitchFamily="2" charset="-122"/>
              </a:rPr>
              <a:t>n</a:t>
            </a:r>
            <a:endParaRPr lang="en-US" altLang="zh-CN" sz="1200" b="1" dirty="0">
              <a:latin typeface="Times New Roman" panose="02020603050405020304" pitchFamily="18" charset="0"/>
              <a:ea typeface="宋体" panose="02010600030101010101" pitchFamily="2" charset="-122"/>
            </a:endParaRPr>
          </a:p>
          <a:p>
            <a:pPr>
              <a:spcBef>
                <a:spcPct val="20000"/>
              </a:spcBef>
            </a:pPr>
            <a:r>
              <a:rPr lang="en-US" altLang="zh-CN" sz="1200" b="1" dirty="0">
                <a:latin typeface="Times New Roman" panose="02020603050405020304" pitchFamily="18" charset="0"/>
                <a:ea typeface="宋体" panose="02010600030101010101" pitchFamily="2" charset="-122"/>
              </a:rPr>
              <a:t>&lt;</a:t>
            </a:r>
            <a:r>
              <a:rPr lang="en-US" altLang="zh-CN" sz="1200" b="1" i="1" dirty="0">
                <a:latin typeface="Times New Roman" panose="02020603050405020304" pitchFamily="18" charset="0"/>
                <a:ea typeface="宋体" panose="02010600030101010101" pitchFamily="2" charset="-122"/>
              </a:rPr>
              <a:t>P</a:t>
            </a:r>
            <a:r>
              <a:rPr lang="en-US" altLang="zh-CN" sz="1200" b="1" dirty="0">
                <a:latin typeface="Times New Roman" panose="02020603050405020304" pitchFamily="18" charset="0"/>
                <a:ea typeface="宋体" panose="02010600030101010101" pitchFamily="2" charset="-122"/>
              </a:rPr>
              <a:t>(</a:t>
            </a:r>
            <a:r>
              <a:rPr lang="en-US" altLang="zh-CN" sz="1200" b="1" i="1" dirty="0">
                <a:latin typeface="Times New Roman" panose="02020603050405020304" pitchFamily="18" charset="0"/>
                <a:ea typeface="宋体" panose="02010600030101010101" pitchFamily="2" charset="-122"/>
              </a:rPr>
              <a:t>S</a:t>
            </a:r>
            <a:r>
              <a:rPr lang="en-US" altLang="zh-CN" sz="1200" b="1" dirty="0">
                <a:latin typeface="Times New Roman" panose="02020603050405020304" pitchFamily="18" charset="0"/>
                <a:ea typeface="宋体" panose="02010600030101010101" pitchFamily="2" charset="-122"/>
              </a:rPr>
              <a:t>),∪,∩,~&gt;</a:t>
            </a:r>
            <a:r>
              <a:rPr lang="zh-CN" altLang="en-US" sz="1200" b="1" dirty="0">
                <a:latin typeface="Times New Roman" panose="02020603050405020304" pitchFamily="18" charset="0"/>
                <a:ea typeface="宋体" panose="02010600030101010101" pitchFamily="2" charset="-122"/>
              </a:rPr>
              <a:t>也是代数系统，</a:t>
            </a:r>
          </a:p>
          <a:p>
            <a:r>
              <a:rPr lang="zh-CN" altLang="en-US" sz="1200" b="1" dirty="0">
                <a:latin typeface="Times New Roman" panose="02020603050405020304" pitchFamily="18" charset="0"/>
                <a:ea typeface="宋体" panose="02010600030101010101" pitchFamily="2" charset="-122"/>
              </a:rPr>
              <a:t>  ∪和∩为并和交，</a:t>
            </a:r>
            <a:r>
              <a:rPr lang="en-US" altLang="zh-CN" sz="1200" b="1" dirty="0">
                <a:latin typeface="Times New Roman" panose="02020603050405020304" pitchFamily="18" charset="0"/>
                <a:ea typeface="宋体" panose="02010600030101010101" pitchFamily="2" charset="-122"/>
              </a:rPr>
              <a:t>~</a:t>
            </a:r>
            <a:r>
              <a:rPr lang="zh-CN" altLang="en-US" sz="1200" b="1" dirty="0">
                <a:latin typeface="Times New Roman" panose="02020603050405020304" pitchFamily="18" charset="0"/>
                <a:ea typeface="宋体" panose="02010600030101010101" pitchFamily="2" charset="-122"/>
              </a:rPr>
              <a:t>为绝对补</a:t>
            </a:r>
          </a:p>
          <a:p>
            <a:endParaRPr lang="zh-CN" altLang="en-US" b="0"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33</a:t>
            </a:fld>
            <a:endParaRPr lang="zh-CN" altLang="en-US"/>
          </a:p>
        </p:txBody>
      </p:sp>
    </p:spTree>
    <p:extLst>
      <p:ext uri="{BB962C8B-B14F-4D97-AF65-F5344CB8AC3E}">
        <p14:creationId xmlns:p14="http://schemas.microsoft.com/office/powerpoint/2010/main" val="20514971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1" dirty="0">
                <a:latin typeface="Times New Roman" panose="02020603050405020304" pitchFamily="18" charset="0"/>
              </a:rPr>
              <a:t>S</a:t>
            </a:r>
            <a:r>
              <a:rPr lang="en-US" altLang="zh-CN" sz="1200" b="0" dirty="0">
                <a:latin typeface="Times New Roman" panose="02020603050405020304" pitchFamily="18" charset="0"/>
              </a:rPr>
              <a:t> </a:t>
            </a:r>
            <a:r>
              <a:rPr lang="zh-CN" altLang="en-US" sz="1200" b="0" dirty="0">
                <a:latin typeface="Times New Roman" panose="02020603050405020304" pitchFamily="18" charset="0"/>
              </a:rPr>
              <a:t>称为代数系统的</a:t>
            </a:r>
            <a:r>
              <a:rPr lang="zh-CN" altLang="en-US" sz="1200" b="0" dirty="0">
                <a:solidFill>
                  <a:srgbClr val="FF0000"/>
                </a:solidFill>
                <a:latin typeface="Times New Roman" panose="02020603050405020304" pitchFamily="18" charset="0"/>
              </a:rPr>
              <a:t>载体</a:t>
            </a:r>
            <a:r>
              <a:rPr lang="zh-CN" altLang="en-US" sz="1200" b="0" dirty="0">
                <a:latin typeface="Times New Roman" panose="02020603050405020304" pitchFamily="18" charset="0"/>
              </a:rPr>
              <a:t>， </a:t>
            </a:r>
            <a:r>
              <a:rPr lang="en-US" altLang="zh-CN" sz="1200" b="0" i="1" dirty="0">
                <a:latin typeface="Times New Roman" panose="02020603050405020304" pitchFamily="18" charset="0"/>
              </a:rPr>
              <a:t>S </a:t>
            </a:r>
            <a:r>
              <a:rPr lang="zh-CN" altLang="en-US" sz="1200" b="0" dirty="0">
                <a:latin typeface="Times New Roman" panose="02020603050405020304" pitchFamily="18" charset="0"/>
              </a:rPr>
              <a:t>和运算叫做代数系统的成分</a:t>
            </a:r>
            <a:r>
              <a:rPr lang="en-US" altLang="zh-CN" sz="1200" b="0" dirty="0">
                <a:latin typeface="Times New Roman" panose="02020603050405020304" pitchFamily="18" charset="0"/>
              </a:rPr>
              <a:t>. </a:t>
            </a:r>
            <a:r>
              <a:rPr lang="zh-CN" altLang="en-US" sz="1200" b="0" dirty="0">
                <a:latin typeface="Times New Roman" panose="02020603050405020304" pitchFamily="18" charset="0"/>
              </a:rPr>
              <a:t>有的代数系统定义指定了</a:t>
            </a:r>
            <a:r>
              <a:rPr lang="en-US" altLang="zh-CN" sz="1200" b="0" i="1" dirty="0">
                <a:latin typeface="Times New Roman" panose="02020603050405020304" pitchFamily="18" charset="0"/>
              </a:rPr>
              <a:t>S</a:t>
            </a:r>
            <a:r>
              <a:rPr lang="zh-CN" altLang="en-US" sz="1200" b="0" dirty="0">
                <a:latin typeface="Times New Roman" panose="02020603050405020304" pitchFamily="18" charset="0"/>
              </a:rPr>
              <a:t>中的特殊元素，称为代数常数</a:t>
            </a:r>
            <a:r>
              <a:rPr lang="en-US" altLang="zh-CN" sz="1200" b="0" dirty="0">
                <a:latin typeface="Times New Roman" panose="02020603050405020304" pitchFamily="18" charset="0"/>
              </a:rPr>
              <a:t>, </a:t>
            </a:r>
            <a:r>
              <a:rPr lang="zh-CN" altLang="en-US" sz="1200" b="0" dirty="0">
                <a:latin typeface="Times New Roman" panose="02020603050405020304" pitchFamily="18" charset="0"/>
              </a:rPr>
              <a:t>例如二元运算的单位元</a:t>
            </a:r>
            <a:r>
              <a:rPr lang="en-US" altLang="zh-CN" sz="1200" b="0" dirty="0">
                <a:latin typeface="Times New Roman" panose="02020603050405020304" pitchFamily="18" charset="0"/>
              </a:rPr>
              <a:t>.</a:t>
            </a:r>
            <a:r>
              <a:rPr lang="zh-CN" altLang="en-US" sz="1200" b="0" dirty="0">
                <a:latin typeface="Times New Roman" panose="02020603050405020304" pitchFamily="18" charset="0"/>
              </a:rPr>
              <a:t>有时也将代数常数作为系统的成分</a:t>
            </a:r>
            <a:r>
              <a:rPr lang="en-US" altLang="zh-CN" sz="1200" b="0" dirty="0">
                <a:latin typeface="Times New Roman" panose="02020603050405020304" pitchFamily="18" charset="0"/>
              </a:rPr>
              <a:t>. </a:t>
            </a:r>
          </a:p>
          <a:p>
            <a:pPr marL="342900" indent="-342900">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宋体" panose="02010600030101010101" pitchFamily="2" charset="-122"/>
              </a:rPr>
              <a:t>包含所有</a:t>
            </a:r>
            <a:r>
              <a:rPr lang="zh-CN" altLang="en-US" sz="1200" b="1" dirty="0">
                <a:latin typeface="Times New Roman" panose="02020603050405020304" pitchFamily="18" charset="0"/>
              </a:rPr>
              <a:t>元素的</a:t>
            </a:r>
            <a:r>
              <a:rPr lang="zh-CN" altLang="en-US" sz="1200" b="1" dirty="0">
                <a:solidFill>
                  <a:srgbClr val="FF0000"/>
                </a:solidFill>
                <a:latin typeface="Times New Roman" panose="02020603050405020304" pitchFamily="18" charset="0"/>
                <a:ea typeface="宋体" panose="02010600030101010101" pitchFamily="2" charset="-122"/>
              </a:rPr>
              <a:t>基本集合</a:t>
            </a:r>
            <a:r>
              <a:rPr lang="zh-CN" altLang="en-US" sz="1200" b="1" dirty="0">
                <a:latin typeface="Times New Roman" panose="02020603050405020304" pitchFamily="18" charset="0"/>
                <a:ea typeface="宋体" panose="02010600030101010101" pitchFamily="2" charset="-122"/>
              </a:rPr>
              <a:t>（载体）</a:t>
            </a:r>
            <a:r>
              <a:rPr lang="zh-CN" altLang="en-US" sz="1200" b="1" dirty="0">
                <a:solidFill>
                  <a:schemeClr val="tx1"/>
                </a:solidFill>
                <a:latin typeface="Times New Roman" panose="02020603050405020304" pitchFamily="18" charset="0"/>
                <a:ea typeface="宋体" panose="02010600030101010101" pitchFamily="2" charset="-122"/>
              </a:rPr>
              <a:t>。例如，在整数环中，集合是所有整数的集合 </a:t>
            </a:r>
            <a:r>
              <a:rPr lang="en-US" altLang="zh-CN" sz="1200" b="1" dirty="0">
                <a:solidFill>
                  <a:schemeClr val="tx1"/>
                </a:solidFill>
                <a:latin typeface="Times New Roman" panose="02020603050405020304" pitchFamily="18" charset="0"/>
                <a:ea typeface="宋体" panose="02010600030101010101" pitchFamily="2" charset="-122"/>
              </a:rPr>
              <a:t>Z</a:t>
            </a:r>
            <a:r>
              <a:rPr lang="zh-CN" altLang="en-US" sz="1200" b="1" dirty="0">
                <a:solidFill>
                  <a:schemeClr val="tx1"/>
                </a:solidFill>
                <a:latin typeface="Times New Roman" panose="02020603050405020304" pitchFamily="18" charset="0"/>
                <a:ea typeface="宋体" panose="02010600030101010101" pitchFamily="2" charset="-122"/>
              </a:rPr>
              <a:t>。</a:t>
            </a:r>
          </a:p>
          <a:p>
            <a:pPr marL="342900" indent="-342900">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宋体" panose="02010600030101010101" pitchFamily="2" charset="-122"/>
              </a:rPr>
              <a:t>定义在集合上的</a:t>
            </a:r>
            <a:r>
              <a:rPr lang="zh-CN" altLang="en-US" sz="1200" b="1" dirty="0">
                <a:solidFill>
                  <a:srgbClr val="FF0000"/>
                </a:solidFill>
                <a:latin typeface="Times New Roman" panose="02020603050405020304" pitchFamily="18" charset="0"/>
                <a:ea typeface="宋体" panose="02010600030101010101" pitchFamily="2" charset="-122"/>
              </a:rPr>
              <a:t>运算</a:t>
            </a:r>
            <a:r>
              <a:rPr lang="zh-CN" altLang="en-US" sz="1200" b="1" dirty="0">
                <a:solidFill>
                  <a:schemeClr val="tx1"/>
                </a:solidFill>
                <a:latin typeface="Times New Roman" panose="02020603050405020304" pitchFamily="18" charset="0"/>
                <a:ea typeface="宋体" panose="02010600030101010101" pitchFamily="2" charset="-122"/>
              </a:rPr>
              <a:t>。常见的运算有一元和二元运算。</a:t>
            </a:r>
          </a:p>
          <a:p>
            <a:pPr marL="342900" indent="-342900">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宋体" panose="02010600030101010101" pitchFamily="2" charset="-122"/>
              </a:rPr>
              <a:t>有些代数系统需要定义一些</a:t>
            </a:r>
            <a:r>
              <a:rPr lang="zh-CN" altLang="en-US" sz="1200" b="1" dirty="0">
                <a:solidFill>
                  <a:srgbClr val="FF0000"/>
                </a:solidFill>
                <a:latin typeface="Times New Roman" panose="02020603050405020304" pitchFamily="18" charset="0"/>
                <a:ea typeface="宋体" panose="02010600030101010101" pitchFamily="2" charset="-122"/>
              </a:rPr>
              <a:t>特异元素或代数常数</a:t>
            </a:r>
            <a:r>
              <a:rPr lang="zh-CN" altLang="en-US" sz="1200" b="1" dirty="0">
                <a:solidFill>
                  <a:schemeClr val="tx1"/>
                </a:solidFill>
                <a:latin typeface="Times New Roman" panose="02020603050405020304" pitchFamily="18" charset="0"/>
                <a:ea typeface="宋体" panose="02010600030101010101" pitchFamily="2" charset="-122"/>
              </a:rPr>
              <a:t>（</a:t>
            </a:r>
            <a:r>
              <a:rPr lang="zh-CN" altLang="en-US" sz="1200" b="1" dirty="0">
                <a:latin typeface="Times New Roman" panose="02020603050405020304" pitchFamily="18" charset="0"/>
                <a:ea typeface="宋体" panose="02010600030101010101" pitchFamily="2" charset="-122"/>
              </a:rPr>
              <a:t>如</a:t>
            </a:r>
            <a:r>
              <a:rPr lang="zh-CN" altLang="en-US" sz="1200" b="1" dirty="0">
                <a:solidFill>
                  <a:schemeClr val="tx1"/>
                </a:solidFill>
                <a:latin typeface="Times New Roman" panose="02020603050405020304" pitchFamily="18" charset="0"/>
                <a:ea typeface="宋体" panose="02010600030101010101" pitchFamily="2" charset="-122"/>
              </a:rPr>
              <a:t>二元运算的</a:t>
            </a:r>
            <a:r>
              <a:rPr lang="zh-CN" altLang="en-US" sz="1200" b="1" dirty="0">
                <a:solidFill>
                  <a:srgbClr val="FF0000"/>
                </a:solidFill>
                <a:latin typeface="Times New Roman" panose="02020603050405020304" pitchFamily="18" charset="0"/>
                <a:ea typeface="宋体" panose="02010600030101010101" pitchFamily="2" charset="-122"/>
              </a:rPr>
              <a:t>零元和幺元</a:t>
            </a:r>
            <a:r>
              <a:rPr lang="zh-CN" altLang="en-US" sz="1200" b="1" dirty="0">
                <a:solidFill>
                  <a:schemeClr val="tx1"/>
                </a:solidFill>
                <a:latin typeface="Times New Roman" panose="02020603050405020304" pitchFamily="18" charset="0"/>
                <a:ea typeface="宋体" panose="02010600030101010101" pitchFamily="2" charset="-122"/>
              </a:rPr>
              <a:t>）。如整数加法中的元素</a:t>
            </a:r>
            <a:r>
              <a:rPr lang="en-US" altLang="zh-CN" sz="1200" b="1" dirty="0">
                <a:solidFill>
                  <a:schemeClr val="tx1"/>
                </a:solidFill>
                <a:latin typeface="Times New Roman" panose="02020603050405020304" pitchFamily="18" charset="0"/>
                <a:ea typeface="宋体" panose="02010600030101010101" pitchFamily="2" charset="-122"/>
              </a:rPr>
              <a:t>0</a:t>
            </a:r>
            <a:r>
              <a:rPr lang="zh-CN" altLang="en-US" sz="1200" b="1" dirty="0">
                <a:solidFill>
                  <a:schemeClr val="tx1"/>
                </a:solidFill>
                <a:latin typeface="Times New Roman" panose="02020603050405020304" pitchFamily="18" charset="0"/>
                <a:ea typeface="宋体" panose="02010600030101010101" pitchFamily="2" charset="-122"/>
              </a:rPr>
              <a:t>、整数乘法中的元素</a:t>
            </a:r>
            <a:r>
              <a:rPr lang="en-US" altLang="zh-CN" sz="1200" b="1" dirty="0">
                <a:solidFill>
                  <a:schemeClr val="tx1"/>
                </a:solidFill>
                <a:latin typeface="Times New Roman" panose="02020603050405020304" pitchFamily="18" charset="0"/>
                <a:ea typeface="宋体" panose="02010600030101010101" pitchFamily="2" charset="-122"/>
              </a:rPr>
              <a:t>1</a:t>
            </a:r>
            <a:r>
              <a:rPr lang="zh-CN" altLang="en-US" sz="1200" b="1" dirty="0">
                <a:solidFill>
                  <a:schemeClr val="tx1"/>
                </a:solidFill>
                <a:latin typeface="Times New Roman" panose="02020603050405020304" pitchFamily="18" charset="0"/>
                <a:ea typeface="宋体" panose="02010600030101010101" pitchFamily="2" charset="-122"/>
              </a:rPr>
              <a:t>。</a:t>
            </a:r>
          </a:p>
          <a:p>
            <a:pPr marL="342900" indent="-342900">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宋体" panose="02010600030101010101" pitchFamily="2" charset="-122"/>
              </a:rPr>
              <a:t>某些运算可能要求</a:t>
            </a:r>
            <a:r>
              <a:rPr lang="zh-CN" altLang="en-US" sz="1200" b="1" dirty="0">
                <a:solidFill>
                  <a:srgbClr val="FF0000"/>
                </a:solidFill>
                <a:latin typeface="Times New Roman" panose="02020603050405020304" pitchFamily="18" charset="0"/>
                <a:ea typeface="宋体" panose="02010600030101010101" pitchFamily="2" charset="-122"/>
              </a:rPr>
              <a:t>逆元</a:t>
            </a:r>
            <a:r>
              <a:rPr lang="zh-CN" altLang="en-US" sz="1200" b="1" dirty="0">
                <a:solidFill>
                  <a:schemeClr val="tx1"/>
                </a:solidFill>
                <a:latin typeface="Times New Roman" panose="02020603050405020304" pitchFamily="18" charset="0"/>
                <a:ea typeface="宋体" panose="02010600030101010101" pitchFamily="2" charset="-122"/>
              </a:rPr>
              <a:t>的存在。如对于整数 </a:t>
            </a:r>
            <a:r>
              <a:rPr lang="en-US" altLang="zh-CN" sz="1200" b="1"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，其加法逆元是−</a:t>
            </a:r>
            <a:r>
              <a:rPr lang="en-US" altLang="zh-CN" sz="1200" b="1"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a:t>
            </a:r>
          </a:p>
          <a:p>
            <a:pPr marL="342900" indent="-342900">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宋体" panose="02010600030101010101" pitchFamily="2" charset="-122"/>
              </a:rPr>
              <a:t>代数系统通常有一套必须满足的</a:t>
            </a:r>
            <a:r>
              <a:rPr lang="zh-CN" altLang="en-US" sz="1200" b="1" dirty="0">
                <a:solidFill>
                  <a:srgbClr val="FF0000"/>
                </a:solidFill>
                <a:latin typeface="Times New Roman" panose="02020603050405020304" pitchFamily="18" charset="0"/>
                <a:ea typeface="宋体" panose="02010600030101010101" pitchFamily="2" charset="-122"/>
              </a:rPr>
              <a:t>公理</a:t>
            </a:r>
            <a:r>
              <a:rPr lang="zh-CN" altLang="en-US" sz="1200" b="1" dirty="0">
                <a:solidFill>
                  <a:schemeClr val="tx1"/>
                </a:solidFill>
                <a:latin typeface="Times New Roman" panose="02020603050405020304" pitchFamily="18" charset="0"/>
                <a:ea typeface="宋体" panose="02010600030101010101" pitchFamily="2" charset="-122"/>
              </a:rPr>
              <a:t>。如：结合律、交换律、分配律。</a:t>
            </a:r>
          </a:p>
          <a:p>
            <a:pPr>
              <a:lnSpc>
                <a:spcPct val="120000"/>
              </a:lnSpc>
            </a:pPr>
            <a:endParaRPr lang="en-US" altLang="zh-CN" sz="1200" b="1" dirty="0">
              <a:solidFill>
                <a:schemeClr val="tx1"/>
              </a:solidFill>
              <a:latin typeface="Times New Roman" panose="02020603050405020304" pitchFamily="18" charset="0"/>
              <a:ea typeface="宋体" panose="02010600030101010101" pitchFamily="2" charset="-122"/>
            </a:endParaRP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除上述基本成分外，</a:t>
            </a:r>
            <a:r>
              <a:rPr lang="zh-CN" altLang="en-US" sz="1200" b="1" dirty="0">
                <a:solidFill>
                  <a:srgbClr val="00B0F0"/>
                </a:solidFill>
                <a:latin typeface="Times New Roman" panose="02020603050405020304" pitchFamily="18" charset="0"/>
                <a:ea typeface="宋体" panose="02010600030101010101" pitchFamily="2" charset="-122"/>
              </a:rPr>
              <a:t>不同的代数结构</a:t>
            </a:r>
            <a:r>
              <a:rPr lang="zh-CN" altLang="en-US" sz="1200" b="1" dirty="0">
                <a:solidFill>
                  <a:schemeClr val="tx1"/>
                </a:solidFill>
                <a:latin typeface="Times New Roman" panose="02020603050405020304" pitchFamily="18" charset="0"/>
                <a:ea typeface="宋体" panose="02010600030101010101" pitchFamily="2" charset="-122"/>
              </a:rPr>
              <a:t>（例如群、环、域、向量空间）也有各自</a:t>
            </a:r>
            <a:r>
              <a:rPr lang="zh-CN" altLang="en-US" sz="1200" b="1" dirty="0">
                <a:solidFill>
                  <a:srgbClr val="00B0F0"/>
                </a:solidFill>
                <a:latin typeface="Times New Roman" panose="02020603050405020304" pitchFamily="18" charset="0"/>
                <a:ea typeface="宋体" panose="02010600030101010101" pitchFamily="2" charset="-122"/>
              </a:rPr>
              <a:t>特定</a:t>
            </a:r>
            <a:r>
              <a:rPr lang="zh-CN" altLang="en-US" sz="1200" b="1" dirty="0">
                <a:latin typeface="Times New Roman" panose="02020603050405020304" pitchFamily="18" charset="0"/>
                <a:ea typeface="宋体" panose="02010600030101010101" pitchFamily="2" charset="-122"/>
              </a:rPr>
              <a:t>的组成</a:t>
            </a:r>
            <a:r>
              <a:rPr lang="zh-CN" altLang="en-US" sz="1200" b="1" dirty="0">
                <a:solidFill>
                  <a:srgbClr val="00B0F0"/>
                </a:solidFill>
                <a:latin typeface="Times New Roman" panose="02020603050405020304" pitchFamily="18" charset="0"/>
                <a:ea typeface="宋体" panose="02010600030101010101" pitchFamily="2" charset="-122"/>
              </a:rPr>
              <a:t>成分</a:t>
            </a:r>
            <a:r>
              <a:rPr lang="zh-CN" altLang="en-US" sz="1200" b="1" dirty="0">
                <a:solidFill>
                  <a:schemeClr val="tx1"/>
                </a:solidFill>
                <a:latin typeface="Times New Roman" panose="02020603050405020304" pitchFamily="18" charset="0"/>
                <a:ea typeface="宋体" panose="02010600030101010101" pitchFamily="2" charset="-122"/>
              </a:rPr>
              <a:t>和满足的</a:t>
            </a:r>
            <a:r>
              <a:rPr lang="zh-CN" altLang="en-US" sz="1200" b="1" dirty="0">
                <a:solidFill>
                  <a:srgbClr val="00B0F0"/>
                </a:solidFill>
                <a:latin typeface="Times New Roman" panose="02020603050405020304" pitchFamily="18" charset="0"/>
                <a:ea typeface="宋体" panose="02010600030101010101" pitchFamily="2" charset="-122"/>
              </a:rPr>
              <a:t>公理</a:t>
            </a:r>
            <a:r>
              <a:rPr lang="zh-CN" altLang="en-US" sz="1200" b="1" dirty="0">
                <a:solidFill>
                  <a:schemeClr val="tx1"/>
                </a:solidFill>
                <a:latin typeface="Times New Roman" panose="02020603050405020304" pitchFamily="18" charset="0"/>
                <a:ea typeface="宋体" panose="02010600030101010101" pitchFamily="2" charset="-122"/>
              </a:rPr>
              <a:t>。</a:t>
            </a:r>
            <a:endParaRPr lang="en-US" altLang="zh-CN" sz="1200" b="1" dirty="0">
              <a:solidFill>
                <a:schemeClr val="tx1"/>
              </a:solidFill>
              <a:latin typeface="Times New Roman" panose="02020603050405020304" pitchFamily="18" charset="0"/>
              <a:ea typeface="宋体" panose="02010600030101010101" pitchFamily="2" charset="-122"/>
            </a:endParaRPr>
          </a:p>
          <a:p>
            <a:endParaRPr lang="zh-CN" altLang="en-US" b="0"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34</a:t>
            </a:fld>
            <a:endParaRPr lang="zh-CN" altLang="en-US"/>
          </a:p>
        </p:txBody>
      </p:sp>
    </p:spTree>
    <p:extLst>
      <p:ext uri="{BB962C8B-B14F-4D97-AF65-F5344CB8AC3E}">
        <p14:creationId xmlns:p14="http://schemas.microsoft.com/office/powerpoint/2010/main" val="29870632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1" dirty="0">
                <a:latin typeface="Times New Roman" panose="02020603050405020304" pitchFamily="18" charset="0"/>
              </a:rPr>
              <a:t>S</a:t>
            </a:r>
            <a:r>
              <a:rPr lang="en-US" altLang="zh-CN" sz="1200" b="0" dirty="0">
                <a:latin typeface="Times New Roman" panose="02020603050405020304" pitchFamily="18" charset="0"/>
              </a:rPr>
              <a:t> </a:t>
            </a:r>
            <a:r>
              <a:rPr lang="zh-CN" altLang="en-US" sz="1200" b="0" dirty="0">
                <a:latin typeface="Times New Roman" panose="02020603050405020304" pitchFamily="18" charset="0"/>
              </a:rPr>
              <a:t>称为代数系统的</a:t>
            </a:r>
            <a:r>
              <a:rPr lang="zh-CN" altLang="en-US" sz="1200" b="0" dirty="0">
                <a:solidFill>
                  <a:srgbClr val="FF0000"/>
                </a:solidFill>
                <a:latin typeface="Times New Roman" panose="02020603050405020304" pitchFamily="18" charset="0"/>
              </a:rPr>
              <a:t>载体</a:t>
            </a:r>
            <a:r>
              <a:rPr lang="zh-CN" altLang="en-US" sz="1200" b="0" dirty="0">
                <a:latin typeface="Times New Roman" panose="02020603050405020304" pitchFamily="18" charset="0"/>
              </a:rPr>
              <a:t>， </a:t>
            </a:r>
            <a:r>
              <a:rPr lang="en-US" altLang="zh-CN" sz="1200" b="0" i="1" dirty="0">
                <a:latin typeface="Times New Roman" panose="02020603050405020304" pitchFamily="18" charset="0"/>
              </a:rPr>
              <a:t>S </a:t>
            </a:r>
            <a:r>
              <a:rPr lang="zh-CN" altLang="en-US" sz="1200" b="0" dirty="0">
                <a:latin typeface="Times New Roman" panose="02020603050405020304" pitchFamily="18" charset="0"/>
              </a:rPr>
              <a:t>和运算叫做代数系统的成分</a:t>
            </a:r>
            <a:r>
              <a:rPr lang="en-US" altLang="zh-CN" sz="1200" b="0" dirty="0">
                <a:latin typeface="Times New Roman" panose="02020603050405020304" pitchFamily="18" charset="0"/>
              </a:rPr>
              <a:t>. </a:t>
            </a:r>
            <a:r>
              <a:rPr lang="zh-CN" altLang="en-US" sz="1200" b="0" dirty="0">
                <a:latin typeface="Times New Roman" panose="02020603050405020304" pitchFamily="18" charset="0"/>
              </a:rPr>
              <a:t>有的代数系统定义指定了</a:t>
            </a:r>
            <a:r>
              <a:rPr lang="en-US" altLang="zh-CN" sz="1200" b="0" i="1" dirty="0">
                <a:latin typeface="Times New Roman" panose="02020603050405020304" pitchFamily="18" charset="0"/>
              </a:rPr>
              <a:t>S</a:t>
            </a:r>
            <a:r>
              <a:rPr lang="zh-CN" altLang="en-US" sz="1200" b="0" dirty="0">
                <a:latin typeface="Times New Roman" panose="02020603050405020304" pitchFamily="18" charset="0"/>
              </a:rPr>
              <a:t>中的特殊元素，称为代数常数</a:t>
            </a:r>
            <a:r>
              <a:rPr lang="en-US" altLang="zh-CN" sz="1200" b="0" dirty="0">
                <a:latin typeface="Times New Roman" panose="02020603050405020304" pitchFamily="18" charset="0"/>
              </a:rPr>
              <a:t>, </a:t>
            </a:r>
            <a:r>
              <a:rPr lang="zh-CN" altLang="en-US" sz="1200" b="0" dirty="0">
                <a:latin typeface="Times New Roman" panose="02020603050405020304" pitchFamily="18" charset="0"/>
              </a:rPr>
              <a:t>例如二元运算的单位元</a:t>
            </a:r>
            <a:r>
              <a:rPr lang="en-US" altLang="zh-CN" sz="1200" b="0" dirty="0">
                <a:latin typeface="Times New Roman" panose="02020603050405020304" pitchFamily="18" charset="0"/>
              </a:rPr>
              <a:t>.</a:t>
            </a:r>
            <a:r>
              <a:rPr lang="zh-CN" altLang="en-US" sz="1200" b="0" dirty="0">
                <a:latin typeface="Times New Roman" panose="02020603050405020304" pitchFamily="18" charset="0"/>
              </a:rPr>
              <a:t>有时也将代数常数作为系统的成分</a:t>
            </a:r>
            <a:r>
              <a:rPr lang="en-US" altLang="zh-CN" sz="1200" b="0" dirty="0">
                <a:latin typeface="Times New Roman" panose="02020603050405020304" pitchFamily="18" charset="0"/>
              </a:rPr>
              <a:t>. </a:t>
            </a:r>
          </a:p>
          <a:p>
            <a:pPr marL="342900" indent="-342900">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宋体" panose="02010600030101010101" pitchFamily="2" charset="-122"/>
              </a:rPr>
              <a:t>包含所有</a:t>
            </a:r>
            <a:r>
              <a:rPr lang="zh-CN" altLang="en-US" sz="1200" b="1" dirty="0">
                <a:latin typeface="Times New Roman" panose="02020603050405020304" pitchFamily="18" charset="0"/>
              </a:rPr>
              <a:t>元素的</a:t>
            </a:r>
            <a:r>
              <a:rPr lang="zh-CN" altLang="en-US" sz="1200" b="1" dirty="0">
                <a:solidFill>
                  <a:srgbClr val="FF0000"/>
                </a:solidFill>
                <a:latin typeface="Times New Roman" panose="02020603050405020304" pitchFamily="18" charset="0"/>
                <a:ea typeface="宋体" panose="02010600030101010101" pitchFamily="2" charset="-122"/>
              </a:rPr>
              <a:t>基本集合</a:t>
            </a:r>
            <a:r>
              <a:rPr lang="zh-CN" altLang="en-US" sz="1200" b="1" dirty="0">
                <a:latin typeface="Times New Roman" panose="02020603050405020304" pitchFamily="18" charset="0"/>
                <a:ea typeface="宋体" panose="02010600030101010101" pitchFamily="2" charset="-122"/>
              </a:rPr>
              <a:t>（载体）</a:t>
            </a:r>
            <a:r>
              <a:rPr lang="zh-CN" altLang="en-US" sz="1200" b="1" dirty="0">
                <a:solidFill>
                  <a:schemeClr val="tx1"/>
                </a:solidFill>
                <a:latin typeface="Times New Roman" panose="02020603050405020304" pitchFamily="18" charset="0"/>
                <a:ea typeface="宋体" panose="02010600030101010101" pitchFamily="2" charset="-122"/>
              </a:rPr>
              <a:t>。例如，在整数环中，集合是所有整数的集合 </a:t>
            </a:r>
            <a:r>
              <a:rPr lang="en-US" altLang="zh-CN" sz="1200" b="1" dirty="0">
                <a:solidFill>
                  <a:schemeClr val="tx1"/>
                </a:solidFill>
                <a:latin typeface="Times New Roman" panose="02020603050405020304" pitchFamily="18" charset="0"/>
                <a:ea typeface="宋体" panose="02010600030101010101" pitchFamily="2" charset="-122"/>
              </a:rPr>
              <a:t>Z</a:t>
            </a:r>
            <a:r>
              <a:rPr lang="zh-CN" altLang="en-US" sz="1200" b="1" dirty="0">
                <a:solidFill>
                  <a:schemeClr val="tx1"/>
                </a:solidFill>
                <a:latin typeface="Times New Roman" panose="02020603050405020304" pitchFamily="18" charset="0"/>
                <a:ea typeface="宋体" panose="02010600030101010101" pitchFamily="2" charset="-122"/>
              </a:rPr>
              <a:t>。</a:t>
            </a:r>
          </a:p>
          <a:p>
            <a:pPr marL="342900" indent="-342900">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宋体" panose="02010600030101010101" pitchFamily="2" charset="-122"/>
              </a:rPr>
              <a:t>定义在集合上的</a:t>
            </a:r>
            <a:r>
              <a:rPr lang="zh-CN" altLang="en-US" sz="1200" b="1" dirty="0">
                <a:solidFill>
                  <a:srgbClr val="FF0000"/>
                </a:solidFill>
                <a:latin typeface="Times New Roman" panose="02020603050405020304" pitchFamily="18" charset="0"/>
                <a:ea typeface="宋体" panose="02010600030101010101" pitchFamily="2" charset="-122"/>
              </a:rPr>
              <a:t>运算</a:t>
            </a:r>
            <a:r>
              <a:rPr lang="zh-CN" altLang="en-US" sz="1200" b="1" dirty="0">
                <a:solidFill>
                  <a:schemeClr val="tx1"/>
                </a:solidFill>
                <a:latin typeface="Times New Roman" panose="02020603050405020304" pitchFamily="18" charset="0"/>
                <a:ea typeface="宋体" panose="02010600030101010101" pitchFamily="2" charset="-122"/>
              </a:rPr>
              <a:t>。常见的运算有一元和二元运算。</a:t>
            </a:r>
          </a:p>
          <a:p>
            <a:pPr marL="342900" indent="-342900">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宋体" panose="02010600030101010101" pitchFamily="2" charset="-122"/>
              </a:rPr>
              <a:t>有些代数系统需要定义一些</a:t>
            </a:r>
            <a:r>
              <a:rPr lang="zh-CN" altLang="en-US" sz="1200" b="1" dirty="0">
                <a:solidFill>
                  <a:srgbClr val="FF0000"/>
                </a:solidFill>
                <a:latin typeface="Times New Roman" panose="02020603050405020304" pitchFamily="18" charset="0"/>
                <a:ea typeface="宋体" panose="02010600030101010101" pitchFamily="2" charset="-122"/>
              </a:rPr>
              <a:t>特异元素或代数常数</a:t>
            </a:r>
            <a:r>
              <a:rPr lang="zh-CN" altLang="en-US" sz="1200" b="1" dirty="0">
                <a:solidFill>
                  <a:schemeClr val="tx1"/>
                </a:solidFill>
                <a:latin typeface="Times New Roman" panose="02020603050405020304" pitchFamily="18" charset="0"/>
                <a:ea typeface="宋体" panose="02010600030101010101" pitchFamily="2" charset="-122"/>
              </a:rPr>
              <a:t>（</a:t>
            </a:r>
            <a:r>
              <a:rPr lang="zh-CN" altLang="en-US" sz="1200" b="1" dirty="0">
                <a:latin typeface="Times New Roman" panose="02020603050405020304" pitchFamily="18" charset="0"/>
                <a:ea typeface="宋体" panose="02010600030101010101" pitchFamily="2" charset="-122"/>
              </a:rPr>
              <a:t>如</a:t>
            </a:r>
            <a:r>
              <a:rPr lang="zh-CN" altLang="en-US" sz="1200" b="1" dirty="0">
                <a:solidFill>
                  <a:schemeClr val="tx1"/>
                </a:solidFill>
                <a:latin typeface="Times New Roman" panose="02020603050405020304" pitchFamily="18" charset="0"/>
                <a:ea typeface="宋体" panose="02010600030101010101" pitchFamily="2" charset="-122"/>
              </a:rPr>
              <a:t>二元运算的</a:t>
            </a:r>
            <a:r>
              <a:rPr lang="zh-CN" altLang="en-US" sz="1200" b="1" dirty="0">
                <a:solidFill>
                  <a:srgbClr val="FF0000"/>
                </a:solidFill>
                <a:latin typeface="Times New Roman" panose="02020603050405020304" pitchFamily="18" charset="0"/>
                <a:ea typeface="宋体" panose="02010600030101010101" pitchFamily="2" charset="-122"/>
              </a:rPr>
              <a:t>零元和幺元</a:t>
            </a:r>
            <a:r>
              <a:rPr lang="zh-CN" altLang="en-US" sz="1200" b="1" dirty="0">
                <a:solidFill>
                  <a:schemeClr val="tx1"/>
                </a:solidFill>
                <a:latin typeface="Times New Roman" panose="02020603050405020304" pitchFamily="18" charset="0"/>
                <a:ea typeface="宋体" panose="02010600030101010101" pitchFamily="2" charset="-122"/>
              </a:rPr>
              <a:t>）。如整数加法中的元素</a:t>
            </a:r>
            <a:r>
              <a:rPr lang="en-US" altLang="zh-CN" sz="1200" b="1" dirty="0">
                <a:solidFill>
                  <a:schemeClr val="tx1"/>
                </a:solidFill>
                <a:latin typeface="Times New Roman" panose="02020603050405020304" pitchFamily="18" charset="0"/>
                <a:ea typeface="宋体" panose="02010600030101010101" pitchFamily="2" charset="-122"/>
              </a:rPr>
              <a:t>0</a:t>
            </a:r>
            <a:r>
              <a:rPr lang="zh-CN" altLang="en-US" sz="1200" b="1" dirty="0">
                <a:solidFill>
                  <a:schemeClr val="tx1"/>
                </a:solidFill>
                <a:latin typeface="Times New Roman" panose="02020603050405020304" pitchFamily="18" charset="0"/>
                <a:ea typeface="宋体" panose="02010600030101010101" pitchFamily="2" charset="-122"/>
              </a:rPr>
              <a:t>、整数乘法中的元素</a:t>
            </a:r>
            <a:r>
              <a:rPr lang="en-US" altLang="zh-CN" sz="1200" b="1" dirty="0">
                <a:solidFill>
                  <a:schemeClr val="tx1"/>
                </a:solidFill>
                <a:latin typeface="Times New Roman" panose="02020603050405020304" pitchFamily="18" charset="0"/>
                <a:ea typeface="宋体" panose="02010600030101010101" pitchFamily="2" charset="-122"/>
              </a:rPr>
              <a:t>1</a:t>
            </a:r>
            <a:r>
              <a:rPr lang="zh-CN" altLang="en-US" sz="1200" b="1" dirty="0">
                <a:solidFill>
                  <a:schemeClr val="tx1"/>
                </a:solidFill>
                <a:latin typeface="Times New Roman" panose="02020603050405020304" pitchFamily="18" charset="0"/>
                <a:ea typeface="宋体" panose="02010600030101010101" pitchFamily="2" charset="-122"/>
              </a:rPr>
              <a:t>。</a:t>
            </a:r>
          </a:p>
          <a:p>
            <a:pPr marL="342900" indent="-342900">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宋体" panose="02010600030101010101" pitchFamily="2" charset="-122"/>
              </a:rPr>
              <a:t>某些运算可能要求</a:t>
            </a:r>
            <a:r>
              <a:rPr lang="zh-CN" altLang="en-US" sz="1200" b="1" dirty="0">
                <a:solidFill>
                  <a:srgbClr val="FF0000"/>
                </a:solidFill>
                <a:latin typeface="Times New Roman" panose="02020603050405020304" pitchFamily="18" charset="0"/>
                <a:ea typeface="宋体" panose="02010600030101010101" pitchFamily="2" charset="-122"/>
              </a:rPr>
              <a:t>逆元</a:t>
            </a:r>
            <a:r>
              <a:rPr lang="zh-CN" altLang="en-US" sz="1200" b="1" dirty="0">
                <a:solidFill>
                  <a:schemeClr val="tx1"/>
                </a:solidFill>
                <a:latin typeface="Times New Roman" panose="02020603050405020304" pitchFamily="18" charset="0"/>
                <a:ea typeface="宋体" panose="02010600030101010101" pitchFamily="2" charset="-122"/>
              </a:rPr>
              <a:t>的存在。如对于整数 </a:t>
            </a:r>
            <a:r>
              <a:rPr lang="en-US" altLang="zh-CN" sz="1200" b="1"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，其加法逆元是−</a:t>
            </a:r>
            <a:r>
              <a:rPr lang="en-US" altLang="zh-CN" sz="1200" b="1" dirty="0">
                <a:solidFill>
                  <a:schemeClr val="tx1"/>
                </a:solidFill>
                <a:latin typeface="Times New Roman" panose="02020603050405020304" pitchFamily="18" charset="0"/>
                <a:ea typeface="宋体" panose="02010600030101010101" pitchFamily="2" charset="-122"/>
              </a:rPr>
              <a:t>n</a:t>
            </a:r>
            <a:r>
              <a:rPr lang="zh-CN" altLang="en-US" sz="1200" b="1" dirty="0">
                <a:solidFill>
                  <a:schemeClr val="tx1"/>
                </a:solidFill>
                <a:latin typeface="Times New Roman" panose="02020603050405020304" pitchFamily="18" charset="0"/>
                <a:ea typeface="宋体" panose="02010600030101010101" pitchFamily="2" charset="-122"/>
              </a:rPr>
              <a:t>。</a:t>
            </a:r>
          </a:p>
          <a:p>
            <a:pPr marL="342900" indent="-342900">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宋体" panose="02010600030101010101" pitchFamily="2" charset="-122"/>
              </a:rPr>
              <a:t>代数系统通常有一套必须满足的</a:t>
            </a:r>
            <a:r>
              <a:rPr lang="zh-CN" altLang="en-US" sz="1200" b="1" dirty="0">
                <a:solidFill>
                  <a:srgbClr val="FF0000"/>
                </a:solidFill>
                <a:latin typeface="Times New Roman" panose="02020603050405020304" pitchFamily="18" charset="0"/>
                <a:ea typeface="宋体" panose="02010600030101010101" pitchFamily="2" charset="-122"/>
              </a:rPr>
              <a:t>公理</a:t>
            </a:r>
            <a:r>
              <a:rPr lang="zh-CN" altLang="en-US" sz="1200" b="1" dirty="0">
                <a:solidFill>
                  <a:schemeClr val="tx1"/>
                </a:solidFill>
                <a:latin typeface="Times New Roman" panose="02020603050405020304" pitchFamily="18" charset="0"/>
                <a:ea typeface="宋体" panose="02010600030101010101" pitchFamily="2" charset="-122"/>
              </a:rPr>
              <a:t>。如：结合律、交换律、分配律。</a:t>
            </a:r>
          </a:p>
          <a:p>
            <a:pPr>
              <a:lnSpc>
                <a:spcPct val="120000"/>
              </a:lnSpc>
            </a:pPr>
            <a:endParaRPr lang="en-US" altLang="zh-CN" sz="1200" b="1" dirty="0">
              <a:solidFill>
                <a:schemeClr val="tx1"/>
              </a:solidFill>
              <a:latin typeface="Times New Roman" panose="02020603050405020304" pitchFamily="18" charset="0"/>
              <a:ea typeface="宋体" panose="02010600030101010101" pitchFamily="2" charset="-122"/>
            </a:endParaRP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除上述基本成分外，</a:t>
            </a:r>
            <a:r>
              <a:rPr lang="zh-CN" altLang="en-US" sz="1200" b="1" dirty="0">
                <a:solidFill>
                  <a:srgbClr val="00B0F0"/>
                </a:solidFill>
                <a:latin typeface="Times New Roman" panose="02020603050405020304" pitchFamily="18" charset="0"/>
                <a:ea typeface="宋体" panose="02010600030101010101" pitchFamily="2" charset="-122"/>
              </a:rPr>
              <a:t>不同的代数结构</a:t>
            </a:r>
            <a:r>
              <a:rPr lang="zh-CN" altLang="en-US" sz="1200" b="1" dirty="0">
                <a:solidFill>
                  <a:schemeClr val="tx1"/>
                </a:solidFill>
                <a:latin typeface="Times New Roman" panose="02020603050405020304" pitchFamily="18" charset="0"/>
                <a:ea typeface="宋体" panose="02010600030101010101" pitchFamily="2" charset="-122"/>
              </a:rPr>
              <a:t>（例如群、环、域、向量空间）也有各自</a:t>
            </a:r>
            <a:r>
              <a:rPr lang="zh-CN" altLang="en-US" sz="1200" b="1" dirty="0">
                <a:solidFill>
                  <a:srgbClr val="00B0F0"/>
                </a:solidFill>
                <a:latin typeface="Times New Roman" panose="02020603050405020304" pitchFamily="18" charset="0"/>
                <a:ea typeface="宋体" panose="02010600030101010101" pitchFamily="2" charset="-122"/>
              </a:rPr>
              <a:t>特定</a:t>
            </a:r>
            <a:r>
              <a:rPr lang="zh-CN" altLang="en-US" sz="1200" b="1" dirty="0">
                <a:latin typeface="Times New Roman" panose="02020603050405020304" pitchFamily="18" charset="0"/>
                <a:ea typeface="宋体" panose="02010600030101010101" pitchFamily="2" charset="-122"/>
              </a:rPr>
              <a:t>的组成</a:t>
            </a:r>
            <a:r>
              <a:rPr lang="zh-CN" altLang="en-US" sz="1200" b="1" dirty="0">
                <a:solidFill>
                  <a:srgbClr val="00B0F0"/>
                </a:solidFill>
                <a:latin typeface="Times New Roman" panose="02020603050405020304" pitchFamily="18" charset="0"/>
                <a:ea typeface="宋体" panose="02010600030101010101" pitchFamily="2" charset="-122"/>
              </a:rPr>
              <a:t>成分</a:t>
            </a:r>
            <a:r>
              <a:rPr lang="zh-CN" altLang="en-US" sz="1200" b="1" dirty="0">
                <a:solidFill>
                  <a:schemeClr val="tx1"/>
                </a:solidFill>
                <a:latin typeface="Times New Roman" panose="02020603050405020304" pitchFamily="18" charset="0"/>
                <a:ea typeface="宋体" panose="02010600030101010101" pitchFamily="2" charset="-122"/>
              </a:rPr>
              <a:t>和满足的</a:t>
            </a:r>
            <a:r>
              <a:rPr lang="zh-CN" altLang="en-US" sz="1200" b="1" dirty="0">
                <a:solidFill>
                  <a:srgbClr val="00B0F0"/>
                </a:solidFill>
                <a:latin typeface="Times New Roman" panose="02020603050405020304" pitchFamily="18" charset="0"/>
                <a:ea typeface="宋体" panose="02010600030101010101" pitchFamily="2" charset="-122"/>
              </a:rPr>
              <a:t>公理</a:t>
            </a:r>
            <a:r>
              <a:rPr lang="zh-CN" altLang="en-US" sz="1200" b="1" dirty="0">
                <a:solidFill>
                  <a:schemeClr val="tx1"/>
                </a:solidFill>
                <a:latin typeface="Times New Roman" panose="02020603050405020304" pitchFamily="18" charset="0"/>
                <a:ea typeface="宋体" panose="02010600030101010101" pitchFamily="2" charset="-122"/>
              </a:rPr>
              <a:t>。</a:t>
            </a:r>
            <a:endParaRPr lang="en-US" altLang="zh-CN" sz="1200" b="1" dirty="0">
              <a:solidFill>
                <a:schemeClr val="tx1"/>
              </a:solidFill>
              <a:latin typeface="Times New Roman" panose="02020603050405020304" pitchFamily="18" charset="0"/>
              <a:ea typeface="宋体" panose="02010600030101010101" pitchFamily="2" charset="-122"/>
            </a:endParaRPr>
          </a:p>
          <a:p>
            <a:endParaRPr lang="zh-CN" altLang="en-US" b="0"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35</a:t>
            </a:fld>
            <a:endParaRPr lang="zh-CN" altLang="en-US"/>
          </a:p>
        </p:txBody>
      </p:sp>
    </p:spTree>
    <p:extLst>
      <p:ext uri="{BB962C8B-B14F-4D97-AF65-F5344CB8AC3E}">
        <p14:creationId xmlns:p14="http://schemas.microsoft.com/office/powerpoint/2010/main" val="3111878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50000"/>
              </a:spcBef>
              <a:buNone/>
            </a:pPr>
            <a:r>
              <a:rPr lang="en-US" altLang="zh-CN" b="1" dirty="0"/>
              <a:t>9.2.1 </a:t>
            </a:r>
            <a:r>
              <a:rPr lang="zh-CN" altLang="en-US" b="1" dirty="0"/>
              <a:t>代数系统的定义与实例</a:t>
            </a:r>
            <a:endParaRPr lang="en-US" altLang="zh-CN" b="1" dirty="0"/>
          </a:p>
          <a:p>
            <a:pPr marL="0" indent="0">
              <a:spcBef>
                <a:spcPct val="50000"/>
              </a:spcBef>
              <a:buNone/>
            </a:pPr>
            <a:endParaRPr lang="zh-CN" altLang="en-US" b="1" dirty="0"/>
          </a:p>
          <a:p>
            <a:pPr marL="0" indent="0">
              <a:spcBef>
                <a:spcPct val="50000"/>
              </a:spcBef>
              <a:buNone/>
            </a:pPr>
            <a:r>
              <a:rPr lang="en-US" altLang="zh-CN" b="1" dirty="0"/>
              <a:t>9.2.2 </a:t>
            </a:r>
            <a:r>
              <a:rPr lang="zh-CN" altLang="en-US" b="1" dirty="0"/>
              <a:t>子代数系统与积代数系统</a:t>
            </a:r>
            <a:endParaRPr lang="en-US" altLang="zh-CN" b="1" dirty="0"/>
          </a:p>
          <a:p>
            <a:pPr marL="0" indent="0">
              <a:spcBef>
                <a:spcPct val="50000"/>
              </a:spcBef>
              <a:buNone/>
            </a:pPr>
            <a:endParaRPr lang="zh-CN" altLang="en-US" b="1" dirty="0"/>
          </a:p>
          <a:p>
            <a:pPr marL="0" indent="0">
              <a:spcBef>
                <a:spcPct val="50000"/>
              </a:spcBef>
              <a:buNone/>
            </a:pPr>
            <a:r>
              <a:rPr lang="en-US" altLang="zh-CN" b="1" dirty="0"/>
              <a:t>9.2.3 </a:t>
            </a:r>
            <a:r>
              <a:rPr lang="zh-CN" altLang="en-US" b="1" dirty="0"/>
              <a:t>代数系统的同态与同构</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36</a:t>
            </a:fld>
            <a:endParaRPr lang="zh-CN" altLang="en-US"/>
          </a:p>
        </p:txBody>
      </p:sp>
    </p:spTree>
    <p:extLst>
      <p:ext uri="{BB962C8B-B14F-4D97-AF65-F5344CB8AC3E}">
        <p14:creationId xmlns:p14="http://schemas.microsoft.com/office/powerpoint/2010/main" val="7451465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子代数系统（或子结构）可以把代数系统分解成更小、更简单的部分，从而更容易研究它们之间的关系。</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14.9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V</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S</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en-US" altLang="zh-CN" sz="1200" b="1" dirty="0">
                <a:solidFill>
                  <a:schemeClr val="tx1"/>
                </a:solidFill>
                <a:latin typeface="Times New Roman" panose="02020603050405020304" pitchFamily="18" charset="0"/>
                <a:ea typeface="宋体" panose="02010600030101010101" pitchFamily="2" charset="-122"/>
              </a:rPr>
              <a:t>,  … ,  </a:t>
            </a:r>
            <a:r>
              <a:rPr lang="en-US" altLang="zh-CN" sz="1200" b="1" i="1" dirty="0" err="1">
                <a:solidFill>
                  <a:schemeClr val="tx1"/>
                </a:solidFill>
                <a:latin typeface="Times New Roman" panose="02020603050405020304" pitchFamily="18" charset="0"/>
                <a:ea typeface="宋体" panose="02010600030101010101" pitchFamily="2" charset="-122"/>
              </a:rPr>
              <a:t>f</a:t>
            </a:r>
            <a:r>
              <a:rPr lang="en-US" altLang="zh-CN" sz="1200" b="1" i="1" baseline="-25000" dirty="0" err="1">
                <a:solidFill>
                  <a:schemeClr val="tx1"/>
                </a:solidFill>
                <a:latin typeface="Times New Roman" panose="02020603050405020304" pitchFamily="18" charset="0"/>
                <a:ea typeface="宋体" panose="02010600030101010101" pitchFamily="2" charset="-122"/>
              </a:rPr>
              <a:t>k</a:t>
            </a:r>
            <a:r>
              <a:rPr lang="en-US" altLang="zh-CN" sz="1200" b="1" dirty="0">
                <a:solidFill>
                  <a:schemeClr val="tx1"/>
                </a:solidFill>
                <a:latin typeface="Times New Roman" panose="02020603050405020304" pitchFamily="18" charset="0"/>
                <a:ea typeface="宋体" panose="02010600030101010101" pitchFamily="2" charset="-122"/>
              </a:rPr>
              <a:t>&gt; </a:t>
            </a:r>
            <a:r>
              <a:rPr lang="zh-CN" altLang="en-US" sz="1200" b="1" dirty="0">
                <a:solidFill>
                  <a:schemeClr val="tx1"/>
                </a:solidFill>
                <a:latin typeface="Times New Roman" panose="02020603050405020304" pitchFamily="18" charset="0"/>
                <a:ea typeface="宋体" panose="02010600030101010101" pitchFamily="2" charset="-122"/>
              </a:rPr>
              <a:t>是代数系统，</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是 </a:t>
            </a:r>
            <a:r>
              <a:rPr lang="en-US" altLang="zh-CN" sz="1200" b="1" i="1" dirty="0">
                <a:solidFill>
                  <a:schemeClr val="tx1"/>
                </a:solidFill>
                <a:latin typeface="Times New Roman" panose="02020603050405020304" pitchFamily="18" charset="0"/>
                <a:ea typeface="宋体" panose="02010600030101010101" pitchFamily="2" charset="-122"/>
              </a:rPr>
              <a:t>S </a:t>
            </a:r>
            <a:r>
              <a:rPr lang="zh-CN" altLang="en-US" sz="1200" b="1" dirty="0">
                <a:solidFill>
                  <a:schemeClr val="tx1"/>
                </a:solidFill>
                <a:latin typeface="Times New Roman" panose="02020603050405020304" pitchFamily="18" charset="0"/>
                <a:ea typeface="宋体" panose="02010600030101010101" pitchFamily="2" charset="-122"/>
              </a:rPr>
              <a:t>的非空子集 ，如果 </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对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en-US" altLang="zh-CN" sz="1200" b="1" dirty="0">
                <a:solidFill>
                  <a:schemeClr val="tx1"/>
                </a:solidFill>
                <a:latin typeface="Times New Roman" panose="02020603050405020304" pitchFamily="18" charset="0"/>
                <a:ea typeface="宋体" panose="02010600030101010101" pitchFamily="2" charset="-122"/>
              </a:rPr>
              <a:t>, … , </a:t>
            </a:r>
            <a:r>
              <a:rPr lang="en-US" altLang="zh-CN" sz="1200" b="1" i="1" dirty="0" err="1">
                <a:solidFill>
                  <a:schemeClr val="tx1"/>
                </a:solidFill>
                <a:latin typeface="Times New Roman" panose="02020603050405020304" pitchFamily="18" charset="0"/>
                <a:ea typeface="宋体" panose="02010600030101010101" pitchFamily="2" charset="-122"/>
              </a:rPr>
              <a:t>f</a:t>
            </a:r>
            <a:r>
              <a:rPr lang="en-US" altLang="zh-CN" sz="1200" b="1" i="1" baseline="-25000" dirty="0" err="1">
                <a:solidFill>
                  <a:schemeClr val="tx1"/>
                </a:solidFill>
                <a:latin typeface="Times New Roman" panose="02020603050405020304" pitchFamily="18" charset="0"/>
                <a:ea typeface="宋体" panose="02010600030101010101" pitchFamily="2" charset="-122"/>
              </a:rPr>
              <a:t>k</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都是封闭的，且 </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和 </a:t>
            </a:r>
            <a:r>
              <a:rPr lang="en-US" altLang="zh-CN" sz="1200" b="1" i="1" dirty="0">
                <a:solidFill>
                  <a:schemeClr val="tx1"/>
                </a:solidFill>
                <a:latin typeface="Times New Roman" panose="02020603050405020304" pitchFamily="18" charset="0"/>
                <a:ea typeface="宋体" panose="02010600030101010101" pitchFamily="2" charset="-122"/>
              </a:rPr>
              <a:t>S</a:t>
            </a:r>
            <a:r>
              <a:rPr lang="zh-CN" altLang="en-US" sz="1200" b="1" dirty="0">
                <a:solidFill>
                  <a:schemeClr val="tx1"/>
                </a:solidFill>
                <a:latin typeface="Times New Roman" panose="02020603050405020304" pitchFamily="18" charset="0"/>
                <a:ea typeface="宋体" panose="02010600030101010101" pitchFamily="2" charset="-122"/>
              </a:rPr>
              <a:t>含有相同的代数常数，则称 </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en-US" altLang="zh-CN" sz="1200" b="1" dirty="0">
                <a:solidFill>
                  <a:schemeClr val="tx1"/>
                </a:solidFill>
                <a:latin typeface="Times New Roman" panose="02020603050405020304" pitchFamily="18" charset="0"/>
                <a:ea typeface="宋体" panose="02010600030101010101" pitchFamily="2" charset="-122"/>
              </a:rPr>
              <a:t>, … , </a:t>
            </a:r>
            <a:r>
              <a:rPr lang="en-US" altLang="zh-CN" sz="1200" b="1" i="1" dirty="0" err="1">
                <a:solidFill>
                  <a:schemeClr val="tx1"/>
                </a:solidFill>
                <a:latin typeface="Times New Roman" panose="02020603050405020304" pitchFamily="18" charset="0"/>
                <a:ea typeface="宋体" panose="02010600030101010101" pitchFamily="2" charset="-122"/>
              </a:rPr>
              <a:t>f</a:t>
            </a:r>
            <a:r>
              <a:rPr lang="en-US" altLang="zh-CN" sz="1200" b="1" i="1" baseline="-25000" dirty="0" err="1">
                <a:solidFill>
                  <a:schemeClr val="tx1"/>
                </a:solidFill>
                <a:latin typeface="Times New Roman" panose="02020603050405020304" pitchFamily="18" charset="0"/>
                <a:ea typeface="宋体" panose="02010600030101010101" pitchFamily="2" charset="-122"/>
              </a:rPr>
              <a:t>k</a:t>
            </a:r>
            <a:r>
              <a:rPr lang="en-US" altLang="zh-CN" sz="1200" b="1" dirty="0">
                <a:solidFill>
                  <a:schemeClr val="tx1"/>
                </a:solidFill>
                <a:latin typeface="Times New Roman" panose="02020603050405020304" pitchFamily="18" charset="0"/>
                <a:ea typeface="宋体" panose="02010600030101010101" pitchFamily="2" charset="-122"/>
              </a:rPr>
              <a:t>&gt; </a:t>
            </a:r>
            <a:r>
              <a:rPr lang="zh-CN" altLang="en-US" sz="1200" b="1" dirty="0">
                <a:solidFill>
                  <a:schemeClr val="tx1"/>
                </a:solidFill>
                <a:latin typeface="Times New Roman" panose="02020603050405020304" pitchFamily="18" charset="0"/>
                <a:ea typeface="宋体" panose="02010600030101010101" pitchFamily="2" charset="-122"/>
              </a:rPr>
              <a:t>是 </a:t>
            </a:r>
            <a:r>
              <a:rPr lang="en-US" altLang="zh-CN" sz="1200" b="1" i="1" dirty="0">
                <a:solidFill>
                  <a:schemeClr val="tx1"/>
                </a:solidFill>
                <a:latin typeface="Times New Roman" panose="02020603050405020304" pitchFamily="18" charset="0"/>
                <a:ea typeface="宋体" panose="02010600030101010101" pitchFamily="2" charset="-122"/>
              </a:rPr>
              <a:t>V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子代数系统</a:t>
            </a:r>
            <a:r>
              <a:rPr lang="zh-CN" altLang="en-US" sz="1200" b="1" dirty="0">
                <a:solidFill>
                  <a:schemeClr val="tx1"/>
                </a:solidFill>
                <a:latin typeface="Times New Roman" panose="02020603050405020304" pitchFamily="18" charset="0"/>
                <a:ea typeface="宋体" panose="02010600030101010101" pitchFamily="2" charset="-122"/>
              </a:rPr>
              <a:t>，简称</a:t>
            </a:r>
            <a:r>
              <a:rPr lang="zh-CN" altLang="en-US" sz="1200" b="1" dirty="0">
                <a:solidFill>
                  <a:srgbClr val="FF0000"/>
                </a:solidFill>
                <a:latin typeface="Times New Roman" panose="02020603050405020304" pitchFamily="18" charset="0"/>
                <a:ea typeface="宋体" panose="02010600030101010101" pitchFamily="2" charset="-122"/>
              </a:rPr>
              <a:t>子代数</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有时将子代数系统简记为</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a:t>
            </a:r>
          </a:p>
          <a:p>
            <a:pPr>
              <a:lnSpc>
                <a:spcPct val="110000"/>
              </a:lnSpc>
              <a:spcBef>
                <a:spcPct val="50000"/>
              </a:spcBef>
            </a:pPr>
            <a:r>
              <a:rPr lang="zh-CN" altLang="en-US" sz="1200" b="1" dirty="0">
                <a:solidFill>
                  <a:srgbClr val="00B0F0"/>
                </a:solidFill>
                <a:latin typeface="Times New Roman" panose="02020603050405020304" pitchFamily="18" charset="0"/>
                <a:ea typeface="宋体" panose="02010600030101010101" pitchFamily="2" charset="-122"/>
              </a:rPr>
              <a:t>例：</a:t>
            </a:r>
          </a:p>
          <a:p>
            <a:pPr>
              <a:lnSpc>
                <a:spcPct val="110000"/>
              </a:lnSpc>
            </a:pPr>
            <a:r>
              <a:rPr lang="zh-CN" altLang="en-US" sz="1200" b="1" dirty="0">
                <a:solidFill>
                  <a:srgbClr val="000066"/>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&lt; N,</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&gt; </a:t>
            </a:r>
            <a:r>
              <a:rPr lang="zh-CN" altLang="en-US" sz="1200" b="1" dirty="0">
                <a:solidFill>
                  <a:schemeClr val="tx1"/>
                </a:solidFill>
                <a:latin typeface="Times New Roman" panose="02020603050405020304" pitchFamily="18" charset="0"/>
                <a:ea typeface="宋体" panose="02010600030101010101" pitchFamily="2" charset="-122"/>
              </a:rPr>
              <a:t>是</a:t>
            </a:r>
            <a:r>
              <a:rPr lang="en-US" altLang="zh-CN" sz="1200" b="1" dirty="0">
                <a:solidFill>
                  <a:schemeClr val="tx1"/>
                </a:solidFill>
                <a:latin typeface="Times New Roman" panose="02020603050405020304" pitchFamily="18" charset="0"/>
                <a:ea typeface="宋体" panose="02010600030101010101" pitchFamily="2" charset="-122"/>
              </a:rPr>
              <a:t>&lt;Z,</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dirty="0">
                <a:solidFill>
                  <a:schemeClr val="tx1"/>
                </a:solidFill>
                <a:latin typeface="Times New Roman" panose="02020603050405020304" pitchFamily="18" charset="0"/>
                <a:ea typeface="宋体" panose="02010600030101010101" pitchFamily="2" charset="-122"/>
              </a:rPr>
              <a:t>的子代数，</a:t>
            </a:r>
            <a:r>
              <a:rPr lang="en-US" altLang="zh-CN" sz="1200" b="1" dirty="0">
                <a:solidFill>
                  <a:schemeClr val="tx1"/>
                </a:solidFill>
                <a:latin typeface="Times New Roman" panose="02020603050405020304" pitchFamily="18" charset="0"/>
                <a:ea typeface="宋体" panose="02010600030101010101" pitchFamily="2" charset="-122"/>
              </a:rPr>
              <a:t> &lt; N,</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 ,0 &gt;</a:t>
            </a:r>
            <a:r>
              <a:rPr lang="zh-CN" altLang="en-US" sz="1200" b="1" dirty="0">
                <a:solidFill>
                  <a:schemeClr val="tx1"/>
                </a:solidFill>
                <a:latin typeface="Times New Roman" panose="02020603050405020304" pitchFamily="18" charset="0"/>
                <a:ea typeface="宋体" panose="02010600030101010101" pitchFamily="2" charset="-122"/>
              </a:rPr>
              <a:t>也是</a:t>
            </a:r>
            <a:r>
              <a:rPr lang="en-US" altLang="zh-CN" sz="1200" b="1" dirty="0">
                <a:solidFill>
                  <a:schemeClr val="tx1"/>
                </a:solidFill>
                <a:latin typeface="Times New Roman" panose="02020603050405020304" pitchFamily="18" charset="0"/>
                <a:ea typeface="宋体" panose="02010600030101010101" pitchFamily="2" charset="-122"/>
              </a:rPr>
              <a:t>&lt;Z,</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,0&gt;</a:t>
            </a:r>
            <a:r>
              <a:rPr lang="zh-CN" altLang="en-US" sz="1200" b="1" dirty="0">
                <a:solidFill>
                  <a:schemeClr val="tx1"/>
                </a:solidFill>
                <a:latin typeface="Times New Roman" panose="02020603050405020304" pitchFamily="18" charset="0"/>
                <a:ea typeface="宋体" panose="02010600030101010101" pitchFamily="2" charset="-122"/>
              </a:rPr>
              <a:t>的子代数（</a:t>
            </a:r>
            <a:r>
              <a:rPr lang="en-US" altLang="zh-CN" sz="1200" b="1" dirty="0">
                <a:solidFill>
                  <a:schemeClr val="tx1"/>
                </a:solidFill>
                <a:latin typeface="Times New Roman" panose="02020603050405020304" pitchFamily="18" charset="0"/>
                <a:ea typeface="宋体" panose="02010600030101010101" pitchFamily="2" charset="-122"/>
              </a:rPr>
              <a:t> N </a:t>
            </a:r>
            <a:r>
              <a:rPr lang="zh-CN" altLang="en-US" sz="1200" b="1" dirty="0">
                <a:solidFill>
                  <a:schemeClr val="tx1"/>
                </a:solidFill>
                <a:latin typeface="Times New Roman" panose="02020603050405020304" pitchFamily="18" charset="0"/>
                <a:ea typeface="宋体" panose="02010600030101010101" pitchFamily="2" charset="-122"/>
              </a:rPr>
              <a:t>对＋ 封闭，有相同的代数常数）</a:t>
            </a:r>
            <a:endParaRPr lang="zh-CN" altLang="en-US" sz="1200" b="1" i="1" dirty="0">
              <a:solidFill>
                <a:schemeClr val="tx1"/>
              </a:solidFill>
              <a:latin typeface="Times New Roman" panose="02020603050405020304" pitchFamily="18" charset="0"/>
              <a:ea typeface="宋体" panose="02010600030101010101" pitchFamily="2" charset="-122"/>
            </a:endParaRPr>
          </a:p>
          <a:p>
            <a:pPr>
              <a:lnSpc>
                <a:spcPct val="110000"/>
              </a:lnSpc>
            </a:pPr>
            <a:r>
              <a:rPr lang="zh-CN" altLang="en-US"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&lt; N</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{0},</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是</a:t>
            </a:r>
            <a:r>
              <a:rPr lang="en-US" altLang="zh-CN" sz="1200" b="1" dirty="0">
                <a:solidFill>
                  <a:schemeClr val="tx1"/>
                </a:solidFill>
                <a:latin typeface="Times New Roman" panose="02020603050405020304" pitchFamily="18" charset="0"/>
                <a:ea typeface="宋体" panose="02010600030101010101" pitchFamily="2" charset="-122"/>
              </a:rPr>
              <a:t>&lt;Z,</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dirty="0">
                <a:solidFill>
                  <a:schemeClr val="tx1"/>
                </a:solidFill>
                <a:latin typeface="Times New Roman" panose="02020603050405020304" pitchFamily="18" charset="0"/>
                <a:ea typeface="宋体" panose="02010600030101010101" pitchFamily="2" charset="-122"/>
              </a:rPr>
              <a:t>的子代数，但不是</a:t>
            </a:r>
            <a:r>
              <a:rPr lang="en-US" altLang="zh-CN" sz="1200" b="1" dirty="0">
                <a:solidFill>
                  <a:schemeClr val="tx1"/>
                </a:solidFill>
                <a:latin typeface="Times New Roman" panose="02020603050405020304" pitchFamily="18" charset="0"/>
                <a:ea typeface="宋体" panose="02010600030101010101" pitchFamily="2" charset="-122"/>
              </a:rPr>
              <a:t>&lt;Z,</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,0&gt;</a:t>
            </a:r>
            <a:r>
              <a:rPr lang="zh-CN" altLang="en-US" sz="1200" b="1" dirty="0">
                <a:solidFill>
                  <a:schemeClr val="tx1"/>
                </a:solidFill>
                <a:latin typeface="Times New Roman" panose="02020603050405020304" pitchFamily="18" charset="0"/>
                <a:ea typeface="宋体" panose="02010600030101010101" pitchFamily="2" charset="-122"/>
              </a:rPr>
              <a:t>的子代数（因为代数常数不包含在</a:t>
            </a:r>
            <a:r>
              <a:rPr lang="en-US" altLang="zh-CN" sz="1200" b="1" dirty="0">
                <a:solidFill>
                  <a:schemeClr val="tx1"/>
                </a:solidFill>
                <a:latin typeface="Times New Roman" panose="02020603050405020304" pitchFamily="18" charset="0"/>
                <a:ea typeface="宋体" panose="02010600030101010101" pitchFamily="2" charset="-122"/>
              </a:rPr>
              <a:t>N</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{0}</a:t>
            </a:r>
            <a:r>
              <a:rPr lang="zh-CN" altLang="en-US" sz="1200" b="1" dirty="0">
                <a:solidFill>
                  <a:schemeClr val="tx1"/>
                </a:solidFill>
                <a:latin typeface="Times New Roman" panose="02020603050405020304" pitchFamily="18" charset="0"/>
                <a:ea typeface="宋体" panose="02010600030101010101" pitchFamily="2" charset="-122"/>
              </a:rPr>
              <a:t>中）</a:t>
            </a:r>
          </a:p>
          <a:p>
            <a:pPr>
              <a:lnSpc>
                <a:spcPct val="110000"/>
              </a:lnSpc>
              <a:spcBef>
                <a:spcPct val="50000"/>
              </a:spcBef>
            </a:pPr>
            <a:r>
              <a:rPr lang="zh-CN" altLang="en-US" sz="1200" b="1" dirty="0">
                <a:solidFill>
                  <a:schemeClr val="tx1"/>
                </a:solidFill>
                <a:latin typeface="Times New Roman" panose="02020603050405020304" pitchFamily="18" charset="0"/>
                <a:ea typeface="宋体" panose="02010600030101010101" pitchFamily="2" charset="-122"/>
              </a:rPr>
              <a:t>说明：</a:t>
            </a:r>
            <a:r>
              <a:rPr lang="zh-CN" altLang="en-US" sz="1200" b="1" dirty="0">
                <a:solidFill>
                  <a:schemeClr val="tx1"/>
                </a:solidFill>
                <a:latin typeface="Calibri" panose="020F0502020204030204" pitchFamily="34" charset="0"/>
                <a:ea typeface="宋体" panose="02010600030101010101" pitchFamily="2" charset="-122"/>
                <a:cs typeface="Calibri" panose="020F0502020204030204" pitchFamily="34" charset="0"/>
              </a:rPr>
              <a:t>①</a:t>
            </a:r>
            <a:r>
              <a:rPr lang="zh-CN" altLang="en-US" sz="1200" b="1" dirty="0">
                <a:solidFill>
                  <a:schemeClr val="tx1"/>
                </a:solidFill>
                <a:latin typeface="Times New Roman" panose="02020603050405020304" pitchFamily="18" charset="0"/>
                <a:ea typeface="宋体" panose="02010600030101010101" pitchFamily="2" charset="-122"/>
              </a:rPr>
              <a:t> 子代数和原代数是</a:t>
            </a:r>
            <a:r>
              <a:rPr lang="zh-CN" altLang="en-US" sz="1200" b="1" dirty="0">
                <a:solidFill>
                  <a:srgbClr val="FF0000"/>
                </a:solidFill>
                <a:latin typeface="Times New Roman" panose="02020603050405020304" pitchFamily="18" charset="0"/>
                <a:ea typeface="宋体" panose="02010600030101010101" pitchFamily="2" charset="-122"/>
              </a:rPr>
              <a:t>同种</a:t>
            </a:r>
            <a:r>
              <a:rPr lang="zh-CN" altLang="en-US" sz="1200" b="1" dirty="0">
                <a:solidFill>
                  <a:schemeClr val="tx1"/>
                </a:solidFill>
                <a:latin typeface="Times New Roman" panose="02020603050405020304" pitchFamily="18" charset="0"/>
                <a:ea typeface="宋体" panose="02010600030101010101" pitchFamily="2" charset="-122"/>
              </a:rPr>
              <a:t>的代数系统（代数常数相同、运算个数相同、运算性质相同）。</a:t>
            </a:r>
            <a:r>
              <a:rPr lang="zh-CN" altLang="en-US" sz="1200" b="1" dirty="0">
                <a:solidFill>
                  <a:schemeClr val="tx1"/>
                </a:solidFill>
                <a:latin typeface="Calibri" panose="020F0502020204030204" pitchFamily="34" charset="0"/>
                <a:ea typeface="宋体" panose="02010600030101010101" pitchFamily="2" charset="-122"/>
                <a:cs typeface="Calibri" panose="020F0502020204030204" pitchFamily="34" charset="0"/>
              </a:rPr>
              <a:t>②</a:t>
            </a:r>
            <a:r>
              <a:rPr lang="zh-CN" altLang="en-US" sz="1200" b="1" dirty="0">
                <a:solidFill>
                  <a:schemeClr val="tx1"/>
                </a:solidFill>
                <a:latin typeface="Times New Roman" panose="02020603050405020304" pitchFamily="18" charset="0"/>
                <a:ea typeface="宋体" panose="02010600030101010101" pitchFamily="2" charset="-122"/>
              </a:rPr>
              <a:t>任何代数系统</a:t>
            </a:r>
            <a:r>
              <a:rPr lang="en-US" altLang="zh-CN" sz="1200" b="1" i="1" dirty="0">
                <a:solidFill>
                  <a:schemeClr val="tx1"/>
                </a:solidFill>
                <a:latin typeface="Times New Roman" panose="02020603050405020304" pitchFamily="18" charset="0"/>
                <a:ea typeface="宋体" panose="02010600030101010101" pitchFamily="2" charset="-122"/>
              </a:rPr>
              <a:t>V</a:t>
            </a:r>
            <a:r>
              <a:rPr lang="zh-CN" altLang="en-US" sz="1200" b="1" dirty="0">
                <a:solidFill>
                  <a:schemeClr val="tx1"/>
                </a:solidFill>
                <a:latin typeface="Times New Roman" panose="02020603050405020304" pitchFamily="18" charset="0"/>
                <a:ea typeface="宋体" panose="02010600030101010101" pitchFamily="2" charset="-122"/>
              </a:rPr>
              <a:t>的子代数系统一定存在。</a:t>
            </a:r>
            <a:r>
              <a:rPr lang="en-US" altLang="zh-CN" sz="1200" b="1" dirty="0">
                <a:solidFill>
                  <a:schemeClr val="tx1"/>
                </a:solidFill>
                <a:latin typeface="Times New Roman" panose="02020603050405020304" pitchFamily="18" charset="0"/>
                <a:ea typeface="宋体" panose="02010600030101010101" pitchFamily="2" charset="-122"/>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37</a:t>
            </a:fld>
            <a:endParaRPr lang="zh-CN" altLang="en-US"/>
          </a:p>
        </p:txBody>
      </p:sp>
    </p:spTree>
    <p:extLst>
      <p:ext uri="{BB962C8B-B14F-4D97-AF65-F5344CB8AC3E}">
        <p14:creationId xmlns:p14="http://schemas.microsoft.com/office/powerpoint/2010/main" val="12306913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子代数系统（或子结构）可以把代数系统分解成更小、更简单的部分，从而更容易研究它们之间的关系。</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Times New Roman" panose="02020603050405020304" pitchFamily="18" charset="0"/>
                <a:ea typeface="宋体" panose="02010600030101010101" pitchFamily="2" charset="-122"/>
              </a:rPr>
              <a:t>定义</a:t>
            </a:r>
            <a:r>
              <a:rPr lang="en-US" altLang="zh-CN" sz="1200" b="1" dirty="0">
                <a:solidFill>
                  <a:srgbClr val="FF0000"/>
                </a:solidFill>
                <a:latin typeface="Times New Roman" panose="02020603050405020304" pitchFamily="18" charset="0"/>
                <a:ea typeface="宋体" panose="02010600030101010101" pitchFamily="2" charset="-122"/>
              </a:rPr>
              <a:t>14.9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V</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S</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en-US" altLang="zh-CN" sz="1200" b="1" dirty="0">
                <a:solidFill>
                  <a:schemeClr val="tx1"/>
                </a:solidFill>
                <a:latin typeface="Times New Roman" panose="02020603050405020304" pitchFamily="18" charset="0"/>
                <a:ea typeface="宋体" panose="02010600030101010101" pitchFamily="2" charset="-122"/>
              </a:rPr>
              <a:t>,  … ,  </a:t>
            </a:r>
            <a:r>
              <a:rPr lang="en-US" altLang="zh-CN" sz="1200" b="1" i="1" dirty="0" err="1">
                <a:solidFill>
                  <a:schemeClr val="tx1"/>
                </a:solidFill>
                <a:latin typeface="Times New Roman" panose="02020603050405020304" pitchFamily="18" charset="0"/>
                <a:ea typeface="宋体" panose="02010600030101010101" pitchFamily="2" charset="-122"/>
              </a:rPr>
              <a:t>f</a:t>
            </a:r>
            <a:r>
              <a:rPr lang="en-US" altLang="zh-CN" sz="1200" b="1" i="1" baseline="-25000" dirty="0" err="1">
                <a:solidFill>
                  <a:schemeClr val="tx1"/>
                </a:solidFill>
                <a:latin typeface="Times New Roman" panose="02020603050405020304" pitchFamily="18" charset="0"/>
                <a:ea typeface="宋体" panose="02010600030101010101" pitchFamily="2" charset="-122"/>
              </a:rPr>
              <a:t>k</a:t>
            </a:r>
            <a:r>
              <a:rPr lang="en-US" altLang="zh-CN" sz="1200" b="1" dirty="0">
                <a:solidFill>
                  <a:schemeClr val="tx1"/>
                </a:solidFill>
                <a:latin typeface="Times New Roman" panose="02020603050405020304" pitchFamily="18" charset="0"/>
                <a:ea typeface="宋体" panose="02010600030101010101" pitchFamily="2" charset="-122"/>
              </a:rPr>
              <a:t>&gt; </a:t>
            </a:r>
            <a:r>
              <a:rPr lang="zh-CN" altLang="en-US" sz="1200" b="1" dirty="0">
                <a:solidFill>
                  <a:schemeClr val="tx1"/>
                </a:solidFill>
                <a:latin typeface="Times New Roman" panose="02020603050405020304" pitchFamily="18" charset="0"/>
                <a:ea typeface="宋体" panose="02010600030101010101" pitchFamily="2" charset="-122"/>
              </a:rPr>
              <a:t>是代数系统，</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是 </a:t>
            </a:r>
            <a:r>
              <a:rPr lang="en-US" altLang="zh-CN" sz="1200" b="1" i="1" dirty="0">
                <a:solidFill>
                  <a:schemeClr val="tx1"/>
                </a:solidFill>
                <a:latin typeface="Times New Roman" panose="02020603050405020304" pitchFamily="18" charset="0"/>
                <a:ea typeface="宋体" panose="02010600030101010101" pitchFamily="2" charset="-122"/>
              </a:rPr>
              <a:t>S </a:t>
            </a:r>
            <a:r>
              <a:rPr lang="zh-CN" altLang="en-US" sz="1200" b="1" dirty="0">
                <a:solidFill>
                  <a:schemeClr val="tx1"/>
                </a:solidFill>
                <a:latin typeface="Times New Roman" panose="02020603050405020304" pitchFamily="18" charset="0"/>
                <a:ea typeface="宋体" panose="02010600030101010101" pitchFamily="2" charset="-122"/>
              </a:rPr>
              <a:t>的非空子集 ，如果 </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对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en-US" altLang="zh-CN" sz="1200" b="1" dirty="0">
                <a:solidFill>
                  <a:schemeClr val="tx1"/>
                </a:solidFill>
                <a:latin typeface="Times New Roman" panose="02020603050405020304" pitchFamily="18" charset="0"/>
                <a:ea typeface="宋体" panose="02010600030101010101" pitchFamily="2" charset="-122"/>
              </a:rPr>
              <a:t>, … , </a:t>
            </a:r>
            <a:r>
              <a:rPr lang="en-US" altLang="zh-CN" sz="1200" b="1" i="1" dirty="0" err="1">
                <a:solidFill>
                  <a:schemeClr val="tx1"/>
                </a:solidFill>
                <a:latin typeface="Times New Roman" panose="02020603050405020304" pitchFamily="18" charset="0"/>
                <a:ea typeface="宋体" panose="02010600030101010101" pitchFamily="2" charset="-122"/>
              </a:rPr>
              <a:t>f</a:t>
            </a:r>
            <a:r>
              <a:rPr lang="en-US" altLang="zh-CN" sz="1200" b="1" i="1" baseline="-25000" dirty="0" err="1">
                <a:solidFill>
                  <a:schemeClr val="tx1"/>
                </a:solidFill>
                <a:latin typeface="Times New Roman" panose="02020603050405020304" pitchFamily="18" charset="0"/>
                <a:ea typeface="宋体" panose="02010600030101010101" pitchFamily="2" charset="-122"/>
              </a:rPr>
              <a:t>k</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都是封闭的，且 </a:t>
            </a:r>
            <a:r>
              <a:rPr lang="en-US" altLang="zh-CN" sz="1200" b="1" i="1" dirty="0">
                <a:solidFill>
                  <a:schemeClr val="tx1"/>
                </a:solidFill>
                <a:latin typeface="Times New Roman" panose="02020603050405020304" pitchFamily="18" charset="0"/>
                <a:ea typeface="宋体" panose="02010600030101010101" pitchFamily="2" charset="-122"/>
              </a:rPr>
              <a:t>B </a:t>
            </a:r>
            <a:r>
              <a:rPr lang="zh-CN" altLang="en-US" sz="1200" b="1" dirty="0">
                <a:solidFill>
                  <a:schemeClr val="tx1"/>
                </a:solidFill>
                <a:latin typeface="Times New Roman" panose="02020603050405020304" pitchFamily="18" charset="0"/>
                <a:ea typeface="宋体" panose="02010600030101010101" pitchFamily="2" charset="-122"/>
              </a:rPr>
              <a:t>和 </a:t>
            </a:r>
            <a:r>
              <a:rPr lang="en-US" altLang="zh-CN" sz="1200" b="1" i="1" dirty="0">
                <a:solidFill>
                  <a:schemeClr val="tx1"/>
                </a:solidFill>
                <a:latin typeface="Times New Roman" panose="02020603050405020304" pitchFamily="18" charset="0"/>
                <a:ea typeface="宋体" panose="02010600030101010101" pitchFamily="2" charset="-122"/>
              </a:rPr>
              <a:t>S</a:t>
            </a:r>
            <a:r>
              <a:rPr lang="zh-CN" altLang="en-US" sz="1200" b="1" dirty="0">
                <a:solidFill>
                  <a:schemeClr val="tx1"/>
                </a:solidFill>
                <a:latin typeface="Times New Roman" panose="02020603050405020304" pitchFamily="18" charset="0"/>
                <a:ea typeface="宋体" panose="02010600030101010101" pitchFamily="2" charset="-122"/>
              </a:rPr>
              <a:t>含有相同的代数常数，则称 </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f</a:t>
            </a:r>
            <a:r>
              <a:rPr lang="en-US" altLang="zh-CN" sz="1200" b="1" baseline="-25000" dirty="0">
                <a:solidFill>
                  <a:schemeClr val="tx1"/>
                </a:solidFill>
                <a:latin typeface="Times New Roman" panose="02020603050405020304" pitchFamily="18" charset="0"/>
                <a:ea typeface="宋体" panose="02010600030101010101" pitchFamily="2" charset="-122"/>
              </a:rPr>
              <a:t>2</a:t>
            </a:r>
            <a:r>
              <a:rPr lang="en-US" altLang="zh-CN" sz="1200" b="1" dirty="0">
                <a:solidFill>
                  <a:schemeClr val="tx1"/>
                </a:solidFill>
                <a:latin typeface="Times New Roman" panose="02020603050405020304" pitchFamily="18" charset="0"/>
                <a:ea typeface="宋体" panose="02010600030101010101" pitchFamily="2" charset="-122"/>
              </a:rPr>
              <a:t>, … , </a:t>
            </a:r>
            <a:r>
              <a:rPr lang="en-US" altLang="zh-CN" sz="1200" b="1" i="1" dirty="0" err="1">
                <a:solidFill>
                  <a:schemeClr val="tx1"/>
                </a:solidFill>
                <a:latin typeface="Times New Roman" panose="02020603050405020304" pitchFamily="18" charset="0"/>
                <a:ea typeface="宋体" panose="02010600030101010101" pitchFamily="2" charset="-122"/>
              </a:rPr>
              <a:t>f</a:t>
            </a:r>
            <a:r>
              <a:rPr lang="en-US" altLang="zh-CN" sz="1200" b="1" i="1" baseline="-25000" dirty="0" err="1">
                <a:solidFill>
                  <a:schemeClr val="tx1"/>
                </a:solidFill>
                <a:latin typeface="Times New Roman" panose="02020603050405020304" pitchFamily="18" charset="0"/>
                <a:ea typeface="宋体" panose="02010600030101010101" pitchFamily="2" charset="-122"/>
              </a:rPr>
              <a:t>k</a:t>
            </a:r>
            <a:r>
              <a:rPr lang="en-US" altLang="zh-CN" sz="1200" b="1" dirty="0">
                <a:solidFill>
                  <a:schemeClr val="tx1"/>
                </a:solidFill>
                <a:latin typeface="Times New Roman" panose="02020603050405020304" pitchFamily="18" charset="0"/>
                <a:ea typeface="宋体" panose="02010600030101010101" pitchFamily="2" charset="-122"/>
              </a:rPr>
              <a:t>&gt; </a:t>
            </a:r>
            <a:r>
              <a:rPr lang="zh-CN" altLang="en-US" sz="1200" b="1" dirty="0">
                <a:solidFill>
                  <a:schemeClr val="tx1"/>
                </a:solidFill>
                <a:latin typeface="Times New Roman" panose="02020603050405020304" pitchFamily="18" charset="0"/>
                <a:ea typeface="宋体" panose="02010600030101010101" pitchFamily="2" charset="-122"/>
              </a:rPr>
              <a:t>是 </a:t>
            </a:r>
            <a:r>
              <a:rPr lang="en-US" altLang="zh-CN" sz="1200" b="1" i="1" dirty="0">
                <a:solidFill>
                  <a:schemeClr val="tx1"/>
                </a:solidFill>
                <a:latin typeface="Times New Roman" panose="02020603050405020304" pitchFamily="18" charset="0"/>
                <a:ea typeface="宋体" panose="02010600030101010101" pitchFamily="2" charset="-122"/>
              </a:rPr>
              <a:t>V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0000"/>
                </a:solidFill>
                <a:latin typeface="Times New Roman" panose="02020603050405020304" pitchFamily="18" charset="0"/>
                <a:ea typeface="宋体" panose="02010600030101010101" pitchFamily="2" charset="-122"/>
              </a:rPr>
              <a:t>子代数系统</a:t>
            </a:r>
            <a:r>
              <a:rPr lang="zh-CN" altLang="en-US" sz="1200" b="1" dirty="0">
                <a:solidFill>
                  <a:schemeClr val="tx1"/>
                </a:solidFill>
                <a:latin typeface="Times New Roman" panose="02020603050405020304" pitchFamily="18" charset="0"/>
                <a:ea typeface="宋体" panose="02010600030101010101" pitchFamily="2" charset="-122"/>
              </a:rPr>
              <a:t>，简称</a:t>
            </a:r>
            <a:r>
              <a:rPr lang="zh-CN" altLang="en-US" sz="1200" b="1" dirty="0">
                <a:solidFill>
                  <a:srgbClr val="FF0000"/>
                </a:solidFill>
                <a:latin typeface="Times New Roman" panose="02020603050405020304" pitchFamily="18" charset="0"/>
                <a:ea typeface="宋体" panose="02010600030101010101" pitchFamily="2" charset="-122"/>
              </a:rPr>
              <a:t>子代数</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有时将子代数系统简记为</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a:t>
            </a:r>
          </a:p>
          <a:p>
            <a:pPr>
              <a:lnSpc>
                <a:spcPct val="110000"/>
              </a:lnSpc>
              <a:spcBef>
                <a:spcPct val="50000"/>
              </a:spcBef>
            </a:pPr>
            <a:r>
              <a:rPr lang="zh-CN" altLang="en-US" sz="1200" b="1" dirty="0">
                <a:solidFill>
                  <a:srgbClr val="00B0F0"/>
                </a:solidFill>
                <a:latin typeface="Times New Roman" panose="02020603050405020304" pitchFamily="18" charset="0"/>
                <a:ea typeface="宋体" panose="02010600030101010101" pitchFamily="2" charset="-122"/>
              </a:rPr>
              <a:t>例：</a:t>
            </a:r>
          </a:p>
          <a:p>
            <a:pPr>
              <a:lnSpc>
                <a:spcPct val="110000"/>
              </a:lnSpc>
            </a:pPr>
            <a:r>
              <a:rPr lang="zh-CN" altLang="en-US" sz="1200" b="1" dirty="0">
                <a:solidFill>
                  <a:srgbClr val="000066"/>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&lt; N,</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&gt; </a:t>
            </a:r>
            <a:r>
              <a:rPr lang="zh-CN" altLang="en-US" sz="1200" b="1" dirty="0">
                <a:solidFill>
                  <a:schemeClr val="tx1"/>
                </a:solidFill>
                <a:latin typeface="Times New Roman" panose="02020603050405020304" pitchFamily="18" charset="0"/>
                <a:ea typeface="宋体" panose="02010600030101010101" pitchFamily="2" charset="-122"/>
              </a:rPr>
              <a:t>是</a:t>
            </a:r>
            <a:r>
              <a:rPr lang="en-US" altLang="zh-CN" sz="1200" b="1" dirty="0">
                <a:solidFill>
                  <a:schemeClr val="tx1"/>
                </a:solidFill>
                <a:latin typeface="Times New Roman" panose="02020603050405020304" pitchFamily="18" charset="0"/>
                <a:ea typeface="宋体" panose="02010600030101010101" pitchFamily="2" charset="-122"/>
              </a:rPr>
              <a:t>&lt;Z,</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dirty="0">
                <a:solidFill>
                  <a:schemeClr val="tx1"/>
                </a:solidFill>
                <a:latin typeface="Times New Roman" panose="02020603050405020304" pitchFamily="18" charset="0"/>
                <a:ea typeface="宋体" panose="02010600030101010101" pitchFamily="2" charset="-122"/>
              </a:rPr>
              <a:t>的子代数，</a:t>
            </a:r>
            <a:r>
              <a:rPr lang="en-US" altLang="zh-CN" sz="1200" b="1" dirty="0">
                <a:solidFill>
                  <a:schemeClr val="tx1"/>
                </a:solidFill>
                <a:latin typeface="Times New Roman" panose="02020603050405020304" pitchFamily="18" charset="0"/>
                <a:ea typeface="宋体" panose="02010600030101010101" pitchFamily="2" charset="-122"/>
              </a:rPr>
              <a:t> &lt; N,</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 ,0 &gt;</a:t>
            </a:r>
            <a:r>
              <a:rPr lang="zh-CN" altLang="en-US" sz="1200" b="1" dirty="0">
                <a:solidFill>
                  <a:schemeClr val="tx1"/>
                </a:solidFill>
                <a:latin typeface="Times New Roman" panose="02020603050405020304" pitchFamily="18" charset="0"/>
                <a:ea typeface="宋体" panose="02010600030101010101" pitchFamily="2" charset="-122"/>
              </a:rPr>
              <a:t>也是</a:t>
            </a:r>
            <a:r>
              <a:rPr lang="en-US" altLang="zh-CN" sz="1200" b="1" dirty="0">
                <a:solidFill>
                  <a:schemeClr val="tx1"/>
                </a:solidFill>
                <a:latin typeface="Times New Roman" panose="02020603050405020304" pitchFamily="18" charset="0"/>
                <a:ea typeface="宋体" panose="02010600030101010101" pitchFamily="2" charset="-122"/>
              </a:rPr>
              <a:t>&lt;Z,</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,0&gt;</a:t>
            </a:r>
            <a:r>
              <a:rPr lang="zh-CN" altLang="en-US" sz="1200" b="1" dirty="0">
                <a:solidFill>
                  <a:schemeClr val="tx1"/>
                </a:solidFill>
                <a:latin typeface="Times New Roman" panose="02020603050405020304" pitchFamily="18" charset="0"/>
                <a:ea typeface="宋体" panose="02010600030101010101" pitchFamily="2" charset="-122"/>
              </a:rPr>
              <a:t>的子代数（</a:t>
            </a:r>
            <a:r>
              <a:rPr lang="en-US" altLang="zh-CN" sz="1200" b="1" dirty="0">
                <a:solidFill>
                  <a:schemeClr val="tx1"/>
                </a:solidFill>
                <a:latin typeface="Times New Roman" panose="02020603050405020304" pitchFamily="18" charset="0"/>
                <a:ea typeface="宋体" panose="02010600030101010101" pitchFamily="2" charset="-122"/>
              </a:rPr>
              <a:t> N </a:t>
            </a:r>
            <a:r>
              <a:rPr lang="zh-CN" altLang="en-US" sz="1200" b="1" dirty="0">
                <a:solidFill>
                  <a:schemeClr val="tx1"/>
                </a:solidFill>
                <a:latin typeface="Times New Roman" panose="02020603050405020304" pitchFamily="18" charset="0"/>
                <a:ea typeface="宋体" panose="02010600030101010101" pitchFamily="2" charset="-122"/>
              </a:rPr>
              <a:t>对＋ 封闭，有相同的代数常数）</a:t>
            </a:r>
            <a:endParaRPr lang="zh-CN" altLang="en-US" sz="1200" b="1" i="1" dirty="0">
              <a:solidFill>
                <a:schemeClr val="tx1"/>
              </a:solidFill>
              <a:latin typeface="Times New Roman" panose="02020603050405020304" pitchFamily="18" charset="0"/>
              <a:ea typeface="宋体" panose="02010600030101010101" pitchFamily="2" charset="-122"/>
            </a:endParaRPr>
          </a:p>
          <a:p>
            <a:pPr>
              <a:lnSpc>
                <a:spcPct val="110000"/>
              </a:lnSpc>
            </a:pPr>
            <a:r>
              <a:rPr lang="zh-CN" altLang="en-US"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&lt; N</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{0},</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是</a:t>
            </a:r>
            <a:r>
              <a:rPr lang="en-US" altLang="zh-CN" sz="1200" b="1" dirty="0">
                <a:solidFill>
                  <a:schemeClr val="tx1"/>
                </a:solidFill>
                <a:latin typeface="Times New Roman" panose="02020603050405020304" pitchFamily="18" charset="0"/>
                <a:ea typeface="宋体" panose="02010600030101010101" pitchFamily="2" charset="-122"/>
              </a:rPr>
              <a:t>&lt;Z,</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dirty="0">
                <a:solidFill>
                  <a:schemeClr val="tx1"/>
                </a:solidFill>
                <a:latin typeface="Times New Roman" panose="02020603050405020304" pitchFamily="18" charset="0"/>
                <a:ea typeface="宋体" panose="02010600030101010101" pitchFamily="2" charset="-122"/>
              </a:rPr>
              <a:t>的子代数，但不是</a:t>
            </a:r>
            <a:r>
              <a:rPr lang="en-US" altLang="zh-CN" sz="1200" b="1" dirty="0">
                <a:solidFill>
                  <a:schemeClr val="tx1"/>
                </a:solidFill>
                <a:latin typeface="Times New Roman" panose="02020603050405020304" pitchFamily="18" charset="0"/>
                <a:ea typeface="宋体" panose="02010600030101010101" pitchFamily="2" charset="-122"/>
              </a:rPr>
              <a:t>&lt;Z,</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,0&gt;</a:t>
            </a:r>
            <a:r>
              <a:rPr lang="zh-CN" altLang="en-US" sz="1200" b="1" dirty="0">
                <a:solidFill>
                  <a:schemeClr val="tx1"/>
                </a:solidFill>
                <a:latin typeface="Times New Roman" panose="02020603050405020304" pitchFamily="18" charset="0"/>
                <a:ea typeface="宋体" panose="02010600030101010101" pitchFamily="2" charset="-122"/>
              </a:rPr>
              <a:t>的子代数（因为代数常数不包含在</a:t>
            </a:r>
            <a:r>
              <a:rPr lang="en-US" altLang="zh-CN" sz="1200" b="1" dirty="0">
                <a:solidFill>
                  <a:schemeClr val="tx1"/>
                </a:solidFill>
                <a:latin typeface="Times New Roman" panose="02020603050405020304" pitchFamily="18" charset="0"/>
                <a:ea typeface="宋体" panose="02010600030101010101" pitchFamily="2" charset="-122"/>
              </a:rPr>
              <a:t>N</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rPr>
              <a:t>{0}</a:t>
            </a:r>
            <a:r>
              <a:rPr lang="zh-CN" altLang="en-US" sz="1200" b="1" dirty="0">
                <a:solidFill>
                  <a:schemeClr val="tx1"/>
                </a:solidFill>
                <a:latin typeface="Times New Roman" panose="02020603050405020304" pitchFamily="18" charset="0"/>
                <a:ea typeface="宋体" panose="02010600030101010101" pitchFamily="2" charset="-122"/>
              </a:rPr>
              <a:t>中）</a:t>
            </a:r>
          </a:p>
          <a:p>
            <a:pPr>
              <a:lnSpc>
                <a:spcPct val="110000"/>
              </a:lnSpc>
              <a:spcBef>
                <a:spcPct val="50000"/>
              </a:spcBef>
            </a:pPr>
            <a:r>
              <a:rPr lang="zh-CN" altLang="en-US" sz="1200" b="1" dirty="0">
                <a:solidFill>
                  <a:schemeClr val="tx1"/>
                </a:solidFill>
                <a:latin typeface="Times New Roman" panose="02020603050405020304" pitchFamily="18" charset="0"/>
                <a:ea typeface="宋体" panose="02010600030101010101" pitchFamily="2" charset="-122"/>
              </a:rPr>
              <a:t>说明：</a:t>
            </a:r>
            <a:r>
              <a:rPr lang="zh-CN" altLang="en-US" sz="1200" b="1" dirty="0">
                <a:solidFill>
                  <a:schemeClr val="tx1"/>
                </a:solidFill>
                <a:latin typeface="Calibri" panose="020F0502020204030204" pitchFamily="34" charset="0"/>
                <a:ea typeface="宋体" panose="02010600030101010101" pitchFamily="2" charset="-122"/>
                <a:cs typeface="Calibri" panose="020F0502020204030204" pitchFamily="34" charset="0"/>
              </a:rPr>
              <a:t>①</a:t>
            </a:r>
            <a:r>
              <a:rPr lang="zh-CN" altLang="en-US" sz="1200" b="1" dirty="0">
                <a:solidFill>
                  <a:schemeClr val="tx1"/>
                </a:solidFill>
                <a:latin typeface="Times New Roman" panose="02020603050405020304" pitchFamily="18" charset="0"/>
                <a:ea typeface="宋体" panose="02010600030101010101" pitchFamily="2" charset="-122"/>
              </a:rPr>
              <a:t> 子代数和原代数是</a:t>
            </a:r>
            <a:r>
              <a:rPr lang="zh-CN" altLang="en-US" sz="1200" b="1" dirty="0">
                <a:solidFill>
                  <a:srgbClr val="FF0000"/>
                </a:solidFill>
                <a:latin typeface="Times New Roman" panose="02020603050405020304" pitchFamily="18" charset="0"/>
                <a:ea typeface="宋体" panose="02010600030101010101" pitchFamily="2" charset="-122"/>
              </a:rPr>
              <a:t>同种</a:t>
            </a:r>
            <a:r>
              <a:rPr lang="zh-CN" altLang="en-US" sz="1200" b="1" dirty="0">
                <a:solidFill>
                  <a:schemeClr val="tx1"/>
                </a:solidFill>
                <a:latin typeface="Times New Roman" panose="02020603050405020304" pitchFamily="18" charset="0"/>
                <a:ea typeface="宋体" panose="02010600030101010101" pitchFamily="2" charset="-122"/>
              </a:rPr>
              <a:t>的代数系统（代数常数相同、运算个数相同、运算性质相同）。</a:t>
            </a:r>
            <a:r>
              <a:rPr lang="zh-CN" altLang="en-US" sz="1200" b="1" dirty="0">
                <a:solidFill>
                  <a:schemeClr val="tx1"/>
                </a:solidFill>
                <a:latin typeface="Calibri" panose="020F0502020204030204" pitchFamily="34" charset="0"/>
                <a:ea typeface="宋体" panose="02010600030101010101" pitchFamily="2" charset="-122"/>
                <a:cs typeface="Calibri" panose="020F0502020204030204" pitchFamily="34" charset="0"/>
              </a:rPr>
              <a:t>②</a:t>
            </a:r>
            <a:r>
              <a:rPr lang="zh-CN" altLang="en-US" sz="1200" b="1" dirty="0">
                <a:solidFill>
                  <a:schemeClr val="tx1"/>
                </a:solidFill>
                <a:latin typeface="Times New Roman" panose="02020603050405020304" pitchFamily="18" charset="0"/>
                <a:ea typeface="宋体" panose="02010600030101010101" pitchFamily="2" charset="-122"/>
              </a:rPr>
              <a:t>任何代数系统</a:t>
            </a:r>
            <a:r>
              <a:rPr lang="en-US" altLang="zh-CN" sz="1200" b="1" i="1" dirty="0">
                <a:solidFill>
                  <a:schemeClr val="tx1"/>
                </a:solidFill>
                <a:latin typeface="Times New Roman" panose="02020603050405020304" pitchFamily="18" charset="0"/>
                <a:ea typeface="宋体" panose="02010600030101010101" pitchFamily="2" charset="-122"/>
              </a:rPr>
              <a:t>V</a:t>
            </a:r>
            <a:r>
              <a:rPr lang="zh-CN" altLang="en-US" sz="1200" b="1" dirty="0">
                <a:solidFill>
                  <a:schemeClr val="tx1"/>
                </a:solidFill>
                <a:latin typeface="Times New Roman" panose="02020603050405020304" pitchFamily="18" charset="0"/>
                <a:ea typeface="宋体" panose="02010600030101010101" pitchFamily="2" charset="-122"/>
              </a:rPr>
              <a:t>的子代数系统一定存在。</a:t>
            </a:r>
            <a:r>
              <a:rPr lang="en-US" altLang="zh-CN" sz="1200" b="1" dirty="0">
                <a:solidFill>
                  <a:schemeClr val="tx1"/>
                </a:solidFill>
                <a:latin typeface="Times New Roman" panose="02020603050405020304" pitchFamily="18" charset="0"/>
                <a:ea typeface="宋体" panose="02010600030101010101" pitchFamily="2" charset="-122"/>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38</a:t>
            </a:fld>
            <a:endParaRPr lang="zh-CN" altLang="en-US"/>
          </a:p>
        </p:txBody>
      </p:sp>
    </p:spTree>
    <p:extLst>
      <p:ext uri="{BB962C8B-B14F-4D97-AF65-F5344CB8AC3E}">
        <p14:creationId xmlns:p14="http://schemas.microsoft.com/office/powerpoint/2010/main" val="7029182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1" dirty="0">
                <a:latin typeface="Times New Roman" panose="02020603050405020304" pitchFamily="18" charset="0"/>
                <a:ea typeface="宋体" panose="02010600030101010101" pitchFamily="2" charset="-122"/>
              </a:rPr>
              <a:t>注：</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①</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集合 </a:t>
            </a:r>
            <a:r>
              <a:rPr lang="en-US" altLang="zh-CN" sz="1200" i="1" kern="100" dirty="0" err="1">
                <a:effectLst/>
                <a:latin typeface="KaTeX_Math"/>
                <a:ea typeface="宋体" panose="02010600030101010101" pitchFamily="2" charset="-122"/>
                <a:cs typeface="Times New Roman" panose="02020603050405020304" pitchFamily="18" charset="0"/>
              </a:rPr>
              <a:t>n</a:t>
            </a:r>
            <a:r>
              <a:rPr lang="en-US" altLang="zh-CN" sz="1200" kern="100" dirty="0" err="1">
                <a:effectLst/>
                <a:latin typeface="KaTeX_AMS"/>
                <a:ea typeface="宋体" panose="02010600030101010101" pitchFamily="2" charset="-122"/>
                <a:cs typeface="Times New Roman" panose="02020603050405020304" pitchFamily="18" charset="0"/>
              </a:rPr>
              <a:t>Z</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包含所有由整数 </a:t>
            </a:r>
            <a:r>
              <a:rPr lang="en-US" altLang="zh-CN" sz="1200" i="1" kern="100" dirty="0">
                <a:effectLst/>
                <a:latin typeface="KaTeX_Math"/>
                <a:ea typeface="宋体" panose="02010600030101010101" pitchFamily="2" charset="-122"/>
                <a:cs typeface="Times New Roman" panose="02020603050405020304" pitchFamily="18" charset="0"/>
              </a:rPr>
              <a:t>z</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与 </a:t>
            </a:r>
            <a:r>
              <a:rPr lang="en-US" altLang="zh-CN" sz="1200" i="1" kern="100" dirty="0">
                <a:effectLst/>
                <a:latin typeface="KaTeX_Math"/>
                <a:ea typeface="宋体" panose="02010600030101010101" pitchFamily="2" charset="-122"/>
                <a:cs typeface="Times New Roman" panose="02020603050405020304" pitchFamily="18" charset="0"/>
              </a:rPr>
              <a:t>n</a:t>
            </a:r>
            <a:r>
              <a:rPr lang="en-US"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的乘积构成的数。</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② </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n=1</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时，</a:t>
            </a:r>
            <a:r>
              <a:rPr lang="en-US" altLang="zh-CN" sz="1200" kern="100" dirty="0" err="1">
                <a:effectLst/>
                <a:latin typeface="Calibri" panose="020F0502020204030204" pitchFamily="34" charset="0"/>
                <a:ea typeface="宋体" panose="02010600030101010101" pitchFamily="2" charset="-122"/>
                <a:cs typeface="Calibri" panose="020F0502020204030204" pitchFamily="34" charset="0"/>
              </a:rPr>
              <a:t>nZ</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=Z</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Z</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是自身的子代数，属于平凡的子代数。③</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 n=0</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时，</a:t>
            </a:r>
            <a:r>
              <a:rPr lang="en-US" altLang="zh-CN" sz="1200" kern="100" dirty="0" err="1">
                <a:effectLst/>
                <a:latin typeface="Calibri" panose="020F0502020204030204" pitchFamily="34" charset="0"/>
                <a:ea typeface="宋体" panose="02010600030101010101" pitchFamily="2" charset="-122"/>
                <a:cs typeface="Calibri" panose="020F0502020204030204" pitchFamily="34" charset="0"/>
              </a:rPr>
              <a:t>nZ</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={0}</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，是仅包含零元素的平凡子代数。④当 </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n=2 </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时，集合 </a:t>
            </a:r>
            <a:r>
              <a:rPr lang="en-US" altLang="zh-CN" sz="1200" kern="100" dirty="0" err="1">
                <a:effectLst/>
                <a:latin typeface="Calibri" panose="020F0502020204030204" pitchFamily="34" charset="0"/>
                <a:ea typeface="宋体" panose="02010600030101010101" pitchFamily="2" charset="-122"/>
                <a:cs typeface="Calibri" panose="020F0502020204030204" pitchFamily="34" charset="0"/>
              </a:rPr>
              <a:t>nZ</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={2z∣z∈Z}</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，即所有偶数的集合。这是一个非平凡的真子代数，因为它是</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Z </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的一个子集，但不是整个集合。并且在加法下，偶数的和仍是偶数，这个子集在代数运算上保持闭合性。类似地，当</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n=3 </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或更高时，集合 </a:t>
            </a:r>
            <a:r>
              <a:rPr lang="en-US" altLang="zh-CN" sz="1200" kern="100" dirty="0" err="1">
                <a:effectLst/>
                <a:latin typeface="Calibri" panose="020F0502020204030204" pitchFamily="34" charset="0"/>
                <a:ea typeface="宋体" panose="02010600030101010101" pitchFamily="2" charset="-122"/>
                <a:cs typeface="Calibri" panose="020F0502020204030204" pitchFamily="34" charset="0"/>
              </a:rPr>
              <a:t>nZ</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 </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都是 </a:t>
            </a:r>
            <a:r>
              <a:rPr lang="en-US" altLang="zh-CN" sz="1200" kern="100" dirty="0">
                <a:effectLst/>
                <a:latin typeface="Calibri" panose="020F0502020204030204" pitchFamily="34" charset="0"/>
                <a:ea typeface="宋体" panose="02010600030101010101" pitchFamily="2" charset="-122"/>
                <a:cs typeface="Calibri" panose="020F0502020204030204" pitchFamily="34" charset="0"/>
              </a:rPr>
              <a:t>Z </a:t>
            </a:r>
            <a:r>
              <a:rPr lang="zh-CN" altLang="en-US" sz="1200" kern="100" dirty="0">
                <a:effectLst/>
                <a:latin typeface="Calibri" panose="020F0502020204030204" pitchFamily="34" charset="0"/>
                <a:ea typeface="宋体" panose="02010600030101010101" pitchFamily="2" charset="-122"/>
                <a:cs typeface="Calibri" panose="020F0502020204030204" pitchFamily="34" charset="0"/>
              </a:rPr>
              <a:t>的非平凡的真子代数。</a:t>
            </a:r>
            <a:endParaRPr lang="en-US" altLang="zh-CN" sz="1200" kern="100" dirty="0">
              <a:effectLst/>
              <a:latin typeface="Calibri" panose="020F0502020204030204" pitchFamily="34" charset="0"/>
              <a:ea typeface="宋体" panose="02010600030101010101" pitchFamily="2" charset="-122"/>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effectLst/>
              <a:latin typeface="Calibri" panose="020F0502020204030204" pitchFamily="34" charset="0"/>
              <a:ea typeface="宋体" panose="02010600030101010101" pitchFamily="2" charset="-122"/>
              <a:cs typeface="Calibri" panose="020F0502020204030204" pitchFamily="34" charset="0"/>
            </a:endParaRP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最大的子代数：就是</a:t>
            </a:r>
            <a:r>
              <a:rPr lang="en-US" altLang="zh-CN" sz="1200" b="1" i="1" dirty="0">
                <a:solidFill>
                  <a:schemeClr val="tx1"/>
                </a:solidFill>
                <a:latin typeface="Times New Roman" panose="02020603050405020304" pitchFamily="18" charset="0"/>
                <a:ea typeface="宋体" panose="02010600030101010101" pitchFamily="2" charset="-122"/>
              </a:rPr>
              <a:t>V</a:t>
            </a:r>
            <a:r>
              <a:rPr lang="zh-CN" altLang="en-US" sz="1200" b="1" dirty="0">
                <a:solidFill>
                  <a:schemeClr val="tx1"/>
                </a:solidFill>
                <a:latin typeface="Times New Roman" panose="02020603050405020304" pitchFamily="18" charset="0"/>
                <a:ea typeface="宋体" panose="02010600030101010101" pitchFamily="2" charset="-122"/>
              </a:rPr>
              <a:t>本身</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rPr>
              <a:t>最小的子代数：</a:t>
            </a:r>
            <a:r>
              <a:rPr lang="en-US" altLang="zh-CN" sz="1200" b="1" i="1" dirty="0">
                <a:solidFill>
                  <a:schemeClr val="tx1"/>
                </a:solidFill>
                <a:latin typeface="Times New Roman" panose="02020603050405020304" pitchFamily="18" charset="0"/>
                <a:ea typeface="宋体" panose="02010600030101010101" pitchFamily="2" charset="-122"/>
              </a:rPr>
              <a:t>V</a:t>
            </a:r>
            <a:r>
              <a:rPr lang="zh-CN" altLang="en-US" sz="1200" b="1" dirty="0">
                <a:solidFill>
                  <a:schemeClr val="tx1"/>
                </a:solidFill>
                <a:latin typeface="Times New Roman" panose="02020603050405020304" pitchFamily="18" charset="0"/>
                <a:ea typeface="宋体" panose="02010600030101010101" pitchFamily="2" charset="-122"/>
              </a:rPr>
              <a:t>中所有代数常数构成集合</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，且</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对</a:t>
            </a:r>
            <a:r>
              <a:rPr lang="en-US" altLang="zh-CN" sz="1200" b="1" i="1" dirty="0">
                <a:solidFill>
                  <a:schemeClr val="tx1"/>
                </a:solidFill>
                <a:latin typeface="Times New Roman" panose="02020603050405020304" pitchFamily="18" charset="0"/>
                <a:ea typeface="宋体" panose="02010600030101010101" pitchFamily="2" charset="-122"/>
              </a:rPr>
              <a:t>V</a:t>
            </a:r>
            <a:r>
              <a:rPr lang="zh-CN" altLang="en-US" sz="1200" b="1" dirty="0">
                <a:solidFill>
                  <a:schemeClr val="tx1"/>
                </a:solidFill>
                <a:latin typeface="Times New Roman" panose="02020603050405020304" pitchFamily="18" charset="0"/>
                <a:ea typeface="宋体" panose="02010600030101010101" pitchFamily="2" charset="-122"/>
              </a:rPr>
              <a:t>中所有运算封闭，则</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就构成了</a:t>
            </a:r>
            <a:r>
              <a:rPr lang="en-US" altLang="zh-CN" sz="1200" b="1" i="1" dirty="0">
                <a:solidFill>
                  <a:schemeClr val="tx1"/>
                </a:solidFill>
                <a:latin typeface="Times New Roman" panose="02020603050405020304" pitchFamily="18" charset="0"/>
                <a:ea typeface="宋体" panose="02010600030101010101" pitchFamily="2" charset="-122"/>
              </a:rPr>
              <a:t>V</a:t>
            </a:r>
            <a:r>
              <a:rPr lang="zh-CN" altLang="en-US" sz="1200" b="1" dirty="0">
                <a:solidFill>
                  <a:schemeClr val="tx1"/>
                </a:solidFill>
                <a:latin typeface="Times New Roman" panose="02020603050405020304" pitchFamily="18" charset="0"/>
                <a:ea typeface="宋体" panose="02010600030101010101" pitchFamily="2" charset="-122"/>
              </a:rPr>
              <a:t>的最小的子代数。</a:t>
            </a:r>
          </a:p>
          <a:p>
            <a:pPr>
              <a:lnSpc>
                <a:spcPct val="120000"/>
              </a:lnSpc>
            </a:pPr>
            <a:r>
              <a:rPr lang="zh-CN" altLang="en-US" sz="1200" b="1" dirty="0">
                <a:solidFill>
                  <a:srgbClr val="FF0000"/>
                </a:solidFill>
                <a:latin typeface="Times New Roman" panose="02020603050405020304" pitchFamily="18" charset="0"/>
                <a:ea typeface="宋体" panose="02010600030101010101" pitchFamily="2" charset="-122"/>
              </a:rPr>
              <a:t>平凡的子代数</a:t>
            </a:r>
            <a:r>
              <a:rPr lang="zh-CN" altLang="en-US" sz="1200" b="1" dirty="0">
                <a:solidFill>
                  <a:schemeClr val="tx1"/>
                </a:solidFill>
                <a:latin typeface="Times New Roman" panose="02020603050405020304" pitchFamily="18" charset="0"/>
                <a:ea typeface="宋体" panose="02010600030101010101" pitchFamily="2" charset="-122"/>
              </a:rPr>
              <a:t>：最大和最小子代数称为</a:t>
            </a:r>
            <a:r>
              <a:rPr lang="en-US" altLang="zh-CN" sz="1200" b="1" i="1" dirty="0">
                <a:solidFill>
                  <a:schemeClr val="tx1"/>
                </a:solidFill>
                <a:latin typeface="Times New Roman" panose="02020603050405020304" pitchFamily="18" charset="0"/>
                <a:ea typeface="宋体" panose="02010600030101010101" pitchFamily="2" charset="-122"/>
              </a:rPr>
              <a:t>V</a:t>
            </a:r>
            <a:r>
              <a:rPr lang="zh-CN" altLang="en-US" sz="1200" b="1" dirty="0">
                <a:solidFill>
                  <a:schemeClr val="tx1"/>
                </a:solidFill>
                <a:latin typeface="Times New Roman" panose="02020603050405020304" pitchFamily="18" charset="0"/>
                <a:ea typeface="宋体" panose="02010600030101010101" pitchFamily="2" charset="-122"/>
              </a:rPr>
              <a:t>的平凡子代数</a:t>
            </a:r>
          </a:p>
          <a:p>
            <a:pPr>
              <a:lnSpc>
                <a:spcPct val="120000"/>
              </a:lnSpc>
            </a:pPr>
            <a:r>
              <a:rPr lang="zh-CN" altLang="en-US" sz="1200" b="1" dirty="0">
                <a:solidFill>
                  <a:srgbClr val="FF0000"/>
                </a:solidFill>
                <a:latin typeface="Times New Roman" panose="02020603050405020304" pitchFamily="18" charset="0"/>
                <a:ea typeface="宋体" panose="02010600030101010101" pitchFamily="2" charset="-122"/>
              </a:rPr>
              <a:t>真子代数</a:t>
            </a:r>
            <a:r>
              <a:rPr lang="zh-CN" altLang="en-US" sz="1200" b="1" dirty="0">
                <a:solidFill>
                  <a:schemeClr val="tx1"/>
                </a:solidFill>
                <a:latin typeface="Times New Roman" panose="02020603050405020304" pitchFamily="18" charset="0"/>
                <a:ea typeface="宋体" panose="02010600030101010101" pitchFamily="2" charset="-122"/>
              </a:rPr>
              <a:t>：若</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是</a:t>
            </a:r>
            <a:r>
              <a:rPr lang="en-US" altLang="zh-CN" sz="1200" b="1" i="1" dirty="0">
                <a:solidFill>
                  <a:schemeClr val="tx1"/>
                </a:solidFill>
                <a:latin typeface="Times New Roman" panose="02020603050405020304" pitchFamily="18" charset="0"/>
                <a:ea typeface="宋体" panose="02010600030101010101" pitchFamily="2" charset="-122"/>
              </a:rPr>
              <a:t>S</a:t>
            </a:r>
            <a:r>
              <a:rPr lang="zh-CN" altLang="en-US" sz="1200" b="1" dirty="0">
                <a:solidFill>
                  <a:schemeClr val="tx1"/>
                </a:solidFill>
                <a:latin typeface="Times New Roman" panose="02020603050405020304" pitchFamily="18" charset="0"/>
                <a:ea typeface="宋体" panose="02010600030101010101" pitchFamily="2" charset="-122"/>
              </a:rPr>
              <a:t>的真子集，则</a:t>
            </a:r>
            <a:r>
              <a:rPr lang="en-US" altLang="zh-CN" sz="1200" b="1" i="1" dirty="0">
                <a:solidFill>
                  <a:schemeClr val="tx1"/>
                </a:solidFill>
                <a:latin typeface="Times New Roman" panose="02020603050405020304" pitchFamily="18" charset="0"/>
                <a:ea typeface="宋体" panose="02010600030101010101" pitchFamily="2" charset="-122"/>
              </a:rPr>
              <a:t>B</a:t>
            </a:r>
            <a:r>
              <a:rPr lang="zh-CN" altLang="en-US" sz="1200" b="1" dirty="0">
                <a:solidFill>
                  <a:schemeClr val="tx1"/>
                </a:solidFill>
                <a:latin typeface="Times New Roman" panose="02020603050405020304" pitchFamily="18" charset="0"/>
                <a:ea typeface="宋体" panose="02010600030101010101" pitchFamily="2" charset="-122"/>
              </a:rPr>
              <a:t>构成的子代数称为</a:t>
            </a:r>
            <a:r>
              <a:rPr lang="en-US" altLang="zh-CN" sz="1200" b="1" i="1" dirty="0">
                <a:solidFill>
                  <a:schemeClr val="tx1"/>
                </a:solidFill>
                <a:latin typeface="Times New Roman" panose="02020603050405020304" pitchFamily="18" charset="0"/>
                <a:ea typeface="宋体" panose="02010600030101010101" pitchFamily="2" charset="-122"/>
              </a:rPr>
              <a:t>V</a:t>
            </a:r>
            <a:r>
              <a:rPr lang="zh-CN" altLang="en-US" sz="1200" b="1" dirty="0">
                <a:solidFill>
                  <a:schemeClr val="tx1"/>
                </a:solidFill>
                <a:latin typeface="Times New Roman" panose="02020603050405020304" pitchFamily="18" charset="0"/>
                <a:ea typeface="宋体" panose="02010600030101010101" pitchFamily="2" charset="-122"/>
              </a:rPr>
              <a:t>的真子代数</a:t>
            </a:r>
            <a:r>
              <a:rPr lang="en-US" altLang="zh-CN" sz="1200" b="1" dirty="0">
                <a:solidFill>
                  <a:schemeClr val="tx1"/>
                </a:solidFill>
                <a:latin typeface="Times New Roman" panose="02020603050405020304" pitchFamily="18" charset="0"/>
                <a:ea typeface="宋体" panose="02010600030101010101" pitchFamily="2" charset="-122"/>
              </a:rPr>
              <a:t>.</a:t>
            </a:r>
          </a:p>
          <a:p>
            <a:pPr>
              <a:lnSpc>
                <a:spcPct val="120000"/>
              </a:lnSpc>
            </a:pPr>
            <a:endParaRPr lang="zh-CN" altLang="en-US" sz="1200" b="1" dirty="0">
              <a:solidFill>
                <a:srgbClr val="800000"/>
              </a:solidFill>
              <a:latin typeface="Times New Roman" panose="02020603050405020304" pitchFamily="18" charset="0"/>
              <a:ea typeface="宋体" panose="02010600030101010101" pitchFamily="2" charset="-122"/>
            </a:endParaRPr>
          </a:p>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a:t>
            </a:r>
            <a:r>
              <a:rPr lang="en-US" altLang="zh-CN" sz="1200" b="1" i="1" dirty="0">
                <a:solidFill>
                  <a:schemeClr val="tx1"/>
                </a:solidFill>
                <a:latin typeface="Times New Roman" panose="02020603050405020304" pitchFamily="18" charset="0"/>
                <a:ea typeface="宋体" panose="02010600030101010101" pitchFamily="2" charset="-122"/>
              </a:rPr>
              <a:t>V</a:t>
            </a:r>
            <a:r>
              <a:rPr lang="en-US" altLang="zh-CN" sz="1200" b="1" dirty="0">
                <a:solidFill>
                  <a:schemeClr val="tx1"/>
                </a:solidFill>
                <a:latin typeface="Times New Roman" panose="02020603050405020304" pitchFamily="18" charset="0"/>
                <a:ea typeface="宋体" panose="02010600030101010101" pitchFamily="2" charset="-122"/>
              </a:rPr>
              <a:t>=&lt;Z,+,0&gt;</a:t>
            </a:r>
            <a:r>
              <a:rPr lang="zh-CN" altLang="en-US" sz="1200" b="1" dirty="0">
                <a:solidFill>
                  <a:schemeClr val="tx1"/>
                </a:solidFill>
                <a:latin typeface="Times New Roman" panose="02020603050405020304" pitchFamily="18" charset="0"/>
                <a:ea typeface="宋体" panose="02010600030101010101" pitchFamily="2" charset="-122"/>
              </a:rPr>
              <a:t>，令 </a:t>
            </a:r>
            <a:r>
              <a:rPr lang="en-US" altLang="zh-CN" sz="1200" b="1" i="1" dirty="0" err="1">
                <a:solidFill>
                  <a:schemeClr val="tx1"/>
                </a:solidFill>
                <a:latin typeface="Times New Roman" panose="02020603050405020304" pitchFamily="18" charset="0"/>
                <a:ea typeface="宋体" panose="02010600030101010101" pitchFamily="2" charset="-122"/>
              </a:rPr>
              <a:t>n</a:t>
            </a:r>
            <a:r>
              <a:rPr lang="en-US" altLang="zh-CN" sz="1200" b="1" dirty="0" err="1">
                <a:solidFill>
                  <a:schemeClr val="tx1"/>
                </a:solidFill>
                <a:latin typeface="Times New Roman" panose="02020603050405020304" pitchFamily="18" charset="0"/>
                <a:ea typeface="宋体" panose="02010600030101010101" pitchFamily="2" charset="-122"/>
              </a:rPr>
              <a:t>Z</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 { </a:t>
            </a:r>
            <a:r>
              <a:rPr lang="en-US" altLang="zh-CN" sz="1200" b="1" i="1" dirty="0" err="1">
                <a:solidFill>
                  <a:schemeClr val="tx1"/>
                </a:solidFill>
                <a:latin typeface="Times New Roman" panose="02020603050405020304" pitchFamily="18" charset="0"/>
                <a:ea typeface="宋体" panose="02010600030101010101" pitchFamily="2" charset="-122"/>
              </a:rPr>
              <a:t>nz</a:t>
            </a:r>
            <a:r>
              <a:rPr lang="en-US" altLang="zh-CN" sz="1200" b="1" i="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err="1">
                <a:solidFill>
                  <a:schemeClr val="tx1"/>
                </a:solidFill>
                <a:latin typeface="Times New Roman" panose="02020603050405020304" pitchFamily="18" charset="0"/>
                <a:ea typeface="宋体" panose="02010600030101010101" pitchFamily="2" charset="-122"/>
              </a:rPr>
              <a:t>z</a:t>
            </a:r>
            <a:r>
              <a:rPr lang="en-US" altLang="zh-CN" sz="1200" b="1" dirty="0" err="1">
                <a:solidFill>
                  <a:schemeClr val="tx1"/>
                </a:solidFill>
                <a:latin typeface="Times New Roman" panose="02020603050405020304" pitchFamily="18" charset="0"/>
                <a:ea typeface="宋体" panose="02010600030101010101" pitchFamily="2" charset="-122"/>
              </a:rPr>
              <a:t>∈Z</a:t>
            </a:r>
            <a:r>
              <a:rPr lang="en-US" altLang="zh-CN" sz="1200" b="1" dirty="0">
                <a:solidFill>
                  <a:schemeClr val="tx1"/>
                </a:solidFill>
                <a:latin typeface="Times New Roman" panose="02020603050405020304" pitchFamily="18" charset="0"/>
                <a:ea typeface="宋体" panose="02010600030101010101" pitchFamily="2" charset="-122"/>
              </a:rPr>
              <a:t>}</a:t>
            </a:r>
            <a:r>
              <a:rPr lang="zh-CN" altLang="en-US"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n </a:t>
            </a:r>
            <a:r>
              <a:rPr lang="zh-CN" altLang="en-US" sz="1200" b="1" dirty="0">
                <a:solidFill>
                  <a:schemeClr val="tx1"/>
                </a:solidFill>
                <a:latin typeface="Times New Roman" panose="02020603050405020304" pitchFamily="18" charset="0"/>
                <a:ea typeface="宋体" panose="02010600030101010101" pitchFamily="2" charset="-122"/>
              </a:rPr>
              <a:t>为自然数，则 </a:t>
            </a:r>
            <a:r>
              <a:rPr lang="en-US" altLang="zh-CN" sz="1200" b="1" i="1" dirty="0" err="1">
                <a:solidFill>
                  <a:schemeClr val="tx1"/>
                </a:solidFill>
                <a:latin typeface="Times New Roman" panose="02020603050405020304" pitchFamily="18" charset="0"/>
                <a:ea typeface="宋体" panose="02010600030101010101" pitchFamily="2" charset="-122"/>
              </a:rPr>
              <a:t>n</a:t>
            </a:r>
            <a:r>
              <a:rPr lang="en-US" altLang="zh-CN" sz="1200" b="1" dirty="0" err="1">
                <a:solidFill>
                  <a:schemeClr val="tx1"/>
                </a:solidFill>
                <a:latin typeface="Times New Roman" panose="02020603050405020304" pitchFamily="18" charset="0"/>
                <a:ea typeface="宋体" panose="02010600030101010101" pitchFamily="2" charset="-122"/>
              </a:rPr>
              <a:t>Z</a:t>
            </a:r>
            <a:r>
              <a:rPr lang="en-US" altLang="zh-CN" sz="12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是 </a:t>
            </a:r>
            <a:r>
              <a:rPr lang="en-US" altLang="zh-CN" sz="1200" b="1" i="1" dirty="0">
                <a:solidFill>
                  <a:schemeClr val="tx1"/>
                </a:solidFill>
                <a:latin typeface="Times New Roman" panose="02020603050405020304" pitchFamily="18" charset="0"/>
                <a:ea typeface="宋体" panose="02010600030101010101" pitchFamily="2" charset="-122"/>
              </a:rPr>
              <a:t>V </a:t>
            </a:r>
            <a:r>
              <a:rPr lang="zh-CN" altLang="en-US" sz="1200" b="1" dirty="0">
                <a:solidFill>
                  <a:schemeClr val="tx1"/>
                </a:solidFill>
                <a:latin typeface="Times New Roman" panose="02020603050405020304" pitchFamily="18" charset="0"/>
                <a:ea typeface="宋体" panose="02010600030101010101" pitchFamily="2" charset="-122"/>
              </a:rPr>
              <a:t>的子代数</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当 </a:t>
            </a:r>
            <a:r>
              <a:rPr lang="en-US" altLang="zh-CN" sz="1200" b="1" i="1" dirty="0">
                <a:solidFill>
                  <a:schemeClr val="tx1"/>
                </a:solidFill>
                <a:latin typeface="Times New Roman" panose="02020603050405020304" pitchFamily="18" charset="0"/>
                <a:ea typeface="宋体" panose="02010600030101010101" pitchFamily="2" charset="-122"/>
              </a:rPr>
              <a:t>n </a:t>
            </a:r>
            <a:r>
              <a:rPr lang="en-US" altLang="zh-CN" sz="1200" b="1" dirty="0">
                <a:solidFill>
                  <a:schemeClr val="tx1"/>
                </a:solidFill>
                <a:latin typeface="Times New Roman" panose="02020603050405020304" pitchFamily="18" charset="0"/>
                <a:ea typeface="宋体" panose="02010600030101010101" pitchFamily="2" charset="-122"/>
              </a:rPr>
              <a:t>= 1 </a:t>
            </a:r>
            <a:r>
              <a:rPr lang="zh-CN" altLang="en-US" sz="1200" b="1" dirty="0">
                <a:solidFill>
                  <a:schemeClr val="tx1"/>
                </a:solidFill>
                <a:latin typeface="Times New Roman" panose="02020603050405020304" pitchFamily="18" charset="0"/>
                <a:ea typeface="宋体" panose="02010600030101010101" pitchFamily="2" charset="-122"/>
              </a:rPr>
              <a:t>和 </a:t>
            </a:r>
            <a:r>
              <a:rPr lang="en-US" altLang="zh-CN" sz="1200" b="1" dirty="0">
                <a:solidFill>
                  <a:schemeClr val="tx1"/>
                </a:solidFill>
                <a:latin typeface="Times New Roman" panose="02020603050405020304" pitchFamily="18" charset="0"/>
                <a:ea typeface="宋体" panose="02010600030101010101" pitchFamily="2" charset="-122"/>
              </a:rPr>
              <a:t>0 </a:t>
            </a:r>
            <a:r>
              <a:rPr lang="zh-CN" altLang="en-US" sz="1200" b="1" dirty="0">
                <a:solidFill>
                  <a:schemeClr val="tx1"/>
                </a:solidFill>
                <a:latin typeface="Times New Roman" panose="02020603050405020304" pitchFamily="18" charset="0"/>
                <a:ea typeface="宋体" panose="02010600030101010101" pitchFamily="2" charset="-122"/>
              </a:rPr>
              <a:t>时，</a:t>
            </a:r>
            <a:r>
              <a:rPr lang="en-US" altLang="zh-CN" sz="1200" b="1" i="1" dirty="0" err="1">
                <a:solidFill>
                  <a:schemeClr val="tx1"/>
                </a:solidFill>
                <a:latin typeface="Times New Roman" panose="02020603050405020304" pitchFamily="18" charset="0"/>
                <a:ea typeface="宋体" panose="02010600030101010101" pitchFamily="2" charset="-122"/>
              </a:rPr>
              <a:t>n</a:t>
            </a:r>
            <a:r>
              <a:rPr lang="en-US" altLang="zh-CN" sz="1200" b="1" dirty="0" err="1">
                <a:solidFill>
                  <a:schemeClr val="tx1"/>
                </a:solidFill>
                <a:latin typeface="Times New Roman" panose="02020603050405020304" pitchFamily="18" charset="0"/>
                <a:ea typeface="宋体" panose="02010600030101010101" pitchFamily="2" charset="-122"/>
              </a:rPr>
              <a:t>Z</a:t>
            </a:r>
            <a:r>
              <a:rPr lang="en-US" altLang="zh-CN" sz="1200" b="1" i="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是 </a:t>
            </a:r>
            <a:r>
              <a:rPr lang="en-US" altLang="zh-CN" sz="1200" b="1" i="1" dirty="0">
                <a:solidFill>
                  <a:schemeClr val="tx1"/>
                </a:solidFill>
                <a:latin typeface="Times New Roman" panose="02020603050405020304" pitchFamily="18" charset="0"/>
                <a:ea typeface="宋体" panose="02010600030101010101" pitchFamily="2" charset="-122"/>
              </a:rPr>
              <a:t>V </a:t>
            </a:r>
            <a:r>
              <a:rPr lang="zh-CN" altLang="en-US" sz="1200" b="1" dirty="0">
                <a:solidFill>
                  <a:schemeClr val="tx1"/>
                </a:solidFill>
                <a:latin typeface="Times New Roman" panose="02020603050405020304" pitchFamily="18" charset="0"/>
                <a:ea typeface="宋体" panose="02010600030101010101" pitchFamily="2" charset="-122"/>
              </a:rPr>
              <a:t>的平凡的子代数，其他的都是 </a:t>
            </a:r>
            <a:r>
              <a:rPr lang="en-US" altLang="zh-CN" sz="1200" b="1" i="1" dirty="0">
                <a:solidFill>
                  <a:schemeClr val="tx1"/>
                </a:solidFill>
                <a:latin typeface="Times New Roman" panose="02020603050405020304" pitchFamily="18" charset="0"/>
                <a:ea typeface="宋体" panose="02010600030101010101" pitchFamily="2" charset="-122"/>
              </a:rPr>
              <a:t>V </a:t>
            </a:r>
            <a:r>
              <a:rPr lang="zh-CN" altLang="en-US" sz="1200" b="1" dirty="0">
                <a:solidFill>
                  <a:schemeClr val="tx1"/>
                </a:solidFill>
                <a:latin typeface="Times New Roman" panose="02020603050405020304" pitchFamily="18" charset="0"/>
                <a:ea typeface="宋体" panose="02010600030101010101" pitchFamily="2" charset="-122"/>
              </a:rPr>
              <a:t>的非平凡的真子代数</a:t>
            </a:r>
            <a:r>
              <a:rPr lang="en-US" altLang="zh-CN" sz="1200" b="1" dirty="0">
                <a:solidFill>
                  <a:schemeClr val="tx1"/>
                </a:solidFill>
                <a:latin typeface="Times New Roman" panose="02020603050405020304" pitchFamily="18" charset="0"/>
                <a:ea typeface="宋体" panose="02010600030101010101" pitchFamily="2" charset="-122"/>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39</a:t>
            </a:fld>
            <a:endParaRPr lang="zh-CN" altLang="en-US"/>
          </a:p>
        </p:txBody>
      </p:sp>
    </p:spTree>
    <p:extLst>
      <p:ext uri="{BB962C8B-B14F-4D97-AF65-F5344CB8AC3E}">
        <p14:creationId xmlns:p14="http://schemas.microsoft.com/office/powerpoint/2010/main" val="11012858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代数系统的</a:t>
            </a:r>
            <a:r>
              <a:rPr lang="zh-CN" altLang="zh-CN" sz="1200" b="1"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外部结构</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是指代数系统</a:t>
            </a:r>
            <a:r>
              <a:rPr lang="zh-CN" altLang="zh-CN" sz="1200"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与其他代数系统之间的关系</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1"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积和商</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：通过构造新的代数系统来描述两个代数系统的关系：</a:t>
            </a:r>
          </a:p>
          <a:p>
            <a:r>
              <a:rPr lang="zh-CN" altLang="en-US" dirty="0"/>
              <a:t>积代数系统是由两个或多个代数系统的直积组成，可以生成新的、具有特定性质的代数系统。</a:t>
            </a:r>
            <a:endParaRPr lang="en-US" altLang="zh-CN" dirty="0"/>
          </a:p>
          <a:p>
            <a:pPr eaLnBrk="1" hangingPunct="1">
              <a:lnSpc>
                <a:spcPct val="110000"/>
              </a:lnSpc>
              <a:buFontTx/>
              <a:buNone/>
            </a:pPr>
            <a:r>
              <a:rPr lang="zh-CN" altLang="en-US" sz="1200" b="1" dirty="0">
                <a:solidFill>
                  <a:srgbClr val="FF0000"/>
                </a:solidFill>
                <a:latin typeface="Times New Roman" panose="02020603050405020304" pitchFamily="18" charset="0"/>
                <a:cs typeface="Times New Roman" panose="02020603050405020304" pitchFamily="18" charset="0"/>
              </a:rPr>
              <a:t>定义</a:t>
            </a:r>
            <a:r>
              <a:rPr lang="en-US" altLang="zh-CN" sz="1200" b="1" dirty="0">
                <a:solidFill>
                  <a:srgbClr val="FF0000"/>
                </a:solidFill>
                <a:latin typeface="Times New Roman" panose="02020603050405020304" pitchFamily="18" charset="0"/>
                <a:cs typeface="Times New Roman" panose="02020603050405020304" pitchFamily="18" charset="0"/>
              </a:rPr>
              <a:t>14.10  </a:t>
            </a: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S</a:t>
            </a:r>
            <a:r>
              <a:rPr lang="en-US" altLang="zh-CN" sz="1200" b="1" baseline="-25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,∘&gt;</a:t>
            </a:r>
            <a:r>
              <a:rPr lang="zh-CN" altLang="en-US" sz="1200" b="1" dirty="0">
                <a:latin typeface="Times New Roman" panose="02020603050405020304" pitchFamily="18" charset="0"/>
                <a:cs typeface="Times New Roman" panose="02020603050405020304" pitchFamily="18" charset="0"/>
              </a:rPr>
              <a:t>和 </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S</a:t>
            </a:r>
            <a:r>
              <a:rPr lang="en-US" altLang="zh-CN" sz="1200" b="1" baseline="-25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a:t>
            </a:r>
            <a:r>
              <a:rPr lang="zh-CN" altLang="en-US" sz="1200" b="1" dirty="0">
                <a:latin typeface="Times New Roman" panose="02020603050405020304" pitchFamily="18" charset="0"/>
                <a:cs typeface="Times New Roman" panose="02020603050405020304" pitchFamily="18" charset="0"/>
              </a:rPr>
              <a:t>是代数系统，</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和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是二元运算</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与</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积代数</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是一个含有二元运算的代数系统，即</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 </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S</a:t>
            </a:r>
            <a:r>
              <a:rPr lang="en-US" altLang="zh-CN" sz="1200" b="1" dirty="0">
                <a:latin typeface="Times New Roman" panose="02020603050405020304" pitchFamily="18" charset="0"/>
                <a:cs typeface="Times New Roman" panose="02020603050405020304" pitchFamily="18" charset="0"/>
              </a:rPr>
              <a:t>,</a:t>
            </a:r>
            <a:r>
              <a:rPr lang="en-US" altLang="zh-CN" sz="1200" b="1" dirty="0">
                <a:sym typeface="Symbol" panose="05050102010706020507" pitchFamily="18" charset="2"/>
              </a:rPr>
              <a:t> </a:t>
            </a:r>
            <a:r>
              <a:rPr lang="en-US" altLang="zh-CN" sz="12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，其中</a:t>
            </a:r>
            <a:r>
              <a:rPr lang="en-US" altLang="zh-CN" sz="1200" b="1" i="1" dirty="0">
                <a:latin typeface="Times New Roman" panose="02020603050405020304" pitchFamily="18" charset="0"/>
                <a:cs typeface="Times New Roman" panose="02020603050405020304" pitchFamily="18" charset="0"/>
              </a:rPr>
              <a:t>S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且对</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&lt;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 &lt;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 </a:t>
            </a:r>
          </a:p>
          <a:p>
            <a:pPr indent="-53975"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有</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&lt;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 </a:t>
            </a:r>
            <a:r>
              <a:rPr lang="en-US" altLang="zh-CN" sz="12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&lt;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&gt;=&lt;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成立</a:t>
            </a:r>
            <a:endParaRPr lang="en-US" altLang="zh-CN" sz="1200" b="1" dirty="0">
              <a:latin typeface="Times New Roman" panose="02020603050405020304" pitchFamily="18" charset="0"/>
              <a:cs typeface="Times New Roman" panose="02020603050405020304" pitchFamily="18" charset="0"/>
              <a:sym typeface="Symbol" panose="05050102010706020507" pitchFamily="18" charset="2"/>
            </a:endParaRPr>
          </a:p>
          <a:p>
            <a:pPr>
              <a:lnSpc>
                <a:spcPct val="11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例：</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有</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整数加法</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V</a:t>
            </a:r>
            <a:r>
              <a:rPr lang="en-US" altLang="zh-CN" sz="1200" b="1"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rPr>
              <a:t>1</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=&lt;Z,+&gt;</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和矩阵乘法</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V</a:t>
            </a:r>
            <a:r>
              <a:rPr lang="en-US" altLang="zh-CN" sz="1200" b="1"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=&lt;</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M</a:t>
            </a:r>
            <a:r>
              <a:rPr lang="en-US" altLang="zh-CN" sz="1200" b="1"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(R), ∙ &gt;, </a:t>
            </a:r>
          </a:p>
          <a:p>
            <a:pPr>
              <a:lnSpc>
                <a:spcPct val="110000"/>
              </a:lnSpc>
              <a:buNone/>
            </a:pP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那么</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dirty="0">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&lt; Z</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M</a:t>
            </a:r>
            <a:r>
              <a:rPr lang="en-US" altLang="zh-CN" sz="1200" b="1"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(R), </a:t>
            </a:r>
            <a:r>
              <a:rPr lang="en-US" altLang="zh-CN" sz="1200" b="1" dirty="0">
                <a:solidFill>
                  <a:schemeClr val="tx1"/>
                </a:solidFill>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&gt;</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且对</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z</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 &lt;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z</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&gt;Z</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 ,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都有</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z</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 </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z</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 = &lt;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z</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z</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a:t>
            </a:r>
            <a:r>
              <a:rPr lang="en-US" altLang="zh-CN" sz="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pPr>
              <a:lnSpc>
                <a:spcPct val="110000"/>
              </a:lnSpc>
              <a:buNone/>
            </a:pPr>
            <a:r>
              <a:rPr lang="zh-CN" altLang="en-US" sz="1200" b="1"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如：</a:t>
            </a:r>
            <a:endParaRPr lang="en-US" altLang="zh-CN" sz="1200" b="1" dirty="0">
              <a:solidFill>
                <a:srgbClr val="00B0F0"/>
              </a:solidFill>
              <a:latin typeface="Times New Roman" panose="02020603050405020304" pitchFamily="18" charset="0"/>
              <a:cs typeface="Times New Roman" panose="02020603050405020304" pitchFamily="18" charset="0"/>
              <a:sym typeface="Symbol" panose="05050102010706020507" pitchFamily="18" charset="2"/>
            </a:endParaRPr>
          </a:p>
          <a:p>
            <a:pPr indent="-53975" eaLnBrk="1" hangingPunct="1">
              <a:lnSpc>
                <a:spcPct val="110000"/>
              </a:lnSpc>
              <a:buFontTx/>
              <a:buNone/>
            </a:pPr>
            <a:endParaRPr lang="en-US" altLang="zh-CN" sz="1200" b="1" dirty="0">
              <a:latin typeface="Times New Roman" panose="02020603050405020304" pitchFamily="18" charset="0"/>
              <a:cs typeface="Times New Roman" panose="02020603050405020304" pitchFamily="18" charset="0"/>
              <a:sym typeface="Symbol" panose="05050102010706020507" pitchFamily="18" charset="2"/>
            </a:endParaRP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40</a:t>
            </a:fld>
            <a:endParaRPr lang="zh-CN" altLang="en-US"/>
          </a:p>
        </p:txBody>
      </p:sp>
    </p:spTree>
    <p:extLst>
      <p:ext uri="{BB962C8B-B14F-4D97-AF65-F5344CB8AC3E}">
        <p14:creationId xmlns:p14="http://schemas.microsoft.com/office/powerpoint/2010/main" val="25628523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外部结构是指代数系统</a:t>
            </a:r>
            <a:r>
              <a:rPr lang="zh-CN" altLang="zh-CN" sz="1800"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与其他代数系统之间的关系</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b="1"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积和商</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：通过构造新的代数系统来描述两个代数系统的关系：</a:t>
            </a:r>
          </a:p>
          <a:p>
            <a:pPr eaLnBrk="1" hangingPunct="1">
              <a:lnSpc>
                <a:spcPct val="100000"/>
              </a:lnSpc>
              <a:buFontTx/>
              <a:buNone/>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S</a:t>
            </a:r>
            <a:r>
              <a:rPr lang="en-US" altLang="zh-CN" sz="1200" b="1" baseline="-25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,∘&gt;</a:t>
            </a:r>
            <a:r>
              <a:rPr lang="zh-CN" altLang="en-US" sz="1200" b="1" dirty="0">
                <a:latin typeface="Times New Roman" panose="02020603050405020304" pitchFamily="18" charset="0"/>
                <a:cs typeface="Times New Roman" panose="02020603050405020304" pitchFamily="18" charset="0"/>
              </a:rPr>
              <a:t>和 </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S</a:t>
            </a:r>
            <a:r>
              <a:rPr lang="en-US" altLang="zh-CN" sz="1200" b="1" baseline="-25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a:t>
            </a:r>
            <a:r>
              <a:rPr lang="zh-CN" altLang="en-US" sz="1200" b="1" dirty="0">
                <a:latin typeface="Times New Roman" panose="02020603050405020304" pitchFamily="18" charset="0"/>
                <a:cs typeface="Times New Roman" panose="02020603050405020304" pitchFamily="18" charset="0"/>
              </a:rPr>
              <a:t>是代数系统，其中</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和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是二元</a:t>
            </a:r>
          </a:p>
          <a:p>
            <a:pPr eaLnBrk="1" hangingPunct="1">
              <a:lnSpc>
                <a:spcPct val="10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运算</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与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a:t>
            </a:r>
            <a:r>
              <a:rPr lang="zh-CN" altLang="en-US" sz="1200" b="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积代数</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=&lt;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S</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en-US" altLang="zh-CN" sz="12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 </a:t>
            </a:r>
          </a:p>
          <a:p>
            <a:pPr eaLnBrk="1" hangingPunct="1">
              <a:lnSpc>
                <a:spcPct val="100000"/>
              </a:lnSpc>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(1)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和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运算是可交换的，那么</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运算也是</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可交换</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a:t>
            </a:r>
          </a:p>
          <a:p>
            <a:pPr eaLnBrk="1" hangingPunct="1">
              <a:lnSpc>
                <a:spcPct val="10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和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运算是可结合的，那么</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运算也是</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可结合</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a:t>
            </a:r>
          </a:p>
          <a:p>
            <a:pPr eaLnBrk="1" hangingPunct="1">
              <a:lnSpc>
                <a:spcPct val="10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和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运算是幂等的，那么</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运算也是</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幂等</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a:t>
            </a:r>
          </a:p>
          <a:p>
            <a:pPr eaLnBrk="1" hangingPunct="1">
              <a:lnSpc>
                <a:spcPct val="10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(4)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和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运算分别具有单位元</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和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，那么</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运算 </a:t>
            </a:r>
          </a:p>
          <a:p>
            <a:pPr eaLnBrk="1" hangingPunct="1">
              <a:lnSpc>
                <a:spcPct val="10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也</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具有单位元</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&lt;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a:t>
            </a:r>
          </a:p>
          <a:p>
            <a:pPr eaLnBrk="1" hangingPunct="1">
              <a:lnSpc>
                <a:spcPct val="100000"/>
              </a:lnSpc>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(5)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和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运算分别具有零元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和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，那么</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运算 </a:t>
            </a:r>
          </a:p>
          <a:p>
            <a:pPr eaLnBrk="1" hangingPunct="1">
              <a:lnSpc>
                <a:spcPct val="10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也具有</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零元</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&lt;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a:t>
            </a:r>
          </a:p>
          <a:p>
            <a:pPr eaLnBrk="1" hangingPunct="1">
              <a:lnSpc>
                <a:spcPct val="100000"/>
              </a:lnSpc>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(6)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关于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的逆元为 </a:t>
            </a:r>
            <a:r>
              <a:rPr lang="en-US" altLang="zh-CN" sz="1200" b="1" i="1" dirty="0">
                <a:latin typeface="Times New Roman" panose="02020603050405020304" pitchFamily="18" charset="0"/>
                <a:cs typeface="Times New Roman" panose="02020603050405020304" pitchFamily="18" charset="0"/>
              </a:rPr>
              <a:t>x</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y </a:t>
            </a:r>
            <a:r>
              <a:rPr lang="zh-CN" altLang="en-US" sz="1200" b="1" dirty="0">
                <a:latin typeface="Times New Roman" panose="02020603050405020304" pitchFamily="18" charset="0"/>
                <a:cs typeface="Times New Roman" panose="02020603050405020304" pitchFamily="18" charset="0"/>
              </a:rPr>
              <a:t>关于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的逆元为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，那么    </a:t>
            </a:r>
          </a:p>
          <a:p>
            <a:pPr eaLnBrk="1" hangingPunct="1">
              <a:lnSpc>
                <a:spcPct val="10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&lt;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关于</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运算也具有</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逆元</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&lt;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41</a:t>
            </a:fld>
            <a:endParaRPr lang="zh-CN" altLang="en-US"/>
          </a:p>
        </p:txBody>
      </p:sp>
    </p:spTree>
    <p:extLst>
      <p:ext uri="{BB962C8B-B14F-4D97-AF65-F5344CB8AC3E}">
        <p14:creationId xmlns:p14="http://schemas.microsoft.com/office/powerpoint/2010/main" val="12712307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50000"/>
              </a:spcBef>
              <a:buNone/>
            </a:pPr>
            <a:r>
              <a:rPr lang="en-US" altLang="zh-CN" b="1" dirty="0"/>
              <a:t>9.2.1 </a:t>
            </a:r>
            <a:r>
              <a:rPr lang="zh-CN" altLang="en-US" b="1" dirty="0"/>
              <a:t>代数系统的定义与实例</a:t>
            </a:r>
            <a:endParaRPr lang="en-US" altLang="zh-CN" b="1" dirty="0"/>
          </a:p>
          <a:p>
            <a:pPr marL="0" indent="0">
              <a:spcBef>
                <a:spcPct val="50000"/>
              </a:spcBef>
              <a:buNone/>
            </a:pPr>
            <a:endParaRPr lang="zh-CN" altLang="en-US" b="1" dirty="0"/>
          </a:p>
          <a:p>
            <a:pPr marL="0" indent="0">
              <a:spcBef>
                <a:spcPct val="50000"/>
              </a:spcBef>
              <a:buNone/>
            </a:pPr>
            <a:r>
              <a:rPr lang="en-US" altLang="zh-CN" b="1" dirty="0"/>
              <a:t>9.2.2 </a:t>
            </a:r>
            <a:r>
              <a:rPr lang="zh-CN" altLang="en-US" b="1" dirty="0"/>
              <a:t>子代数系统与积代数系统</a:t>
            </a:r>
            <a:endParaRPr lang="en-US" altLang="zh-CN" b="1" dirty="0"/>
          </a:p>
          <a:p>
            <a:pPr marL="0" indent="0">
              <a:spcBef>
                <a:spcPct val="50000"/>
              </a:spcBef>
              <a:buNone/>
            </a:pPr>
            <a:endParaRPr lang="zh-CN" altLang="en-US" b="1" dirty="0"/>
          </a:p>
          <a:p>
            <a:pPr marL="0" indent="0">
              <a:spcBef>
                <a:spcPct val="50000"/>
              </a:spcBef>
              <a:buNone/>
            </a:pPr>
            <a:r>
              <a:rPr lang="en-US" altLang="zh-CN" b="1" dirty="0"/>
              <a:t>9.2.3 </a:t>
            </a:r>
            <a:r>
              <a:rPr lang="zh-CN" altLang="en-US" b="1" dirty="0"/>
              <a:t>代数系统的同态与同构</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42</a:t>
            </a:fld>
            <a:endParaRPr lang="zh-CN" altLang="en-US"/>
          </a:p>
        </p:txBody>
      </p:sp>
    </p:spTree>
    <p:extLst>
      <p:ext uri="{BB962C8B-B14F-4D97-AF65-F5344CB8AC3E}">
        <p14:creationId xmlns:p14="http://schemas.microsoft.com/office/powerpoint/2010/main" val="26891167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同态帮助识别代数系统中的性质和结构关系，而同构提供了确认两个代数系统等价的标准。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zh-CN" altLang="en-US" b="1" dirty="0"/>
              <a:t>同态映射的定义</a:t>
            </a:r>
          </a:p>
          <a:p>
            <a:pPr eaLnBrk="1" hangingPunct="1"/>
            <a:r>
              <a:rPr lang="zh-CN" altLang="en-US" b="1" dirty="0"/>
              <a:t>同态映射的分类</a:t>
            </a:r>
          </a:p>
          <a:p>
            <a:pPr lvl="1" eaLnBrk="1" hangingPunct="1"/>
            <a:r>
              <a:rPr lang="zh-CN" altLang="en-US" b="1" dirty="0"/>
              <a:t>单同态、满同态、同构</a:t>
            </a:r>
          </a:p>
          <a:p>
            <a:pPr lvl="1" eaLnBrk="1" hangingPunct="1"/>
            <a:r>
              <a:rPr lang="zh-CN" altLang="en-US" b="1" dirty="0"/>
              <a:t>自同态</a:t>
            </a:r>
          </a:p>
          <a:p>
            <a:pPr eaLnBrk="1" hangingPunct="1"/>
            <a:r>
              <a:rPr lang="zh-CN" altLang="en-US" b="1" dirty="0"/>
              <a:t>同态映射的实例</a:t>
            </a:r>
          </a:p>
          <a:p>
            <a:pPr eaLnBrk="1" hangingPunct="1"/>
            <a:r>
              <a:rPr lang="zh-CN" altLang="en-US" b="1" dirty="0"/>
              <a:t>满同态映射的性质</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43</a:t>
            </a:fld>
            <a:endParaRPr lang="zh-CN" altLang="en-US"/>
          </a:p>
        </p:txBody>
      </p:sp>
    </p:spTree>
    <p:extLst>
      <p:ext uri="{BB962C8B-B14F-4D97-AF65-F5344CB8AC3E}">
        <p14:creationId xmlns:p14="http://schemas.microsoft.com/office/powerpoint/2010/main" val="36287875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7970" algn="just"/>
            <a:r>
              <a:rPr lang="zh-CN" altLang="zh-CN" sz="1800" b="1"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同态</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：两个代数系统之间的映射，可以保持它们的运算性质。同态可以用来研究系统间的关系，例如：</a:t>
            </a:r>
          </a:p>
          <a:p>
            <a:pPr indent="267970" algn="just"/>
            <a:r>
              <a:rPr lang="zh-CN" altLang="zh-CN" sz="1800" b="1"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单同态</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：保持系统结构且是单射的映射。</a:t>
            </a:r>
          </a:p>
          <a:p>
            <a:pPr indent="267970" algn="just"/>
            <a:r>
              <a:rPr lang="zh-CN" altLang="zh-CN" sz="1800" b="1"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满同态</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：保持系统结构且是满射的映射。</a:t>
            </a:r>
          </a:p>
          <a:p>
            <a:pPr>
              <a:lnSpc>
                <a:spcPct val="110000"/>
              </a:lnSpc>
            </a:pP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14.11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是代数系统，其中 </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1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是二元运算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如果存在映射</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且</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有</a:t>
            </a:r>
            <a:endPar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f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pPr>
              <a:lnSpc>
                <a:spcPct val="11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则称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为</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同态映射</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，简称</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同态</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r>
              <a:rPr lang="en-US" altLang="zh-CN" b="1" dirty="0"/>
              <a:t>homo-</a:t>
            </a:r>
            <a:r>
              <a:rPr lang="en-US" altLang="zh-CN" dirty="0"/>
              <a:t> → </a:t>
            </a:r>
            <a:r>
              <a:rPr lang="zh-CN" altLang="en-US" dirty="0"/>
              <a:t>希腊语 </a:t>
            </a:r>
            <a:r>
              <a:rPr lang="en-US" altLang="zh-CN" i="1" dirty="0"/>
              <a:t>homos</a:t>
            </a:r>
            <a:r>
              <a:rPr lang="en-US" altLang="zh-CN" dirty="0"/>
              <a:t> → </a:t>
            </a:r>
            <a:r>
              <a:rPr lang="zh-CN" altLang="en-US" dirty="0"/>
              <a:t>相同、一样（</a:t>
            </a:r>
            <a:r>
              <a:rPr lang="en-US" altLang="zh-CN" dirty="0"/>
              <a:t>same</a:t>
            </a:r>
            <a:r>
              <a:rPr lang="zh-CN" altLang="en-US" dirty="0"/>
              <a:t>）</a:t>
            </a:r>
          </a:p>
          <a:p>
            <a:r>
              <a:rPr lang="en-US" altLang="zh-CN" b="1" dirty="0"/>
              <a:t>-morph-</a:t>
            </a:r>
            <a:r>
              <a:rPr lang="en-US" altLang="zh-CN" dirty="0"/>
              <a:t> → </a:t>
            </a:r>
            <a:r>
              <a:rPr lang="zh-CN" altLang="en-US" dirty="0"/>
              <a:t>希腊语 </a:t>
            </a:r>
            <a:r>
              <a:rPr lang="en-US" altLang="zh-CN" i="1" dirty="0" err="1"/>
              <a:t>morphē</a:t>
            </a:r>
            <a:r>
              <a:rPr lang="en-US" altLang="zh-CN" dirty="0"/>
              <a:t> → </a:t>
            </a:r>
            <a:r>
              <a:rPr lang="zh-CN" altLang="en-US" dirty="0"/>
              <a:t>形状、形式（</a:t>
            </a:r>
            <a:r>
              <a:rPr lang="en-US" altLang="zh-CN" dirty="0"/>
              <a:t>form, shape</a:t>
            </a:r>
            <a:r>
              <a:rPr lang="zh-CN" altLang="en-US" dirty="0"/>
              <a:t>）</a:t>
            </a:r>
          </a:p>
          <a:p>
            <a:r>
              <a:rPr lang="en-US" altLang="zh-CN" b="1" dirty="0"/>
              <a:t>-ism</a:t>
            </a:r>
            <a:r>
              <a:rPr lang="en-US" altLang="zh-CN" dirty="0"/>
              <a:t> → </a:t>
            </a:r>
            <a:r>
              <a:rPr lang="zh-CN" altLang="en-US" dirty="0"/>
              <a:t>名词后缀 → 某种性质、状态、行为（</a:t>
            </a:r>
            <a:r>
              <a:rPr lang="en-US" altLang="zh-CN" dirty="0"/>
              <a:t>state, condition</a:t>
            </a:r>
            <a:r>
              <a:rPr lang="zh-CN" altLang="en-US" dirty="0"/>
              <a:t>）</a:t>
            </a:r>
          </a:p>
          <a:p>
            <a:pPr>
              <a:lnSpc>
                <a:spcPct val="110000"/>
              </a:lnSpc>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44</a:t>
            </a:fld>
            <a:endParaRPr lang="zh-CN" altLang="en-US"/>
          </a:p>
        </p:txBody>
      </p:sp>
    </p:spTree>
    <p:extLst>
      <p:ext uri="{BB962C8B-B14F-4D97-AF65-F5344CB8AC3E}">
        <p14:creationId xmlns:p14="http://schemas.microsoft.com/office/powerpoint/2010/main" val="6899622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=&lt;R*,</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f</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  </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i="1" dirty="0">
                <a:solidFill>
                  <a:srgbClr val="00B0F0"/>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判断下面的哪些函数是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的同态？</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宋体" panose="02010600030101010101" pitchFamily="2" charset="-122"/>
              </a:rPr>
              <a:t>解：</a:t>
            </a:r>
            <a:r>
              <a:rPr lang="zh-CN" altLang="zh-CN" sz="1200" b="1" dirty="0">
                <a:latin typeface="Times New Roman" panose="02020603050405020304" pitchFamily="18" charset="0"/>
                <a:cs typeface="Times New Roman" panose="02020603050405020304" pitchFamily="18" charset="0"/>
              </a:rPr>
              <a:t>分析非零实数集</a:t>
            </a:r>
            <a:r>
              <a:rPr lang="en-US" altLang="zh-CN" sz="1200" b="1" dirty="0">
                <a:latin typeface="Times New Roman" panose="02020603050405020304" pitchFamily="18" charset="0"/>
                <a:cs typeface="Times New Roman" panose="02020603050405020304" pitchFamily="18" charset="0"/>
              </a:rPr>
              <a:t>R*</a:t>
            </a:r>
            <a:r>
              <a:rPr lang="zh-CN" altLang="zh-CN" sz="1200" b="1" dirty="0">
                <a:latin typeface="Times New Roman" panose="02020603050405020304" pitchFamily="18" charset="0"/>
                <a:cs typeface="Times New Roman" panose="02020603050405020304" pitchFamily="18" charset="0"/>
              </a:rPr>
              <a:t>的所有</a:t>
            </a:r>
            <a:r>
              <a:rPr lang="en-US" altLang="zh-CN" sz="1200" b="1" i="1" dirty="0" err="1">
                <a:latin typeface="Times New Roman" panose="02020603050405020304" pitchFamily="18" charset="0"/>
                <a:cs typeface="Times New Roman" panose="02020603050405020304" pitchFamily="18" charset="0"/>
              </a:rPr>
              <a:t>x</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y</a:t>
            </a:r>
            <a:r>
              <a:rPr lang="zh-CN" altLang="zh-CN" sz="1200" b="1" dirty="0">
                <a:latin typeface="Times New Roman" panose="02020603050405020304" pitchFamily="18" charset="0"/>
                <a:cs typeface="Times New Roman" panose="02020603050405020304" pitchFamily="18" charset="0"/>
              </a:rPr>
              <a:t>是否满足</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zh-CN"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a:t>
            </a:r>
            <a:endParaRPr lang="en-US" altLang="zh-CN" sz="1200" b="1" dirty="0">
              <a:solidFill>
                <a:srgbClr val="00B0F0"/>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45</a:t>
            </a:fld>
            <a:endParaRPr lang="zh-CN" altLang="en-US"/>
          </a:p>
        </p:txBody>
      </p:sp>
    </p:spTree>
    <p:extLst>
      <p:ext uri="{BB962C8B-B14F-4D97-AF65-F5344CB8AC3E}">
        <p14:creationId xmlns:p14="http://schemas.microsoft.com/office/powerpoint/2010/main" val="5017172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引入单同态、满同态、单自同态和满自同态等概念的目的是在代数系统之间建立一种</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更细致的结构关系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，从而更好地理解和分析代数系统的性质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的同态，</a:t>
            </a: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如果</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是单射</a:t>
            </a:r>
            <a:r>
              <a:rPr lang="zh-CN" altLang="en-US" sz="1200" b="1" dirty="0">
                <a:latin typeface="Times New Roman" panose="02020603050405020304" pitchFamily="18" charset="0"/>
              </a:rPr>
              <a:t>，则称</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 </a:t>
            </a:r>
            <a:r>
              <a:rPr lang="zh-CN" altLang="en-US" sz="1200" b="1" dirty="0">
                <a:latin typeface="Times New Roman" panose="02020603050405020304" pitchFamily="18" charset="0"/>
              </a:rPr>
              <a:t>为</a:t>
            </a:r>
            <a:r>
              <a:rPr lang="zh-CN" altLang="en-US" sz="1200" b="1" dirty="0">
                <a:solidFill>
                  <a:srgbClr val="FF0000"/>
                </a:solidFill>
                <a:latin typeface="Times New Roman" panose="02020603050405020304" pitchFamily="18" charset="0"/>
              </a:rPr>
              <a:t>单同态</a:t>
            </a:r>
            <a:endParaRPr lang="en-US" altLang="zh-CN" sz="1200" b="1" dirty="0">
              <a:solidFill>
                <a:schemeClr val="tx1"/>
              </a:solidFill>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注：</a:t>
            </a:r>
            <a:r>
              <a:rPr lang="zh-CN" altLang="zh-CN" sz="1200" b="1" kern="100" dirty="0">
                <a:solidFill>
                  <a:srgbClr val="00B0F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1200" b="1" kern="100" dirty="0">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1200" b="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是单射</a:t>
            </a:r>
            <a:r>
              <a:rPr lang="en-US" altLang="zh-CN" sz="1200" b="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200" b="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或单映射</a:t>
            </a:r>
            <a:r>
              <a:rPr lang="en-US" altLang="zh-CN" sz="1200" b="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200" b="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意味着 </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f</a:t>
            </a:r>
            <a:r>
              <a:rPr lang="zh-CN" altLang="zh-CN" sz="1200" b="1" kern="100" dirty="0">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1200" b="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是一对一的</a:t>
            </a:r>
            <a:r>
              <a:rPr lang="en-US" altLang="zh-CN" sz="1200" b="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200" b="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即</a:t>
            </a:r>
            <a:r>
              <a:rPr lang="zh-CN" altLang="zh-CN" sz="1200" b="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对任何 </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200" b="1"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200" b="1"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200" b="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200" b="1" i="1" kern="100" dirty="0">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200" b="1"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200" b="1" kern="100" dirty="0">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200" b="1" kern="100" dirty="0">
                <a:effectLst/>
                <a:latin typeface="Times New Roman" panose="02020603050405020304" pitchFamily="18" charset="0"/>
                <a:ea typeface="华文楷体" panose="02010600040101010101" pitchFamily="2" charset="-122"/>
                <a:cs typeface="Times New Roman" panose="02020603050405020304" pitchFamily="18" charset="0"/>
              </a:rPr>
              <a:t>如果</a:t>
            </a:r>
            <a:r>
              <a:rPr lang="zh-CN" altLang="zh-CN" sz="1200" b="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1200" b="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200" b="1"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200" b="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=f</a:t>
            </a:r>
            <a:r>
              <a:rPr lang="en-US" altLang="zh-CN" sz="1200" b="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200" b="1"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200" b="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200" b="1" kern="100" dirty="0" err="1">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那么</a:t>
            </a:r>
            <a:r>
              <a:rPr lang="en-US" altLang="zh-CN" sz="1200" b="1" i="1" kern="100" dirty="0">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200" b="1"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200" b="1" baseline="-25000" dirty="0">
                <a:latin typeface="Times New Roman" panose="02020603050405020304" pitchFamily="18" charset="0"/>
                <a:ea typeface="华文楷体" panose="02010600040101010101" pitchFamily="2" charset="-122"/>
                <a:cs typeface="Times New Roman" panose="02020603050405020304" pitchFamily="18" charset="0"/>
              </a:rPr>
              <a:t>2 </a:t>
            </a:r>
            <a:r>
              <a:rPr lang="en-US" altLang="zh-CN" sz="1200" b="1" i="1" kern="10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rPr>
              <a:t>​. </a:t>
            </a:r>
          </a:p>
          <a:p>
            <a:pPr algn="just">
              <a:lnSpc>
                <a:spcPct val="110000"/>
              </a:lnSpc>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en-US" altLang="zh-CN" sz="1200" b="1"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&lt;R*,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定义映射 </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kern="100" dirty="0">
                <a:latin typeface="Times New Roman" panose="02020603050405020304" pitchFamily="18" charset="0"/>
                <a:ea typeface="宋体" panose="02010600030101010101" pitchFamily="2" charset="-122"/>
                <a:cs typeface="Times New Roman" panose="02020603050405020304" pitchFamily="18" charset="0"/>
              </a:rPr>
              <a:t>问</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kern="100" dirty="0">
                <a:latin typeface="Times New Roman" panose="02020603050405020304" pitchFamily="18" charset="0"/>
                <a:ea typeface="宋体" panose="02010600030101010101" pitchFamily="2" charset="-122"/>
                <a:cs typeface="Times New Roman" panose="02020603050405020304" pitchFamily="18" charset="0"/>
              </a:rPr>
              <a:t>是否为单同态？</a:t>
            </a:r>
            <a:endParaRPr lang="en-US" altLang="zh-CN" sz="12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200" b="1" kern="100" dirty="0">
                <a:latin typeface="Times New Roman" panose="02020603050405020304" pitchFamily="18" charset="0"/>
                <a:ea typeface="宋体" panose="02010600030101010101" pitchFamily="2" charset="-122"/>
                <a:cs typeface="Times New Roman" panose="02020603050405020304" pitchFamily="18" charset="0"/>
              </a:rPr>
              <a:t>需要验证两个条件： </a:t>
            </a:r>
            <a:endParaRPr lang="en-US" altLang="zh-CN" sz="12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同态性</a:t>
            </a:r>
            <a:r>
              <a:rPr lang="en-US" altLang="zh-CN" sz="1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需要验证对于所有 </a:t>
            </a:r>
            <a:r>
              <a:rPr lang="en-US" altLang="zh-CN" sz="1200" b="1" i="1" kern="100"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1200" b="1" i="1" kern="100" baseline="300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zh-CN" altLang="zh-CN" sz="12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有</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solidFill>
                  <a:srgbClr val="0D0D0D"/>
                </a:solidFill>
                <a:effectLst/>
                <a:latin typeface="Times New Roman" panose="02020603050405020304" pitchFamily="18" charset="0"/>
                <a:ea typeface="KaTeX_Math"/>
                <a:cs typeface="Times New Roman" panose="02020603050405020304" pitchFamily="18" charset="0"/>
              </a:rPr>
              <a:t> </a:t>
            </a:r>
            <a:r>
              <a:rPr lang="en-US" altLang="zh-CN" sz="1200" b="1" i="1" kern="100" dirty="0">
                <a:solidFill>
                  <a:srgbClr val="0D0D0D"/>
                </a:solidFill>
                <a:effectLst/>
                <a:latin typeface="Times New Roman" panose="02020603050405020304" pitchFamily="18" charset="0"/>
                <a:ea typeface="KaTeX_Math"/>
                <a:cs typeface="Times New Roman" panose="02020603050405020304" pitchFamily="18" charset="0"/>
              </a:rPr>
              <a:t>f</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 </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 </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200" b="1" kern="100" dirty="0">
                <a:solidFill>
                  <a:srgbClr val="0D0D0D"/>
                </a:solidFill>
                <a:effectLst/>
                <a:latin typeface="KaTeX_Math"/>
                <a:ea typeface="宋体" panose="02010600030101010101" pitchFamily="2" charset="-122"/>
                <a:cs typeface="Times New Roman" panose="02020603050405020304" pitchFamily="18" charset="0"/>
              </a:rPr>
              <a:t>因</a:t>
            </a:r>
            <a:r>
              <a:rPr lang="en-US" altLang="zh-CN" sz="1200" b="1" i="1" kern="100" dirty="0">
                <a:solidFill>
                  <a:srgbClr val="0D0D0D"/>
                </a:solidFill>
                <a:effectLst/>
                <a:latin typeface="Times New Roman" panose="02020603050405020304" pitchFamily="18" charset="0"/>
                <a:ea typeface="KaTeX_Math"/>
                <a:cs typeface="Times New Roman" panose="02020603050405020304" pitchFamily="18" charset="0"/>
              </a:rPr>
              <a:t>f</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 </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 </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kern="100" baseline="30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200" b="1" kern="100" baseline="30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 </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 x</a:t>
            </a:r>
            <a:r>
              <a:rPr lang="en-US" altLang="zh-CN" sz="12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200" b="1" kern="100" baseline="30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满足同态性。</a:t>
            </a:r>
            <a:endPar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2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单射性</a:t>
            </a:r>
            <a:r>
              <a:rPr lang="en-US" altLang="zh-CN" sz="12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dirty="0">
                <a:effectLst/>
                <a:latin typeface="Times New Roman" panose="02020603050405020304" pitchFamily="18" charset="0"/>
                <a:ea typeface="宋体" panose="02010600030101010101" pitchFamily="2" charset="-122"/>
                <a:cs typeface="Times New Roman" panose="02020603050405020304" pitchFamily="18" charset="0"/>
              </a:rPr>
              <a:t>需要验证对于所有</a:t>
            </a:r>
            <a:r>
              <a:rPr lang="zh-CN" altLang="zh-CN" sz="12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i="1" baseline="30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 </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那么</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2 </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i="1" baseline="-25000" dirty="0">
                <a:solidFill>
                  <a:srgbClr val="0D0D0D"/>
                </a:solidFill>
                <a:effectLst/>
                <a:latin typeface="KaTeX_Math"/>
                <a:ea typeface="宋体" panose="02010600030101010101" pitchFamily="2" charset="-122"/>
                <a:cs typeface="Times New Roman" panose="02020603050405020304" pitchFamily="18" charset="0"/>
              </a:rPr>
              <a:t>。</a:t>
            </a:r>
          </a:p>
          <a:p>
            <a:pPr algn="just">
              <a:lnSpc>
                <a:spcPct val="110000"/>
              </a:lnSpc>
            </a:pP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altLang="zh-CN" sz="1200" b="1" kern="100"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en-US"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=1，虽然</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kern="100" baseline="30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kern="100" baseline="30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2 </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=1，但</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x</a:t>
            </a:r>
            <a:r>
              <a:rPr lang="en-US" altLang="zh-CN" sz="1200" b="1" i="1" baseline="-25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1200" b="1" kern="100"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映射</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2 </a:t>
            </a:r>
            <a:r>
              <a:rPr lang="en-US" altLang="zh-CN" sz="1200" b="1" kern="100"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不是单射的</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p>
          <a:p>
            <a:pPr algn="just">
              <a:lnSpc>
                <a:spcPct val="110000"/>
              </a:lnSpc>
            </a:pPr>
            <a:r>
              <a:rPr lang="zh-CN" altLang="en-US" sz="1200" b="1" kern="1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结论：</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en-US" sz="1200" b="1" i="0" dirty="0">
                <a:solidFill>
                  <a:srgbClr val="0D0D0D"/>
                </a:solidFill>
                <a:effectLst/>
                <a:latin typeface="Times New Roman" panose="02020603050405020304" pitchFamily="18" charset="0"/>
                <a:cs typeface="Times New Roman" panose="02020603050405020304" pitchFamily="18" charset="0"/>
              </a:rPr>
              <a:t>同态，但不是单同态</a:t>
            </a:r>
            <a:endPar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46</a:t>
            </a:fld>
            <a:endParaRPr lang="zh-CN" altLang="en-US"/>
          </a:p>
        </p:txBody>
      </p:sp>
    </p:spTree>
    <p:extLst>
      <p:ext uri="{BB962C8B-B14F-4D97-AF65-F5344CB8AC3E}">
        <p14:creationId xmlns:p14="http://schemas.microsoft.com/office/powerpoint/2010/main" val="18601500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引入单同态、满同态、单自同态和满自同态等概念的目的是在代数系统之间建立一种</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更细致的结构关系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，从而更好地理解和分析代数系统的性质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b="0" i="0" dirty="0">
                    <a:solidFill>
                      <a:srgbClr val="0D0D0D"/>
                    </a:solidFill>
                    <a:effectLst/>
                    <a:latin typeface="Söhne"/>
                  </a:rPr>
                  <a:t>代数系统 </a:t>
                </a:r>
                <a:r>
                  <a:rPr lang="en-US" altLang="zh-CN" b="0" i="1" dirty="0">
                    <a:solidFill>
                      <a:srgbClr val="0D0D0D"/>
                    </a:solidFill>
                    <a:effectLst/>
                    <a:latin typeface="KaTeX_Math"/>
                  </a:rPr>
                  <a:t>V</a:t>
                </a:r>
                <a:r>
                  <a:rPr lang="en-US" altLang="zh-CN" b="0" i="0" dirty="0">
                    <a:solidFill>
                      <a:srgbClr val="0D0D0D"/>
                    </a:solidFill>
                    <a:effectLst/>
                    <a:latin typeface="KaTeX_Main"/>
                  </a:rPr>
                  <a:t>1​</a:t>
                </a:r>
                <a:r>
                  <a:rPr lang="zh-CN" altLang="en-US" b="0" i="0" dirty="0">
                    <a:solidFill>
                      <a:srgbClr val="0D0D0D"/>
                    </a:solidFill>
                    <a:effectLst/>
                    <a:latin typeface="Söhne"/>
                  </a:rPr>
                  <a:t> 通过一个同态映射 </a:t>
                </a:r>
                <a:r>
                  <a:rPr lang="en-US" altLang="zh-CN" b="0" i="1" dirty="0">
                    <a:solidFill>
                      <a:srgbClr val="0D0D0D"/>
                    </a:solidFill>
                    <a:effectLst/>
                    <a:latin typeface="KaTeX_Math"/>
                  </a:rPr>
                  <a:t>f</a:t>
                </a:r>
                <a:r>
                  <a:rPr lang="zh-CN" altLang="en-US" b="0" i="0" dirty="0">
                    <a:solidFill>
                      <a:srgbClr val="0D0D0D"/>
                    </a:solidFill>
                    <a:effectLst/>
                    <a:latin typeface="Söhne"/>
                  </a:rPr>
                  <a:t> 到达另一个代数系统 </a:t>
                </a:r>
                <a:r>
                  <a:rPr lang="en-US" altLang="zh-CN" b="0" i="1" dirty="0">
                    <a:solidFill>
                      <a:srgbClr val="0D0D0D"/>
                    </a:solidFill>
                    <a:effectLst/>
                    <a:latin typeface="KaTeX_Math"/>
                  </a:rPr>
                  <a:t>V</a:t>
                </a:r>
                <a:r>
                  <a:rPr lang="en-US" altLang="zh-CN" b="0" i="0" dirty="0">
                    <a:solidFill>
                      <a:srgbClr val="0D0D0D"/>
                    </a:solidFill>
                    <a:effectLst/>
                    <a:latin typeface="KaTeX_Main"/>
                  </a:rPr>
                  <a:t>2​</a:t>
                </a:r>
                <a:r>
                  <a:rPr lang="zh-CN" altLang="en-US" b="0" i="0" dirty="0">
                    <a:solidFill>
                      <a:srgbClr val="0D0D0D"/>
                    </a:solidFill>
                    <a:effectLst/>
                    <a:latin typeface="Söhne"/>
                  </a:rPr>
                  <a:t> 的过程，所得的同态像是 </a:t>
                </a:r>
                <a:r>
                  <a:rPr lang="en-US" altLang="zh-CN" b="0" i="1" dirty="0">
                    <a:solidFill>
                      <a:srgbClr val="0D0D0D"/>
                    </a:solidFill>
                    <a:effectLst/>
                    <a:latin typeface="KaTeX_Math"/>
                  </a:rPr>
                  <a:t>f</a:t>
                </a:r>
                <a:r>
                  <a:rPr lang="zh-CN" altLang="en-US" b="0" i="0" dirty="0">
                    <a:solidFill>
                      <a:srgbClr val="0D0D0D"/>
                    </a:solidFill>
                    <a:effectLst/>
                    <a:latin typeface="Söhne"/>
                  </a:rPr>
                  <a:t> 将 </a:t>
                </a:r>
                <a:r>
                  <a:rPr lang="en-US" altLang="zh-CN" b="0" i="1" dirty="0">
                    <a:solidFill>
                      <a:srgbClr val="0D0D0D"/>
                    </a:solidFill>
                    <a:effectLst/>
                    <a:latin typeface="KaTeX_Math"/>
                  </a:rPr>
                  <a:t>V</a:t>
                </a:r>
                <a:r>
                  <a:rPr lang="en-US" altLang="zh-CN" b="0" i="0" dirty="0">
                    <a:solidFill>
                      <a:srgbClr val="0D0D0D"/>
                    </a:solidFill>
                    <a:effectLst/>
                    <a:latin typeface="KaTeX_Main"/>
                  </a:rPr>
                  <a:t>1​</a:t>
                </a:r>
                <a:r>
                  <a:rPr lang="zh-CN" altLang="en-US" b="0" i="0" dirty="0">
                    <a:solidFill>
                      <a:srgbClr val="0D0D0D"/>
                    </a:solidFill>
                    <a:effectLst/>
                    <a:latin typeface="Söhne"/>
                  </a:rPr>
                  <a:t> 中的元素映射到 </a:t>
                </a:r>
                <a:r>
                  <a:rPr lang="en-US" altLang="zh-CN" b="0" i="1" dirty="0">
                    <a:solidFill>
                      <a:srgbClr val="0D0D0D"/>
                    </a:solidFill>
                    <a:effectLst/>
                    <a:latin typeface="KaTeX_Math"/>
                  </a:rPr>
                  <a:t>V</a:t>
                </a:r>
                <a:r>
                  <a:rPr lang="en-US" altLang="zh-CN" b="0" i="0" dirty="0">
                    <a:solidFill>
                      <a:srgbClr val="0D0D0D"/>
                    </a:solidFill>
                    <a:effectLst/>
                    <a:latin typeface="KaTeX_Main"/>
                  </a:rPr>
                  <a:t>2​</a:t>
                </a:r>
                <a:r>
                  <a:rPr lang="zh-CN" altLang="en-US" b="0" i="0" dirty="0">
                    <a:solidFill>
                      <a:srgbClr val="0D0D0D"/>
                    </a:solidFill>
                    <a:effectLst/>
                    <a:latin typeface="Söhne"/>
                  </a:rPr>
                  <a:t> 中所得到的集合。</a:t>
                </a:r>
                <a:endParaRPr lang="en-US" altLang="zh-CN" b="0" i="0" dirty="0">
                  <a:solidFill>
                    <a:srgbClr val="0D0D0D"/>
                  </a:solidFill>
                  <a:effectLst/>
                  <a:latin typeface="Söhne"/>
                </a:endParaRPr>
              </a:p>
              <a:p>
                <a:endParaRPr lang="en-US" altLang="zh-CN" b="0" i="0" dirty="0">
                  <a:solidFill>
                    <a:srgbClr val="0D0D0D"/>
                  </a:solidFill>
                  <a:effectLst/>
                  <a:latin typeface="Söhne"/>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的同态，</a:t>
                </a: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rPr>
                  <a:t>如果</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rPr>
                  <a:t>是满射，则称</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rPr>
                  <a:t>为</a:t>
                </a:r>
                <a:r>
                  <a:rPr lang="zh-CN" altLang="en-US" sz="1200" b="1" dirty="0">
                    <a:solidFill>
                      <a:srgbClr val="FF0000"/>
                    </a:solidFill>
                    <a:latin typeface="Times New Roman" panose="02020603050405020304" pitchFamily="18" charset="0"/>
                    <a:ea typeface="宋体" panose="02010600030101010101" pitchFamily="2" charset="-122"/>
                  </a:rPr>
                  <a:t>满同态，</a:t>
                </a:r>
                <a:r>
                  <a:rPr lang="zh-CN" altLang="en-US" sz="1200" b="1" dirty="0">
                    <a:latin typeface="Times New Roman" panose="02020603050405020304" pitchFamily="18" charset="0"/>
                  </a:rPr>
                  <a:t>这时称</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2</a:t>
                </a:r>
                <a:r>
                  <a:rPr lang="zh-CN" altLang="en-US" sz="1200" b="1" dirty="0">
                    <a:latin typeface="Times New Roman" panose="02020603050405020304" pitchFamily="18" charset="0"/>
                  </a:rPr>
                  <a:t>是</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a:t>
                </a:r>
                <a:r>
                  <a:rPr lang="zh-CN" altLang="en-US" sz="1200" b="1" dirty="0">
                    <a:latin typeface="Times New Roman" panose="02020603050405020304" pitchFamily="18" charset="0"/>
                  </a:rPr>
                  <a:t>的</a:t>
                </a:r>
                <a:r>
                  <a:rPr lang="zh-CN" altLang="en-US" sz="1200" b="1" dirty="0">
                    <a:solidFill>
                      <a:srgbClr val="FF0000"/>
                    </a:solidFill>
                    <a:latin typeface="Times New Roman" panose="02020603050405020304" pitchFamily="18" charset="0"/>
                  </a:rPr>
                  <a:t>同态像</a:t>
                </a:r>
                <a:r>
                  <a:rPr lang="zh-CN" altLang="en-US" sz="1200" b="1" dirty="0">
                    <a:latin typeface="Times New Roman" panose="02020603050405020304" pitchFamily="18" charset="0"/>
                  </a:rPr>
                  <a:t>，记作 </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 </a:t>
                </a:r>
                <a14:m>
                  <m:oMath xmlns:m="http://schemas.openxmlformats.org/officeDocument/2006/math">
                    <m:r>
                      <a:rPr lang="en-US" altLang="zh-CN" sz="1200" b="1" i="1" dirty="0" smtClean="0">
                        <a:latin typeface="Cambria Math" panose="02040503050406030204" pitchFamily="18" charset="0"/>
                        <a:sym typeface="Symbol" panose="05050102010706020507" pitchFamily="18" charset="2"/>
                      </a:rPr>
                      <m:t></m:t>
                    </m:r>
                  </m:oMath>
                </a14:m>
                <a:r>
                  <a:rPr lang="en-US" altLang="zh-CN" sz="1200" b="1" i="1" dirty="0">
                    <a:latin typeface="Times New Roman" panose="02020603050405020304" pitchFamily="18" charset="0"/>
                  </a:rPr>
                  <a:t> V</a:t>
                </a:r>
                <a:r>
                  <a:rPr lang="en-US" altLang="zh-CN" sz="1200" b="1" baseline="-25000" dirty="0">
                    <a:latin typeface="Times New Roman" panose="02020603050405020304" pitchFamily="18" charset="0"/>
                  </a:rPr>
                  <a:t>2</a:t>
                </a:r>
                <a:r>
                  <a:rPr lang="zh-CN" altLang="en-US" sz="1200" b="1" dirty="0">
                    <a:latin typeface="Times New Roman" panose="02020603050405020304" pitchFamily="18" charset="0"/>
                  </a:rPr>
                  <a:t>；                                 </a:t>
                </a:r>
                <a:endParaRPr lang="en-US" altLang="zh-CN" sz="1200" b="1" dirty="0">
                  <a:latin typeface="Times New Roman" panose="02020603050405020304" pitchFamily="18" charset="0"/>
                  <a:ea typeface="宋体" panose="02010600030101010101" pitchFamily="2" charset="-122"/>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注：</a:t>
                </a:r>
                <a:r>
                  <a:rPr lang="zh-CN" altLang="zh-CN" sz="1400" b="1" kern="100" dirty="0">
                    <a:solidFill>
                      <a:srgbClr val="00B0F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i="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f</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是满射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或满映射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意味着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f</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是覆盖的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即</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对于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S</a:t>
                </a:r>
                <a:r>
                  <a:rPr lang="en-US" altLang="zh-CN" b="1"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中的每个元素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y</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，都存在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S</a:t>
                </a:r>
                <a:r>
                  <a:rPr lang="en-US" altLang="zh-CN" b="1"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中的某个元素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，使得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f</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x</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y</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10000"/>
                  </a:lnSpc>
                </a:pPr>
                <a:r>
                  <a:rPr lang="zh-CN" altLang="en-US" sz="1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zh-CN" altLang="en-US" sz="1400" b="1" dirty="0">
                    <a:latin typeface="Times New Roman" panose="02020603050405020304" pitchFamily="18" charset="0"/>
                    <a:ea typeface="宋体" panose="02010600030101010101" pitchFamily="2" charset="-122"/>
                    <a:cs typeface="Times New Roman" panose="02020603050405020304" pitchFamily="18" charset="0"/>
                  </a:rPr>
                  <a:t>设</a:t>
                </a:r>
                <a:r>
                  <a:rPr lang="en-US" altLang="zh-CN" sz="1400" b="1" i="1"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1400" b="1" baseline="-250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a:latin typeface="Times New Roman" panose="02020603050405020304" pitchFamily="18" charset="0"/>
                    <a:cs typeface="Times New Roman" panose="02020603050405020304" pitchFamily="18" charset="0"/>
                  </a:rPr>
                  <a:t>⟨Z,+⟩</a:t>
                </a:r>
                <a:r>
                  <a:rPr lang="en-US" altLang="zh-CN"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V</a:t>
                </a:r>
                <a:r>
                  <a:rPr lang="en-US" altLang="zh-CN" sz="1400" b="1" baseline="-25000" dirty="0">
                    <a:latin typeface="Times New Roman" panose="02020603050405020304" pitchFamily="18" charset="0"/>
                    <a:cs typeface="Times New Roman" panose="02020603050405020304" pitchFamily="18" charset="0"/>
                  </a:rPr>
                  <a:t>2</a:t>
                </a:r>
                <a:r>
                  <a:rPr lang="en-US" altLang="zh-CN" sz="1400" b="1" dirty="0">
                    <a:latin typeface="Times New Roman" panose="02020603050405020304" pitchFamily="18" charset="0"/>
                    <a:cs typeface="Times New Roman" panose="02020603050405020304" pitchFamily="18" charset="0"/>
                  </a:rPr>
                  <a:t>​=⟨Z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整数模 </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的集合及其模 </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加法</a:t>
                </a:r>
                <a:r>
                  <a:rPr lang="en-US" altLang="zh-CN" sz="1400" b="1" dirty="0">
                    <a:latin typeface="Times New Roman" panose="02020603050405020304" pitchFamily="18" charset="0"/>
                    <a:cs typeface="Times New Roman" panose="02020603050405020304" pitchFamily="18" charset="0"/>
                  </a:rPr>
                  <a:t>)</a:t>
                </a:r>
                <a:r>
                  <a:rPr lang="en-US" altLang="zh-CN"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定义映射 </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 Z </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 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t> </a:t>
                </a:r>
                <a:r>
                  <a:rPr lang="en-US" altLang="zh-CN" sz="1400" b="1" i="1" dirty="0">
                    <a:latin typeface="Times New Roman" panose="02020603050405020304" pitchFamily="18" charset="0"/>
                    <a:cs typeface="Times New Roman" panose="02020603050405020304" pitchFamily="18" charset="0"/>
                  </a:rPr>
                  <a:t>x </a:t>
                </a:r>
                <a:r>
                  <a:rPr lang="en-US" altLang="zh-CN" sz="1400" b="1" dirty="0">
                    <a:latin typeface="Times New Roman" panose="02020603050405020304" pitchFamily="18" charset="0"/>
                    <a:cs typeface="Times New Roman" panose="02020603050405020304" pitchFamily="18" charset="0"/>
                  </a:rPr>
                  <a:t>mod 3</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400" b="1" kern="100" dirty="0">
                    <a:latin typeface="Times New Roman" panose="02020603050405020304" pitchFamily="18" charset="0"/>
                    <a:ea typeface="宋体" panose="02010600030101010101" pitchFamily="2" charset="-122"/>
                    <a:cs typeface="Times New Roman" panose="02020603050405020304" pitchFamily="18" charset="0"/>
                  </a:rPr>
                  <a:t>问</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en-US" sz="1400" b="1" kern="100" dirty="0">
                    <a:latin typeface="Times New Roman" panose="02020603050405020304" pitchFamily="18" charset="0"/>
                    <a:ea typeface="宋体" panose="02010600030101010101" pitchFamily="2" charset="-122"/>
                    <a:cs typeface="Times New Roman" panose="02020603050405020304" pitchFamily="18" charset="0"/>
                  </a:rPr>
                  <a:t>是否为满同态？</a:t>
                </a:r>
                <a:endPar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400" b="1" kern="100" dirty="0">
                    <a:latin typeface="Times New Roman" panose="02020603050405020304" pitchFamily="18" charset="0"/>
                    <a:ea typeface="宋体" panose="02010600030101010101" pitchFamily="2" charset="-122"/>
                    <a:cs typeface="Times New Roman" panose="02020603050405020304" pitchFamily="18" charset="0"/>
                  </a:rPr>
                  <a:t>验证两个条件： </a:t>
                </a:r>
                <a:endPar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同态性</a:t>
                </a:r>
                <a:r>
                  <a:rPr lang="en-US"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需要验证对于所有</a:t>
                </a:r>
                <a:r>
                  <a:rPr lang="zh-CN" altLang="zh-CN" sz="1400" b="1" dirty="0">
                    <a:latin typeface="Times New Roman" panose="02020603050405020304" pitchFamily="18" charset="0"/>
                    <a:cs typeface="Times New Roman" panose="02020603050405020304" pitchFamily="18" charset="0"/>
                  </a:rPr>
                  <a:t>对于所有 </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zh-CN" altLang="zh-CN"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Z, </a:t>
                </a:r>
                <a:r>
                  <a:rPr lang="zh-CN" altLang="zh-CN" sz="1400" b="1" dirty="0">
                    <a:latin typeface="Times New Roman" panose="02020603050405020304" pitchFamily="18" charset="0"/>
                    <a:cs typeface="Times New Roman" panose="02020603050405020304" pitchFamily="18" charset="0"/>
                  </a:rPr>
                  <a:t>是否有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endPar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4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因</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)mod 3 ,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 </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 </a:t>
                </a:r>
                <a:r>
                  <a:rPr lang="en-US" altLang="zh-CN" sz="1400" b="1" dirty="0">
                    <a:latin typeface="Times New Roman" panose="02020603050405020304" pitchFamily="18" charset="0"/>
                    <a:cs typeface="Times New Roman" panose="02020603050405020304" pitchFamily="18" charset="0"/>
                  </a:rPr>
                  <a:t>mod 3 + </a:t>
                </a:r>
                <a:r>
                  <a:rPr lang="en-US" altLang="zh-CN" sz="1400" b="1" i="1" dirty="0">
                    <a:latin typeface="Times New Roman" panose="02020603050405020304" pitchFamily="18" charset="0"/>
                    <a:cs typeface="Times New Roman" panose="02020603050405020304" pitchFamily="18" charset="0"/>
                  </a:rPr>
                  <a:t>y </a:t>
                </a:r>
                <a:r>
                  <a:rPr lang="en-US" altLang="zh-CN" sz="1400" b="1" dirty="0">
                    <a:latin typeface="Times New Roman" panose="02020603050405020304" pitchFamily="18" charset="0"/>
                    <a:cs typeface="Times New Roman" panose="02020603050405020304" pitchFamily="18" charset="0"/>
                  </a:rPr>
                  <a:t>mod 3) mod 3 , </a:t>
                </a:r>
                <a:r>
                  <a:rPr lang="zh-CN" altLang="en-US" sz="1400" b="1" dirty="0">
                    <a:latin typeface="Times New Roman" panose="02020603050405020304" pitchFamily="18" charset="0"/>
                    <a:cs typeface="Times New Roman" panose="02020603050405020304" pitchFamily="18" charset="0"/>
                  </a:rPr>
                  <a:t>由模运算的分配性质</a:t>
                </a:r>
                <a:r>
                  <a:rPr lang="zh-CN" altLang="zh-CN" sz="1400" b="1" dirty="0">
                    <a:latin typeface="Times New Roman" panose="02020603050405020304" pitchFamily="18" charset="0"/>
                    <a:cs typeface="Times New Roman" panose="02020603050405020304" pitchFamily="18" charset="0"/>
                  </a:rPr>
                  <a:t>有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zh-CN" altLang="en-US" sz="1400" b="1" dirty="0">
                    <a:latin typeface="Times New Roman" panose="02020603050405020304" pitchFamily="18" charset="0"/>
                    <a:cs typeface="Times New Roman" panose="02020603050405020304" pitchFamily="18" charset="0"/>
                  </a:rPr>
                  <a:t>成立</a:t>
                </a:r>
                <a:r>
                  <a:rPr lang="en-US" altLang="zh-CN" sz="1400" b="1" dirty="0">
                    <a:latin typeface="Times New Roman" panose="02020603050405020304" pitchFamily="18" charset="0"/>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 x </a:t>
                </a:r>
                <a:r>
                  <a:rPr lang="en-US" altLang="zh-CN" sz="1400" b="1" dirty="0">
                    <a:latin typeface="Times New Roman" panose="02020603050405020304" pitchFamily="18" charset="0"/>
                    <a:cs typeface="Times New Roman" panose="02020603050405020304" pitchFamily="18" charset="0"/>
                  </a:rPr>
                  <a:t>mod 3</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满足</a:t>
                </a:r>
                <a:r>
                  <a:rPr lang="zh-CN"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性。</a:t>
                </a:r>
                <a:endPar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en-US"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满</a:t>
                </a:r>
                <a:r>
                  <a:rPr lang="zh-CN" altLang="zh-CN"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射性</a:t>
                </a:r>
                <a:r>
                  <a:rPr lang="en-US" altLang="zh-CN"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dirty="0">
                    <a:latin typeface="Times New Roman" panose="02020603050405020304" pitchFamily="18" charset="0"/>
                    <a:cs typeface="Times New Roman" panose="02020603050405020304" pitchFamily="18" charset="0"/>
                  </a:rPr>
                  <a:t>对于 </a:t>
                </a:r>
                <a:r>
                  <a:rPr lang="en-US" altLang="zh-CN" sz="1400" b="1" dirty="0">
                    <a:latin typeface="Times New Roman" panose="02020603050405020304" pitchFamily="18" charset="0"/>
                    <a:cs typeface="Times New Roman" panose="02020603050405020304" pitchFamily="18" charset="0"/>
                  </a:rPr>
                  <a:t>Z</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中的每个元素 </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是否存在</a:t>
                </a:r>
                <a:r>
                  <a:rPr lang="en-US" altLang="zh-CN" sz="1400" b="1" dirty="0">
                    <a:latin typeface="Times New Roman" panose="02020603050405020304" pitchFamily="18" charset="0"/>
                    <a:cs typeface="Times New Roman" panose="02020603050405020304" pitchFamily="18" charset="0"/>
                  </a:rPr>
                  <a:t>Z</a:t>
                </a:r>
                <a:r>
                  <a:rPr lang="zh-CN" altLang="zh-CN" sz="1400" b="1" dirty="0">
                    <a:latin typeface="Times New Roman" panose="02020603050405020304" pitchFamily="18" charset="0"/>
                    <a:cs typeface="Times New Roman" panose="02020603050405020304" pitchFamily="18" charset="0"/>
                  </a:rPr>
                  <a:t>中的某个元素</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使得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由于</a:t>
                </a:r>
                <a:r>
                  <a:rPr lang="en-US" altLang="zh-CN" sz="1400" b="1" dirty="0">
                    <a:latin typeface="Times New Roman" panose="02020603050405020304" pitchFamily="18" charset="0"/>
                    <a:cs typeface="Times New Roman" panose="02020603050405020304" pitchFamily="18" charset="0"/>
                  </a:rPr>
                  <a:t>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a:t>
                </a:r>
                <a:r>
                  <a:rPr lang="zh-CN" altLang="zh-CN" sz="1400" b="1" dirty="0">
                    <a:latin typeface="Times New Roman" panose="02020603050405020304" pitchFamily="18" charset="0"/>
                    <a:cs typeface="Times New Roman" panose="02020603050405020304" pitchFamily="18" charset="0"/>
                  </a:rPr>
                  <a:t>中的每个元素</a:t>
                </a:r>
                <a:r>
                  <a:rPr lang="en-US" altLang="zh-CN" sz="1400" b="1" dirty="0">
                    <a:latin typeface="Times New Roman" panose="02020603050405020304" pitchFamily="18" charset="0"/>
                    <a:cs typeface="Times New Roman" panose="02020603050405020304" pitchFamily="18" charset="0"/>
                  </a:rPr>
                  <a:t>(0, 1, 2)</a:t>
                </a:r>
                <a:r>
                  <a:rPr lang="zh-CN" altLang="zh-CN" sz="1400" b="1" dirty="0">
                    <a:latin typeface="Times New Roman" panose="02020603050405020304" pitchFamily="18" charset="0"/>
                    <a:cs typeface="Times New Roman" panose="02020603050405020304" pitchFamily="18" charset="0"/>
                  </a:rPr>
                  <a:t>都可以通过取模</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得到</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因此</a:t>
                </a:r>
                <a:r>
                  <a:rPr lang="zh-CN" altLang="zh-CN" sz="1400" b="1" i="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是满射</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即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是满同态。</a:t>
                </a:r>
              </a:p>
              <a:p>
                <a:pPr algn="just">
                  <a:lnSpc>
                    <a:spcPct val="110000"/>
                  </a:lnSpc>
                </a:pPr>
                <a:r>
                  <a:rPr lang="zh-CN" altLang="en-US" sz="1400" b="1" kern="1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结论：</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 x </a:t>
                </a:r>
                <a:r>
                  <a:rPr lang="en-US" altLang="zh-CN" sz="1400" b="1" dirty="0">
                    <a:latin typeface="Times New Roman" panose="02020603050405020304" pitchFamily="18" charset="0"/>
                    <a:cs typeface="Times New Roman" panose="02020603050405020304" pitchFamily="18" charset="0"/>
                  </a:rPr>
                  <a:t>mod 3</a:t>
                </a:r>
                <a:r>
                  <a:rPr lang="en-US" altLang="zh-CN" sz="14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400" b="1" i="0" dirty="0">
                    <a:solidFill>
                      <a:srgbClr val="0D0D0D"/>
                    </a:solidFill>
                    <a:effectLst/>
                    <a:latin typeface="Times New Roman" panose="02020603050405020304" pitchFamily="18" charset="0"/>
                    <a:cs typeface="Times New Roman" panose="02020603050405020304" pitchFamily="18" charset="0"/>
                  </a:rPr>
                  <a:t>同态，而且</a:t>
                </a:r>
                <a:r>
                  <a:rPr lang="zh-CN" altLang="en-US" sz="1400" b="1" i="0" dirty="0">
                    <a:solidFill>
                      <a:srgbClr val="FF0000"/>
                    </a:solidFill>
                    <a:effectLst/>
                    <a:latin typeface="Times New Roman" panose="02020603050405020304" pitchFamily="18" charset="0"/>
                    <a:cs typeface="Times New Roman" panose="02020603050405020304" pitchFamily="18" charset="0"/>
                  </a:rPr>
                  <a:t>是满同态</a:t>
                </a:r>
                <a:r>
                  <a:rPr lang="zh-CN" altLang="en-US" sz="1400" b="1" i="0" dirty="0">
                    <a:solidFill>
                      <a:srgbClr val="0D0D0D"/>
                    </a:solidFill>
                    <a:effectLst/>
                    <a:latin typeface="Times New Roman" panose="02020603050405020304" pitchFamily="18" charset="0"/>
                    <a:cs typeface="Times New Roman" panose="02020603050405020304" pitchFamily="18" charset="0"/>
                  </a:rPr>
                  <a:t>。</a:t>
                </a:r>
                <a:endParaRPr lang="en-US" altLang="zh-CN" sz="1400" b="1" i="0" dirty="0">
                  <a:solidFill>
                    <a:srgbClr val="0D0D0D"/>
                  </a:solidFill>
                  <a:effectLst/>
                  <a:latin typeface="Times New Roman" panose="02020603050405020304" pitchFamily="18" charset="0"/>
                  <a:cs typeface="Times New Roman" panose="02020603050405020304" pitchFamily="18" charset="0"/>
                </a:endParaRPr>
              </a:p>
              <a:p>
                <a:pPr algn="just">
                  <a:lnSpc>
                    <a:spcPct val="110000"/>
                  </a:lnSpc>
                </a:pPr>
                <a:endParaRPr lang="en-US" altLang="zh-CN" sz="1400" b="1" i="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just" defTabSz="914400" rtl="0" eaLnBrk="1" fontAlgn="auto" latinLnBrk="0" hangingPunct="1">
                  <a:lnSpc>
                    <a:spcPct val="110000"/>
                  </a:lnSpc>
                  <a:spcBef>
                    <a:spcPts val="0"/>
                  </a:spcBef>
                  <a:spcAft>
                    <a:spcPts val="0"/>
                  </a:spcAft>
                  <a:buClrTx/>
                  <a:buSzTx/>
                  <a:buFontTx/>
                  <a:buNone/>
                  <a:tabLst/>
                  <a:defRPr/>
                </a:pPr>
                <a:r>
                  <a:rPr lang="zh-CN" altLang="en-US" sz="2000" b="1" dirty="0">
                    <a:latin typeface="Times New Roman" panose="02020603050405020304" pitchFamily="18" charset="0"/>
                    <a:cs typeface="Times New Roman" panose="02020603050405020304" pitchFamily="18" charset="0"/>
                  </a:rPr>
                  <a:t>因</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和</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在</a:t>
                </a:r>
                <a:r>
                  <a:rPr lang="en-US" altLang="zh-CN" sz="2000" b="1" i="1" kern="100" dirty="0">
                    <a:latin typeface="Times New Roman" panose="02020603050405020304" pitchFamily="18" charset="0"/>
                    <a:cs typeface="Times New Roman" panose="02020603050405020304" pitchFamily="18" charset="0"/>
                  </a:rPr>
                  <a:t>f</a:t>
                </a:r>
                <a:r>
                  <a:rPr lang="en-US" altLang="zh-CN" sz="2000" b="1" kern="100" dirty="0">
                    <a:latin typeface="Times New Roman" panose="02020603050405020304" pitchFamily="18" charset="0"/>
                    <a:cs typeface="Times New Roman" panose="02020603050405020304" pitchFamily="18" charset="0"/>
                  </a:rPr>
                  <a:t>(</a:t>
                </a:r>
                <a:r>
                  <a:rPr lang="en-US" altLang="zh-CN" sz="2000" b="1" i="1" kern="100" dirty="0">
                    <a:latin typeface="Times New Roman" panose="02020603050405020304" pitchFamily="18" charset="0"/>
                    <a:cs typeface="Times New Roman" panose="02020603050405020304" pitchFamily="18" charset="0"/>
                  </a:rPr>
                  <a:t>x</a:t>
                </a:r>
                <a:r>
                  <a:rPr lang="en-US" altLang="zh-CN" sz="2000" b="1" kern="100" dirty="0">
                    <a:latin typeface="Times New Roman" panose="02020603050405020304" pitchFamily="18" charset="0"/>
                    <a:cs typeface="Times New Roman" panose="02020603050405020304" pitchFamily="18" charset="0"/>
                  </a:rPr>
                  <a:t>)=</a:t>
                </a:r>
                <a:r>
                  <a:rPr lang="en-US" altLang="zh-CN" sz="2000" b="1" i="1" dirty="0">
                    <a:latin typeface="Times New Roman" panose="02020603050405020304" pitchFamily="18" charset="0"/>
                    <a:cs typeface="Times New Roman" panose="02020603050405020304" pitchFamily="18" charset="0"/>
                  </a:rPr>
                  <a:t> x </a:t>
                </a:r>
                <a:r>
                  <a:rPr lang="en-US" altLang="zh-CN" sz="2000" b="1" dirty="0">
                    <a:latin typeface="Times New Roman" panose="02020603050405020304" pitchFamily="18" charset="0"/>
                    <a:cs typeface="Times New Roman" panose="02020603050405020304" pitchFamily="18" charset="0"/>
                  </a:rPr>
                  <a:t>mod 3</a:t>
                </a:r>
                <a:r>
                  <a:rPr lang="zh-CN" altLang="zh-CN" sz="2000" b="1" dirty="0">
                    <a:latin typeface="Times New Roman" panose="02020603050405020304" pitchFamily="18" charset="0"/>
                    <a:cs typeface="Times New Roman" panose="02020603050405020304" pitchFamily="18" charset="0"/>
                  </a:rPr>
                  <a:t>的余数相同并不意味着 </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和</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相同</a:t>
                </a:r>
                <a:r>
                  <a:rPr lang="en-US" altLang="zh-CN" sz="2000" b="1" dirty="0">
                    <a:latin typeface="Times New Roman" panose="02020603050405020304" pitchFamily="18" charset="0"/>
                    <a:cs typeface="Times New Roman" panose="02020603050405020304" pitchFamily="18" charset="0"/>
                  </a:rPr>
                  <a:t>, </a:t>
                </a:r>
                <a:r>
                  <a:rPr lang="zh-CN" altLang="zh-CN" sz="2000" b="1" dirty="0">
                    <a:latin typeface="Times New Roman" panose="02020603050405020304" pitchFamily="18" charset="0"/>
                    <a:cs typeface="Times New Roman" panose="02020603050405020304" pitchFamily="18" charset="0"/>
                  </a:rPr>
                  <a:t>因此</a:t>
                </a:r>
                <a:r>
                  <a:rPr lang="zh-CN" altLang="zh-CN" sz="2000" b="1" i="1" dirty="0">
                    <a:latin typeface="Times New Roman" panose="02020603050405020304" pitchFamily="18" charset="0"/>
                    <a:cs typeface="Times New Roman" panose="02020603050405020304" pitchFamily="18" charset="0"/>
                  </a:rPr>
                  <a:t> </a:t>
                </a:r>
                <a:r>
                  <a:rPr lang="en-US" altLang="zh-CN" sz="2000" b="1" i="1" dirty="0">
                    <a:latin typeface="Times New Roman" panose="02020603050405020304" pitchFamily="18" charset="0"/>
                    <a:cs typeface="Times New Roman" panose="02020603050405020304" pitchFamily="18" charset="0"/>
                  </a:rPr>
                  <a:t>f</a:t>
                </a:r>
                <a:r>
                  <a:rPr lang="en-US" altLang="zh-CN" sz="2000" b="1" dirty="0">
                    <a:latin typeface="Times New Roman" panose="02020603050405020304" pitchFamily="18" charset="0"/>
                    <a:cs typeface="Times New Roman" panose="02020603050405020304" pitchFamily="18" charset="0"/>
                  </a:rPr>
                  <a:t> </a:t>
                </a:r>
                <a:r>
                  <a:rPr lang="zh-CN" altLang="zh-CN" sz="2000" b="1" dirty="0">
                    <a:latin typeface="Times New Roman" panose="02020603050405020304" pitchFamily="18" charset="0"/>
                    <a:cs typeface="Times New Roman" panose="02020603050405020304" pitchFamily="18" charset="0"/>
                  </a:rPr>
                  <a:t>不是单射</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即 </a:t>
                </a:r>
                <a:r>
                  <a:rPr lang="en-US" altLang="zh-CN" sz="2000" b="1" i="1" dirty="0">
                    <a:latin typeface="Times New Roman" panose="02020603050405020304" pitchFamily="18" charset="0"/>
                    <a:cs typeface="Times New Roman" panose="02020603050405020304" pitchFamily="18" charset="0"/>
                  </a:rPr>
                  <a:t>f</a:t>
                </a:r>
                <a:r>
                  <a:rPr lang="en-US" altLang="zh-CN" sz="2000" b="1" dirty="0">
                    <a:latin typeface="Times New Roman" panose="02020603050405020304" pitchFamily="18" charset="0"/>
                    <a:cs typeface="Times New Roman" panose="02020603050405020304" pitchFamily="18" charset="0"/>
                  </a:rPr>
                  <a:t> </a:t>
                </a:r>
                <a:r>
                  <a:rPr lang="zh-CN" altLang="zh-CN" sz="2000" b="1" dirty="0">
                    <a:solidFill>
                      <a:srgbClr val="FF0000"/>
                    </a:solidFill>
                    <a:latin typeface="Times New Roman" panose="02020603050405020304" pitchFamily="18" charset="0"/>
                    <a:cs typeface="Times New Roman" panose="02020603050405020304" pitchFamily="18" charset="0"/>
                  </a:rPr>
                  <a:t>不是单同态</a:t>
                </a:r>
                <a:r>
                  <a:rPr lang="zh-CN" altLang="zh-CN" sz="2000" b="1" dirty="0">
                    <a:latin typeface="Times New Roman" panose="02020603050405020304" pitchFamily="18" charset="0"/>
                    <a:cs typeface="Times New Roman" panose="02020603050405020304" pitchFamily="18" charset="0"/>
                  </a:rPr>
                  <a:t>。</a:t>
                </a:r>
                <a:endParaRPr lang="en-US" altLang="zh-CN" sz="2000" b="1" kern="100" dirty="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endParaRPr lang="en-US" altLang="zh-CN" sz="1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引入单同态、满同态、单自同态和满自同态等概念的目的是在代数系统之间建立一种</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更细致的结构关系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，从而更好地理解和分析代数系统的性质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b="0" i="0" dirty="0">
                    <a:solidFill>
                      <a:srgbClr val="0D0D0D"/>
                    </a:solidFill>
                    <a:effectLst/>
                    <a:latin typeface="Söhne"/>
                  </a:rPr>
                  <a:t>代数系统 </a:t>
                </a:r>
                <a:r>
                  <a:rPr lang="en-US" altLang="zh-CN" b="0" i="1" dirty="0">
                    <a:solidFill>
                      <a:srgbClr val="0D0D0D"/>
                    </a:solidFill>
                    <a:effectLst/>
                    <a:latin typeface="KaTeX_Math"/>
                  </a:rPr>
                  <a:t>V</a:t>
                </a:r>
                <a:r>
                  <a:rPr lang="en-US" altLang="zh-CN" b="0" i="0" dirty="0">
                    <a:solidFill>
                      <a:srgbClr val="0D0D0D"/>
                    </a:solidFill>
                    <a:effectLst/>
                    <a:latin typeface="KaTeX_Main"/>
                  </a:rPr>
                  <a:t>1​</a:t>
                </a:r>
                <a:r>
                  <a:rPr lang="zh-CN" altLang="en-US" b="0" i="0" dirty="0">
                    <a:solidFill>
                      <a:srgbClr val="0D0D0D"/>
                    </a:solidFill>
                    <a:effectLst/>
                    <a:latin typeface="Söhne"/>
                  </a:rPr>
                  <a:t> 通过一个同态映射 </a:t>
                </a:r>
                <a:r>
                  <a:rPr lang="en-US" altLang="zh-CN" b="0" i="1" dirty="0">
                    <a:solidFill>
                      <a:srgbClr val="0D0D0D"/>
                    </a:solidFill>
                    <a:effectLst/>
                    <a:latin typeface="KaTeX_Math"/>
                  </a:rPr>
                  <a:t>f</a:t>
                </a:r>
                <a:r>
                  <a:rPr lang="zh-CN" altLang="en-US" b="0" i="0" dirty="0">
                    <a:solidFill>
                      <a:srgbClr val="0D0D0D"/>
                    </a:solidFill>
                    <a:effectLst/>
                    <a:latin typeface="Söhne"/>
                  </a:rPr>
                  <a:t> 到达另一个代数系统 </a:t>
                </a:r>
                <a:r>
                  <a:rPr lang="en-US" altLang="zh-CN" b="0" i="1" dirty="0">
                    <a:solidFill>
                      <a:srgbClr val="0D0D0D"/>
                    </a:solidFill>
                    <a:effectLst/>
                    <a:latin typeface="KaTeX_Math"/>
                  </a:rPr>
                  <a:t>V</a:t>
                </a:r>
                <a:r>
                  <a:rPr lang="en-US" altLang="zh-CN" b="0" i="0" dirty="0">
                    <a:solidFill>
                      <a:srgbClr val="0D0D0D"/>
                    </a:solidFill>
                    <a:effectLst/>
                    <a:latin typeface="KaTeX_Main"/>
                  </a:rPr>
                  <a:t>2​</a:t>
                </a:r>
                <a:r>
                  <a:rPr lang="zh-CN" altLang="en-US" b="0" i="0" dirty="0">
                    <a:solidFill>
                      <a:srgbClr val="0D0D0D"/>
                    </a:solidFill>
                    <a:effectLst/>
                    <a:latin typeface="Söhne"/>
                  </a:rPr>
                  <a:t> 的过程，所得的同态像是 </a:t>
                </a:r>
                <a:r>
                  <a:rPr lang="en-US" altLang="zh-CN" b="0" i="1" dirty="0">
                    <a:solidFill>
                      <a:srgbClr val="0D0D0D"/>
                    </a:solidFill>
                    <a:effectLst/>
                    <a:latin typeface="KaTeX_Math"/>
                  </a:rPr>
                  <a:t>f</a:t>
                </a:r>
                <a:r>
                  <a:rPr lang="zh-CN" altLang="en-US" b="0" i="0" dirty="0">
                    <a:solidFill>
                      <a:srgbClr val="0D0D0D"/>
                    </a:solidFill>
                    <a:effectLst/>
                    <a:latin typeface="Söhne"/>
                  </a:rPr>
                  <a:t> 将 </a:t>
                </a:r>
                <a:r>
                  <a:rPr lang="en-US" altLang="zh-CN" b="0" i="1" dirty="0">
                    <a:solidFill>
                      <a:srgbClr val="0D0D0D"/>
                    </a:solidFill>
                    <a:effectLst/>
                    <a:latin typeface="KaTeX_Math"/>
                  </a:rPr>
                  <a:t>V</a:t>
                </a:r>
                <a:r>
                  <a:rPr lang="en-US" altLang="zh-CN" b="0" i="0" dirty="0">
                    <a:solidFill>
                      <a:srgbClr val="0D0D0D"/>
                    </a:solidFill>
                    <a:effectLst/>
                    <a:latin typeface="KaTeX_Main"/>
                  </a:rPr>
                  <a:t>1​</a:t>
                </a:r>
                <a:r>
                  <a:rPr lang="zh-CN" altLang="en-US" b="0" i="0" dirty="0">
                    <a:solidFill>
                      <a:srgbClr val="0D0D0D"/>
                    </a:solidFill>
                    <a:effectLst/>
                    <a:latin typeface="Söhne"/>
                  </a:rPr>
                  <a:t> 中的元素映射到 </a:t>
                </a:r>
                <a:r>
                  <a:rPr lang="en-US" altLang="zh-CN" b="0" i="1" dirty="0">
                    <a:solidFill>
                      <a:srgbClr val="0D0D0D"/>
                    </a:solidFill>
                    <a:effectLst/>
                    <a:latin typeface="KaTeX_Math"/>
                  </a:rPr>
                  <a:t>V</a:t>
                </a:r>
                <a:r>
                  <a:rPr lang="en-US" altLang="zh-CN" b="0" i="0" dirty="0">
                    <a:solidFill>
                      <a:srgbClr val="0D0D0D"/>
                    </a:solidFill>
                    <a:effectLst/>
                    <a:latin typeface="KaTeX_Main"/>
                  </a:rPr>
                  <a:t>2​</a:t>
                </a:r>
                <a:r>
                  <a:rPr lang="zh-CN" altLang="en-US" b="0" i="0" dirty="0">
                    <a:solidFill>
                      <a:srgbClr val="0D0D0D"/>
                    </a:solidFill>
                    <a:effectLst/>
                    <a:latin typeface="Söhne"/>
                  </a:rPr>
                  <a:t> 中所得到的集合。</a:t>
                </a:r>
                <a:endParaRPr lang="en-US" altLang="zh-CN" b="0" i="0" dirty="0">
                  <a:solidFill>
                    <a:srgbClr val="0D0D0D"/>
                  </a:solidFill>
                  <a:effectLst/>
                  <a:latin typeface="Söhne"/>
                </a:endParaRPr>
              </a:p>
              <a:p>
                <a:endParaRPr lang="en-US" altLang="zh-CN" b="0" i="0" dirty="0">
                  <a:solidFill>
                    <a:srgbClr val="0D0D0D"/>
                  </a:solidFill>
                  <a:effectLst/>
                  <a:latin typeface="Söhne"/>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的同态，</a:t>
                </a: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rPr>
                  <a:t>如果</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rPr>
                  <a:t>是满射，则称</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rPr>
                  <a:t>为</a:t>
                </a:r>
                <a:r>
                  <a:rPr lang="zh-CN" altLang="en-US" sz="1200" b="1" dirty="0">
                    <a:solidFill>
                      <a:srgbClr val="FF0000"/>
                    </a:solidFill>
                    <a:latin typeface="Times New Roman" panose="02020603050405020304" pitchFamily="18" charset="0"/>
                    <a:ea typeface="宋体" panose="02010600030101010101" pitchFamily="2" charset="-122"/>
                  </a:rPr>
                  <a:t>满同态，</a:t>
                </a:r>
                <a:r>
                  <a:rPr lang="zh-CN" altLang="en-US" sz="1200" b="1" dirty="0">
                    <a:latin typeface="Times New Roman" panose="02020603050405020304" pitchFamily="18" charset="0"/>
                  </a:rPr>
                  <a:t>这时称</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2</a:t>
                </a:r>
                <a:r>
                  <a:rPr lang="zh-CN" altLang="en-US" sz="1200" b="1" dirty="0">
                    <a:latin typeface="Times New Roman" panose="02020603050405020304" pitchFamily="18" charset="0"/>
                  </a:rPr>
                  <a:t>是</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a:t>
                </a:r>
                <a:r>
                  <a:rPr lang="zh-CN" altLang="en-US" sz="1200" b="1" dirty="0">
                    <a:latin typeface="Times New Roman" panose="02020603050405020304" pitchFamily="18" charset="0"/>
                  </a:rPr>
                  <a:t>的</a:t>
                </a:r>
                <a:r>
                  <a:rPr lang="zh-CN" altLang="en-US" sz="1200" b="1" dirty="0">
                    <a:solidFill>
                      <a:srgbClr val="FF0000"/>
                    </a:solidFill>
                    <a:latin typeface="Times New Roman" panose="02020603050405020304" pitchFamily="18" charset="0"/>
                  </a:rPr>
                  <a:t>同态像</a:t>
                </a:r>
                <a:r>
                  <a:rPr lang="zh-CN" altLang="en-US" sz="1200" b="1" dirty="0">
                    <a:latin typeface="Times New Roman" panose="02020603050405020304" pitchFamily="18" charset="0"/>
                  </a:rPr>
                  <a:t>，记作 </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 </a:t>
                </a:r>
                <a:r>
                  <a:rPr lang="en-US" altLang="zh-CN" sz="1200" b="1" i="0" dirty="0">
                    <a:latin typeface="Cambria Math" panose="02040503050406030204" pitchFamily="18" charset="0"/>
                    <a:sym typeface="Symbol" panose="05050102010706020507" pitchFamily="18" charset="2"/>
                  </a:rPr>
                  <a:t></a:t>
                </a:r>
                <a:r>
                  <a:rPr lang="en-US" altLang="zh-CN" sz="1200" b="1" i="1" dirty="0">
                    <a:latin typeface="Times New Roman" panose="02020603050405020304" pitchFamily="18" charset="0"/>
                  </a:rPr>
                  <a:t> V</a:t>
                </a:r>
                <a:r>
                  <a:rPr lang="en-US" altLang="zh-CN" sz="1200" b="1" baseline="-25000" dirty="0">
                    <a:latin typeface="Times New Roman" panose="02020603050405020304" pitchFamily="18" charset="0"/>
                  </a:rPr>
                  <a:t>2</a:t>
                </a:r>
                <a:r>
                  <a:rPr lang="zh-CN" altLang="en-US" sz="1200" b="1" dirty="0">
                    <a:latin typeface="Times New Roman" panose="02020603050405020304" pitchFamily="18" charset="0"/>
                  </a:rPr>
                  <a:t>；                                 </a:t>
                </a:r>
                <a:endParaRPr lang="en-US" altLang="zh-CN" sz="1200" b="1" dirty="0">
                  <a:latin typeface="Times New Roman" panose="02020603050405020304" pitchFamily="18" charset="0"/>
                  <a:ea typeface="宋体" panose="02010600030101010101" pitchFamily="2" charset="-122"/>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注：</a:t>
                </a:r>
                <a:r>
                  <a:rPr lang="zh-CN" altLang="zh-CN" sz="1400" b="1" kern="100" dirty="0">
                    <a:solidFill>
                      <a:srgbClr val="00B0F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i="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f</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是满射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或满映射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意味着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f</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是覆盖的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即</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对于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S</a:t>
                </a:r>
                <a:r>
                  <a:rPr lang="en-US" altLang="zh-CN" b="1"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中的每个元素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y</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，都存在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S</a:t>
                </a:r>
                <a:r>
                  <a:rPr lang="en-US" altLang="zh-CN" b="1"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中的某个元素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，使得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f</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x</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y</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10000"/>
                  </a:lnSpc>
                </a:pPr>
                <a:r>
                  <a:rPr lang="zh-CN" altLang="en-US" sz="1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zh-CN" altLang="en-US" sz="1400" b="1" dirty="0">
                    <a:latin typeface="Times New Roman" panose="02020603050405020304" pitchFamily="18" charset="0"/>
                    <a:ea typeface="宋体" panose="02010600030101010101" pitchFamily="2" charset="-122"/>
                    <a:cs typeface="Times New Roman" panose="02020603050405020304" pitchFamily="18" charset="0"/>
                  </a:rPr>
                  <a:t>设</a:t>
                </a:r>
                <a:r>
                  <a:rPr lang="en-US" altLang="zh-CN" sz="1400" b="1" i="1"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1400" b="1" baseline="-250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a:latin typeface="Times New Roman" panose="02020603050405020304" pitchFamily="18" charset="0"/>
                    <a:cs typeface="Times New Roman" panose="02020603050405020304" pitchFamily="18" charset="0"/>
                  </a:rPr>
                  <a:t>⟨Z,+⟩</a:t>
                </a:r>
                <a:r>
                  <a:rPr lang="en-US" altLang="zh-CN"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V</a:t>
                </a:r>
                <a:r>
                  <a:rPr lang="en-US" altLang="zh-CN" sz="1400" b="1" baseline="-25000" dirty="0">
                    <a:latin typeface="Times New Roman" panose="02020603050405020304" pitchFamily="18" charset="0"/>
                    <a:cs typeface="Times New Roman" panose="02020603050405020304" pitchFamily="18" charset="0"/>
                  </a:rPr>
                  <a:t>2</a:t>
                </a:r>
                <a:r>
                  <a:rPr lang="en-US" altLang="zh-CN" sz="1400" b="1" dirty="0">
                    <a:latin typeface="Times New Roman" panose="02020603050405020304" pitchFamily="18" charset="0"/>
                    <a:cs typeface="Times New Roman" panose="02020603050405020304" pitchFamily="18" charset="0"/>
                  </a:rPr>
                  <a:t>​=⟨Z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整数模 </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的集合及其模 </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加法</a:t>
                </a:r>
                <a:r>
                  <a:rPr lang="en-US" altLang="zh-CN" sz="1400" b="1" dirty="0">
                    <a:latin typeface="Times New Roman" panose="02020603050405020304" pitchFamily="18" charset="0"/>
                    <a:cs typeface="Times New Roman" panose="02020603050405020304" pitchFamily="18" charset="0"/>
                  </a:rPr>
                  <a:t>)</a:t>
                </a:r>
                <a:r>
                  <a:rPr lang="en-US" altLang="zh-CN"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定义映射 </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 Z </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 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t> </a:t>
                </a:r>
                <a:r>
                  <a:rPr lang="en-US" altLang="zh-CN" sz="1400" b="1" i="1" dirty="0">
                    <a:latin typeface="Times New Roman" panose="02020603050405020304" pitchFamily="18" charset="0"/>
                    <a:cs typeface="Times New Roman" panose="02020603050405020304" pitchFamily="18" charset="0"/>
                  </a:rPr>
                  <a:t>x </a:t>
                </a:r>
                <a:r>
                  <a:rPr lang="en-US" altLang="zh-CN" sz="1400" b="1" dirty="0">
                    <a:latin typeface="Times New Roman" panose="02020603050405020304" pitchFamily="18" charset="0"/>
                    <a:cs typeface="Times New Roman" panose="02020603050405020304" pitchFamily="18" charset="0"/>
                  </a:rPr>
                  <a:t>mod 3</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400" b="1" kern="100" dirty="0">
                    <a:latin typeface="Times New Roman" panose="02020603050405020304" pitchFamily="18" charset="0"/>
                    <a:ea typeface="宋体" panose="02010600030101010101" pitchFamily="2" charset="-122"/>
                    <a:cs typeface="Times New Roman" panose="02020603050405020304" pitchFamily="18" charset="0"/>
                  </a:rPr>
                  <a:t>问</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en-US" sz="1400" b="1" kern="100" dirty="0">
                    <a:latin typeface="Times New Roman" panose="02020603050405020304" pitchFamily="18" charset="0"/>
                    <a:ea typeface="宋体" panose="02010600030101010101" pitchFamily="2" charset="-122"/>
                    <a:cs typeface="Times New Roman" panose="02020603050405020304" pitchFamily="18" charset="0"/>
                  </a:rPr>
                  <a:t>是否为满同态？</a:t>
                </a:r>
                <a:endPar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400" b="1" kern="100" dirty="0">
                    <a:latin typeface="Times New Roman" panose="02020603050405020304" pitchFamily="18" charset="0"/>
                    <a:ea typeface="宋体" panose="02010600030101010101" pitchFamily="2" charset="-122"/>
                    <a:cs typeface="Times New Roman" panose="02020603050405020304" pitchFamily="18" charset="0"/>
                  </a:rPr>
                  <a:t>验证两个条件： </a:t>
                </a:r>
                <a:endPar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同态性</a:t>
                </a:r>
                <a:r>
                  <a:rPr lang="en-US"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需要验证对于所有</a:t>
                </a:r>
                <a:r>
                  <a:rPr lang="zh-CN" altLang="zh-CN" sz="1400" b="1" dirty="0">
                    <a:latin typeface="Times New Roman" panose="02020603050405020304" pitchFamily="18" charset="0"/>
                    <a:cs typeface="Times New Roman" panose="02020603050405020304" pitchFamily="18" charset="0"/>
                  </a:rPr>
                  <a:t>对于所有 </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zh-CN" altLang="zh-CN"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Z, </a:t>
                </a:r>
                <a:r>
                  <a:rPr lang="zh-CN" altLang="zh-CN" sz="1400" b="1" dirty="0">
                    <a:latin typeface="Times New Roman" panose="02020603050405020304" pitchFamily="18" charset="0"/>
                    <a:cs typeface="Times New Roman" panose="02020603050405020304" pitchFamily="18" charset="0"/>
                  </a:rPr>
                  <a:t>是否有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endPar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4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因</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)mod 3 ,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 </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 </a:t>
                </a:r>
                <a:r>
                  <a:rPr lang="en-US" altLang="zh-CN" sz="1400" b="1" dirty="0">
                    <a:latin typeface="Times New Roman" panose="02020603050405020304" pitchFamily="18" charset="0"/>
                    <a:cs typeface="Times New Roman" panose="02020603050405020304" pitchFamily="18" charset="0"/>
                  </a:rPr>
                  <a:t>mod 3 + </a:t>
                </a:r>
                <a:r>
                  <a:rPr lang="en-US" altLang="zh-CN" sz="1400" b="1" i="1" dirty="0">
                    <a:latin typeface="Times New Roman" panose="02020603050405020304" pitchFamily="18" charset="0"/>
                    <a:cs typeface="Times New Roman" panose="02020603050405020304" pitchFamily="18" charset="0"/>
                  </a:rPr>
                  <a:t>y </a:t>
                </a:r>
                <a:r>
                  <a:rPr lang="en-US" altLang="zh-CN" sz="1400" b="1" dirty="0">
                    <a:latin typeface="Times New Roman" panose="02020603050405020304" pitchFamily="18" charset="0"/>
                    <a:cs typeface="Times New Roman" panose="02020603050405020304" pitchFamily="18" charset="0"/>
                  </a:rPr>
                  <a:t>mod 3) mod 3 , </a:t>
                </a:r>
                <a:r>
                  <a:rPr lang="zh-CN" altLang="en-US" sz="1400" b="1" dirty="0">
                    <a:latin typeface="Times New Roman" panose="02020603050405020304" pitchFamily="18" charset="0"/>
                    <a:cs typeface="Times New Roman" panose="02020603050405020304" pitchFamily="18" charset="0"/>
                  </a:rPr>
                  <a:t>由模运算的分配性质</a:t>
                </a:r>
                <a:r>
                  <a:rPr lang="zh-CN" altLang="zh-CN" sz="1400" b="1" dirty="0">
                    <a:latin typeface="Times New Roman" panose="02020603050405020304" pitchFamily="18" charset="0"/>
                    <a:cs typeface="Times New Roman" panose="02020603050405020304" pitchFamily="18" charset="0"/>
                  </a:rPr>
                  <a:t>有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zh-CN" altLang="en-US" sz="1400" b="1" dirty="0">
                    <a:latin typeface="Times New Roman" panose="02020603050405020304" pitchFamily="18" charset="0"/>
                    <a:cs typeface="Times New Roman" panose="02020603050405020304" pitchFamily="18" charset="0"/>
                  </a:rPr>
                  <a:t>成立</a:t>
                </a:r>
                <a:r>
                  <a:rPr lang="en-US" altLang="zh-CN" sz="1400" b="1" dirty="0">
                    <a:latin typeface="Times New Roman" panose="02020603050405020304" pitchFamily="18" charset="0"/>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 x </a:t>
                </a:r>
                <a:r>
                  <a:rPr lang="en-US" altLang="zh-CN" sz="1400" b="1" dirty="0">
                    <a:latin typeface="Times New Roman" panose="02020603050405020304" pitchFamily="18" charset="0"/>
                    <a:cs typeface="Times New Roman" panose="02020603050405020304" pitchFamily="18" charset="0"/>
                  </a:rPr>
                  <a:t>mod 3</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满足</a:t>
                </a:r>
                <a:r>
                  <a:rPr lang="zh-CN"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性。</a:t>
                </a:r>
                <a:endPar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en-US"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满</a:t>
                </a:r>
                <a:r>
                  <a:rPr lang="zh-CN" altLang="zh-CN"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射性</a:t>
                </a:r>
                <a:r>
                  <a:rPr lang="en-US" altLang="zh-CN"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dirty="0">
                    <a:latin typeface="Times New Roman" panose="02020603050405020304" pitchFamily="18" charset="0"/>
                    <a:cs typeface="Times New Roman" panose="02020603050405020304" pitchFamily="18" charset="0"/>
                  </a:rPr>
                  <a:t>对于 </a:t>
                </a:r>
                <a:r>
                  <a:rPr lang="en-US" altLang="zh-CN" sz="1400" b="1" dirty="0">
                    <a:latin typeface="Times New Roman" panose="02020603050405020304" pitchFamily="18" charset="0"/>
                    <a:cs typeface="Times New Roman" panose="02020603050405020304" pitchFamily="18" charset="0"/>
                  </a:rPr>
                  <a:t>Z</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中的每个元素 </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是否存在</a:t>
                </a:r>
                <a:r>
                  <a:rPr lang="en-US" altLang="zh-CN" sz="1400" b="1" dirty="0">
                    <a:latin typeface="Times New Roman" panose="02020603050405020304" pitchFamily="18" charset="0"/>
                    <a:cs typeface="Times New Roman" panose="02020603050405020304" pitchFamily="18" charset="0"/>
                  </a:rPr>
                  <a:t>Z</a:t>
                </a:r>
                <a:r>
                  <a:rPr lang="zh-CN" altLang="zh-CN" sz="1400" b="1" dirty="0">
                    <a:latin typeface="Times New Roman" panose="02020603050405020304" pitchFamily="18" charset="0"/>
                    <a:cs typeface="Times New Roman" panose="02020603050405020304" pitchFamily="18" charset="0"/>
                  </a:rPr>
                  <a:t>中的某个元素</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使得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由于</a:t>
                </a:r>
                <a:r>
                  <a:rPr lang="en-US" altLang="zh-CN" sz="1400" b="1" dirty="0">
                    <a:latin typeface="Times New Roman" panose="02020603050405020304" pitchFamily="18" charset="0"/>
                    <a:cs typeface="Times New Roman" panose="02020603050405020304" pitchFamily="18" charset="0"/>
                  </a:rPr>
                  <a:t>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a:t>
                </a:r>
                <a:r>
                  <a:rPr lang="zh-CN" altLang="zh-CN" sz="1400" b="1" dirty="0">
                    <a:latin typeface="Times New Roman" panose="02020603050405020304" pitchFamily="18" charset="0"/>
                    <a:cs typeface="Times New Roman" panose="02020603050405020304" pitchFamily="18" charset="0"/>
                  </a:rPr>
                  <a:t>中的每个元素</a:t>
                </a:r>
                <a:r>
                  <a:rPr lang="en-US" altLang="zh-CN" sz="1400" b="1" dirty="0">
                    <a:latin typeface="Times New Roman" panose="02020603050405020304" pitchFamily="18" charset="0"/>
                    <a:cs typeface="Times New Roman" panose="02020603050405020304" pitchFamily="18" charset="0"/>
                  </a:rPr>
                  <a:t>(0, 1, 2)</a:t>
                </a:r>
                <a:r>
                  <a:rPr lang="zh-CN" altLang="zh-CN" sz="1400" b="1" dirty="0">
                    <a:latin typeface="Times New Roman" panose="02020603050405020304" pitchFamily="18" charset="0"/>
                    <a:cs typeface="Times New Roman" panose="02020603050405020304" pitchFamily="18" charset="0"/>
                  </a:rPr>
                  <a:t>都可以通过取模</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得到</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因此</a:t>
                </a:r>
                <a:r>
                  <a:rPr lang="zh-CN" altLang="zh-CN" sz="1400" b="1" i="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是满射</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即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是满同态。</a:t>
                </a:r>
              </a:p>
              <a:p>
                <a:pPr algn="just">
                  <a:lnSpc>
                    <a:spcPct val="110000"/>
                  </a:lnSpc>
                </a:pPr>
                <a:r>
                  <a:rPr lang="zh-CN" altLang="en-US" sz="1400" b="1" kern="1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结论：</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 x </a:t>
                </a:r>
                <a:r>
                  <a:rPr lang="en-US" altLang="zh-CN" sz="1400" b="1" dirty="0">
                    <a:latin typeface="Times New Roman" panose="02020603050405020304" pitchFamily="18" charset="0"/>
                    <a:cs typeface="Times New Roman" panose="02020603050405020304" pitchFamily="18" charset="0"/>
                  </a:rPr>
                  <a:t>mod 3</a:t>
                </a:r>
                <a:r>
                  <a:rPr lang="en-US" altLang="zh-CN" sz="14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400" b="1" i="0" dirty="0">
                    <a:solidFill>
                      <a:srgbClr val="0D0D0D"/>
                    </a:solidFill>
                    <a:effectLst/>
                    <a:latin typeface="Times New Roman" panose="02020603050405020304" pitchFamily="18" charset="0"/>
                    <a:cs typeface="Times New Roman" panose="02020603050405020304" pitchFamily="18" charset="0"/>
                  </a:rPr>
                  <a:t>同态，而且</a:t>
                </a:r>
                <a:r>
                  <a:rPr lang="zh-CN" altLang="en-US" sz="1400" b="1" i="0" dirty="0">
                    <a:solidFill>
                      <a:srgbClr val="FF0000"/>
                    </a:solidFill>
                    <a:effectLst/>
                    <a:latin typeface="Times New Roman" panose="02020603050405020304" pitchFamily="18" charset="0"/>
                    <a:cs typeface="Times New Roman" panose="02020603050405020304" pitchFamily="18" charset="0"/>
                  </a:rPr>
                  <a:t>是满同态</a:t>
                </a:r>
                <a:r>
                  <a:rPr lang="zh-CN" altLang="en-US" sz="1400" b="1" i="0" dirty="0">
                    <a:solidFill>
                      <a:srgbClr val="0D0D0D"/>
                    </a:solidFill>
                    <a:effectLst/>
                    <a:latin typeface="Times New Roman" panose="02020603050405020304" pitchFamily="18" charset="0"/>
                    <a:cs typeface="Times New Roman" panose="02020603050405020304" pitchFamily="18" charset="0"/>
                  </a:rPr>
                  <a:t>。</a:t>
                </a:r>
                <a:endParaRPr lang="en-US" altLang="zh-CN" sz="1400" b="1" i="0" dirty="0">
                  <a:solidFill>
                    <a:srgbClr val="0D0D0D"/>
                  </a:solidFill>
                  <a:effectLst/>
                  <a:latin typeface="Times New Roman" panose="02020603050405020304" pitchFamily="18" charset="0"/>
                  <a:cs typeface="Times New Roman" panose="02020603050405020304" pitchFamily="18" charset="0"/>
                </a:endParaRPr>
              </a:p>
              <a:p>
                <a:pPr algn="just">
                  <a:lnSpc>
                    <a:spcPct val="110000"/>
                  </a:lnSpc>
                </a:pPr>
                <a:endParaRPr lang="en-US" altLang="zh-CN" sz="1400" b="1" i="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just" defTabSz="914400" rtl="0" eaLnBrk="1" fontAlgn="auto" latinLnBrk="0" hangingPunct="1">
                  <a:lnSpc>
                    <a:spcPct val="110000"/>
                  </a:lnSpc>
                  <a:spcBef>
                    <a:spcPts val="0"/>
                  </a:spcBef>
                  <a:spcAft>
                    <a:spcPts val="0"/>
                  </a:spcAft>
                  <a:buClrTx/>
                  <a:buSzTx/>
                  <a:buFontTx/>
                  <a:buNone/>
                  <a:tabLst/>
                  <a:defRPr/>
                </a:pPr>
                <a:r>
                  <a:rPr lang="zh-CN" altLang="en-US" sz="2000" b="1" dirty="0">
                    <a:latin typeface="Times New Roman" panose="02020603050405020304" pitchFamily="18" charset="0"/>
                    <a:cs typeface="Times New Roman" panose="02020603050405020304" pitchFamily="18" charset="0"/>
                  </a:rPr>
                  <a:t>因</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和</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在</a:t>
                </a:r>
                <a:r>
                  <a:rPr lang="en-US" altLang="zh-CN" sz="2000" b="1" i="1" kern="100" dirty="0">
                    <a:latin typeface="Times New Roman" panose="02020603050405020304" pitchFamily="18" charset="0"/>
                    <a:cs typeface="Times New Roman" panose="02020603050405020304" pitchFamily="18" charset="0"/>
                  </a:rPr>
                  <a:t>f</a:t>
                </a:r>
                <a:r>
                  <a:rPr lang="en-US" altLang="zh-CN" sz="2000" b="1" kern="100" dirty="0">
                    <a:latin typeface="Times New Roman" panose="02020603050405020304" pitchFamily="18" charset="0"/>
                    <a:cs typeface="Times New Roman" panose="02020603050405020304" pitchFamily="18" charset="0"/>
                  </a:rPr>
                  <a:t>(</a:t>
                </a:r>
                <a:r>
                  <a:rPr lang="en-US" altLang="zh-CN" sz="2000" b="1" i="1" kern="100" dirty="0">
                    <a:latin typeface="Times New Roman" panose="02020603050405020304" pitchFamily="18" charset="0"/>
                    <a:cs typeface="Times New Roman" panose="02020603050405020304" pitchFamily="18" charset="0"/>
                  </a:rPr>
                  <a:t>x</a:t>
                </a:r>
                <a:r>
                  <a:rPr lang="en-US" altLang="zh-CN" sz="2000" b="1" kern="100" dirty="0">
                    <a:latin typeface="Times New Roman" panose="02020603050405020304" pitchFamily="18" charset="0"/>
                    <a:cs typeface="Times New Roman" panose="02020603050405020304" pitchFamily="18" charset="0"/>
                  </a:rPr>
                  <a:t>)=</a:t>
                </a:r>
                <a:r>
                  <a:rPr lang="en-US" altLang="zh-CN" sz="2000" b="1" i="1" dirty="0">
                    <a:latin typeface="Times New Roman" panose="02020603050405020304" pitchFamily="18" charset="0"/>
                    <a:cs typeface="Times New Roman" panose="02020603050405020304" pitchFamily="18" charset="0"/>
                  </a:rPr>
                  <a:t> x </a:t>
                </a:r>
                <a:r>
                  <a:rPr lang="en-US" altLang="zh-CN" sz="2000" b="1" dirty="0">
                    <a:latin typeface="Times New Roman" panose="02020603050405020304" pitchFamily="18" charset="0"/>
                    <a:cs typeface="Times New Roman" panose="02020603050405020304" pitchFamily="18" charset="0"/>
                  </a:rPr>
                  <a:t>mod 3</a:t>
                </a:r>
                <a:r>
                  <a:rPr lang="zh-CN" altLang="zh-CN" sz="2000" b="1" dirty="0">
                    <a:latin typeface="Times New Roman" panose="02020603050405020304" pitchFamily="18" charset="0"/>
                    <a:cs typeface="Times New Roman" panose="02020603050405020304" pitchFamily="18" charset="0"/>
                  </a:rPr>
                  <a:t>的余数相同并不意味着 </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和</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相同</a:t>
                </a:r>
                <a:r>
                  <a:rPr lang="en-US" altLang="zh-CN" sz="2000" b="1" dirty="0">
                    <a:latin typeface="Times New Roman" panose="02020603050405020304" pitchFamily="18" charset="0"/>
                    <a:cs typeface="Times New Roman" panose="02020603050405020304" pitchFamily="18" charset="0"/>
                  </a:rPr>
                  <a:t>, </a:t>
                </a:r>
                <a:r>
                  <a:rPr lang="zh-CN" altLang="zh-CN" sz="2000" b="1" dirty="0">
                    <a:latin typeface="Times New Roman" panose="02020603050405020304" pitchFamily="18" charset="0"/>
                    <a:cs typeface="Times New Roman" panose="02020603050405020304" pitchFamily="18" charset="0"/>
                  </a:rPr>
                  <a:t>因此</a:t>
                </a:r>
                <a:r>
                  <a:rPr lang="zh-CN" altLang="zh-CN" sz="2000" b="1" i="1" dirty="0">
                    <a:latin typeface="Times New Roman" panose="02020603050405020304" pitchFamily="18" charset="0"/>
                    <a:cs typeface="Times New Roman" panose="02020603050405020304" pitchFamily="18" charset="0"/>
                  </a:rPr>
                  <a:t> </a:t>
                </a:r>
                <a:r>
                  <a:rPr lang="en-US" altLang="zh-CN" sz="2000" b="1" i="1" dirty="0">
                    <a:latin typeface="Times New Roman" panose="02020603050405020304" pitchFamily="18" charset="0"/>
                    <a:cs typeface="Times New Roman" panose="02020603050405020304" pitchFamily="18" charset="0"/>
                  </a:rPr>
                  <a:t>f</a:t>
                </a:r>
                <a:r>
                  <a:rPr lang="en-US" altLang="zh-CN" sz="2000" b="1" dirty="0">
                    <a:latin typeface="Times New Roman" panose="02020603050405020304" pitchFamily="18" charset="0"/>
                    <a:cs typeface="Times New Roman" panose="02020603050405020304" pitchFamily="18" charset="0"/>
                  </a:rPr>
                  <a:t> </a:t>
                </a:r>
                <a:r>
                  <a:rPr lang="zh-CN" altLang="zh-CN" sz="2000" b="1" dirty="0">
                    <a:latin typeface="Times New Roman" panose="02020603050405020304" pitchFamily="18" charset="0"/>
                    <a:cs typeface="Times New Roman" panose="02020603050405020304" pitchFamily="18" charset="0"/>
                  </a:rPr>
                  <a:t>不是单射</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即 </a:t>
                </a:r>
                <a:r>
                  <a:rPr lang="en-US" altLang="zh-CN" sz="2000" b="1" i="1" dirty="0">
                    <a:latin typeface="Times New Roman" panose="02020603050405020304" pitchFamily="18" charset="0"/>
                    <a:cs typeface="Times New Roman" panose="02020603050405020304" pitchFamily="18" charset="0"/>
                  </a:rPr>
                  <a:t>f</a:t>
                </a:r>
                <a:r>
                  <a:rPr lang="en-US" altLang="zh-CN" sz="2000" b="1" dirty="0">
                    <a:latin typeface="Times New Roman" panose="02020603050405020304" pitchFamily="18" charset="0"/>
                    <a:cs typeface="Times New Roman" panose="02020603050405020304" pitchFamily="18" charset="0"/>
                  </a:rPr>
                  <a:t> </a:t>
                </a:r>
                <a:r>
                  <a:rPr lang="zh-CN" altLang="zh-CN" sz="2000" b="1" dirty="0">
                    <a:solidFill>
                      <a:srgbClr val="FF0000"/>
                    </a:solidFill>
                    <a:latin typeface="Times New Roman" panose="02020603050405020304" pitchFamily="18" charset="0"/>
                    <a:cs typeface="Times New Roman" panose="02020603050405020304" pitchFamily="18" charset="0"/>
                  </a:rPr>
                  <a:t>不是单同态</a:t>
                </a:r>
                <a:r>
                  <a:rPr lang="zh-CN" altLang="zh-CN" sz="2000" b="1" dirty="0">
                    <a:latin typeface="Times New Roman" panose="02020603050405020304" pitchFamily="18" charset="0"/>
                    <a:cs typeface="Times New Roman" panose="02020603050405020304" pitchFamily="18" charset="0"/>
                  </a:rPr>
                  <a:t>。</a:t>
                </a:r>
                <a:endParaRPr lang="en-US" altLang="zh-CN" sz="2000" b="1" kern="100" dirty="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endParaRPr lang="en-US" altLang="zh-CN" sz="1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47</a:t>
            </a:fld>
            <a:endParaRPr lang="zh-CN" altLang="en-US"/>
          </a:p>
        </p:txBody>
      </p:sp>
    </p:spTree>
    <p:extLst>
      <p:ext uri="{BB962C8B-B14F-4D97-AF65-F5344CB8AC3E}">
        <p14:creationId xmlns:p14="http://schemas.microsoft.com/office/powerpoint/2010/main" val="27386660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引入单同态、满同态、单自同态和满自同态等概念的目的是在代数系统之间建立一种</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更细致的结构关系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，从而更好地理解和分析代数系统的性质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b="0" i="0" dirty="0">
                    <a:solidFill>
                      <a:srgbClr val="0D0D0D"/>
                    </a:solidFill>
                    <a:effectLst/>
                    <a:latin typeface="Söhne"/>
                  </a:rPr>
                  <a:t>代数系统 </a:t>
                </a:r>
                <a:r>
                  <a:rPr lang="en-US" altLang="zh-CN" b="0" i="1" dirty="0">
                    <a:solidFill>
                      <a:srgbClr val="0D0D0D"/>
                    </a:solidFill>
                    <a:effectLst/>
                    <a:latin typeface="KaTeX_Math"/>
                  </a:rPr>
                  <a:t>V</a:t>
                </a:r>
                <a:r>
                  <a:rPr lang="en-US" altLang="zh-CN" b="0" i="0" dirty="0">
                    <a:solidFill>
                      <a:srgbClr val="0D0D0D"/>
                    </a:solidFill>
                    <a:effectLst/>
                    <a:latin typeface="KaTeX_Main"/>
                  </a:rPr>
                  <a:t>1​</a:t>
                </a:r>
                <a:r>
                  <a:rPr lang="zh-CN" altLang="en-US" b="0" i="0" dirty="0">
                    <a:solidFill>
                      <a:srgbClr val="0D0D0D"/>
                    </a:solidFill>
                    <a:effectLst/>
                    <a:latin typeface="Söhne"/>
                  </a:rPr>
                  <a:t> 通过一个同态映射 </a:t>
                </a:r>
                <a:r>
                  <a:rPr lang="en-US" altLang="zh-CN" b="0" i="1" dirty="0">
                    <a:solidFill>
                      <a:srgbClr val="0D0D0D"/>
                    </a:solidFill>
                    <a:effectLst/>
                    <a:latin typeface="KaTeX_Math"/>
                  </a:rPr>
                  <a:t>f</a:t>
                </a:r>
                <a:r>
                  <a:rPr lang="zh-CN" altLang="en-US" b="0" i="0" dirty="0">
                    <a:solidFill>
                      <a:srgbClr val="0D0D0D"/>
                    </a:solidFill>
                    <a:effectLst/>
                    <a:latin typeface="Söhne"/>
                  </a:rPr>
                  <a:t> 到达另一个代数系统 </a:t>
                </a:r>
                <a:r>
                  <a:rPr lang="en-US" altLang="zh-CN" b="0" i="1" dirty="0">
                    <a:solidFill>
                      <a:srgbClr val="0D0D0D"/>
                    </a:solidFill>
                    <a:effectLst/>
                    <a:latin typeface="KaTeX_Math"/>
                  </a:rPr>
                  <a:t>V</a:t>
                </a:r>
                <a:r>
                  <a:rPr lang="en-US" altLang="zh-CN" b="0" i="0" dirty="0">
                    <a:solidFill>
                      <a:srgbClr val="0D0D0D"/>
                    </a:solidFill>
                    <a:effectLst/>
                    <a:latin typeface="KaTeX_Main"/>
                  </a:rPr>
                  <a:t>2​</a:t>
                </a:r>
                <a:r>
                  <a:rPr lang="zh-CN" altLang="en-US" b="0" i="0" dirty="0">
                    <a:solidFill>
                      <a:srgbClr val="0D0D0D"/>
                    </a:solidFill>
                    <a:effectLst/>
                    <a:latin typeface="Söhne"/>
                  </a:rPr>
                  <a:t> 的过程，所得的同态像是 </a:t>
                </a:r>
                <a:r>
                  <a:rPr lang="en-US" altLang="zh-CN" b="0" i="1" dirty="0">
                    <a:solidFill>
                      <a:srgbClr val="0D0D0D"/>
                    </a:solidFill>
                    <a:effectLst/>
                    <a:latin typeface="KaTeX_Math"/>
                  </a:rPr>
                  <a:t>f</a:t>
                </a:r>
                <a:r>
                  <a:rPr lang="zh-CN" altLang="en-US" b="0" i="0" dirty="0">
                    <a:solidFill>
                      <a:srgbClr val="0D0D0D"/>
                    </a:solidFill>
                    <a:effectLst/>
                    <a:latin typeface="Söhne"/>
                  </a:rPr>
                  <a:t> 将 </a:t>
                </a:r>
                <a:r>
                  <a:rPr lang="en-US" altLang="zh-CN" b="0" i="1" dirty="0">
                    <a:solidFill>
                      <a:srgbClr val="0D0D0D"/>
                    </a:solidFill>
                    <a:effectLst/>
                    <a:latin typeface="KaTeX_Math"/>
                  </a:rPr>
                  <a:t>V</a:t>
                </a:r>
                <a:r>
                  <a:rPr lang="en-US" altLang="zh-CN" b="0" i="0" dirty="0">
                    <a:solidFill>
                      <a:srgbClr val="0D0D0D"/>
                    </a:solidFill>
                    <a:effectLst/>
                    <a:latin typeface="KaTeX_Main"/>
                  </a:rPr>
                  <a:t>1​</a:t>
                </a:r>
                <a:r>
                  <a:rPr lang="zh-CN" altLang="en-US" b="0" i="0" dirty="0">
                    <a:solidFill>
                      <a:srgbClr val="0D0D0D"/>
                    </a:solidFill>
                    <a:effectLst/>
                    <a:latin typeface="Söhne"/>
                  </a:rPr>
                  <a:t> 中的元素映射到 </a:t>
                </a:r>
                <a:r>
                  <a:rPr lang="en-US" altLang="zh-CN" b="0" i="1" dirty="0">
                    <a:solidFill>
                      <a:srgbClr val="0D0D0D"/>
                    </a:solidFill>
                    <a:effectLst/>
                    <a:latin typeface="KaTeX_Math"/>
                  </a:rPr>
                  <a:t>V</a:t>
                </a:r>
                <a:r>
                  <a:rPr lang="en-US" altLang="zh-CN" b="0" i="0" dirty="0">
                    <a:solidFill>
                      <a:srgbClr val="0D0D0D"/>
                    </a:solidFill>
                    <a:effectLst/>
                    <a:latin typeface="KaTeX_Main"/>
                  </a:rPr>
                  <a:t>2​</a:t>
                </a:r>
                <a:r>
                  <a:rPr lang="zh-CN" altLang="en-US" b="0" i="0" dirty="0">
                    <a:solidFill>
                      <a:srgbClr val="0D0D0D"/>
                    </a:solidFill>
                    <a:effectLst/>
                    <a:latin typeface="Söhne"/>
                  </a:rPr>
                  <a:t> 中所得到的集合。</a:t>
                </a:r>
                <a:endParaRPr lang="en-US" altLang="zh-CN" b="0" i="0" dirty="0">
                  <a:solidFill>
                    <a:srgbClr val="0D0D0D"/>
                  </a:solidFill>
                  <a:effectLst/>
                  <a:latin typeface="Söhne"/>
                </a:endParaRPr>
              </a:p>
              <a:p>
                <a:endParaRPr lang="en-US" altLang="zh-CN" b="0" i="0" dirty="0">
                  <a:solidFill>
                    <a:srgbClr val="0D0D0D"/>
                  </a:solidFill>
                  <a:effectLst/>
                  <a:latin typeface="Söhne"/>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的同态，</a:t>
                </a: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rPr>
                  <a:t>如果</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rPr>
                  <a:t>是满射，则称</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rPr>
                  <a:t>为</a:t>
                </a:r>
                <a:r>
                  <a:rPr lang="zh-CN" altLang="en-US" sz="1200" b="1" dirty="0">
                    <a:solidFill>
                      <a:srgbClr val="FF0000"/>
                    </a:solidFill>
                    <a:latin typeface="Times New Roman" panose="02020603050405020304" pitchFamily="18" charset="0"/>
                    <a:ea typeface="宋体" panose="02010600030101010101" pitchFamily="2" charset="-122"/>
                  </a:rPr>
                  <a:t>满同态，</a:t>
                </a:r>
                <a:r>
                  <a:rPr lang="zh-CN" altLang="en-US" sz="1200" b="1" dirty="0">
                    <a:latin typeface="Times New Roman" panose="02020603050405020304" pitchFamily="18" charset="0"/>
                  </a:rPr>
                  <a:t>这时称</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2</a:t>
                </a:r>
                <a:r>
                  <a:rPr lang="zh-CN" altLang="en-US" sz="1200" b="1" dirty="0">
                    <a:latin typeface="Times New Roman" panose="02020603050405020304" pitchFamily="18" charset="0"/>
                  </a:rPr>
                  <a:t>是</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a:t>
                </a:r>
                <a:r>
                  <a:rPr lang="zh-CN" altLang="en-US" sz="1200" b="1" dirty="0">
                    <a:latin typeface="Times New Roman" panose="02020603050405020304" pitchFamily="18" charset="0"/>
                  </a:rPr>
                  <a:t>的</a:t>
                </a:r>
                <a:r>
                  <a:rPr lang="zh-CN" altLang="en-US" sz="1200" b="1" dirty="0">
                    <a:solidFill>
                      <a:srgbClr val="FF0000"/>
                    </a:solidFill>
                    <a:latin typeface="Times New Roman" panose="02020603050405020304" pitchFamily="18" charset="0"/>
                  </a:rPr>
                  <a:t>同态像</a:t>
                </a:r>
                <a:r>
                  <a:rPr lang="zh-CN" altLang="en-US" sz="1200" b="1" dirty="0">
                    <a:latin typeface="Times New Roman" panose="02020603050405020304" pitchFamily="18" charset="0"/>
                  </a:rPr>
                  <a:t>，记作 </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 </a:t>
                </a:r>
                <a14:m>
                  <m:oMath xmlns:m="http://schemas.openxmlformats.org/officeDocument/2006/math">
                    <m:r>
                      <a:rPr lang="en-US" altLang="zh-CN" sz="1200" b="1" i="1" dirty="0" smtClean="0">
                        <a:latin typeface="Cambria Math" panose="02040503050406030204" pitchFamily="18" charset="0"/>
                        <a:sym typeface="Symbol" panose="05050102010706020507" pitchFamily="18" charset="2"/>
                      </a:rPr>
                      <m:t></m:t>
                    </m:r>
                  </m:oMath>
                </a14:m>
                <a:r>
                  <a:rPr lang="en-US" altLang="zh-CN" sz="1200" b="1" i="1" dirty="0">
                    <a:latin typeface="Times New Roman" panose="02020603050405020304" pitchFamily="18" charset="0"/>
                  </a:rPr>
                  <a:t> V</a:t>
                </a:r>
                <a:r>
                  <a:rPr lang="en-US" altLang="zh-CN" sz="1200" b="1" baseline="-25000" dirty="0">
                    <a:latin typeface="Times New Roman" panose="02020603050405020304" pitchFamily="18" charset="0"/>
                  </a:rPr>
                  <a:t>2</a:t>
                </a:r>
                <a:r>
                  <a:rPr lang="zh-CN" altLang="en-US" sz="1200" b="1" dirty="0">
                    <a:latin typeface="Times New Roman" panose="02020603050405020304" pitchFamily="18" charset="0"/>
                  </a:rPr>
                  <a:t>；                                 </a:t>
                </a:r>
                <a:endParaRPr lang="en-US" altLang="zh-CN" sz="1200" b="1" dirty="0">
                  <a:latin typeface="Times New Roman" panose="02020603050405020304" pitchFamily="18" charset="0"/>
                  <a:ea typeface="宋体" panose="02010600030101010101" pitchFamily="2" charset="-122"/>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注：</a:t>
                </a:r>
                <a:r>
                  <a:rPr lang="zh-CN" altLang="zh-CN" sz="1400" b="1" kern="100" dirty="0">
                    <a:solidFill>
                      <a:srgbClr val="00B0F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i="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f</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是满射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或满映射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意味着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f</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是覆盖的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即</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对于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S</a:t>
                </a:r>
                <a:r>
                  <a:rPr lang="en-US" altLang="zh-CN" b="1"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中的每个元素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y</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，都存在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S</a:t>
                </a:r>
                <a:r>
                  <a:rPr lang="en-US" altLang="zh-CN" b="1"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中的某个元素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，使得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f</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x</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y</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10000"/>
                  </a:lnSpc>
                </a:pPr>
                <a:r>
                  <a:rPr lang="zh-CN" altLang="en-US" sz="1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zh-CN" altLang="en-US" sz="1400" b="1" dirty="0">
                    <a:latin typeface="Times New Roman" panose="02020603050405020304" pitchFamily="18" charset="0"/>
                    <a:ea typeface="宋体" panose="02010600030101010101" pitchFamily="2" charset="-122"/>
                    <a:cs typeface="Times New Roman" panose="02020603050405020304" pitchFamily="18" charset="0"/>
                  </a:rPr>
                  <a:t>设</a:t>
                </a:r>
                <a:r>
                  <a:rPr lang="en-US" altLang="zh-CN" sz="1400" b="1" i="1"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1400" b="1" baseline="-250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a:latin typeface="Times New Roman" panose="02020603050405020304" pitchFamily="18" charset="0"/>
                    <a:cs typeface="Times New Roman" panose="02020603050405020304" pitchFamily="18" charset="0"/>
                  </a:rPr>
                  <a:t>⟨Z,+⟩</a:t>
                </a:r>
                <a:r>
                  <a:rPr lang="en-US" altLang="zh-CN"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V</a:t>
                </a:r>
                <a:r>
                  <a:rPr lang="en-US" altLang="zh-CN" sz="1400" b="1" baseline="-25000" dirty="0">
                    <a:latin typeface="Times New Roman" panose="02020603050405020304" pitchFamily="18" charset="0"/>
                    <a:cs typeface="Times New Roman" panose="02020603050405020304" pitchFamily="18" charset="0"/>
                  </a:rPr>
                  <a:t>2</a:t>
                </a:r>
                <a:r>
                  <a:rPr lang="en-US" altLang="zh-CN" sz="1400" b="1" dirty="0">
                    <a:latin typeface="Times New Roman" panose="02020603050405020304" pitchFamily="18" charset="0"/>
                    <a:cs typeface="Times New Roman" panose="02020603050405020304" pitchFamily="18" charset="0"/>
                  </a:rPr>
                  <a:t>​=⟨Z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整数模 </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的集合及其模 </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加法</a:t>
                </a:r>
                <a:r>
                  <a:rPr lang="en-US" altLang="zh-CN" sz="1400" b="1" dirty="0">
                    <a:latin typeface="Times New Roman" panose="02020603050405020304" pitchFamily="18" charset="0"/>
                    <a:cs typeface="Times New Roman" panose="02020603050405020304" pitchFamily="18" charset="0"/>
                  </a:rPr>
                  <a:t>)</a:t>
                </a:r>
                <a:r>
                  <a:rPr lang="en-US" altLang="zh-CN"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定义映射 </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 Z </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 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t> </a:t>
                </a:r>
                <a:r>
                  <a:rPr lang="en-US" altLang="zh-CN" sz="1400" b="1" i="1" dirty="0">
                    <a:latin typeface="Times New Roman" panose="02020603050405020304" pitchFamily="18" charset="0"/>
                    <a:cs typeface="Times New Roman" panose="02020603050405020304" pitchFamily="18" charset="0"/>
                  </a:rPr>
                  <a:t>x </a:t>
                </a:r>
                <a:r>
                  <a:rPr lang="en-US" altLang="zh-CN" sz="1400" b="1" dirty="0">
                    <a:latin typeface="Times New Roman" panose="02020603050405020304" pitchFamily="18" charset="0"/>
                    <a:cs typeface="Times New Roman" panose="02020603050405020304" pitchFamily="18" charset="0"/>
                  </a:rPr>
                  <a:t>mod 3</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400" b="1" kern="100" dirty="0">
                    <a:latin typeface="Times New Roman" panose="02020603050405020304" pitchFamily="18" charset="0"/>
                    <a:ea typeface="宋体" panose="02010600030101010101" pitchFamily="2" charset="-122"/>
                    <a:cs typeface="Times New Roman" panose="02020603050405020304" pitchFamily="18" charset="0"/>
                  </a:rPr>
                  <a:t>问</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en-US" sz="1400" b="1" kern="100" dirty="0">
                    <a:latin typeface="Times New Roman" panose="02020603050405020304" pitchFamily="18" charset="0"/>
                    <a:ea typeface="宋体" panose="02010600030101010101" pitchFamily="2" charset="-122"/>
                    <a:cs typeface="Times New Roman" panose="02020603050405020304" pitchFamily="18" charset="0"/>
                  </a:rPr>
                  <a:t>是否为满同态？</a:t>
                </a:r>
                <a:endPar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400" b="1" kern="100" dirty="0">
                    <a:latin typeface="Times New Roman" panose="02020603050405020304" pitchFamily="18" charset="0"/>
                    <a:ea typeface="宋体" panose="02010600030101010101" pitchFamily="2" charset="-122"/>
                    <a:cs typeface="Times New Roman" panose="02020603050405020304" pitchFamily="18" charset="0"/>
                  </a:rPr>
                  <a:t>验证两个条件： </a:t>
                </a:r>
                <a:endPar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同态性</a:t>
                </a:r>
                <a:r>
                  <a:rPr lang="en-US"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需要验证对于所有</a:t>
                </a:r>
                <a:r>
                  <a:rPr lang="zh-CN" altLang="zh-CN" sz="1400" b="1" dirty="0">
                    <a:latin typeface="Times New Roman" panose="02020603050405020304" pitchFamily="18" charset="0"/>
                    <a:cs typeface="Times New Roman" panose="02020603050405020304" pitchFamily="18" charset="0"/>
                  </a:rPr>
                  <a:t>对于所有 </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zh-CN" altLang="zh-CN"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Z, </a:t>
                </a:r>
                <a:r>
                  <a:rPr lang="zh-CN" altLang="zh-CN" sz="1400" b="1" dirty="0">
                    <a:latin typeface="Times New Roman" panose="02020603050405020304" pitchFamily="18" charset="0"/>
                    <a:cs typeface="Times New Roman" panose="02020603050405020304" pitchFamily="18" charset="0"/>
                  </a:rPr>
                  <a:t>是否有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endPar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4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因</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)mod 3 ,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 </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 </a:t>
                </a:r>
                <a:r>
                  <a:rPr lang="en-US" altLang="zh-CN" sz="1400" b="1" dirty="0">
                    <a:latin typeface="Times New Roman" panose="02020603050405020304" pitchFamily="18" charset="0"/>
                    <a:cs typeface="Times New Roman" panose="02020603050405020304" pitchFamily="18" charset="0"/>
                  </a:rPr>
                  <a:t>mod 3 + </a:t>
                </a:r>
                <a:r>
                  <a:rPr lang="en-US" altLang="zh-CN" sz="1400" b="1" i="1" dirty="0">
                    <a:latin typeface="Times New Roman" panose="02020603050405020304" pitchFamily="18" charset="0"/>
                    <a:cs typeface="Times New Roman" panose="02020603050405020304" pitchFamily="18" charset="0"/>
                  </a:rPr>
                  <a:t>y </a:t>
                </a:r>
                <a:r>
                  <a:rPr lang="en-US" altLang="zh-CN" sz="1400" b="1" dirty="0">
                    <a:latin typeface="Times New Roman" panose="02020603050405020304" pitchFamily="18" charset="0"/>
                    <a:cs typeface="Times New Roman" panose="02020603050405020304" pitchFamily="18" charset="0"/>
                  </a:rPr>
                  <a:t>mod 3) mod 3 , </a:t>
                </a:r>
                <a:r>
                  <a:rPr lang="zh-CN" altLang="en-US" sz="1400" b="1" dirty="0">
                    <a:latin typeface="Times New Roman" panose="02020603050405020304" pitchFamily="18" charset="0"/>
                    <a:cs typeface="Times New Roman" panose="02020603050405020304" pitchFamily="18" charset="0"/>
                  </a:rPr>
                  <a:t>由模运算的分配性质</a:t>
                </a:r>
                <a:r>
                  <a:rPr lang="zh-CN" altLang="zh-CN" sz="1400" b="1" dirty="0">
                    <a:latin typeface="Times New Roman" panose="02020603050405020304" pitchFamily="18" charset="0"/>
                    <a:cs typeface="Times New Roman" panose="02020603050405020304" pitchFamily="18" charset="0"/>
                  </a:rPr>
                  <a:t>有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zh-CN" altLang="en-US" sz="1400" b="1" dirty="0">
                    <a:latin typeface="Times New Roman" panose="02020603050405020304" pitchFamily="18" charset="0"/>
                    <a:cs typeface="Times New Roman" panose="02020603050405020304" pitchFamily="18" charset="0"/>
                  </a:rPr>
                  <a:t>成立</a:t>
                </a:r>
                <a:r>
                  <a:rPr lang="en-US" altLang="zh-CN" sz="1400" b="1" dirty="0">
                    <a:latin typeface="Times New Roman" panose="02020603050405020304" pitchFamily="18" charset="0"/>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 x </a:t>
                </a:r>
                <a:r>
                  <a:rPr lang="en-US" altLang="zh-CN" sz="1400" b="1" dirty="0">
                    <a:latin typeface="Times New Roman" panose="02020603050405020304" pitchFamily="18" charset="0"/>
                    <a:cs typeface="Times New Roman" panose="02020603050405020304" pitchFamily="18" charset="0"/>
                  </a:rPr>
                  <a:t>mod 3</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满足</a:t>
                </a:r>
                <a:r>
                  <a:rPr lang="zh-CN"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性。</a:t>
                </a:r>
                <a:endPar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en-US"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满</a:t>
                </a:r>
                <a:r>
                  <a:rPr lang="zh-CN" altLang="zh-CN"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射性</a:t>
                </a:r>
                <a:r>
                  <a:rPr lang="en-US" altLang="zh-CN"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dirty="0">
                    <a:latin typeface="Times New Roman" panose="02020603050405020304" pitchFamily="18" charset="0"/>
                    <a:cs typeface="Times New Roman" panose="02020603050405020304" pitchFamily="18" charset="0"/>
                  </a:rPr>
                  <a:t>对于 </a:t>
                </a:r>
                <a:r>
                  <a:rPr lang="en-US" altLang="zh-CN" sz="1400" b="1" dirty="0">
                    <a:latin typeface="Times New Roman" panose="02020603050405020304" pitchFamily="18" charset="0"/>
                    <a:cs typeface="Times New Roman" panose="02020603050405020304" pitchFamily="18" charset="0"/>
                  </a:rPr>
                  <a:t>Z</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中的每个元素 </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是否存在</a:t>
                </a:r>
                <a:r>
                  <a:rPr lang="en-US" altLang="zh-CN" sz="1400" b="1" dirty="0">
                    <a:latin typeface="Times New Roman" panose="02020603050405020304" pitchFamily="18" charset="0"/>
                    <a:cs typeface="Times New Roman" panose="02020603050405020304" pitchFamily="18" charset="0"/>
                  </a:rPr>
                  <a:t>Z</a:t>
                </a:r>
                <a:r>
                  <a:rPr lang="zh-CN" altLang="zh-CN" sz="1400" b="1" dirty="0">
                    <a:latin typeface="Times New Roman" panose="02020603050405020304" pitchFamily="18" charset="0"/>
                    <a:cs typeface="Times New Roman" panose="02020603050405020304" pitchFamily="18" charset="0"/>
                  </a:rPr>
                  <a:t>中的某个元素</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使得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由于</a:t>
                </a:r>
                <a:r>
                  <a:rPr lang="en-US" altLang="zh-CN" sz="1400" b="1" dirty="0">
                    <a:latin typeface="Times New Roman" panose="02020603050405020304" pitchFamily="18" charset="0"/>
                    <a:cs typeface="Times New Roman" panose="02020603050405020304" pitchFamily="18" charset="0"/>
                  </a:rPr>
                  <a:t>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a:t>
                </a:r>
                <a:r>
                  <a:rPr lang="zh-CN" altLang="zh-CN" sz="1400" b="1" dirty="0">
                    <a:latin typeface="Times New Roman" panose="02020603050405020304" pitchFamily="18" charset="0"/>
                    <a:cs typeface="Times New Roman" panose="02020603050405020304" pitchFamily="18" charset="0"/>
                  </a:rPr>
                  <a:t>中的每个元素</a:t>
                </a:r>
                <a:r>
                  <a:rPr lang="en-US" altLang="zh-CN" sz="1400" b="1" dirty="0">
                    <a:latin typeface="Times New Roman" panose="02020603050405020304" pitchFamily="18" charset="0"/>
                    <a:cs typeface="Times New Roman" panose="02020603050405020304" pitchFamily="18" charset="0"/>
                  </a:rPr>
                  <a:t>(0, 1, 2)</a:t>
                </a:r>
                <a:r>
                  <a:rPr lang="zh-CN" altLang="zh-CN" sz="1400" b="1" dirty="0">
                    <a:latin typeface="Times New Roman" panose="02020603050405020304" pitchFamily="18" charset="0"/>
                    <a:cs typeface="Times New Roman" panose="02020603050405020304" pitchFamily="18" charset="0"/>
                  </a:rPr>
                  <a:t>都可以通过取模</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得到</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因此</a:t>
                </a:r>
                <a:r>
                  <a:rPr lang="zh-CN" altLang="zh-CN" sz="1400" b="1" i="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是满射</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即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是满同态。</a:t>
                </a:r>
              </a:p>
              <a:p>
                <a:pPr algn="just">
                  <a:lnSpc>
                    <a:spcPct val="110000"/>
                  </a:lnSpc>
                </a:pPr>
                <a:r>
                  <a:rPr lang="zh-CN" altLang="en-US" sz="1400" b="1" kern="1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结论：</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 x </a:t>
                </a:r>
                <a:r>
                  <a:rPr lang="en-US" altLang="zh-CN" sz="1400" b="1" dirty="0">
                    <a:latin typeface="Times New Roman" panose="02020603050405020304" pitchFamily="18" charset="0"/>
                    <a:cs typeface="Times New Roman" panose="02020603050405020304" pitchFamily="18" charset="0"/>
                  </a:rPr>
                  <a:t>mod 3</a:t>
                </a:r>
                <a:r>
                  <a:rPr lang="en-US" altLang="zh-CN" sz="14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400" b="1" i="0" dirty="0">
                    <a:solidFill>
                      <a:srgbClr val="0D0D0D"/>
                    </a:solidFill>
                    <a:effectLst/>
                    <a:latin typeface="Times New Roman" panose="02020603050405020304" pitchFamily="18" charset="0"/>
                    <a:cs typeface="Times New Roman" panose="02020603050405020304" pitchFamily="18" charset="0"/>
                  </a:rPr>
                  <a:t>同态，而且</a:t>
                </a:r>
                <a:r>
                  <a:rPr lang="zh-CN" altLang="en-US" sz="1400" b="1" i="0" dirty="0">
                    <a:solidFill>
                      <a:srgbClr val="FF0000"/>
                    </a:solidFill>
                    <a:effectLst/>
                    <a:latin typeface="Times New Roman" panose="02020603050405020304" pitchFamily="18" charset="0"/>
                    <a:cs typeface="Times New Roman" panose="02020603050405020304" pitchFamily="18" charset="0"/>
                  </a:rPr>
                  <a:t>是满同态</a:t>
                </a:r>
                <a:r>
                  <a:rPr lang="zh-CN" altLang="en-US" sz="1400" b="1" i="0" dirty="0">
                    <a:solidFill>
                      <a:srgbClr val="0D0D0D"/>
                    </a:solidFill>
                    <a:effectLst/>
                    <a:latin typeface="Times New Roman" panose="02020603050405020304" pitchFamily="18" charset="0"/>
                    <a:cs typeface="Times New Roman" panose="02020603050405020304" pitchFamily="18" charset="0"/>
                  </a:rPr>
                  <a:t>。</a:t>
                </a:r>
                <a:endParaRPr lang="en-US" altLang="zh-CN" sz="1400" b="1" i="0" dirty="0">
                  <a:solidFill>
                    <a:srgbClr val="0D0D0D"/>
                  </a:solidFill>
                  <a:effectLst/>
                  <a:latin typeface="Times New Roman" panose="02020603050405020304" pitchFamily="18" charset="0"/>
                  <a:cs typeface="Times New Roman" panose="02020603050405020304" pitchFamily="18" charset="0"/>
                </a:endParaRPr>
              </a:p>
              <a:p>
                <a:pPr algn="just">
                  <a:lnSpc>
                    <a:spcPct val="110000"/>
                  </a:lnSpc>
                </a:pPr>
                <a:endParaRPr lang="en-US" altLang="zh-CN" sz="1400" b="1" i="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just" defTabSz="914400" rtl="0" eaLnBrk="1" fontAlgn="auto" latinLnBrk="0" hangingPunct="1">
                  <a:lnSpc>
                    <a:spcPct val="110000"/>
                  </a:lnSpc>
                  <a:spcBef>
                    <a:spcPts val="0"/>
                  </a:spcBef>
                  <a:spcAft>
                    <a:spcPts val="0"/>
                  </a:spcAft>
                  <a:buClrTx/>
                  <a:buSzTx/>
                  <a:buFontTx/>
                  <a:buNone/>
                  <a:tabLst/>
                  <a:defRPr/>
                </a:pPr>
                <a:r>
                  <a:rPr lang="zh-CN" altLang="en-US" sz="2000" b="1" dirty="0">
                    <a:latin typeface="Times New Roman" panose="02020603050405020304" pitchFamily="18" charset="0"/>
                    <a:cs typeface="Times New Roman" panose="02020603050405020304" pitchFamily="18" charset="0"/>
                  </a:rPr>
                  <a:t>因</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和</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在</a:t>
                </a:r>
                <a:r>
                  <a:rPr lang="en-US" altLang="zh-CN" sz="2000" b="1" i="1" kern="100" dirty="0">
                    <a:latin typeface="Times New Roman" panose="02020603050405020304" pitchFamily="18" charset="0"/>
                    <a:cs typeface="Times New Roman" panose="02020603050405020304" pitchFamily="18" charset="0"/>
                  </a:rPr>
                  <a:t>f</a:t>
                </a:r>
                <a:r>
                  <a:rPr lang="en-US" altLang="zh-CN" sz="2000" b="1" kern="100" dirty="0">
                    <a:latin typeface="Times New Roman" panose="02020603050405020304" pitchFamily="18" charset="0"/>
                    <a:cs typeface="Times New Roman" panose="02020603050405020304" pitchFamily="18" charset="0"/>
                  </a:rPr>
                  <a:t>(</a:t>
                </a:r>
                <a:r>
                  <a:rPr lang="en-US" altLang="zh-CN" sz="2000" b="1" i="1" kern="100" dirty="0">
                    <a:latin typeface="Times New Roman" panose="02020603050405020304" pitchFamily="18" charset="0"/>
                    <a:cs typeface="Times New Roman" panose="02020603050405020304" pitchFamily="18" charset="0"/>
                  </a:rPr>
                  <a:t>x</a:t>
                </a:r>
                <a:r>
                  <a:rPr lang="en-US" altLang="zh-CN" sz="2000" b="1" kern="100" dirty="0">
                    <a:latin typeface="Times New Roman" panose="02020603050405020304" pitchFamily="18" charset="0"/>
                    <a:cs typeface="Times New Roman" panose="02020603050405020304" pitchFamily="18" charset="0"/>
                  </a:rPr>
                  <a:t>)=</a:t>
                </a:r>
                <a:r>
                  <a:rPr lang="en-US" altLang="zh-CN" sz="2000" b="1" i="1" dirty="0">
                    <a:latin typeface="Times New Roman" panose="02020603050405020304" pitchFamily="18" charset="0"/>
                    <a:cs typeface="Times New Roman" panose="02020603050405020304" pitchFamily="18" charset="0"/>
                  </a:rPr>
                  <a:t> x </a:t>
                </a:r>
                <a:r>
                  <a:rPr lang="en-US" altLang="zh-CN" sz="2000" b="1" dirty="0">
                    <a:latin typeface="Times New Roman" panose="02020603050405020304" pitchFamily="18" charset="0"/>
                    <a:cs typeface="Times New Roman" panose="02020603050405020304" pitchFamily="18" charset="0"/>
                  </a:rPr>
                  <a:t>mod 3</a:t>
                </a:r>
                <a:r>
                  <a:rPr lang="zh-CN" altLang="zh-CN" sz="2000" b="1" dirty="0">
                    <a:latin typeface="Times New Roman" panose="02020603050405020304" pitchFamily="18" charset="0"/>
                    <a:cs typeface="Times New Roman" panose="02020603050405020304" pitchFamily="18" charset="0"/>
                  </a:rPr>
                  <a:t>的余数相同并不意味着 </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和</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相同</a:t>
                </a:r>
                <a:r>
                  <a:rPr lang="en-US" altLang="zh-CN" sz="2000" b="1" dirty="0">
                    <a:latin typeface="Times New Roman" panose="02020603050405020304" pitchFamily="18" charset="0"/>
                    <a:cs typeface="Times New Roman" panose="02020603050405020304" pitchFamily="18" charset="0"/>
                  </a:rPr>
                  <a:t>, </a:t>
                </a:r>
                <a:r>
                  <a:rPr lang="zh-CN" altLang="zh-CN" sz="2000" b="1" dirty="0">
                    <a:latin typeface="Times New Roman" panose="02020603050405020304" pitchFamily="18" charset="0"/>
                    <a:cs typeface="Times New Roman" panose="02020603050405020304" pitchFamily="18" charset="0"/>
                  </a:rPr>
                  <a:t>因此</a:t>
                </a:r>
                <a:r>
                  <a:rPr lang="zh-CN" altLang="zh-CN" sz="2000" b="1" i="1" dirty="0">
                    <a:latin typeface="Times New Roman" panose="02020603050405020304" pitchFamily="18" charset="0"/>
                    <a:cs typeface="Times New Roman" panose="02020603050405020304" pitchFamily="18" charset="0"/>
                  </a:rPr>
                  <a:t> </a:t>
                </a:r>
                <a:r>
                  <a:rPr lang="en-US" altLang="zh-CN" sz="2000" b="1" i="1" dirty="0">
                    <a:latin typeface="Times New Roman" panose="02020603050405020304" pitchFamily="18" charset="0"/>
                    <a:cs typeface="Times New Roman" panose="02020603050405020304" pitchFamily="18" charset="0"/>
                  </a:rPr>
                  <a:t>f</a:t>
                </a:r>
                <a:r>
                  <a:rPr lang="en-US" altLang="zh-CN" sz="2000" b="1" dirty="0">
                    <a:latin typeface="Times New Roman" panose="02020603050405020304" pitchFamily="18" charset="0"/>
                    <a:cs typeface="Times New Roman" panose="02020603050405020304" pitchFamily="18" charset="0"/>
                  </a:rPr>
                  <a:t> </a:t>
                </a:r>
                <a:r>
                  <a:rPr lang="zh-CN" altLang="zh-CN" sz="2000" b="1" dirty="0">
                    <a:latin typeface="Times New Roman" panose="02020603050405020304" pitchFamily="18" charset="0"/>
                    <a:cs typeface="Times New Roman" panose="02020603050405020304" pitchFamily="18" charset="0"/>
                  </a:rPr>
                  <a:t>不是单射</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即 </a:t>
                </a:r>
                <a:r>
                  <a:rPr lang="en-US" altLang="zh-CN" sz="2000" b="1" i="1" dirty="0">
                    <a:latin typeface="Times New Roman" panose="02020603050405020304" pitchFamily="18" charset="0"/>
                    <a:cs typeface="Times New Roman" panose="02020603050405020304" pitchFamily="18" charset="0"/>
                  </a:rPr>
                  <a:t>f</a:t>
                </a:r>
                <a:r>
                  <a:rPr lang="en-US" altLang="zh-CN" sz="2000" b="1" dirty="0">
                    <a:latin typeface="Times New Roman" panose="02020603050405020304" pitchFamily="18" charset="0"/>
                    <a:cs typeface="Times New Roman" panose="02020603050405020304" pitchFamily="18" charset="0"/>
                  </a:rPr>
                  <a:t> </a:t>
                </a:r>
                <a:r>
                  <a:rPr lang="zh-CN" altLang="zh-CN" sz="2000" b="1" dirty="0">
                    <a:solidFill>
                      <a:srgbClr val="FF0000"/>
                    </a:solidFill>
                    <a:latin typeface="Times New Roman" panose="02020603050405020304" pitchFamily="18" charset="0"/>
                    <a:cs typeface="Times New Roman" panose="02020603050405020304" pitchFamily="18" charset="0"/>
                  </a:rPr>
                  <a:t>不是单同态</a:t>
                </a:r>
                <a:r>
                  <a:rPr lang="zh-CN" altLang="zh-CN" sz="2000" b="1" dirty="0">
                    <a:latin typeface="Times New Roman" panose="02020603050405020304" pitchFamily="18" charset="0"/>
                    <a:cs typeface="Times New Roman" panose="02020603050405020304" pitchFamily="18" charset="0"/>
                  </a:rPr>
                  <a:t>。</a:t>
                </a:r>
                <a:endParaRPr lang="en-US" altLang="zh-CN" sz="2000" b="1" kern="100" dirty="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endParaRPr lang="en-US" altLang="zh-CN" sz="1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引入单同态、满同态、单自同态和满自同态等概念的目的是在代数系统之间建立一种</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更细致的结构关系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，从而更好地理解和分析代数系统的性质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b="0" i="0" dirty="0">
                    <a:solidFill>
                      <a:srgbClr val="0D0D0D"/>
                    </a:solidFill>
                    <a:effectLst/>
                    <a:latin typeface="Söhne"/>
                  </a:rPr>
                  <a:t>代数系统 </a:t>
                </a:r>
                <a:r>
                  <a:rPr lang="en-US" altLang="zh-CN" b="0" i="1" dirty="0">
                    <a:solidFill>
                      <a:srgbClr val="0D0D0D"/>
                    </a:solidFill>
                    <a:effectLst/>
                    <a:latin typeface="KaTeX_Math"/>
                  </a:rPr>
                  <a:t>V</a:t>
                </a:r>
                <a:r>
                  <a:rPr lang="en-US" altLang="zh-CN" b="0" i="0" dirty="0">
                    <a:solidFill>
                      <a:srgbClr val="0D0D0D"/>
                    </a:solidFill>
                    <a:effectLst/>
                    <a:latin typeface="KaTeX_Main"/>
                  </a:rPr>
                  <a:t>1​</a:t>
                </a:r>
                <a:r>
                  <a:rPr lang="zh-CN" altLang="en-US" b="0" i="0" dirty="0">
                    <a:solidFill>
                      <a:srgbClr val="0D0D0D"/>
                    </a:solidFill>
                    <a:effectLst/>
                    <a:latin typeface="Söhne"/>
                  </a:rPr>
                  <a:t> 通过一个同态映射 </a:t>
                </a:r>
                <a:r>
                  <a:rPr lang="en-US" altLang="zh-CN" b="0" i="1" dirty="0">
                    <a:solidFill>
                      <a:srgbClr val="0D0D0D"/>
                    </a:solidFill>
                    <a:effectLst/>
                    <a:latin typeface="KaTeX_Math"/>
                  </a:rPr>
                  <a:t>f</a:t>
                </a:r>
                <a:r>
                  <a:rPr lang="zh-CN" altLang="en-US" b="0" i="0" dirty="0">
                    <a:solidFill>
                      <a:srgbClr val="0D0D0D"/>
                    </a:solidFill>
                    <a:effectLst/>
                    <a:latin typeface="Söhne"/>
                  </a:rPr>
                  <a:t> 到达另一个代数系统 </a:t>
                </a:r>
                <a:r>
                  <a:rPr lang="en-US" altLang="zh-CN" b="0" i="1" dirty="0">
                    <a:solidFill>
                      <a:srgbClr val="0D0D0D"/>
                    </a:solidFill>
                    <a:effectLst/>
                    <a:latin typeface="KaTeX_Math"/>
                  </a:rPr>
                  <a:t>V</a:t>
                </a:r>
                <a:r>
                  <a:rPr lang="en-US" altLang="zh-CN" b="0" i="0" dirty="0">
                    <a:solidFill>
                      <a:srgbClr val="0D0D0D"/>
                    </a:solidFill>
                    <a:effectLst/>
                    <a:latin typeface="KaTeX_Main"/>
                  </a:rPr>
                  <a:t>2​</a:t>
                </a:r>
                <a:r>
                  <a:rPr lang="zh-CN" altLang="en-US" b="0" i="0" dirty="0">
                    <a:solidFill>
                      <a:srgbClr val="0D0D0D"/>
                    </a:solidFill>
                    <a:effectLst/>
                    <a:latin typeface="Söhne"/>
                  </a:rPr>
                  <a:t> 的过程，所得的同态像是 </a:t>
                </a:r>
                <a:r>
                  <a:rPr lang="en-US" altLang="zh-CN" b="0" i="1" dirty="0">
                    <a:solidFill>
                      <a:srgbClr val="0D0D0D"/>
                    </a:solidFill>
                    <a:effectLst/>
                    <a:latin typeface="KaTeX_Math"/>
                  </a:rPr>
                  <a:t>f</a:t>
                </a:r>
                <a:r>
                  <a:rPr lang="zh-CN" altLang="en-US" b="0" i="0" dirty="0">
                    <a:solidFill>
                      <a:srgbClr val="0D0D0D"/>
                    </a:solidFill>
                    <a:effectLst/>
                    <a:latin typeface="Söhne"/>
                  </a:rPr>
                  <a:t> 将 </a:t>
                </a:r>
                <a:r>
                  <a:rPr lang="en-US" altLang="zh-CN" b="0" i="1" dirty="0">
                    <a:solidFill>
                      <a:srgbClr val="0D0D0D"/>
                    </a:solidFill>
                    <a:effectLst/>
                    <a:latin typeface="KaTeX_Math"/>
                  </a:rPr>
                  <a:t>V</a:t>
                </a:r>
                <a:r>
                  <a:rPr lang="en-US" altLang="zh-CN" b="0" i="0" dirty="0">
                    <a:solidFill>
                      <a:srgbClr val="0D0D0D"/>
                    </a:solidFill>
                    <a:effectLst/>
                    <a:latin typeface="KaTeX_Main"/>
                  </a:rPr>
                  <a:t>1​</a:t>
                </a:r>
                <a:r>
                  <a:rPr lang="zh-CN" altLang="en-US" b="0" i="0" dirty="0">
                    <a:solidFill>
                      <a:srgbClr val="0D0D0D"/>
                    </a:solidFill>
                    <a:effectLst/>
                    <a:latin typeface="Söhne"/>
                  </a:rPr>
                  <a:t> 中的元素映射到 </a:t>
                </a:r>
                <a:r>
                  <a:rPr lang="en-US" altLang="zh-CN" b="0" i="1" dirty="0">
                    <a:solidFill>
                      <a:srgbClr val="0D0D0D"/>
                    </a:solidFill>
                    <a:effectLst/>
                    <a:latin typeface="KaTeX_Math"/>
                  </a:rPr>
                  <a:t>V</a:t>
                </a:r>
                <a:r>
                  <a:rPr lang="en-US" altLang="zh-CN" b="0" i="0" dirty="0">
                    <a:solidFill>
                      <a:srgbClr val="0D0D0D"/>
                    </a:solidFill>
                    <a:effectLst/>
                    <a:latin typeface="KaTeX_Main"/>
                  </a:rPr>
                  <a:t>2​</a:t>
                </a:r>
                <a:r>
                  <a:rPr lang="zh-CN" altLang="en-US" b="0" i="0" dirty="0">
                    <a:solidFill>
                      <a:srgbClr val="0D0D0D"/>
                    </a:solidFill>
                    <a:effectLst/>
                    <a:latin typeface="Söhne"/>
                  </a:rPr>
                  <a:t> 中所得到的集合。</a:t>
                </a:r>
                <a:endParaRPr lang="en-US" altLang="zh-CN" b="0" i="0" dirty="0">
                  <a:solidFill>
                    <a:srgbClr val="0D0D0D"/>
                  </a:solidFill>
                  <a:effectLst/>
                  <a:latin typeface="Söhne"/>
                </a:endParaRPr>
              </a:p>
              <a:p>
                <a:endParaRPr lang="en-US" altLang="zh-CN" b="0" i="0" dirty="0">
                  <a:solidFill>
                    <a:srgbClr val="0D0D0D"/>
                  </a:solidFill>
                  <a:effectLst/>
                  <a:latin typeface="Söhne"/>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的同态，</a:t>
                </a: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rPr>
                  <a:t>如果</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rPr>
                  <a:t>是满射，则称</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rPr>
                  <a:t>为</a:t>
                </a:r>
                <a:r>
                  <a:rPr lang="zh-CN" altLang="en-US" sz="1200" b="1" dirty="0">
                    <a:solidFill>
                      <a:srgbClr val="FF0000"/>
                    </a:solidFill>
                    <a:latin typeface="Times New Roman" panose="02020603050405020304" pitchFamily="18" charset="0"/>
                    <a:ea typeface="宋体" panose="02010600030101010101" pitchFamily="2" charset="-122"/>
                  </a:rPr>
                  <a:t>满同态，</a:t>
                </a:r>
                <a:r>
                  <a:rPr lang="zh-CN" altLang="en-US" sz="1200" b="1" dirty="0">
                    <a:latin typeface="Times New Roman" panose="02020603050405020304" pitchFamily="18" charset="0"/>
                  </a:rPr>
                  <a:t>这时称</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2</a:t>
                </a:r>
                <a:r>
                  <a:rPr lang="zh-CN" altLang="en-US" sz="1200" b="1" dirty="0">
                    <a:latin typeface="Times New Roman" panose="02020603050405020304" pitchFamily="18" charset="0"/>
                  </a:rPr>
                  <a:t>是</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a:t>
                </a:r>
                <a:r>
                  <a:rPr lang="zh-CN" altLang="en-US" sz="1200" b="1" dirty="0">
                    <a:latin typeface="Times New Roman" panose="02020603050405020304" pitchFamily="18" charset="0"/>
                  </a:rPr>
                  <a:t>的</a:t>
                </a:r>
                <a:r>
                  <a:rPr lang="zh-CN" altLang="en-US" sz="1200" b="1" dirty="0">
                    <a:solidFill>
                      <a:srgbClr val="FF0000"/>
                    </a:solidFill>
                    <a:latin typeface="Times New Roman" panose="02020603050405020304" pitchFamily="18" charset="0"/>
                  </a:rPr>
                  <a:t>同态像</a:t>
                </a:r>
                <a:r>
                  <a:rPr lang="zh-CN" altLang="en-US" sz="1200" b="1" dirty="0">
                    <a:latin typeface="Times New Roman" panose="02020603050405020304" pitchFamily="18" charset="0"/>
                  </a:rPr>
                  <a:t>，记作 </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 </a:t>
                </a:r>
                <a:r>
                  <a:rPr lang="en-US" altLang="zh-CN" sz="1200" b="1" i="0" dirty="0">
                    <a:latin typeface="Cambria Math" panose="02040503050406030204" pitchFamily="18" charset="0"/>
                    <a:sym typeface="Symbol" panose="05050102010706020507" pitchFamily="18" charset="2"/>
                  </a:rPr>
                  <a:t></a:t>
                </a:r>
                <a:r>
                  <a:rPr lang="en-US" altLang="zh-CN" sz="1200" b="1" i="1" dirty="0">
                    <a:latin typeface="Times New Roman" panose="02020603050405020304" pitchFamily="18" charset="0"/>
                  </a:rPr>
                  <a:t> V</a:t>
                </a:r>
                <a:r>
                  <a:rPr lang="en-US" altLang="zh-CN" sz="1200" b="1" baseline="-25000" dirty="0">
                    <a:latin typeface="Times New Roman" panose="02020603050405020304" pitchFamily="18" charset="0"/>
                  </a:rPr>
                  <a:t>2</a:t>
                </a:r>
                <a:r>
                  <a:rPr lang="zh-CN" altLang="en-US" sz="1200" b="1" dirty="0">
                    <a:latin typeface="Times New Roman" panose="02020603050405020304" pitchFamily="18" charset="0"/>
                  </a:rPr>
                  <a:t>；                                 </a:t>
                </a:r>
                <a:endParaRPr lang="en-US" altLang="zh-CN" sz="1200" b="1" dirty="0">
                  <a:latin typeface="Times New Roman" panose="02020603050405020304" pitchFamily="18" charset="0"/>
                  <a:ea typeface="宋体" panose="02010600030101010101" pitchFamily="2" charset="-122"/>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注：</a:t>
                </a:r>
                <a:r>
                  <a:rPr lang="zh-CN" altLang="zh-CN" sz="1400" b="1" kern="100" dirty="0">
                    <a:solidFill>
                      <a:srgbClr val="00B0F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i="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f</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是满射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或满映射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意味着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f</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是覆盖的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即</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对于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S</a:t>
                </a:r>
                <a:r>
                  <a:rPr lang="en-US" altLang="zh-CN" b="1" baseline="-25000" dirty="0">
                    <a:latin typeface="Times New Roman" panose="02020603050405020304" pitchFamily="18" charset="0"/>
                    <a:ea typeface="华文楷体" panose="02010600040101010101" pitchFamily="2" charset="-122"/>
                    <a:cs typeface="Times New Roman" panose="02020603050405020304" pitchFamily="18" charset="0"/>
                  </a:rPr>
                  <a:t>2</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中的每个元素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y</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，都存在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S</a:t>
                </a:r>
                <a:r>
                  <a:rPr lang="en-US" altLang="zh-CN" b="1" baseline="-250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中的某个元素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，使得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f</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x</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y</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b="1" dirty="0">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10000"/>
                  </a:lnSpc>
                </a:pPr>
                <a:r>
                  <a:rPr lang="zh-CN" altLang="en-US" sz="1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zh-CN" altLang="en-US" sz="1400" b="1" dirty="0">
                    <a:latin typeface="Times New Roman" panose="02020603050405020304" pitchFamily="18" charset="0"/>
                    <a:ea typeface="宋体" panose="02010600030101010101" pitchFamily="2" charset="-122"/>
                    <a:cs typeface="Times New Roman" panose="02020603050405020304" pitchFamily="18" charset="0"/>
                  </a:rPr>
                  <a:t>设</a:t>
                </a:r>
                <a:r>
                  <a:rPr lang="en-US" altLang="zh-CN" sz="1400" b="1" i="1"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1400" b="1" baseline="-250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a:latin typeface="Times New Roman" panose="02020603050405020304" pitchFamily="18" charset="0"/>
                    <a:cs typeface="Times New Roman" panose="02020603050405020304" pitchFamily="18" charset="0"/>
                  </a:rPr>
                  <a:t>⟨Z,+⟩</a:t>
                </a:r>
                <a:r>
                  <a:rPr lang="en-US" altLang="zh-CN"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V</a:t>
                </a:r>
                <a:r>
                  <a:rPr lang="en-US" altLang="zh-CN" sz="1400" b="1" baseline="-25000" dirty="0">
                    <a:latin typeface="Times New Roman" panose="02020603050405020304" pitchFamily="18" charset="0"/>
                    <a:cs typeface="Times New Roman" panose="02020603050405020304" pitchFamily="18" charset="0"/>
                  </a:rPr>
                  <a:t>2</a:t>
                </a:r>
                <a:r>
                  <a:rPr lang="en-US" altLang="zh-CN" sz="1400" b="1" dirty="0">
                    <a:latin typeface="Times New Roman" panose="02020603050405020304" pitchFamily="18" charset="0"/>
                    <a:cs typeface="Times New Roman" panose="02020603050405020304" pitchFamily="18" charset="0"/>
                  </a:rPr>
                  <a:t>​=⟨Z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整数模 </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的集合及其模 </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加法</a:t>
                </a:r>
                <a:r>
                  <a:rPr lang="en-US" altLang="zh-CN" sz="1400" b="1" dirty="0">
                    <a:latin typeface="Times New Roman" panose="02020603050405020304" pitchFamily="18" charset="0"/>
                    <a:cs typeface="Times New Roman" panose="02020603050405020304" pitchFamily="18" charset="0"/>
                  </a:rPr>
                  <a:t>)</a:t>
                </a:r>
                <a:r>
                  <a:rPr lang="en-US" altLang="zh-CN"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定义映射 </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 Z </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 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dirty="0"/>
                  <a:t> </a:t>
                </a:r>
                <a:r>
                  <a:rPr lang="en-US" altLang="zh-CN" sz="1400" b="1" i="1" dirty="0">
                    <a:latin typeface="Times New Roman" panose="02020603050405020304" pitchFamily="18" charset="0"/>
                    <a:cs typeface="Times New Roman" panose="02020603050405020304" pitchFamily="18" charset="0"/>
                  </a:rPr>
                  <a:t>x </a:t>
                </a:r>
                <a:r>
                  <a:rPr lang="en-US" altLang="zh-CN" sz="1400" b="1" dirty="0">
                    <a:latin typeface="Times New Roman" panose="02020603050405020304" pitchFamily="18" charset="0"/>
                    <a:cs typeface="Times New Roman" panose="02020603050405020304" pitchFamily="18" charset="0"/>
                  </a:rPr>
                  <a:t>mod 3</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400" b="1" kern="100" dirty="0">
                    <a:latin typeface="Times New Roman" panose="02020603050405020304" pitchFamily="18" charset="0"/>
                    <a:ea typeface="宋体" panose="02010600030101010101" pitchFamily="2" charset="-122"/>
                    <a:cs typeface="Times New Roman" panose="02020603050405020304" pitchFamily="18" charset="0"/>
                  </a:rPr>
                  <a:t>问</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en-US" sz="1400" b="1" kern="100" dirty="0">
                    <a:latin typeface="Times New Roman" panose="02020603050405020304" pitchFamily="18" charset="0"/>
                    <a:ea typeface="宋体" panose="02010600030101010101" pitchFamily="2" charset="-122"/>
                    <a:cs typeface="Times New Roman" panose="02020603050405020304" pitchFamily="18" charset="0"/>
                  </a:rPr>
                  <a:t>是否为满同态？</a:t>
                </a:r>
                <a:endPar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400" b="1" kern="100" dirty="0">
                    <a:latin typeface="Times New Roman" panose="02020603050405020304" pitchFamily="18" charset="0"/>
                    <a:ea typeface="宋体" panose="02010600030101010101" pitchFamily="2" charset="-122"/>
                    <a:cs typeface="Times New Roman" panose="02020603050405020304" pitchFamily="18" charset="0"/>
                  </a:rPr>
                  <a:t>验证两个条件： </a:t>
                </a:r>
                <a:endParaRPr lang="en-US" altLang="zh-CN" sz="14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同态性</a:t>
                </a:r>
                <a:r>
                  <a:rPr lang="en-US"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需要验证对于所有</a:t>
                </a:r>
                <a:r>
                  <a:rPr lang="zh-CN" altLang="zh-CN" sz="1400" b="1" dirty="0">
                    <a:latin typeface="Times New Roman" panose="02020603050405020304" pitchFamily="18" charset="0"/>
                    <a:cs typeface="Times New Roman" panose="02020603050405020304" pitchFamily="18" charset="0"/>
                  </a:rPr>
                  <a:t>对于所有 </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zh-CN" altLang="zh-CN"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Z, </a:t>
                </a:r>
                <a:r>
                  <a:rPr lang="zh-CN" altLang="zh-CN" sz="1400" b="1" dirty="0">
                    <a:latin typeface="Times New Roman" panose="02020603050405020304" pitchFamily="18" charset="0"/>
                    <a:cs typeface="Times New Roman" panose="02020603050405020304" pitchFamily="18" charset="0"/>
                  </a:rPr>
                  <a:t>是否有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endPar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4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因</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)mod 3 ,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 </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 </a:t>
                </a:r>
                <a:r>
                  <a:rPr lang="en-US" altLang="zh-CN" sz="1400" b="1" dirty="0">
                    <a:latin typeface="Times New Roman" panose="02020603050405020304" pitchFamily="18" charset="0"/>
                    <a:cs typeface="Times New Roman" panose="02020603050405020304" pitchFamily="18" charset="0"/>
                  </a:rPr>
                  <a:t>mod 3 + </a:t>
                </a:r>
                <a:r>
                  <a:rPr lang="en-US" altLang="zh-CN" sz="1400" b="1" i="1" dirty="0">
                    <a:latin typeface="Times New Roman" panose="02020603050405020304" pitchFamily="18" charset="0"/>
                    <a:cs typeface="Times New Roman" panose="02020603050405020304" pitchFamily="18" charset="0"/>
                  </a:rPr>
                  <a:t>y </a:t>
                </a:r>
                <a:r>
                  <a:rPr lang="en-US" altLang="zh-CN" sz="1400" b="1" dirty="0">
                    <a:latin typeface="Times New Roman" panose="02020603050405020304" pitchFamily="18" charset="0"/>
                    <a:cs typeface="Times New Roman" panose="02020603050405020304" pitchFamily="18" charset="0"/>
                  </a:rPr>
                  <a:t>mod 3) mod 3 , </a:t>
                </a:r>
                <a:r>
                  <a:rPr lang="zh-CN" altLang="en-US" sz="1400" b="1" dirty="0">
                    <a:latin typeface="Times New Roman" panose="02020603050405020304" pitchFamily="18" charset="0"/>
                    <a:cs typeface="Times New Roman" panose="02020603050405020304" pitchFamily="18" charset="0"/>
                  </a:rPr>
                  <a:t>由模运算的分配性质</a:t>
                </a:r>
                <a:r>
                  <a:rPr lang="zh-CN" altLang="zh-CN" sz="1400" b="1" dirty="0">
                    <a:latin typeface="Times New Roman" panose="02020603050405020304" pitchFamily="18" charset="0"/>
                    <a:cs typeface="Times New Roman" panose="02020603050405020304" pitchFamily="18" charset="0"/>
                  </a:rPr>
                  <a:t>有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x</a:t>
                </a:r>
                <a:r>
                  <a:rPr lang="en-US" altLang="zh-CN" sz="1400" b="1" dirty="0" err="1">
                    <a:latin typeface="Times New Roman" panose="02020603050405020304" pitchFamily="18" charset="0"/>
                    <a:cs typeface="Times New Roman" panose="02020603050405020304" pitchFamily="18" charset="0"/>
                  </a:rPr>
                  <a:t>+</a:t>
                </a:r>
                <a:r>
                  <a:rPr lang="en-US" altLang="zh-CN" sz="1400" b="1" i="1" dirty="0" err="1">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a:t>
                </a:r>
                <a:r>
                  <a:rPr lang="zh-CN" altLang="en-US" sz="1400" b="1" dirty="0">
                    <a:latin typeface="Times New Roman" panose="02020603050405020304" pitchFamily="18" charset="0"/>
                    <a:cs typeface="Times New Roman" panose="02020603050405020304" pitchFamily="18" charset="0"/>
                  </a:rPr>
                  <a:t>成立</a:t>
                </a:r>
                <a:r>
                  <a:rPr lang="en-US" altLang="zh-CN" sz="1400" b="1" dirty="0">
                    <a:latin typeface="Times New Roman" panose="02020603050405020304" pitchFamily="18" charset="0"/>
                    <a:cs typeface="Times New Roman" panose="02020603050405020304" pitchFamily="18" charset="0"/>
                  </a:rPr>
                  <a:t>, </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 x </a:t>
                </a:r>
                <a:r>
                  <a:rPr lang="en-US" altLang="zh-CN" sz="1400" b="1" dirty="0">
                    <a:latin typeface="Times New Roman" panose="02020603050405020304" pitchFamily="18" charset="0"/>
                    <a:cs typeface="Times New Roman" panose="02020603050405020304" pitchFamily="18" charset="0"/>
                  </a:rPr>
                  <a:t>mod 3</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满足</a:t>
                </a:r>
                <a:r>
                  <a:rPr lang="zh-CN" altLang="zh-CN" sz="1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性。</a:t>
                </a:r>
                <a:endPar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en-US"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满</a:t>
                </a:r>
                <a:r>
                  <a:rPr lang="zh-CN" altLang="zh-CN"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射性</a:t>
                </a:r>
                <a:r>
                  <a:rPr lang="en-US" altLang="zh-CN" sz="14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dirty="0">
                    <a:latin typeface="Times New Roman" panose="02020603050405020304" pitchFamily="18" charset="0"/>
                    <a:cs typeface="Times New Roman" panose="02020603050405020304" pitchFamily="18" charset="0"/>
                  </a:rPr>
                  <a:t>对于 </a:t>
                </a:r>
                <a:r>
                  <a:rPr lang="en-US" altLang="zh-CN" sz="1400" b="1" dirty="0">
                    <a:latin typeface="Times New Roman" panose="02020603050405020304" pitchFamily="18" charset="0"/>
                    <a:cs typeface="Times New Roman" panose="02020603050405020304" pitchFamily="18" charset="0"/>
                  </a:rPr>
                  <a:t>Z</a:t>
                </a:r>
                <a:r>
                  <a:rPr lang="en-US" altLang="zh-CN" sz="1400" b="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中的每个元素 </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是否存在</a:t>
                </a:r>
                <a:r>
                  <a:rPr lang="en-US" altLang="zh-CN" sz="1400" b="1" dirty="0">
                    <a:latin typeface="Times New Roman" panose="02020603050405020304" pitchFamily="18" charset="0"/>
                    <a:cs typeface="Times New Roman" panose="02020603050405020304" pitchFamily="18" charset="0"/>
                  </a:rPr>
                  <a:t>Z</a:t>
                </a:r>
                <a:r>
                  <a:rPr lang="zh-CN" altLang="zh-CN" sz="1400" b="1" dirty="0">
                    <a:latin typeface="Times New Roman" panose="02020603050405020304" pitchFamily="18" charset="0"/>
                    <a:cs typeface="Times New Roman" panose="02020603050405020304" pitchFamily="18" charset="0"/>
                  </a:rPr>
                  <a:t>中的某个元素</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使得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x</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y</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由于</a:t>
                </a:r>
                <a:r>
                  <a:rPr lang="en-US" altLang="zh-CN" sz="1400" b="1" dirty="0">
                    <a:latin typeface="Times New Roman" panose="02020603050405020304" pitchFamily="18" charset="0"/>
                    <a:cs typeface="Times New Roman" panose="02020603050405020304" pitchFamily="18" charset="0"/>
                  </a:rPr>
                  <a:t>Z</a:t>
                </a:r>
                <a:r>
                  <a:rPr lang="en-US" altLang="zh-CN" sz="1400" b="1" i="1" baseline="-25000" dirty="0">
                    <a:latin typeface="Times New Roman" panose="02020603050405020304" pitchFamily="18" charset="0"/>
                    <a:cs typeface="Times New Roman" panose="02020603050405020304" pitchFamily="18" charset="0"/>
                  </a:rPr>
                  <a:t>3</a:t>
                </a:r>
                <a:r>
                  <a:rPr lang="en-US" altLang="zh-CN" sz="1400" b="1" dirty="0">
                    <a:latin typeface="Times New Roman" panose="02020603050405020304" pitchFamily="18" charset="0"/>
                    <a:cs typeface="Times New Roman" panose="02020603050405020304" pitchFamily="18" charset="0"/>
                  </a:rPr>
                  <a:t>​</a:t>
                </a:r>
                <a:r>
                  <a:rPr lang="zh-CN" altLang="zh-CN" sz="1400" b="1" dirty="0">
                    <a:latin typeface="Times New Roman" panose="02020603050405020304" pitchFamily="18" charset="0"/>
                    <a:cs typeface="Times New Roman" panose="02020603050405020304" pitchFamily="18" charset="0"/>
                  </a:rPr>
                  <a:t>中的每个元素</a:t>
                </a:r>
                <a:r>
                  <a:rPr lang="en-US" altLang="zh-CN" sz="1400" b="1" dirty="0">
                    <a:latin typeface="Times New Roman" panose="02020603050405020304" pitchFamily="18" charset="0"/>
                    <a:cs typeface="Times New Roman" panose="02020603050405020304" pitchFamily="18" charset="0"/>
                  </a:rPr>
                  <a:t>(0, 1, 2)</a:t>
                </a:r>
                <a:r>
                  <a:rPr lang="zh-CN" altLang="zh-CN" sz="1400" b="1" dirty="0">
                    <a:latin typeface="Times New Roman" panose="02020603050405020304" pitchFamily="18" charset="0"/>
                    <a:cs typeface="Times New Roman" panose="02020603050405020304" pitchFamily="18" charset="0"/>
                  </a:rPr>
                  <a:t>都可以通过取模</a:t>
                </a:r>
                <a:r>
                  <a:rPr lang="en-US" altLang="zh-CN" sz="1400" b="1" dirty="0">
                    <a:latin typeface="Times New Roman" panose="02020603050405020304" pitchFamily="18" charset="0"/>
                    <a:cs typeface="Times New Roman" panose="02020603050405020304" pitchFamily="18" charset="0"/>
                  </a:rPr>
                  <a:t>3</a:t>
                </a:r>
                <a:r>
                  <a:rPr lang="zh-CN" altLang="zh-CN" sz="1400" b="1" dirty="0">
                    <a:latin typeface="Times New Roman" panose="02020603050405020304" pitchFamily="18" charset="0"/>
                    <a:cs typeface="Times New Roman" panose="02020603050405020304" pitchFamily="18" charset="0"/>
                  </a:rPr>
                  <a:t>得到</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因此</a:t>
                </a:r>
                <a:r>
                  <a:rPr lang="zh-CN" altLang="zh-CN" sz="1400" b="1" i="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是满射</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即 </a:t>
                </a:r>
                <a:r>
                  <a:rPr lang="en-US" altLang="zh-CN" sz="1400" b="1" i="1" dirty="0">
                    <a:latin typeface="Times New Roman" panose="02020603050405020304" pitchFamily="18" charset="0"/>
                    <a:cs typeface="Times New Roman" panose="02020603050405020304" pitchFamily="18" charset="0"/>
                  </a:rPr>
                  <a:t>f</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是满同态。</a:t>
                </a:r>
              </a:p>
              <a:p>
                <a:pPr algn="just">
                  <a:lnSpc>
                    <a:spcPct val="110000"/>
                  </a:lnSpc>
                </a:pPr>
                <a:r>
                  <a:rPr lang="zh-CN" altLang="en-US" sz="1400" b="1" kern="1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结论：</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 x </a:t>
                </a:r>
                <a:r>
                  <a:rPr lang="en-US" altLang="zh-CN" sz="1400" b="1" dirty="0">
                    <a:latin typeface="Times New Roman" panose="02020603050405020304" pitchFamily="18" charset="0"/>
                    <a:cs typeface="Times New Roman" panose="02020603050405020304" pitchFamily="18" charset="0"/>
                  </a:rPr>
                  <a:t>mod 3</a:t>
                </a:r>
                <a:r>
                  <a:rPr lang="en-US" altLang="zh-CN" sz="14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400" b="1" i="0" dirty="0">
                    <a:solidFill>
                      <a:srgbClr val="0D0D0D"/>
                    </a:solidFill>
                    <a:effectLst/>
                    <a:latin typeface="Times New Roman" panose="02020603050405020304" pitchFamily="18" charset="0"/>
                    <a:cs typeface="Times New Roman" panose="02020603050405020304" pitchFamily="18" charset="0"/>
                  </a:rPr>
                  <a:t>同态，而且</a:t>
                </a:r>
                <a:r>
                  <a:rPr lang="zh-CN" altLang="en-US" sz="1400" b="1" i="0" dirty="0">
                    <a:solidFill>
                      <a:srgbClr val="FF0000"/>
                    </a:solidFill>
                    <a:effectLst/>
                    <a:latin typeface="Times New Roman" panose="02020603050405020304" pitchFamily="18" charset="0"/>
                    <a:cs typeface="Times New Roman" panose="02020603050405020304" pitchFamily="18" charset="0"/>
                  </a:rPr>
                  <a:t>是满同态</a:t>
                </a:r>
                <a:r>
                  <a:rPr lang="zh-CN" altLang="en-US" sz="1400" b="1" i="0" dirty="0">
                    <a:solidFill>
                      <a:srgbClr val="0D0D0D"/>
                    </a:solidFill>
                    <a:effectLst/>
                    <a:latin typeface="Times New Roman" panose="02020603050405020304" pitchFamily="18" charset="0"/>
                    <a:cs typeface="Times New Roman" panose="02020603050405020304" pitchFamily="18" charset="0"/>
                  </a:rPr>
                  <a:t>。</a:t>
                </a:r>
                <a:endParaRPr lang="en-US" altLang="zh-CN" sz="1400" b="1" i="0" dirty="0">
                  <a:solidFill>
                    <a:srgbClr val="0D0D0D"/>
                  </a:solidFill>
                  <a:effectLst/>
                  <a:latin typeface="Times New Roman" panose="02020603050405020304" pitchFamily="18" charset="0"/>
                  <a:cs typeface="Times New Roman" panose="02020603050405020304" pitchFamily="18" charset="0"/>
                </a:endParaRPr>
              </a:p>
              <a:p>
                <a:pPr algn="just">
                  <a:lnSpc>
                    <a:spcPct val="110000"/>
                  </a:lnSpc>
                </a:pPr>
                <a:endParaRPr lang="en-US" altLang="zh-CN" sz="1400" b="1" i="0" dirty="0">
                  <a:solidFill>
                    <a:srgbClr val="0D0D0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just" defTabSz="914400" rtl="0" eaLnBrk="1" fontAlgn="auto" latinLnBrk="0" hangingPunct="1">
                  <a:lnSpc>
                    <a:spcPct val="110000"/>
                  </a:lnSpc>
                  <a:spcBef>
                    <a:spcPts val="0"/>
                  </a:spcBef>
                  <a:spcAft>
                    <a:spcPts val="0"/>
                  </a:spcAft>
                  <a:buClrTx/>
                  <a:buSzTx/>
                  <a:buFontTx/>
                  <a:buNone/>
                  <a:tabLst/>
                  <a:defRPr/>
                </a:pPr>
                <a:r>
                  <a:rPr lang="zh-CN" altLang="en-US" sz="2000" b="1" dirty="0">
                    <a:latin typeface="Times New Roman" panose="02020603050405020304" pitchFamily="18" charset="0"/>
                    <a:cs typeface="Times New Roman" panose="02020603050405020304" pitchFamily="18" charset="0"/>
                  </a:rPr>
                  <a:t>因</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和</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在</a:t>
                </a:r>
                <a:r>
                  <a:rPr lang="en-US" altLang="zh-CN" sz="2000" b="1" i="1" kern="100" dirty="0">
                    <a:latin typeface="Times New Roman" panose="02020603050405020304" pitchFamily="18" charset="0"/>
                    <a:cs typeface="Times New Roman" panose="02020603050405020304" pitchFamily="18" charset="0"/>
                  </a:rPr>
                  <a:t>f</a:t>
                </a:r>
                <a:r>
                  <a:rPr lang="en-US" altLang="zh-CN" sz="2000" b="1" kern="100" dirty="0">
                    <a:latin typeface="Times New Roman" panose="02020603050405020304" pitchFamily="18" charset="0"/>
                    <a:cs typeface="Times New Roman" panose="02020603050405020304" pitchFamily="18" charset="0"/>
                  </a:rPr>
                  <a:t>(</a:t>
                </a:r>
                <a:r>
                  <a:rPr lang="en-US" altLang="zh-CN" sz="2000" b="1" i="1" kern="100" dirty="0">
                    <a:latin typeface="Times New Roman" panose="02020603050405020304" pitchFamily="18" charset="0"/>
                    <a:cs typeface="Times New Roman" panose="02020603050405020304" pitchFamily="18" charset="0"/>
                  </a:rPr>
                  <a:t>x</a:t>
                </a:r>
                <a:r>
                  <a:rPr lang="en-US" altLang="zh-CN" sz="2000" b="1" kern="100" dirty="0">
                    <a:latin typeface="Times New Roman" panose="02020603050405020304" pitchFamily="18" charset="0"/>
                    <a:cs typeface="Times New Roman" panose="02020603050405020304" pitchFamily="18" charset="0"/>
                  </a:rPr>
                  <a:t>)=</a:t>
                </a:r>
                <a:r>
                  <a:rPr lang="en-US" altLang="zh-CN" sz="2000" b="1" i="1" dirty="0">
                    <a:latin typeface="Times New Roman" panose="02020603050405020304" pitchFamily="18" charset="0"/>
                    <a:cs typeface="Times New Roman" panose="02020603050405020304" pitchFamily="18" charset="0"/>
                  </a:rPr>
                  <a:t> x </a:t>
                </a:r>
                <a:r>
                  <a:rPr lang="en-US" altLang="zh-CN" sz="2000" b="1" dirty="0">
                    <a:latin typeface="Times New Roman" panose="02020603050405020304" pitchFamily="18" charset="0"/>
                    <a:cs typeface="Times New Roman" panose="02020603050405020304" pitchFamily="18" charset="0"/>
                  </a:rPr>
                  <a:t>mod 3</a:t>
                </a:r>
                <a:r>
                  <a:rPr lang="zh-CN" altLang="zh-CN" sz="2000" b="1" dirty="0">
                    <a:latin typeface="Times New Roman" panose="02020603050405020304" pitchFamily="18" charset="0"/>
                    <a:cs typeface="Times New Roman" panose="02020603050405020304" pitchFamily="18" charset="0"/>
                  </a:rPr>
                  <a:t>的余数相同并不意味着 </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1</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和</a:t>
                </a:r>
                <a:r>
                  <a:rPr lang="en-US" altLang="zh-CN" sz="2000" b="1" i="1" dirty="0">
                    <a:latin typeface="Times New Roman" panose="02020603050405020304" pitchFamily="18" charset="0"/>
                    <a:cs typeface="Times New Roman" panose="02020603050405020304" pitchFamily="18" charset="0"/>
                  </a:rPr>
                  <a:t>x</a:t>
                </a:r>
                <a:r>
                  <a:rPr lang="en-US" altLang="zh-CN" sz="2000" b="1" baseline="-25000" dirty="0">
                    <a:latin typeface="Times New Roman" panose="02020603050405020304" pitchFamily="18" charset="0"/>
                    <a:cs typeface="Times New Roman" panose="02020603050405020304" pitchFamily="18" charset="0"/>
                  </a:rPr>
                  <a:t>2</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相同</a:t>
                </a:r>
                <a:r>
                  <a:rPr lang="en-US" altLang="zh-CN" sz="2000" b="1" dirty="0">
                    <a:latin typeface="Times New Roman" panose="02020603050405020304" pitchFamily="18" charset="0"/>
                    <a:cs typeface="Times New Roman" panose="02020603050405020304" pitchFamily="18" charset="0"/>
                  </a:rPr>
                  <a:t>, </a:t>
                </a:r>
                <a:r>
                  <a:rPr lang="zh-CN" altLang="zh-CN" sz="2000" b="1" dirty="0">
                    <a:latin typeface="Times New Roman" panose="02020603050405020304" pitchFamily="18" charset="0"/>
                    <a:cs typeface="Times New Roman" panose="02020603050405020304" pitchFamily="18" charset="0"/>
                  </a:rPr>
                  <a:t>因此</a:t>
                </a:r>
                <a:r>
                  <a:rPr lang="zh-CN" altLang="zh-CN" sz="2000" b="1" i="1" dirty="0">
                    <a:latin typeface="Times New Roman" panose="02020603050405020304" pitchFamily="18" charset="0"/>
                    <a:cs typeface="Times New Roman" panose="02020603050405020304" pitchFamily="18" charset="0"/>
                  </a:rPr>
                  <a:t> </a:t>
                </a:r>
                <a:r>
                  <a:rPr lang="en-US" altLang="zh-CN" sz="2000" b="1" i="1" dirty="0">
                    <a:latin typeface="Times New Roman" panose="02020603050405020304" pitchFamily="18" charset="0"/>
                    <a:cs typeface="Times New Roman" panose="02020603050405020304" pitchFamily="18" charset="0"/>
                  </a:rPr>
                  <a:t>f</a:t>
                </a:r>
                <a:r>
                  <a:rPr lang="en-US" altLang="zh-CN" sz="2000" b="1" dirty="0">
                    <a:latin typeface="Times New Roman" panose="02020603050405020304" pitchFamily="18" charset="0"/>
                    <a:cs typeface="Times New Roman" panose="02020603050405020304" pitchFamily="18" charset="0"/>
                  </a:rPr>
                  <a:t> </a:t>
                </a:r>
                <a:r>
                  <a:rPr lang="zh-CN" altLang="zh-CN" sz="2000" b="1" dirty="0">
                    <a:latin typeface="Times New Roman" panose="02020603050405020304" pitchFamily="18" charset="0"/>
                    <a:cs typeface="Times New Roman" panose="02020603050405020304" pitchFamily="18" charset="0"/>
                  </a:rPr>
                  <a:t>不是单射</a:t>
                </a:r>
                <a:r>
                  <a:rPr lang="en-US" altLang="zh-CN" sz="2000" b="1" dirty="0">
                    <a:latin typeface="Times New Roman" panose="02020603050405020304" pitchFamily="18" charset="0"/>
                    <a:cs typeface="Times New Roman" panose="02020603050405020304" pitchFamily="18" charset="0"/>
                  </a:rPr>
                  <a:t>,</a:t>
                </a:r>
                <a:r>
                  <a:rPr lang="zh-CN" altLang="zh-CN" sz="2000" b="1" dirty="0">
                    <a:latin typeface="Times New Roman" panose="02020603050405020304" pitchFamily="18" charset="0"/>
                    <a:cs typeface="Times New Roman" panose="02020603050405020304" pitchFamily="18" charset="0"/>
                  </a:rPr>
                  <a:t>即 </a:t>
                </a:r>
                <a:r>
                  <a:rPr lang="en-US" altLang="zh-CN" sz="2000" b="1" i="1" dirty="0">
                    <a:latin typeface="Times New Roman" panose="02020603050405020304" pitchFamily="18" charset="0"/>
                    <a:cs typeface="Times New Roman" panose="02020603050405020304" pitchFamily="18" charset="0"/>
                  </a:rPr>
                  <a:t>f</a:t>
                </a:r>
                <a:r>
                  <a:rPr lang="en-US" altLang="zh-CN" sz="2000" b="1" dirty="0">
                    <a:latin typeface="Times New Roman" panose="02020603050405020304" pitchFamily="18" charset="0"/>
                    <a:cs typeface="Times New Roman" panose="02020603050405020304" pitchFamily="18" charset="0"/>
                  </a:rPr>
                  <a:t> </a:t>
                </a:r>
                <a:r>
                  <a:rPr lang="zh-CN" altLang="zh-CN" sz="2000" b="1" dirty="0">
                    <a:solidFill>
                      <a:srgbClr val="FF0000"/>
                    </a:solidFill>
                    <a:latin typeface="Times New Roman" panose="02020603050405020304" pitchFamily="18" charset="0"/>
                    <a:cs typeface="Times New Roman" panose="02020603050405020304" pitchFamily="18" charset="0"/>
                  </a:rPr>
                  <a:t>不是单同态</a:t>
                </a:r>
                <a:r>
                  <a:rPr lang="zh-CN" altLang="zh-CN" sz="2000" b="1" dirty="0">
                    <a:latin typeface="Times New Roman" panose="02020603050405020304" pitchFamily="18" charset="0"/>
                    <a:cs typeface="Times New Roman" panose="02020603050405020304" pitchFamily="18" charset="0"/>
                  </a:rPr>
                  <a:t>。</a:t>
                </a:r>
                <a:endParaRPr lang="en-US" altLang="zh-CN" sz="2000" b="1" kern="100" dirty="0">
                  <a:solidFill>
                    <a:srgbClr val="0D0D0D"/>
                  </a:solidFill>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endParaRPr lang="en-US" altLang="zh-CN" sz="1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48</a:t>
            </a:fld>
            <a:endParaRPr lang="zh-CN" altLang="en-US"/>
          </a:p>
        </p:txBody>
      </p:sp>
    </p:spTree>
    <p:extLst>
      <p:ext uri="{BB962C8B-B14F-4D97-AF65-F5344CB8AC3E}">
        <p14:creationId xmlns:p14="http://schemas.microsoft.com/office/powerpoint/2010/main" val="42016280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引入单同态、满同态、单自同态和满自同态等概念的目的是在代数系统之间建立一种</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更细致的结构关系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，从而更好地理解和分析代数系统的性质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的同态，</a:t>
            </a: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rPr>
              <a:t>如果</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rPr>
              <a:t>是双射，则</a:t>
            </a:r>
            <a:r>
              <a:rPr lang="zh-CN" altLang="en-US" sz="1200" b="1" dirty="0">
                <a:latin typeface="Times New Roman" panose="02020603050405020304" pitchFamily="18" charset="0"/>
              </a:rPr>
              <a:t>称</a:t>
            </a:r>
            <a:r>
              <a:rPr lang="en-US" altLang="zh-CN" sz="1200" b="1" i="1" dirty="0">
                <a:latin typeface="Times New Roman" panose="02020603050405020304" pitchFamily="18" charset="0"/>
                <a:cs typeface="Times New Roman" panose="02020603050405020304" pitchFamily="18" charset="0"/>
              </a:rPr>
              <a:t>f</a:t>
            </a:r>
            <a:r>
              <a:rPr lang="zh-CN" altLang="en-US" sz="1200" b="1" dirty="0">
                <a:latin typeface="Times New Roman" panose="02020603050405020304" pitchFamily="18" charset="0"/>
              </a:rPr>
              <a:t>为</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a:t>
            </a:r>
            <a:r>
              <a:rPr lang="zh-CN" altLang="en-US" sz="1200" b="1" dirty="0">
                <a:latin typeface="Times New Roman" panose="02020603050405020304" pitchFamily="18" charset="0"/>
              </a:rPr>
              <a:t>到</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2</a:t>
            </a:r>
            <a:r>
              <a:rPr lang="zh-CN" altLang="en-US" sz="1200" b="1" dirty="0">
                <a:latin typeface="Times New Roman" panose="02020603050405020304" pitchFamily="18" charset="0"/>
              </a:rPr>
              <a:t>的</a:t>
            </a:r>
            <a:r>
              <a:rPr lang="zh-CN" altLang="en-US" sz="1200" b="1" dirty="0">
                <a:solidFill>
                  <a:srgbClr val="FF0000"/>
                </a:solidFill>
                <a:latin typeface="Times New Roman" panose="02020603050405020304" pitchFamily="18" charset="0"/>
              </a:rPr>
              <a:t>同构</a:t>
            </a:r>
            <a:r>
              <a:rPr lang="zh-CN" altLang="en-US" sz="1200" b="1" dirty="0">
                <a:latin typeface="Times New Roman" panose="02020603050405020304" pitchFamily="18" charset="0"/>
              </a:rPr>
              <a:t>，记作 </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2</a:t>
            </a:r>
            <a:r>
              <a:rPr lang="en-US" altLang="zh-CN" sz="1200" b="1" dirty="0">
                <a:latin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rPr>
              <a:t> </a:t>
            </a:r>
            <a:endParaRPr lang="en-US" altLang="zh-CN" sz="1200" b="1" dirty="0">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注：</a:t>
            </a:r>
            <a:r>
              <a:rPr lang="zh-CN" altLang="zh-CN" sz="1400" b="1" kern="100" dirty="0">
                <a:solidFill>
                  <a:srgbClr val="00B0F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i="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f</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是</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双</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或满映射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意味着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f</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既是单射</a:t>
            </a:r>
            <a:r>
              <a:rPr lang="en-US"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单一映射</a:t>
            </a:r>
            <a:r>
              <a:rPr lang="en-US"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又是满射</a:t>
            </a:r>
            <a:r>
              <a:rPr lang="en-US"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覆盖映射</a:t>
            </a:r>
            <a:r>
              <a:rPr lang="en-US"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两个代数系统之间存在同构映射意味着它们的代数结构是等价的。</a:t>
            </a:r>
            <a:endParaRPr lang="en-US" altLang="zh-CN" sz="1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10000"/>
              </a:lnSpc>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设</a:t>
            </a:r>
            <a:r>
              <a:rPr lang="zh-CN" altLang="zh-CN"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​=⟨R,+⟩, </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​=⟨R,+⟩ ,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:R→R </a:t>
            </a:r>
            <a:r>
              <a:rPr lang="zh-CN" altLang="zh-CN" sz="1200" b="1" dirty="0">
                <a:latin typeface="Times New Roman" panose="02020603050405020304" pitchFamily="18" charset="0"/>
                <a:cs typeface="Times New Roman" panose="02020603050405020304" pitchFamily="18" charset="0"/>
              </a:rPr>
              <a:t>为</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x, </a:t>
            </a:r>
            <a:r>
              <a:rPr lang="zh-CN" altLang="zh-CN" sz="1200" b="1" dirty="0">
                <a:latin typeface="Times New Roman" panose="02020603050405020304" pitchFamily="18" charset="0"/>
                <a:cs typeface="Times New Roman" panose="02020603050405020304" pitchFamily="18" charset="0"/>
              </a:rPr>
              <a:t>问</a:t>
            </a:r>
            <a:r>
              <a:rPr lang="zh-CN" altLang="en-US" sz="1200" b="1" dirty="0">
                <a:latin typeface="Times New Roman" panose="02020603050405020304" pitchFamily="18" charset="0"/>
                <a:cs typeface="Times New Roman" panose="02020603050405020304" pitchFamily="18" charset="0"/>
              </a:rPr>
              <a:t>映射</a:t>
            </a:r>
            <a:r>
              <a:rPr lang="en-US" altLang="zh-CN" sz="1200" b="1" dirty="0">
                <a:latin typeface="Times New Roman" panose="02020603050405020304" pitchFamily="18" charset="0"/>
                <a:cs typeface="Times New Roman" panose="02020603050405020304" pitchFamily="18" charset="0"/>
              </a:rPr>
              <a:t>f</a:t>
            </a:r>
            <a:r>
              <a:rPr lang="zh-CN" altLang="zh-CN" sz="1200" b="1" dirty="0">
                <a:latin typeface="Times New Roman" panose="02020603050405020304" pitchFamily="18" charset="0"/>
                <a:cs typeface="Times New Roman" panose="02020603050405020304" pitchFamily="18" charset="0"/>
              </a:rPr>
              <a:t>是</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到</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的</a:t>
            </a:r>
            <a:r>
              <a:rPr lang="zh-CN" altLang="en-US" sz="1200" b="1" dirty="0">
                <a:solidFill>
                  <a:srgbClr val="FF0000"/>
                </a:solidFill>
                <a:latin typeface="Times New Roman" panose="02020603050405020304" pitchFamily="18" charset="0"/>
                <a:cs typeface="Times New Roman" panose="02020603050405020304" pitchFamily="18" charset="0"/>
              </a:rPr>
              <a:t>同构</a:t>
            </a:r>
            <a:r>
              <a:rPr lang="zh-CN" altLang="zh-CN" sz="1200" b="1" dirty="0">
                <a:latin typeface="Times New Roman" panose="02020603050405020304" pitchFamily="18" charset="0"/>
                <a:cs typeface="Times New Roman" panose="02020603050405020304" pitchFamily="18" charset="0"/>
              </a:rPr>
              <a:t>吗？</a:t>
            </a:r>
          </a:p>
          <a:p>
            <a:pPr algn="just">
              <a:lnSpc>
                <a:spcPct val="110000"/>
              </a:lnSpc>
            </a:pPr>
            <a:r>
              <a:rPr lang="zh-CN" altLang="zh-CN" sz="1200" b="1" kern="100" dirty="0">
                <a:latin typeface="Times New Roman" panose="02020603050405020304" pitchFamily="18" charset="0"/>
                <a:ea typeface="宋体" panose="02010600030101010101" pitchFamily="2" charset="-122"/>
                <a:cs typeface="Times New Roman" panose="02020603050405020304" pitchFamily="18" charset="0"/>
              </a:rPr>
              <a:t>验证两个条件： </a:t>
            </a:r>
            <a:endParaRPr lang="en-US" altLang="zh-CN" sz="12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同态性</a:t>
            </a:r>
            <a:r>
              <a:rPr lang="en-US" altLang="zh-CN" sz="1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x</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)=2(</a:t>
            </a:r>
            <a:r>
              <a:rPr lang="en-US" altLang="zh-CN" sz="1200" b="1" i="1" dirty="0" err="1">
                <a:latin typeface="Times New Roman" panose="02020603050405020304" pitchFamily="18" charset="0"/>
                <a:cs typeface="Times New Roman" panose="02020603050405020304" pitchFamily="18" charset="0"/>
              </a:rPr>
              <a:t>x</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表明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是一个同态。</a:t>
            </a:r>
          </a:p>
          <a:p>
            <a:r>
              <a:rPr lang="zh-CN" altLang="zh-CN" sz="1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验证双射</a:t>
            </a:r>
            <a:r>
              <a:rPr lang="en-US" altLang="zh-CN" sz="1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200" b="1" dirty="0">
                <a:latin typeface="Times New Roman" panose="02020603050405020304" pitchFamily="18" charset="0"/>
                <a:cs typeface="Times New Roman" panose="02020603050405020304" pitchFamily="18" charset="0"/>
              </a:rPr>
              <a:t>单射</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如果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baseline="-25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baseline="-25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，则</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x</a:t>
            </a:r>
            <a:r>
              <a:rPr lang="en-US" altLang="zh-CN" sz="1200" b="1" baseline="-25000" dirty="0">
                <a:latin typeface="Times New Roman" panose="02020603050405020304" pitchFamily="18" charset="0"/>
                <a:cs typeface="Times New Roman" panose="02020603050405020304" pitchFamily="18" charset="0"/>
              </a:rPr>
              <a:t>1 </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x</a:t>
            </a:r>
            <a:r>
              <a:rPr lang="en-US" altLang="zh-CN" sz="1200" b="1" baseline="-25000" dirty="0">
                <a:latin typeface="Times New Roman" panose="02020603050405020304" pitchFamily="18" charset="0"/>
                <a:cs typeface="Times New Roman" panose="02020603050405020304" pitchFamily="18" charset="0"/>
              </a:rPr>
              <a:t>2 </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，由此可以得出 </a:t>
            </a:r>
            <a:r>
              <a:rPr lang="en-US" altLang="zh-CN" sz="1200" b="1" i="1" dirty="0">
                <a:latin typeface="Times New Roman" panose="02020603050405020304" pitchFamily="18" charset="0"/>
                <a:cs typeface="Times New Roman" panose="02020603050405020304" pitchFamily="18" charset="0"/>
              </a:rPr>
              <a:t> x</a:t>
            </a:r>
            <a:r>
              <a:rPr lang="en-US" altLang="zh-CN" sz="1200" b="1" baseline="-25000" dirty="0">
                <a:latin typeface="Times New Roman" panose="02020603050405020304" pitchFamily="18" charset="0"/>
                <a:cs typeface="Times New Roman" panose="02020603050405020304" pitchFamily="18" charset="0"/>
              </a:rPr>
              <a:t>1 </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 x</a:t>
            </a:r>
            <a:r>
              <a:rPr lang="en-US" altLang="zh-CN" sz="1200" b="1" baseline="-25000" dirty="0">
                <a:latin typeface="Times New Roman" panose="02020603050405020304" pitchFamily="18" charset="0"/>
                <a:cs typeface="Times New Roman" panose="02020603050405020304" pitchFamily="18" charset="0"/>
              </a:rPr>
              <a:t>2 </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表明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是单射。</a:t>
            </a:r>
          </a:p>
          <a:p>
            <a:r>
              <a:rPr lang="zh-CN" altLang="zh-CN" sz="1200" b="1" dirty="0">
                <a:latin typeface="Times New Roman" panose="02020603050405020304" pitchFamily="18" charset="0"/>
                <a:cs typeface="Times New Roman" panose="02020603050405020304" pitchFamily="18" charset="0"/>
              </a:rPr>
              <a:t>满射</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对于 </a:t>
            </a:r>
            <a:r>
              <a:rPr lang="en-US" altLang="zh-CN" sz="1200" b="1" dirty="0">
                <a:latin typeface="Times New Roman" panose="02020603050405020304" pitchFamily="18" charset="0"/>
                <a:cs typeface="Times New Roman" panose="02020603050405020304" pitchFamily="18" charset="0"/>
              </a:rPr>
              <a:t>R </a:t>
            </a:r>
            <a:r>
              <a:rPr lang="zh-CN" altLang="zh-CN" sz="1200" b="1" dirty="0">
                <a:latin typeface="Times New Roman" panose="02020603050405020304" pitchFamily="18" charset="0"/>
                <a:cs typeface="Times New Roman" panose="02020603050405020304" pitchFamily="18" charset="0"/>
              </a:rPr>
              <a:t>中的每个实数 </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都存在 </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，使得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表明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是满射。</a:t>
            </a:r>
          </a:p>
          <a:p>
            <a:r>
              <a:rPr lang="zh-CN" altLang="zh-CN" sz="1200" b="1" dirty="0">
                <a:latin typeface="Times New Roman" panose="02020603050405020304" pitchFamily="18" charset="0"/>
                <a:cs typeface="Times New Roman" panose="02020603050405020304" pitchFamily="18" charset="0"/>
              </a:rPr>
              <a:t>因此</a:t>
            </a:r>
            <a:r>
              <a:rPr lang="en-US" altLang="zh-CN" sz="1200" b="1" i="1" dirty="0">
                <a:latin typeface="Times New Roman" panose="02020603050405020304" pitchFamily="18" charset="0"/>
                <a:cs typeface="Times New Roman" panose="02020603050405020304" pitchFamily="18" charset="0"/>
              </a:rPr>
              <a:t> f</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是一个双射映射。</a:t>
            </a:r>
            <a:endParaRPr lang="en-US" altLang="zh-CN" sz="1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endPar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en-US" sz="1200" b="1" kern="1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结论：</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 2x</a:t>
            </a:r>
            <a:r>
              <a:rPr lang="zh-CN" altLang="zh-CN" sz="1200" b="1" dirty="0">
                <a:latin typeface="Times New Roman" panose="02020603050405020304" pitchFamily="18" charset="0"/>
                <a:cs typeface="Times New Roman" panose="02020603050405020304" pitchFamily="18" charset="0"/>
              </a:rPr>
              <a:t>是 </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1​ </a:t>
            </a:r>
            <a:r>
              <a:rPr lang="zh-CN" altLang="zh-CN" sz="1200" b="1" dirty="0">
                <a:latin typeface="Times New Roman" panose="02020603050405020304" pitchFamily="18" charset="0"/>
                <a:cs typeface="Times New Roman" panose="02020603050405020304" pitchFamily="18" charset="0"/>
              </a:rPr>
              <a:t>到 </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2​ </a:t>
            </a:r>
            <a:r>
              <a:rPr lang="zh-CN" altLang="zh-CN" sz="1200" b="1" dirty="0">
                <a:latin typeface="Times New Roman" panose="02020603050405020304" pitchFamily="18" charset="0"/>
                <a:cs typeface="Times New Roman" panose="02020603050405020304" pitchFamily="18" charset="0"/>
              </a:rPr>
              <a:t>的</a:t>
            </a:r>
            <a:r>
              <a:rPr lang="zh-CN" altLang="zh-CN" sz="1200" b="1" dirty="0">
                <a:solidFill>
                  <a:srgbClr val="FF0000"/>
                </a:solidFill>
                <a:latin typeface="Times New Roman" panose="02020603050405020304" pitchFamily="18" charset="0"/>
                <a:cs typeface="Times New Roman" panose="02020603050405020304" pitchFamily="18" charset="0"/>
              </a:rPr>
              <a:t>同构</a:t>
            </a:r>
            <a:r>
              <a:rPr lang="zh-CN" altLang="zh-CN" sz="1200" b="1" dirty="0">
                <a:latin typeface="Times New Roman" panose="02020603050405020304" pitchFamily="18" charset="0"/>
                <a:cs typeface="Times New Roman" panose="02020603050405020304" pitchFamily="18" charset="0"/>
              </a:rPr>
              <a:t> ，并且保持</a:t>
            </a:r>
            <a:r>
              <a:rPr lang="zh-CN" altLang="en-US" sz="1200" b="1" dirty="0">
                <a:latin typeface="Times New Roman" panose="02020603050405020304" pitchFamily="18" charset="0"/>
                <a:cs typeface="Times New Roman" panose="02020603050405020304" pitchFamily="18" charset="0"/>
              </a:rPr>
              <a:t>了</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运算性质</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封闭性、交换律、结合律、单位元、逆元</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 </a:t>
            </a:r>
            <a:r>
              <a:rPr lang="zh-CN" altLang="en-US" sz="1200" b="1" i="0" dirty="0">
                <a:solidFill>
                  <a:srgbClr val="0D0D0D"/>
                </a:solidFill>
                <a:effectLst/>
                <a:latin typeface="Times New Roman" panose="02020603050405020304" pitchFamily="18" charset="0"/>
                <a:cs typeface="Times New Roman" panose="02020603050405020304" pitchFamily="18" charset="0"/>
              </a:rPr>
              <a:t>。</a:t>
            </a:r>
            <a:endParaRPr lang="en-US" altLang="zh-CN" sz="1200" b="1" i="0" dirty="0">
              <a:solidFill>
                <a:srgbClr val="0D0D0D"/>
              </a:solidFill>
              <a:effectLst/>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49</a:t>
            </a:fld>
            <a:endParaRPr lang="zh-CN" altLang="en-US"/>
          </a:p>
        </p:txBody>
      </p:sp>
    </p:spTree>
    <p:extLst>
      <p:ext uri="{BB962C8B-B14F-4D97-AF65-F5344CB8AC3E}">
        <p14:creationId xmlns:p14="http://schemas.microsoft.com/office/powerpoint/2010/main" val="4801980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引入单同态、满同态、单自同态和满自同态等概念的目的是在代数系统之间建立一种</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更细致的结构关系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，从而更好地理解和分析代数系统的性质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的同态，</a:t>
            </a: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rPr>
              <a:t>如果</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1200" b="1" dirty="0">
                <a:solidFill>
                  <a:schemeClr val="tx1"/>
                </a:solidFill>
                <a:latin typeface="Times New Roman" panose="02020603050405020304" pitchFamily="18" charset="0"/>
                <a:ea typeface="宋体" panose="02010600030101010101" pitchFamily="2" charset="-122"/>
              </a:rPr>
              <a:t>是双射，则</a:t>
            </a:r>
            <a:r>
              <a:rPr lang="zh-CN" altLang="en-US" sz="1200" b="1" dirty="0">
                <a:latin typeface="Times New Roman" panose="02020603050405020304" pitchFamily="18" charset="0"/>
              </a:rPr>
              <a:t>称</a:t>
            </a:r>
            <a:r>
              <a:rPr lang="en-US" altLang="zh-CN" sz="1200" b="1" i="1" dirty="0">
                <a:latin typeface="Times New Roman" panose="02020603050405020304" pitchFamily="18" charset="0"/>
                <a:cs typeface="Times New Roman" panose="02020603050405020304" pitchFamily="18" charset="0"/>
              </a:rPr>
              <a:t>f</a:t>
            </a:r>
            <a:r>
              <a:rPr lang="zh-CN" altLang="en-US" sz="1200" b="1" dirty="0">
                <a:latin typeface="Times New Roman" panose="02020603050405020304" pitchFamily="18" charset="0"/>
              </a:rPr>
              <a:t>为</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a:t>
            </a:r>
            <a:r>
              <a:rPr lang="zh-CN" altLang="en-US" sz="1200" b="1" dirty="0">
                <a:latin typeface="Times New Roman" panose="02020603050405020304" pitchFamily="18" charset="0"/>
              </a:rPr>
              <a:t>到</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2</a:t>
            </a:r>
            <a:r>
              <a:rPr lang="zh-CN" altLang="en-US" sz="1200" b="1" dirty="0">
                <a:latin typeface="Times New Roman" panose="02020603050405020304" pitchFamily="18" charset="0"/>
              </a:rPr>
              <a:t>的</a:t>
            </a:r>
            <a:r>
              <a:rPr lang="zh-CN" altLang="en-US" sz="1200" b="1" dirty="0">
                <a:solidFill>
                  <a:srgbClr val="FF0000"/>
                </a:solidFill>
                <a:latin typeface="Times New Roman" panose="02020603050405020304" pitchFamily="18" charset="0"/>
              </a:rPr>
              <a:t>同构</a:t>
            </a:r>
            <a:r>
              <a:rPr lang="zh-CN" altLang="en-US" sz="1200" b="1" dirty="0">
                <a:latin typeface="Times New Roman" panose="02020603050405020304" pitchFamily="18" charset="0"/>
              </a:rPr>
              <a:t>，记作 </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1</a:t>
            </a:r>
            <a:r>
              <a:rPr lang="en-US" altLang="zh-CN" sz="1200" b="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rPr>
              <a:t>V</a:t>
            </a:r>
            <a:r>
              <a:rPr lang="en-US" altLang="zh-CN" sz="1200" b="1" baseline="-25000" dirty="0">
                <a:latin typeface="Times New Roman" panose="02020603050405020304" pitchFamily="18" charset="0"/>
              </a:rPr>
              <a:t>2</a:t>
            </a:r>
            <a:r>
              <a:rPr lang="en-US" altLang="zh-CN" sz="1200" b="1" dirty="0">
                <a:latin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rPr>
              <a:t> </a:t>
            </a:r>
            <a:endParaRPr lang="en-US" altLang="zh-CN" sz="1200" b="1" dirty="0">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00B0F0"/>
                </a:solidFill>
                <a:latin typeface="Times New Roman" panose="02020603050405020304" pitchFamily="18" charset="0"/>
                <a:ea typeface="华文楷体" panose="02010600040101010101" pitchFamily="2" charset="-122"/>
                <a:cs typeface="Times New Roman" panose="02020603050405020304" pitchFamily="18" charset="0"/>
              </a:rPr>
              <a:t>注：</a:t>
            </a:r>
            <a:r>
              <a:rPr lang="zh-CN" altLang="zh-CN" sz="1400" b="1" kern="100" dirty="0">
                <a:solidFill>
                  <a:srgbClr val="00B0F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b="1" i="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f</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是</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双</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或满映射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意味着 </a:t>
            </a:r>
            <a:r>
              <a:rPr lang="en-US" altLang="zh-CN" b="1" i="1" dirty="0">
                <a:latin typeface="Times New Roman" panose="02020603050405020304" pitchFamily="18" charset="0"/>
                <a:ea typeface="华文楷体" panose="02010600040101010101" pitchFamily="2" charset="-122"/>
                <a:cs typeface="Times New Roman" panose="02020603050405020304" pitchFamily="18" charset="0"/>
              </a:rPr>
              <a:t>f</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既是单射</a:t>
            </a:r>
            <a:r>
              <a:rPr lang="en-US"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单一映射</a:t>
            </a:r>
            <a:r>
              <a:rPr lang="en-US"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又是满射</a:t>
            </a:r>
            <a:r>
              <a:rPr lang="en-US"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覆盖映射</a:t>
            </a:r>
            <a:r>
              <a:rPr lang="en-US" altLang="zh-CN" b="1" kern="100" dirty="0">
                <a:solidFill>
                  <a:srgbClr val="0D0D0D"/>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两个代数系统之间存在同构映射意味着它们的代数结构是等价的。</a:t>
            </a:r>
            <a:endParaRPr lang="en-US" altLang="zh-CN" sz="1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lnSpc>
                <a:spcPct val="110000"/>
              </a:lnSpc>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设</a:t>
            </a:r>
            <a:r>
              <a:rPr lang="zh-CN" altLang="zh-CN"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​=⟨R,+⟩, </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​=⟨R,+⟩ ,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:R→R </a:t>
            </a:r>
            <a:r>
              <a:rPr lang="zh-CN" altLang="zh-CN" sz="1200" b="1" dirty="0">
                <a:latin typeface="Times New Roman" panose="02020603050405020304" pitchFamily="18" charset="0"/>
                <a:cs typeface="Times New Roman" panose="02020603050405020304" pitchFamily="18" charset="0"/>
              </a:rPr>
              <a:t>为</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x, </a:t>
            </a:r>
            <a:r>
              <a:rPr lang="zh-CN" altLang="zh-CN" sz="1200" b="1" dirty="0">
                <a:latin typeface="Times New Roman" panose="02020603050405020304" pitchFamily="18" charset="0"/>
                <a:cs typeface="Times New Roman" panose="02020603050405020304" pitchFamily="18" charset="0"/>
              </a:rPr>
              <a:t>问</a:t>
            </a:r>
            <a:r>
              <a:rPr lang="zh-CN" altLang="en-US" sz="1200" b="1" dirty="0">
                <a:latin typeface="Times New Roman" panose="02020603050405020304" pitchFamily="18" charset="0"/>
                <a:cs typeface="Times New Roman" panose="02020603050405020304" pitchFamily="18" charset="0"/>
              </a:rPr>
              <a:t>映射</a:t>
            </a:r>
            <a:r>
              <a:rPr lang="en-US" altLang="zh-CN" sz="1200" b="1" dirty="0">
                <a:latin typeface="Times New Roman" panose="02020603050405020304" pitchFamily="18" charset="0"/>
                <a:cs typeface="Times New Roman" panose="02020603050405020304" pitchFamily="18" charset="0"/>
              </a:rPr>
              <a:t>f</a:t>
            </a:r>
            <a:r>
              <a:rPr lang="zh-CN" altLang="zh-CN" sz="1200" b="1" dirty="0">
                <a:latin typeface="Times New Roman" panose="02020603050405020304" pitchFamily="18" charset="0"/>
                <a:cs typeface="Times New Roman" panose="02020603050405020304" pitchFamily="18" charset="0"/>
              </a:rPr>
              <a:t>是</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到</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的</a:t>
            </a:r>
            <a:r>
              <a:rPr lang="zh-CN" altLang="en-US" sz="1200" b="1" dirty="0">
                <a:solidFill>
                  <a:srgbClr val="FF0000"/>
                </a:solidFill>
                <a:latin typeface="Times New Roman" panose="02020603050405020304" pitchFamily="18" charset="0"/>
                <a:cs typeface="Times New Roman" panose="02020603050405020304" pitchFamily="18" charset="0"/>
              </a:rPr>
              <a:t>同构</a:t>
            </a:r>
            <a:r>
              <a:rPr lang="zh-CN" altLang="zh-CN" sz="1200" b="1" dirty="0">
                <a:latin typeface="Times New Roman" panose="02020603050405020304" pitchFamily="18" charset="0"/>
                <a:cs typeface="Times New Roman" panose="02020603050405020304" pitchFamily="18" charset="0"/>
              </a:rPr>
              <a:t>吗？</a:t>
            </a:r>
          </a:p>
          <a:p>
            <a:pPr algn="just">
              <a:lnSpc>
                <a:spcPct val="110000"/>
              </a:lnSpc>
            </a:pPr>
            <a:r>
              <a:rPr lang="zh-CN" altLang="zh-CN" sz="1200" b="1" kern="100" dirty="0">
                <a:latin typeface="Times New Roman" panose="02020603050405020304" pitchFamily="18" charset="0"/>
                <a:ea typeface="宋体" panose="02010600030101010101" pitchFamily="2" charset="-122"/>
                <a:cs typeface="Times New Roman" panose="02020603050405020304" pitchFamily="18" charset="0"/>
              </a:rPr>
              <a:t>验证两个条件： </a:t>
            </a:r>
            <a:endParaRPr lang="en-US" altLang="zh-CN" sz="1200" b="1"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zh-CN" sz="1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同态性</a:t>
            </a:r>
            <a:r>
              <a:rPr lang="en-US" altLang="zh-CN" sz="1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x</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)=2(</a:t>
            </a:r>
            <a:r>
              <a:rPr lang="en-US" altLang="zh-CN" sz="1200" b="1" i="1" dirty="0" err="1">
                <a:latin typeface="Times New Roman" panose="02020603050405020304" pitchFamily="18" charset="0"/>
                <a:cs typeface="Times New Roman" panose="02020603050405020304" pitchFamily="18" charset="0"/>
              </a:rPr>
              <a:t>x</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表明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是一个同态。</a:t>
            </a:r>
          </a:p>
          <a:p>
            <a:r>
              <a:rPr lang="zh-CN" altLang="zh-CN" sz="1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验证双射</a:t>
            </a:r>
            <a:r>
              <a:rPr lang="en-US" altLang="zh-CN" sz="1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200" b="1" dirty="0">
                <a:latin typeface="Times New Roman" panose="02020603050405020304" pitchFamily="18" charset="0"/>
                <a:cs typeface="Times New Roman" panose="02020603050405020304" pitchFamily="18" charset="0"/>
              </a:rPr>
              <a:t>单射</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如果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baseline="-25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baseline="-25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，则</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x</a:t>
            </a:r>
            <a:r>
              <a:rPr lang="en-US" altLang="zh-CN" sz="1200" b="1" baseline="-25000" dirty="0">
                <a:latin typeface="Times New Roman" panose="02020603050405020304" pitchFamily="18" charset="0"/>
                <a:cs typeface="Times New Roman" panose="02020603050405020304" pitchFamily="18" charset="0"/>
              </a:rPr>
              <a:t>1 </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x</a:t>
            </a:r>
            <a:r>
              <a:rPr lang="en-US" altLang="zh-CN" sz="1200" b="1" baseline="-25000" dirty="0">
                <a:latin typeface="Times New Roman" panose="02020603050405020304" pitchFamily="18" charset="0"/>
                <a:cs typeface="Times New Roman" panose="02020603050405020304" pitchFamily="18" charset="0"/>
              </a:rPr>
              <a:t>2 </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，由此可以得出 </a:t>
            </a:r>
            <a:r>
              <a:rPr lang="en-US" altLang="zh-CN" sz="1200" b="1" i="1" dirty="0">
                <a:latin typeface="Times New Roman" panose="02020603050405020304" pitchFamily="18" charset="0"/>
                <a:cs typeface="Times New Roman" panose="02020603050405020304" pitchFamily="18" charset="0"/>
              </a:rPr>
              <a:t> x</a:t>
            </a:r>
            <a:r>
              <a:rPr lang="en-US" altLang="zh-CN" sz="1200" b="1" baseline="-25000" dirty="0">
                <a:latin typeface="Times New Roman" panose="02020603050405020304" pitchFamily="18" charset="0"/>
                <a:cs typeface="Times New Roman" panose="02020603050405020304" pitchFamily="18" charset="0"/>
              </a:rPr>
              <a:t>1 </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 x</a:t>
            </a:r>
            <a:r>
              <a:rPr lang="en-US" altLang="zh-CN" sz="1200" b="1" baseline="-25000" dirty="0">
                <a:latin typeface="Times New Roman" panose="02020603050405020304" pitchFamily="18" charset="0"/>
                <a:cs typeface="Times New Roman" panose="02020603050405020304" pitchFamily="18" charset="0"/>
              </a:rPr>
              <a:t>2 </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表明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是单射。</a:t>
            </a:r>
          </a:p>
          <a:p>
            <a:r>
              <a:rPr lang="zh-CN" altLang="zh-CN" sz="1200" b="1" dirty="0">
                <a:latin typeface="Times New Roman" panose="02020603050405020304" pitchFamily="18" charset="0"/>
                <a:cs typeface="Times New Roman" panose="02020603050405020304" pitchFamily="18" charset="0"/>
              </a:rPr>
              <a:t>满射</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对于 </a:t>
            </a:r>
            <a:r>
              <a:rPr lang="en-US" altLang="zh-CN" sz="1200" b="1" dirty="0">
                <a:latin typeface="Times New Roman" panose="02020603050405020304" pitchFamily="18" charset="0"/>
                <a:cs typeface="Times New Roman" panose="02020603050405020304" pitchFamily="18" charset="0"/>
              </a:rPr>
              <a:t>R </a:t>
            </a:r>
            <a:r>
              <a:rPr lang="zh-CN" altLang="zh-CN" sz="1200" b="1" dirty="0">
                <a:latin typeface="Times New Roman" panose="02020603050405020304" pitchFamily="18" charset="0"/>
                <a:cs typeface="Times New Roman" panose="02020603050405020304" pitchFamily="18" charset="0"/>
              </a:rPr>
              <a:t>中的每个实数 </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都存在 </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，使得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/2​=</a:t>
            </a:r>
            <a:r>
              <a:rPr lang="en-US" altLang="zh-CN" sz="1200" b="1" i="1" dirty="0">
                <a:latin typeface="Times New Roman" panose="02020603050405020304" pitchFamily="18" charset="0"/>
                <a:cs typeface="Times New Roman" panose="02020603050405020304" pitchFamily="18" charset="0"/>
              </a:rPr>
              <a:t>y</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表明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是满射。</a:t>
            </a:r>
          </a:p>
          <a:p>
            <a:r>
              <a:rPr lang="zh-CN" altLang="zh-CN" sz="1200" b="1" dirty="0">
                <a:latin typeface="Times New Roman" panose="02020603050405020304" pitchFamily="18" charset="0"/>
                <a:cs typeface="Times New Roman" panose="02020603050405020304" pitchFamily="18" charset="0"/>
              </a:rPr>
              <a:t>因此</a:t>
            </a:r>
            <a:r>
              <a:rPr lang="en-US" altLang="zh-CN" sz="1200" b="1" i="1" dirty="0">
                <a:latin typeface="Times New Roman" panose="02020603050405020304" pitchFamily="18" charset="0"/>
                <a:cs typeface="Times New Roman" panose="02020603050405020304" pitchFamily="18" charset="0"/>
              </a:rPr>
              <a:t> f</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是一个双射映射。</a:t>
            </a:r>
            <a:endParaRPr lang="en-US" altLang="zh-CN" sz="1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endPar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pPr>
            <a:r>
              <a:rPr lang="zh-CN" altLang="en-US" sz="1200" b="1" kern="1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结论：</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 2x</a:t>
            </a:r>
            <a:r>
              <a:rPr lang="zh-CN" altLang="zh-CN" sz="1200" b="1" dirty="0">
                <a:latin typeface="Times New Roman" panose="02020603050405020304" pitchFamily="18" charset="0"/>
                <a:cs typeface="Times New Roman" panose="02020603050405020304" pitchFamily="18" charset="0"/>
              </a:rPr>
              <a:t>是 </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1​ </a:t>
            </a:r>
            <a:r>
              <a:rPr lang="zh-CN" altLang="zh-CN" sz="1200" b="1" dirty="0">
                <a:latin typeface="Times New Roman" panose="02020603050405020304" pitchFamily="18" charset="0"/>
                <a:cs typeface="Times New Roman" panose="02020603050405020304" pitchFamily="18" charset="0"/>
              </a:rPr>
              <a:t>到 </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2​ </a:t>
            </a:r>
            <a:r>
              <a:rPr lang="zh-CN" altLang="zh-CN" sz="1200" b="1" dirty="0">
                <a:latin typeface="Times New Roman" panose="02020603050405020304" pitchFamily="18" charset="0"/>
                <a:cs typeface="Times New Roman" panose="02020603050405020304" pitchFamily="18" charset="0"/>
              </a:rPr>
              <a:t>的</a:t>
            </a:r>
            <a:r>
              <a:rPr lang="zh-CN" altLang="zh-CN" sz="1200" b="1" dirty="0">
                <a:solidFill>
                  <a:srgbClr val="FF0000"/>
                </a:solidFill>
                <a:latin typeface="Times New Roman" panose="02020603050405020304" pitchFamily="18" charset="0"/>
                <a:cs typeface="Times New Roman" panose="02020603050405020304" pitchFamily="18" charset="0"/>
              </a:rPr>
              <a:t>同构</a:t>
            </a:r>
            <a:r>
              <a:rPr lang="zh-CN" altLang="zh-CN" sz="1200" b="1" dirty="0">
                <a:latin typeface="Times New Roman" panose="02020603050405020304" pitchFamily="18" charset="0"/>
                <a:cs typeface="Times New Roman" panose="02020603050405020304" pitchFamily="18" charset="0"/>
              </a:rPr>
              <a:t> ，并且保持</a:t>
            </a:r>
            <a:r>
              <a:rPr lang="zh-CN" altLang="en-US" sz="1200" b="1" dirty="0">
                <a:latin typeface="Times New Roman" panose="02020603050405020304" pitchFamily="18" charset="0"/>
                <a:cs typeface="Times New Roman" panose="02020603050405020304" pitchFamily="18" charset="0"/>
              </a:rPr>
              <a:t>了</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运算性质</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封闭性、交换律、结合律、单位元、逆元</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 </a:t>
            </a:r>
            <a:r>
              <a:rPr lang="zh-CN" altLang="en-US" sz="1200" b="1" i="0" dirty="0">
                <a:solidFill>
                  <a:srgbClr val="0D0D0D"/>
                </a:solidFill>
                <a:effectLst/>
                <a:latin typeface="Times New Roman" panose="02020603050405020304" pitchFamily="18" charset="0"/>
                <a:cs typeface="Times New Roman" panose="02020603050405020304" pitchFamily="18" charset="0"/>
              </a:rPr>
              <a:t>。</a:t>
            </a:r>
            <a:endParaRPr lang="en-US" altLang="zh-CN" sz="1200" b="1" i="0" dirty="0">
              <a:solidFill>
                <a:srgbClr val="0D0D0D"/>
              </a:solidFill>
              <a:effectLst/>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50</a:t>
            </a:fld>
            <a:endParaRPr lang="zh-CN" altLang="en-US"/>
          </a:p>
        </p:txBody>
      </p:sp>
    </p:spTree>
    <p:extLst>
      <p:ext uri="{BB962C8B-B14F-4D97-AF65-F5344CB8AC3E}">
        <p14:creationId xmlns:p14="http://schemas.microsoft.com/office/powerpoint/2010/main" val="40843830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引入单同态、满同态、单自同态和满自同态等概念的目的是在代数系统之间建立一种</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更细致的结构关系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，从而更好地理解和分析代数系统的性质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代数系统 </a:t>
            </a:r>
            <a:r>
              <a:rPr lang="en-US" altLang="zh-CN" sz="1200" b="1" i="1" kern="100" dirty="0">
                <a:latin typeface="Times New Roman" panose="02020603050405020304" pitchFamily="18" charset="0"/>
                <a:cs typeface="Times New Roman" panose="02020603050405020304" pitchFamily="18" charset="0"/>
              </a:rPr>
              <a:t>V</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en-US" altLang="zh-CN" sz="1200" b="1" kern="100" dirty="0">
                <a:latin typeface="Times New Roman" panose="02020603050405020304" pitchFamily="18" charset="0"/>
                <a:cs typeface="Times New Roman" panose="02020603050405020304" pitchFamily="18" charset="0"/>
              </a:rPr>
              <a:t>,</a:t>
            </a:r>
            <a:r>
              <a:rPr lang="zh-CN" altLang="zh-CN" sz="1200" b="1" kern="100" dirty="0">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kern="100"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到它自身</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的同态</a:t>
            </a:r>
            <a:r>
              <a:rPr lang="zh-CN" altLang="zh-CN" sz="1200" b="1" kern="100" dirty="0">
                <a:latin typeface="Times New Roman" panose="02020603050405020304" pitchFamily="18" charset="0"/>
                <a:cs typeface="Times New Roman" panose="02020603050405020304" pitchFamily="18" charset="0"/>
              </a:rPr>
              <a:t>映射</a:t>
            </a:r>
            <a:r>
              <a:rPr lang="en-US" altLang="zh-CN" sz="1200" b="1" i="1" kern="100" dirty="0">
                <a:latin typeface="Times New Roman" panose="02020603050405020304" pitchFamily="18" charset="0"/>
                <a:cs typeface="Times New Roman" panose="02020603050405020304" pitchFamily="18" charset="0"/>
              </a:rPr>
              <a:t>f</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称为</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自同态</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kern="100" dirty="0">
                <a:effectLst/>
                <a:latin typeface="Times New Roman" panose="02020603050405020304" pitchFamily="18" charset="0"/>
                <a:ea typeface="宋体" panose="02010600030101010101" pitchFamily="2" charset="-122"/>
                <a:cs typeface="Times New Roman" panose="02020603050405020304" pitchFamily="18" charset="0"/>
              </a:rPr>
              <a:t>即</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对于</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所有 </a:t>
            </a:r>
            <a:r>
              <a:rPr lang="en-US" altLang="zh-CN" sz="1200" b="1" i="1"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err="1">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err="1">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有 </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200" b="1" kern="100" dirty="0">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kern="100" dirty="0">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40000"/>
              </a:lnSpc>
            </a:pPr>
            <a:r>
              <a:rPr lang="zh-CN" altLang="zh-CN" sz="1200" b="1" dirty="0">
                <a:solidFill>
                  <a:srgbClr val="FF0000"/>
                </a:solidFill>
              </a:rPr>
              <a:t>零同态</a:t>
            </a:r>
            <a:r>
              <a:rPr lang="zh-CN" altLang="zh-CN" sz="1200" b="1" dirty="0"/>
              <a:t>映射将每个输入元素都映射到目标代数结构中的零元素。</a:t>
            </a:r>
          </a:p>
          <a:p>
            <a:pPr>
              <a:lnSpc>
                <a:spcPct val="140000"/>
              </a:lnSpc>
            </a:pPr>
            <a:r>
              <a:rPr lang="zh-CN" altLang="zh-CN" sz="1200" b="1" dirty="0">
                <a:solidFill>
                  <a:srgbClr val="FF0000"/>
                </a:solidFill>
              </a:rPr>
              <a:t>自同构</a:t>
            </a:r>
            <a:r>
              <a:rPr lang="zh-CN" altLang="en-US" sz="1200" b="1" dirty="0"/>
              <a:t>是指</a:t>
            </a:r>
            <a:r>
              <a:rPr lang="zh-CN" altLang="en-US" sz="1200" b="1" dirty="0">
                <a:latin typeface="Times New Roman" panose="02020603050405020304" pitchFamily="18" charset="0"/>
                <a:cs typeface="Times New Roman" panose="02020603050405020304" pitchFamily="18" charset="0"/>
              </a:rPr>
              <a:t>代数系统 </a:t>
            </a:r>
            <a:r>
              <a:rPr lang="en-US" altLang="zh-CN" sz="1200" b="1" i="1" kern="100" dirty="0">
                <a:latin typeface="Times New Roman" panose="02020603050405020304" pitchFamily="18" charset="0"/>
                <a:cs typeface="Times New Roman" panose="02020603050405020304" pitchFamily="18" charset="0"/>
              </a:rPr>
              <a:t>V</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en-US" altLang="zh-CN" sz="1200" b="1" kern="100" dirty="0">
                <a:latin typeface="Times New Roman" panose="02020603050405020304" pitchFamily="18" charset="0"/>
                <a:cs typeface="Times New Roman" panose="02020603050405020304" pitchFamily="18" charset="0"/>
              </a:rPr>
              <a:t>,</a:t>
            </a:r>
            <a:r>
              <a:rPr lang="zh-CN" altLang="zh-CN" sz="1200" b="1" kern="100" dirty="0">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kern="100"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到它自身的同态</a:t>
            </a:r>
            <a:r>
              <a:rPr lang="zh-CN" altLang="zh-CN" sz="1200" b="1" kern="100" dirty="0">
                <a:latin typeface="Times New Roman" panose="02020603050405020304" pitchFamily="18" charset="0"/>
                <a:cs typeface="Times New Roman" panose="02020603050405020304" pitchFamily="18" charset="0"/>
              </a:rPr>
              <a:t>映射</a:t>
            </a:r>
            <a:r>
              <a:rPr lang="en-US" altLang="zh-CN" sz="1200" b="1" i="1" kern="100" dirty="0">
                <a:latin typeface="Times New Roman" panose="02020603050405020304" pitchFamily="18" charset="0"/>
                <a:cs typeface="Times New Roman" panose="02020603050405020304" pitchFamily="18" charset="0"/>
              </a:rPr>
              <a:t>f</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zh-CN" altLang="zh-CN" sz="1200" b="1" dirty="0"/>
              <a:t>是单射和满射</a:t>
            </a:r>
            <a:r>
              <a:rPr lang="zh-CN" altLang="en-US" sz="1200" b="1" dirty="0"/>
              <a:t>的</a:t>
            </a:r>
            <a:r>
              <a:rPr lang="en-US" altLang="zh-CN" sz="1200" b="1" dirty="0"/>
              <a:t>,</a:t>
            </a:r>
            <a:r>
              <a:rPr lang="zh-CN" altLang="zh-CN" sz="1200" b="1" dirty="0"/>
              <a:t>表明系统与自身在结构上是等价的。</a:t>
            </a:r>
            <a:endParaRPr lang="en-US" altLang="zh-CN" sz="1200" b="1" dirty="0"/>
          </a:p>
          <a:p>
            <a:pPr>
              <a:lnSpc>
                <a:spcPct val="140000"/>
              </a:lnSpc>
            </a:pPr>
            <a:r>
              <a:rPr lang="zh-CN" altLang="zh-CN" sz="1200" b="1" dirty="0">
                <a:solidFill>
                  <a:srgbClr val="FF0000"/>
                </a:solidFill>
                <a:latin typeface="Times New Roman" panose="02020603050405020304" pitchFamily="18" charset="0"/>
                <a:cs typeface="Times New Roman" panose="02020603050405020304" pitchFamily="18" charset="0"/>
              </a:rPr>
              <a:t>单自同态</a:t>
            </a:r>
            <a:r>
              <a:rPr lang="zh-CN" altLang="zh-CN" sz="1200" b="1" dirty="0">
                <a:latin typeface="Times New Roman" panose="02020603050405020304" pitchFamily="18" charset="0"/>
                <a:cs typeface="Times New Roman" panose="02020603050405020304" pitchFamily="18" charset="0"/>
              </a:rPr>
              <a:t>是自同态的一种特殊情况</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它同时是单射映射</a:t>
            </a:r>
            <a:endParaRPr lang="en-US" altLang="zh-CN" sz="1200" b="1" dirty="0">
              <a:latin typeface="Times New Roman" panose="02020603050405020304" pitchFamily="18" charset="0"/>
              <a:cs typeface="Times New Roman" panose="02020603050405020304" pitchFamily="18" charset="0"/>
            </a:endParaRPr>
          </a:p>
          <a:p>
            <a:pPr>
              <a:lnSpc>
                <a:spcPct val="140000"/>
              </a:lnSpc>
            </a:pPr>
            <a:endParaRPr lang="en-US" altLang="zh-CN" sz="1200" b="1" dirty="0">
              <a:latin typeface="Times New Roman" panose="02020603050405020304" pitchFamily="18" charset="0"/>
              <a:cs typeface="Times New Roman" panose="02020603050405020304" pitchFamily="18" charset="0"/>
            </a:endParaRPr>
          </a:p>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=&lt;Z,+&gt;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Z</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Z</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Z</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那么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自同态</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因为</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Z</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ay</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marL="342900" indent="-342900">
              <a:lnSpc>
                <a:spcPct val="120000"/>
              </a:lnSpc>
              <a:buFont typeface="Wingdings" panose="05000000000000000000" pitchFamily="2" charset="2"/>
              <a:buChar char="Ø"/>
            </a:pP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当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0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时称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a:t>
            </a:r>
            <a:r>
              <a:rPr lang="zh-CN" altLang="fr-F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零同态</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；当</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时，称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a:t>
            </a:r>
            <a:r>
              <a:rPr lang="zh-CN" altLang="fr-F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自同构</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p>
          <a:p>
            <a:pPr marL="342900" indent="-342900">
              <a:lnSpc>
                <a:spcPct val="120000"/>
              </a:lnSpc>
              <a:buFont typeface="Wingdings" panose="05000000000000000000" pitchFamily="2" charset="2"/>
              <a:buChar char="Ø"/>
            </a:pP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除此之外其他的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都是</a:t>
            </a:r>
            <a:r>
              <a:rPr lang="zh-CN" altLang="fr-F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单自同态</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40000"/>
              </a:lnSpc>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51</a:t>
            </a:fld>
            <a:endParaRPr lang="zh-CN" altLang="en-US"/>
          </a:p>
        </p:txBody>
      </p:sp>
    </p:spTree>
    <p:extLst>
      <p:ext uri="{BB962C8B-B14F-4D97-AF65-F5344CB8AC3E}">
        <p14:creationId xmlns:p14="http://schemas.microsoft.com/office/powerpoint/2010/main" val="18340313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引入单同态、满同态、单自同态和满自同态等概念的目的是在代数系统之间建立一种</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更细致的结构关系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，从而更好地理解和分析代数系统的性质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4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代数系统 </a:t>
            </a:r>
            <a:r>
              <a:rPr lang="en-US" altLang="zh-CN" sz="1200" b="1" i="1" kern="100" dirty="0">
                <a:latin typeface="Times New Roman" panose="02020603050405020304" pitchFamily="18" charset="0"/>
                <a:cs typeface="Times New Roman" panose="02020603050405020304" pitchFamily="18" charset="0"/>
              </a:rPr>
              <a:t>V</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en-US" altLang="zh-CN" sz="1200" b="1" kern="100" dirty="0">
                <a:latin typeface="Times New Roman" panose="02020603050405020304" pitchFamily="18" charset="0"/>
                <a:cs typeface="Times New Roman" panose="02020603050405020304" pitchFamily="18" charset="0"/>
              </a:rPr>
              <a:t>,</a:t>
            </a:r>
            <a:r>
              <a:rPr lang="zh-CN" altLang="zh-CN" sz="1200" b="1" kern="100" dirty="0">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kern="100"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到它自身</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的同态</a:t>
            </a:r>
            <a:r>
              <a:rPr lang="zh-CN" altLang="zh-CN" sz="1200" b="1" kern="100" dirty="0">
                <a:latin typeface="Times New Roman" panose="02020603050405020304" pitchFamily="18" charset="0"/>
                <a:cs typeface="Times New Roman" panose="02020603050405020304" pitchFamily="18" charset="0"/>
              </a:rPr>
              <a:t>映射</a:t>
            </a:r>
            <a:r>
              <a:rPr lang="en-US" altLang="zh-CN" sz="1200" b="1" i="1" kern="100" dirty="0">
                <a:latin typeface="Times New Roman" panose="02020603050405020304" pitchFamily="18" charset="0"/>
                <a:cs typeface="Times New Roman" panose="02020603050405020304" pitchFamily="18" charset="0"/>
              </a:rPr>
              <a:t>f</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称为</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自同态</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kern="100" dirty="0">
                <a:effectLst/>
                <a:latin typeface="Times New Roman" panose="02020603050405020304" pitchFamily="18" charset="0"/>
                <a:ea typeface="宋体" panose="02010600030101010101" pitchFamily="2" charset="-122"/>
                <a:cs typeface="Times New Roman" panose="02020603050405020304" pitchFamily="18" charset="0"/>
              </a:rPr>
              <a:t>即</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对于</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所有 </a:t>
            </a:r>
            <a:r>
              <a:rPr lang="en-US" altLang="zh-CN" sz="1200" b="1" i="1"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err="1">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err="1">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S</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有 </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200" b="1" kern="100" dirty="0">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kern="100" dirty="0">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40000"/>
              </a:lnSpc>
            </a:pPr>
            <a:r>
              <a:rPr lang="zh-CN" altLang="zh-CN" sz="1200" b="1" dirty="0">
                <a:solidFill>
                  <a:srgbClr val="FF0000"/>
                </a:solidFill>
              </a:rPr>
              <a:t>零同态</a:t>
            </a:r>
            <a:r>
              <a:rPr lang="zh-CN" altLang="zh-CN" sz="1200" b="1" dirty="0"/>
              <a:t>映射将每个输入元素都映射到目标代数结构中的零元素。</a:t>
            </a:r>
          </a:p>
          <a:p>
            <a:pPr>
              <a:lnSpc>
                <a:spcPct val="140000"/>
              </a:lnSpc>
            </a:pPr>
            <a:r>
              <a:rPr lang="zh-CN" altLang="zh-CN" sz="1200" b="1" dirty="0">
                <a:solidFill>
                  <a:srgbClr val="FF0000"/>
                </a:solidFill>
              </a:rPr>
              <a:t>自同构</a:t>
            </a:r>
            <a:r>
              <a:rPr lang="zh-CN" altLang="en-US" sz="1200" b="1" dirty="0"/>
              <a:t>是指</a:t>
            </a:r>
            <a:r>
              <a:rPr lang="zh-CN" altLang="en-US" sz="1200" b="1" dirty="0">
                <a:latin typeface="Times New Roman" panose="02020603050405020304" pitchFamily="18" charset="0"/>
                <a:cs typeface="Times New Roman" panose="02020603050405020304" pitchFamily="18" charset="0"/>
              </a:rPr>
              <a:t>代数系统 </a:t>
            </a:r>
            <a:r>
              <a:rPr lang="en-US" altLang="zh-CN" sz="1200" b="1" i="1" kern="100" dirty="0">
                <a:latin typeface="Times New Roman" panose="02020603050405020304" pitchFamily="18" charset="0"/>
                <a:cs typeface="Times New Roman" panose="02020603050405020304" pitchFamily="18" charset="0"/>
              </a:rPr>
              <a:t>V</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en-US" altLang="zh-CN" sz="1200" b="1" kern="100" dirty="0">
                <a:latin typeface="Times New Roman" panose="02020603050405020304" pitchFamily="18" charset="0"/>
                <a:cs typeface="Times New Roman" panose="02020603050405020304" pitchFamily="18" charset="0"/>
              </a:rPr>
              <a:t>,</a:t>
            </a:r>
            <a:r>
              <a:rPr lang="zh-CN" altLang="zh-CN" sz="1200" b="1" kern="100" dirty="0">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kern="100"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到它自身的同态</a:t>
            </a:r>
            <a:r>
              <a:rPr lang="zh-CN" altLang="zh-CN" sz="1200" b="1" kern="100" dirty="0">
                <a:latin typeface="Times New Roman" panose="02020603050405020304" pitchFamily="18" charset="0"/>
                <a:cs typeface="Times New Roman" panose="02020603050405020304" pitchFamily="18" charset="0"/>
              </a:rPr>
              <a:t>映射</a:t>
            </a:r>
            <a:r>
              <a:rPr lang="en-US" altLang="zh-CN" sz="1200" b="1" i="1" kern="100" dirty="0">
                <a:latin typeface="Times New Roman" panose="02020603050405020304" pitchFamily="18" charset="0"/>
                <a:cs typeface="Times New Roman" panose="02020603050405020304" pitchFamily="18" charset="0"/>
              </a:rPr>
              <a:t>f</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en-US" altLang="zh-CN" sz="1200" b="1" kern="100" dirty="0">
                <a:latin typeface="Times New Roman" panose="02020603050405020304" pitchFamily="18" charset="0"/>
                <a:cs typeface="Times New Roman" panose="02020603050405020304" pitchFamily="18" charset="0"/>
              </a:rPr>
              <a:t>→</a:t>
            </a:r>
            <a:r>
              <a:rPr lang="en-US" altLang="zh-CN" sz="1200" b="1" i="1" kern="100" dirty="0">
                <a:latin typeface="Times New Roman" panose="02020603050405020304" pitchFamily="18" charset="0"/>
                <a:cs typeface="Times New Roman" panose="02020603050405020304" pitchFamily="18" charset="0"/>
              </a:rPr>
              <a:t>S</a:t>
            </a:r>
            <a:r>
              <a:rPr lang="zh-CN" altLang="zh-CN" sz="1200" b="1" dirty="0"/>
              <a:t>是单射和满射</a:t>
            </a:r>
            <a:r>
              <a:rPr lang="zh-CN" altLang="en-US" sz="1200" b="1" dirty="0"/>
              <a:t>的</a:t>
            </a:r>
            <a:r>
              <a:rPr lang="en-US" altLang="zh-CN" sz="1200" b="1" dirty="0"/>
              <a:t>,</a:t>
            </a:r>
            <a:r>
              <a:rPr lang="zh-CN" altLang="zh-CN" sz="1200" b="1" dirty="0"/>
              <a:t>表明系统与自身在结构上是等价的。</a:t>
            </a:r>
            <a:endParaRPr lang="en-US" altLang="zh-CN" sz="1200" b="1" dirty="0"/>
          </a:p>
          <a:p>
            <a:pPr>
              <a:lnSpc>
                <a:spcPct val="140000"/>
              </a:lnSpc>
            </a:pPr>
            <a:r>
              <a:rPr lang="zh-CN" altLang="zh-CN" sz="1200" b="1" dirty="0">
                <a:solidFill>
                  <a:srgbClr val="FF0000"/>
                </a:solidFill>
                <a:latin typeface="Times New Roman" panose="02020603050405020304" pitchFamily="18" charset="0"/>
                <a:cs typeface="Times New Roman" panose="02020603050405020304" pitchFamily="18" charset="0"/>
              </a:rPr>
              <a:t>单自同态</a:t>
            </a:r>
            <a:r>
              <a:rPr lang="zh-CN" altLang="zh-CN" sz="1200" b="1" dirty="0">
                <a:latin typeface="Times New Roman" panose="02020603050405020304" pitchFamily="18" charset="0"/>
                <a:cs typeface="Times New Roman" panose="02020603050405020304" pitchFamily="18" charset="0"/>
              </a:rPr>
              <a:t>是自同态的一种特殊情况</a:t>
            </a:r>
            <a:r>
              <a:rPr lang="en-US" altLang="zh-CN" sz="1200" b="1" dirty="0">
                <a:latin typeface="Times New Roman" panose="02020603050405020304" pitchFamily="18" charset="0"/>
                <a:cs typeface="Times New Roman" panose="02020603050405020304" pitchFamily="18" charset="0"/>
              </a:rPr>
              <a:t>,</a:t>
            </a:r>
            <a:r>
              <a:rPr lang="zh-CN" altLang="zh-CN" sz="1200" b="1" dirty="0">
                <a:latin typeface="Times New Roman" panose="02020603050405020304" pitchFamily="18" charset="0"/>
                <a:cs typeface="Times New Roman" panose="02020603050405020304" pitchFamily="18" charset="0"/>
              </a:rPr>
              <a:t>它同时是单射映射</a:t>
            </a:r>
            <a:endParaRPr lang="en-US" altLang="zh-CN" sz="1200" b="1" dirty="0">
              <a:latin typeface="Times New Roman" panose="02020603050405020304" pitchFamily="18" charset="0"/>
              <a:cs typeface="Times New Roman" panose="02020603050405020304" pitchFamily="18" charset="0"/>
            </a:endParaRPr>
          </a:p>
          <a:p>
            <a:pPr>
              <a:lnSpc>
                <a:spcPct val="140000"/>
              </a:lnSpc>
            </a:pPr>
            <a:endParaRPr lang="en-US" altLang="zh-CN" sz="1200" b="1" dirty="0">
              <a:latin typeface="Times New Roman" panose="02020603050405020304" pitchFamily="18" charset="0"/>
              <a:cs typeface="Times New Roman" panose="02020603050405020304" pitchFamily="18" charset="0"/>
            </a:endParaRPr>
          </a:p>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=&lt;Z,+&gt;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Z</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Z</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Z</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ax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那么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a:t>
            </a: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自同态</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因为</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Z</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ay</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marL="342900" indent="-342900">
              <a:lnSpc>
                <a:spcPct val="120000"/>
              </a:lnSpc>
              <a:buFont typeface="Wingdings" panose="05000000000000000000" pitchFamily="2" charset="2"/>
              <a:buChar char="Ø"/>
            </a:pP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当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0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时称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a:t>
            </a:r>
            <a:r>
              <a:rPr lang="zh-CN" altLang="fr-F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零同态</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；当</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fr-FR"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时，称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a:t>
            </a:r>
            <a:r>
              <a:rPr lang="zh-CN" altLang="fr-F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自同构</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p>
          <a:p>
            <a:pPr marL="342900" indent="-342900">
              <a:lnSpc>
                <a:spcPct val="120000"/>
              </a:lnSpc>
              <a:buFont typeface="Wingdings" panose="05000000000000000000" pitchFamily="2" charset="2"/>
              <a:buChar char="Ø"/>
            </a:pP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除此之外其他的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都是</a:t>
            </a:r>
            <a:r>
              <a:rPr lang="zh-CN" altLang="fr-FR"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单自同态</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40000"/>
              </a:lnSpc>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52</a:t>
            </a:fld>
            <a:endParaRPr lang="zh-CN" altLang="en-US"/>
          </a:p>
        </p:txBody>
      </p:sp>
    </p:spTree>
    <p:extLst>
      <p:ext uri="{BB962C8B-B14F-4D97-AF65-F5344CB8AC3E}">
        <p14:creationId xmlns:p14="http://schemas.microsoft.com/office/powerpoint/2010/main" val="8704693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D0D0D"/>
                </a:solidFill>
                <a:effectLst/>
                <a:latin typeface="Söhne"/>
              </a:rPr>
              <a:t>有理数集 </a:t>
            </a:r>
            <a:r>
              <a:rPr lang="en-US" altLang="zh-CN" b="0" i="0" dirty="0">
                <a:solidFill>
                  <a:srgbClr val="0D0D0D"/>
                </a:solidFill>
                <a:effectLst/>
                <a:latin typeface="KaTeX_AMS"/>
              </a:rPr>
              <a:t>Q</a:t>
            </a:r>
            <a:r>
              <a:rPr lang="zh-CN" altLang="en-US" b="0" i="0" dirty="0">
                <a:solidFill>
                  <a:srgbClr val="0D0D0D"/>
                </a:solidFill>
                <a:effectLst/>
                <a:latin typeface="Söhne"/>
              </a:rPr>
              <a:t> 包含所有能够表示为 </a:t>
            </a:r>
            <a:r>
              <a:rPr lang="en-US" altLang="zh-CN" b="0" i="0" dirty="0">
                <a:solidFill>
                  <a:srgbClr val="0D0D0D"/>
                </a:solidFill>
                <a:effectLst/>
                <a:latin typeface="Söhne"/>
              </a:rPr>
              <a:t>a/</a:t>
            </a:r>
            <a:r>
              <a:rPr lang="en-US" altLang="zh-CN" b="0" i="1" dirty="0">
                <a:solidFill>
                  <a:srgbClr val="0D0D0D"/>
                </a:solidFill>
                <a:effectLst/>
                <a:latin typeface="KaTeX_Math"/>
              </a:rPr>
              <a:t>b</a:t>
            </a:r>
            <a:r>
              <a:rPr lang="zh-CN" altLang="en-US" b="0" i="0" dirty="0">
                <a:solidFill>
                  <a:srgbClr val="0D0D0D"/>
                </a:solidFill>
                <a:effectLst/>
                <a:latin typeface="KaTeX_Main"/>
              </a:rPr>
              <a:t>​</a:t>
            </a:r>
            <a:r>
              <a:rPr lang="zh-CN" altLang="en-US" b="0" i="0" dirty="0">
                <a:solidFill>
                  <a:srgbClr val="0D0D0D"/>
                </a:solidFill>
                <a:effectLst/>
                <a:latin typeface="Söhne"/>
              </a:rPr>
              <a:t> 且 </a:t>
            </a:r>
            <a:r>
              <a:rPr lang="en-US" altLang="zh-CN" b="0" i="0" dirty="0">
                <a:solidFill>
                  <a:srgbClr val="0D0D0D"/>
                </a:solidFill>
                <a:effectLst/>
                <a:latin typeface="KaTeX_Main"/>
              </a:rPr>
              <a:t>b</a:t>
            </a:r>
            <a:r>
              <a:rPr lang="zh-CN" altLang="en-US" b="0" i="0" dirty="0">
                <a:solidFill>
                  <a:srgbClr val="0D0D0D"/>
                </a:solidFill>
                <a:effectLst/>
                <a:latin typeface="KaTeX_Main"/>
              </a:rPr>
              <a:t>≠</a:t>
            </a:r>
            <a:r>
              <a:rPr lang="zh-CN" altLang="en-US" b="0" i="0" dirty="0">
                <a:solidFill>
                  <a:srgbClr val="0D0D0D"/>
                </a:solidFill>
                <a:effectLst/>
                <a:latin typeface="Söhne"/>
              </a:rPr>
              <a:t> 的数，包括正数、负数和零。</a:t>
            </a:r>
            <a:endParaRPr lang="en-US" altLang="zh-CN" b="0" i="0" dirty="0">
              <a:solidFill>
                <a:srgbClr val="0D0D0D"/>
              </a:solidFill>
              <a:effectLst/>
              <a:latin typeface="Söhne"/>
            </a:endParaRPr>
          </a:p>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=&lt;Q,+&gt;,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=&lt;Q*,</a:t>
            </a:r>
            <a:r>
              <a:rPr lang="fr-FR"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Q*=Q</a:t>
            </a:r>
            <a:r>
              <a:rPr lang="fr-FR"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是非零有理数集，</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令 </a:t>
            </a:r>
            <a:r>
              <a:rPr lang="fr-FR"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Q</a:t>
            </a:r>
            <a:r>
              <a:rPr lang="fr-FR"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p>
          <a:p>
            <a:pPr>
              <a:lnSpc>
                <a:spcPct val="120000"/>
              </a:lnSpc>
            </a:pP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到</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a:t>
            </a:r>
            <a:r>
              <a:rPr lang="zh-CN" altLang="fr-FR"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同态</a:t>
            </a:r>
            <a:r>
              <a:rPr lang="zh-CN" altLang="fr-FR" sz="1200" b="1" dirty="0">
                <a:latin typeface="Times New Roman" panose="02020603050405020304" pitchFamily="18" charset="0"/>
                <a:ea typeface="宋体" panose="02010600030101010101" pitchFamily="2" charset="-122"/>
                <a:cs typeface="Times New Roman" panose="02020603050405020304" pitchFamily="18" charset="0"/>
              </a:rPr>
              <a:t>映射</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因为</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30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baseline="30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baseline="30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fr-FR"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30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20000"/>
              </a:lnSpc>
            </a:pP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f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a:t>
            </a:r>
            <a:r>
              <a:rPr lang="zh-CN" altLang="fr-FR"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单同态</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因为</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Q</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fr-FR"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effectLst/>
                <a:latin typeface="Times New Roman" panose="02020603050405020304" pitchFamily="18" charset="0"/>
                <a:cs typeface="Times New Roman" panose="02020603050405020304" pitchFamily="18" charset="0"/>
              </a:rPr>
              <a:t>x</a:t>
            </a:r>
            <a:r>
              <a:rPr lang="en-US" altLang="zh-CN" sz="1200" b="1" baseline="-25000" dirty="0">
                <a:effectLst/>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effectLst/>
                <a:latin typeface="Times New Roman" panose="02020603050405020304" pitchFamily="18" charset="0"/>
                <a:cs typeface="Times New Roman" panose="02020603050405020304" pitchFamily="18" charset="0"/>
              </a:rPr>
              <a:t>x</a:t>
            </a:r>
            <a:r>
              <a:rPr lang="en-US" altLang="zh-CN" sz="1200" b="1" i="0" baseline="-25000" dirty="0">
                <a:solidFill>
                  <a:srgbClr val="0D0D0D"/>
                </a:solidFill>
                <a:effectLst/>
                <a:latin typeface="Times New Roman" panose="02020603050405020304" pitchFamily="18" charset="0"/>
                <a:cs typeface="Times New Roman" panose="02020603050405020304" pitchFamily="18" charset="0"/>
              </a:rPr>
              <a:t>2</a:t>
            </a:r>
            <a:r>
              <a:rPr lang="en-US" altLang="zh-CN" sz="1200" b="1" i="0" dirty="0">
                <a:solidFill>
                  <a:srgbClr val="0D0D0D"/>
                </a:solidFill>
                <a:effectLst/>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a:t>
            </a:r>
            <a:r>
              <a:rPr lang="en-US" altLang="zh-CN" sz="1200" b="1" dirty="0">
                <a:effectLst/>
                <a:latin typeface="Times New Roman" panose="02020603050405020304" pitchFamily="18" charset="0"/>
                <a:cs typeface="Times New Roman" panose="02020603050405020304" pitchFamily="18" charset="0"/>
              </a:rPr>
              <a:t> </a:t>
            </a:r>
            <a:r>
              <a:rPr lang="en-US" altLang="zh-CN" sz="1200" b="1" i="1" dirty="0">
                <a:effectLst/>
                <a:latin typeface="Times New Roman" panose="02020603050405020304" pitchFamily="18" charset="0"/>
                <a:cs typeface="Times New Roman" panose="02020603050405020304" pitchFamily="18" charset="0"/>
              </a:rPr>
              <a:t>e</a:t>
            </a:r>
            <a:r>
              <a:rPr lang="en-US" altLang="zh-CN" sz="1200" b="1" i="1" baseline="30000" dirty="0">
                <a:effectLst/>
                <a:latin typeface="Times New Roman" panose="02020603050405020304" pitchFamily="18" charset="0"/>
                <a:cs typeface="Times New Roman" panose="02020603050405020304" pitchFamily="18" charset="0"/>
              </a:rPr>
              <a:t>x</a:t>
            </a:r>
            <a:r>
              <a:rPr lang="en-US" altLang="zh-CN" sz="1200" b="1" baseline="30000" dirty="0">
                <a:effectLst/>
                <a:latin typeface="Times New Roman" panose="02020603050405020304" pitchFamily="18" charset="0"/>
                <a:cs typeface="Times New Roman" panose="02020603050405020304" pitchFamily="18" charset="0"/>
              </a:rPr>
              <a:t>1</a:t>
            </a:r>
            <a:r>
              <a:rPr lang="en-US" altLang="zh-CN" sz="1200" b="1" dirty="0">
                <a:effectLst/>
                <a:latin typeface="Times New Roman" panose="02020603050405020304" pitchFamily="18" charset="0"/>
                <a:cs typeface="Times New Roman" panose="02020603050405020304" pitchFamily="18" charset="0"/>
              </a:rPr>
              <a:t>​=</a:t>
            </a:r>
            <a:r>
              <a:rPr lang="en-US" altLang="zh-CN" sz="1200" b="1" i="1" dirty="0">
                <a:effectLst/>
                <a:latin typeface="Times New Roman" panose="02020603050405020304" pitchFamily="18" charset="0"/>
                <a:cs typeface="Times New Roman" panose="02020603050405020304" pitchFamily="18" charset="0"/>
              </a:rPr>
              <a:t>e</a:t>
            </a:r>
            <a:r>
              <a:rPr lang="en-US" altLang="zh-CN" sz="1200" b="1" i="1" baseline="30000" dirty="0">
                <a:latin typeface="Times New Roman" panose="02020603050405020304" pitchFamily="18" charset="0"/>
                <a:cs typeface="Times New Roman" panose="02020603050405020304" pitchFamily="18" charset="0"/>
              </a:rPr>
              <a:t>x2</a:t>
            </a:r>
            <a:r>
              <a:rPr lang="en-US" altLang="zh-CN" sz="1200" b="1" i="0" dirty="0">
                <a:solidFill>
                  <a:srgbClr val="0D0D0D"/>
                </a:solidFill>
                <a:effectLst/>
                <a:latin typeface="Times New Roman" panose="02020603050405020304" pitchFamily="18" charset="0"/>
                <a:cs typeface="Times New Roman" panose="02020603050405020304" pitchFamily="18" charset="0"/>
              </a:rPr>
              <a:t>,</a:t>
            </a:r>
            <a:r>
              <a:rPr lang="zh-CN" altLang="en-US" sz="1200" b="1" i="0" dirty="0">
                <a:solidFill>
                  <a:srgbClr val="0D0D0D"/>
                </a:solidFill>
                <a:effectLst/>
                <a:latin typeface="Times New Roman" panose="02020603050405020304" pitchFamily="18" charset="0"/>
                <a:cs typeface="Times New Roman" panose="02020603050405020304" pitchFamily="18" charset="0"/>
              </a:rPr>
              <a:t>即</a:t>
            </a:r>
            <a:r>
              <a:rPr lang="en-US" altLang="zh-CN" sz="1200" b="1" i="1" dirty="0">
                <a:effectLst/>
                <a:latin typeface="Times New Roman" panose="02020603050405020304" pitchFamily="18" charset="0"/>
                <a:cs typeface="Times New Roman" panose="02020603050405020304" pitchFamily="18" charset="0"/>
              </a:rPr>
              <a:t>x</a:t>
            </a:r>
            <a:r>
              <a:rPr lang="en-US" altLang="zh-CN" sz="1200" b="1" baseline="-25000" dirty="0">
                <a:effectLst/>
                <a:latin typeface="Times New Roman" panose="02020603050405020304" pitchFamily="18" charset="0"/>
                <a:cs typeface="Times New Roman" panose="02020603050405020304" pitchFamily="18" charset="0"/>
              </a:rPr>
              <a:t>1</a:t>
            </a:r>
            <a:r>
              <a:rPr lang="en-US" altLang="zh-CN" sz="1200" b="1" dirty="0">
                <a:effectLst/>
                <a:latin typeface="Times New Roman" panose="02020603050405020304" pitchFamily="18" charset="0"/>
                <a:cs typeface="Times New Roman" panose="02020603050405020304" pitchFamily="18" charset="0"/>
              </a:rPr>
              <a:t>​=</a:t>
            </a:r>
            <a:r>
              <a:rPr lang="en-US" altLang="zh-CN" sz="1200" b="1" i="1" dirty="0">
                <a:effectLst/>
                <a:latin typeface="Times New Roman" panose="02020603050405020304" pitchFamily="18" charset="0"/>
                <a:cs typeface="Times New Roman" panose="02020603050405020304" pitchFamily="18" charset="0"/>
              </a:rPr>
              <a:t>x</a:t>
            </a:r>
            <a:r>
              <a:rPr lang="en-US" altLang="zh-CN" sz="1200" b="1" i="0" baseline="-25000" dirty="0">
                <a:solidFill>
                  <a:srgbClr val="0D0D0D"/>
                </a:solidFill>
                <a:effectLst/>
                <a:latin typeface="Times New Roman" panose="02020603050405020304" pitchFamily="18" charset="0"/>
                <a:cs typeface="Times New Roman" panose="02020603050405020304" pitchFamily="18" charset="0"/>
              </a:rPr>
              <a:t>2</a:t>
            </a:r>
            <a:r>
              <a:rPr lang="en-US" altLang="zh-CN" sz="1200" b="1" i="0" dirty="0">
                <a:solidFill>
                  <a:srgbClr val="0D0D0D"/>
                </a:solidFill>
                <a:effectLst/>
                <a:latin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f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是单射</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20000"/>
              </a:lnSpc>
            </a:pPr>
            <a:r>
              <a:rPr lang="zh-CN" altLang="en-US" sz="1200" b="1" i="0" dirty="0">
                <a:solidFill>
                  <a:srgbClr val="0D0D0D"/>
                </a:solidFill>
                <a:effectLst/>
                <a:latin typeface="Times New Roman" panose="02020603050405020304" pitchFamily="18" charset="0"/>
                <a:cs typeface="Times New Roman" panose="02020603050405020304" pitchFamily="18" charset="0"/>
              </a:rPr>
              <a:t>对于任意 </a:t>
            </a:r>
            <a:r>
              <a:rPr lang="en-US" altLang="zh-CN" sz="1200" b="1" i="1" dirty="0">
                <a:solidFill>
                  <a:srgbClr val="0D0D0D"/>
                </a:solidFill>
                <a:effectLst/>
                <a:latin typeface="Times New Roman" panose="02020603050405020304" pitchFamily="18" charset="0"/>
                <a:cs typeface="Times New Roman" panose="02020603050405020304" pitchFamily="18" charset="0"/>
              </a:rPr>
              <a:t>y</a:t>
            </a:r>
            <a:r>
              <a:rPr lang="zh-CN" altLang="en-US" sz="1200" b="1" i="0" dirty="0">
                <a:solidFill>
                  <a:srgbClr val="0D0D0D"/>
                </a:solidFill>
                <a:effectLst/>
                <a:latin typeface="Times New Roman" panose="02020603050405020304" pitchFamily="18" charset="0"/>
                <a:cs typeface="Times New Roman" panose="02020603050405020304" pitchFamily="18" charset="0"/>
              </a:rPr>
              <a:t>∈</a:t>
            </a:r>
            <a:r>
              <a:rPr lang="en-US" altLang="zh-CN" sz="1200" b="1" i="0" dirty="0">
                <a:solidFill>
                  <a:srgbClr val="0D0D0D"/>
                </a:solidFill>
                <a:effectLst/>
                <a:latin typeface="Times New Roman" panose="02020603050405020304" pitchFamily="18" charset="0"/>
                <a:cs typeface="Times New Roman" panose="02020603050405020304" pitchFamily="18" charset="0"/>
              </a:rPr>
              <a:t>Q</a:t>
            </a:r>
            <a:r>
              <a:rPr lang="zh-CN" altLang="en-US" sz="1200" b="1" i="0" dirty="0">
                <a:solidFill>
                  <a:srgbClr val="0D0D0D"/>
                </a:solidFill>
                <a:effectLst/>
                <a:latin typeface="Times New Roman" panose="02020603050405020304" pitchFamily="18" charset="0"/>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200" b="1" i="0" dirty="0">
                <a:solidFill>
                  <a:srgbClr val="0D0D0D"/>
                </a:solidFill>
                <a:effectLst/>
                <a:latin typeface="Times New Roman" panose="02020603050405020304" pitchFamily="18" charset="0"/>
                <a:cs typeface="Times New Roman" panose="02020603050405020304" pitchFamily="18" charset="0"/>
              </a:rPr>
              <a:t>无法取到每一个非零有理数</a:t>
            </a:r>
            <a:r>
              <a:rPr lang="en-US" altLang="zh-CN" sz="1200" b="1" i="0" dirty="0">
                <a:solidFill>
                  <a:srgbClr val="0D0D0D"/>
                </a:solidFill>
                <a:effectLst/>
                <a:latin typeface="Times New Roman" panose="02020603050405020304" pitchFamily="18" charset="0"/>
                <a:cs typeface="Times New Roman" panose="02020603050405020304" pitchFamily="18" charset="0"/>
              </a:rPr>
              <a:t>(</a:t>
            </a:r>
            <a:r>
              <a:rPr lang="zh-CN" altLang="en-US" sz="1200" b="1" i="0" dirty="0">
                <a:solidFill>
                  <a:srgbClr val="0D0D0D"/>
                </a:solidFill>
                <a:effectLst/>
                <a:latin typeface="Times New Roman" panose="02020603050405020304" pitchFamily="18" charset="0"/>
                <a:cs typeface="Times New Roman" panose="02020603050405020304" pitchFamily="18" charset="0"/>
              </a:rPr>
              <a:t>例如负数</a:t>
            </a:r>
            <a:r>
              <a:rPr lang="en-US" altLang="zh-CN" sz="1200" b="1" i="0" dirty="0">
                <a:solidFill>
                  <a:srgbClr val="0D0D0D"/>
                </a:solidFill>
                <a:effectLst/>
                <a:latin typeface="Times New Roman" panose="02020603050405020304" pitchFamily="18" charset="0"/>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i="0" dirty="0">
                <a:solidFill>
                  <a:srgbClr val="0D0D0D"/>
                </a:solidFill>
                <a:effectLst/>
                <a:latin typeface="Times New Roman" panose="02020603050405020304" pitchFamily="18" charset="0"/>
                <a:cs typeface="Times New Roman" panose="02020603050405020304" pitchFamily="18" charset="0"/>
              </a:rPr>
              <a:t>因此 </a:t>
            </a:r>
            <a:r>
              <a:rPr lang="en-US" altLang="zh-CN" sz="1200" b="1" i="1" dirty="0">
                <a:solidFill>
                  <a:srgbClr val="0D0D0D"/>
                </a:solidFill>
                <a:effectLst/>
                <a:latin typeface="Times New Roman" panose="02020603050405020304" pitchFamily="18" charset="0"/>
                <a:cs typeface="Times New Roman" panose="02020603050405020304" pitchFamily="18" charset="0"/>
              </a:rPr>
              <a:t>f</a:t>
            </a:r>
            <a:r>
              <a:rPr lang="en-US" altLang="zh-CN" sz="1200" b="1" i="0" dirty="0">
                <a:solidFill>
                  <a:srgbClr val="0D0D0D"/>
                </a:solidFill>
                <a:effectLst/>
                <a:latin typeface="Times New Roman" panose="02020603050405020304" pitchFamily="18" charset="0"/>
                <a:cs typeface="Times New Roman" panose="02020603050405020304" pitchFamily="18" charset="0"/>
              </a:rPr>
              <a:t>(</a:t>
            </a:r>
            <a:r>
              <a:rPr lang="en-US" altLang="zh-CN" sz="1200" b="1" i="1" dirty="0">
                <a:solidFill>
                  <a:srgbClr val="0D0D0D"/>
                </a:solidFill>
                <a:effectLst/>
                <a:latin typeface="Times New Roman" panose="02020603050405020304" pitchFamily="18" charset="0"/>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200" b="1" i="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200" b="1" i="0" dirty="0">
                <a:solidFill>
                  <a:srgbClr val="00B0F0"/>
                </a:solidFill>
                <a:effectLst/>
                <a:latin typeface="Times New Roman" panose="02020603050405020304" pitchFamily="18" charset="0"/>
                <a:cs typeface="Times New Roman" panose="02020603050405020304" pitchFamily="18" charset="0"/>
              </a:rPr>
              <a:t>不是满射</a:t>
            </a:r>
            <a:r>
              <a:rPr lang="zh-CN" altLang="en-US" sz="1200" b="1" i="0" dirty="0">
                <a:solidFill>
                  <a:srgbClr val="0D0D0D"/>
                </a:solidFill>
                <a:effectLst/>
                <a:latin typeface="Times New Roman" panose="02020603050405020304" pitchFamily="18" charset="0"/>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53</a:t>
            </a:fld>
            <a:endParaRPr lang="zh-CN" altLang="en-US"/>
          </a:p>
        </p:txBody>
      </p:sp>
    </p:spTree>
    <p:extLst>
      <p:ext uri="{BB962C8B-B14F-4D97-AF65-F5344CB8AC3E}">
        <p14:creationId xmlns:p14="http://schemas.microsoft.com/office/powerpoint/2010/main" val="341009897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例</a:t>
            </a:r>
            <a:r>
              <a:rPr lang="en-US" altLang="zh-CN" sz="1200" b="1" dirty="0">
                <a:solidFill>
                  <a:srgbClr val="00B0F0"/>
                </a:solidFill>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Z</a:t>
            </a:r>
            <a:r>
              <a:rPr lang="en-US" altLang="zh-CN" sz="1200" b="1" i="1" baseline="-25000"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  </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2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Z</a:t>
            </a:r>
            <a:r>
              <a:rPr lang="en-US" altLang="zh-CN" sz="1200" b="1" i="1" baseline="-25000" dirty="0" err="1">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Z</a:t>
            </a:r>
            <a:r>
              <a:rPr lang="en-US" altLang="zh-CN" sz="1200" b="1" i="1" baseline="-25000" dirty="0" err="1">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2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xp</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mod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p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0, 1, … ,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p>
          <a:p>
            <a:pPr eaLnBrk="1" hangingPunct="1">
              <a:lnSpc>
                <a:spcPct val="90000"/>
              </a:lnSpc>
              <a:buFontTx/>
              <a:buNone/>
            </a:pPr>
            <a:r>
              <a:rPr lang="en-US" altLang="zh-CN" sz="1200" b="1"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分析</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的性质：</a:t>
            </a:r>
            <a:endParaRPr lang="en-US" altLang="zh-CN" sz="1100" b="1" dirty="0">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10000"/>
              </a:lnSpc>
              <a:buFontTx/>
              <a:buNone/>
            </a:pPr>
            <a:r>
              <a:rPr lang="zh-CN" altLang="en-US" sz="1100" b="1" dirty="0">
                <a:latin typeface="Calibri" panose="020F0502020204030204" pitchFamily="34" charset="0"/>
                <a:ea typeface="宋体" panose="02010600030101010101" pitchFamily="2" charset="-122"/>
                <a:cs typeface="Calibri" panose="020F0502020204030204" pitchFamily="34" charset="0"/>
                <a:sym typeface="Symbol" panose="05050102010706020507" pitchFamily="18" charset="2"/>
              </a:rPr>
              <a:t>① </a:t>
            </a:r>
            <a:r>
              <a:rPr lang="zh-CN" altLang="en-US" sz="11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同态</a:t>
            </a:r>
            <a:r>
              <a:rPr lang="en-US" altLang="zh-CN" sz="11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y</a:t>
            </a:r>
            <a:r>
              <a:rPr lang="en-US" altLang="zh-CN" sz="11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Z</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n</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y</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y</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mod </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n  </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xp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mod </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n </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yp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mod </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n </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p>
          <a:p>
            <a:pPr eaLnBrk="1" hangingPunct="1">
              <a:lnSpc>
                <a:spcPct val="110000"/>
              </a:lnSpc>
              <a:spcBef>
                <a:spcPct val="50000"/>
              </a:spcBef>
              <a:buFontTx/>
              <a:buNone/>
            </a:pPr>
            <a:r>
              <a:rPr lang="zh-CN" altLang="en-US" sz="1100" b="1" dirty="0">
                <a:solidFill>
                  <a:srgbClr val="000066"/>
                </a:solidFill>
                <a:latin typeface="Calibri" panose="020F0502020204030204" pitchFamily="34" charset="0"/>
                <a:cs typeface="Calibri" panose="020F0502020204030204" pitchFamily="34" charset="0"/>
                <a:sym typeface="Symbol" panose="05050102010706020507" pitchFamily="18" charset="2"/>
              </a:rPr>
              <a:t>②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是自同态</a:t>
            </a:r>
            <a:r>
              <a:rPr lang="en-US" altLang="zh-CN" sz="1100" b="1"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的输入和输出都是</a:t>
            </a:r>
            <a:r>
              <a:rPr lang="zh-CN" altLang="zh-CN" sz="11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100" b="1" i="1" dirty="0">
                <a:latin typeface="Times New Roman" panose="02020603050405020304" pitchFamily="18" charset="0"/>
                <a:cs typeface="Times New Roman" panose="02020603050405020304" pitchFamily="18" charset="0"/>
              </a:rPr>
              <a:t>Z</a:t>
            </a:r>
            <a:r>
              <a:rPr lang="en-US" altLang="zh-CN" sz="1100" b="1" i="1" baseline="-25000" dirty="0">
                <a:latin typeface="Times New Roman" panose="02020603050405020304" pitchFamily="18" charset="0"/>
                <a:cs typeface="Times New Roman" panose="02020603050405020304" pitchFamily="18" charset="0"/>
              </a:rPr>
              <a:t>n </a:t>
            </a:r>
            <a:r>
              <a:rPr lang="en-US" altLang="zh-CN" sz="1100" b="1"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dirty="0" err="1">
                <a:effectLst/>
                <a:latin typeface="Times New Roman" panose="02020603050405020304" pitchFamily="18" charset="0"/>
                <a:ea typeface="宋体" panose="02010600030101010101" pitchFamily="2" charset="-122"/>
                <a:cs typeface="Times New Roman" panose="02020603050405020304" pitchFamily="18" charset="0"/>
              </a:rPr>
              <a:t>并且满足同态性</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a:t>
            </a:r>
          </a:p>
          <a:p>
            <a:pPr>
              <a:lnSpc>
                <a:spcPct val="110000"/>
              </a:lnSpc>
              <a:spcBef>
                <a:spcPct val="50000"/>
              </a:spcBef>
              <a:buNone/>
            </a:pPr>
            <a:r>
              <a:rPr lang="zh-CN" altLang="en-US" sz="1100" b="1" dirty="0">
                <a:effectLst/>
                <a:latin typeface="Calibri" panose="020F0502020204030204" pitchFamily="34" charset="0"/>
                <a:ea typeface="宋体" panose="02010600030101010101" pitchFamily="2" charset="-122"/>
                <a:cs typeface="Calibri" panose="020F0502020204030204" pitchFamily="34" charset="0"/>
              </a:rPr>
              <a:t>③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如果</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与</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互质</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则</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100" b="1" i="1" baseline="-250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是单射</a:t>
            </a:r>
            <a:r>
              <a:rPr lang="en-US" altLang="zh-CN" sz="11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设</a:t>
            </a:r>
            <a:r>
              <a:rPr lang="zh-CN" altLang="zh-CN" sz="11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1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1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6</a:t>
            </a:r>
            <a:r>
              <a:rPr lang="zh-CN" altLang="zh-CN" sz="1100" b="1" i="1" dirty="0">
                <a:effectLst/>
                <a:latin typeface="Times New Roman" panose="02020603050405020304" pitchFamily="18" charset="0"/>
                <a:cs typeface="Times New Roman" panose="02020603050405020304" pitchFamily="18" charset="0"/>
              </a:rPr>
              <a:t> </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100" b="1"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1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11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不互质</a:t>
            </a:r>
            <a:r>
              <a:rPr lang="en-US" altLang="zh-CN" sz="11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dirty="0">
                <a:effectLst/>
                <a:latin typeface="Times New Roman" panose="02020603050405020304" pitchFamily="18" charset="0"/>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有</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f</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100" b="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mod</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6 </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latin typeface="Times New Roman" panose="02020603050405020304" pitchFamily="18" charset="0"/>
                <a:cs typeface="Times New Roman" panose="02020603050405020304" pitchFamily="18" charset="0"/>
              </a:rPr>
              <a:t>3</a:t>
            </a:r>
            <a:r>
              <a:rPr lang="en-US" altLang="zh-CN" sz="1100" b="1" kern="100" dirty="0">
                <a:latin typeface="Times New Roman" panose="02020603050405020304" pitchFamily="18" charset="0"/>
                <a:cs typeface="Times New Roman" panose="02020603050405020304" pitchFamily="18" charset="0"/>
              </a:rPr>
              <a:t>,</a:t>
            </a:r>
            <a:r>
              <a:rPr lang="zh-CN" altLang="en-US" sz="1100" b="1" kern="100" dirty="0">
                <a:latin typeface="Times New Roman" panose="02020603050405020304" pitchFamily="18" charset="0"/>
                <a:cs typeface="Times New Roman" panose="02020603050405020304" pitchFamily="18" charset="0"/>
              </a:rPr>
              <a:t> 但</a:t>
            </a:r>
            <a:r>
              <a:rPr lang="zh-CN" altLang="zh-CN" sz="1100" b="1" kern="100" dirty="0">
                <a:latin typeface="Times New Roman" panose="02020603050405020304" pitchFamily="18" charset="0"/>
                <a:cs typeface="Times New Roman" panose="02020603050405020304" pitchFamily="18" charset="0"/>
              </a:rPr>
              <a:t> </a:t>
            </a:r>
            <a:r>
              <a:rPr lang="en-US" altLang="zh-CN" sz="1100" b="1" i="1" kern="100" dirty="0">
                <a:solidFill>
                  <a:srgbClr val="0D0D0D"/>
                </a:solidFill>
                <a:latin typeface="Times New Roman" panose="02020603050405020304" pitchFamily="18" charset="0"/>
                <a:cs typeface="Times New Roman" panose="02020603050405020304" pitchFamily="18" charset="0"/>
              </a:rPr>
              <a:t>x</a:t>
            </a:r>
            <a:r>
              <a:rPr lang="en-US" altLang="zh-CN" sz="1100" b="1" kern="100" baseline="-25000" dirty="0">
                <a:solidFill>
                  <a:srgbClr val="0D0D0D"/>
                </a:solidFill>
                <a:latin typeface="Times New Roman" panose="02020603050405020304" pitchFamily="18" charset="0"/>
                <a:cs typeface="Times New Roman" panose="02020603050405020304" pitchFamily="18" charset="0"/>
              </a:rPr>
              <a:t>1</a:t>
            </a:r>
            <a:r>
              <a:rPr lang="en-US" altLang="zh-CN" sz="1100" b="1" i="1" kern="100" dirty="0">
                <a:solidFill>
                  <a:srgbClr val="0D0D0D"/>
                </a:solidFill>
                <a:latin typeface="Times New Roman" panose="02020603050405020304" pitchFamily="18" charset="0"/>
                <a:cs typeface="Times New Roman" panose="02020603050405020304" pitchFamily="18" charset="0"/>
              </a:rPr>
              <a:t>​</a:t>
            </a:r>
            <a:r>
              <a:rPr lang="en-US" altLang="zh-CN" sz="1100" b="1" kern="100" dirty="0">
                <a:solidFill>
                  <a:srgbClr val="0D0D0D"/>
                </a:solidFill>
                <a:latin typeface="Times New Roman" panose="02020603050405020304" pitchFamily="18" charset="0"/>
                <a:cs typeface="Times New Roman" panose="02020603050405020304" pitchFamily="18" charset="0"/>
              </a:rPr>
              <a:t>=</a:t>
            </a:r>
            <a:r>
              <a:rPr lang="zh-CN" altLang="zh-CN" sz="1100" b="1" kern="100" dirty="0">
                <a:latin typeface="Times New Roman" panose="02020603050405020304" pitchFamily="18" charset="0"/>
                <a:cs typeface="Times New Roman" panose="02020603050405020304" pitchFamily="18" charset="0"/>
              </a:rPr>
              <a:t>1</a:t>
            </a:r>
            <a:r>
              <a:rPr lang="zh-CN" altLang="zh-CN" sz="1100" b="1" i="1" kern="100" dirty="0">
                <a:latin typeface="Times New Roman" panose="02020603050405020304" pitchFamily="18" charset="0"/>
                <a:cs typeface="Times New Roman" panose="02020603050405020304" pitchFamily="18" charset="0"/>
              </a:rPr>
              <a:t> </a:t>
            </a:r>
            <a:r>
              <a:rPr lang="zh-CN" altLang="en-US" sz="1100" b="1" i="1" kern="100" dirty="0">
                <a:latin typeface="Times New Roman" panose="02020603050405020304" pitchFamily="18" charset="0"/>
                <a:cs typeface="Times New Roman" panose="02020603050405020304" pitchFamily="18" charset="0"/>
              </a:rPr>
              <a:t>≠</a:t>
            </a:r>
            <a:r>
              <a:rPr lang="en-US" altLang="zh-CN" sz="1100" b="1" i="1" kern="100" dirty="0">
                <a:solidFill>
                  <a:srgbClr val="0D0D0D"/>
                </a:solidFill>
                <a:latin typeface="Times New Roman" panose="02020603050405020304" pitchFamily="18" charset="0"/>
                <a:cs typeface="Times New Roman" panose="02020603050405020304" pitchFamily="18" charset="0"/>
              </a:rPr>
              <a:t> x</a:t>
            </a:r>
            <a:r>
              <a:rPr lang="en-US" altLang="zh-CN" sz="1100" b="1" kern="100" baseline="-25000" dirty="0">
                <a:solidFill>
                  <a:srgbClr val="0D0D0D"/>
                </a:solidFill>
                <a:latin typeface="Times New Roman" panose="02020603050405020304" pitchFamily="18" charset="0"/>
                <a:cs typeface="Times New Roman" panose="02020603050405020304" pitchFamily="18" charset="0"/>
              </a:rPr>
              <a:t>2</a:t>
            </a:r>
            <a:r>
              <a:rPr lang="en-US" altLang="zh-CN" sz="1100" b="1" i="1" kern="100" dirty="0">
                <a:solidFill>
                  <a:srgbClr val="0D0D0D"/>
                </a:solidFill>
                <a:latin typeface="Times New Roman" panose="02020603050405020304" pitchFamily="18" charset="0"/>
                <a:cs typeface="Times New Roman" panose="02020603050405020304" pitchFamily="18" charset="0"/>
              </a:rPr>
              <a:t>​ ​</a:t>
            </a:r>
            <a:r>
              <a:rPr lang="en-US" altLang="zh-CN" sz="1100" b="1" kern="100" dirty="0">
                <a:solidFill>
                  <a:srgbClr val="0D0D0D"/>
                </a:solidFill>
                <a:latin typeface="Times New Roman" panose="02020603050405020304" pitchFamily="18" charset="0"/>
                <a:cs typeface="Times New Roman" panose="02020603050405020304" pitchFamily="18" charset="0"/>
              </a:rPr>
              <a:t>=</a:t>
            </a:r>
            <a:r>
              <a:rPr lang="zh-CN" altLang="zh-CN" sz="1100" b="1" kern="100" dirty="0">
                <a:latin typeface="Times New Roman" panose="02020603050405020304" pitchFamily="18" charset="0"/>
                <a:cs typeface="Times New Roman" panose="02020603050405020304" pitchFamily="18" charset="0"/>
              </a:rPr>
              <a:t>3</a:t>
            </a:r>
            <a:r>
              <a:rPr lang="zh-CN" altLang="en-US" sz="1100" b="1" i="1" kern="100" dirty="0">
                <a:latin typeface="Times New Roman" panose="02020603050405020304" pitchFamily="18" charset="0"/>
                <a:cs typeface="Times New Roman" panose="02020603050405020304" pitchFamily="18" charset="0"/>
              </a:rPr>
              <a:t>。</a:t>
            </a:r>
            <a:r>
              <a:rPr lang="zh-CN" altLang="zh-CN" sz="1100" b="1" i="1" kern="100" dirty="0">
                <a:latin typeface="Times New Roman" panose="02020603050405020304" pitchFamily="18" charset="0"/>
                <a:cs typeface="Times New Roman" panose="02020603050405020304" pitchFamily="18" charset="0"/>
              </a:rPr>
              <a:t> </a:t>
            </a:r>
            <a:endParaRPr lang="en-US" altLang="zh-CN" sz="1100" b="1" i="1" kern="100" dirty="0">
              <a:latin typeface="Times New Roman" panose="02020603050405020304" pitchFamily="18" charset="0"/>
              <a:cs typeface="Times New Roman" panose="02020603050405020304" pitchFamily="18" charset="0"/>
            </a:endParaRPr>
          </a:p>
          <a:p>
            <a:pPr>
              <a:lnSpc>
                <a:spcPct val="110000"/>
              </a:lnSpc>
              <a:spcBef>
                <a:spcPct val="50000"/>
              </a:spcBef>
              <a:buNone/>
            </a:pPr>
            <a:r>
              <a:rPr lang="zh-CN" altLang="en-US" sz="1100" b="1" dirty="0">
                <a:effectLst/>
                <a:latin typeface="Calibri" panose="020F0502020204030204" pitchFamily="34" charset="0"/>
                <a:ea typeface="宋体" panose="02010600030101010101" pitchFamily="2" charset="-122"/>
                <a:cs typeface="Calibri" panose="020F0502020204030204" pitchFamily="34" charset="0"/>
              </a:rPr>
              <a:t>④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如果</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1100" b="1" dirty="0">
                <a:solidFill>
                  <a:srgbClr val="FF0000"/>
                </a:solidFill>
                <a:effectLst/>
                <a:latin typeface="Times New Roman" panose="02020603050405020304" pitchFamily="18" charset="0"/>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100" b="1" dirty="0">
                <a:solidFill>
                  <a:srgbClr val="FF0000"/>
                </a:solidFill>
                <a:effectLst/>
                <a:latin typeface="Times New Roman" panose="02020603050405020304" pitchFamily="18" charset="0"/>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互质</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那么</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100" b="1" i="1" baseline="-250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是满射</a:t>
            </a:r>
            <a:r>
              <a:rPr lang="en-US" altLang="zh-CN" sz="11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设</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6和</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3(不互质</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 Z</a:t>
            </a:r>
            <a:r>
              <a:rPr lang="en-US" altLang="zh-CN" sz="1100" b="1" kern="100" baseline="-25000" dirty="0">
                <a:effectLst/>
                <a:latin typeface="Times New Roman" panose="02020603050405020304" pitchFamily="18" charset="0"/>
                <a:ea typeface="宋体" panose="02010600030101010101" pitchFamily="2" charset="-122"/>
                <a:cs typeface="Times New Roman" panose="02020603050405020304" pitchFamily="18" charset="0"/>
              </a:rPr>
              <a:t>6​</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中的每一个</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y</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0有</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0</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,2,4</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y</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3,有</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,3,5</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,2,4,5</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没有对应的</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满足</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None/>
            </a:pPr>
            <a:r>
              <a:rPr lang="zh-CN" altLang="en-US" sz="1100" b="1" dirty="0">
                <a:effectLst/>
                <a:latin typeface="Calibri" panose="020F0502020204030204" pitchFamily="34" charset="0"/>
                <a:ea typeface="宋体" panose="02010600030101010101" pitchFamily="2" charset="-122"/>
                <a:cs typeface="Calibri" panose="020F0502020204030204" pitchFamily="34" charset="0"/>
              </a:rPr>
              <a:t>⑤ </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如果</a:t>
            </a:r>
            <a:r>
              <a:rPr lang="zh-CN" altLang="zh-CN" sz="11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1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altLang="zh-CN" sz="1100" b="1" i="1" dirty="0">
                <a:effectLst/>
                <a:latin typeface="Times New Roman" panose="02020603050405020304" pitchFamily="18" charset="0"/>
                <a:cs typeface="Times New Roman" panose="02020603050405020304" pitchFamily="18" charset="0"/>
              </a:rPr>
              <a:t>,</a:t>
            </a:r>
            <a:r>
              <a:rPr lang="zh-CN" altLang="zh-CN" sz="1100" b="1" dirty="0">
                <a:effectLst/>
                <a:latin typeface="Times New Roman" panose="02020603050405020304" pitchFamily="18" charset="0"/>
                <a:cs typeface="Times New Roman" panose="02020603050405020304" pitchFamily="18" charset="0"/>
              </a:rPr>
              <a:t>那么</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dirty="0">
                <a:effectLst/>
                <a:latin typeface="Times New Roman" panose="02020603050405020304" pitchFamily="18" charset="0"/>
                <a:cs typeface="Times New Roman" panose="02020603050405020304" pitchFamily="18" charset="0"/>
              </a:rPr>
              <a:t>(</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i="1" dirty="0">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100" b="1" i="1" dirty="0">
                <a:effectLst/>
                <a:latin typeface="Times New Roman" panose="02020603050405020304" pitchFamily="18" charset="0"/>
                <a:ea typeface="MS Gothic" panose="020B0609070205080204" pitchFamily="49" charset="-128"/>
                <a:cs typeface="Times New Roman" panose="02020603050405020304" pitchFamily="18" charset="0"/>
              </a:rPr>
              <a:t> </a:t>
            </a:r>
            <a:r>
              <a:rPr lang="zh-CN" altLang="zh-CN" sz="1100" b="1" dirty="0">
                <a:effectLst/>
                <a:latin typeface="Times New Roman" panose="02020603050405020304" pitchFamily="18" charset="0"/>
                <a:cs typeface="Times New Roman" panose="02020603050405020304" pitchFamily="18" charset="0"/>
              </a:rPr>
              <a:t>0</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dirty="0">
                <a:effectLst/>
                <a:latin typeface="Times New Roman" panose="02020603050405020304" pitchFamily="18" charset="0"/>
                <a:cs typeface="Times New Roman" panose="02020603050405020304" pitchFamily="18" charset="0"/>
              </a:rPr>
              <a:t>mod </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100" b="1" i="1" dirty="0">
                <a:effectLst/>
                <a:latin typeface="Times New Roman" panose="02020603050405020304" pitchFamily="18" charset="0"/>
                <a:cs typeface="Times New Roman" panose="02020603050405020304" pitchFamily="18" charset="0"/>
              </a:rPr>
              <a:t>0</a:t>
            </a:r>
            <a:r>
              <a:rPr lang="en-US" altLang="zh-CN" sz="1100" b="1" i="1" dirty="0">
                <a:effectLst/>
                <a:latin typeface="Times New Roman" panose="02020603050405020304" pitchFamily="18" charset="0"/>
                <a:cs typeface="Times New Roman" panose="02020603050405020304" pitchFamily="18" charset="0"/>
              </a:rPr>
              <a:t>, </a:t>
            </a:r>
            <a:r>
              <a:rPr lang="zh-CN" altLang="zh-CN" sz="1100" b="1" dirty="0">
                <a:effectLst/>
                <a:latin typeface="Times New Roman" panose="02020603050405020304" pitchFamily="18" charset="0"/>
                <a:cs typeface="Times New Roman" panose="02020603050405020304" pitchFamily="18" charset="0"/>
              </a:rPr>
              <a:t>这意味着它将所有输入映射到零。因此</a:t>
            </a:r>
            <a:r>
              <a:rPr lang="zh-CN" altLang="zh-CN" sz="1100" b="1" i="1" dirty="0">
                <a:effectLst/>
                <a:latin typeface="Times New Roman" panose="02020603050405020304" pitchFamily="18" charset="0"/>
                <a:ea typeface="KaTeX_Math"/>
                <a:cs typeface="Times New Roman" panose="02020603050405020304" pitchFamily="18" charset="0"/>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zh-CN" altLang="zh-CN" sz="1100" b="1" i="1" dirty="0">
                <a:effectLst/>
                <a:latin typeface="Times New Roman" panose="02020603050405020304" pitchFamily="18" charset="0"/>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是零同态</a:t>
            </a:r>
            <a:r>
              <a:rPr lang="zh-CN"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None/>
            </a:pPr>
            <a:r>
              <a:rPr lang="zh-CN" altLang="en-US" sz="1100" b="1" kern="100" dirty="0">
                <a:effectLst/>
                <a:latin typeface="Calibri" panose="020F0502020204030204" pitchFamily="34" charset="0"/>
                <a:ea typeface="宋体" panose="02010600030101010101" pitchFamily="2" charset="-122"/>
                <a:cs typeface="Calibri" panose="020F0502020204030204" pitchFamily="34" charset="0"/>
              </a:rPr>
              <a:t>⑥ </a:t>
            </a:r>
            <a:r>
              <a:rPr lang="zh-CN" altLang="zh-CN" sz="11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11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11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1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1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互质</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那么</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满足单射和满射</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双射</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的条件</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zh-CN" altLang="zh-CN" sz="11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自同构</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100" b="1" kern="1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54</a:t>
            </a:fld>
            <a:endParaRPr lang="zh-CN" altLang="en-US"/>
          </a:p>
        </p:txBody>
      </p:sp>
    </p:spTree>
    <p:extLst>
      <p:ext uri="{BB962C8B-B14F-4D97-AF65-F5344CB8AC3E}">
        <p14:creationId xmlns:p14="http://schemas.microsoft.com/office/powerpoint/2010/main" val="41866125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例</a:t>
            </a:r>
            <a:r>
              <a:rPr lang="en-US" altLang="zh-CN" sz="1200" b="1" dirty="0">
                <a:solidFill>
                  <a:srgbClr val="00B0F0"/>
                </a:solidFill>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Z</a:t>
            </a:r>
            <a:r>
              <a:rPr lang="en-US" altLang="zh-CN" sz="1200" b="1" i="1" baseline="-25000"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&gt;,  </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2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Z</a:t>
            </a:r>
            <a:r>
              <a:rPr lang="en-US" altLang="zh-CN" sz="1200" b="1" i="1" baseline="-25000" dirty="0" err="1">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Z</a:t>
            </a:r>
            <a:r>
              <a:rPr lang="en-US" altLang="zh-CN" sz="1200" b="1" i="1" baseline="-25000" dirty="0" err="1">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2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xp</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mod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p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0, 1, … ,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p>
          <a:p>
            <a:pPr eaLnBrk="1" hangingPunct="1">
              <a:lnSpc>
                <a:spcPct val="90000"/>
              </a:lnSpc>
              <a:buFontTx/>
              <a:buNone/>
            </a:pPr>
            <a:r>
              <a:rPr lang="en-US" altLang="zh-CN" sz="1200" b="1"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分析</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的性质：</a:t>
            </a:r>
            <a:endParaRPr lang="en-US" altLang="zh-CN" sz="1100" b="1" dirty="0">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10000"/>
              </a:lnSpc>
              <a:buFontTx/>
              <a:buNone/>
            </a:pPr>
            <a:r>
              <a:rPr lang="zh-CN" altLang="en-US" sz="1100" b="1" dirty="0">
                <a:latin typeface="Calibri" panose="020F0502020204030204" pitchFamily="34" charset="0"/>
                <a:ea typeface="宋体" panose="02010600030101010101" pitchFamily="2" charset="-122"/>
                <a:cs typeface="Calibri" panose="020F0502020204030204" pitchFamily="34" charset="0"/>
                <a:sym typeface="Symbol" panose="05050102010706020507" pitchFamily="18" charset="2"/>
              </a:rPr>
              <a:t>① </a:t>
            </a:r>
            <a:r>
              <a:rPr lang="zh-CN" altLang="en-US" sz="11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同态</a:t>
            </a:r>
            <a:r>
              <a:rPr lang="en-US" altLang="zh-CN" sz="11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y</a:t>
            </a:r>
            <a:r>
              <a:rPr lang="en-US" altLang="zh-CN" sz="11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Z</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n</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y</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y</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mod </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n  </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xp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mod </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n </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yp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mod </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n </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p>
          <a:p>
            <a:pPr eaLnBrk="1" hangingPunct="1">
              <a:lnSpc>
                <a:spcPct val="110000"/>
              </a:lnSpc>
              <a:spcBef>
                <a:spcPct val="50000"/>
              </a:spcBef>
              <a:buFontTx/>
              <a:buNone/>
            </a:pPr>
            <a:r>
              <a:rPr lang="zh-CN" altLang="en-US" sz="1100" b="1" dirty="0">
                <a:solidFill>
                  <a:srgbClr val="000066"/>
                </a:solidFill>
                <a:latin typeface="Calibri" panose="020F0502020204030204" pitchFamily="34" charset="0"/>
                <a:cs typeface="Calibri" panose="020F0502020204030204" pitchFamily="34" charset="0"/>
                <a:sym typeface="Symbol" panose="05050102010706020507" pitchFamily="18" charset="2"/>
              </a:rPr>
              <a:t>②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是自同态</a:t>
            </a:r>
            <a:r>
              <a:rPr lang="en-US" altLang="zh-CN" sz="1100" b="1"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的输入和输出都是</a:t>
            </a:r>
            <a:r>
              <a:rPr lang="zh-CN" altLang="zh-CN" sz="11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100" b="1" i="1" dirty="0">
                <a:latin typeface="Times New Roman" panose="02020603050405020304" pitchFamily="18" charset="0"/>
                <a:cs typeface="Times New Roman" panose="02020603050405020304" pitchFamily="18" charset="0"/>
              </a:rPr>
              <a:t>Z</a:t>
            </a:r>
            <a:r>
              <a:rPr lang="en-US" altLang="zh-CN" sz="1100" b="1" i="1" baseline="-25000" dirty="0">
                <a:latin typeface="Times New Roman" panose="02020603050405020304" pitchFamily="18" charset="0"/>
                <a:cs typeface="Times New Roman" panose="02020603050405020304" pitchFamily="18" charset="0"/>
              </a:rPr>
              <a:t>n </a:t>
            </a:r>
            <a:r>
              <a:rPr lang="en-US" altLang="zh-CN" sz="1100" b="1"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dirty="0" err="1">
                <a:effectLst/>
                <a:latin typeface="Times New Roman" panose="02020603050405020304" pitchFamily="18" charset="0"/>
                <a:ea typeface="宋体" panose="02010600030101010101" pitchFamily="2" charset="-122"/>
                <a:cs typeface="Times New Roman" panose="02020603050405020304" pitchFamily="18" charset="0"/>
              </a:rPr>
              <a:t>并且满足同态性</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a:t>
            </a:r>
          </a:p>
          <a:p>
            <a:pPr>
              <a:lnSpc>
                <a:spcPct val="110000"/>
              </a:lnSpc>
              <a:spcBef>
                <a:spcPct val="50000"/>
              </a:spcBef>
              <a:buNone/>
            </a:pPr>
            <a:r>
              <a:rPr lang="zh-CN" altLang="en-US" sz="1100" b="1" dirty="0">
                <a:effectLst/>
                <a:latin typeface="Calibri" panose="020F0502020204030204" pitchFamily="34" charset="0"/>
                <a:ea typeface="宋体" panose="02010600030101010101" pitchFamily="2" charset="-122"/>
                <a:cs typeface="Calibri" panose="020F0502020204030204" pitchFamily="34" charset="0"/>
              </a:rPr>
              <a:t>③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如果</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与</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互质</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则</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100" b="1" i="1" baseline="-250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是单射</a:t>
            </a:r>
            <a:r>
              <a:rPr lang="en-US" altLang="zh-CN" sz="11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设</a:t>
            </a:r>
            <a:r>
              <a:rPr lang="zh-CN" altLang="zh-CN" sz="11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1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1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6</a:t>
            </a:r>
            <a:r>
              <a:rPr lang="zh-CN" altLang="zh-CN" sz="1100" b="1" i="1" dirty="0">
                <a:effectLst/>
                <a:latin typeface="Times New Roman" panose="02020603050405020304" pitchFamily="18" charset="0"/>
                <a:cs typeface="Times New Roman" panose="02020603050405020304" pitchFamily="18" charset="0"/>
              </a:rPr>
              <a:t> </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100" b="1"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1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11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不互质</a:t>
            </a:r>
            <a:r>
              <a:rPr lang="en-US" altLang="zh-CN" sz="11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dirty="0">
                <a:effectLst/>
                <a:latin typeface="Times New Roman" panose="02020603050405020304" pitchFamily="18" charset="0"/>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有</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f</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100" b="1" kern="100"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mod</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6 </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latin typeface="Times New Roman" panose="02020603050405020304" pitchFamily="18" charset="0"/>
                <a:cs typeface="Times New Roman" panose="02020603050405020304" pitchFamily="18" charset="0"/>
              </a:rPr>
              <a:t>3</a:t>
            </a:r>
            <a:r>
              <a:rPr lang="en-US" altLang="zh-CN" sz="1100" b="1" kern="100" dirty="0">
                <a:latin typeface="Times New Roman" panose="02020603050405020304" pitchFamily="18" charset="0"/>
                <a:cs typeface="Times New Roman" panose="02020603050405020304" pitchFamily="18" charset="0"/>
              </a:rPr>
              <a:t>,</a:t>
            </a:r>
            <a:r>
              <a:rPr lang="zh-CN" altLang="en-US" sz="1100" b="1" kern="100" dirty="0">
                <a:latin typeface="Times New Roman" panose="02020603050405020304" pitchFamily="18" charset="0"/>
                <a:cs typeface="Times New Roman" panose="02020603050405020304" pitchFamily="18" charset="0"/>
              </a:rPr>
              <a:t> 但</a:t>
            </a:r>
            <a:r>
              <a:rPr lang="zh-CN" altLang="zh-CN" sz="1100" b="1" kern="100" dirty="0">
                <a:latin typeface="Times New Roman" panose="02020603050405020304" pitchFamily="18" charset="0"/>
                <a:cs typeface="Times New Roman" panose="02020603050405020304" pitchFamily="18" charset="0"/>
              </a:rPr>
              <a:t> </a:t>
            </a:r>
            <a:r>
              <a:rPr lang="en-US" altLang="zh-CN" sz="1100" b="1" i="1" kern="100" dirty="0">
                <a:solidFill>
                  <a:srgbClr val="0D0D0D"/>
                </a:solidFill>
                <a:latin typeface="Times New Roman" panose="02020603050405020304" pitchFamily="18" charset="0"/>
                <a:cs typeface="Times New Roman" panose="02020603050405020304" pitchFamily="18" charset="0"/>
              </a:rPr>
              <a:t>x</a:t>
            </a:r>
            <a:r>
              <a:rPr lang="en-US" altLang="zh-CN" sz="1100" b="1" kern="100" baseline="-25000" dirty="0">
                <a:solidFill>
                  <a:srgbClr val="0D0D0D"/>
                </a:solidFill>
                <a:latin typeface="Times New Roman" panose="02020603050405020304" pitchFamily="18" charset="0"/>
                <a:cs typeface="Times New Roman" panose="02020603050405020304" pitchFamily="18" charset="0"/>
              </a:rPr>
              <a:t>1</a:t>
            </a:r>
            <a:r>
              <a:rPr lang="en-US" altLang="zh-CN" sz="1100" b="1" i="1" kern="100" dirty="0">
                <a:solidFill>
                  <a:srgbClr val="0D0D0D"/>
                </a:solidFill>
                <a:latin typeface="Times New Roman" panose="02020603050405020304" pitchFamily="18" charset="0"/>
                <a:cs typeface="Times New Roman" panose="02020603050405020304" pitchFamily="18" charset="0"/>
              </a:rPr>
              <a:t>​</a:t>
            </a:r>
            <a:r>
              <a:rPr lang="en-US" altLang="zh-CN" sz="1100" b="1" kern="100" dirty="0">
                <a:solidFill>
                  <a:srgbClr val="0D0D0D"/>
                </a:solidFill>
                <a:latin typeface="Times New Roman" panose="02020603050405020304" pitchFamily="18" charset="0"/>
                <a:cs typeface="Times New Roman" panose="02020603050405020304" pitchFamily="18" charset="0"/>
              </a:rPr>
              <a:t>=</a:t>
            </a:r>
            <a:r>
              <a:rPr lang="zh-CN" altLang="zh-CN" sz="1100" b="1" kern="100" dirty="0">
                <a:latin typeface="Times New Roman" panose="02020603050405020304" pitchFamily="18" charset="0"/>
                <a:cs typeface="Times New Roman" panose="02020603050405020304" pitchFamily="18" charset="0"/>
              </a:rPr>
              <a:t>1</a:t>
            </a:r>
            <a:r>
              <a:rPr lang="zh-CN" altLang="zh-CN" sz="1100" b="1" i="1" kern="100" dirty="0">
                <a:latin typeface="Times New Roman" panose="02020603050405020304" pitchFamily="18" charset="0"/>
                <a:cs typeface="Times New Roman" panose="02020603050405020304" pitchFamily="18" charset="0"/>
              </a:rPr>
              <a:t> </a:t>
            </a:r>
            <a:r>
              <a:rPr lang="zh-CN" altLang="en-US" sz="1100" b="1" i="1" kern="100" dirty="0">
                <a:latin typeface="Times New Roman" panose="02020603050405020304" pitchFamily="18" charset="0"/>
                <a:cs typeface="Times New Roman" panose="02020603050405020304" pitchFamily="18" charset="0"/>
              </a:rPr>
              <a:t>≠</a:t>
            </a:r>
            <a:r>
              <a:rPr lang="en-US" altLang="zh-CN" sz="1100" b="1" i="1" kern="100" dirty="0">
                <a:solidFill>
                  <a:srgbClr val="0D0D0D"/>
                </a:solidFill>
                <a:latin typeface="Times New Roman" panose="02020603050405020304" pitchFamily="18" charset="0"/>
                <a:cs typeface="Times New Roman" panose="02020603050405020304" pitchFamily="18" charset="0"/>
              </a:rPr>
              <a:t> x</a:t>
            </a:r>
            <a:r>
              <a:rPr lang="en-US" altLang="zh-CN" sz="1100" b="1" kern="100" baseline="-25000" dirty="0">
                <a:solidFill>
                  <a:srgbClr val="0D0D0D"/>
                </a:solidFill>
                <a:latin typeface="Times New Roman" panose="02020603050405020304" pitchFamily="18" charset="0"/>
                <a:cs typeface="Times New Roman" panose="02020603050405020304" pitchFamily="18" charset="0"/>
              </a:rPr>
              <a:t>2</a:t>
            </a:r>
            <a:r>
              <a:rPr lang="en-US" altLang="zh-CN" sz="1100" b="1" i="1" kern="100" dirty="0">
                <a:solidFill>
                  <a:srgbClr val="0D0D0D"/>
                </a:solidFill>
                <a:latin typeface="Times New Roman" panose="02020603050405020304" pitchFamily="18" charset="0"/>
                <a:cs typeface="Times New Roman" panose="02020603050405020304" pitchFamily="18" charset="0"/>
              </a:rPr>
              <a:t>​ ​</a:t>
            </a:r>
            <a:r>
              <a:rPr lang="en-US" altLang="zh-CN" sz="1100" b="1" kern="100" dirty="0">
                <a:solidFill>
                  <a:srgbClr val="0D0D0D"/>
                </a:solidFill>
                <a:latin typeface="Times New Roman" panose="02020603050405020304" pitchFamily="18" charset="0"/>
                <a:cs typeface="Times New Roman" panose="02020603050405020304" pitchFamily="18" charset="0"/>
              </a:rPr>
              <a:t>=</a:t>
            </a:r>
            <a:r>
              <a:rPr lang="zh-CN" altLang="zh-CN" sz="1100" b="1" kern="100" dirty="0">
                <a:latin typeface="Times New Roman" panose="02020603050405020304" pitchFamily="18" charset="0"/>
                <a:cs typeface="Times New Roman" panose="02020603050405020304" pitchFamily="18" charset="0"/>
              </a:rPr>
              <a:t>3</a:t>
            </a:r>
            <a:r>
              <a:rPr lang="zh-CN" altLang="en-US" sz="1100" b="1" i="1" kern="100" dirty="0">
                <a:latin typeface="Times New Roman" panose="02020603050405020304" pitchFamily="18" charset="0"/>
                <a:cs typeface="Times New Roman" panose="02020603050405020304" pitchFamily="18" charset="0"/>
              </a:rPr>
              <a:t>。</a:t>
            </a:r>
            <a:r>
              <a:rPr lang="zh-CN" altLang="zh-CN" sz="1100" b="1" i="1" kern="100" dirty="0">
                <a:latin typeface="Times New Roman" panose="02020603050405020304" pitchFamily="18" charset="0"/>
                <a:cs typeface="Times New Roman" panose="02020603050405020304" pitchFamily="18" charset="0"/>
              </a:rPr>
              <a:t> </a:t>
            </a:r>
            <a:endParaRPr lang="en-US" altLang="zh-CN" sz="1100" b="1" i="1" kern="100" dirty="0">
              <a:latin typeface="Times New Roman" panose="02020603050405020304" pitchFamily="18" charset="0"/>
              <a:cs typeface="Times New Roman" panose="02020603050405020304" pitchFamily="18" charset="0"/>
            </a:endParaRPr>
          </a:p>
          <a:p>
            <a:pPr>
              <a:lnSpc>
                <a:spcPct val="110000"/>
              </a:lnSpc>
              <a:spcBef>
                <a:spcPct val="50000"/>
              </a:spcBef>
              <a:buNone/>
            </a:pPr>
            <a:r>
              <a:rPr lang="zh-CN" altLang="en-US" sz="1100" b="1" dirty="0">
                <a:effectLst/>
                <a:latin typeface="Calibri" panose="020F0502020204030204" pitchFamily="34" charset="0"/>
                <a:ea typeface="宋体" panose="02010600030101010101" pitchFamily="2" charset="-122"/>
                <a:cs typeface="Calibri" panose="020F0502020204030204" pitchFamily="34" charset="0"/>
              </a:rPr>
              <a:t>④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如果</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1100" b="1" dirty="0">
                <a:solidFill>
                  <a:srgbClr val="FF0000"/>
                </a:solidFill>
                <a:effectLst/>
                <a:latin typeface="Times New Roman" panose="02020603050405020304" pitchFamily="18" charset="0"/>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100" b="1" dirty="0">
                <a:solidFill>
                  <a:srgbClr val="FF0000"/>
                </a:solidFill>
                <a:effectLst/>
                <a:latin typeface="Times New Roman" panose="02020603050405020304" pitchFamily="18" charset="0"/>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互质</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那么</a:t>
            </a:r>
            <a:r>
              <a:rPr lang="zh-CN" altLang="zh-CN" sz="1100" b="1" dirty="0">
                <a:solidFill>
                  <a:srgbClr val="FF0000"/>
                </a:solidFill>
                <a:effectLst/>
                <a:latin typeface="Times New Roman" panose="02020603050405020304" pitchFamily="18" charset="0"/>
                <a:ea typeface="Segoe UI" panose="020B0502040204020203" pitchFamily="34" charset="0"/>
                <a:cs typeface="Times New Roman" panose="02020603050405020304" pitchFamily="18" charset="0"/>
              </a:rPr>
              <a:t> </a:t>
            </a:r>
            <a:r>
              <a:rPr lang="en-US" altLang="zh-CN" sz="1100" b="1" i="1"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100" b="1" i="1" baseline="-250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是满射</a:t>
            </a:r>
            <a:r>
              <a:rPr lang="en-US" altLang="zh-CN" sz="11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设</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6和</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3(不互质</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 Z</a:t>
            </a:r>
            <a:r>
              <a:rPr lang="en-US" altLang="zh-CN" sz="1100" b="1" kern="100" baseline="-25000" dirty="0">
                <a:effectLst/>
                <a:latin typeface="Times New Roman" panose="02020603050405020304" pitchFamily="18" charset="0"/>
                <a:ea typeface="宋体" panose="02010600030101010101" pitchFamily="2" charset="-122"/>
                <a:cs typeface="Times New Roman" panose="02020603050405020304" pitchFamily="18" charset="0"/>
              </a:rPr>
              <a:t>6​</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中的每一个</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y</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0有</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0</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,2,4</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y</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3,有</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,3,5</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,2,4,5</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没有对应的</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满足</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None/>
            </a:pPr>
            <a:r>
              <a:rPr lang="zh-CN" altLang="en-US" sz="1100" b="1" dirty="0">
                <a:effectLst/>
                <a:latin typeface="Calibri" panose="020F0502020204030204" pitchFamily="34" charset="0"/>
                <a:ea typeface="宋体" panose="02010600030101010101" pitchFamily="2" charset="-122"/>
                <a:cs typeface="Calibri" panose="020F0502020204030204" pitchFamily="34" charset="0"/>
              </a:rPr>
              <a:t>⑤ </a:t>
            </a:r>
            <a:r>
              <a:rPr lang="zh-CN" altLang="zh-CN" sz="1100" b="1" dirty="0">
                <a:effectLst/>
                <a:latin typeface="Times New Roman" panose="02020603050405020304" pitchFamily="18" charset="0"/>
                <a:ea typeface="宋体" panose="02010600030101010101" pitchFamily="2" charset="-122"/>
                <a:cs typeface="Times New Roman" panose="02020603050405020304" pitchFamily="18" charset="0"/>
              </a:rPr>
              <a:t>如果</a:t>
            </a:r>
            <a:r>
              <a:rPr lang="zh-CN" altLang="zh-CN" sz="11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100" b="1" i="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altLang="zh-CN" sz="1100" b="1" i="1" dirty="0">
                <a:effectLst/>
                <a:latin typeface="Times New Roman" panose="02020603050405020304" pitchFamily="18" charset="0"/>
                <a:cs typeface="Times New Roman" panose="02020603050405020304" pitchFamily="18" charset="0"/>
              </a:rPr>
              <a:t>,</a:t>
            </a:r>
            <a:r>
              <a:rPr lang="zh-CN" altLang="zh-CN" sz="1100" b="1" dirty="0">
                <a:effectLst/>
                <a:latin typeface="Times New Roman" panose="02020603050405020304" pitchFamily="18" charset="0"/>
                <a:cs typeface="Times New Roman" panose="02020603050405020304" pitchFamily="18" charset="0"/>
              </a:rPr>
              <a:t>那么</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dirty="0">
                <a:effectLst/>
                <a:latin typeface="Times New Roman" panose="02020603050405020304" pitchFamily="18" charset="0"/>
                <a:cs typeface="Times New Roman" panose="02020603050405020304" pitchFamily="18" charset="0"/>
              </a:rPr>
              <a:t>(</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i="1" dirty="0">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100" b="1" i="1" dirty="0">
                <a:effectLst/>
                <a:latin typeface="Times New Roman" panose="02020603050405020304" pitchFamily="18" charset="0"/>
                <a:ea typeface="MS Gothic" panose="020B0609070205080204" pitchFamily="49" charset="-128"/>
                <a:cs typeface="Times New Roman" panose="02020603050405020304" pitchFamily="18" charset="0"/>
              </a:rPr>
              <a:t> </a:t>
            </a:r>
            <a:r>
              <a:rPr lang="zh-CN" altLang="zh-CN" sz="1100" b="1" dirty="0">
                <a:effectLst/>
                <a:latin typeface="Times New Roman" panose="02020603050405020304" pitchFamily="18" charset="0"/>
                <a:cs typeface="Times New Roman" panose="02020603050405020304" pitchFamily="18" charset="0"/>
              </a:rPr>
              <a:t>0</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dirty="0">
                <a:effectLst/>
                <a:latin typeface="Times New Roman" panose="02020603050405020304" pitchFamily="18" charset="0"/>
                <a:cs typeface="Times New Roman" panose="02020603050405020304" pitchFamily="18" charset="0"/>
              </a:rPr>
              <a:t>mod </a:t>
            </a:r>
            <a:r>
              <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100" b="1" i="1" dirty="0">
                <a:effectLst/>
                <a:latin typeface="Times New Roman" panose="02020603050405020304" pitchFamily="18" charset="0"/>
                <a:cs typeface="Times New Roman" panose="02020603050405020304" pitchFamily="18" charset="0"/>
              </a:rPr>
              <a:t>0</a:t>
            </a:r>
            <a:r>
              <a:rPr lang="en-US" altLang="zh-CN" sz="1100" b="1" i="1" dirty="0">
                <a:effectLst/>
                <a:latin typeface="Times New Roman" panose="02020603050405020304" pitchFamily="18" charset="0"/>
                <a:cs typeface="Times New Roman" panose="02020603050405020304" pitchFamily="18" charset="0"/>
              </a:rPr>
              <a:t>, </a:t>
            </a:r>
            <a:r>
              <a:rPr lang="zh-CN" altLang="zh-CN" sz="1100" b="1" dirty="0">
                <a:effectLst/>
                <a:latin typeface="Times New Roman" panose="02020603050405020304" pitchFamily="18" charset="0"/>
                <a:cs typeface="Times New Roman" panose="02020603050405020304" pitchFamily="18" charset="0"/>
              </a:rPr>
              <a:t>这意味着它将所有输入映射到零。因此</a:t>
            </a:r>
            <a:r>
              <a:rPr lang="zh-CN" altLang="zh-CN" sz="1100" b="1" i="1" dirty="0">
                <a:effectLst/>
                <a:latin typeface="Times New Roman" panose="02020603050405020304" pitchFamily="18" charset="0"/>
                <a:ea typeface="KaTeX_Math"/>
                <a:cs typeface="Times New Roman" panose="02020603050405020304" pitchFamily="18" charset="0"/>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zh-CN" altLang="zh-CN" sz="1100" b="1" i="1" dirty="0">
                <a:effectLst/>
                <a:latin typeface="Times New Roman" panose="02020603050405020304" pitchFamily="18" charset="0"/>
                <a:cs typeface="Times New Roman" panose="02020603050405020304" pitchFamily="18" charset="0"/>
              </a:rPr>
              <a:t> </a:t>
            </a:r>
            <a:r>
              <a:rPr lang="zh-CN" altLang="zh-CN" sz="1100" b="1"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是零同态</a:t>
            </a:r>
            <a:r>
              <a:rPr lang="zh-CN" altLang="zh-CN" sz="1100" b="1" i="1"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100" b="1" i="1"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spcBef>
                <a:spcPct val="50000"/>
              </a:spcBef>
              <a:buNone/>
            </a:pPr>
            <a:r>
              <a:rPr lang="zh-CN" altLang="en-US" sz="1100" b="1" kern="100" dirty="0">
                <a:effectLst/>
                <a:latin typeface="Calibri" panose="020F0502020204030204" pitchFamily="34" charset="0"/>
                <a:ea typeface="宋体" panose="02010600030101010101" pitchFamily="2" charset="-122"/>
                <a:cs typeface="Calibri" panose="020F0502020204030204" pitchFamily="34" charset="0"/>
              </a:rPr>
              <a:t>⑥ </a:t>
            </a:r>
            <a:r>
              <a:rPr lang="zh-CN" altLang="zh-CN" sz="11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11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zh-CN" altLang="zh-CN" sz="11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1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1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互质</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那么</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满足单射和满射</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双射</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的条件</a:t>
            </a:r>
            <a:r>
              <a:rPr lang="en-US"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zh-CN" sz="1100" b="1" i="1" baseline="-25000" dirty="0" err="1">
                <a:latin typeface="Times New Roman" panose="02020603050405020304" pitchFamily="18" charset="0"/>
                <a:cs typeface="Times New Roman" panose="02020603050405020304" pitchFamily="18" charset="0"/>
                <a:sym typeface="Symbol" panose="05050102010706020507" pitchFamily="18" charset="2"/>
              </a:rPr>
              <a:t>p</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zh-CN" altLang="zh-CN" sz="11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自同构</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100" b="1" kern="1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55</a:t>
            </a:fld>
            <a:endParaRPr lang="zh-CN" altLang="en-US"/>
          </a:p>
        </p:txBody>
      </p:sp>
    </p:spTree>
    <p:extLst>
      <p:ext uri="{BB962C8B-B14F-4D97-AF65-F5344CB8AC3E}">
        <p14:creationId xmlns:p14="http://schemas.microsoft.com/office/powerpoint/2010/main" val="33048562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indent="-457200" eaLnBrk="1" hangingPunct="1">
              <a:lnSpc>
                <a:spcPct val="120000"/>
              </a:lnSpc>
              <a:buFontTx/>
              <a:buNone/>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和 </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是代数系统，</a:t>
            </a:r>
            <a:r>
              <a:rPr lang="en-US" altLang="zh-CN" sz="1200" b="1" i="1" dirty="0">
                <a:latin typeface="Times New Roman" panose="02020603050405020304" pitchFamily="18" charset="0"/>
                <a:cs typeface="Times New Roman" panose="02020603050405020304" pitchFamily="18" charset="0"/>
              </a:rPr>
              <a:t>f </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是满同态映射</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则</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 </a:t>
            </a:r>
          </a:p>
          <a:p>
            <a:pPr marL="457200" indent="-457200" eaLnBrk="1" hangingPunct="1">
              <a:lnSpc>
                <a:spcPct val="120000"/>
              </a:lnSpc>
              <a:buFontTx/>
              <a:buAutoNum type="arabicParenBoth"/>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中的∘运算是可交换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可结合</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幂等</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的，那么</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中</a:t>
            </a:r>
          </a:p>
          <a:p>
            <a:pPr marL="457200" indent="-457200" eaLnBrk="1" hangingPunct="1">
              <a:lnSpc>
                <a:spcPct val="12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对应的</a:t>
            </a:r>
            <a:r>
              <a:rPr lang="zh-CN" altLang="en-US"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运算也是</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可交换</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可结合、幂等的</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457200" indent="-457200" eaLnBrk="1" hangingPunct="1">
              <a:lnSpc>
                <a:spcPct val="120000"/>
              </a:lnSpc>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中的∘对运算是可分配的，那么</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中对应的</a:t>
            </a:r>
            <a:r>
              <a:rPr lang="zh-CN" altLang="en-US"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对</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运算也是</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可分配</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p>
          <a:p>
            <a:pPr marL="457200" indent="-457200" eaLnBrk="1" hangingPunct="1">
              <a:lnSpc>
                <a:spcPct val="120000"/>
              </a:lnSpc>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中的∘和运算是可吸收的，那么</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中对应的</a:t>
            </a:r>
            <a:r>
              <a:rPr lang="zh-CN" altLang="en-US"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和</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运算也是</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可吸收</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457200" indent="-457200" eaLnBrk="1" hangingPunct="1">
              <a:lnSpc>
                <a:spcPct val="120000"/>
              </a:lnSpc>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(4)</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中∘运算具有单位元</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或零元</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，那么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或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c</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中关于对应的∘运算的</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单位元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或零元</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p>
          <a:p>
            <a:pPr marL="457200" indent="-457200" eaLnBrk="1" hangingPunct="1">
              <a:lnSpc>
                <a:spcPct val="120000"/>
              </a:lnSpc>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(5)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若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关于</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V</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中 ∘运算</a:t>
            </a:r>
            <a:r>
              <a:rPr lang="zh-CN" altLang="en-US" sz="1200" b="1" dirty="0">
                <a:latin typeface="Times New Roman" panose="02020603050405020304" pitchFamily="18" charset="0"/>
                <a:cs typeface="Times New Roman" panose="02020603050405020304" pitchFamily="18" charset="0"/>
              </a:rPr>
              <a:t>的逆元为 </a:t>
            </a:r>
            <a:r>
              <a:rPr lang="en-US" altLang="zh-CN" sz="1200" b="1" i="1" dirty="0">
                <a:latin typeface="Times New Roman" panose="02020603050405020304" pitchFamily="18" charset="0"/>
                <a:cs typeface="Times New Roman" panose="02020603050405020304" pitchFamily="18" charset="0"/>
              </a:rPr>
              <a:t>x</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那么 </a:t>
            </a:r>
            <a:r>
              <a:rPr lang="en-US" altLang="zh-CN" sz="1200" b="1" i="1" dirty="0">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在</a:t>
            </a:r>
            <a:r>
              <a:rPr lang="en-US" altLang="zh-CN" sz="1200" b="1" i="1" dirty="0">
                <a:latin typeface="Times New Roman" panose="02020603050405020304" pitchFamily="18" charset="0"/>
                <a:cs typeface="Times New Roman" panose="02020603050405020304" pitchFamily="18" charset="0"/>
              </a:rPr>
              <a:t>V</a:t>
            </a:r>
            <a:r>
              <a:rPr lang="en-US" altLang="zh-CN" sz="1200" b="1" baseline="-25000"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中关于</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对应的∘</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运算的</a:t>
            </a:r>
            <a:r>
              <a:rPr lang="zh-CN" altLang="en-US"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逆元</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为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x</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dirty="0">
                <a:latin typeface="Times New Roman" panose="02020603050405020304" pitchFamily="18" charset="0"/>
                <a:cs typeface="Times New Roman" panose="02020603050405020304" pitchFamily="18" charset="0"/>
                <a:sym typeface="Symbol" panose="05050102010706020507" pitchFamily="18" charset="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56</a:t>
            </a:fld>
            <a:endParaRPr lang="zh-CN" altLang="en-US"/>
          </a:p>
        </p:txBody>
      </p:sp>
    </p:spTree>
    <p:extLst>
      <p:ext uri="{BB962C8B-B14F-4D97-AF65-F5344CB8AC3E}">
        <p14:creationId xmlns:p14="http://schemas.microsoft.com/office/powerpoint/2010/main" val="32710448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57</a:t>
            </a:fld>
            <a:endParaRPr lang="zh-CN" altLang="en-US"/>
          </a:p>
        </p:txBody>
      </p:sp>
    </p:spTree>
    <p:extLst>
      <p:ext uri="{BB962C8B-B14F-4D97-AF65-F5344CB8AC3E}">
        <p14:creationId xmlns:p14="http://schemas.microsoft.com/office/powerpoint/2010/main" val="17497357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58</a:t>
            </a:fld>
            <a:endParaRPr lang="zh-CN" altLang="en-US"/>
          </a:p>
        </p:txBody>
      </p:sp>
    </p:spTree>
    <p:extLst>
      <p:ext uri="{BB962C8B-B14F-4D97-AF65-F5344CB8AC3E}">
        <p14:creationId xmlns:p14="http://schemas.microsoft.com/office/powerpoint/2010/main" val="10806212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9.1 </a:t>
            </a:r>
            <a:r>
              <a:rPr lang="zh-CN" altLang="en-US" dirty="0"/>
              <a:t>二元运算及其性质 </a:t>
            </a:r>
            <a:r>
              <a:rPr lang="en-US" altLang="zh-CN" dirty="0"/>
              <a:t>9.2 </a:t>
            </a:r>
            <a:r>
              <a:rPr lang="zh-CN" altLang="en-US" dirty="0"/>
              <a:t>代数系统 </a:t>
            </a:r>
            <a:r>
              <a:rPr lang="en-US" altLang="zh-CN" dirty="0"/>
              <a:t>9.3 </a:t>
            </a:r>
            <a:r>
              <a:rPr lang="zh-CN" altLang="en-US" dirty="0"/>
              <a:t>几个典型的代数系统</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59</a:t>
            </a:fld>
            <a:endParaRPr lang="zh-CN" altLang="en-US"/>
          </a:p>
        </p:txBody>
      </p:sp>
    </p:spTree>
    <p:extLst>
      <p:ext uri="{BB962C8B-B14F-4D97-AF65-F5344CB8AC3E}">
        <p14:creationId xmlns:p14="http://schemas.microsoft.com/office/powerpoint/2010/main" val="14439216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50000"/>
              </a:spcBef>
              <a:buNone/>
            </a:pPr>
            <a:r>
              <a:rPr lang="en-US" altLang="zh-CN" b="1" dirty="0"/>
              <a:t>9.3.1 </a:t>
            </a:r>
            <a:r>
              <a:rPr lang="zh-CN" altLang="en-US" b="1" dirty="0"/>
              <a:t>半群与独异点</a:t>
            </a:r>
            <a:endParaRPr lang="en-US" altLang="zh-CN" b="1" dirty="0"/>
          </a:p>
          <a:p>
            <a:pPr marL="0" indent="0">
              <a:spcBef>
                <a:spcPct val="50000"/>
              </a:spcBef>
              <a:buNone/>
            </a:pPr>
            <a:endParaRPr lang="zh-CN" altLang="en-US" b="1" dirty="0"/>
          </a:p>
          <a:p>
            <a:pPr marL="0" indent="0">
              <a:spcBef>
                <a:spcPct val="50000"/>
              </a:spcBef>
              <a:buNone/>
            </a:pPr>
            <a:r>
              <a:rPr lang="en-US" altLang="zh-CN" b="1" dirty="0"/>
              <a:t>9.3.2 </a:t>
            </a:r>
            <a:r>
              <a:rPr lang="zh-CN" altLang="en-US" b="1" dirty="0"/>
              <a:t>群</a:t>
            </a:r>
            <a:endParaRPr lang="en-US" altLang="zh-CN" b="1" dirty="0"/>
          </a:p>
          <a:p>
            <a:pPr marL="0" indent="0">
              <a:spcBef>
                <a:spcPct val="50000"/>
              </a:spcBef>
              <a:buNone/>
            </a:pPr>
            <a:endParaRPr lang="zh-CN" altLang="en-US" b="1" dirty="0"/>
          </a:p>
          <a:p>
            <a:pPr marL="0" indent="0">
              <a:spcBef>
                <a:spcPct val="50000"/>
              </a:spcBef>
              <a:buNone/>
            </a:pPr>
            <a:r>
              <a:rPr lang="en-US" altLang="zh-CN" b="1" dirty="0"/>
              <a:t>9.3.3 </a:t>
            </a:r>
            <a:r>
              <a:rPr lang="zh-CN" altLang="en-US" b="1" dirty="0"/>
              <a:t>环与域</a:t>
            </a:r>
            <a:endParaRPr lang="en-US" altLang="zh-CN" b="1" dirty="0"/>
          </a:p>
          <a:p>
            <a:pPr marL="0" indent="0">
              <a:spcBef>
                <a:spcPct val="50000"/>
              </a:spcBef>
              <a:buNone/>
            </a:pPr>
            <a:endParaRPr lang="zh-CN" altLang="en-US" b="1" dirty="0"/>
          </a:p>
          <a:p>
            <a:pPr marL="0" indent="0">
              <a:spcBef>
                <a:spcPct val="50000"/>
              </a:spcBef>
              <a:buNone/>
            </a:pPr>
            <a:r>
              <a:rPr lang="en-US" altLang="zh-CN" b="1" dirty="0"/>
              <a:t>9.3.4 </a:t>
            </a:r>
            <a:r>
              <a:rPr lang="zh-CN" altLang="en-US" b="1" dirty="0"/>
              <a:t>格与布尔代数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60</a:t>
            </a:fld>
            <a:endParaRPr lang="zh-CN" altLang="en-US"/>
          </a:p>
        </p:txBody>
      </p:sp>
    </p:spTree>
    <p:extLst>
      <p:ext uri="{BB962C8B-B14F-4D97-AF65-F5344CB8AC3E}">
        <p14:creationId xmlns:p14="http://schemas.microsoft.com/office/powerpoint/2010/main" val="18315542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pPr>
            <a:r>
              <a:rPr lang="zh-CN" altLang="en-US" b="1" dirty="0"/>
              <a:t>半群与独异点的定义与实例</a:t>
            </a:r>
          </a:p>
          <a:p>
            <a:pPr eaLnBrk="1" hangingPunct="1">
              <a:lnSpc>
                <a:spcPct val="130000"/>
              </a:lnSpc>
            </a:pPr>
            <a:r>
              <a:rPr lang="zh-CN" altLang="en-US" b="1" dirty="0"/>
              <a:t>半群与独异点的幂运算</a:t>
            </a:r>
            <a:endParaRPr lang="en-US" altLang="zh-CN"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61</a:t>
            </a:fld>
            <a:endParaRPr lang="zh-CN" altLang="en-US"/>
          </a:p>
        </p:txBody>
      </p:sp>
    </p:spTree>
    <p:extLst>
      <p:ext uri="{BB962C8B-B14F-4D97-AF65-F5344CB8AC3E}">
        <p14:creationId xmlns:p14="http://schemas.microsoft.com/office/powerpoint/2010/main" val="5637131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单子（</a:t>
            </a:r>
            <a:r>
              <a:rPr lang="en-US" altLang="zh-CN" dirty="0"/>
              <a:t>Monoid</a:t>
            </a:r>
            <a:r>
              <a:rPr lang="zh-CN" altLang="en-US" dirty="0"/>
              <a:t>）是一个结构性的概念，它描述了整个代数系统的性质，包括集合、运算和单位元。</a:t>
            </a:r>
          </a:p>
          <a:p>
            <a:r>
              <a:rPr lang="zh-CN" altLang="en-US" dirty="0"/>
              <a:t>独异点（</a:t>
            </a:r>
            <a:r>
              <a:rPr lang="en-US" altLang="zh-CN" dirty="0"/>
              <a:t>Idempotent Element</a:t>
            </a:r>
            <a:r>
              <a:rPr lang="zh-CN" altLang="en-US" dirty="0"/>
              <a:t>）是元素级的概念，它描述了特定元素在运算下的性质。</a:t>
            </a:r>
            <a:endParaRPr lang="en-US" altLang="zh-CN" dirty="0"/>
          </a:p>
          <a:p>
            <a:pPr>
              <a:lnSpc>
                <a:spcPct val="130000"/>
              </a:lnSpc>
            </a:pPr>
            <a:r>
              <a:rPr lang="zh-CN" altLang="en-US" sz="1200" b="1" dirty="0">
                <a:solidFill>
                  <a:srgbClr val="FF0000"/>
                </a:solidFill>
                <a:latin typeface="Times New Roman" panose="02020603050405020304" pitchFamily="18" charset="0"/>
                <a:ea typeface="宋体" panose="02010600030101010101" pitchFamily="2" charset="-122"/>
              </a:rPr>
              <a:t>定义：</a:t>
            </a:r>
            <a:endParaRPr lang="en-US" altLang="zh-CN" sz="1200" b="1" dirty="0">
              <a:solidFill>
                <a:srgbClr val="FF0000"/>
              </a:solidFill>
              <a:latin typeface="Times New Roman" panose="02020603050405020304" pitchFamily="18" charset="0"/>
              <a:ea typeface="宋体" panose="02010600030101010101" pitchFamily="2" charset="-122"/>
            </a:endParaRPr>
          </a:p>
          <a:p>
            <a:pPr>
              <a:lnSpc>
                <a:spcPct val="130000"/>
              </a:lnSpc>
            </a:pPr>
            <a:r>
              <a:rPr lang="en-US" altLang="zh-CN" sz="1200" b="1" dirty="0">
                <a:solidFill>
                  <a:schemeClr val="tx1"/>
                </a:solidFill>
                <a:latin typeface="Times New Roman" panose="02020603050405020304" pitchFamily="18" charset="0"/>
                <a:ea typeface="宋体" panose="02010600030101010101" pitchFamily="2" charset="-122"/>
              </a:rPr>
              <a:t>(1) </a:t>
            </a:r>
            <a:r>
              <a:rPr lang="zh-CN" altLang="en-US" sz="1200" b="1" dirty="0">
                <a:solidFill>
                  <a:schemeClr val="tx1"/>
                </a:solidFill>
                <a:latin typeface="Times New Roman" panose="02020603050405020304" pitchFamily="18" charset="0"/>
                <a:ea typeface="宋体" panose="02010600030101010101" pitchFamily="2" charset="-122"/>
              </a:rPr>
              <a:t>设 </a:t>
            </a:r>
            <a:r>
              <a:rPr lang="en-US" altLang="zh-CN" sz="1200" b="1" i="1" dirty="0">
                <a:solidFill>
                  <a:schemeClr val="tx1"/>
                </a:solidFill>
                <a:latin typeface="Times New Roman" panose="02020603050405020304" pitchFamily="18" charset="0"/>
                <a:ea typeface="宋体" panose="02010600030101010101" pitchFamily="2" charset="-122"/>
              </a:rPr>
              <a:t>V</a:t>
            </a:r>
            <a:r>
              <a:rPr lang="en-US" altLang="zh-CN" sz="1200" b="1" dirty="0">
                <a:solidFill>
                  <a:schemeClr val="tx1"/>
                </a:solidFill>
                <a:latin typeface="Times New Roman" panose="02020603050405020304" pitchFamily="18" charset="0"/>
                <a:ea typeface="宋体" panose="02010600030101010101" pitchFamily="2" charset="-122"/>
              </a:rPr>
              <a:t>=&lt;</a:t>
            </a:r>
            <a:r>
              <a:rPr lang="en-US" altLang="zh-CN" sz="1200" b="1" i="1" dirty="0">
                <a:solidFill>
                  <a:schemeClr val="tx1"/>
                </a:solidFill>
                <a:latin typeface="Times New Roman" panose="02020603050405020304" pitchFamily="18" charset="0"/>
                <a:ea typeface="宋体" panose="02010600030101010101" pitchFamily="2" charset="-122"/>
              </a:rPr>
              <a:t>S</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dirty="0">
                <a:solidFill>
                  <a:schemeClr val="tx1"/>
                </a:solidFill>
                <a:latin typeface="Lucida Sans Unicode" panose="020B0602030504020204" pitchFamily="34" charset="0"/>
                <a:ea typeface="宋体" panose="02010600030101010101" pitchFamily="2" charset="-122"/>
              </a:rPr>
              <a:t>∘</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是代数系统，</a:t>
            </a:r>
            <a:r>
              <a:rPr lang="en-US" altLang="zh-CN" sz="1200" b="1" dirty="0">
                <a:solidFill>
                  <a:schemeClr val="tx1"/>
                </a:solidFill>
              </a:rPr>
              <a:t>∘ </a:t>
            </a:r>
            <a:r>
              <a:rPr lang="zh-CN" altLang="en-US" sz="1200" b="1" dirty="0">
                <a:solidFill>
                  <a:schemeClr val="tx1"/>
                </a:solidFill>
                <a:latin typeface="Times New Roman" panose="02020603050405020304" pitchFamily="18" charset="0"/>
                <a:ea typeface="宋体" panose="02010600030101010101" pitchFamily="2" charset="-122"/>
              </a:rPr>
              <a:t>为二元运算，如果 </a:t>
            </a:r>
            <a:r>
              <a:rPr lang="en-US" altLang="zh-CN" sz="1200" b="1" dirty="0">
                <a:solidFill>
                  <a:schemeClr val="tx1"/>
                </a:solidFill>
              </a:rPr>
              <a:t>∘ </a:t>
            </a:r>
            <a:r>
              <a:rPr lang="zh-CN" altLang="en-US" sz="1200" b="1" dirty="0">
                <a:solidFill>
                  <a:schemeClr val="tx1"/>
                </a:solidFill>
                <a:latin typeface="Times New Roman" panose="02020603050405020304" pitchFamily="18" charset="0"/>
                <a:ea typeface="宋体" panose="02010600030101010101" pitchFamily="2" charset="-122"/>
              </a:rPr>
              <a:t>运算是可结合的，则称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V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为</a:t>
            </a:r>
            <a:r>
              <a:rPr lang="zh-CN" altLang="en-US" sz="1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半群</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p>
          <a:p>
            <a:pPr>
              <a:lnSpc>
                <a:spcPct val="130000"/>
              </a:lnSpc>
            </a:pP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(2)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设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V</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=&lt;</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S</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rPr>
              <a:t>∘</a:t>
            </a:r>
            <a:r>
              <a:rPr lang="en-US" altLang="zh-CN" sz="1200" b="1" dirty="0">
                <a:solidFill>
                  <a:schemeClr val="tx1"/>
                </a:solidFill>
                <a:latin typeface="Times New Roman" panose="02020603050405020304" pitchFamily="18" charset="0"/>
                <a:ea typeface="宋体" panose="02010600030101010101" pitchFamily="2" charset="-122"/>
              </a:rPr>
              <a:t>&gt;</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是半群，若 </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S</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是关于  </a:t>
            </a:r>
            <a:r>
              <a:rPr lang="zh-CN" altLang="en-US" sz="1200" b="1" dirty="0">
                <a:solidFill>
                  <a:schemeClr val="tx1"/>
                </a:solidFill>
                <a:latin typeface="Times New Roman" panose="02020603050405020304" pitchFamily="18" charset="0"/>
                <a:ea typeface="宋体" panose="02010600030101010101" pitchFamily="2" charset="-122"/>
              </a:rPr>
              <a:t>运算的幺元，则称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V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是</a:t>
            </a:r>
            <a:r>
              <a:rPr lang="zh-CN" altLang="en-US" sz="1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含幺半群</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，也叫做</a:t>
            </a:r>
            <a:r>
              <a:rPr lang="zh-CN" altLang="en-US" sz="12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独异点</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单子</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zh-CN" altLang="zh-CN" sz="1200" b="1" dirty="0">
                <a:latin typeface="Times New Roman" pitchFamily="18" charset="0"/>
                <a:cs typeface="Times New Roman" pitchFamily="18" charset="0"/>
              </a:rPr>
              <a:t>为了强调幺元</a:t>
            </a:r>
            <a:r>
              <a:rPr lang="en-US" altLang="zh-CN" sz="1200" b="1" i="1" dirty="0">
                <a:latin typeface="Times New Roman" pitchFamily="18" charset="0"/>
                <a:cs typeface="Times New Roman" pitchFamily="18" charset="0"/>
              </a:rPr>
              <a:t>e</a:t>
            </a:r>
            <a:r>
              <a:rPr lang="zh-CN" altLang="zh-CN" sz="1200" b="1" dirty="0">
                <a:latin typeface="Times New Roman" pitchFamily="18" charset="0"/>
                <a:cs typeface="Times New Roman" pitchFamily="18" charset="0"/>
              </a:rPr>
              <a:t>的存在，有时将独异点记为</a:t>
            </a:r>
            <a:r>
              <a:rPr lang="en-US" altLang="zh-CN" sz="1200" b="1" dirty="0">
                <a:latin typeface="Times New Roman" pitchFamily="18" charset="0"/>
                <a:cs typeface="Times New Roman" pitchFamily="18" charset="0"/>
              </a:rPr>
              <a:t>&lt;</a:t>
            </a:r>
            <a:r>
              <a:rPr lang="en-US" altLang="zh-CN" sz="1200" b="1" i="1" dirty="0" err="1">
                <a:latin typeface="Times New Roman" pitchFamily="18" charset="0"/>
                <a:cs typeface="Times New Roman" pitchFamily="18" charset="0"/>
              </a:rPr>
              <a:t>S</a:t>
            </a:r>
            <a:r>
              <a:rPr lang="en-US" altLang="zh-CN" sz="1200" b="1" dirty="0" err="1">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dirty="0">
                <a:latin typeface="Times New Roman" pitchFamily="18" charset="0"/>
                <a:cs typeface="Times New Roman" pitchFamily="18" charset="0"/>
              </a:rPr>
              <a:t>&gt;.</a:t>
            </a:r>
          </a:p>
          <a:p>
            <a:pPr eaLnBrk="1" hangingPunct="1">
              <a:buFont typeface="Wingdings" panose="05000000000000000000" pitchFamily="2" charset="2"/>
              <a:buNone/>
              <a:defRPr/>
            </a:pPr>
            <a:r>
              <a:rPr lang="en-US" altLang="zh-CN" sz="1200" b="1" dirty="0">
                <a:latin typeface="Times New Roman" pitchFamily="18" charset="0"/>
                <a:cs typeface="Times New Roman" pitchFamily="18" charset="0"/>
              </a:rPr>
              <a:t>(3) </a:t>
            </a:r>
            <a:r>
              <a:rPr lang="zh-CN" altLang="zh-CN" sz="1200" b="1" dirty="0">
                <a:latin typeface="Times New Roman" pitchFamily="18" charset="0"/>
                <a:cs typeface="Times New Roman" pitchFamily="18" charset="0"/>
              </a:rPr>
              <a:t>如果半群</a:t>
            </a:r>
            <a:r>
              <a:rPr lang="en-US" altLang="zh-CN" sz="1200" b="1" i="1" dirty="0">
                <a:latin typeface="Times New Roman" pitchFamily="18" charset="0"/>
                <a:cs typeface="Times New Roman" pitchFamily="18" charset="0"/>
              </a:rPr>
              <a:t>V</a:t>
            </a:r>
            <a:r>
              <a:rPr lang="en-US" altLang="zh-CN" sz="1200" b="1" dirty="0">
                <a:latin typeface="Times New Roman" pitchFamily="18" charset="0"/>
                <a:cs typeface="Times New Roman" pitchFamily="18" charset="0"/>
              </a:rPr>
              <a:t>=&lt;</a:t>
            </a:r>
            <a:r>
              <a:rPr lang="en-US" altLang="zh-CN" sz="1200" b="1" i="1" dirty="0">
                <a:latin typeface="Times New Roman" pitchFamily="18" charset="0"/>
                <a:cs typeface="Times New Roman" pitchFamily="18" charset="0"/>
              </a:rPr>
              <a:t>S</a:t>
            </a:r>
            <a:r>
              <a:rPr lang="en-US" altLang="zh-CN" sz="1200" b="1" dirty="0">
                <a:latin typeface="Times New Roman" pitchFamily="18" charset="0"/>
                <a:cs typeface="Times New Roman" pitchFamily="18" charset="0"/>
              </a:rPr>
              <a:t>,∘&gt; (</a:t>
            </a:r>
            <a:r>
              <a:rPr lang="zh-CN" altLang="zh-CN" sz="1200" b="1" dirty="0">
                <a:latin typeface="Times New Roman" pitchFamily="18" charset="0"/>
                <a:cs typeface="Times New Roman" pitchFamily="18" charset="0"/>
              </a:rPr>
              <a:t>独异点</a:t>
            </a:r>
            <a:r>
              <a:rPr lang="en-US" altLang="zh-CN" sz="1200" b="1" dirty="0">
                <a:latin typeface="Times New Roman" pitchFamily="18" charset="0"/>
                <a:cs typeface="Times New Roman" pitchFamily="18" charset="0"/>
              </a:rPr>
              <a:t>V=&lt;</a:t>
            </a:r>
            <a:r>
              <a:rPr lang="en-US" altLang="zh-CN" sz="1200" b="1" i="1" dirty="0" err="1">
                <a:latin typeface="Times New Roman" pitchFamily="18" charset="0"/>
                <a:cs typeface="Times New Roman" pitchFamily="18" charset="0"/>
              </a:rPr>
              <a:t>S</a:t>
            </a:r>
            <a:r>
              <a:rPr lang="en-US" altLang="zh-CN" sz="1200" b="1" dirty="0" err="1">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dirty="0">
                <a:latin typeface="Times New Roman" pitchFamily="18" charset="0"/>
                <a:cs typeface="Times New Roman" pitchFamily="18" charset="0"/>
              </a:rPr>
              <a:t>&gt;) </a:t>
            </a:r>
            <a:r>
              <a:rPr lang="zh-CN" altLang="zh-CN" sz="1200" b="1" dirty="0">
                <a:latin typeface="Times New Roman" pitchFamily="18" charset="0"/>
                <a:cs typeface="Times New Roman" pitchFamily="18" charset="0"/>
              </a:rPr>
              <a:t>中的二元运</a:t>
            </a:r>
            <a:endParaRPr lang="en-US" altLang="zh-CN" sz="1200" b="1" dirty="0">
              <a:latin typeface="Times New Roman" pitchFamily="18" charset="0"/>
              <a:cs typeface="Times New Roman" pitchFamily="18" charset="0"/>
            </a:endParaRPr>
          </a:p>
          <a:p>
            <a:pPr eaLnBrk="1" hangingPunct="1">
              <a:buFont typeface="Wingdings" panose="05000000000000000000" pitchFamily="2" charset="2"/>
              <a:buNone/>
              <a:defRPr/>
            </a:pPr>
            <a:r>
              <a:rPr lang="en-US" altLang="zh-CN" sz="1200" b="1" dirty="0">
                <a:latin typeface="Times New Roman" pitchFamily="18" charset="0"/>
                <a:cs typeface="Times New Roman" pitchFamily="18" charset="0"/>
              </a:rPr>
              <a:t>     </a:t>
            </a:r>
            <a:r>
              <a:rPr lang="zh-CN" altLang="zh-CN" sz="1200" b="1" dirty="0">
                <a:latin typeface="Times New Roman" pitchFamily="18" charset="0"/>
                <a:cs typeface="Times New Roman" pitchFamily="18" charset="0"/>
              </a:rPr>
              <a:t>算</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是可交换的，则称</a:t>
            </a:r>
            <a:r>
              <a:rPr lang="en-US" altLang="zh-CN" sz="1200" b="1" i="1" dirty="0">
                <a:latin typeface="Times New Roman" pitchFamily="18" charset="0"/>
                <a:cs typeface="Times New Roman" pitchFamily="18" charset="0"/>
              </a:rPr>
              <a:t>V</a:t>
            </a:r>
            <a:r>
              <a:rPr lang="zh-CN" altLang="zh-CN" sz="1200" b="1" dirty="0">
                <a:latin typeface="Times New Roman" pitchFamily="18" charset="0"/>
                <a:cs typeface="Times New Roman" pitchFamily="18" charset="0"/>
              </a:rPr>
              <a:t>为</a:t>
            </a:r>
            <a:r>
              <a:rPr lang="zh-CN" altLang="zh-CN" sz="1200" b="1" dirty="0">
                <a:solidFill>
                  <a:srgbClr val="FF0000"/>
                </a:solidFill>
                <a:latin typeface="Times New Roman" pitchFamily="18" charset="0"/>
                <a:cs typeface="Times New Roman" pitchFamily="18" charset="0"/>
              </a:rPr>
              <a:t>可交换半群</a:t>
            </a:r>
            <a:r>
              <a:rPr lang="zh-CN" altLang="zh-CN" sz="1200" b="1" dirty="0">
                <a:latin typeface="Times New Roman" pitchFamily="18" charset="0"/>
                <a:cs typeface="Times New Roman" pitchFamily="18" charset="0"/>
              </a:rPr>
              <a:t> </a:t>
            </a:r>
            <a:r>
              <a:rPr lang="en-US" altLang="zh-CN" sz="1200" b="1" dirty="0">
                <a:latin typeface="Times New Roman" pitchFamily="18" charset="0"/>
                <a:cs typeface="Times New Roman" pitchFamily="18" charset="0"/>
              </a:rPr>
              <a:t>(</a:t>
            </a:r>
            <a:r>
              <a:rPr lang="zh-CN" altLang="zh-CN" sz="1200" b="1" dirty="0">
                <a:solidFill>
                  <a:srgbClr val="FF0000"/>
                </a:solidFill>
                <a:latin typeface="Times New Roman" pitchFamily="18" charset="0"/>
                <a:cs typeface="Times New Roman" pitchFamily="18" charset="0"/>
              </a:rPr>
              <a:t>可交换独异点</a:t>
            </a:r>
            <a:r>
              <a:rPr lang="en-US" altLang="zh-CN" sz="1200" b="1" dirty="0">
                <a:latin typeface="Times New Roman" pitchFamily="18" charset="0"/>
                <a:cs typeface="Times New Roman" pitchFamily="18" charset="0"/>
              </a:rPr>
              <a:t>).  </a:t>
            </a:r>
            <a:endParaRPr lang="zh-CN" altLang="zh-CN" sz="1200" b="1" dirty="0">
              <a:latin typeface="Times New Roman" pitchFamily="18" charset="0"/>
              <a:cs typeface="Times New Roman" pitchFamily="18" charset="0"/>
            </a:endParaRPr>
          </a:p>
          <a:p>
            <a:endParaRPr lang="en-US" altLang="zh-CN" dirty="0"/>
          </a:p>
          <a:p>
            <a:r>
              <a:rPr lang="zh-CN" altLang="en-US" sz="1200" b="1" dirty="0">
                <a:solidFill>
                  <a:srgbClr val="00B0F0"/>
                </a:solidFill>
                <a:latin typeface="楷体" panose="02010609060101010101" pitchFamily="49" charset="-122"/>
                <a:ea typeface="楷体" panose="02010609060101010101" pitchFamily="49" charset="-122"/>
              </a:rPr>
              <a:t>注</a:t>
            </a:r>
            <a:r>
              <a:rPr lang="en-US" altLang="zh-CN" sz="1200" b="1" dirty="0">
                <a:solidFill>
                  <a:srgbClr val="00B0F0"/>
                </a:solidFill>
                <a:latin typeface="楷体" panose="02010609060101010101" pitchFamily="49" charset="-122"/>
                <a:ea typeface="楷体" panose="02010609060101010101" pitchFamily="49" charset="-122"/>
              </a:rPr>
              <a:t>:</a:t>
            </a:r>
            <a:r>
              <a:rPr lang="en-US" altLang="zh-CN" sz="1200" b="1" dirty="0">
                <a:latin typeface="楷体" panose="02010609060101010101" pitchFamily="49" charset="-122"/>
                <a:ea typeface="楷体" panose="02010609060101010101" pitchFamily="49" charset="-122"/>
              </a:rPr>
              <a:t> </a:t>
            </a:r>
            <a:r>
              <a:rPr lang="en-US" altLang="zh-CN" sz="1200" b="1" dirty="0">
                <a:latin typeface="楷体" panose="02010609060101010101" pitchFamily="49" charset="-122"/>
                <a:ea typeface="楷体" panose="02010609060101010101" pitchFamily="49" charset="-122"/>
                <a:cs typeface="Calibri" panose="020F0502020204030204" pitchFamily="34" charset="0"/>
              </a:rPr>
              <a:t>①</a:t>
            </a:r>
            <a:r>
              <a:rPr lang="zh-CN" altLang="en-US" sz="1200" b="1" dirty="0">
                <a:latin typeface="楷体" panose="02010609060101010101" pitchFamily="49" charset="-122"/>
                <a:ea typeface="楷体" panose="02010609060101010101" pitchFamily="49" charset="-122"/>
              </a:rPr>
              <a:t>半群是具有结合律的代数系统；</a:t>
            </a:r>
          </a:p>
          <a:p>
            <a:r>
              <a:rPr lang="zh-CN" altLang="en-US" sz="1200" b="1" dirty="0">
                <a:latin typeface="楷体" panose="02010609060101010101" pitchFamily="49" charset="-122"/>
                <a:ea typeface="楷体" panose="02010609060101010101" pitchFamily="49" charset="-122"/>
              </a:rPr>
              <a:t>　  </a:t>
            </a:r>
            <a:r>
              <a:rPr lang="zh-CN" altLang="en-US" sz="1200" b="1" dirty="0">
                <a:latin typeface="楷体" panose="02010609060101010101" pitchFamily="49" charset="-122"/>
                <a:ea typeface="楷体" panose="02010609060101010101" pitchFamily="49" charset="-122"/>
                <a:cs typeface="Calibri" panose="020F0502020204030204" pitchFamily="34" charset="0"/>
              </a:rPr>
              <a:t>②</a:t>
            </a:r>
            <a:r>
              <a:rPr lang="zh-CN" altLang="en-US" sz="1200" b="1" dirty="0">
                <a:latin typeface="楷体" panose="02010609060101010101" pitchFamily="49" charset="-122"/>
                <a:ea typeface="楷体" panose="02010609060101010101" pitchFamily="49" charset="-122"/>
              </a:rPr>
              <a:t>验证半群的要点是验证运算的封闭性和结合律</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62</a:t>
            </a:fld>
            <a:endParaRPr lang="zh-CN" altLang="en-US"/>
          </a:p>
        </p:txBody>
      </p:sp>
    </p:spTree>
    <p:extLst>
      <p:ext uri="{BB962C8B-B14F-4D97-AF65-F5344CB8AC3E}">
        <p14:creationId xmlns:p14="http://schemas.microsoft.com/office/powerpoint/2010/main" val="161323774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0000"/>
              </a:lnSpc>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 </a:t>
            </a: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&lt;Z</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,+&gt;,&lt;N,+&gt;,&lt;Z,+&gt;,&lt;Q,+&gt;,&lt;R,+&gt;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是半群，</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是普通</a:t>
            </a:r>
          </a:p>
          <a:p>
            <a:pPr>
              <a:lnSpc>
                <a:spcPct val="11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加法</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其中除</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&lt;Z</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外都是独异点</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10000"/>
              </a:lnSpc>
            </a:pP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注：正整数与加法</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&lt;Z⁺, +&gt;</a:t>
            </a: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满足满足结合律</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但没有加法幺元</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0,</a:t>
            </a: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不是幺半群</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其余都是独异点</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幺半群</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p>
          <a:p>
            <a:pPr>
              <a:lnSpc>
                <a:spcPct val="110000"/>
              </a:lnSpc>
            </a:pPr>
            <a:endParaRPr lang="en-US" altLang="zh-CN" sz="1200" b="1" dirty="0">
              <a:latin typeface="楷体" panose="02010609060101010101" pitchFamily="49" charset="-122"/>
              <a:ea typeface="楷体" panose="02010609060101010101" pitchFamily="49" charset="-122"/>
              <a:cs typeface="Times New Roman" panose="02020603050405020304" pitchFamily="18" charset="0"/>
            </a:endParaRP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是大于</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的正整数</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M</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200" b="1" dirty="0">
                <a:latin typeface="楷体" panose="02010609060101010101" pitchFamily="49" charset="-122"/>
                <a:ea typeface="楷体" panose="02010609060101010101" pitchFamily="49"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都是半群</a:t>
            </a:r>
          </a:p>
          <a:p>
            <a:pPr>
              <a:lnSpc>
                <a:spcPct val="11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和独异点，其中</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1200" b="1" dirty="0">
                <a:latin typeface="楷体" panose="02010609060101010101" pitchFamily="49" charset="-122"/>
                <a:ea typeface="楷体" panose="02010609060101010101" pitchFamily="49"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分别表示矩阵加法和矩阵乘法</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10000"/>
              </a:lnSpc>
            </a:pP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注：</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的幺元是零矩阵</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的幺元是单位矩阵</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p>
          <a:p>
            <a:pPr>
              <a:lnSpc>
                <a:spcPct val="110000"/>
              </a:lnSpc>
            </a:pPr>
            <a:endParaRPr lang="en-US" altLang="zh-CN" sz="1200" b="1" dirty="0">
              <a:latin typeface="楷体" panose="02010609060101010101" pitchFamily="49" charset="-122"/>
              <a:ea typeface="楷体" panose="02010609060101010101" pitchFamily="49" charset="-122"/>
              <a:cs typeface="Times New Roman" panose="02020603050405020304" pitchFamily="18" charset="0"/>
            </a:endParaRP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 &lt;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P</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为半群，也是独异点，其中</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为集合的对称差运算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p>
          <a:p>
            <a:pPr>
              <a:lnSpc>
                <a:spcPct val="110000"/>
              </a:lnSpc>
            </a:pP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注：集合</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B</a:t>
            </a: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的幂集对称差幺元为空集∅ </a:t>
            </a:r>
            <a:r>
              <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63</a:t>
            </a:fld>
            <a:endParaRPr lang="zh-CN" altLang="en-US"/>
          </a:p>
        </p:txBody>
      </p:sp>
    </p:spTree>
    <p:extLst>
      <p:ext uri="{BB962C8B-B14F-4D97-AF65-F5344CB8AC3E}">
        <p14:creationId xmlns:p14="http://schemas.microsoft.com/office/powerpoint/2010/main" val="25502226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0000"/>
              </a:lnSpc>
            </a:pPr>
            <a:r>
              <a:rPr lang="zh-CN" altLang="en-US" sz="1200" b="1" dirty="0">
                <a:solidFill>
                  <a:srgbClr val="00B0F0"/>
                </a:solidFill>
                <a:latin typeface="Times New Roman" panose="02020603050405020304" pitchFamily="18" charset="0"/>
                <a:ea typeface="宋体" panose="02010600030101010101" pitchFamily="2" charset="-122"/>
              </a:rPr>
              <a:t>例</a:t>
            </a:r>
            <a:r>
              <a:rPr lang="en-US" altLang="zh-CN" sz="1200" b="1" dirty="0">
                <a:solidFill>
                  <a:srgbClr val="00B0F0"/>
                </a:solidFill>
                <a:latin typeface="Times New Roman" panose="02020603050405020304" pitchFamily="18" charset="0"/>
                <a:ea typeface="宋体" panose="02010600030101010101" pitchFamily="2" charset="-122"/>
              </a:rPr>
              <a:t>: </a:t>
            </a: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(4) &lt;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Z</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n</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为半群，也是独异点，其中</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Z</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n</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={0,1, …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n</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p>
          <a:p>
            <a:pPr>
              <a:lnSpc>
                <a:spcPct val="11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为模</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n</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加法</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p>
          <a:p>
            <a:pPr>
              <a:lnSpc>
                <a:spcPct val="110000"/>
              </a:lnSpc>
            </a:pP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注：</a:t>
            </a:r>
            <a:r>
              <a:rPr lang="zh-CN" altLang="en-US" sz="11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整数模</a:t>
            </a:r>
            <a:r>
              <a:rPr lang="en-US" altLang="zh-CN" sz="11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n</a:t>
            </a:r>
            <a:r>
              <a:rPr lang="zh-CN" altLang="en-US" sz="11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集合上的整数模</a:t>
            </a:r>
            <a:r>
              <a:rPr lang="en-US" altLang="zh-CN" sz="1100" i="1"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n</a:t>
            </a:r>
            <a:r>
              <a:rPr lang="zh-CN" altLang="en-US" sz="11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加法有幺元</a:t>
            </a:r>
            <a:r>
              <a:rPr lang="en-US" altLang="zh-CN" sz="1100" dirty="0">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rPr>
              <a:t>0.</a:t>
            </a:r>
          </a:p>
          <a:p>
            <a:pPr>
              <a:lnSpc>
                <a:spcPct val="110000"/>
              </a:lnSpc>
            </a:pPr>
            <a:endPar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sym typeface="Symbol" panose="05050102010706020507" pitchFamily="18" charset="2"/>
            </a:endParaRP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(5) &lt;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i="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为半群，也是独异点，其中∘</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为函数的复合运算</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10000"/>
              </a:lnSpc>
            </a:pPr>
            <a:r>
              <a:rPr lang="zh-CN" altLang="en-US"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注：</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集合</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到</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的所有函数集合</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a:t>
            </a:r>
            <a:r>
              <a:rPr lang="en-US" altLang="zh-CN" sz="1100" i="1" baseline="300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的幺元是恒等函数</a:t>
            </a: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rPr>
              <a:t>id</a:t>
            </a:r>
            <a:r>
              <a:rPr lang="en-US" altLang="zh-CN" sz="1100" i="1" baseline="-25000" dirty="0" err="1">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即</a:t>
            </a: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rPr>
              <a:t>id</a:t>
            </a:r>
            <a:r>
              <a:rPr lang="en-US" altLang="zh-CN" sz="1100" i="1" baseline="-25000" dirty="0" err="1">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10000"/>
              </a:lnSpc>
            </a:pPr>
            <a:endParaRPr lang="en-US" altLang="zh-CN" sz="1100"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a:p>
            <a:pPr>
              <a:lnSpc>
                <a:spcPct val="110000"/>
              </a:lnSpc>
            </a:pP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(6) &lt;R*,∘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为半群，其中</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为非零实数集合，∘</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运算定义如下：</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zh-CN" altLang="en-US"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y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pPr>
              <a:lnSpc>
                <a:spcPct val="110000"/>
              </a:lnSpc>
            </a:pPr>
            <a:r>
              <a:rPr lang="zh-CN" altLang="en-US" sz="1100" dirty="0">
                <a:solidFill>
                  <a:srgbClr val="00B0F0"/>
                </a:solidFill>
                <a:latin typeface="Times New Roman" panose="02020603050405020304" pitchFamily="18" charset="0"/>
                <a:ea typeface="楷体" panose="02010609060101010101" pitchFamily="49" charset="-122"/>
                <a:cs typeface="Times New Roman" panose="02020603050405020304" pitchFamily="18" charset="0"/>
              </a:rPr>
              <a:t>注：</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根据运算定义</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对于任何 </a:t>
            </a: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sz="1100" dirty="0" err="1">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rPr>
              <a:t>e</a:t>
            </a:r>
            <a:r>
              <a:rPr lang="en-US" altLang="zh-CN" sz="1100" dirty="0" err="1">
                <a:latin typeface="Times New Roman" panose="02020603050405020304" pitchFamily="18" charset="0"/>
                <a:ea typeface="楷体" panose="02010609060101010101" pitchFamily="49" charset="-122"/>
                <a:cs typeface="Times New Roman" panose="02020603050405020304" pitchFamily="18" charset="0"/>
              </a:rPr>
              <a:t>∈R</a:t>
            </a:r>
            <a:r>
              <a:rPr lang="en-US" altLang="zh-CN" sz="1100" baseline="30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sz="1100" dirty="0" err="1">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rPr>
              <a:t>e</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要使 </a:t>
            </a: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rPr>
              <a:t>x</a:t>
            </a:r>
            <a:r>
              <a:rPr lang="en-US" altLang="zh-CN" sz="1100" dirty="0" err="1">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rPr>
              <a:t>e</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x</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，必须有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x</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。由于</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x</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是任意的</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这意味着不存在一个唯一的</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e</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R</a:t>
            </a:r>
            <a:r>
              <a:rPr lang="zh-CN" altLang="zh-CN" sz="1100" baseline="30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可以满足这个条件</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&lt;R</a:t>
            </a:r>
            <a:r>
              <a:rPr lang="en-US" altLang="zh-CN" sz="1100" baseline="300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&gt;</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满足结合律，但没有幺元</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dirty="0">
                <a:latin typeface="Times New Roman" panose="02020603050405020304" pitchFamily="18" charset="0"/>
                <a:ea typeface="楷体" panose="02010609060101010101" pitchFamily="49" charset="-122"/>
                <a:cs typeface="Times New Roman" panose="02020603050405020304" pitchFamily="18" charset="0"/>
              </a:rPr>
              <a:t>不是幺半群</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（独异点）</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64</a:t>
            </a:fld>
            <a:endParaRPr lang="zh-CN" altLang="en-US"/>
          </a:p>
        </p:txBody>
      </p:sp>
    </p:spTree>
    <p:extLst>
      <p:ext uri="{BB962C8B-B14F-4D97-AF65-F5344CB8AC3E}">
        <p14:creationId xmlns:p14="http://schemas.microsoft.com/office/powerpoint/2010/main" val="7332168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buFont typeface="Wingdings" panose="05000000000000000000" pitchFamily="2" charset="2"/>
              <a:buNone/>
            </a:pPr>
            <a:r>
              <a:rPr lang="zh-CN" altLang="en-US" sz="1200" b="1" dirty="0">
                <a:solidFill>
                  <a:schemeClr val="tx1"/>
                </a:solidFill>
                <a:latin typeface="Times New Roman" panose="02020603050405020304" pitchFamily="18" charset="0"/>
                <a:ea typeface="+mn-ea"/>
                <a:cs typeface="Times New Roman" panose="02020603050405020304" pitchFamily="18" charset="0"/>
              </a:rPr>
              <a:t>设</a:t>
            </a:r>
            <a:r>
              <a:rPr lang="en-US" altLang="zh-CN" sz="1200" b="1" i="1" dirty="0">
                <a:solidFill>
                  <a:schemeClr val="tx1"/>
                </a:solidFill>
                <a:latin typeface="Times New Roman" panose="02020603050405020304" pitchFamily="18" charset="0"/>
                <a:ea typeface="+mn-ea"/>
                <a:cs typeface="Times New Roman" panose="02020603050405020304" pitchFamily="18" charset="0"/>
              </a:rPr>
              <a:t>V</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S</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为</a:t>
            </a:r>
            <a:r>
              <a:rPr lang="zh-CN" altLang="en-US" sz="1200" b="1" dirty="0">
                <a:solidFill>
                  <a:srgbClr val="FF0000"/>
                </a:solidFill>
                <a:latin typeface="Times New Roman" panose="02020603050405020304" pitchFamily="18" charset="0"/>
                <a:ea typeface="+mn-ea"/>
                <a:cs typeface="Times New Roman" panose="02020603050405020304" pitchFamily="18" charset="0"/>
              </a:rPr>
              <a:t>半群</a:t>
            </a:r>
            <a:r>
              <a:rPr lang="zh-CN" altLang="en-US" sz="1200" b="1" dirty="0">
                <a:solidFill>
                  <a:schemeClr val="tx1"/>
                </a:solidFill>
                <a:latin typeface="Times New Roman" panose="02020603050405020304" pitchFamily="18" charset="0"/>
                <a:ea typeface="+mn-ea"/>
                <a:cs typeface="Times New Roman" panose="02020603050405020304" pitchFamily="18" charset="0"/>
              </a:rPr>
              <a:t>，对任意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x</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S</a:t>
            </a:r>
            <a:r>
              <a:rPr lang="zh-CN" altLang="en-US" sz="1200" b="1" dirty="0">
                <a:solidFill>
                  <a:schemeClr val="tx1"/>
                </a:solidFill>
                <a:latin typeface="Times New Roman" panose="02020603050405020304" pitchFamily="18" charset="0"/>
                <a:ea typeface="+mn-ea"/>
                <a:cs typeface="Times New Roman" panose="02020603050405020304" pitchFamily="18" charset="0"/>
              </a:rPr>
              <a:t>，     规定：</a:t>
            </a:r>
            <a:br>
              <a:rPr lang="zh-CN" altLang="en-US" sz="1200" b="1" dirty="0">
                <a:solidFill>
                  <a:schemeClr val="tx1"/>
                </a:solidFill>
                <a:latin typeface="Times New Roman" panose="02020603050405020304" pitchFamily="18" charset="0"/>
                <a:ea typeface="+mn-ea"/>
                <a:cs typeface="Times New Roman" panose="02020603050405020304" pitchFamily="18" charset="0"/>
              </a:rPr>
            </a:br>
            <a:r>
              <a:rPr lang="zh-CN" altLang="en-US"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rgbClr val="FF0000"/>
                </a:solidFill>
                <a:latin typeface="Times New Roman" panose="02020603050405020304" pitchFamily="18" charset="0"/>
                <a:ea typeface="+mn-ea"/>
                <a:cs typeface="Times New Roman" panose="02020603050405020304" pitchFamily="18" charset="0"/>
              </a:rPr>
              <a:t>x</a:t>
            </a:r>
            <a:r>
              <a:rPr lang="en-US" altLang="zh-CN" sz="1200" b="1" baseline="30000" dirty="0">
                <a:solidFill>
                  <a:srgbClr val="FF0000"/>
                </a:solidFill>
                <a:latin typeface="Times New Roman" panose="02020603050405020304" pitchFamily="18" charset="0"/>
                <a:ea typeface="+mn-ea"/>
                <a:cs typeface="Times New Roman" panose="02020603050405020304" pitchFamily="18" charset="0"/>
              </a:rPr>
              <a:t>1 </a:t>
            </a:r>
            <a:r>
              <a:rPr lang="en-US" altLang="zh-CN" sz="1200" b="1" dirty="0">
                <a:solidFill>
                  <a:srgbClr val="FF0000"/>
                </a:solidFill>
                <a:latin typeface="Times New Roman" panose="02020603050405020304" pitchFamily="18" charset="0"/>
                <a:ea typeface="+mn-ea"/>
                <a:cs typeface="Times New Roman" panose="02020603050405020304" pitchFamily="18" charset="0"/>
              </a:rPr>
              <a:t>= </a:t>
            </a:r>
            <a:r>
              <a:rPr lang="en-US" altLang="zh-CN" sz="1200" b="1" i="1" dirty="0">
                <a:solidFill>
                  <a:srgbClr val="FF0000"/>
                </a:solidFill>
                <a:latin typeface="Times New Roman" panose="02020603050405020304" pitchFamily="18" charset="0"/>
                <a:ea typeface="+mn-ea"/>
                <a:cs typeface="Times New Roman" panose="02020603050405020304" pitchFamily="18" charset="0"/>
              </a:rPr>
              <a:t>x</a:t>
            </a:r>
            <a:br>
              <a:rPr lang="en-US" altLang="zh-CN" sz="1200" b="1" dirty="0">
                <a:solidFill>
                  <a:schemeClr val="tx1"/>
                </a:solidFill>
                <a:latin typeface="Times New Roman" panose="02020603050405020304" pitchFamily="18" charset="0"/>
                <a:ea typeface="+mn-ea"/>
                <a:cs typeface="Times New Roman" panose="02020603050405020304" pitchFamily="18" charset="0"/>
              </a:rPr>
            </a:b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x</a:t>
            </a:r>
            <a:r>
              <a:rPr lang="en-US" altLang="zh-CN" sz="1200" b="1" i="1" baseline="30000" dirty="0">
                <a:solidFill>
                  <a:schemeClr val="tx1"/>
                </a:solidFill>
                <a:latin typeface="Times New Roman" panose="02020603050405020304" pitchFamily="18" charset="0"/>
                <a:ea typeface="+mn-ea"/>
                <a:cs typeface="Times New Roman" panose="02020603050405020304" pitchFamily="18" charset="0"/>
              </a:rPr>
              <a:t>n</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rPr>
              <a:t>+1 </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x</a:t>
            </a:r>
            <a:r>
              <a:rPr lang="en-US" altLang="zh-CN" sz="1200" b="1" i="1" baseline="30000" dirty="0" err="1">
                <a:solidFill>
                  <a:schemeClr val="tx1"/>
                </a:solidFill>
                <a:latin typeface="Times New Roman" panose="02020603050405020304" pitchFamily="18" charset="0"/>
                <a:ea typeface="+mn-ea"/>
                <a:cs typeface="Times New Roman" panose="02020603050405020304" pitchFamily="18" charset="0"/>
              </a:rPr>
              <a:t>n</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x</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n</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∈Z</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rPr>
              <a:t>+</a:t>
            </a:r>
          </a:p>
          <a:p>
            <a:pPr eaLnBrk="1" hangingPunct="1">
              <a:lnSpc>
                <a:spcPct val="110000"/>
              </a:lnSpc>
              <a:buFont typeface="Wingdings" panose="05000000000000000000" pitchFamily="2" charset="2"/>
              <a:buNone/>
            </a:pPr>
            <a:endParaRPr lang="en-US" altLang="zh-CN" sz="1200" b="1" baseline="30000" dirty="0">
              <a:solidFill>
                <a:schemeClr val="tx1"/>
              </a:solidFill>
              <a:latin typeface="Times New Roman" panose="02020603050405020304" pitchFamily="18" charset="0"/>
              <a:ea typeface="+mn-ea"/>
              <a:cs typeface="Times New Roman" panose="02020603050405020304" pitchFamily="18" charset="0"/>
            </a:endParaRPr>
          </a:p>
          <a:p>
            <a:pPr eaLnBrk="1" hangingPunct="1">
              <a:lnSpc>
                <a:spcPct val="110000"/>
              </a:lnSpc>
              <a:buFont typeface="Wingdings" panose="05000000000000000000" pitchFamily="2" charset="2"/>
              <a:buNone/>
            </a:pPr>
            <a:r>
              <a:rPr lang="zh-CN" altLang="zh-CN" sz="1200" b="1" dirty="0">
                <a:solidFill>
                  <a:schemeClr val="tx1"/>
                </a:solidFill>
                <a:latin typeface="Times New Roman" panose="02020603050405020304" pitchFamily="18" charset="0"/>
                <a:ea typeface="+mn-ea"/>
                <a:cs typeface="Times New Roman" panose="02020603050405020304" pitchFamily="18" charset="0"/>
              </a:rPr>
              <a:t>在</a:t>
            </a:r>
            <a:r>
              <a:rPr lang="zh-CN" altLang="zh-CN" sz="1200" b="1" dirty="0">
                <a:solidFill>
                  <a:srgbClr val="FF0000"/>
                </a:solidFill>
                <a:latin typeface="Times New Roman" panose="02020603050405020304" pitchFamily="18" charset="0"/>
                <a:ea typeface="+mn-ea"/>
                <a:cs typeface="Times New Roman" panose="02020603050405020304" pitchFamily="18" charset="0"/>
              </a:rPr>
              <a:t>独异点</a:t>
            </a:r>
            <a:r>
              <a:rPr lang="en-US" altLang="zh-CN" sz="1200" b="1" i="1" dirty="0">
                <a:solidFill>
                  <a:schemeClr val="tx1"/>
                </a:solidFill>
                <a:latin typeface="Times New Roman" panose="02020603050405020304" pitchFamily="18" charset="0"/>
                <a:ea typeface="+mn-ea"/>
                <a:cs typeface="Times New Roman" panose="02020603050405020304" pitchFamily="18" charset="0"/>
              </a:rPr>
              <a:t>V</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S</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e</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zh-CN" sz="1200" b="1" dirty="0">
                <a:solidFill>
                  <a:schemeClr val="tx1"/>
                </a:solidFill>
                <a:latin typeface="Times New Roman" panose="02020603050405020304" pitchFamily="18" charset="0"/>
                <a:ea typeface="+mn-ea"/>
                <a:cs typeface="Times New Roman" panose="02020603050405020304" pitchFamily="18" charset="0"/>
              </a:rPr>
              <a:t>中，</a:t>
            </a:r>
            <a:r>
              <a:rPr lang="zh-CN" altLang="en-US" sz="1200" b="1" dirty="0">
                <a:solidFill>
                  <a:schemeClr val="tx1"/>
                </a:solidFill>
                <a:latin typeface="Times New Roman" panose="02020603050405020304" pitchFamily="18" charset="0"/>
                <a:ea typeface="+mn-ea"/>
                <a:cs typeface="Times New Roman" panose="02020603050405020304" pitchFamily="18" charset="0"/>
              </a:rPr>
              <a:t>对任意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x</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S</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规定</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endParaRPr lang="en-US" altLang="zh-CN" sz="1200" b="1" i="1" baseline="30000" dirty="0">
              <a:solidFill>
                <a:schemeClr val="tx1"/>
              </a:solidFill>
              <a:latin typeface="Times New Roman" panose="02020603050405020304" pitchFamily="18" charset="0"/>
              <a:ea typeface="+mn-ea"/>
              <a:cs typeface="Times New Roman" panose="02020603050405020304" pitchFamily="18" charset="0"/>
            </a:endParaRPr>
          </a:p>
          <a:p>
            <a:pPr eaLnBrk="1" hangingPunct="1">
              <a:lnSpc>
                <a:spcPct val="110000"/>
              </a:lnSpc>
              <a:buFont typeface="Wingdings" panose="05000000000000000000" pitchFamily="2" charset="2"/>
              <a:buNone/>
            </a:pP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rgbClr val="FF0000"/>
                </a:solidFill>
                <a:latin typeface="Times New Roman" panose="02020603050405020304" pitchFamily="18" charset="0"/>
                <a:ea typeface="+mn-ea"/>
                <a:cs typeface="Times New Roman" panose="02020603050405020304" pitchFamily="18" charset="0"/>
              </a:rPr>
              <a:t>x</a:t>
            </a:r>
            <a:r>
              <a:rPr lang="en-US" altLang="zh-CN" sz="1200" b="1" baseline="30000" dirty="0">
                <a:solidFill>
                  <a:srgbClr val="FF0000"/>
                </a:solidFill>
                <a:latin typeface="Times New Roman" panose="02020603050405020304" pitchFamily="18" charset="0"/>
                <a:ea typeface="+mn-ea"/>
                <a:cs typeface="Times New Roman" panose="02020603050405020304" pitchFamily="18" charset="0"/>
              </a:rPr>
              <a:t>0</a:t>
            </a:r>
            <a:r>
              <a:rPr lang="en-US" altLang="zh-CN" sz="1200" b="1" dirty="0">
                <a:solidFill>
                  <a:srgbClr val="FF0000"/>
                </a:solidFill>
                <a:latin typeface="Times New Roman" panose="02020603050405020304" pitchFamily="18" charset="0"/>
                <a:ea typeface="+mn-ea"/>
                <a:cs typeface="Times New Roman" panose="02020603050405020304" pitchFamily="18" charset="0"/>
              </a:rPr>
              <a:t>=</a:t>
            </a:r>
            <a:r>
              <a:rPr lang="en-US" altLang="zh-CN" sz="1200" b="1" i="1" dirty="0">
                <a:solidFill>
                  <a:srgbClr val="FF0000"/>
                </a:solidFill>
                <a:latin typeface="Times New Roman" panose="02020603050405020304" pitchFamily="18" charset="0"/>
                <a:ea typeface="+mn-ea"/>
                <a:cs typeface="Times New Roman" panose="02020603050405020304" pitchFamily="18" charset="0"/>
              </a:rPr>
              <a:t>e</a:t>
            </a:r>
            <a:r>
              <a:rPr lang="en-US" altLang="zh-CN" sz="1200" b="1" dirty="0">
                <a:solidFill>
                  <a:srgbClr val="FF0000"/>
                </a:solidFill>
                <a:latin typeface="Times New Roman" panose="02020603050405020304" pitchFamily="18" charset="0"/>
                <a:ea typeface="+mn-ea"/>
                <a:cs typeface="Times New Roman" panose="02020603050405020304" pitchFamily="18" charset="0"/>
              </a:rPr>
              <a:t>,</a:t>
            </a:r>
            <a:endParaRPr lang="zh-CN" altLang="zh-CN" sz="1200" b="1" dirty="0">
              <a:solidFill>
                <a:srgbClr val="FF0000"/>
              </a:solidFill>
              <a:latin typeface="Times New Roman" panose="02020603050405020304" pitchFamily="18" charset="0"/>
              <a:ea typeface="+mn-ea"/>
              <a:cs typeface="Times New Roman" panose="02020603050405020304" pitchFamily="18" charset="0"/>
            </a:endParaRPr>
          </a:p>
          <a:p>
            <a:pPr eaLnBrk="1" hangingPunct="1">
              <a:lnSpc>
                <a:spcPct val="110000"/>
              </a:lnSpc>
              <a:buFont typeface="Wingdings" panose="05000000000000000000" pitchFamily="2" charset="2"/>
              <a:buNone/>
            </a:pPr>
            <a:r>
              <a:rPr lang="en-US" altLang="zh-CN" sz="1200" b="1" i="1" dirty="0">
                <a:solidFill>
                  <a:schemeClr val="tx1"/>
                </a:solidFill>
                <a:latin typeface="Times New Roman" panose="02020603050405020304" pitchFamily="18" charset="0"/>
                <a:ea typeface="+mn-ea"/>
                <a:cs typeface="Times New Roman" panose="02020603050405020304" pitchFamily="18" charset="0"/>
              </a:rPr>
              <a:t>        x</a:t>
            </a:r>
            <a:r>
              <a:rPr lang="en-US" altLang="zh-CN" sz="1200" b="1" i="1" baseline="30000" dirty="0">
                <a:solidFill>
                  <a:schemeClr val="tx1"/>
                </a:solidFill>
                <a:latin typeface="Times New Roman" panose="02020603050405020304" pitchFamily="18" charset="0"/>
                <a:ea typeface="+mn-ea"/>
                <a:cs typeface="Times New Roman" panose="02020603050405020304" pitchFamily="18" charset="0"/>
              </a:rPr>
              <a:t>n</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rPr>
              <a:t>+1</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x</a:t>
            </a:r>
            <a:r>
              <a:rPr lang="en-US" altLang="zh-CN" sz="1200" b="1" i="1" baseline="30000" dirty="0" err="1">
                <a:solidFill>
                  <a:schemeClr val="tx1"/>
                </a:solidFill>
                <a:latin typeface="Times New Roman" panose="02020603050405020304" pitchFamily="18" charset="0"/>
                <a:ea typeface="+mn-ea"/>
                <a:cs typeface="Times New Roman" panose="02020603050405020304" pitchFamily="18" charset="0"/>
              </a:rPr>
              <a:t>n</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x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n</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∈N</a:t>
            </a:r>
            <a:endParaRPr lang="zh-CN" altLang="zh-CN" sz="1200" b="1" dirty="0">
              <a:solidFill>
                <a:schemeClr val="tx1"/>
              </a:solidFill>
              <a:latin typeface="Times New Roman" panose="02020603050405020304" pitchFamily="18" charset="0"/>
              <a:ea typeface="+mn-ea"/>
              <a:cs typeface="Times New Roman" panose="02020603050405020304" pitchFamily="18" charset="0"/>
            </a:endParaRPr>
          </a:p>
          <a:p>
            <a:pPr eaLnBrk="1" hangingPunct="1">
              <a:lnSpc>
                <a:spcPct val="110000"/>
              </a:lnSpc>
              <a:spcBef>
                <a:spcPts val="1200"/>
              </a:spcBef>
              <a:buFont typeface="Wingdings" panose="05000000000000000000" pitchFamily="2" charset="2"/>
              <a:buNone/>
            </a:pPr>
            <a:r>
              <a:rPr lang="zh-CN" altLang="en-US" sz="1200" b="1" dirty="0">
                <a:solidFill>
                  <a:schemeClr val="tx1"/>
                </a:solidFill>
                <a:latin typeface="Times New Roman" panose="02020603050405020304" pitchFamily="18" charset="0"/>
                <a:ea typeface="+mn-ea"/>
                <a:cs typeface="Times New Roman" panose="02020603050405020304" pitchFamily="18" charset="0"/>
              </a:rPr>
              <a:t>幂运算规则：</a:t>
            </a:r>
            <a:br>
              <a:rPr lang="zh-CN" altLang="en-US" sz="1200" b="1" dirty="0">
                <a:solidFill>
                  <a:schemeClr val="tx1"/>
                </a:solidFill>
                <a:latin typeface="Times New Roman" panose="02020603050405020304" pitchFamily="18" charset="0"/>
                <a:ea typeface="+mn-ea"/>
                <a:cs typeface="Times New Roman" panose="02020603050405020304" pitchFamily="18" charset="0"/>
              </a:rPr>
            </a:br>
            <a:r>
              <a:rPr lang="zh-CN" altLang="en-US"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x</a:t>
            </a:r>
            <a:r>
              <a:rPr lang="en-US" altLang="zh-CN" sz="1200" b="1" i="1" baseline="30000" dirty="0" err="1">
                <a:solidFill>
                  <a:schemeClr val="tx1"/>
                </a:solidFill>
                <a:latin typeface="Times New Roman" panose="02020603050405020304" pitchFamily="18" charset="0"/>
                <a:ea typeface="+mn-ea"/>
                <a:cs typeface="Times New Roman" panose="02020603050405020304" pitchFamily="18" charset="0"/>
              </a:rPr>
              <a:t>n</a:t>
            </a:r>
            <a:r>
              <a:rPr lang="en-US" altLang="zh-CN" sz="1200" b="1" i="1" baseline="30000"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x</a:t>
            </a:r>
            <a:r>
              <a:rPr lang="en-US" altLang="zh-CN" sz="1200" b="1" i="1" baseline="30000" dirty="0" err="1">
                <a:solidFill>
                  <a:schemeClr val="tx1"/>
                </a:solidFill>
                <a:latin typeface="Times New Roman" panose="02020603050405020304" pitchFamily="18" charset="0"/>
                <a:ea typeface="+mn-ea"/>
                <a:cs typeface="Times New Roman" panose="02020603050405020304" pitchFamily="18" charset="0"/>
              </a:rPr>
              <a:t>m</a:t>
            </a:r>
            <a:r>
              <a:rPr lang="en-US" altLang="zh-CN" sz="1200" b="1" i="1" baseline="30000"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x</a:t>
            </a:r>
            <a:r>
              <a:rPr lang="en-US" altLang="zh-CN" sz="1200" b="1" i="1" baseline="30000" dirty="0" err="1">
                <a:solidFill>
                  <a:schemeClr val="tx1"/>
                </a:solidFill>
                <a:latin typeface="Times New Roman" panose="02020603050405020304" pitchFamily="18" charset="0"/>
                <a:ea typeface="+mn-ea"/>
                <a:cs typeface="Times New Roman" panose="02020603050405020304" pitchFamily="18" charset="0"/>
              </a:rPr>
              <a:t>n</a:t>
            </a:r>
            <a:r>
              <a:rPr lang="en-US" altLang="zh-CN" sz="1200" b="1" baseline="30000"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baseline="30000" dirty="0" err="1">
                <a:solidFill>
                  <a:schemeClr val="tx1"/>
                </a:solidFill>
                <a:latin typeface="Times New Roman" panose="02020603050405020304" pitchFamily="18" charset="0"/>
                <a:ea typeface="+mn-ea"/>
                <a:cs typeface="Times New Roman" panose="02020603050405020304" pitchFamily="18" charset="0"/>
              </a:rPr>
              <a:t>m</a:t>
            </a:r>
            <a:br>
              <a:rPr lang="en-US" altLang="zh-CN" sz="1200" b="1" dirty="0">
                <a:solidFill>
                  <a:schemeClr val="tx1"/>
                </a:solidFill>
                <a:latin typeface="Times New Roman" panose="02020603050405020304" pitchFamily="18" charset="0"/>
                <a:ea typeface="+mn-ea"/>
                <a:cs typeface="Times New Roman" panose="02020603050405020304" pitchFamily="18" charset="0"/>
              </a:rPr>
            </a:b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x</a:t>
            </a:r>
            <a:r>
              <a:rPr lang="en-US" altLang="zh-CN" sz="1200" b="1" i="1" baseline="30000" dirty="0" err="1">
                <a:solidFill>
                  <a:schemeClr val="tx1"/>
                </a:solidFill>
                <a:latin typeface="Times New Roman" panose="02020603050405020304" pitchFamily="18" charset="0"/>
                <a:ea typeface="+mn-ea"/>
                <a:cs typeface="Times New Roman" panose="02020603050405020304" pitchFamily="18" charset="0"/>
              </a:rPr>
              <a:t>n</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baseline="30000" dirty="0">
                <a:solidFill>
                  <a:schemeClr val="tx1"/>
                </a:solidFill>
                <a:latin typeface="Times New Roman" panose="02020603050405020304" pitchFamily="18" charset="0"/>
                <a:ea typeface="+mn-ea"/>
                <a:cs typeface="Times New Roman" panose="02020603050405020304" pitchFamily="18" charset="0"/>
              </a:rPr>
              <a:t>m</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x</a:t>
            </a:r>
            <a:r>
              <a:rPr lang="en-US" altLang="zh-CN" sz="1200" b="1" i="1" baseline="30000" dirty="0" err="1">
                <a:solidFill>
                  <a:schemeClr val="tx1"/>
                </a:solidFill>
                <a:latin typeface="Times New Roman" panose="02020603050405020304" pitchFamily="18" charset="0"/>
                <a:ea typeface="+mn-ea"/>
                <a:cs typeface="Times New Roman" panose="02020603050405020304" pitchFamily="18" charset="0"/>
              </a:rPr>
              <a:t>nm</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m</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n</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∈Z</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rPr>
              <a:t>+</a:t>
            </a:r>
          </a:p>
          <a:p>
            <a:pPr eaLnBrk="1" hangingPunct="1">
              <a:lnSpc>
                <a:spcPct val="110000"/>
              </a:lnSpc>
              <a:spcBef>
                <a:spcPts val="1200"/>
              </a:spcBef>
              <a:buFont typeface="Wingdings" panose="05000000000000000000" pitchFamily="2" charset="2"/>
              <a:buNone/>
            </a:pPr>
            <a:endParaRPr lang="en-US" altLang="zh-CN" sz="1200" b="1" baseline="30000" dirty="0">
              <a:solidFill>
                <a:schemeClr val="tx1"/>
              </a:solidFill>
              <a:latin typeface="Times New Roman" panose="02020603050405020304" pitchFamily="18" charset="0"/>
              <a:ea typeface="+mn-ea"/>
              <a:cs typeface="Times New Roman" panose="02020603050405020304" pitchFamily="18" charset="0"/>
            </a:endParaRPr>
          </a:p>
          <a:p>
            <a:pPr eaLnBrk="1" hangingPunct="1">
              <a:lnSpc>
                <a:spcPct val="110000"/>
              </a:lnSpc>
              <a:buFont typeface="Wingdings" panose="05000000000000000000" pitchFamily="2" charset="2"/>
              <a:buNone/>
            </a:pPr>
            <a:r>
              <a:rPr lang="zh-CN" altLang="en-US" sz="1200" b="1" dirty="0">
                <a:solidFill>
                  <a:schemeClr val="tx1"/>
                </a:solidFill>
                <a:latin typeface="Times New Roman" panose="02020603050405020304" pitchFamily="18" charset="0"/>
                <a:ea typeface="+mn-ea"/>
                <a:cs typeface="Times New Roman" panose="02020603050405020304" pitchFamily="18" charset="0"/>
              </a:rPr>
              <a:t>证明方法：数学归纳法</a:t>
            </a:r>
            <a:endPar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65</a:t>
            </a:fld>
            <a:endParaRPr lang="zh-CN" altLang="en-US"/>
          </a:p>
        </p:txBody>
      </p:sp>
    </p:spTree>
    <p:extLst>
      <p:ext uri="{BB962C8B-B14F-4D97-AF65-F5344CB8AC3E}">
        <p14:creationId xmlns:p14="http://schemas.microsoft.com/office/powerpoint/2010/main" val="16464995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50000"/>
              </a:spcBef>
              <a:buNone/>
            </a:pPr>
            <a:r>
              <a:rPr lang="en-US" altLang="zh-CN" b="1" dirty="0"/>
              <a:t>9.3.1 </a:t>
            </a:r>
            <a:r>
              <a:rPr lang="zh-CN" altLang="en-US" b="1" dirty="0"/>
              <a:t>半群与独异点</a:t>
            </a:r>
            <a:endParaRPr lang="en-US" altLang="zh-CN" b="1" dirty="0"/>
          </a:p>
          <a:p>
            <a:pPr marL="0" indent="0">
              <a:spcBef>
                <a:spcPct val="50000"/>
              </a:spcBef>
              <a:buNone/>
            </a:pPr>
            <a:endParaRPr lang="zh-CN" altLang="en-US" b="1" dirty="0"/>
          </a:p>
          <a:p>
            <a:pPr marL="0" indent="0">
              <a:spcBef>
                <a:spcPct val="50000"/>
              </a:spcBef>
              <a:buNone/>
            </a:pPr>
            <a:r>
              <a:rPr lang="en-US" altLang="zh-CN" b="1" dirty="0"/>
              <a:t>9.3.2 </a:t>
            </a:r>
            <a:r>
              <a:rPr lang="zh-CN" altLang="en-US" b="1" dirty="0"/>
              <a:t>群</a:t>
            </a:r>
            <a:endParaRPr lang="en-US" altLang="zh-CN" b="1" dirty="0"/>
          </a:p>
          <a:p>
            <a:pPr marL="0" indent="0">
              <a:spcBef>
                <a:spcPct val="50000"/>
              </a:spcBef>
              <a:buNone/>
            </a:pPr>
            <a:endParaRPr lang="zh-CN" altLang="en-US" b="1" dirty="0"/>
          </a:p>
          <a:p>
            <a:pPr marL="0" indent="0">
              <a:spcBef>
                <a:spcPct val="50000"/>
              </a:spcBef>
              <a:buNone/>
            </a:pPr>
            <a:r>
              <a:rPr lang="en-US" altLang="zh-CN" b="1" dirty="0"/>
              <a:t>9.3.3 </a:t>
            </a:r>
            <a:r>
              <a:rPr lang="zh-CN" altLang="en-US" b="1" dirty="0"/>
              <a:t>环与域</a:t>
            </a:r>
            <a:endParaRPr lang="en-US" altLang="zh-CN" b="1" dirty="0"/>
          </a:p>
          <a:p>
            <a:pPr marL="0" indent="0">
              <a:spcBef>
                <a:spcPct val="50000"/>
              </a:spcBef>
              <a:buNone/>
            </a:pPr>
            <a:endParaRPr lang="zh-CN" altLang="en-US" b="1" dirty="0"/>
          </a:p>
          <a:p>
            <a:pPr marL="0" indent="0">
              <a:spcBef>
                <a:spcPct val="50000"/>
              </a:spcBef>
              <a:buNone/>
            </a:pPr>
            <a:r>
              <a:rPr lang="en-US" altLang="zh-CN" b="1" dirty="0"/>
              <a:t>9.3.4 </a:t>
            </a:r>
            <a:r>
              <a:rPr lang="zh-CN" altLang="en-US" b="1" dirty="0"/>
              <a:t>格与布尔代数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66</a:t>
            </a:fld>
            <a:endParaRPr lang="zh-CN" altLang="en-US"/>
          </a:p>
        </p:txBody>
      </p:sp>
    </p:spTree>
    <p:extLst>
      <p:ext uri="{BB962C8B-B14F-4D97-AF65-F5344CB8AC3E}">
        <p14:creationId xmlns:p14="http://schemas.microsoft.com/office/powerpoint/2010/main" val="245851696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b="1" dirty="0"/>
              <a:t>群的定义与判定 </a:t>
            </a:r>
          </a:p>
          <a:p>
            <a:pPr eaLnBrk="1" hangingPunct="1"/>
            <a:r>
              <a:rPr lang="en-US" altLang="zh-CN" b="1" dirty="0"/>
              <a:t>Klein</a:t>
            </a:r>
            <a:r>
              <a:rPr lang="zh-CN" altLang="en-US" b="1" dirty="0"/>
              <a:t>四元群 </a:t>
            </a:r>
          </a:p>
          <a:p>
            <a:pPr eaLnBrk="1" hangingPunct="1"/>
            <a:r>
              <a:rPr lang="zh-CN" altLang="en-US" b="1" dirty="0"/>
              <a:t>交换群</a:t>
            </a:r>
            <a:r>
              <a:rPr lang="en-US" altLang="zh-CN" b="1" dirty="0"/>
              <a:t>(</a:t>
            </a:r>
            <a:r>
              <a:rPr lang="zh-CN" altLang="en-US" b="1" dirty="0"/>
              <a:t>阿贝尔群</a:t>
            </a:r>
            <a:r>
              <a:rPr lang="en-US" altLang="zh-CN" b="1" dirty="0"/>
              <a:t>)</a:t>
            </a:r>
          </a:p>
          <a:p>
            <a:pPr eaLnBrk="1" hangingPunct="1"/>
            <a:r>
              <a:rPr lang="zh-CN" altLang="en-US" b="1" dirty="0"/>
              <a:t>无限群、有限群、群的阶</a:t>
            </a:r>
          </a:p>
          <a:p>
            <a:pPr eaLnBrk="1" hangingPunct="1"/>
            <a:r>
              <a:rPr lang="zh-CN" altLang="en-US" b="1" dirty="0"/>
              <a:t>群元素的幂运算、阶与阶元</a:t>
            </a:r>
          </a:p>
          <a:p>
            <a:pPr eaLnBrk="1" hangingPunct="1"/>
            <a:r>
              <a:rPr lang="zh-CN" altLang="en-US" b="1" dirty="0"/>
              <a:t>群方程</a:t>
            </a:r>
          </a:p>
          <a:p>
            <a:pPr eaLnBrk="1" hangingPunct="1"/>
            <a:r>
              <a:rPr lang="zh-CN" altLang="en-US" b="1" dirty="0"/>
              <a:t>群与子群</a:t>
            </a:r>
          </a:p>
          <a:p>
            <a:pPr eaLnBrk="1" hangingPunct="1"/>
            <a:r>
              <a:rPr lang="zh-CN" altLang="en-US" b="1" dirty="0"/>
              <a:t>生成子群、循环群</a:t>
            </a:r>
            <a:endParaRPr lang="en-US" altLang="zh-CN" b="1" dirty="0"/>
          </a:p>
          <a:p>
            <a:pPr eaLnBrk="1" hangingPunct="1"/>
            <a:r>
              <a:rPr lang="zh-CN" altLang="en-US" b="1" dirty="0"/>
              <a:t>置换群</a:t>
            </a:r>
            <a:endParaRPr lang="zh-CN" altLang="en-US" sz="1100"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67</a:t>
            </a:fld>
            <a:endParaRPr lang="zh-CN" altLang="en-US"/>
          </a:p>
        </p:txBody>
      </p:sp>
    </p:spTree>
    <p:extLst>
      <p:ext uri="{BB962C8B-B14F-4D97-AF65-F5344CB8AC3E}">
        <p14:creationId xmlns:p14="http://schemas.microsoft.com/office/powerpoint/2010/main" val="219988615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&lt;Z,+&gt;: (</a:t>
            </a:r>
            <a:r>
              <a:rPr lang="zh-CN" altLang="en-US" dirty="0"/>
              <a:t>整数与加</a:t>
            </a:r>
            <a:r>
              <a:rPr lang="en-US" altLang="zh-CN" dirty="0"/>
              <a:t>)</a:t>
            </a:r>
          </a:p>
          <a:p>
            <a:r>
              <a:rPr lang="en-US" altLang="zh-CN" dirty="0"/>
              <a:t>&lt;Q,+&gt;: (</a:t>
            </a:r>
            <a:r>
              <a:rPr lang="zh-CN" altLang="en-US" dirty="0"/>
              <a:t>有理数与加法</a:t>
            </a:r>
            <a:r>
              <a:rPr lang="en-US" altLang="zh-CN" dirty="0"/>
              <a:t>)</a:t>
            </a:r>
          </a:p>
          <a:p>
            <a:r>
              <a:rPr lang="en-US" altLang="zh-CN" dirty="0"/>
              <a:t>&lt;R,+&gt;: (</a:t>
            </a:r>
            <a:r>
              <a:rPr lang="zh-CN" altLang="en-US" dirty="0"/>
              <a:t>实数与加法</a:t>
            </a:r>
            <a:r>
              <a:rPr lang="en-US" altLang="zh-CN" dirty="0"/>
              <a:t>)</a:t>
            </a:r>
          </a:p>
          <a:p>
            <a:r>
              <a:rPr lang="en-US" altLang="zh-CN" dirty="0"/>
              <a:t>&lt;Z</a:t>
            </a:r>
            <a:r>
              <a:rPr lang="en-US" altLang="zh-CN" baseline="30000" dirty="0"/>
              <a:t>+</a:t>
            </a:r>
            <a:r>
              <a:rPr lang="en-US" altLang="zh-CN" dirty="0"/>
              <a:t>,+&gt;(</a:t>
            </a:r>
            <a:r>
              <a:rPr lang="zh-CN" altLang="en-US" dirty="0"/>
              <a:t>正整数与加法</a:t>
            </a:r>
            <a:r>
              <a:rPr lang="en-US" altLang="zh-CN" dirty="0"/>
              <a:t>) </a:t>
            </a:r>
          </a:p>
          <a:p>
            <a:r>
              <a:rPr lang="en-US" altLang="zh-CN" dirty="0"/>
              <a:t>&lt;N,+&gt; (</a:t>
            </a:r>
            <a:r>
              <a:rPr lang="zh-CN" altLang="en-US" dirty="0"/>
              <a:t>自然数与加法</a:t>
            </a:r>
            <a:r>
              <a:rPr lang="en-US" altLang="zh-CN" dirty="0"/>
              <a:t>)</a:t>
            </a:r>
          </a:p>
          <a:p>
            <a:r>
              <a:rPr lang="en-US" altLang="zh-CN" dirty="0"/>
              <a:t>&lt; Mn(R),+&gt; (n</a:t>
            </a:r>
            <a:r>
              <a:rPr lang="zh-CN" altLang="en-US" dirty="0"/>
              <a:t>阶实数矩阵加法</a:t>
            </a:r>
            <a:r>
              <a:rPr lang="en-US" altLang="zh-CN" dirty="0"/>
              <a:t>)</a:t>
            </a:r>
          </a:p>
          <a:p>
            <a:r>
              <a:rPr lang="en-US" altLang="zh-CN" dirty="0"/>
              <a:t>&lt; Mn(R),·&gt;(n</a:t>
            </a:r>
            <a:r>
              <a:rPr lang="zh-CN" altLang="en-US" dirty="0"/>
              <a:t>阶实数矩阵乘法</a:t>
            </a:r>
            <a:r>
              <a:rPr lang="en-US" altLang="zh-CN" dirty="0"/>
              <a:t>)</a:t>
            </a:r>
          </a:p>
          <a:p>
            <a:r>
              <a:rPr lang="en-US" altLang="zh-CN" dirty="0"/>
              <a:t>&lt; P(B),⊕&gt; (B</a:t>
            </a:r>
            <a:r>
              <a:rPr lang="zh-CN" altLang="en-US" dirty="0"/>
              <a:t>的幂集对称差运算</a:t>
            </a:r>
            <a:r>
              <a:rPr lang="en-US" altLang="zh-CN" dirty="0"/>
              <a:t>)</a:t>
            </a:r>
          </a:p>
          <a:p>
            <a:r>
              <a:rPr lang="en-US" altLang="zh-CN" dirty="0"/>
              <a:t>&lt; Zn,⊕&gt;(</a:t>
            </a:r>
            <a:r>
              <a:rPr lang="zh-CN" altLang="en-US" dirty="0"/>
              <a:t>模集合上的模</a:t>
            </a:r>
            <a:r>
              <a:rPr lang="en-US" altLang="zh-CN" dirty="0"/>
              <a:t>n</a:t>
            </a:r>
            <a:r>
              <a:rPr lang="zh-CN" altLang="en-US" dirty="0"/>
              <a:t>加法</a:t>
            </a:r>
            <a:r>
              <a:rPr lang="en-US" altLang="zh-CN" dirty="0"/>
              <a:t>)</a:t>
            </a:r>
          </a:p>
          <a:p>
            <a:pPr marL="609600" indent="-609600" eaLnBrk="1" hangingPunct="1">
              <a:lnSpc>
                <a:spcPct val="110000"/>
              </a:lnSpc>
              <a:buFontTx/>
              <a:buNone/>
            </a:pPr>
            <a:r>
              <a:rPr lang="zh-CN" altLang="en-US" sz="1200" b="1" dirty="0">
                <a:solidFill>
                  <a:srgbClr val="FF0000"/>
                </a:solidFill>
                <a:latin typeface="Times New Roman" panose="02020603050405020304" pitchFamily="18" charset="0"/>
                <a:cs typeface="Times New Roman" panose="02020603050405020304" pitchFamily="18" charset="0"/>
              </a:rPr>
              <a:t>定义</a:t>
            </a:r>
            <a:r>
              <a:rPr lang="en-US" altLang="zh-CN" sz="1200" b="1" dirty="0">
                <a:solidFill>
                  <a:srgbClr val="FF0000"/>
                </a:solidFill>
                <a:latin typeface="Times New Roman" panose="02020603050405020304" pitchFamily="18" charset="0"/>
                <a:cs typeface="Times New Roman" panose="02020603050405020304" pitchFamily="18" charset="0"/>
              </a:rPr>
              <a:t>9.14</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设</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 &gt;</a:t>
            </a:r>
            <a:r>
              <a:rPr lang="zh-CN" altLang="en-US" sz="1200" b="1" dirty="0">
                <a:latin typeface="Times New Roman" panose="02020603050405020304" pitchFamily="18" charset="0"/>
                <a:cs typeface="Times New Roman" panose="02020603050405020304" pitchFamily="18" charset="0"/>
              </a:rPr>
              <a:t>是代数系统，</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c</a:t>
            </a:r>
            <a:r>
              <a:rPr lang="zh-CN" altLang="en-US" sz="1200" b="1" dirty="0">
                <a:latin typeface="Times New Roman" panose="02020603050405020304" pitchFamily="18" charset="0"/>
                <a:cs typeface="Times New Roman" panose="02020603050405020304" pitchFamily="18" charset="0"/>
              </a:rPr>
              <a:t>为二元运算</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如果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rPr>
              <a:t>运算是可结合的，存在单位（幺）元 </a:t>
            </a:r>
            <a:r>
              <a:rPr lang="en-US" altLang="zh-CN" sz="1200" b="1" i="1" dirty="0" err="1">
                <a:latin typeface="Times New Roman" panose="02020603050405020304" pitchFamily="18" charset="0"/>
                <a:cs typeface="Times New Roman" panose="02020603050405020304" pitchFamily="18" charset="0"/>
              </a:rPr>
              <a:t>e</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，并且对 </a:t>
            </a:r>
            <a:r>
              <a:rPr lang="en-US" altLang="zh-CN" sz="1200" b="1" i="1" dirty="0">
                <a:latin typeface="Times New Roman" panose="02020603050405020304" pitchFamily="18" charset="0"/>
                <a:cs typeface="Times New Roman" panose="02020603050405020304" pitchFamily="18" charset="0"/>
              </a:rPr>
              <a:t>G </a:t>
            </a:r>
            <a:r>
              <a:rPr lang="zh-CN" altLang="en-US" sz="1200" b="1" dirty="0">
                <a:latin typeface="Times New Roman" panose="02020603050405020304" pitchFamily="18" charset="0"/>
                <a:cs typeface="Times New Roman" panose="02020603050405020304" pitchFamily="18" charset="0"/>
              </a:rPr>
              <a:t>中的任何元素 </a:t>
            </a:r>
            <a:r>
              <a:rPr lang="en-US" altLang="zh-CN" sz="1200" b="1" i="1" dirty="0">
                <a:latin typeface="Times New Roman" panose="02020603050405020304" pitchFamily="18" charset="0"/>
                <a:cs typeface="Times New Roman" panose="02020603050405020304" pitchFamily="18" charset="0"/>
              </a:rPr>
              <a:t>x </a:t>
            </a:r>
            <a:r>
              <a:rPr lang="zh-CN" altLang="en-US" sz="1200" b="1" dirty="0">
                <a:latin typeface="Times New Roman" panose="02020603050405020304" pitchFamily="18" charset="0"/>
                <a:cs typeface="Times New Roman" panose="02020603050405020304" pitchFamily="18" charset="0"/>
              </a:rPr>
              <a:t>都有</a:t>
            </a:r>
            <a:r>
              <a:rPr lang="en-US" altLang="zh-CN" sz="1200" b="1" i="1" dirty="0">
                <a:latin typeface="Times New Roman" panose="02020603050405020304" pitchFamily="18" charset="0"/>
                <a:cs typeface="Times New Roman" panose="02020603050405020304" pitchFamily="18" charset="0"/>
              </a:rPr>
              <a:t>x</a:t>
            </a:r>
            <a:r>
              <a:rPr lang="en-US" altLang="zh-CN" sz="1200" b="1" i="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，则称 </a:t>
            </a:r>
            <a:r>
              <a:rPr lang="en-US" altLang="zh-CN" sz="1200" b="1" i="1" dirty="0">
                <a:latin typeface="Times New Roman" panose="02020603050405020304" pitchFamily="18" charset="0"/>
                <a:cs typeface="Times New Roman" panose="02020603050405020304" pitchFamily="18" charset="0"/>
              </a:rPr>
              <a:t>G </a:t>
            </a:r>
            <a:r>
              <a:rPr lang="zh-CN" altLang="en-US" sz="1200" b="1" dirty="0">
                <a:latin typeface="Times New Roman" panose="02020603050405020304" pitchFamily="18" charset="0"/>
                <a:cs typeface="Times New Roman" panose="02020603050405020304" pitchFamily="18" charset="0"/>
              </a:rPr>
              <a:t>为 </a:t>
            </a:r>
            <a:r>
              <a:rPr lang="zh-CN" altLang="en-US" sz="1200" b="1" dirty="0">
                <a:solidFill>
                  <a:srgbClr val="FF0000"/>
                </a:solidFill>
                <a:latin typeface="Times New Roman" panose="02020603050405020304" pitchFamily="18" charset="0"/>
                <a:cs typeface="Times New Roman" panose="02020603050405020304" pitchFamily="18" charset="0"/>
              </a:rPr>
              <a:t>群</a:t>
            </a:r>
            <a:r>
              <a:rPr lang="en-US" altLang="zh-CN" sz="1200" b="1" dirty="0">
                <a:latin typeface="Times New Roman" panose="02020603050405020304" pitchFamily="18" charset="0"/>
                <a:cs typeface="Times New Roman" panose="02020603050405020304" pitchFamily="18" charset="0"/>
              </a:rPr>
              <a:t>.</a:t>
            </a:r>
          </a:p>
          <a:p>
            <a:pPr marL="609600" indent="-609600" eaLnBrk="1" hangingPunct="1">
              <a:lnSpc>
                <a:spcPct val="100000"/>
              </a:lnSpc>
              <a:buFontTx/>
              <a:buNone/>
            </a:pPr>
            <a:r>
              <a:rPr lang="zh-CN" altLang="en-US" sz="1100" b="1" dirty="0">
                <a:solidFill>
                  <a:srgbClr val="00B0F0"/>
                </a:solidFill>
              </a:rPr>
              <a:t>注：</a:t>
            </a:r>
            <a:r>
              <a:rPr lang="zh-CN" altLang="en-US" sz="1100" b="1" dirty="0">
                <a:latin typeface="楷体" panose="02010609060101010101" pitchFamily="49" charset="-122"/>
                <a:ea typeface="楷体" panose="02010609060101010101" pitchFamily="49" charset="-122"/>
              </a:rPr>
              <a:t>群就是每个元素都有逆元的含幺半群；</a:t>
            </a:r>
          </a:p>
          <a:p>
            <a:pPr marL="609600" indent="-609600" eaLnBrk="1" hangingPunct="1">
              <a:lnSpc>
                <a:spcPct val="100000"/>
              </a:lnSpc>
              <a:buFontTx/>
              <a:buNone/>
            </a:pPr>
            <a:r>
              <a:rPr lang="zh-CN" altLang="en-US" sz="1100" b="1" dirty="0"/>
              <a:t>　　</a:t>
            </a:r>
            <a:r>
              <a:rPr lang="zh-CN" altLang="en-US" sz="1100" b="1" dirty="0">
                <a:latin typeface="楷体" panose="02010609060101010101" pitchFamily="49" charset="-122"/>
                <a:ea typeface="楷体" panose="02010609060101010101" pitchFamily="49" charset="-122"/>
              </a:rPr>
              <a:t>验证一个代数系统是群，必须验证</a:t>
            </a:r>
            <a:r>
              <a:rPr lang="en-US" altLang="zh-CN" sz="1100" b="1" dirty="0">
                <a:latin typeface="Calibri" panose="020F0502020204030204" pitchFamily="34" charset="0"/>
                <a:ea typeface="楷体" panose="02010609060101010101" pitchFamily="49" charset="-122"/>
                <a:cs typeface="Calibri" panose="020F0502020204030204" pitchFamily="34" charset="0"/>
              </a:rPr>
              <a:t>①</a:t>
            </a:r>
            <a:r>
              <a:rPr lang="zh-CN" altLang="en-US" sz="1100" b="1" dirty="0">
                <a:latin typeface="楷体" panose="02010609060101010101" pitchFamily="49" charset="-122"/>
                <a:ea typeface="楷体" panose="02010609060101010101" pitchFamily="49" charset="-122"/>
              </a:rPr>
              <a:t>封闭性</a:t>
            </a:r>
            <a:r>
              <a:rPr lang="en-US" altLang="zh-CN" sz="1100" b="1" dirty="0">
                <a:latin typeface="楷体" panose="02010609060101010101" pitchFamily="49" charset="-122"/>
                <a:ea typeface="楷体" panose="02010609060101010101" pitchFamily="49" charset="-122"/>
              </a:rPr>
              <a:t>;</a:t>
            </a:r>
            <a:r>
              <a:rPr lang="en-US" altLang="zh-CN" sz="1100" b="1" dirty="0">
                <a:latin typeface="Calibri" panose="020F0502020204030204" pitchFamily="34" charset="0"/>
                <a:ea typeface="楷体" panose="02010609060101010101" pitchFamily="49" charset="-122"/>
                <a:cs typeface="Calibri" panose="020F0502020204030204" pitchFamily="34" charset="0"/>
              </a:rPr>
              <a:t>②</a:t>
            </a:r>
            <a:r>
              <a:rPr lang="zh-CN" altLang="en-US" sz="1100" b="1" dirty="0">
                <a:latin typeface="楷体" panose="02010609060101010101" pitchFamily="49" charset="-122"/>
                <a:ea typeface="楷体" panose="02010609060101010101" pitchFamily="49" charset="-122"/>
              </a:rPr>
              <a:t>结合律</a:t>
            </a:r>
            <a:r>
              <a:rPr lang="en-US" altLang="zh-CN" sz="1100" b="1" dirty="0">
                <a:latin typeface="楷体" panose="02010609060101010101" pitchFamily="49" charset="-122"/>
                <a:ea typeface="楷体" panose="02010609060101010101" pitchFamily="49" charset="-122"/>
              </a:rPr>
              <a:t>;</a:t>
            </a:r>
            <a:r>
              <a:rPr lang="en-US" altLang="zh-CN" sz="1100" b="1" dirty="0">
                <a:latin typeface="Calibri" panose="020F0502020204030204" pitchFamily="34" charset="0"/>
                <a:ea typeface="楷体" panose="02010609060101010101" pitchFamily="49" charset="-122"/>
                <a:cs typeface="Calibri" panose="020F0502020204030204" pitchFamily="34" charset="0"/>
              </a:rPr>
              <a:t>③</a:t>
            </a:r>
            <a:r>
              <a:rPr lang="zh-CN" altLang="en-US" sz="1100" b="1" dirty="0">
                <a:latin typeface="楷体" panose="02010609060101010101" pitchFamily="49" charset="-122"/>
                <a:ea typeface="楷体" panose="02010609060101010101" pitchFamily="49" charset="-122"/>
              </a:rPr>
              <a:t>有幺元</a:t>
            </a:r>
            <a:r>
              <a:rPr lang="en-US" altLang="zh-CN" sz="1100" b="1" dirty="0">
                <a:latin typeface="楷体" panose="02010609060101010101" pitchFamily="49" charset="-122"/>
                <a:ea typeface="楷体" panose="02010609060101010101" pitchFamily="49" charset="-122"/>
              </a:rPr>
              <a:t>;</a:t>
            </a:r>
            <a:r>
              <a:rPr lang="en-US" altLang="zh-CN" sz="1100" b="1" dirty="0">
                <a:latin typeface="Calibri" panose="020F0502020204030204" pitchFamily="34" charset="0"/>
                <a:ea typeface="楷体" panose="02010609060101010101" pitchFamily="49" charset="-122"/>
                <a:cs typeface="Calibri" panose="020F0502020204030204" pitchFamily="34" charset="0"/>
              </a:rPr>
              <a:t>④</a:t>
            </a:r>
            <a:r>
              <a:rPr lang="zh-CN" altLang="en-US" sz="1100" b="1" dirty="0">
                <a:latin typeface="楷体" panose="02010609060101010101" pitchFamily="49" charset="-122"/>
                <a:ea typeface="楷体" panose="02010609060101010101" pitchFamily="49" charset="-122"/>
              </a:rPr>
              <a:t>有逆元</a:t>
            </a:r>
            <a:r>
              <a:rPr lang="en-US" altLang="zh-CN" sz="1100" b="1" dirty="0">
                <a:latin typeface="楷体" panose="02010609060101010101" pitchFamily="49" charset="-122"/>
                <a:ea typeface="楷体" panose="02010609060101010101" pitchFamily="49" charset="-122"/>
              </a:rPr>
              <a:t>.</a:t>
            </a:r>
          </a:p>
          <a:p>
            <a:pPr marL="609600" indent="-609600">
              <a:lnSpc>
                <a:spcPct val="100000"/>
              </a:lnSpc>
              <a:buFontTx/>
              <a:buNone/>
            </a:pPr>
            <a:r>
              <a:rPr lang="zh-CN" altLang="en-US" sz="1100" b="1" dirty="0">
                <a:solidFill>
                  <a:srgbClr val="00B0F0"/>
                </a:solidFill>
              </a:rPr>
              <a:t>实例</a:t>
            </a:r>
          </a:p>
          <a:p>
            <a:pPr marL="609600" indent="-609600">
              <a:lnSpc>
                <a:spcPct val="100000"/>
              </a:lnSpc>
              <a:buFontTx/>
              <a:buNone/>
            </a:pPr>
            <a:r>
              <a:rPr lang="en-US" altLang="zh-CN" sz="1100" b="1" dirty="0">
                <a:latin typeface="Times New Roman" panose="02020603050405020304" pitchFamily="18" charset="0"/>
                <a:cs typeface="Times New Roman" panose="02020603050405020304" pitchFamily="18" charset="0"/>
              </a:rPr>
              <a:t>(1) &lt;Z,+&gt;,&lt;Q,+&gt;,&lt;R,+&gt;</a:t>
            </a:r>
            <a:r>
              <a:rPr lang="zh-CN" altLang="en-US" sz="1100" b="1" dirty="0">
                <a:latin typeface="Times New Roman" panose="02020603050405020304" pitchFamily="18" charset="0"/>
                <a:cs typeface="Times New Roman" panose="02020603050405020304" pitchFamily="18" charset="0"/>
              </a:rPr>
              <a:t>都是群；</a:t>
            </a:r>
            <a:r>
              <a:rPr lang="en-US" altLang="zh-CN" sz="1100" b="1" dirty="0">
                <a:latin typeface="Times New Roman" panose="02020603050405020304" pitchFamily="18" charset="0"/>
                <a:cs typeface="Times New Roman" panose="02020603050405020304" pitchFamily="18" charset="0"/>
              </a:rPr>
              <a:t>&lt;Z</a:t>
            </a:r>
            <a:r>
              <a:rPr lang="en-US" altLang="zh-CN" sz="1100" b="1" baseline="30000"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rPr>
              <a:t>,+&gt;</a:t>
            </a:r>
            <a:r>
              <a:rPr lang="zh-CN" altLang="en-US" sz="1100" b="1" dirty="0">
                <a:latin typeface="Times New Roman" panose="02020603050405020304" pitchFamily="18" charset="0"/>
                <a:cs typeface="Times New Roman" panose="02020603050405020304" pitchFamily="18" charset="0"/>
              </a:rPr>
              <a:t>和</a:t>
            </a:r>
            <a:r>
              <a:rPr lang="en-US" altLang="zh-CN" sz="1100" b="1" dirty="0">
                <a:latin typeface="Times New Roman" panose="02020603050405020304" pitchFamily="18" charset="0"/>
                <a:cs typeface="Times New Roman" panose="02020603050405020304" pitchFamily="18" charset="0"/>
              </a:rPr>
              <a:t>&lt;N,+&gt;</a:t>
            </a:r>
            <a:r>
              <a:rPr lang="zh-CN" altLang="en-US" sz="1100" b="1" dirty="0">
                <a:latin typeface="Times New Roman" panose="02020603050405020304" pitchFamily="18" charset="0"/>
                <a:cs typeface="Times New Roman" panose="02020603050405020304" pitchFamily="18" charset="0"/>
              </a:rPr>
              <a:t>不是群</a:t>
            </a:r>
            <a:r>
              <a:rPr lang="en-US" altLang="zh-CN" sz="1100" b="1" dirty="0">
                <a:latin typeface="Times New Roman" panose="02020603050405020304" pitchFamily="18" charset="0"/>
                <a:cs typeface="Times New Roman" panose="02020603050405020304" pitchFamily="18" charset="0"/>
              </a:rPr>
              <a:t>. </a:t>
            </a:r>
          </a:p>
          <a:p>
            <a:pPr marL="609600" indent="-609600">
              <a:lnSpc>
                <a:spcPct val="100000"/>
              </a:lnSpc>
              <a:buFontTx/>
              <a:buNone/>
            </a:pPr>
            <a:r>
              <a:rPr lang="en-US" altLang="zh-CN" sz="1100" b="1" dirty="0">
                <a:latin typeface="Times New Roman" panose="02020603050405020304" pitchFamily="18" charset="0"/>
                <a:cs typeface="Times New Roman" panose="02020603050405020304" pitchFamily="18" charset="0"/>
              </a:rPr>
              <a:t>(2) &lt;</a:t>
            </a:r>
            <a:r>
              <a:rPr lang="en-US" altLang="zh-CN" sz="1100" b="1" i="1" dirty="0">
                <a:latin typeface="Times New Roman" panose="02020603050405020304" pitchFamily="18" charset="0"/>
                <a:cs typeface="Times New Roman" panose="02020603050405020304" pitchFamily="18" charset="0"/>
              </a:rPr>
              <a:t>M</a:t>
            </a:r>
            <a:r>
              <a:rPr lang="en-US" altLang="zh-CN" sz="1100" b="1" i="1" baseline="-25000" dirty="0">
                <a:latin typeface="Times New Roman" panose="02020603050405020304" pitchFamily="18" charset="0"/>
                <a:cs typeface="Times New Roman" panose="02020603050405020304" pitchFamily="18" charset="0"/>
              </a:rPr>
              <a:t>n</a:t>
            </a:r>
            <a:r>
              <a:rPr lang="en-US" altLang="zh-CN" sz="1100" b="1" dirty="0">
                <a:latin typeface="Times New Roman" panose="02020603050405020304" pitchFamily="18" charset="0"/>
                <a:cs typeface="Times New Roman" panose="02020603050405020304" pitchFamily="18" charset="0"/>
              </a:rPr>
              <a:t>(R),+&gt;</a:t>
            </a:r>
            <a:r>
              <a:rPr lang="zh-CN" altLang="en-US" sz="1100" b="1" dirty="0">
                <a:latin typeface="Times New Roman" panose="02020603050405020304" pitchFamily="18" charset="0"/>
                <a:cs typeface="Times New Roman" panose="02020603050405020304" pitchFamily="18" charset="0"/>
              </a:rPr>
              <a:t>是群，而</a:t>
            </a:r>
            <a:r>
              <a:rPr lang="en-US" altLang="zh-CN" sz="1100" b="1" dirty="0">
                <a:latin typeface="Times New Roman" panose="02020603050405020304" pitchFamily="18" charset="0"/>
                <a:cs typeface="Times New Roman" panose="02020603050405020304" pitchFamily="18" charset="0"/>
              </a:rPr>
              <a:t>&lt;</a:t>
            </a:r>
            <a:r>
              <a:rPr lang="en-US" altLang="zh-CN" sz="1100" b="1" i="1" dirty="0">
                <a:latin typeface="Times New Roman" panose="02020603050405020304" pitchFamily="18" charset="0"/>
                <a:cs typeface="Times New Roman" panose="02020603050405020304" pitchFamily="18" charset="0"/>
              </a:rPr>
              <a:t>M</a:t>
            </a:r>
            <a:r>
              <a:rPr lang="en-US" altLang="zh-CN" sz="1100" b="1" i="1" baseline="-25000" dirty="0">
                <a:latin typeface="Times New Roman" panose="02020603050405020304" pitchFamily="18" charset="0"/>
                <a:cs typeface="Times New Roman" panose="02020603050405020304" pitchFamily="18" charset="0"/>
              </a:rPr>
              <a:t>n</a:t>
            </a:r>
            <a:r>
              <a:rPr lang="en-US" altLang="zh-CN" sz="1100" b="1" dirty="0">
                <a:latin typeface="Times New Roman" panose="02020603050405020304" pitchFamily="18" charset="0"/>
                <a:cs typeface="Times New Roman" panose="02020603050405020304" pitchFamily="18" charset="0"/>
              </a:rPr>
              <a:t>(R),·&gt;</a:t>
            </a:r>
            <a:r>
              <a:rPr lang="zh-CN" altLang="en-US" sz="1100" b="1" dirty="0">
                <a:latin typeface="Times New Roman" panose="02020603050405020304" pitchFamily="18" charset="0"/>
                <a:cs typeface="Times New Roman" panose="02020603050405020304" pitchFamily="18" charset="0"/>
              </a:rPr>
              <a:t>不是群</a:t>
            </a:r>
            <a:r>
              <a:rPr lang="en-US" altLang="zh-CN" sz="1100" b="1" dirty="0">
                <a:latin typeface="Times New Roman" panose="02020603050405020304" pitchFamily="18" charset="0"/>
                <a:cs typeface="Times New Roman" panose="02020603050405020304" pitchFamily="18" charset="0"/>
              </a:rPr>
              <a:t>. </a:t>
            </a:r>
          </a:p>
          <a:p>
            <a:pPr marL="609600" indent="-609600">
              <a:lnSpc>
                <a:spcPct val="100000"/>
              </a:lnSpc>
              <a:buFontTx/>
              <a:buNone/>
            </a:pPr>
            <a:r>
              <a:rPr lang="en-US" altLang="zh-CN" sz="1100" b="1" dirty="0">
                <a:latin typeface="Times New Roman" panose="02020603050405020304" pitchFamily="18" charset="0"/>
                <a:cs typeface="Times New Roman" panose="02020603050405020304" pitchFamily="18" charset="0"/>
              </a:rPr>
              <a:t>(3) &lt;</a:t>
            </a:r>
            <a:r>
              <a:rPr lang="en-US" altLang="zh-CN" sz="1100" b="1" i="1" dirty="0">
                <a:latin typeface="Times New Roman" panose="02020603050405020304" pitchFamily="18" charset="0"/>
                <a:cs typeface="Times New Roman" panose="02020603050405020304" pitchFamily="18" charset="0"/>
              </a:rPr>
              <a:t>P</a:t>
            </a:r>
            <a:r>
              <a:rPr lang="en-US" altLang="zh-CN" sz="1100" b="1" dirty="0">
                <a:latin typeface="Times New Roman" panose="02020603050405020304" pitchFamily="18" charset="0"/>
                <a:cs typeface="Times New Roman" panose="02020603050405020304" pitchFamily="18" charset="0"/>
              </a:rPr>
              <a:t>(</a:t>
            </a:r>
            <a:r>
              <a:rPr lang="en-US" altLang="zh-CN" sz="1100" b="1" i="1" dirty="0">
                <a:latin typeface="Times New Roman" panose="02020603050405020304" pitchFamily="18" charset="0"/>
                <a:cs typeface="Times New Roman" panose="02020603050405020304" pitchFamily="18" charset="0"/>
              </a:rPr>
              <a:t>B</a:t>
            </a:r>
            <a:r>
              <a:rPr lang="en-US" altLang="zh-CN" sz="1100" b="1"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dirty="0">
                <a:latin typeface="Times New Roman" panose="02020603050405020304" pitchFamily="18" charset="0"/>
                <a:cs typeface="Times New Roman" panose="02020603050405020304" pitchFamily="18" charset="0"/>
              </a:rPr>
              <a:t>&gt;</a:t>
            </a:r>
            <a:r>
              <a:rPr lang="zh-CN" altLang="en-US" sz="1100" b="1" dirty="0">
                <a:latin typeface="Times New Roman" panose="02020603050405020304" pitchFamily="18" charset="0"/>
                <a:cs typeface="Times New Roman" panose="02020603050405020304" pitchFamily="18" charset="0"/>
              </a:rPr>
              <a:t>是群，</a:t>
            </a:r>
            <a:r>
              <a:rPr lang="zh-CN" altLang="en-US" sz="11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100" b="1" dirty="0">
                <a:latin typeface="Times New Roman" panose="02020603050405020304" pitchFamily="18" charset="0"/>
                <a:cs typeface="Times New Roman" panose="02020603050405020304" pitchFamily="18" charset="0"/>
              </a:rPr>
              <a:t>为对称差运算</a:t>
            </a:r>
            <a:r>
              <a:rPr lang="en-US" altLang="zh-CN" sz="1100" b="1" dirty="0">
                <a:latin typeface="Times New Roman" panose="02020603050405020304" pitchFamily="18" charset="0"/>
                <a:cs typeface="Times New Roman" panose="02020603050405020304" pitchFamily="18" charset="0"/>
              </a:rPr>
              <a:t>. </a:t>
            </a:r>
          </a:p>
          <a:p>
            <a:pPr marL="609600" indent="-609600">
              <a:lnSpc>
                <a:spcPct val="100000"/>
              </a:lnSpc>
              <a:buFontTx/>
              <a:buNone/>
            </a:pPr>
            <a:r>
              <a:rPr lang="en-US" altLang="zh-CN" sz="1100" b="1" dirty="0">
                <a:latin typeface="Times New Roman" panose="02020603050405020304" pitchFamily="18" charset="0"/>
                <a:cs typeface="Times New Roman" panose="02020603050405020304" pitchFamily="18" charset="0"/>
              </a:rPr>
              <a:t>(4) &lt;</a:t>
            </a:r>
            <a:r>
              <a:rPr lang="en-US" altLang="zh-CN" sz="1100" b="1" i="1" dirty="0">
                <a:latin typeface="Times New Roman" panose="02020603050405020304" pitchFamily="18" charset="0"/>
                <a:cs typeface="Times New Roman" panose="02020603050405020304" pitchFamily="18" charset="0"/>
              </a:rPr>
              <a:t>Z</a:t>
            </a:r>
            <a:r>
              <a:rPr lang="en-US" altLang="zh-CN" sz="1100" b="1" i="1" baseline="-25000" dirty="0">
                <a:latin typeface="Times New Roman" panose="02020603050405020304" pitchFamily="18" charset="0"/>
                <a:cs typeface="Times New Roman" panose="02020603050405020304" pitchFamily="18" charset="0"/>
              </a:rPr>
              <a:t>n</a:t>
            </a:r>
            <a:r>
              <a:rPr lang="en-US" altLang="zh-CN" sz="1100" b="1"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dirty="0">
                <a:latin typeface="Times New Roman" panose="02020603050405020304" pitchFamily="18" charset="0"/>
                <a:cs typeface="Times New Roman" panose="02020603050405020304" pitchFamily="18" charset="0"/>
              </a:rPr>
              <a:t>&gt;</a:t>
            </a:r>
            <a:r>
              <a:rPr lang="zh-CN" altLang="en-US" sz="1100" b="1" dirty="0">
                <a:latin typeface="Times New Roman" panose="02020603050405020304" pitchFamily="18" charset="0"/>
                <a:cs typeface="Times New Roman" panose="02020603050405020304" pitchFamily="18" charset="0"/>
              </a:rPr>
              <a:t>是群，</a:t>
            </a:r>
            <a:r>
              <a:rPr lang="en-US" altLang="zh-CN" sz="1100" b="1" i="1" dirty="0">
                <a:latin typeface="Times New Roman" panose="02020603050405020304" pitchFamily="18" charset="0"/>
                <a:cs typeface="Times New Roman" panose="02020603050405020304" pitchFamily="18" charset="0"/>
              </a:rPr>
              <a:t>Z</a:t>
            </a:r>
            <a:r>
              <a:rPr lang="en-US" altLang="zh-CN" sz="1100" b="1" i="1" baseline="-25000" dirty="0">
                <a:latin typeface="Times New Roman" panose="02020603050405020304" pitchFamily="18" charset="0"/>
                <a:cs typeface="Times New Roman" panose="02020603050405020304" pitchFamily="18" charset="0"/>
              </a:rPr>
              <a:t>n</a:t>
            </a:r>
            <a:r>
              <a:rPr lang="en-US" altLang="zh-CN" sz="1100" b="1" dirty="0">
                <a:latin typeface="Times New Roman" panose="02020603050405020304" pitchFamily="18" charset="0"/>
                <a:cs typeface="Times New Roman" panose="02020603050405020304" pitchFamily="18" charset="0"/>
              </a:rPr>
              <a:t>={ 0,1, …, </a:t>
            </a:r>
            <a:r>
              <a:rPr lang="en-US" altLang="zh-CN" sz="1100" b="1" i="1" dirty="0">
                <a:latin typeface="Times New Roman" panose="02020603050405020304" pitchFamily="18" charset="0"/>
                <a:cs typeface="Times New Roman" panose="02020603050405020304" pitchFamily="18" charset="0"/>
              </a:rPr>
              <a:t>n</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dirty="0">
                <a:latin typeface="Times New Roman" panose="02020603050405020304" pitchFamily="18" charset="0"/>
                <a:cs typeface="Times New Roman" panose="02020603050405020304" pitchFamily="18" charset="0"/>
              </a:rPr>
              <a:t>1}</a:t>
            </a:r>
            <a:r>
              <a:rPr lang="zh-CN" altLang="en-US" sz="1100" b="1" dirty="0">
                <a:latin typeface="Times New Roman" panose="02020603050405020304" pitchFamily="18" charset="0"/>
                <a:cs typeface="Times New Roman" panose="02020603050405020304" pitchFamily="18" charset="0"/>
              </a:rPr>
              <a:t>，</a:t>
            </a:r>
            <a:r>
              <a:rPr lang="zh-CN" altLang="en-US" sz="11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100" b="1" dirty="0">
                <a:latin typeface="Times New Roman" panose="02020603050405020304" pitchFamily="18" charset="0"/>
                <a:cs typeface="Times New Roman" panose="02020603050405020304" pitchFamily="18" charset="0"/>
              </a:rPr>
              <a:t>为模 </a:t>
            </a:r>
            <a:r>
              <a:rPr lang="en-US" altLang="zh-CN" sz="1100" b="1" i="1" dirty="0">
                <a:latin typeface="Times New Roman" panose="02020603050405020304" pitchFamily="18" charset="0"/>
                <a:cs typeface="Times New Roman" panose="02020603050405020304" pitchFamily="18" charset="0"/>
              </a:rPr>
              <a:t>n </a:t>
            </a:r>
            <a:r>
              <a:rPr lang="zh-CN" altLang="en-US" sz="1100" b="1" dirty="0">
                <a:latin typeface="Times New Roman" panose="02020603050405020304" pitchFamily="18" charset="0"/>
                <a:cs typeface="Times New Roman" panose="02020603050405020304" pitchFamily="18" charset="0"/>
              </a:rPr>
              <a:t>加</a:t>
            </a:r>
            <a:r>
              <a:rPr lang="en-US" altLang="zh-CN" sz="1100" b="1" dirty="0">
                <a:latin typeface="Times New Roman" panose="02020603050405020304" pitchFamily="18" charset="0"/>
                <a:cs typeface="Times New Roman" panose="02020603050405020304" pitchFamily="18" charset="0"/>
              </a:rPr>
              <a:t>. </a:t>
            </a:r>
          </a:p>
          <a:p>
            <a:pPr marL="609600" indent="-609600" eaLnBrk="1" hangingPunct="1">
              <a:lnSpc>
                <a:spcPct val="100000"/>
              </a:lnSpc>
              <a:buFontTx/>
              <a:buNone/>
            </a:pPr>
            <a:endParaRPr lang="en-US" altLang="zh-CN" sz="1100" b="1" dirty="0">
              <a:latin typeface="楷体" panose="02010609060101010101" pitchFamily="49" charset="-122"/>
              <a:ea typeface="楷体"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68</a:t>
            </a:fld>
            <a:endParaRPr lang="zh-CN" altLang="en-US"/>
          </a:p>
        </p:txBody>
      </p:sp>
    </p:spTree>
    <p:extLst>
      <p:ext uri="{BB962C8B-B14F-4D97-AF65-F5344CB8AC3E}">
        <p14:creationId xmlns:p14="http://schemas.microsoft.com/office/powerpoint/2010/main" val="15183496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&lt;Z,+&gt;: (</a:t>
            </a:r>
            <a:r>
              <a:rPr lang="zh-CN" altLang="en-US" dirty="0"/>
              <a:t>整数与加</a:t>
            </a:r>
            <a:r>
              <a:rPr lang="en-US" altLang="zh-CN" dirty="0"/>
              <a:t>)</a:t>
            </a:r>
          </a:p>
          <a:p>
            <a:r>
              <a:rPr lang="en-US" altLang="zh-CN" dirty="0"/>
              <a:t>&lt;Q,+&gt;: (</a:t>
            </a:r>
            <a:r>
              <a:rPr lang="zh-CN" altLang="en-US" dirty="0"/>
              <a:t>有理数与加法</a:t>
            </a:r>
            <a:r>
              <a:rPr lang="en-US" altLang="zh-CN" dirty="0"/>
              <a:t>)</a:t>
            </a:r>
          </a:p>
          <a:p>
            <a:r>
              <a:rPr lang="en-US" altLang="zh-CN" dirty="0"/>
              <a:t>&lt;R,+&gt;: (</a:t>
            </a:r>
            <a:r>
              <a:rPr lang="zh-CN" altLang="en-US" dirty="0"/>
              <a:t>实数与加法</a:t>
            </a:r>
            <a:r>
              <a:rPr lang="en-US" altLang="zh-CN" dirty="0"/>
              <a:t>)</a:t>
            </a:r>
          </a:p>
          <a:p>
            <a:r>
              <a:rPr lang="en-US" altLang="zh-CN" dirty="0"/>
              <a:t>&lt;Z</a:t>
            </a:r>
            <a:r>
              <a:rPr lang="en-US" altLang="zh-CN" baseline="30000" dirty="0"/>
              <a:t>+</a:t>
            </a:r>
            <a:r>
              <a:rPr lang="en-US" altLang="zh-CN" dirty="0"/>
              <a:t>,+&gt;(</a:t>
            </a:r>
            <a:r>
              <a:rPr lang="zh-CN" altLang="en-US" dirty="0"/>
              <a:t>正整数与加法</a:t>
            </a:r>
            <a:r>
              <a:rPr lang="en-US" altLang="zh-CN" dirty="0"/>
              <a:t>) </a:t>
            </a:r>
          </a:p>
          <a:p>
            <a:r>
              <a:rPr lang="en-US" altLang="zh-CN" dirty="0"/>
              <a:t>&lt;N,+&gt; (</a:t>
            </a:r>
            <a:r>
              <a:rPr lang="zh-CN" altLang="en-US" dirty="0"/>
              <a:t>自然数与加法</a:t>
            </a:r>
            <a:r>
              <a:rPr lang="en-US" altLang="zh-CN" dirty="0"/>
              <a:t>)</a:t>
            </a:r>
          </a:p>
          <a:p>
            <a:r>
              <a:rPr lang="en-US" altLang="zh-CN" dirty="0"/>
              <a:t>&lt; Mn(R),+&gt; (n</a:t>
            </a:r>
            <a:r>
              <a:rPr lang="zh-CN" altLang="en-US" dirty="0"/>
              <a:t>阶实数矩阵加法</a:t>
            </a:r>
            <a:r>
              <a:rPr lang="en-US" altLang="zh-CN" dirty="0"/>
              <a:t>)</a:t>
            </a:r>
          </a:p>
          <a:p>
            <a:r>
              <a:rPr lang="en-US" altLang="zh-CN" dirty="0"/>
              <a:t>&lt; Mn(R),·&gt;(n</a:t>
            </a:r>
            <a:r>
              <a:rPr lang="zh-CN" altLang="en-US" dirty="0"/>
              <a:t>阶实数矩阵乘法</a:t>
            </a:r>
            <a:r>
              <a:rPr lang="en-US" altLang="zh-CN" dirty="0"/>
              <a:t>)</a:t>
            </a:r>
          </a:p>
          <a:p>
            <a:r>
              <a:rPr lang="en-US" altLang="zh-CN" dirty="0"/>
              <a:t>&lt; P(B),⊕&gt; (B</a:t>
            </a:r>
            <a:r>
              <a:rPr lang="zh-CN" altLang="en-US" dirty="0"/>
              <a:t>的幂集对称差运算</a:t>
            </a:r>
            <a:r>
              <a:rPr lang="en-US" altLang="zh-CN" dirty="0"/>
              <a:t>)</a:t>
            </a:r>
          </a:p>
          <a:p>
            <a:r>
              <a:rPr lang="en-US" altLang="zh-CN" dirty="0"/>
              <a:t>&lt; Zn,⊕&gt;(</a:t>
            </a:r>
            <a:r>
              <a:rPr lang="zh-CN" altLang="en-US" dirty="0"/>
              <a:t>模集合上的模</a:t>
            </a:r>
            <a:r>
              <a:rPr lang="en-US" altLang="zh-CN" dirty="0"/>
              <a:t>n</a:t>
            </a:r>
            <a:r>
              <a:rPr lang="zh-CN" altLang="en-US" dirty="0"/>
              <a:t>加法</a:t>
            </a:r>
            <a:r>
              <a:rPr lang="en-US" altLang="zh-CN" dirty="0"/>
              <a:t>)</a:t>
            </a:r>
          </a:p>
          <a:p>
            <a:pPr marL="609600" indent="-609600" eaLnBrk="1" hangingPunct="1">
              <a:lnSpc>
                <a:spcPct val="110000"/>
              </a:lnSpc>
              <a:buFontTx/>
              <a:buNone/>
            </a:pPr>
            <a:r>
              <a:rPr lang="zh-CN" altLang="en-US" sz="1200" b="1" dirty="0">
                <a:solidFill>
                  <a:srgbClr val="FF0000"/>
                </a:solidFill>
                <a:latin typeface="Times New Roman" panose="02020603050405020304" pitchFamily="18" charset="0"/>
                <a:cs typeface="Times New Roman" panose="02020603050405020304" pitchFamily="18" charset="0"/>
              </a:rPr>
              <a:t>定义</a:t>
            </a:r>
            <a:r>
              <a:rPr lang="en-US" altLang="zh-CN" sz="1200" b="1" dirty="0">
                <a:solidFill>
                  <a:srgbClr val="FF0000"/>
                </a:solidFill>
                <a:latin typeface="Times New Roman" panose="02020603050405020304" pitchFamily="18" charset="0"/>
                <a:cs typeface="Times New Roman" panose="02020603050405020304" pitchFamily="18" charset="0"/>
              </a:rPr>
              <a:t>9.14</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设</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 &gt;</a:t>
            </a:r>
            <a:r>
              <a:rPr lang="zh-CN" altLang="en-US" sz="1200" b="1" dirty="0">
                <a:latin typeface="Times New Roman" panose="02020603050405020304" pitchFamily="18" charset="0"/>
                <a:cs typeface="Times New Roman" panose="02020603050405020304" pitchFamily="18" charset="0"/>
              </a:rPr>
              <a:t>是代数系统，</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c</a:t>
            </a:r>
            <a:r>
              <a:rPr lang="zh-CN" altLang="en-US" sz="1200" b="1" dirty="0">
                <a:latin typeface="Times New Roman" panose="02020603050405020304" pitchFamily="18" charset="0"/>
                <a:cs typeface="Times New Roman" panose="02020603050405020304" pitchFamily="18" charset="0"/>
              </a:rPr>
              <a:t>为二元运算</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如果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rPr>
              <a:t>运算是可结合的，存在单位（幺）元 </a:t>
            </a:r>
            <a:r>
              <a:rPr lang="en-US" altLang="zh-CN" sz="1200" b="1" i="1" dirty="0" err="1">
                <a:latin typeface="Times New Roman" panose="02020603050405020304" pitchFamily="18" charset="0"/>
                <a:cs typeface="Times New Roman" panose="02020603050405020304" pitchFamily="18" charset="0"/>
              </a:rPr>
              <a:t>e</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，并且对 </a:t>
            </a:r>
            <a:r>
              <a:rPr lang="en-US" altLang="zh-CN" sz="1200" b="1" i="1" dirty="0">
                <a:latin typeface="Times New Roman" panose="02020603050405020304" pitchFamily="18" charset="0"/>
                <a:cs typeface="Times New Roman" panose="02020603050405020304" pitchFamily="18" charset="0"/>
              </a:rPr>
              <a:t>G </a:t>
            </a:r>
            <a:r>
              <a:rPr lang="zh-CN" altLang="en-US" sz="1200" b="1" dirty="0">
                <a:latin typeface="Times New Roman" panose="02020603050405020304" pitchFamily="18" charset="0"/>
                <a:cs typeface="Times New Roman" panose="02020603050405020304" pitchFamily="18" charset="0"/>
              </a:rPr>
              <a:t>中的任何元素 </a:t>
            </a:r>
            <a:r>
              <a:rPr lang="en-US" altLang="zh-CN" sz="1200" b="1" i="1" dirty="0">
                <a:latin typeface="Times New Roman" panose="02020603050405020304" pitchFamily="18" charset="0"/>
                <a:cs typeface="Times New Roman" panose="02020603050405020304" pitchFamily="18" charset="0"/>
              </a:rPr>
              <a:t>x </a:t>
            </a:r>
            <a:r>
              <a:rPr lang="zh-CN" altLang="en-US" sz="1200" b="1" dirty="0">
                <a:latin typeface="Times New Roman" panose="02020603050405020304" pitchFamily="18" charset="0"/>
                <a:cs typeface="Times New Roman" panose="02020603050405020304" pitchFamily="18" charset="0"/>
              </a:rPr>
              <a:t>都有</a:t>
            </a:r>
            <a:r>
              <a:rPr lang="en-US" altLang="zh-CN" sz="1200" b="1" i="1" dirty="0">
                <a:latin typeface="Times New Roman" panose="02020603050405020304" pitchFamily="18" charset="0"/>
                <a:cs typeface="Times New Roman" panose="02020603050405020304" pitchFamily="18" charset="0"/>
              </a:rPr>
              <a:t>x</a:t>
            </a:r>
            <a:r>
              <a:rPr lang="en-US" altLang="zh-CN" sz="1200" b="1" i="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，则称 </a:t>
            </a:r>
            <a:r>
              <a:rPr lang="en-US" altLang="zh-CN" sz="1200" b="1" i="1" dirty="0">
                <a:latin typeface="Times New Roman" panose="02020603050405020304" pitchFamily="18" charset="0"/>
                <a:cs typeface="Times New Roman" panose="02020603050405020304" pitchFamily="18" charset="0"/>
              </a:rPr>
              <a:t>G </a:t>
            </a:r>
            <a:r>
              <a:rPr lang="zh-CN" altLang="en-US" sz="1200" b="1" dirty="0">
                <a:latin typeface="Times New Roman" panose="02020603050405020304" pitchFamily="18" charset="0"/>
                <a:cs typeface="Times New Roman" panose="02020603050405020304" pitchFamily="18" charset="0"/>
              </a:rPr>
              <a:t>为 </a:t>
            </a:r>
            <a:r>
              <a:rPr lang="zh-CN" altLang="en-US" sz="1200" b="1" dirty="0">
                <a:solidFill>
                  <a:srgbClr val="FF0000"/>
                </a:solidFill>
                <a:latin typeface="Times New Roman" panose="02020603050405020304" pitchFamily="18" charset="0"/>
                <a:cs typeface="Times New Roman" panose="02020603050405020304" pitchFamily="18" charset="0"/>
              </a:rPr>
              <a:t>群</a:t>
            </a:r>
            <a:r>
              <a:rPr lang="en-US" altLang="zh-CN" sz="1200" b="1" dirty="0">
                <a:latin typeface="Times New Roman" panose="02020603050405020304" pitchFamily="18" charset="0"/>
                <a:cs typeface="Times New Roman" panose="02020603050405020304" pitchFamily="18" charset="0"/>
              </a:rPr>
              <a:t>.</a:t>
            </a:r>
          </a:p>
          <a:p>
            <a:pPr marL="609600" indent="-609600" eaLnBrk="1" hangingPunct="1">
              <a:lnSpc>
                <a:spcPct val="100000"/>
              </a:lnSpc>
              <a:buFontTx/>
              <a:buNone/>
            </a:pPr>
            <a:r>
              <a:rPr lang="zh-CN" altLang="en-US" sz="1100" b="1" dirty="0">
                <a:solidFill>
                  <a:srgbClr val="00B0F0"/>
                </a:solidFill>
              </a:rPr>
              <a:t>注：</a:t>
            </a:r>
            <a:r>
              <a:rPr lang="zh-CN" altLang="en-US" sz="1100" b="1" dirty="0">
                <a:latin typeface="楷体" panose="02010609060101010101" pitchFamily="49" charset="-122"/>
                <a:ea typeface="楷体" panose="02010609060101010101" pitchFamily="49" charset="-122"/>
              </a:rPr>
              <a:t>群就是每个元素都有逆元的含幺半群；</a:t>
            </a:r>
          </a:p>
          <a:p>
            <a:pPr marL="609600" indent="-609600" eaLnBrk="1" hangingPunct="1">
              <a:lnSpc>
                <a:spcPct val="100000"/>
              </a:lnSpc>
              <a:buFontTx/>
              <a:buNone/>
            </a:pPr>
            <a:r>
              <a:rPr lang="zh-CN" altLang="en-US" sz="1100" b="1" dirty="0"/>
              <a:t>　　</a:t>
            </a:r>
            <a:r>
              <a:rPr lang="zh-CN" altLang="en-US" sz="1100" b="1" dirty="0">
                <a:latin typeface="楷体" panose="02010609060101010101" pitchFamily="49" charset="-122"/>
                <a:ea typeface="楷体" panose="02010609060101010101" pitchFamily="49" charset="-122"/>
              </a:rPr>
              <a:t>验证一个代数系统是群，必须验证</a:t>
            </a:r>
            <a:r>
              <a:rPr lang="en-US" altLang="zh-CN" sz="1100" b="1" dirty="0">
                <a:latin typeface="Calibri" panose="020F0502020204030204" pitchFamily="34" charset="0"/>
                <a:ea typeface="楷体" panose="02010609060101010101" pitchFamily="49" charset="-122"/>
                <a:cs typeface="Calibri" panose="020F0502020204030204" pitchFamily="34" charset="0"/>
              </a:rPr>
              <a:t>①</a:t>
            </a:r>
            <a:r>
              <a:rPr lang="zh-CN" altLang="en-US" sz="1100" b="1" dirty="0">
                <a:latin typeface="楷体" panose="02010609060101010101" pitchFamily="49" charset="-122"/>
                <a:ea typeface="楷体" panose="02010609060101010101" pitchFamily="49" charset="-122"/>
              </a:rPr>
              <a:t>封闭性</a:t>
            </a:r>
            <a:r>
              <a:rPr lang="en-US" altLang="zh-CN" sz="1100" b="1" dirty="0">
                <a:latin typeface="楷体" panose="02010609060101010101" pitchFamily="49" charset="-122"/>
                <a:ea typeface="楷体" panose="02010609060101010101" pitchFamily="49" charset="-122"/>
              </a:rPr>
              <a:t>;</a:t>
            </a:r>
            <a:r>
              <a:rPr lang="en-US" altLang="zh-CN" sz="1100" b="1" dirty="0">
                <a:latin typeface="Calibri" panose="020F0502020204030204" pitchFamily="34" charset="0"/>
                <a:ea typeface="楷体" panose="02010609060101010101" pitchFamily="49" charset="-122"/>
                <a:cs typeface="Calibri" panose="020F0502020204030204" pitchFamily="34" charset="0"/>
              </a:rPr>
              <a:t>②</a:t>
            </a:r>
            <a:r>
              <a:rPr lang="zh-CN" altLang="en-US" sz="1100" b="1" dirty="0">
                <a:latin typeface="楷体" panose="02010609060101010101" pitchFamily="49" charset="-122"/>
                <a:ea typeface="楷体" panose="02010609060101010101" pitchFamily="49" charset="-122"/>
              </a:rPr>
              <a:t>结合律</a:t>
            </a:r>
            <a:r>
              <a:rPr lang="en-US" altLang="zh-CN" sz="1100" b="1" dirty="0">
                <a:latin typeface="楷体" panose="02010609060101010101" pitchFamily="49" charset="-122"/>
                <a:ea typeface="楷体" panose="02010609060101010101" pitchFamily="49" charset="-122"/>
              </a:rPr>
              <a:t>;</a:t>
            </a:r>
            <a:r>
              <a:rPr lang="en-US" altLang="zh-CN" sz="1100" b="1" dirty="0">
                <a:latin typeface="Calibri" panose="020F0502020204030204" pitchFamily="34" charset="0"/>
                <a:ea typeface="楷体" panose="02010609060101010101" pitchFamily="49" charset="-122"/>
                <a:cs typeface="Calibri" panose="020F0502020204030204" pitchFamily="34" charset="0"/>
              </a:rPr>
              <a:t>③</a:t>
            </a:r>
            <a:r>
              <a:rPr lang="zh-CN" altLang="en-US" sz="1100" b="1" dirty="0">
                <a:latin typeface="楷体" panose="02010609060101010101" pitchFamily="49" charset="-122"/>
                <a:ea typeface="楷体" panose="02010609060101010101" pitchFamily="49" charset="-122"/>
              </a:rPr>
              <a:t>有幺元</a:t>
            </a:r>
            <a:r>
              <a:rPr lang="en-US" altLang="zh-CN" sz="1100" b="1" dirty="0">
                <a:latin typeface="楷体" panose="02010609060101010101" pitchFamily="49" charset="-122"/>
                <a:ea typeface="楷体" panose="02010609060101010101" pitchFamily="49" charset="-122"/>
              </a:rPr>
              <a:t>;</a:t>
            </a:r>
            <a:r>
              <a:rPr lang="en-US" altLang="zh-CN" sz="1100" b="1" dirty="0">
                <a:latin typeface="Calibri" panose="020F0502020204030204" pitchFamily="34" charset="0"/>
                <a:ea typeface="楷体" panose="02010609060101010101" pitchFamily="49" charset="-122"/>
                <a:cs typeface="Calibri" panose="020F0502020204030204" pitchFamily="34" charset="0"/>
              </a:rPr>
              <a:t>④</a:t>
            </a:r>
            <a:r>
              <a:rPr lang="zh-CN" altLang="en-US" sz="1100" b="1" dirty="0">
                <a:latin typeface="楷体" panose="02010609060101010101" pitchFamily="49" charset="-122"/>
                <a:ea typeface="楷体" panose="02010609060101010101" pitchFamily="49" charset="-122"/>
              </a:rPr>
              <a:t>有逆元</a:t>
            </a:r>
            <a:r>
              <a:rPr lang="en-US" altLang="zh-CN" sz="1100" b="1" dirty="0">
                <a:latin typeface="楷体" panose="02010609060101010101" pitchFamily="49" charset="-122"/>
                <a:ea typeface="楷体" panose="02010609060101010101" pitchFamily="49" charset="-122"/>
              </a:rPr>
              <a:t>.</a:t>
            </a:r>
          </a:p>
          <a:p>
            <a:pPr marL="609600" indent="-609600">
              <a:lnSpc>
                <a:spcPct val="100000"/>
              </a:lnSpc>
              <a:buFontTx/>
              <a:buNone/>
            </a:pPr>
            <a:r>
              <a:rPr lang="zh-CN" altLang="en-US" sz="1100" b="1" dirty="0">
                <a:solidFill>
                  <a:srgbClr val="00B0F0"/>
                </a:solidFill>
              </a:rPr>
              <a:t>实例</a:t>
            </a:r>
          </a:p>
          <a:p>
            <a:pPr marL="609600" indent="-609600">
              <a:lnSpc>
                <a:spcPct val="100000"/>
              </a:lnSpc>
              <a:buFontTx/>
              <a:buNone/>
            </a:pPr>
            <a:r>
              <a:rPr lang="en-US" altLang="zh-CN" sz="1100" b="1" dirty="0">
                <a:latin typeface="Times New Roman" panose="02020603050405020304" pitchFamily="18" charset="0"/>
                <a:cs typeface="Times New Roman" panose="02020603050405020304" pitchFamily="18" charset="0"/>
              </a:rPr>
              <a:t>(1) &lt;Z,+&gt;,&lt;Q,+&gt;,&lt;R,+&gt;</a:t>
            </a:r>
            <a:r>
              <a:rPr lang="zh-CN" altLang="en-US" sz="1100" b="1" dirty="0">
                <a:latin typeface="Times New Roman" panose="02020603050405020304" pitchFamily="18" charset="0"/>
                <a:cs typeface="Times New Roman" panose="02020603050405020304" pitchFamily="18" charset="0"/>
              </a:rPr>
              <a:t>都是群；</a:t>
            </a:r>
            <a:r>
              <a:rPr lang="en-US" altLang="zh-CN" sz="1100" b="1" dirty="0">
                <a:latin typeface="Times New Roman" panose="02020603050405020304" pitchFamily="18" charset="0"/>
                <a:cs typeface="Times New Roman" panose="02020603050405020304" pitchFamily="18" charset="0"/>
              </a:rPr>
              <a:t>&lt;Z</a:t>
            </a:r>
            <a:r>
              <a:rPr lang="en-US" altLang="zh-CN" sz="1100" b="1" baseline="30000"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rPr>
              <a:t>,+&gt;</a:t>
            </a:r>
            <a:r>
              <a:rPr lang="zh-CN" altLang="en-US" sz="1100" b="1" dirty="0">
                <a:latin typeface="Times New Roman" panose="02020603050405020304" pitchFamily="18" charset="0"/>
                <a:cs typeface="Times New Roman" panose="02020603050405020304" pitchFamily="18" charset="0"/>
              </a:rPr>
              <a:t>和</a:t>
            </a:r>
            <a:r>
              <a:rPr lang="en-US" altLang="zh-CN" sz="1100" b="1" dirty="0">
                <a:latin typeface="Times New Roman" panose="02020603050405020304" pitchFamily="18" charset="0"/>
                <a:cs typeface="Times New Roman" panose="02020603050405020304" pitchFamily="18" charset="0"/>
              </a:rPr>
              <a:t>&lt;N,+&gt;</a:t>
            </a:r>
            <a:r>
              <a:rPr lang="zh-CN" altLang="en-US" sz="1100" b="1" dirty="0">
                <a:latin typeface="Times New Roman" panose="02020603050405020304" pitchFamily="18" charset="0"/>
                <a:cs typeface="Times New Roman" panose="02020603050405020304" pitchFamily="18" charset="0"/>
              </a:rPr>
              <a:t>不是群</a:t>
            </a:r>
            <a:r>
              <a:rPr lang="en-US" altLang="zh-CN" sz="1100" b="1" dirty="0">
                <a:latin typeface="Times New Roman" panose="02020603050405020304" pitchFamily="18" charset="0"/>
                <a:cs typeface="Times New Roman" panose="02020603050405020304" pitchFamily="18" charset="0"/>
              </a:rPr>
              <a:t>. </a:t>
            </a:r>
          </a:p>
          <a:p>
            <a:pPr marL="609600" indent="-609600">
              <a:lnSpc>
                <a:spcPct val="100000"/>
              </a:lnSpc>
              <a:buFontTx/>
              <a:buNone/>
            </a:pPr>
            <a:r>
              <a:rPr lang="en-US" altLang="zh-CN" sz="1100" b="1" dirty="0">
                <a:latin typeface="Times New Roman" panose="02020603050405020304" pitchFamily="18" charset="0"/>
                <a:cs typeface="Times New Roman" panose="02020603050405020304" pitchFamily="18" charset="0"/>
              </a:rPr>
              <a:t>(2) &lt;</a:t>
            </a:r>
            <a:r>
              <a:rPr lang="en-US" altLang="zh-CN" sz="1100" b="1" i="1" dirty="0">
                <a:latin typeface="Times New Roman" panose="02020603050405020304" pitchFamily="18" charset="0"/>
                <a:cs typeface="Times New Roman" panose="02020603050405020304" pitchFamily="18" charset="0"/>
              </a:rPr>
              <a:t>M</a:t>
            </a:r>
            <a:r>
              <a:rPr lang="en-US" altLang="zh-CN" sz="1100" b="1" i="1" baseline="-25000" dirty="0">
                <a:latin typeface="Times New Roman" panose="02020603050405020304" pitchFamily="18" charset="0"/>
                <a:cs typeface="Times New Roman" panose="02020603050405020304" pitchFamily="18" charset="0"/>
              </a:rPr>
              <a:t>n</a:t>
            </a:r>
            <a:r>
              <a:rPr lang="en-US" altLang="zh-CN" sz="1100" b="1" dirty="0">
                <a:latin typeface="Times New Roman" panose="02020603050405020304" pitchFamily="18" charset="0"/>
                <a:cs typeface="Times New Roman" panose="02020603050405020304" pitchFamily="18" charset="0"/>
              </a:rPr>
              <a:t>(R),+&gt;</a:t>
            </a:r>
            <a:r>
              <a:rPr lang="zh-CN" altLang="en-US" sz="1100" b="1" dirty="0">
                <a:latin typeface="Times New Roman" panose="02020603050405020304" pitchFamily="18" charset="0"/>
                <a:cs typeface="Times New Roman" panose="02020603050405020304" pitchFamily="18" charset="0"/>
              </a:rPr>
              <a:t>是群，而</a:t>
            </a:r>
            <a:r>
              <a:rPr lang="en-US" altLang="zh-CN" sz="1100" b="1" dirty="0">
                <a:latin typeface="Times New Roman" panose="02020603050405020304" pitchFamily="18" charset="0"/>
                <a:cs typeface="Times New Roman" panose="02020603050405020304" pitchFamily="18" charset="0"/>
              </a:rPr>
              <a:t>&lt;</a:t>
            </a:r>
            <a:r>
              <a:rPr lang="en-US" altLang="zh-CN" sz="1100" b="1" i="1" dirty="0">
                <a:latin typeface="Times New Roman" panose="02020603050405020304" pitchFamily="18" charset="0"/>
                <a:cs typeface="Times New Roman" panose="02020603050405020304" pitchFamily="18" charset="0"/>
              </a:rPr>
              <a:t>M</a:t>
            </a:r>
            <a:r>
              <a:rPr lang="en-US" altLang="zh-CN" sz="1100" b="1" i="1" baseline="-25000" dirty="0">
                <a:latin typeface="Times New Roman" panose="02020603050405020304" pitchFamily="18" charset="0"/>
                <a:cs typeface="Times New Roman" panose="02020603050405020304" pitchFamily="18" charset="0"/>
              </a:rPr>
              <a:t>n</a:t>
            </a:r>
            <a:r>
              <a:rPr lang="en-US" altLang="zh-CN" sz="1100" b="1" dirty="0">
                <a:latin typeface="Times New Roman" panose="02020603050405020304" pitchFamily="18" charset="0"/>
                <a:cs typeface="Times New Roman" panose="02020603050405020304" pitchFamily="18" charset="0"/>
              </a:rPr>
              <a:t>(R),·&gt;</a:t>
            </a:r>
            <a:r>
              <a:rPr lang="zh-CN" altLang="en-US" sz="1100" b="1" dirty="0">
                <a:latin typeface="Times New Roman" panose="02020603050405020304" pitchFamily="18" charset="0"/>
                <a:cs typeface="Times New Roman" panose="02020603050405020304" pitchFamily="18" charset="0"/>
              </a:rPr>
              <a:t>不是群</a:t>
            </a:r>
            <a:r>
              <a:rPr lang="en-US" altLang="zh-CN" sz="1100" b="1" dirty="0">
                <a:latin typeface="Times New Roman" panose="02020603050405020304" pitchFamily="18" charset="0"/>
                <a:cs typeface="Times New Roman" panose="02020603050405020304" pitchFamily="18" charset="0"/>
              </a:rPr>
              <a:t>. </a:t>
            </a:r>
          </a:p>
          <a:p>
            <a:pPr marL="609600" indent="-609600">
              <a:lnSpc>
                <a:spcPct val="100000"/>
              </a:lnSpc>
              <a:buFontTx/>
              <a:buNone/>
            </a:pPr>
            <a:r>
              <a:rPr lang="en-US" altLang="zh-CN" sz="1100" b="1" dirty="0">
                <a:latin typeface="Times New Roman" panose="02020603050405020304" pitchFamily="18" charset="0"/>
                <a:cs typeface="Times New Roman" panose="02020603050405020304" pitchFamily="18" charset="0"/>
              </a:rPr>
              <a:t>(3) &lt;</a:t>
            </a:r>
            <a:r>
              <a:rPr lang="en-US" altLang="zh-CN" sz="1100" b="1" i="1" dirty="0">
                <a:latin typeface="Times New Roman" panose="02020603050405020304" pitchFamily="18" charset="0"/>
                <a:cs typeface="Times New Roman" panose="02020603050405020304" pitchFamily="18" charset="0"/>
              </a:rPr>
              <a:t>P</a:t>
            </a:r>
            <a:r>
              <a:rPr lang="en-US" altLang="zh-CN" sz="1100" b="1" dirty="0">
                <a:latin typeface="Times New Roman" panose="02020603050405020304" pitchFamily="18" charset="0"/>
                <a:cs typeface="Times New Roman" panose="02020603050405020304" pitchFamily="18" charset="0"/>
              </a:rPr>
              <a:t>(</a:t>
            </a:r>
            <a:r>
              <a:rPr lang="en-US" altLang="zh-CN" sz="1100" b="1" i="1" dirty="0">
                <a:latin typeface="Times New Roman" panose="02020603050405020304" pitchFamily="18" charset="0"/>
                <a:cs typeface="Times New Roman" panose="02020603050405020304" pitchFamily="18" charset="0"/>
              </a:rPr>
              <a:t>B</a:t>
            </a:r>
            <a:r>
              <a:rPr lang="en-US" altLang="zh-CN" sz="1100" b="1"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dirty="0">
                <a:latin typeface="Times New Roman" panose="02020603050405020304" pitchFamily="18" charset="0"/>
                <a:cs typeface="Times New Roman" panose="02020603050405020304" pitchFamily="18" charset="0"/>
              </a:rPr>
              <a:t>&gt;</a:t>
            </a:r>
            <a:r>
              <a:rPr lang="zh-CN" altLang="en-US" sz="1100" b="1" dirty="0">
                <a:latin typeface="Times New Roman" panose="02020603050405020304" pitchFamily="18" charset="0"/>
                <a:cs typeface="Times New Roman" panose="02020603050405020304" pitchFamily="18" charset="0"/>
              </a:rPr>
              <a:t>是群，</a:t>
            </a:r>
            <a:r>
              <a:rPr lang="zh-CN" altLang="en-US" sz="11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100" b="1" dirty="0">
                <a:latin typeface="Times New Roman" panose="02020603050405020304" pitchFamily="18" charset="0"/>
                <a:cs typeface="Times New Roman" panose="02020603050405020304" pitchFamily="18" charset="0"/>
              </a:rPr>
              <a:t>为对称差运算</a:t>
            </a:r>
            <a:r>
              <a:rPr lang="en-US" altLang="zh-CN" sz="1100" b="1" dirty="0">
                <a:latin typeface="Times New Roman" panose="02020603050405020304" pitchFamily="18" charset="0"/>
                <a:cs typeface="Times New Roman" panose="02020603050405020304" pitchFamily="18" charset="0"/>
              </a:rPr>
              <a:t>. </a:t>
            </a:r>
          </a:p>
          <a:p>
            <a:pPr marL="609600" indent="-609600">
              <a:lnSpc>
                <a:spcPct val="100000"/>
              </a:lnSpc>
              <a:buFontTx/>
              <a:buNone/>
            </a:pPr>
            <a:r>
              <a:rPr lang="en-US" altLang="zh-CN" sz="1100" b="1" dirty="0">
                <a:latin typeface="Times New Roman" panose="02020603050405020304" pitchFamily="18" charset="0"/>
                <a:cs typeface="Times New Roman" panose="02020603050405020304" pitchFamily="18" charset="0"/>
              </a:rPr>
              <a:t>(4) &lt;</a:t>
            </a:r>
            <a:r>
              <a:rPr lang="en-US" altLang="zh-CN" sz="1100" b="1" i="1" dirty="0">
                <a:latin typeface="Times New Roman" panose="02020603050405020304" pitchFamily="18" charset="0"/>
                <a:cs typeface="Times New Roman" panose="02020603050405020304" pitchFamily="18" charset="0"/>
              </a:rPr>
              <a:t>Z</a:t>
            </a:r>
            <a:r>
              <a:rPr lang="en-US" altLang="zh-CN" sz="1100" b="1" i="1" baseline="-25000" dirty="0">
                <a:latin typeface="Times New Roman" panose="02020603050405020304" pitchFamily="18" charset="0"/>
                <a:cs typeface="Times New Roman" panose="02020603050405020304" pitchFamily="18" charset="0"/>
              </a:rPr>
              <a:t>n</a:t>
            </a:r>
            <a:r>
              <a:rPr lang="en-US" altLang="zh-CN" sz="1100" b="1"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dirty="0">
                <a:latin typeface="Times New Roman" panose="02020603050405020304" pitchFamily="18" charset="0"/>
                <a:cs typeface="Times New Roman" panose="02020603050405020304" pitchFamily="18" charset="0"/>
              </a:rPr>
              <a:t>&gt;</a:t>
            </a:r>
            <a:r>
              <a:rPr lang="zh-CN" altLang="en-US" sz="1100" b="1" dirty="0">
                <a:latin typeface="Times New Roman" panose="02020603050405020304" pitchFamily="18" charset="0"/>
                <a:cs typeface="Times New Roman" panose="02020603050405020304" pitchFamily="18" charset="0"/>
              </a:rPr>
              <a:t>是群，</a:t>
            </a:r>
            <a:r>
              <a:rPr lang="en-US" altLang="zh-CN" sz="1100" b="1" i="1" dirty="0">
                <a:latin typeface="Times New Roman" panose="02020603050405020304" pitchFamily="18" charset="0"/>
                <a:cs typeface="Times New Roman" panose="02020603050405020304" pitchFamily="18" charset="0"/>
              </a:rPr>
              <a:t>Z</a:t>
            </a:r>
            <a:r>
              <a:rPr lang="en-US" altLang="zh-CN" sz="1100" b="1" i="1" baseline="-25000" dirty="0">
                <a:latin typeface="Times New Roman" panose="02020603050405020304" pitchFamily="18" charset="0"/>
                <a:cs typeface="Times New Roman" panose="02020603050405020304" pitchFamily="18" charset="0"/>
              </a:rPr>
              <a:t>n</a:t>
            </a:r>
            <a:r>
              <a:rPr lang="en-US" altLang="zh-CN" sz="1100" b="1" dirty="0">
                <a:latin typeface="Times New Roman" panose="02020603050405020304" pitchFamily="18" charset="0"/>
                <a:cs typeface="Times New Roman" panose="02020603050405020304" pitchFamily="18" charset="0"/>
              </a:rPr>
              <a:t>={ 0,1, …, </a:t>
            </a:r>
            <a:r>
              <a:rPr lang="en-US" altLang="zh-CN" sz="1100" b="1" i="1" dirty="0">
                <a:latin typeface="Times New Roman" panose="02020603050405020304" pitchFamily="18" charset="0"/>
                <a:cs typeface="Times New Roman" panose="02020603050405020304" pitchFamily="18" charset="0"/>
              </a:rPr>
              <a:t>n</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dirty="0">
                <a:latin typeface="Times New Roman" panose="02020603050405020304" pitchFamily="18" charset="0"/>
                <a:cs typeface="Times New Roman" panose="02020603050405020304" pitchFamily="18" charset="0"/>
              </a:rPr>
              <a:t>1}</a:t>
            </a:r>
            <a:r>
              <a:rPr lang="zh-CN" altLang="en-US" sz="1100" b="1" dirty="0">
                <a:latin typeface="Times New Roman" panose="02020603050405020304" pitchFamily="18" charset="0"/>
                <a:cs typeface="Times New Roman" panose="02020603050405020304" pitchFamily="18" charset="0"/>
              </a:rPr>
              <a:t>，</a:t>
            </a:r>
            <a:r>
              <a:rPr lang="zh-CN" altLang="en-US" sz="11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100" b="1" dirty="0">
                <a:latin typeface="Times New Roman" panose="02020603050405020304" pitchFamily="18" charset="0"/>
                <a:cs typeface="Times New Roman" panose="02020603050405020304" pitchFamily="18" charset="0"/>
              </a:rPr>
              <a:t>为模 </a:t>
            </a:r>
            <a:r>
              <a:rPr lang="en-US" altLang="zh-CN" sz="1100" b="1" i="1" dirty="0">
                <a:latin typeface="Times New Roman" panose="02020603050405020304" pitchFamily="18" charset="0"/>
                <a:cs typeface="Times New Roman" panose="02020603050405020304" pitchFamily="18" charset="0"/>
              </a:rPr>
              <a:t>n </a:t>
            </a:r>
            <a:r>
              <a:rPr lang="zh-CN" altLang="en-US" sz="1100" b="1" dirty="0">
                <a:latin typeface="Times New Roman" panose="02020603050405020304" pitchFamily="18" charset="0"/>
                <a:cs typeface="Times New Roman" panose="02020603050405020304" pitchFamily="18" charset="0"/>
              </a:rPr>
              <a:t>加</a:t>
            </a:r>
            <a:r>
              <a:rPr lang="en-US" altLang="zh-CN" sz="1100" b="1" dirty="0">
                <a:latin typeface="Times New Roman" panose="02020603050405020304" pitchFamily="18" charset="0"/>
                <a:cs typeface="Times New Roman" panose="02020603050405020304" pitchFamily="18" charset="0"/>
              </a:rPr>
              <a:t>. </a:t>
            </a:r>
          </a:p>
          <a:p>
            <a:pPr marL="609600" indent="-609600" eaLnBrk="1" hangingPunct="1">
              <a:lnSpc>
                <a:spcPct val="100000"/>
              </a:lnSpc>
              <a:buFontTx/>
              <a:buNone/>
            </a:pPr>
            <a:endParaRPr lang="en-US" altLang="zh-CN" sz="1100" b="1" dirty="0">
              <a:latin typeface="楷体" panose="02010609060101010101" pitchFamily="49" charset="-122"/>
              <a:ea typeface="楷体"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69</a:t>
            </a:fld>
            <a:endParaRPr lang="zh-CN" altLang="en-US"/>
          </a:p>
        </p:txBody>
      </p:sp>
    </p:spTree>
    <p:extLst>
      <p:ext uri="{BB962C8B-B14F-4D97-AF65-F5344CB8AC3E}">
        <p14:creationId xmlns:p14="http://schemas.microsoft.com/office/powerpoint/2010/main" val="223943920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&lt;Z,+&gt;: (</a:t>
            </a:r>
            <a:r>
              <a:rPr lang="zh-CN" altLang="en-US" dirty="0"/>
              <a:t>整数与加</a:t>
            </a:r>
            <a:r>
              <a:rPr lang="en-US" altLang="zh-CN" dirty="0"/>
              <a:t>)</a:t>
            </a:r>
          </a:p>
          <a:p>
            <a:r>
              <a:rPr lang="en-US" altLang="zh-CN" dirty="0"/>
              <a:t>&lt;Q,+&gt;: (</a:t>
            </a:r>
            <a:r>
              <a:rPr lang="zh-CN" altLang="en-US" dirty="0"/>
              <a:t>有理数与加法</a:t>
            </a:r>
            <a:r>
              <a:rPr lang="en-US" altLang="zh-CN" dirty="0"/>
              <a:t>)</a:t>
            </a:r>
          </a:p>
          <a:p>
            <a:r>
              <a:rPr lang="en-US" altLang="zh-CN" dirty="0"/>
              <a:t>&lt;R,+&gt;: (</a:t>
            </a:r>
            <a:r>
              <a:rPr lang="zh-CN" altLang="en-US" dirty="0"/>
              <a:t>实数与加法</a:t>
            </a:r>
            <a:r>
              <a:rPr lang="en-US" altLang="zh-CN" dirty="0"/>
              <a:t>)</a:t>
            </a:r>
          </a:p>
          <a:p>
            <a:r>
              <a:rPr lang="en-US" altLang="zh-CN" dirty="0"/>
              <a:t>&lt;Z</a:t>
            </a:r>
            <a:r>
              <a:rPr lang="en-US" altLang="zh-CN" baseline="30000" dirty="0"/>
              <a:t>+</a:t>
            </a:r>
            <a:r>
              <a:rPr lang="en-US" altLang="zh-CN" dirty="0"/>
              <a:t>,+&gt;(</a:t>
            </a:r>
            <a:r>
              <a:rPr lang="zh-CN" altLang="en-US" dirty="0"/>
              <a:t>正整数与加法</a:t>
            </a:r>
            <a:r>
              <a:rPr lang="en-US" altLang="zh-CN" dirty="0"/>
              <a:t>) </a:t>
            </a:r>
          </a:p>
          <a:p>
            <a:r>
              <a:rPr lang="en-US" altLang="zh-CN" dirty="0"/>
              <a:t>&lt;N,+&gt; (</a:t>
            </a:r>
            <a:r>
              <a:rPr lang="zh-CN" altLang="en-US" dirty="0"/>
              <a:t>自然数与加法</a:t>
            </a:r>
            <a:r>
              <a:rPr lang="en-US" altLang="zh-CN" dirty="0"/>
              <a:t>)</a:t>
            </a:r>
          </a:p>
          <a:p>
            <a:r>
              <a:rPr lang="en-US" altLang="zh-CN" dirty="0"/>
              <a:t>&lt; Mn(R),+&gt; (n</a:t>
            </a:r>
            <a:r>
              <a:rPr lang="zh-CN" altLang="en-US" dirty="0"/>
              <a:t>阶实数矩阵加法</a:t>
            </a:r>
            <a:r>
              <a:rPr lang="en-US" altLang="zh-CN" dirty="0"/>
              <a:t>)</a:t>
            </a:r>
          </a:p>
          <a:p>
            <a:r>
              <a:rPr lang="en-US" altLang="zh-CN" dirty="0"/>
              <a:t>&lt; Mn(R),·&gt;(n</a:t>
            </a:r>
            <a:r>
              <a:rPr lang="zh-CN" altLang="en-US" dirty="0"/>
              <a:t>阶实数矩阵乘法</a:t>
            </a:r>
            <a:r>
              <a:rPr lang="en-US" altLang="zh-CN" dirty="0"/>
              <a:t>)</a:t>
            </a:r>
          </a:p>
          <a:p>
            <a:r>
              <a:rPr lang="en-US" altLang="zh-CN" dirty="0"/>
              <a:t>&lt; P(B),⊕&gt; (B</a:t>
            </a:r>
            <a:r>
              <a:rPr lang="zh-CN" altLang="en-US" dirty="0"/>
              <a:t>的幂集对称差运算</a:t>
            </a:r>
            <a:r>
              <a:rPr lang="en-US" altLang="zh-CN" dirty="0"/>
              <a:t>)</a:t>
            </a:r>
          </a:p>
          <a:p>
            <a:r>
              <a:rPr lang="en-US" altLang="zh-CN" dirty="0"/>
              <a:t>&lt; Zn,⊕&gt;(</a:t>
            </a:r>
          </a:p>
          <a:p>
            <a:r>
              <a:rPr lang="zh-CN" altLang="en-US" dirty="0"/>
              <a:t>模集合上的模</a:t>
            </a:r>
            <a:r>
              <a:rPr lang="en-US" altLang="zh-CN" dirty="0"/>
              <a:t>n</a:t>
            </a:r>
            <a:r>
              <a:rPr lang="zh-CN" altLang="en-US" dirty="0"/>
              <a:t>加法</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70</a:t>
            </a:fld>
            <a:endParaRPr lang="zh-CN" altLang="en-US"/>
          </a:p>
        </p:txBody>
      </p:sp>
    </p:spTree>
    <p:extLst>
      <p:ext uri="{BB962C8B-B14F-4D97-AF65-F5344CB8AC3E}">
        <p14:creationId xmlns:p14="http://schemas.microsoft.com/office/powerpoint/2010/main" val="8259144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G </a:t>
            </a:r>
            <a:r>
              <a:rPr lang="en-US" altLang="zh-CN" sz="1200" b="1" dirty="0">
                <a:latin typeface="Times New Roman" panose="02020603050405020304" pitchFamily="18" charset="0"/>
                <a:cs typeface="Times New Roman" panose="02020603050405020304" pitchFamily="18" charset="0"/>
              </a:rPr>
              <a:t>= { </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a</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b</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c </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上的二元运算</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 由下表给出，</a:t>
            </a:r>
          </a:p>
          <a:p>
            <a:pPr>
              <a:lnSpc>
                <a:spcPct val="120000"/>
              </a:lnSpc>
            </a:pPr>
            <a:r>
              <a:rPr lang="zh-CN" altLang="en-US" sz="1200" b="1" dirty="0">
                <a:solidFill>
                  <a:schemeClr val="tx1"/>
                </a:solidFill>
                <a:ea typeface="宋体" panose="02010600030101010101" pitchFamily="2" charset="-122"/>
              </a:rPr>
              <a:t>运算表有如下特点：</a:t>
            </a:r>
          </a:p>
          <a:p>
            <a:pPr marL="342900" indent="-342900">
              <a:lnSpc>
                <a:spcPct val="120000"/>
              </a:lnSpc>
              <a:buFont typeface="Wingdings" panose="05000000000000000000" pitchFamily="2" charset="2"/>
              <a:buChar char="ü"/>
            </a:pPr>
            <a:r>
              <a:rPr lang="zh-CN" altLang="en-US" sz="1200" b="1" dirty="0">
                <a:solidFill>
                  <a:schemeClr val="tx1"/>
                </a:solidFill>
                <a:ea typeface="宋体" panose="02010600030101010101" pitchFamily="2" charset="-122"/>
              </a:rPr>
              <a:t>对称性</a:t>
            </a:r>
            <a:r>
              <a:rPr lang="en-US" altLang="zh-CN" sz="1200" b="1" dirty="0">
                <a:solidFill>
                  <a:schemeClr val="tx1"/>
                </a:solidFill>
                <a:ea typeface="宋体" panose="02010600030101010101" pitchFamily="2" charset="-122"/>
              </a:rPr>
              <a:t>---</a:t>
            </a:r>
            <a:r>
              <a:rPr lang="zh-CN" altLang="en-US" sz="1200" b="1" dirty="0">
                <a:solidFill>
                  <a:schemeClr val="tx1"/>
                </a:solidFill>
                <a:ea typeface="宋体" panose="02010600030101010101" pitchFamily="2" charset="-122"/>
              </a:rPr>
              <a:t>运算可交换</a:t>
            </a:r>
          </a:p>
          <a:p>
            <a:pPr marL="342900" indent="-342900">
              <a:lnSpc>
                <a:spcPct val="120000"/>
              </a:lnSpc>
              <a:buFont typeface="Wingdings" panose="05000000000000000000" pitchFamily="2" charset="2"/>
              <a:buChar char="ü"/>
            </a:pPr>
            <a:r>
              <a:rPr lang="zh-CN" altLang="en-US" sz="1200" b="1" dirty="0">
                <a:solidFill>
                  <a:schemeClr val="tx1"/>
                </a:solidFill>
                <a:ea typeface="宋体" panose="02010600030101010101" pitchFamily="2" charset="-122"/>
              </a:rPr>
              <a:t>主对角线元素都是幺元</a:t>
            </a:r>
            <a:r>
              <a:rPr kumimoji="1" lang="en-US" altLang="zh-CN" sz="12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a:t>
            </a:r>
            <a:endParaRPr lang="zh-CN" altLang="en-US" sz="1200" b="1" dirty="0">
              <a:solidFill>
                <a:schemeClr val="tx1"/>
              </a:solidFill>
              <a:ea typeface="宋体" panose="02010600030101010101" pitchFamily="2" charset="-122"/>
            </a:endParaRPr>
          </a:p>
          <a:p>
            <a:pPr marL="342900" indent="-342900">
              <a:lnSpc>
                <a:spcPct val="120000"/>
              </a:lnSpc>
              <a:buFont typeface="Wingdings" panose="05000000000000000000" pitchFamily="2" charset="2"/>
              <a:buChar char="ü"/>
            </a:pPr>
            <a:r>
              <a:rPr lang="zh-CN" altLang="en-US" sz="1200" b="1" dirty="0">
                <a:solidFill>
                  <a:schemeClr val="tx1"/>
                </a:solidFill>
                <a:ea typeface="宋体" panose="02010600030101010101" pitchFamily="2" charset="-122"/>
              </a:rPr>
              <a:t>每个元素与自己的运算结果都等于幺元</a:t>
            </a:r>
            <a:r>
              <a:rPr kumimoji="1" lang="en-US" altLang="zh-CN" sz="12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a:t>
            </a:r>
            <a:r>
              <a:rPr kumimoji="1" lang="en-US" altLang="zh-CN" sz="1200" b="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lang="zh-CN" altLang="en-US" sz="1200" b="1" dirty="0">
                <a:solidFill>
                  <a:schemeClr val="tx1"/>
                </a:solidFill>
                <a:ea typeface="宋体" panose="02010600030101010101" pitchFamily="2" charset="-122"/>
              </a:rPr>
              <a:t>每个元素是自己的逆元</a:t>
            </a:r>
            <a:r>
              <a:rPr kumimoji="1" lang="en-US" altLang="zh-CN" sz="1200" b="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lang="zh-CN" altLang="en-US" sz="1200" b="1" dirty="0">
              <a:solidFill>
                <a:schemeClr val="tx1"/>
              </a:solidFill>
              <a:ea typeface="宋体" panose="02010600030101010101" pitchFamily="2" charset="-122"/>
            </a:endParaRPr>
          </a:p>
          <a:p>
            <a:pPr marL="342900" indent="-342900">
              <a:lnSpc>
                <a:spcPct val="120000"/>
              </a:lnSpc>
              <a:buFont typeface="Wingdings" panose="05000000000000000000" pitchFamily="2" charset="2"/>
              <a:buChar char="ü"/>
            </a:pPr>
            <a:r>
              <a:rPr lang="en-US" altLang="zh-CN" sz="1200" b="1" i="1" dirty="0">
                <a:solidFill>
                  <a:schemeClr val="tx1"/>
                </a:solidFill>
                <a:latin typeface="Times New Roman" panose="02020603050405020304" pitchFamily="18" charset="0"/>
                <a:ea typeface="宋体" panose="02010600030101010101" pitchFamily="2" charset="-122"/>
              </a:rPr>
              <a:t>a</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b</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c </a:t>
            </a:r>
            <a:r>
              <a:rPr lang="zh-CN" altLang="en-US" sz="1200" b="1" dirty="0">
                <a:solidFill>
                  <a:schemeClr val="tx1"/>
                </a:solidFill>
                <a:ea typeface="宋体" panose="02010600030101010101" pitchFamily="2" charset="-122"/>
              </a:rPr>
              <a:t>中任两个元素运算等于第三个元素</a:t>
            </a:r>
            <a:r>
              <a:rPr lang="en-US" altLang="zh-CN" sz="1200" b="1" dirty="0">
                <a:solidFill>
                  <a:schemeClr val="tx1"/>
                </a:solidFill>
                <a:ea typeface="宋体" panose="02010600030101010101" pitchFamily="2" charset="-122"/>
              </a:rPr>
              <a:t>.  </a:t>
            </a:r>
            <a:endParaRPr lang="zh-CN" altLang="en-US" dirty="0">
              <a:solidFill>
                <a:schemeClr val="tx1"/>
              </a:solidFill>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Times New Roman" panose="02020603050405020304" pitchFamily="18" charset="0"/>
                <a:cs typeface="Times New Roman" panose="02020603050405020304" pitchFamily="18" charset="0"/>
              </a:rPr>
              <a:t>一般称这种群</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 G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1200" b="1" dirty="0">
                <a:latin typeface="Times New Roman" panose="02020603050405020304" pitchFamily="18" charset="0"/>
                <a:cs typeface="Times New Roman" panose="02020603050405020304" pitchFamily="18" charset="0"/>
              </a:rPr>
              <a:t>&gt;</a:t>
            </a:r>
            <a:r>
              <a:rPr lang="zh-CN" altLang="en-US" sz="1200" b="1" dirty="0">
                <a:latin typeface="Times New Roman" panose="02020603050405020304" pitchFamily="18" charset="0"/>
                <a:cs typeface="Times New Roman" panose="02020603050405020304" pitchFamily="18" charset="0"/>
              </a:rPr>
              <a:t>为称为 </a:t>
            </a:r>
            <a:r>
              <a:rPr lang="en-US" altLang="zh-CN" sz="1200" b="1" dirty="0">
                <a:solidFill>
                  <a:srgbClr val="FF3300"/>
                </a:solidFill>
                <a:latin typeface="Times New Roman" panose="02020603050405020304" pitchFamily="18" charset="0"/>
                <a:cs typeface="Times New Roman" panose="02020603050405020304" pitchFamily="18" charset="0"/>
              </a:rPr>
              <a:t>Klein</a:t>
            </a:r>
            <a:r>
              <a:rPr lang="zh-CN" altLang="en-US" sz="1200" b="1" dirty="0">
                <a:solidFill>
                  <a:srgbClr val="FF3300"/>
                </a:solidFill>
                <a:latin typeface="Times New Roman" panose="02020603050405020304" pitchFamily="18" charset="0"/>
                <a:cs typeface="Times New Roman" panose="02020603050405020304" pitchFamily="18" charset="0"/>
              </a:rPr>
              <a:t>四元群</a:t>
            </a:r>
            <a:r>
              <a:rPr lang="zh-CN" altLang="en-US" sz="1200" dirty="0">
                <a:latin typeface="Times New Roman" panose="02020603050405020304" pitchFamily="18" charset="0"/>
                <a:cs typeface="Times New Roman" panose="02020603050405020304" pitchFamily="18" charset="0"/>
              </a:rPr>
              <a:t> </a:t>
            </a:r>
            <a:endParaRPr lang="zh-CN" altLang="en-US" sz="1200" i="1"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71</a:t>
            </a:fld>
            <a:endParaRPr lang="zh-CN" altLang="en-US"/>
          </a:p>
        </p:txBody>
      </p:sp>
    </p:spTree>
    <p:extLst>
      <p:ext uri="{BB962C8B-B14F-4D97-AF65-F5344CB8AC3E}">
        <p14:creationId xmlns:p14="http://schemas.microsoft.com/office/powerpoint/2010/main" val="13043235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群的势（</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cardinality of a group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）是指群的元素数量，</a:t>
            </a:r>
            <a:r>
              <a:rPr lang="zh-CN" altLang="zh-CN" sz="1800"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与群的阶相同</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。势是集合论中的概念，用来表示集合的大小。</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r>
              <a:rPr lang="en-US" altLang="zh-CN" sz="1800" b="1" dirty="0">
                <a:solidFill>
                  <a:schemeClr val="tx1"/>
                </a:solidFill>
                <a:latin typeface="Times New Roman" panose="02020603050405020304" pitchFamily="18" charset="0"/>
                <a:ea typeface="宋体" panose="02010600030101010101" pitchFamily="2" charset="-122"/>
              </a:rPr>
              <a:t>(1)</a:t>
            </a:r>
            <a:r>
              <a:rPr lang="zh-CN" altLang="en-US" sz="1800" b="1" dirty="0">
                <a:solidFill>
                  <a:schemeClr val="tx1"/>
                </a:solidFill>
                <a:latin typeface="Times New Roman" panose="02020603050405020304" pitchFamily="18" charset="0"/>
                <a:ea typeface="宋体" panose="02010600030101010101" pitchFamily="2" charset="-122"/>
              </a:rPr>
              <a:t>若群</a:t>
            </a:r>
            <a:r>
              <a:rPr lang="en-US" altLang="zh-CN" sz="1800" b="1" dirty="0">
                <a:solidFill>
                  <a:schemeClr val="tx1"/>
                </a:solidFill>
                <a:latin typeface="Times New Roman" panose="02020603050405020304" pitchFamily="18" charset="0"/>
                <a:ea typeface="宋体" panose="02010600030101010101" pitchFamily="2" charset="-122"/>
              </a:rPr>
              <a:t>&lt;</a:t>
            </a:r>
            <a:r>
              <a:rPr lang="en-US" altLang="zh-CN" sz="1800" b="1" i="1" dirty="0">
                <a:solidFill>
                  <a:schemeClr val="tx1"/>
                </a:solidFill>
                <a:latin typeface="Times New Roman" panose="02020603050405020304" pitchFamily="18" charset="0"/>
                <a:ea typeface="宋体" panose="02010600030101010101" pitchFamily="2" charset="-122"/>
              </a:rPr>
              <a:t>G,</a:t>
            </a:r>
            <a:r>
              <a:rPr lang="en-US" altLang="zh-CN"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∘&gt;</a:t>
            </a:r>
            <a:r>
              <a:rPr lang="zh-CN" altLang="en-US" sz="1800" b="1" dirty="0">
                <a:solidFill>
                  <a:schemeClr val="tx1"/>
                </a:solidFill>
                <a:latin typeface="Times New Roman" panose="02020603050405020304" pitchFamily="18" charset="0"/>
                <a:ea typeface="宋体" panose="02010600030101010101" pitchFamily="2" charset="-122"/>
              </a:rPr>
              <a:t>中的二元运算</a:t>
            </a:r>
            <a:r>
              <a:rPr lang="en-US" altLang="zh-CN"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1800" b="1" dirty="0">
                <a:solidFill>
                  <a:schemeClr val="tx1"/>
                </a:solidFill>
                <a:latin typeface="Times New Roman" panose="02020603050405020304" pitchFamily="18" charset="0"/>
                <a:ea typeface="宋体" panose="02010600030101010101" pitchFamily="2" charset="-122"/>
              </a:rPr>
              <a:t>是可交换的，则称</a:t>
            </a:r>
            <a:r>
              <a:rPr lang="en-US" altLang="zh-CN" sz="1800" b="1" i="1" dirty="0">
                <a:solidFill>
                  <a:schemeClr val="tx1"/>
                </a:solidFill>
                <a:latin typeface="Times New Roman" panose="02020603050405020304" pitchFamily="18" charset="0"/>
                <a:ea typeface="宋体" panose="02010600030101010101" pitchFamily="2" charset="-122"/>
              </a:rPr>
              <a:t>G</a:t>
            </a:r>
            <a:r>
              <a:rPr lang="zh-CN" altLang="en-US" sz="1800" b="1" dirty="0">
                <a:solidFill>
                  <a:schemeClr val="tx1"/>
                </a:solidFill>
                <a:latin typeface="Times New Roman" panose="02020603050405020304" pitchFamily="18" charset="0"/>
                <a:ea typeface="宋体" panose="02010600030101010101" pitchFamily="2" charset="-122"/>
              </a:rPr>
              <a:t>为</a:t>
            </a:r>
            <a:r>
              <a:rPr lang="zh-CN" altLang="en-US" sz="1800" b="1" dirty="0">
                <a:solidFill>
                  <a:srgbClr val="FF3300"/>
                </a:solidFill>
                <a:latin typeface="Times New Roman" panose="02020603050405020304" pitchFamily="18" charset="0"/>
                <a:ea typeface="宋体" panose="02010600030101010101" pitchFamily="2" charset="-122"/>
              </a:rPr>
              <a:t>交换群</a:t>
            </a:r>
            <a:r>
              <a:rPr lang="zh-CN" altLang="en-US" sz="1800" b="1" dirty="0">
                <a:solidFill>
                  <a:schemeClr val="tx1"/>
                </a:solidFill>
                <a:latin typeface="Times New Roman" panose="02020603050405020304" pitchFamily="18" charset="0"/>
                <a:ea typeface="宋体" panose="02010600030101010101" pitchFamily="2" charset="-122"/>
              </a:rPr>
              <a:t>或 </a:t>
            </a:r>
            <a:r>
              <a:rPr lang="zh-CN" altLang="en-US" sz="1800" b="1" dirty="0">
                <a:solidFill>
                  <a:srgbClr val="FF3300"/>
                </a:solidFill>
                <a:latin typeface="Times New Roman" panose="02020603050405020304" pitchFamily="18" charset="0"/>
                <a:ea typeface="宋体" panose="02010600030101010101" pitchFamily="2" charset="-122"/>
              </a:rPr>
              <a:t>阿贝尔</a:t>
            </a:r>
            <a:r>
              <a:rPr lang="en-US" altLang="zh-CN" sz="1800" b="1" dirty="0">
                <a:solidFill>
                  <a:srgbClr val="FF3300"/>
                </a:solidFill>
                <a:latin typeface="Times New Roman" panose="02020603050405020304" pitchFamily="18" charset="0"/>
                <a:ea typeface="宋体" panose="02010600030101010101" pitchFamily="2" charset="-122"/>
              </a:rPr>
              <a:t>(Abel)</a:t>
            </a:r>
            <a:r>
              <a:rPr lang="zh-CN" altLang="en-US" sz="1800" b="1" dirty="0">
                <a:solidFill>
                  <a:srgbClr val="FF3300"/>
                </a:solidFill>
                <a:latin typeface="Times New Roman" panose="02020603050405020304" pitchFamily="18" charset="0"/>
                <a:ea typeface="宋体" panose="02010600030101010101" pitchFamily="2" charset="-122"/>
              </a:rPr>
              <a:t>群</a:t>
            </a:r>
            <a:r>
              <a:rPr lang="en-US" altLang="zh-CN" sz="1800" b="1" dirty="0">
                <a:solidFill>
                  <a:schemeClr val="tx1"/>
                </a:solidFill>
                <a:latin typeface="Times New Roman" panose="02020603050405020304" pitchFamily="18" charset="0"/>
                <a:ea typeface="宋体" panose="02010600030101010101" pitchFamily="2" charset="-122"/>
              </a:rPr>
              <a:t>. </a:t>
            </a:r>
          </a:p>
          <a:p>
            <a:pPr indent="0"/>
            <a:r>
              <a:rPr lang="en-US" altLang="zh-CN" sz="1800" b="1" dirty="0">
                <a:solidFill>
                  <a:schemeClr val="tx1"/>
                </a:solidFill>
                <a:latin typeface="Times New Roman" panose="02020603050405020304" pitchFamily="18" charset="0"/>
                <a:ea typeface="宋体" panose="02010600030101010101" pitchFamily="2" charset="-122"/>
              </a:rPr>
              <a:t>(2) </a:t>
            </a:r>
            <a:r>
              <a:rPr lang="zh-CN" altLang="en-US" sz="1800" b="1" dirty="0">
                <a:solidFill>
                  <a:schemeClr val="tx1"/>
                </a:solidFill>
                <a:latin typeface="Times New Roman" panose="02020603050405020304" pitchFamily="18" charset="0"/>
                <a:ea typeface="宋体" panose="02010600030101010101" pitchFamily="2" charset="-122"/>
              </a:rPr>
              <a:t>若群 </a:t>
            </a:r>
            <a:r>
              <a:rPr lang="en-US" altLang="zh-CN" sz="1800" b="1" dirty="0">
                <a:solidFill>
                  <a:schemeClr val="tx1"/>
                </a:solidFill>
                <a:latin typeface="Times New Roman" panose="02020603050405020304" pitchFamily="18" charset="0"/>
                <a:ea typeface="宋体" panose="02010600030101010101" pitchFamily="2" charset="-122"/>
              </a:rPr>
              <a:t>&lt;</a:t>
            </a:r>
            <a:r>
              <a:rPr lang="en-US" altLang="zh-CN" sz="1800" b="1" i="1" dirty="0">
                <a:solidFill>
                  <a:schemeClr val="tx1"/>
                </a:solidFill>
                <a:latin typeface="Times New Roman" panose="02020603050405020304" pitchFamily="18" charset="0"/>
                <a:ea typeface="宋体" panose="02010600030101010101" pitchFamily="2" charset="-122"/>
              </a:rPr>
              <a:t>G,</a:t>
            </a:r>
            <a:r>
              <a:rPr lang="en-US" altLang="zh-CN"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∘&gt;</a:t>
            </a:r>
            <a:r>
              <a:rPr lang="zh-CN" altLang="en-US"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中</a:t>
            </a:r>
            <a:r>
              <a:rPr lang="zh-CN" altLang="en-US" sz="1800" b="1" dirty="0">
                <a:solidFill>
                  <a:schemeClr val="tx1"/>
                </a:solidFill>
                <a:latin typeface="Times New Roman" panose="02020603050405020304" pitchFamily="18" charset="0"/>
                <a:ea typeface="宋体" panose="02010600030101010101" pitchFamily="2" charset="-122"/>
              </a:rPr>
              <a:t>有无穷多个元素</a:t>
            </a:r>
            <a:r>
              <a:rPr lang="en-US" altLang="zh-CN" sz="1800" b="1" dirty="0">
                <a:solidFill>
                  <a:schemeClr val="tx1"/>
                </a:solidFill>
                <a:latin typeface="Times New Roman" panose="02020603050405020304" pitchFamily="18" charset="0"/>
                <a:ea typeface="宋体" panose="02010600030101010101" pitchFamily="2" charset="-122"/>
              </a:rPr>
              <a:t>,</a:t>
            </a:r>
            <a:r>
              <a:rPr lang="zh-CN" altLang="en-US" sz="1800" b="1" dirty="0">
                <a:solidFill>
                  <a:schemeClr val="tx1"/>
                </a:solidFill>
                <a:latin typeface="Times New Roman" panose="02020603050405020304" pitchFamily="18" charset="0"/>
                <a:ea typeface="宋体" panose="02010600030101010101" pitchFamily="2" charset="-122"/>
              </a:rPr>
              <a:t>则称</a:t>
            </a:r>
            <a:r>
              <a:rPr lang="en-US" altLang="zh-CN" sz="1800" b="1" i="1" dirty="0">
                <a:solidFill>
                  <a:schemeClr val="tx1"/>
                </a:solidFill>
                <a:latin typeface="Times New Roman" panose="02020603050405020304" pitchFamily="18" charset="0"/>
                <a:ea typeface="宋体" panose="02010600030101010101" pitchFamily="2" charset="-122"/>
              </a:rPr>
              <a:t>G</a:t>
            </a:r>
            <a:r>
              <a:rPr lang="zh-CN" altLang="en-US" sz="1800" b="1" dirty="0">
                <a:solidFill>
                  <a:schemeClr val="tx1"/>
                </a:solidFill>
                <a:latin typeface="Times New Roman" panose="02020603050405020304" pitchFamily="18" charset="0"/>
                <a:ea typeface="宋体" panose="02010600030101010101" pitchFamily="2" charset="-122"/>
              </a:rPr>
              <a:t>是</a:t>
            </a:r>
            <a:r>
              <a:rPr lang="zh-CN" altLang="en-US" sz="1800" b="1" dirty="0">
                <a:solidFill>
                  <a:srgbClr val="FF3300"/>
                </a:solidFill>
                <a:latin typeface="Times New Roman" panose="02020603050405020304" pitchFamily="18" charset="0"/>
                <a:ea typeface="宋体" panose="02010600030101010101" pitchFamily="2" charset="-122"/>
              </a:rPr>
              <a:t>无限群</a:t>
            </a:r>
            <a:r>
              <a:rPr lang="en-US" altLang="zh-CN" sz="1800" b="1" dirty="0">
                <a:solidFill>
                  <a:schemeClr val="tx1"/>
                </a:solidFill>
                <a:latin typeface="Times New Roman" panose="02020603050405020304" pitchFamily="18" charset="0"/>
                <a:ea typeface="宋体" panose="02010600030101010101" pitchFamily="2" charset="-122"/>
              </a:rPr>
              <a:t>,</a:t>
            </a:r>
            <a:r>
              <a:rPr lang="zh-CN" altLang="en-US" sz="1800" b="1" dirty="0">
                <a:solidFill>
                  <a:schemeClr val="tx1"/>
                </a:solidFill>
                <a:latin typeface="Times New Roman" panose="02020603050405020304" pitchFamily="18" charset="0"/>
                <a:ea typeface="宋体" panose="02010600030101010101" pitchFamily="2" charset="-122"/>
              </a:rPr>
              <a:t>否则为</a:t>
            </a:r>
            <a:r>
              <a:rPr lang="zh-CN" altLang="en-US" sz="1800" b="1" dirty="0">
                <a:solidFill>
                  <a:srgbClr val="FF3300"/>
                </a:solidFill>
                <a:latin typeface="Times New Roman" panose="02020603050405020304" pitchFamily="18" charset="0"/>
                <a:ea typeface="宋体" panose="02010600030101010101" pitchFamily="2" charset="-122"/>
              </a:rPr>
              <a:t>有限群</a:t>
            </a:r>
            <a:r>
              <a:rPr lang="en-US" altLang="zh-CN" sz="1800" b="1" dirty="0">
                <a:solidFill>
                  <a:schemeClr val="tx1"/>
                </a:solidFill>
                <a:latin typeface="Times New Roman" panose="02020603050405020304" pitchFamily="18" charset="0"/>
                <a:ea typeface="宋体" panose="02010600030101010101" pitchFamily="2" charset="-122"/>
              </a:rPr>
              <a:t>. </a:t>
            </a:r>
          </a:p>
          <a:p>
            <a:pPr indent="0"/>
            <a:r>
              <a:rPr lang="en-US" altLang="zh-CN" sz="1800" b="1" dirty="0">
                <a:solidFill>
                  <a:schemeClr val="tx1"/>
                </a:solidFill>
                <a:latin typeface="Times New Roman" panose="02020603050405020304" pitchFamily="18" charset="0"/>
                <a:ea typeface="宋体" panose="02010600030101010101" pitchFamily="2" charset="-122"/>
              </a:rPr>
              <a:t>(3) </a:t>
            </a:r>
            <a:r>
              <a:rPr lang="zh-CN" altLang="en-US" sz="1800" b="1" dirty="0">
                <a:solidFill>
                  <a:schemeClr val="tx1"/>
                </a:solidFill>
                <a:latin typeface="Times New Roman" panose="02020603050405020304" pitchFamily="18" charset="0"/>
                <a:ea typeface="宋体" panose="02010600030101010101" pitchFamily="2" charset="-122"/>
              </a:rPr>
              <a:t>有限群群 </a:t>
            </a:r>
            <a:r>
              <a:rPr lang="en-US" altLang="zh-CN" sz="1800" b="1" dirty="0">
                <a:solidFill>
                  <a:schemeClr val="tx1"/>
                </a:solidFill>
                <a:latin typeface="Times New Roman" panose="02020603050405020304" pitchFamily="18" charset="0"/>
                <a:ea typeface="宋体" panose="02010600030101010101" pitchFamily="2" charset="-122"/>
              </a:rPr>
              <a:t>&lt;</a:t>
            </a:r>
            <a:r>
              <a:rPr lang="en-US" altLang="zh-CN" sz="1800" b="1" i="1" dirty="0">
                <a:solidFill>
                  <a:schemeClr val="tx1"/>
                </a:solidFill>
                <a:latin typeface="Times New Roman" panose="02020603050405020304" pitchFamily="18" charset="0"/>
                <a:ea typeface="宋体" panose="02010600030101010101" pitchFamily="2" charset="-122"/>
              </a:rPr>
              <a:t>G,</a:t>
            </a:r>
            <a:r>
              <a:rPr lang="en-US" altLang="zh-CN"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∘&gt;</a:t>
            </a:r>
            <a:r>
              <a:rPr lang="zh-CN" altLang="en-US" sz="1800" b="1" dirty="0">
                <a:solidFill>
                  <a:schemeClr val="tx1"/>
                </a:solidFill>
                <a:latin typeface="Times New Roman" panose="02020603050405020304" pitchFamily="18" charset="0"/>
                <a:ea typeface="宋体" panose="02010600030101010101" pitchFamily="2" charset="-122"/>
              </a:rPr>
              <a:t>中的元素个数称为群的</a:t>
            </a:r>
            <a:r>
              <a:rPr lang="zh-CN" altLang="en-US" sz="1800" b="1" dirty="0">
                <a:solidFill>
                  <a:srgbClr val="FF3300"/>
                </a:solidFill>
                <a:latin typeface="Times New Roman" panose="02020603050405020304" pitchFamily="18" charset="0"/>
                <a:ea typeface="宋体" panose="02010600030101010101" pitchFamily="2" charset="-122"/>
              </a:rPr>
              <a:t>阶</a:t>
            </a:r>
            <a:r>
              <a:rPr lang="en-US" altLang="zh-CN" sz="1800" b="1" dirty="0">
                <a:solidFill>
                  <a:schemeClr val="tx1"/>
                </a:solidFill>
                <a:latin typeface="Times New Roman" panose="02020603050405020304" pitchFamily="18" charset="0"/>
                <a:ea typeface="宋体" panose="02010600030101010101" pitchFamily="2" charset="-122"/>
              </a:rPr>
              <a:t>,</a:t>
            </a:r>
            <a:r>
              <a:rPr lang="zh-CN" altLang="en-US" sz="1800" b="1" dirty="0">
                <a:solidFill>
                  <a:schemeClr val="tx1"/>
                </a:solidFill>
                <a:latin typeface="Times New Roman" panose="02020603050405020304" pitchFamily="18" charset="0"/>
                <a:ea typeface="宋体" panose="02010600030101010101" pitchFamily="2" charset="-122"/>
              </a:rPr>
              <a:t>记作</a:t>
            </a:r>
            <a:r>
              <a:rPr lang="en-US" altLang="zh-CN" sz="1800" b="1" dirty="0">
                <a:solidFill>
                  <a:schemeClr val="tx1"/>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G</a:t>
            </a:r>
            <a:r>
              <a:rPr lang="en-US" altLang="zh-CN" sz="1800" b="1" dirty="0">
                <a:solidFill>
                  <a:schemeClr val="tx1"/>
                </a:solidFill>
                <a:latin typeface="Times New Roman" panose="02020603050405020304" pitchFamily="18" charset="0"/>
                <a:ea typeface="宋体" panose="02010600030101010101" pitchFamily="2" charset="-122"/>
              </a:rPr>
              <a:t>|. </a:t>
            </a:r>
          </a:p>
          <a:p>
            <a:pPr indent="0"/>
            <a:endParaRPr lang="en-US" altLang="zh-CN"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a:p>
            <a:r>
              <a:rPr lang="zh-CN" altLang="en-US" sz="2800" b="1" dirty="0">
                <a:solidFill>
                  <a:srgbClr val="00B0F0"/>
                </a:solidFill>
                <a:latin typeface="Times New Roman" panose="02020603050405020304" pitchFamily="18" charset="0"/>
                <a:cs typeface="Times New Roman" panose="02020603050405020304" pitchFamily="18" charset="0"/>
              </a:rPr>
              <a:t>例</a:t>
            </a:r>
            <a:r>
              <a:rPr lang="en-US" altLang="zh-CN" sz="2800" b="1" dirty="0">
                <a:solidFill>
                  <a:srgbClr val="00B0F0"/>
                </a:solidFill>
                <a:latin typeface="Times New Roman" panose="02020603050405020304" pitchFamily="18" charset="0"/>
                <a:cs typeface="Times New Roman" panose="02020603050405020304" pitchFamily="18" charset="0"/>
              </a:rPr>
              <a:t>1</a:t>
            </a:r>
            <a:r>
              <a:rPr lang="zh-CN" altLang="en-US" sz="2800" b="1" dirty="0">
                <a:solidFill>
                  <a:srgbClr val="00B0F0"/>
                </a:solidFill>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&lt;Z,+&gt; </a:t>
            </a:r>
            <a:r>
              <a:rPr lang="zh-CN" altLang="en-US" sz="2800" b="1" dirty="0">
                <a:latin typeface="Times New Roman" panose="02020603050405020304" pitchFamily="18" charset="0"/>
                <a:cs typeface="Times New Roman" panose="02020603050405020304" pitchFamily="18" charset="0"/>
              </a:rPr>
              <a:t>和 </a:t>
            </a:r>
            <a:r>
              <a:rPr lang="en-US" altLang="zh-CN" sz="2800" b="1" dirty="0">
                <a:latin typeface="Times New Roman" panose="02020603050405020304" pitchFamily="18" charset="0"/>
                <a:cs typeface="Times New Roman" panose="02020603050405020304" pitchFamily="18" charset="0"/>
              </a:rPr>
              <a:t>&lt;R,+&gt;</a:t>
            </a:r>
            <a:r>
              <a:rPr lang="zh-CN" altLang="en-US" sz="2800" b="1" dirty="0">
                <a:latin typeface="Times New Roman" panose="02020603050405020304" pitchFamily="18" charset="0"/>
                <a:cs typeface="Times New Roman" panose="02020603050405020304" pitchFamily="18" charset="0"/>
              </a:rPr>
              <a:t>是无限群</a:t>
            </a:r>
          </a:p>
          <a:p>
            <a:r>
              <a:rPr lang="zh-CN" altLang="en-US" sz="2800" b="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&lt;</a:t>
            </a:r>
            <a:r>
              <a:rPr lang="en-US" altLang="zh-CN" sz="2800" b="1" i="1" dirty="0">
                <a:latin typeface="Times New Roman" panose="02020603050405020304" pitchFamily="18" charset="0"/>
                <a:cs typeface="Times New Roman" panose="02020603050405020304" pitchFamily="18" charset="0"/>
              </a:rPr>
              <a:t>Z</a:t>
            </a:r>
            <a:r>
              <a:rPr lang="en-US" altLang="zh-CN" sz="2800" b="1" i="1" baseline="-25000" dirty="0">
                <a:latin typeface="Times New Roman" panose="02020603050405020304" pitchFamily="18" charset="0"/>
                <a:cs typeface="Times New Roman" panose="02020603050405020304" pitchFamily="18" charset="0"/>
              </a:rPr>
              <a:t>n</a:t>
            </a:r>
            <a:r>
              <a:rPr lang="en-US" altLang="zh-CN"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cs typeface="Times New Roman" panose="02020603050405020304" pitchFamily="18" charset="0"/>
              </a:rPr>
              <a:t>&gt;</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是有限群，也是 </a:t>
            </a:r>
            <a:r>
              <a:rPr lang="en-US" altLang="zh-CN" sz="2800" b="1" i="1" dirty="0">
                <a:latin typeface="Times New Roman" panose="02020603050405020304" pitchFamily="18" charset="0"/>
                <a:cs typeface="Times New Roman" panose="02020603050405020304" pitchFamily="18" charset="0"/>
                <a:sym typeface="Symbol" panose="05050102010706020507" pitchFamily="18" charset="2"/>
              </a:rPr>
              <a:t>n </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阶群 </a:t>
            </a:r>
          </a:p>
          <a:p>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Klein</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四元群是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4 </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阶群 </a:t>
            </a:r>
          </a:p>
          <a:p>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        上述群都是交换群</a:t>
            </a:r>
            <a:endParaRPr lang="en-US" altLang="zh-CN" sz="2800" b="1" dirty="0">
              <a:latin typeface="Times New Roman" panose="02020603050405020304" pitchFamily="18" charset="0"/>
              <a:cs typeface="Times New Roman" panose="02020603050405020304" pitchFamily="18" charset="0"/>
              <a:sym typeface="Symbol" panose="05050102010706020507" pitchFamily="18" charset="2"/>
            </a:endParaRPr>
          </a:p>
          <a:p>
            <a:endParaRPr lang="en-US" altLang="zh-CN" sz="2800" b="1" dirty="0">
              <a:solidFill>
                <a:srgbClr val="000066"/>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r>
              <a:rPr lang="zh-CN" altLang="en-US" sz="2800" b="1" dirty="0">
                <a:solidFill>
                  <a:srgbClr val="00B0F0"/>
                </a:solidFill>
                <a:latin typeface="Times New Roman" panose="02020603050405020304" pitchFamily="18" charset="0"/>
                <a:cs typeface="Times New Roman" panose="02020603050405020304" pitchFamily="18" charset="0"/>
              </a:rPr>
              <a:t>例</a:t>
            </a:r>
            <a:r>
              <a:rPr lang="en-US" altLang="zh-CN" sz="2800" b="1" dirty="0">
                <a:solidFill>
                  <a:srgbClr val="00B0F0"/>
                </a:solidFill>
                <a:latin typeface="Times New Roman" panose="02020603050405020304" pitchFamily="18" charset="0"/>
                <a:cs typeface="Times New Roman" panose="02020603050405020304" pitchFamily="18" charset="0"/>
              </a:rPr>
              <a:t>2</a:t>
            </a:r>
            <a:r>
              <a:rPr lang="zh-CN" altLang="en-US" sz="2800" b="1" dirty="0">
                <a:solidFill>
                  <a:srgbClr val="00B0F0"/>
                </a:solidFill>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sym typeface="Symbol" panose="05050102010706020507" pitchFamily="18" charset="2"/>
              </a:rPr>
              <a:t>n </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阶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≥2) </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实可逆矩阵集合关于矩阵乘法构成的群</a:t>
            </a:r>
          </a:p>
          <a:p>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   是</a:t>
            </a:r>
            <a:r>
              <a:rPr lang="zh-CN" altLang="en-US" sz="28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非交换群</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p>
          <a:p>
            <a:r>
              <a:rPr lang="zh-CN" altLang="en-US" sz="2800" b="1"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注：</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①</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两个</a:t>
            </a:r>
            <a:r>
              <a:rPr lang="en-US" altLang="zh-CN" sz="28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kern="100" dirty="0" err="1">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可逆矩阵</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乘积</a:t>
            </a:r>
            <a:r>
              <a:rPr lang="en-US" altLang="zh-CN" sz="28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AB</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也是</a:t>
            </a:r>
            <a:r>
              <a:rPr lang="en-US" altLang="zh-CN" sz="2800" b="1" i="1" kern="100"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kern="100"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可逆矩阵</a:t>
            </a:r>
            <a:r>
              <a:rPr lang="en-US"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b="1" kern="100" dirty="0">
                <a:effectLst/>
                <a:latin typeface="Times New Roman" panose="02020603050405020304" pitchFamily="18" charset="0"/>
                <a:ea typeface="楷体" panose="02010609060101010101" pitchFamily="49" charset="-122"/>
                <a:cs typeface="Times New Roman" panose="02020603050405020304" pitchFamily="18" charset="0"/>
              </a:rPr>
              <a:t>②</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矩阵乘法是结合的</a:t>
            </a:r>
            <a:r>
              <a:rPr lang="en-US"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③</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任意</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kern="100" dirty="0" err="1">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可逆矩阵</a:t>
            </a:r>
            <a:r>
              <a:rPr lang="en-US" altLang="zh-CN" sz="28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有</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单位矩阵</a:t>
            </a:r>
            <a:r>
              <a:rPr lang="en-US" altLang="zh-CN" sz="28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8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;④</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每个</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kern="100" dirty="0" err="1">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的可逆矩阵</a:t>
            </a:r>
            <a:r>
              <a:rPr lang="en-US" altLang="zh-CN" sz="28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en-US" sz="2800" b="1" kern="100" dirty="0">
                <a:effectLst/>
                <a:latin typeface="Times New Roman" panose="02020603050405020304" pitchFamily="18" charset="0"/>
                <a:ea typeface="楷体" panose="02010609060101010101" pitchFamily="49" charset="-122"/>
                <a:cs typeface="Times New Roman" panose="02020603050405020304" pitchFamily="18" charset="0"/>
              </a:rPr>
              <a:t>都</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存在一个逆矩阵</a:t>
            </a:r>
            <a:r>
              <a:rPr lang="en-US" altLang="zh-CN" sz="28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a:t>
            </a:r>
            <a:r>
              <a:rPr lang="en-US" altLang="zh-CN" sz="2800" b="1" kern="100" baseline="300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a:t>
            </a:r>
            <a:r>
              <a:rPr lang="en-US" altLang="zh-CN" sz="28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⑤</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两个</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kern="100" dirty="0" err="1">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实可逆矩阵</a:t>
            </a:r>
            <a:r>
              <a:rPr lang="en-US" altLang="zh-CN" sz="2800" b="1"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en-US"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a:effectLst/>
                <a:latin typeface="Times New Roman" panose="02020603050405020304" pitchFamily="18" charset="0"/>
                <a:ea typeface="楷体" panose="02010609060101010101" pitchFamily="49" charset="-122"/>
                <a:cs typeface="Times New Roman" panose="02020603050405020304" pitchFamily="18" charset="0"/>
              </a:rPr>
              <a:t>B</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，通常</a:t>
            </a:r>
            <a:r>
              <a:rPr lang="en-US" altLang="zh-CN" sz="2800" b="1" i="1" kern="100" dirty="0">
                <a:effectLst/>
                <a:latin typeface="Times New Roman" panose="02020603050405020304" pitchFamily="18" charset="0"/>
                <a:ea typeface="楷体" panose="02010609060101010101" pitchFamily="49" charset="-122"/>
                <a:cs typeface="Times New Roman" panose="02020603050405020304" pitchFamily="18" charset="0"/>
              </a:rPr>
              <a:t>AB</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a:effectLst/>
                <a:latin typeface="Times New Roman" panose="02020603050405020304" pitchFamily="18" charset="0"/>
                <a:ea typeface="楷体" panose="02010609060101010101" pitchFamily="49" charset="-122"/>
                <a:cs typeface="Times New Roman" panose="02020603050405020304" pitchFamily="18" charset="0"/>
              </a:rPr>
              <a:t>BA</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非交换性</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b="1" dirty="0">
              <a:solidFill>
                <a:srgbClr val="00B0F0"/>
              </a:solidFill>
              <a:latin typeface="Times New Roman" panose="02020603050405020304" pitchFamily="18" charset="0"/>
              <a:cs typeface="Times New Roman" panose="02020603050405020304" pitchFamily="18" charset="0"/>
              <a:sym typeface="Symbol" panose="05050102010706020507" pitchFamily="18" charset="2"/>
            </a:endParaRPr>
          </a:p>
          <a:p>
            <a:endParaRPr lang="en-US" altLang="zh-CN" sz="2800" dirty="0">
              <a:solidFill>
                <a:srgbClr val="000066"/>
              </a:solidFill>
              <a:ea typeface="宋体" panose="02010600030101010101" pitchFamily="2" charset="-122"/>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72</a:t>
            </a:fld>
            <a:endParaRPr lang="zh-CN" altLang="en-US"/>
          </a:p>
        </p:txBody>
      </p:sp>
    </p:spTree>
    <p:extLst>
      <p:ext uri="{BB962C8B-B14F-4D97-AF65-F5344CB8AC3E}">
        <p14:creationId xmlns:p14="http://schemas.microsoft.com/office/powerpoint/2010/main" val="248086376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群的势（</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cardinality of a group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）是指群的元素数量，</a:t>
            </a:r>
            <a:r>
              <a:rPr lang="zh-CN" altLang="zh-CN" sz="1800"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与群的阶相同</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。势是集合论中的概念，用来表示集合的大小。</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0"/>
            <a:r>
              <a:rPr lang="en-US" altLang="zh-CN" sz="1800" b="1" dirty="0">
                <a:solidFill>
                  <a:schemeClr val="tx1"/>
                </a:solidFill>
                <a:latin typeface="Times New Roman" panose="02020603050405020304" pitchFamily="18" charset="0"/>
                <a:ea typeface="宋体" panose="02010600030101010101" pitchFamily="2" charset="-122"/>
              </a:rPr>
              <a:t>(1)</a:t>
            </a:r>
            <a:r>
              <a:rPr lang="zh-CN" altLang="en-US" sz="1800" b="1" dirty="0">
                <a:solidFill>
                  <a:schemeClr val="tx1"/>
                </a:solidFill>
                <a:latin typeface="Times New Roman" panose="02020603050405020304" pitchFamily="18" charset="0"/>
                <a:ea typeface="宋体" panose="02010600030101010101" pitchFamily="2" charset="-122"/>
              </a:rPr>
              <a:t>若群</a:t>
            </a:r>
            <a:r>
              <a:rPr lang="en-US" altLang="zh-CN" sz="1800" b="1" dirty="0">
                <a:solidFill>
                  <a:schemeClr val="tx1"/>
                </a:solidFill>
                <a:latin typeface="Times New Roman" panose="02020603050405020304" pitchFamily="18" charset="0"/>
                <a:ea typeface="宋体" panose="02010600030101010101" pitchFamily="2" charset="-122"/>
              </a:rPr>
              <a:t>&lt;</a:t>
            </a:r>
            <a:r>
              <a:rPr lang="en-US" altLang="zh-CN" sz="1800" b="1" i="1" dirty="0">
                <a:solidFill>
                  <a:schemeClr val="tx1"/>
                </a:solidFill>
                <a:latin typeface="Times New Roman" panose="02020603050405020304" pitchFamily="18" charset="0"/>
                <a:ea typeface="宋体" panose="02010600030101010101" pitchFamily="2" charset="-122"/>
              </a:rPr>
              <a:t>G,</a:t>
            </a:r>
            <a:r>
              <a:rPr lang="en-US" altLang="zh-CN"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∘&gt;</a:t>
            </a:r>
            <a:r>
              <a:rPr lang="zh-CN" altLang="en-US" sz="1800" b="1" dirty="0">
                <a:solidFill>
                  <a:schemeClr val="tx1"/>
                </a:solidFill>
                <a:latin typeface="Times New Roman" panose="02020603050405020304" pitchFamily="18" charset="0"/>
                <a:ea typeface="宋体" panose="02010600030101010101" pitchFamily="2" charset="-122"/>
              </a:rPr>
              <a:t>中的二元运算</a:t>
            </a:r>
            <a:r>
              <a:rPr lang="en-US" altLang="zh-CN"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1800" b="1" dirty="0">
                <a:solidFill>
                  <a:schemeClr val="tx1"/>
                </a:solidFill>
                <a:latin typeface="Times New Roman" panose="02020603050405020304" pitchFamily="18" charset="0"/>
                <a:ea typeface="宋体" panose="02010600030101010101" pitchFamily="2" charset="-122"/>
              </a:rPr>
              <a:t>是可交换的，则称</a:t>
            </a:r>
            <a:r>
              <a:rPr lang="en-US" altLang="zh-CN" sz="1800" b="1" i="1" dirty="0">
                <a:solidFill>
                  <a:schemeClr val="tx1"/>
                </a:solidFill>
                <a:latin typeface="Times New Roman" panose="02020603050405020304" pitchFamily="18" charset="0"/>
                <a:ea typeface="宋体" panose="02010600030101010101" pitchFamily="2" charset="-122"/>
              </a:rPr>
              <a:t>G</a:t>
            </a:r>
            <a:r>
              <a:rPr lang="zh-CN" altLang="en-US" sz="1800" b="1" dirty="0">
                <a:solidFill>
                  <a:schemeClr val="tx1"/>
                </a:solidFill>
                <a:latin typeface="Times New Roman" panose="02020603050405020304" pitchFamily="18" charset="0"/>
                <a:ea typeface="宋体" panose="02010600030101010101" pitchFamily="2" charset="-122"/>
              </a:rPr>
              <a:t>为</a:t>
            </a:r>
            <a:r>
              <a:rPr lang="zh-CN" altLang="en-US" sz="1800" b="1" dirty="0">
                <a:solidFill>
                  <a:srgbClr val="FF3300"/>
                </a:solidFill>
                <a:latin typeface="Times New Roman" panose="02020603050405020304" pitchFamily="18" charset="0"/>
                <a:ea typeface="宋体" panose="02010600030101010101" pitchFamily="2" charset="-122"/>
              </a:rPr>
              <a:t>交换群</a:t>
            </a:r>
            <a:r>
              <a:rPr lang="zh-CN" altLang="en-US" sz="1800" b="1" dirty="0">
                <a:solidFill>
                  <a:schemeClr val="tx1"/>
                </a:solidFill>
                <a:latin typeface="Times New Roman" panose="02020603050405020304" pitchFamily="18" charset="0"/>
                <a:ea typeface="宋体" panose="02010600030101010101" pitchFamily="2" charset="-122"/>
              </a:rPr>
              <a:t>或 </a:t>
            </a:r>
            <a:r>
              <a:rPr lang="zh-CN" altLang="en-US" sz="1800" b="1" dirty="0">
                <a:solidFill>
                  <a:srgbClr val="FF3300"/>
                </a:solidFill>
                <a:latin typeface="Times New Roman" panose="02020603050405020304" pitchFamily="18" charset="0"/>
                <a:ea typeface="宋体" panose="02010600030101010101" pitchFamily="2" charset="-122"/>
              </a:rPr>
              <a:t>阿贝尔</a:t>
            </a:r>
            <a:r>
              <a:rPr lang="en-US" altLang="zh-CN" sz="1800" b="1" dirty="0">
                <a:solidFill>
                  <a:srgbClr val="FF3300"/>
                </a:solidFill>
                <a:latin typeface="Times New Roman" panose="02020603050405020304" pitchFamily="18" charset="0"/>
                <a:ea typeface="宋体" panose="02010600030101010101" pitchFamily="2" charset="-122"/>
              </a:rPr>
              <a:t>(Abel)</a:t>
            </a:r>
            <a:r>
              <a:rPr lang="zh-CN" altLang="en-US" sz="1800" b="1" dirty="0">
                <a:solidFill>
                  <a:srgbClr val="FF3300"/>
                </a:solidFill>
                <a:latin typeface="Times New Roman" panose="02020603050405020304" pitchFamily="18" charset="0"/>
                <a:ea typeface="宋体" panose="02010600030101010101" pitchFamily="2" charset="-122"/>
              </a:rPr>
              <a:t>群</a:t>
            </a:r>
            <a:r>
              <a:rPr lang="en-US" altLang="zh-CN" sz="1800" b="1" dirty="0">
                <a:solidFill>
                  <a:schemeClr val="tx1"/>
                </a:solidFill>
                <a:latin typeface="Times New Roman" panose="02020603050405020304" pitchFamily="18" charset="0"/>
                <a:ea typeface="宋体" panose="02010600030101010101" pitchFamily="2" charset="-122"/>
              </a:rPr>
              <a:t>. </a:t>
            </a:r>
          </a:p>
          <a:p>
            <a:pPr indent="0"/>
            <a:r>
              <a:rPr lang="en-US" altLang="zh-CN" sz="1800" b="1" dirty="0">
                <a:solidFill>
                  <a:schemeClr val="tx1"/>
                </a:solidFill>
                <a:latin typeface="Times New Roman" panose="02020603050405020304" pitchFamily="18" charset="0"/>
                <a:ea typeface="宋体" panose="02010600030101010101" pitchFamily="2" charset="-122"/>
              </a:rPr>
              <a:t>(2) </a:t>
            </a:r>
            <a:r>
              <a:rPr lang="zh-CN" altLang="en-US" sz="1800" b="1" dirty="0">
                <a:solidFill>
                  <a:schemeClr val="tx1"/>
                </a:solidFill>
                <a:latin typeface="Times New Roman" panose="02020603050405020304" pitchFamily="18" charset="0"/>
                <a:ea typeface="宋体" panose="02010600030101010101" pitchFamily="2" charset="-122"/>
              </a:rPr>
              <a:t>若群 </a:t>
            </a:r>
            <a:r>
              <a:rPr lang="en-US" altLang="zh-CN" sz="1800" b="1" dirty="0">
                <a:solidFill>
                  <a:schemeClr val="tx1"/>
                </a:solidFill>
                <a:latin typeface="Times New Roman" panose="02020603050405020304" pitchFamily="18" charset="0"/>
                <a:ea typeface="宋体" panose="02010600030101010101" pitchFamily="2" charset="-122"/>
              </a:rPr>
              <a:t>&lt;</a:t>
            </a:r>
            <a:r>
              <a:rPr lang="en-US" altLang="zh-CN" sz="1800" b="1" i="1" dirty="0">
                <a:solidFill>
                  <a:schemeClr val="tx1"/>
                </a:solidFill>
                <a:latin typeface="Times New Roman" panose="02020603050405020304" pitchFamily="18" charset="0"/>
                <a:ea typeface="宋体" panose="02010600030101010101" pitchFamily="2" charset="-122"/>
              </a:rPr>
              <a:t>G,</a:t>
            </a:r>
            <a:r>
              <a:rPr lang="en-US" altLang="zh-CN"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∘&gt;</a:t>
            </a:r>
            <a:r>
              <a:rPr lang="zh-CN" altLang="en-US"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中</a:t>
            </a:r>
            <a:r>
              <a:rPr lang="zh-CN" altLang="en-US" sz="1800" b="1" dirty="0">
                <a:solidFill>
                  <a:schemeClr val="tx1"/>
                </a:solidFill>
                <a:latin typeface="Times New Roman" panose="02020603050405020304" pitchFamily="18" charset="0"/>
                <a:ea typeface="宋体" panose="02010600030101010101" pitchFamily="2" charset="-122"/>
              </a:rPr>
              <a:t>有无穷多个元素</a:t>
            </a:r>
            <a:r>
              <a:rPr lang="en-US" altLang="zh-CN" sz="1800" b="1" dirty="0">
                <a:solidFill>
                  <a:schemeClr val="tx1"/>
                </a:solidFill>
                <a:latin typeface="Times New Roman" panose="02020603050405020304" pitchFamily="18" charset="0"/>
                <a:ea typeface="宋体" panose="02010600030101010101" pitchFamily="2" charset="-122"/>
              </a:rPr>
              <a:t>,</a:t>
            </a:r>
            <a:r>
              <a:rPr lang="zh-CN" altLang="en-US" sz="1800" b="1" dirty="0">
                <a:solidFill>
                  <a:schemeClr val="tx1"/>
                </a:solidFill>
                <a:latin typeface="Times New Roman" panose="02020603050405020304" pitchFamily="18" charset="0"/>
                <a:ea typeface="宋体" panose="02010600030101010101" pitchFamily="2" charset="-122"/>
              </a:rPr>
              <a:t>则称</a:t>
            </a:r>
            <a:r>
              <a:rPr lang="en-US" altLang="zh-CN" sz="1800" b="1" i="1" dirty="0">
                <a:solidFill>
                  <a:schemeClr val="tx1"/>
                </a:solidFill>
                <a:latin typeface="Times New Roman" panose="02020603050405020304" pitchFamily="18" charset="0"/>
                <a:ea typeface="宋体" panose="02010600030101010101" pitchFamily="2" charset="-122"/>
              </a:rPr>
              <a:t>G</a:t>
            </a:r>
            <a:r>
              <a:rPr lang="zh-CN" altLang="en-US" sz="1800" b="1" dirty="0">
                <a:solidFill>
                  <a:schemeClr val="tx1"/>
                </a:solidFill>
                <a:latin typeface="Times New Roman" panose="02020603050405020304" pitchFamily="18" charset="0"/>
                <a:ea typeface="宋体" panose="02010600030101010101" pitchFamily="2" charset="-122"/>
              </a:rPr>
              <a:t>是</a:t>
            </a:r>
            <a:r>
              <a:rPr lang="zh-CN" altLang="en-US" sz="1800" b="1" dirty="0">
                <a:solidFill>
                  <a:srgbClr val="FF3300"/>
                </a:solidFill>
                <a:latin typeface="Times New Roman" panose="02020603050405020304" pitchFamily="18" charset="0"/>
                <a:ea typeface="宋体" panose="02010600030101010101" pitchFamily="2" charset="-122"/>
              </a:rPr>
              <a:t>无限群</a:t>
            </a:r>
            <a:r>
              <a:rPr lang="en-US" altLang="zh-CN" sz="1800" b="1" dirty="0">
                <a:solidFill>
                  <a:schemeClr val="tx1"/>
                </a:solidFill>
                <a:latin typeface="Times New Roman" panose="02020603050405020304" pitchFamily="18" charset="0"/>
                <a:ea typeface="宋体" panose="02010600030101010101" pitchFamily="2" charset="-122"/>
              </a:rPr>
              <a:t>,</a:t>
            </a:r>
            <a:r>
              <a:rPr lang="zh-CN" altLang="en-US" sz="1800" b="1" dirty="0">
                <a:solidFill>
                  <a:schemeClr val="tx1"/>
                </a:solidFill>
                <a:latin typeface="Times New Roman" panose="02020603050405020304" pitchFamily="18" charset="0"/>
                <a:ea typeface="宋体" panose="02010600030101010101" pitchFamily="2" charset="-122"/>
              </a:rPr>
              <a:t>否则为</a:t>
            </a:r>
            <a:r>
              <a:rPr lang="zh-CN" altLang="en-US" sz="1800" b="1" dirty="0">
                <a:solidFill>
                  <a:srgbClr val="FF3300"/>
                </a:solidFill>
                <a:latin typeface="Times New Roman" panose="02020603050405020304" pitchFamily="18" charset="0"/>
                <a:ea typeface="宋体" panose="02010600030101010101" pitchFamily="2" charset="-122"/>
              </a:rPr>
              <a:t>有限群</a:t>
            </a:r>
            <a:r>
              <a:rPr lang="en-US" altLang="zh-CN" sz="1800" b="1" dirty="0">
                <a:solidFill>
                  <a:schemeClr val="tx1"/>
                </a:solidFill>
                <a:latin typeface="Times New Roman" panose="02020603050405020304" pitchFamily="18" charset="0"/>
                <a:ea typeface="宋体" panose="02010600030101010101" pitchFamily="2" charset="-122"/>
              </a:rPr>
              <a:t>. </a:t>
            </a:r>
          </a:p>
          <a:p>
            <a:pPr indent="0"/>
            <a:r>
              <a:rPr lang="en-US" altLang="zh-CN" sz="1800" b="1" dirty="0">
                <a:solidFill>
                  <a:schemeClr val="tx1"/>
                </a:solidFill>
                <a:latin typeface="Times New Roman" panose="02020603050405020304" pitchFamily="18" charset="0"/>
                <a:ea typeface="宋体" panose="02010600030101010101" pitchFamily="2" charset="-122"/>
              </a:rPr>
              <a:t>(3) </a:t>
            </a:r>
            <a:r>
              <a:rPr lang="zh-CN" altLang="en-US" sz="1800" b="1" dirty="0">
                <a:solidFill>
                  <a:schemeClr val="tx1"/>
                </a:solidFill>
                <a:latin typeface="Times New Roman" panose="02020603050405020304" pitchFamily="18" charset="0"/>
                <a:ea typeface="宋体" panose="02010600030101010101" pitchFamily="2" charset="-122"/>
              </a:rPr>
              <a:t>有限群群 </a:t>
            </a:r>
            <a:r>
              <a:rPr lang="en-US" altLang="zh-CN" sz="1800" b="1" dirty="0">
                <a:solidFill>
                  <a:schemeClr val="tx1"/>
                </a:solidFill>
                <a:latin typeface="Times New Roman" panose="02020603050405020304" pitchFamily="18" charset="0"/>
                <a:ea typeface="宋体" panose="02010600030101010101" pitchFamily="2" charset="-122"/>
              </a:rPr>
              <a:t>&lt;</a:t>
            </a:r>
            <a:r>
              <a:rPr lang="en-US" altLang="zh-CN" sz="1800" b="1" i="1" dirty="0">
                <a:solidFill>
                  <a:schemeClr val="tx1"/>
                </a:solidFill>
                <a:latin typeface="Times New Roman" panose="02020603050405020304" pitchFamily="18" charset="0"/>
                <a:ea typeface="宋体" panose="02010600030101010101" pitchFamily="2" charset="-122"/>
              </a:rPr>
              <a:t>G,</a:t>
            </a:r>
            <a:r>
              <a:rPr lang="en-US" altLang="zh-CN"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∘&gt;</a:t>
            </a:r>
            <a:r>
              <a:rPr lang="zh-CN" altLang="en-US" sz="1800" b="1" dirty="0">
                <a:solidFill>
                  <a:schemeClr val="tx1"/>
                </a:solidFill>
                <a:latin typeface="Times New Roman" panose="02020603050405020304" pitchFamily="18" charset="0"/>
                <a:ea typeface="宋体" panose="02010600030101010101" pitchFamily="2" charset="-122"/>
              </a:rPr>
              <a:t>中的元素个数称为群的</a:t>
            </a:r>
            <a:r>
              <a:rPr lang="zh-CN" altLang="en-US" sz="1800" b="1" dirty="0">
                <a:solidFill>
                  <a:srgbClr val="FF3300"/>
                </a:solidFill>
                <a:latin typeface="Times New Roman" panose="02020603050405020304" pitchFamily="18" charset="0"/>
                <a:ea typeface="宋体" panose="02010600030101010101" pitchFamily="2" charset="-122"/>
              </a:rPr>
              <a:t>阶</a:t>
            </a:r>
            <a:r>
              <a:rPr lang="en-US" altLang="zh-CN" sz="1800" b="1" dirty="0">
                <a:solidFill>
                  <a:schemeClr val="tx1"/>
                </a:solidFill>
                <a:latin typeface="Times New Roman" panose="02020603050405020304" pitchFamily="18" charset="0"/>
                <a:ea typeface="宋体" panose="02010600030101010101" pitchFamily="2" charset="-122"/>
              </a:rPr>
              <a:t>,</a:t>
            </a:r>
            <a:r>
              <a:rPr lang="zh-CN" altLang="en-US" sz="1800" b="1" dirty="0">
                <a:solidFill>
                  <a:schemeClr val="tx1"/>
                </a:solidFill>
                <a:latin typeface="Times New Roman" panose="02020603050405020304" pitchFamily="18" charset="0"/>
                <a:ea typeface="宋体" panose="02010600030101010101" pitchFamily="2" charset="-122"/>
              </a:rPr>
              <a:t>记作</a:t>
            </a:r>
            <a:r>
              <a:rPr lang="en-US" altLang="zh-CN" sz="1800" b="1" dirty="0">
                <a:solidFill>
                  <a:schemeClr val="tx1"/>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G</a:t>
            </a:r>
            <a:r>
              <a:rPr lang="en-US" altLang="zh-CN" sz="1800" b="1" dirty="0">
                <a:solidFill>
                  <a:schemeClr val="tx1"/>
                </a:solidFill>
                <a:latin typeface="Times New Roman" panose="02020603050405020304" pitchFamily="18" charset="0"/>
                <a:ea typeface="宋体" panose="02010600030101010101" pitchFamily="2" charset="-122"/>
              </a:rPr>
              <a:t>|. </a:t>
            </a:r>
          </a:p>
          <a:p>
            <a:pPr indent="0"/>
            <a:endParaRPr lang="en-US" altLang="zh-CN"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a:p>
            <a:r>
              <a:rPr lang="zh-CN" altLang="en-US" sz="2800" b="1" dirty="0">
                <a:solidFill>
                  <a:srgbClr val="00B0F0"/>
                </a:solidFill>
                <a:latin typeface="Times New Roman" panose="02020603050405020304" pitchFamily="18" charset="0"/>
                <a:cs typeface="Times New Roman" panose="02020603050405020304" pitchFamily="18" charset="0"/>
              </a:rPr>
              <a:t>例</a:t>
            </a:r>
            <a:r>
              <a:rPr lang="en-US" altLang="zh-CN" sz="2800" b="1" dirty="0">
                <a:solidFill>
                  <a:srgbClr val="00B0F0"/>
                </a:solidFill>
                <a:latin typeface="Times New Roman" panose="02020603050405020304" pitchFamily="18" charset="0"/>
                <a:cs typeface="Times New Roman" panose="02020603050405020304" pitchFamily="18" charset="0"/>
              </a:rPr>
              <a:t>1</a:t>
            </a:r>
            <a:r>
              <a:rPr lang="zh-CN" altLang="en-US" sz="2800" b="1" dirty="0">
                <a:solidFill>
                  <a:srgbClr val="00B0F0"/>
                </a:solidFill>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&lt;Z,+&gt; </a:t>
            </a:r>
            <a:r>
              <a:rPr lang="zh-CN" altLang="en-US" sz="2800" b="1" dirty="0">
                <a:latin typeface="Times New Roman" panose="02020603050405020304" pitchFamily="18" charset="0"/>
                <a:cs typeface="Times New Roman" panose="02020603050405020304" pitchFamily="18" charset="0"/>
              </a:rPr>
              <a:t>和 </a:t>
            </a:r>
            <a:r>
              <a:rPr lang="en-US" altLang="zh-CN" sz="2800" b="1" dirty="0">
                <a:latin typeface="Times New Roman" panose="02020603050405020304" pitchFamily="18" charset="0"/>
                <a:cs typeface="Times New Roman" panose="02020603050405020304" pitchFamily="18" charset="0"/>
              </a:rPr>
              <a:t>&lt;R,+&gt;</a:t>
            </a:r>
            <a:r>
              <a:rPr lang="zh-CN" altLang="en-US" sz="2800" b="1" dirty="0">
                <a:latin typeface="Times New Roman" panose="02020603050405020304" pitchFamily="18" charset="0"/>
                <a:cs typeface="Times New Roman" panose="02020603050405020304" pitchFamily="18" charset="0"/>
              </a:rPr>
              <a:t>是无限群</a:t>
            </a:r>
          </a:p>
          <a:p>
            <a:r>
              <a:rPr lang="zh-CN" altLang="en-US" sz="2800" b="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&lt;</a:t>
            </a:r>
            <a:r>
              <a:rPr lang="en-US" altLang="zh-CN" sz="2800" b="1" i="1" dirty="0">
                <a:latin typeface="Times New Roman" panose="02020603050405020304" pitchFamily="18" charset="0"/>
                <a:cs typeface="Times New Roman" panose="02020603050405020304" pitchFamily="18" charset="0"/>
              </a:rPr>
              <a:t>Z</a:t>
            </a:r>
            <a:r>
              <a:rPr lang="en-US" altLang="zh-CN" sz="2800" b="1" i="1" baseline="-25000" dirty="0">
                <a:latin typeface="Times New Roman" panose="02020603050405020304" pitchFamily="18" charset="0"/>
                <a:cs typeface="Times New Roman" panose="02020603050405020304" pitchFamily="18" charset="0"/>
              </a:rPr>
              <a:t>n</a:t>
            </a:r>
            <a:r>
              <a:rPr lang="en-US" altLang="zh-CN"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cs typeface="Times New Roman" panose="02020603050405020304" pitchFamily="18" charset="0"/>
              </a:rPr>
              <a:t>&gt;</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是有限群，也是 </a:t>
            </a:r>
            <a:r>
              <a:rPr lang="en-US" altLang="zh-CN" sz="2800" b="1" i="1" dirty="0">
                <a:latin typeface="Times New Roman" panose="02020603050405020304" pitchFamily="18" charset="0"/>
                <a:cs typeface="Times New Roman" panose="02020603050405020304" pitchFamily="18" charset="0"/>
                <a:sym typeface="Symbol" panose="05050102010706020507" pitchFamily="18" charset="2"/>
              </a:rPr>
              <a:t>n </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阶群 </a:t>
            </a:r>
          </a:p>
          <a:p>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Klein</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四元群是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4 </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阶群 </a:t>
            </a:r>
          </a:p>
          <a:p>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        上述群都是交换群</a:t>
            </a:r>
            <a:endParaRPr lang="en-US" altLang="zh-CN" sz="2800" b="1" dirty="0">
              <a:latin typeface="Times New Roman" panose="02020603050405020304" pitchFamily="18" charset="0"/>
              <a:cs typeface="Times New Roman" panose="02020603050405020304" pitchFamily="18" charset="0"/>
              <a:sym typeface="Symbol" panose="05050102010706020507" pitchFamily="18" charset="2"/>
            </a:endParaRPr>
          </a:p>
          <a:p>
            <a:endParaRPr lang="en-US" altLang="zh-CN" sz="2800" b="1" dirty="0">
              <a:solidFill>
                <a:srgbClr val="000066"/>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r>
              <a:rPr lang="zh-CN" altLang="en-US" sz="2800" b="1" dirty="0">
                <a:solidFill>
                  <a:srgbClr val="00B0F0"/>
                </a:solidFill>
                <a:latin typeface="Times New Roman" panose="02020603050405020304" pitchFamily="18" charset="0"/>
                <a:cs typeface="Times New Roman" panose="02020603050405020304" pitchFamily="18" charset="0"/>
              </a:rPr>
              <a:t>例</a:t>
            </a:r>
            <a:r>
              <a:rPr lang="en-US" altLang="zh-CN" sz="2800" b="1" dirty="0">
                <a:solidFill>
                  <a:srgbClr val="00B0F0"/>
                </a:solidFill>
                <a:latin typeface="Times New Roman" panose="02020603050405020304" pitchFamily="18" charset="0"/>
                <a:cs typeface="Times New Roman" panose="02020603050405020304" pitchFamily="18" charset="0"/>
              </a:rPr>
              <a:t>2</a:t>
            </a:r>
            <a:r>
              <a:rPr lang="zh-CN" altLang="en-US" sz="2800" b="1" dirty="0">
                <a:solidFill>
                  <a:srgbClr val="00B0F0"/>
                </a:solidFill>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sym typeface="Symbol" panose="05050102010706020507" pitchFamily="18" charset="2"/>
              </a:rPr>
              <a:t>n </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阶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≥2) </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实可逆矩阵集合关于矩阵乘法构成的群</a:t>
            </a:r>
          </a:p>
          <a:p>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   是</a:t>
            </a:r>
            <a:r>
              <a:rPr lang="zh-CN" altLang="en-US" sz="28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非交换群</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p>
          <a:p>
            <a:r>
              <a:rPr lang="zh-CN" altLang="en-US" sz="2800" b="1" dirty="0">
                <a:solidFill>
                  <a:srgbClr val="00B0F0"/>
                </a:solidFill>
                <a:latin typeface="Times New Roman" panose="02020603050405020304" pitchFamily="18" charset="0"/>
                <a:cs typeface="Times New Roman" panose="02020603050405020304" pitchFamily="18" charset="0"/>
                <a:sym typeface="Symbol" panose="05050102010706020507" pitchFamily="18" charset="2"/>
              </a:rPr>
              <a:t>注：</a:t>
            </a:r>
            <a:r>
              <a:rPr lang="zh-CN" altLang="en-US" sz="2800" b="1" dirty="0">
                <a:latin typeface="Times New Roman" panose="02020603050405020304" pitchFamily="18" charset="0"/>
                <a:cs typeface="Times New Roman" panose="02020603050405020304" pitchFamily="18" charset="0"/>
                <a:sym typeface="Symbol" panose="05050102010706020507" pitchFamily="18" charset="2"/>
              </a:rPr>
              <a:t>①</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两个</a:t>
            </a:r>
            <a:r>
              <a:rPr lang="en-US" altLang="zh-CN" sz="28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kern="100" dirty="0" err="1">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err="1">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可逆矩阵</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乘积</a:t>
            </a:r>
            <a:r>
              <a:rPr lang="en-US" altLang="zh-CN" sz="28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AB</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也是</a:t>
            </a:r>
            <a:r>
              <a:rPr lang="en-US" altLang="zh-CN" sz="2800" b="1" i="1" kern="100"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kern="100"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可逆矩阵</a:t>
            </a:r>
            <a:r>
              <a:rPr lang="en-US"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b="1" kern="100" dirty="0">
                <a:effectLst/>
                <a:latin typeface="Times New Roman" panose="02020603050405020304" pitchFamily="18" charset="0"/>
                <a:ea typeface="楷体" panose="02010609060101010101" pitchFamily="49" charset="-122"/>
                <a:cs typeface="Times New Roman" panose="02020603050405020304" pitchFamily="18" charset="0"/>
              </a:rPr>
              <a:t>②</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矩阵乘法是结合的</a:t>
            </a:r>
            <a:r>
              <a:rPr lang="en-US"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③</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任意</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kern="100" dirty="0" err="1">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可逆矩阵</a:t>
            </a:r>
            <a:r>
              <a:rPr lang="en-US" altLang="zh-CN" sz="28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有</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单位矩阵</a:t>
            </a:r>
            <a:r>
              <a:rPr lang="en-US" altLang="zh-CN" sz="28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I</a:t>
            </a:r>
            <a:r>
              <a:rPr lang="en-US" altLang="zh-CN" sz="28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;④</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每个</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kern="100" dirty="0" err="1">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zh-CN" altLang="zh-CN" sz="2800" b="1"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的可逆矩阵</a:t>
            </a:r>
            <a:r>
              <a:rPr lang="en-US" altLang="zh-CN" sz="28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en-US" sz="2800" b="1" kern="100" dirty="0">
                <a:effectLst/>
                <a:latin typeface="Times New Roman" panose="02020603050405020304" pitchFamily="18" charset="0"/>
                <a:ea typeface="楷体" panose="02010609060101010101" pitchFamily="49" charset="-122"/>
                <a:cs typeface="Times New Roman" panose="02020603050405020304" pitchFamily="18" charset="0"/>
              </a:rPr>
              <a:t>都</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存在一个逆矩阵</a:t>
            </a:r>
            <a:r>
              <a:rPr lang="en-US" altLang="zh-CN" sz="28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a:t>
            </a:r>
            <a:r>
              <a:rPr lang="en-US" altLang="zh-CN" sz="2800" b="1" kern="100" baseline="300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a:t>
            </a:r>
            <a:r>
              <a:rPr lang="en-US" altLang="zh-CN" sz="28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⑤</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两个</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kern="100" dirty="0" err="1">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err="1">
                <a:latin typeface="Times New Roman" panose="02020603050405020304" pitchFamily="18" charset="0"/>
                <a:ea typeface="楷体" panose="02010609060101010101" pitchFamily="49" charset="-122"/>
                <a:cs typeface="Times New Roman" panose="02020603050405020304" pitchFamily="18" charset="0"/>
              </a:rPr>
              <a:t>n</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实可逆矩阵</a:t>
            </a:r>
            <a:r>
              <a:rPr lang="en-US" altLang="zh-CN" sz="2800" b="1" i="1" kern="100" dirty="0">
                <a:effectLst/>
                <a:latin typeface="Times New Roman" panose="02020603050405020304" pitchFamily="18" charset="0"/>
                <a:ea typeface="楷体" panose="02010609060101010101" pitchFamily="49" charset="-122"/>
                <a:cs typeface="Times New Roman" panose="02020603050405020304" pitchFamily="18" charset="0"/>
              </a:rPr>
              <a:t>A</a:t>
            </a:r>
            <a:r>
              <a:rPr lang="zh-CN" altLang="en-US"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a:effectLst/>
                <a:latin typeface="Times New Roman" panose="02020603050405020304" pitchFamily="18" charset="0"/>
                <a:ea typeface="楷体" panose="02010609060101010101" pitchFamily="49" charset="-122"/>
                <a:cs typeface="Times New Roman" panose="02020603050405020304" pitchFamily="18" charset="0"/>
              </a:rPr>
              <a:t>B</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，通常</a:t>
            </a:r>
            <a:r>
              <a:rPr lang="en-US" altLang="zh-CN" sz="2800" b="1" i="1" kern="100" dirty="0">
                <a:effectLst/>
                <a:latin typeface="Times New Roman" panose="02020603050405020304" pitchFamily="18" charset="0"/>
                <a:ea typeface="楷体" panose="02010609060101010101" pitchFamily="49" charset="-122"/>
                <a:cs typeface="Times New Roman" panose="02020603050405020304" pitchFamily="18" charset="0"/>
              </a:rPr>
              <a:t>AB</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kern="100" dirty="0">
                <a:effectLst/>
                <a:latin typeface="Times New Roman" panose="02020603050405020304" pitchFamily="18" charset="0"/>
                <a:ea typeface="楷体" panose="02010609060101010101" pitchFamily="49" charset="-122"/>
                <a:cs typeface="Times New Roman" panose="02020603050405020304" pitchFamily="18" charset="0"/>
              </a:rPr>
              <a:t>BA</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非交换性</a:t>
            </a:r>
            <a:r>
              <a:rPr lang="en-US" altLang="zh-CN" sz="2800" b="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b="1" dirty="0">
              <a:solidFill>
                <a:srgbClr val="00B0F0"/>
              </a:solidFill>
              <a:latin typeface="Times New Roman" panose="02020603050405020304" pitchFamily="18" charset="0"/>
              <a:cs typeface="Times New Roman" panose="02020603050405020304" pitchFamily="18" charset="0"/>
              <a:sym typeface="Symbol" panose="05050102010706020507" pitchFamily="18" charset="2"/>
            </a:endParaRPr>
          </a:p>
          <a:p>
            <a:endParaRPr lang="en-US" altLang="zh-CN" sz="2800" dirty="0">
              <a:solidFill>
                <a:srgbClr val="000066"/>
              </a:solidFill>
              <a:ea typeface="宋体" panose="02010600030101010101" pitchFamily="2" charset="-122"/>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73</a:t>
            </a:fld>
            <a:endParaRPr lang="zh-CN" altLang="en-US"/>
          </a:p>
        </p:txBody>
      </p:sp>
    </p:spTree>
    <p:extLst>
      <p:ext uri="{BB962C8B-B14F-4D97-AF65-F5344CB8AC3E}">
        <p14:creationId xmlns:p14="http://schemas.microsoft.com/office/powerpoint/2010/main" val="21628816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0000"/>
              </a:lnSpc>
            </a:pPr>
            <a:r>
              <a:rPr lang="zh-CN" altLang="en-US"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定义：</a:t>
            </a:r>
            <a:r>
              <a:rPr lang="zh-CN" altLang="en-US" sz="12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设</a:t>
            </a:r>
            <a:r>
              <a:rPr lang="en-US" altLang="zh-CN" sz="12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2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是群，运算为</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元素</a:t>
            </a:r>
            <a:r>
              <a:rPr lang="en-US" altLang="zh-CN" sz="12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12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 </a:t>
            </a:r>
            <a:r>
              <a:rPr lang="en-US" altLang="zh-CN" sz="1200" b="1" i="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x </a:t>
            </a:r>
            <a:r>
              <a:rPr lang="zh-CN" altLang="en-US" sz="12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的</a:t>
            </a:r>
            <a:r>
              <a:rPr lang="zh-CN" altLang="en-US" sz="12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n </a:t>
            </a:r>
            <a:r>
              <a:rPr lang="zh-CN" altLang="en-US" sz="12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次幂</a:t>
            </a:r>
            <a:r>
              <a:rPr lang="zh-CN" altLang="en-US" sz="12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baseline="300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200" b="1" i="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定义为</a:t>
            </a:r>
            <a:r>
              <a:rPr lang="en-US" altLang="zh-CN" sz="12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p>
            <a:pPr indent="266700" algn="l">
              <a:lnSpc>
                <a:spcPct val="110000"/>
              </a:lnSpc>
            </a:pP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对于正整数 </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n+1</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kern="100" baseline="300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endPar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l">
              <a:lnSpc>
                <a:spcPct val="110000"/>
              </a:lnSpc>
            </a:pP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对于零，</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baseline="30000" dirty="0">
                <a:effectLst/>
                <a:latin typeface="Times New Roman" panose="02020603050405020304" pitchFamily="18" charset="0"/>
                <a:ea typeface="宋体" panose="02010600030101010101" pitchFamily="2" charset="-122"/>
                <a:cs typeface="Times New Roman" panose="02020603050405020304" pitchFamily="18" charset="0"/>
              </a:rPr>
              <a:t>0</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e </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kern="100" dirty="0">
                <a:effectLst/>
                <a:latin typeface="Times New Roman" panose="02020603050405020304" pitchFamily="18" charset="0"/>
                <a:ea typeface="宋体" panose="02010600030101010101" pitchFamily="2" charset="-122"/>
                <a:cs typeface="Times New Roman" panose="02020603050405020304" pitchFamily="18" charset="0"/>
              </a:rPr>
              <a:t>单位元</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l">
              <a:lnSpc>
                <a:spcPct val="110000"/>
              </a:lnSpc>
            </a:pP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对于负整数 </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baseline="30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kern="100" baseline="30000" dirty="0">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n</a:t>
            </a:r>
            <a:endParaRPr lang="zh-CN" altLang="zh-CN" sz="1200" b="1"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pPr>
            <a:r>
              <a:rPr lang="en-US" altLang="zh-CN"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i="1" kern="100" baseline="30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200" b="1" i="1" kern="100" baseline="30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 </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在群 </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G</a:t>
            </a:r>
            <a:r>
              <a:rPr lang="zh-CN"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中的逆元，即满足 </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x⋅x</a:t>
            </a:r>
            <a:r>
              <a:rPr lang="en-US" altLang="zh-CN" sz="1200" b="1" kern="100" baseline="30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e</a:t>
            </a:r>
          </a:p>
          <a:p>
            <a:r>
              <a:rPr lang="zh-CN" altLang="en-US" sz="1200" b="1" dirty="0">
                <a:solidFill>
                  <a:srgbClr val="00B0F0"/>
                </a:solidFill>
                <a:latin typeface="Times New Roman" panose="02020603050405020304" pitchFamily="18" charset="0"/>
                <a:ea typeface="宋体" panose="02010600030101010101" pitchFamily="2" charset="-122"/>
              </a:rPr>
              <a:t>实例：</a:t>
            </a:r>
            <a:r>
              <a:rPr lang="zh-CN" altLang="en-US" sz="1200" b="1" dirty="0">
                <a:solidFill>
                  <a:srgbClr val="000066"/>
                </a:solidFill>
                <a:latin typeface="Times New Roman" panose="02020603050405020304" pitchFamily="18" charset="0"/>
                <a:ea typeface="宋体" panose="02010600030101010101" pitchFamily="2" charset="-122"/>
              </a:rPr>
              <a:t> </a:t>
            </a:r>
          </a:p>
          <a:p>
            <a:pPr eaLnBrk="0" hangingPunct="0">
              <a:spcBef>
                <a:spcPct val="20000"/>
              </a:spcBef>
            </a:pPr>
            <a:r>
              <a:rPr lang="zh-CN" altLang="en-US"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在</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Z</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&gt;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中有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3</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3</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1=0 </a:t>
            </a:r>
          </a:p>
          <a:p>
            <a:pPr eaLnBrk="0" hangingPunct="0">
              <a:spcBef>
                <a:spcPct val="20000"/>
              </a:spcBef>
            </a:pP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（模</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加法群的单位元是</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 </a:t>
            </a: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元素</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的逆元是</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b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br>
            <a:endPar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0" hangingPunct="0"/>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在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&lt;Z,+&gt;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中有   </a:t>
            </a:r>
            <a:r>
              <a:rPr lang="zh-CN" altLang="en-US"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3</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3</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=2+2+2=6 </a:t>
            </a:r>
          </a:p>
          <a:p>
            <a:pPr eaLnBrk="0" hangingPunct="0"/>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（整数加法群的单位元是</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 </a:t>
            </a: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元素</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的逆元是</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r>
              <a:rPr lang="zh-CN" altLang="en-US" sz="1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在整数乘法法群</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&lt;Z, ·&gt;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中，</a:t>
            </a:r>
            <a:r>
              <a:rPr lang="zh-CN" altLang="en-US"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1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600" dirty="0"/>
              <a:t> </a:t>
            </a:r>
            <a:r>
              <a:rPr lang="en-US" altLang="zh-CN" sz="1600" dirty="0" err="1"/>
              <a:t>x∈G</a:t>
            </a:r>
            <a:r>
              <a:rPr lang="en-US" altLang="zh-CN" sz="1600" dirty="0"/>
              <a:t>, </a:t>
            </a:r>
            <a:r>
              <a:rPr lang="en-US" altLang="zh-CN" sz="1600" dirty="0" err="1"/>
              <a:t>n∈Zn</a:t>
            </a:r>
            <a:r>
              <a:rPr lang="en-US" altLang="zh-CN" sz="1600" dirty="0"/>
              <a:t> \in \</a:t>
            </a:r>
            <a:r>
              <a:rPr lang="en-US" altLang="zh-CN" sz="1600" dirty="0" err="1"/>
              <a:t>mathbb</a:t>
            </a:r>
            <a:r>
              <a:rPr lang="en-US" altLang="zh-CN" sz="1600" dirty="0"/>
              <a:t>{Z}</a:t>
            </a:r>
            <a:r>
              <a:rPr lang="en-US" altLang="zh-CN" sz="1600" dirty="0" err="1"/>
              <a:t>n∈Z</a:t>
            </a:r>
            <a:r>
              <a:rPr lang="en-US" altLang="zh-CN" sz="1600" dirty="0"/>
              <a:t>.</a:t>
            </a:r>
            <a:endParaRPr lang="zh-CN" altLang="en-US" sz="1100" dirty="0">
              <a:latin typeface="Times New Roman" panose="02020603050405020304" pitchFamily="18" charset="0"/>
              <a:cs typeface="Times New Roman" panose="02020603050405020304" pitchFamily="18" charset="0"/>
            </a:endParaRPr>
          </a:p>
          <a:p>
            <a:pPr eaLnBrk="0" hangingPunct="0"/>
            <a:endPar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lnSpc>
                <a:spcPct val="110000"/>
              </a:lnSpc>
            </a:pPr>
            <a:endPar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74</a:t>
            </a:fld>
            <a:endParaRPr lang="zh-CN" altLang="en-US"/>
          </a:p>
        </p:txBody>
      </p:sp>
    </p:spTree>
    <p:extLst>
      <p:ext uri="{BB962C8B-B14F-4D97-AF65-F5344CB8AC3E}">
        <p14:creationId xmlns:p14="http://schemas.microsoft.com/office/powerpoint/2010/main" val="40617652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元素的阶反映了如何通过重复的群操作返回到单位元，有助于理解群的结构和元素的分布。</a:t>
            </a:r>
            <a:endParaRPr lang="en-US" altLang="zh-CN" dirty="0"/>
          </a:p>
          <a:p>
            <a:endParaRPr lang="en-US" altLang="zh-CN" dirty="0"/>
          </a:p>
          <a:p>
            <a:pPr eaLnBrk="1" hangingPunct="1">
              <a:lnSpc>
                <a:spcPct val="110000"/>
              </a:lnSpc>
              <a:buFontTx/>
              <a:buNone/>
            </a:pPr>
            <a:r>
              <a:rPr lang="zh-CN" altLang="en-US" sz="1200" b="1" dirty="0">
                <a:solidFill>
                  <a:srgbClr val="FF3300"/>
                </a:solidFill>
              </a:rPr>
              <a:t>定义</a:t>
            </a:r>
            <a:r>
              <a:rPr lang="en-US" altLang="zh-CN" sz="1200" b="1" dirty="0">
                <a:solidFill>
                  <a:srgbClr val="FF3300"/>
                </a:solidFill>
              </a:rPr>
              <a:t>:</a:t>
            </a:r>
            <a:r>
              <a:rPr lang="en-US" altLang="zh-CN" sz="1200" b="1" dirty="0"/>
              <a: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是群，</a:t>
            </a:r>
            <a:r>
              <a:rPr lang="en-US" altLang="zh-CN" sz="1200" b="1" i="1" dirty="0" err="1">
                <a:latin typeface="Times New Roman" panose="02020603050405020304" pitchFamily="18" charset="0"/>
                <a:cs typeface="Times New Roman" panose="02020603050405020304" pitchFamily="18" charset="0"/>
              </a:rPr>
              <a:t>x</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，使得等式 </a:t>
            </a:r>
            <a:r>
              <a:rPr lang="en-US" altLang="zh-CN" sz="1200" b="1" i="1" dirty="0" err="1">
                <a:latin typeface="Times New Roman" panose="02020603050405020304" pitchFamily="18" charset="0"/>
                <a:cs typeface="Times New Roman" panose="02020603050405020304" pitchFamily="18" charset="0"/>
              </a:rPr>
              <a:t>x</a:t>
            </a:r>
            <a:r>
              <a:rPr lang="en-US" altLang="zh-CN" sz="1200" b="1" i="1" baseline="30000" dirty="0" err="1">
                <a:latin typeface="Times New Roman" panose="02020603050405020304" pitchFamily="18" charset="0"/>
                <a:cs typeface="Times New Roman" panose="02020603050405020304" pitchFamily="18" charset="0"/>
              </a:rPr>
              <a:t>k</a:t>
            </a:r>
            <a:r>
              <a:rPr lang="en-US" altLang="zh-CN" sz="1200" b="1" i="1" baseline="30000"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e </a:t>
            </a:r>
            <a:r>
              <a:rPr lang="zh-CN" altLang="en-US" sz="1200" b="1" dirty="0">
                <a:latin typeface="Times New Roman" panose="02020603050405020304" pitchFamily="18" charset="0"/>
                <a:cs typeface="Times New Roman" panose="02020603050405020304" pitchFamily="18" charset="0"/>
              </a:rPr>
              <a:t>成立的最小</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正整数 </a:t>
            </a:r>
            <a:r>
              <a:rPr lang="en-US" altLang="zh-CN" sz="1200" b="1" i="1" dirty="0">
                <a:latin typeface="Times New Roman" panose="02020603050405020304" pitchFamily="18" charset="0"/>
                <a:cs typeface="Times New Roman" panose="02020603050405020304" pitchFamily="18" charset="0"/>
              </a:rPr>
              <a:t>k </a:t>
            </a:r>
            <a:r>
              <a:rPr lang="zh-CN" altLang="en-US" sz="1200" b="1" dirty="0">
                <a:latin typeface="Times New Roman" panose="02020603050405020304" pitchFamily="18" charset="0"/>
                <a:cs typeface="Times New Roman" panose="02020603050405020304" pitchFamily="18" charset="0"/>
              </a:rPr>
              <a:t>称为 </a:t>
            </a:r>
            <a:r>
              <a:rPr lang="en-US" altLang="zh-CN" sz="1200" b="1" i="1" dirty="0">
                <a:latin typeface="Times New Roman" panose="02020603050405020304" pitchFamily="18" charset="0"/>
                <a:cs typeface="Times New Roman" panose="02020603050405020304" pitchFamily="18" charset="0"/>
              </a:rPr>
              <a:t>x </a:t>
            </a:r>
            <a:r>
              <a:rPr lang="zh-CN" altLang="en-US" sz="1200" b="1" dirty="0">
                <a:latin typeface="Times New Roman" panose="02020603050405020304" pitchFamily="18" charset="0"/>
                <a:cs typeface="Times New Roman" panose="02020603050405020304" pitchFamily="18" charset="0"/>
              </a:rPr>
              <a:t>的</a:t>
            </a:r>
            <a:r>
              <a:rPr lang="zh-CN" altLang="en-US" sz="1200" b="1" dirty="0">
                <a:solidFill>
                  <a:srgbClr val="FF3300"/>
                </a:solidFill>
                <a:latin typeface="Times New Roman" panose="02020603050405020304" pitchFamily="18" charset="0"/>
                <a:cs typeface="Times New Roman" panose="02020603050405020304" pitchFamily="18" charset="0"/>
              </a:rPr>
              <a:t>阶</a:t>
            </a:r>
            <a:r>
              <a:rPr lang="en-US" altLang="zh-CN" sz="1200" b="1" dirty="0">
                <a:solidFill>
                  <a:srgbClr val="FF3300"/>
                </a:solidFill>
                <a:latin typeface="Times New Roman" panose="02020603050405020304" pitchFamily="18" charset="0"/>
                <a:cs typeface="Times New Roman" panose="02020603050405020304" pitchFamily="18" charset="0"/>
              </a:rPr>
              <a:t>(</a:t>
            </a:r>
            <a:r>
              <a:rPr lang="zh-CN" altLang="en-US" sz="1200" b="1" dirty="0">
                <a:solidFill>
                  <a:srgbClr val="FF3300"/>
                </a:solidFill>
                <a:latin typeface="Times New Roman" panose="02020603050405020304" pitchFamily="18" charset="0"/>
                <a:cs typeface="Times New Roman" panose="02020603050405020304" pitchFamily="18" charset="0"/>
              </a:rPr>
              <a:t>或周期</a:t>
            </a:r>
            <a:r>
              <a:rPr lang="en-US" altLang="zh-CN" sz="1200" b="1" dirty="0">
                <a:solidFill>
                  <a:srgbClr val="FF3300"/>
                </a:solidFill>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记作 </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 = </a:t>
            </a:r>
            <a:r>
              <a:rPr lang="en-US" altLang="zh-CN" sz="1200" b="1" i="1" dirty="0">
                <a:latin typeface="Times New Roman" panose="02020603050405020304" pitchFamily="18" charset="0"/>
                <a:cs typeface="Times New Roman" panose="02020603050405020304" pitchFamily="18" charset="0"/>
              </a:rPr>
              <a:t>k</a:t>
            </a:r>
            <a:r>
              <a:rPr lang="zh-CN" altLang="en-US" sz="1200" b="1" dirty="0">
                <a:latin typeface="Times New Roman" panose="02020603050405020304" pitchFamily="18" charset="0"/>
                <a:cs typeface="Times New Roman" panose="02020603050405020304" pitchFamily="18" charset="0"/>
              </a:rPr>
              <a:t>，称 </a:t>
            </a:r>
            <a:r>
              <a:rPr lang="en-US" altLang="zh-CN" sz="1200" b="1" i="1" dirty="0">
                <a:latin typeface="Times New Roman" panose="02020603050405020304" pitchFamily="18" charset="0"/>
                <a:cs typeface="Times New Roman" panose="02020603050405020304" pitchFamily="18" charset="0"/>
              </a:rPr>
              <a:t>x</a:t>
            </a:r>
            <a:r>
              <a:rPr lang="zh-CN" altLang="en-US" sz="1200" b="1" dirty="0">
                <a:latin typeface="Times New Roman" panose="02020603050405020304" pitchFamily="18" charset="0"/>
                <a:cs typeface="Times New Roman" panose="02020603050405020304" pitchFamily="18" charset="0"/>
              </a:rPr>
              <a:t>为 </a:t>
            </a:r>
            <a:r>
              <a:rPr lang="en-US" altLang="zh-CN" sz="1200" b="1" i="1" dirty="0">
                <a:solidFill>
                  <a:srgbClr val="FF3300"/>
                </a:solidFill>
                <a:latin typeface="Times New Roman" panose="02020603050405020304" pitchFamily="18" charset="0"/>
                <a:cs typeface="Times New Roman" panose="02020603050405020304" pitchFamily="18" charset="0"/>
              </a:rPr>
              <a:t>k </a:t>
            </a:r>
          </a:p>
          <a:p>
            <a:pPr eaLnBrk="1" hangingPunct="1">
              <a:lnSpc>
                <a:spcPct val="11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阶元</a:t>
            </a:r>
            <a:r>
              <a:rPr lang="en-US" altLang="zh-CN" sz="1200" b="1" dirty="0">
                <a:solidFill>
                  <a:srgbClr val="FF3300"/>
                </a:solidFill>
                <a:latin typeface="Times New Roman" panose="02020603050405020304" pitchFamily="18" charset="0"/>
                <a:cs typeface="Times New Roman" panose="02020603050405020304" pitchFamily="18" charset="0"/>
              </a:rPr>
              <a:t>(</a:t>
            </a:r>
            <a:r>
              <a:rPr lang="zh-CN" altLang="en-US" sz="1200" b="1" dirty="0">
                <a:solidFill>
                  <a:srgbClr val="FF3300"/>
                </a:solidFill>
                <a:latin typeface="Times New Roman" panose="02020603050405020304" pitchFamily="18" charset="0"/>
                <a:cs typeface="Times New Roman" panose="02020603050405020304" pitchFamily="18" charset="0"/>
              </a:rPr>
              <a:t>也称为</a:t>
            </a:r>
            <a:r>
              <a:rPr lang="en-US" altLang="zh-CN" sz="1200" b="1" i="1" dirty="0">
                <a:solidFill>
                  <a:srgbClr val="FF3300"/>
                </a:solidFill>
                <a:latin typeface="Times New Roman" panose="02020603050405020304" pitchFamily="18" charset="0"/>
                <a:cs typeface="Times New Roman" panose="02020603050405020304" pitchFamily="18" charset="0"/>
              </a:rPr>
              <a:t>k</a:t>
            </a:r>
            <a:r>
              <a:rPr lang="zh-CN" altLang="en-US" sz="1200" b="1" dirty="0">
                <a:solidFill>
                  <a:srgbClr val="FF3300"/>
                </a:solidFill>
                <a:latin typeface="Times New Roman" panose="02020603050405020304" pitchFamily="18" charset="0"/>
                <a:cs typeface="Times New Roman" panose="02020603050405020304" pitchFamily="18" charset="0"/>
              </a:rPr>
              <a:t>次幂</a:t>
            </a:r>
            <a:r>
              <a:rPr lang="en-US" altLang="zh-CN" sz="1200" b="1" dirty="0">
                <a:solidFill>
                  <a:srgbClr val="FF3300"/>
                </a:solidFill>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若不存在这样的正整数</a:t>
            </a:r>
            <a:r>
              <a:rPr lang="en-US" altLang="zh-CN" sz="1200" b="1" i="1" dirty="0">
                <a:latin typeface="Times New Roman" panose="02020603050405020304" pitchFamily="18" charset="0"/>
                <a:cs typeface="Times New Roman" panose="02020603050405020304" pitchFamily="18" charset="0"/>
              </a:rPr>
              <a:t>k</a:t>
            </a:r>
            <a:r>
              <a:rPr lang="zh-CN" altLang="en-US" sz="1200" b="1" dirty="0">
                <a:latin typeface="Times New Roman" panose="02020603050405020304" pitchFamily="18" charset="0"/>
                <a:cs typeface="Times New Roman" panose="02020603050405020304" pitchFamily="18" charset="0"/>
              </a:rPr>
              <a:t>，则称 </a:t>
            </a:r>
            <a:r>
              <a:rPr lang="en-US" altLang="zh-CN" sz="1200" b="1" i="1" dirty="0">
                <a:latin typeface="Times New Roman" panose="02020603050405020304" pitchFamily="18" charset="0"/>
                <a:cs typeface="Times New Roman" panose="02020603050405020304" pitchFamily="18" charset="0"/>
              </a:rPr>
              <a:t>x </a:t>
            </a:r>
            <a:r>
              <a:rPr lang="zh-CN" altLang="en-US" sz="1200" b="1" dirty="0">
                <a:latin typeface="Times New Roman" panose="02020603050405020304" pitchFamily="18" charset="0"/>
                <a:cs typeface="Times New Roman" panose="02020603050405020304" pitchFamily="18" charset="0"/>
              </a:rPr>
              <a:t>为</a:t>
            </a:r>
            <a:r>
              <a:rPr lang="zh-CN" altLang="en-US" sz="1200" b="1" dirty="0">
                <a:solidFill>
                  <a:srgbClr val="FF3300"/>
                </a:solidFill>
                <a:latin typeface="Times New Roman" panose="02020603050405020304" pitchFamily="18" charset="0"/>
                <a:cs typeface="Times New Roman" panose="02020603050405020304" pitchFamily="18" charset="0"/>
              </a:rPr>
              <a:t>无限阶元</a:t>
            </a:r>
            <a:r>
              <a:rPr lang="en-US" altLang="zh-CN" sz="1200" b="1" dirty="0"/>
              <a:t>.</a:t>
            </a:r>
          </a:p>
          <a:p>
            <a:pPr eaLnBrk="1" hangingPunct="1">
              <a:lnSpc>
                <a:spcPct val="110000"/>
              </a:lnSpc>
              <a:buFontTx/>
              <a:buNone/>
            </a:pPr>
            <a:r>
              <a:rPr lang="en-US" altLang="zh-CN" sz="1200" b="1" dirty="0"/>
              <a:t>   </a:t>
            </a:r>
            <a:r>
              <a:rPr lang="zh-CN" altLang="en-US" sz="1100" b="1" dirty="0">
                <a:solidFill>
                  <a:srgbClr val="00B0F0"/>
                </a:solidFill>
                <a:latin typeface="Times New Roman" panose="02020603050405020304" pitchFamily="18" charset="0"/>
                <a:cs typeface="Times New Roman" panose="02020603050405020304" pitchFamily="18" charset="0"/>
              </a:rPr>
              <a:t>注</a:t>
            </a:r>
            <a:r>
              <a:rPr lang="en-US" altLang="zh-CN" sz="1100" b="1" dirty="0">
                <a:solidFill>
                  <a:srgbClr val="00B0F0"/>
                </a:solidFill>
                <a:latin typeface="Times New Roman" panose="02020603050405020304" pitchFamily="18" charset="0"/>
                <a:cs typeface="Times New Roman" panose="02020603050405020304" pitchFamily="18" charset="0"/>
              </a:rPr>
              <a:t>: </a:t>
            </a:r>
            <a:r>
              <a:rPr lang="zh-CN" altLang="en-US" sz="1100" b="1" dirty="0">
                <a:latin typeface="Times New Roman" panose="02020603050405020304" pitchFamily="18" charset="0"/>
                <a:cs typeface="Times New Roman" panose="02020603050405020304" pitchFamily="18" charset="0"/>
              </a:rPr>
              <a:t>  </a:t>
            </a:r>
            <a:r>
              <a:rPr lang="zh-CN" altLang="en-US" sz="1100" b="1" dirty="0">
                <a:latin typeface="Calibri" panose="020F0502020204030204" pitchFamily="34" charset="0"/>
                <a:cs typeface="Calibri" panose="020F0502020204030204" pitchFamily="34" charset="0"/>
              </a:rPr>
              <a:t>①</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元素的阶反映了通过</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k</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次重复的群操作，元素</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返回到幺元</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e </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；②任何群</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中的幺元</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e</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的阶都是</a:t>
            </a:r>
            <a:r>
              <a:rPr lang="en-US" altLang="zh-CN" sz="1100" b="1" dirty="0">
                <a:latin typeface="Times New Roman" panose="02020603050405020304" pitchFamily="18" charset="0"/>
                <a:ea typeface="楷体" panose="02010609060101010101" pitchFamily="49" charset="-122"/>
                <a:cs typeface="Times New Roman" panose="02020603050405020304" pitchFamily="18" charset="0"/>
              </a:rPr>
              <a:t>1</a:t>
            </a:r>
          </a:p>
          <a:p>
            <a:pPr eaLnBrk="1" hangingPunct="1">
              <a:lnSpc>
                <a:spcPct val="110000"/>
              </a:lnSpc>
              <a:buFontTx/>
              <a:buNone/>
            </a:pPr>
            <a:endParaRPr lang="en-US" altLang="zh-CN" sz="11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10000"/>
              </a:lnSpc>
              <a:buFontTx/>
              <a:buNone/>
            </a:pPr>
            <a:r>
              <a:rPr lang="zh-CN" altLang="en-US" sz="1100" b="1" dirty="0">
                <a:solidFill>
                  <a:srgbClr val="00B0F0"/>
                </a:solidFill>
                <a:latin typeface="Times New Roman" panose="02020603050405020304" pitchFamily="18" charset="0"/>
                <a:cs typeface="Times New Roman" panose="02020603050405020304" pitchFamily="18" charset="0"/>
              </a:rPr>
              <a:t>实例</a:t>
            </a:r>
            <a:r>
              <a:rPr lang="en-US" altLang="zh-CN" sz="1100" b="1" dirty="0">
                <a:solidFill>
                  <a:srgbClr val="00B0F0"/>
                </a:solidFill>
                <a:latin typeface="Times New Roman" panose="02020603050405020304" pitchFamily="18" charset="0"/>
                <a:cs typeface="Times New Roman" panose="02020603050405020304" pitchFamily="18" charset="0"/>
              </a:rPr>
              <a:t>:</a:t>
            </a:r>
            <a:r>
              <a:rPr lang="zh-CN" altLang="en-US" sz="1100" b="1" dirty="0">
                <a:latin typeface="Times New Roman" panose="02020603050405020304" pitchFamily="18" charset="0"/>
                <a:cs typeface="Times New Roman" panose="02020603050405020304" pitchFamily="18" charset="0"/>
              </a:rPr>
              <a:t>  </a:t>
            </a:r>
          </a:p>
          <a:p>
            <a:pPr eaLnBrk="1" hangingPunct="1">
              <a:lnSpc>
                <a:spcPct val="110000"/>
              </a:lnSpc>
              <a:buFontTx/>
              <a:buNone/>
            </a:pPr>
            <a:r>
              <a:rPr lang="en-US" altLang="zh-CN" sz="1100" b="1" dirty="0">
                <a:latin typeface="Times New Roman" panose="02020603050405020304" pitchFamily="18" charset="0"/>
                <a:cs typeface="Times New Roman" panose="02020603050405020304" pitchFamily="18" charset="0"/>
              </a:rPr>
              <a:t>(1)</a:t>
            </a:r>
            <a:r>
              <a:rPr lang="zh-CN" altLang="en-US" sz="1100" b="1" dirty="0">
                <a:latin typeface="Times New Roman" panose="02020603050405020304" pitchFamily="18" charset="0"/>
                <a:cs typeface="Times New Roman" panose="02020603050405020304" pitchFamily="18" charset="0"/>
              </a:rPr>
              <a:t>在</a:t>
            </a:r>
            <a:r>
              <a:rPr lang="en-US" altLang="zh-CN" sz="1100" b="1" dirty="0">
                <a:latin typeface="Times New Roman" panose="02020603050405020304" pitchFamily="18" charset="0"/>
                <a:cs typeface="Times New Roman" panose="02020603050405020304" pitchFamily="18" charset="0"/>
              </a:rPr>
              <a:t>&lt;</a:t>
            </a:r>
            <a:r>
              <a:rPr lang="en-US" altLang="zh-CN" sz="1100" b="1" i="1" dirty="0">
                <a:latin typeface="Times New Roman" panose="02020603050405020304" pitchFamily="18" charset="0"/>
                <a:cs typeface="Times New Roman" panose="02020603050405020304" pitchFamily="18" charset="0"/>
              </a:rPr>
              <a:t>Z</a:t>
            </a:r>
            <a:r>
              <a:rPr lang="en-US" altLang="zh-CN" sz="1100" b="1" baseline="-25000" dirty="0">
                <a:latin typeface="Times New Roman" panose="02020603050405020304" pitchFamily="18" charset="0"/>
                <a:cs typeface="Times New Roman" panose="02020603050405020304" pitchFamily="18" charset="0"/>
              </a:rPr>
              <a:t>6</a:t>
            </a:r>
            <a:r>
              <a:rPr lang="en-US" altLang="zh-CN" sz="1100" b="1"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dirty="0">
                <a:latin typeface="Times New Roman" panose="02020603050405020304" pitchFamily="18" charset="0"/>
                <a:cs typeface="Times New Roman" panose="02020603050405020304" pitchFamily="18" charset="0"/>
              </a:rPr>
              <a:t>&gt;</a:t>
            </a:r>
            <a:r>
              <a:rPr lang="zh-CN" altLang="en-US" sz="1100" b="1" dirty="0">
                <a:latin typeface="Times New Roman" panose="02020603050405020304" pitchFamily="18" charset="0"/>
                <a:cs typeface="Times New Roman" panose="02020603050405020304" pitchFamily="18" charset="0"/>
              </a:rPr>
              <a:t>中，</a:t>
            </a:r>
            <a:r>
              <a:rPr lang="en-US" altLang="zh-CN" sz="1100" b="1" dirty="0">
                <a:latin typeface="Times New Roman" panose="02020603050405020304" pitchFamily="18" charset="0"/>
                <a:cs typeface="Times New Roman" panose="02020603050405020304" pitchFamily="18" charset="0"/>
              </a:rPr>
              <a:t>2 </a:t>
            </a:r>
            <a:r>
              <a:rPr lang="zh-CN" altLang="en-US" sz="1100" b="1" dirty="0">
                <a:latin typeface="Times New Roman" panose="02020603050405020304" pitchFamily="18" charset="0"/>
                <a:cs typeface="Times New Roman" panose="02020603050405020304" pitchFamily="18" charset="0"/>
              </a:rPr>
              <a:t>和 </a:t>
            </a:r>
            <a:r>
              <a:rPr lang="en-US" altLang="zh-CN" sz="1100" b="1" dirty="0">
                <a:latin typeface="Times New Roman" panose="02020603050405020304" pitchFamily="18" charset="0"/>
                <a:cs typeface="Times New Roman" panose="02020603050405020304" pitchFamily="18" charset="0"/>
              </a:rPr>
              <a:t>4 </a:t>
            </a:r>
            <a:r>
              <a:rPr lang="zh-CN" altLang="en-US" sz="1100" b="1" dirty="0">
                <a:latin typeface="Times New Roman" panose="02020603050405020304" pitchFamily="18" charset="0"/>
                <a:cs typeface="Times New Roman" panose="02020603050405020304" pitchFamily="18" charset="0"/>
              </a:rPr>
              <a:t>是 </a:t>
            </a:r>
            <a:r>
              <a:rPr lang="en-US" altLang="zh-CN" sz="1100" b="1" dirty="0">
                <a:latin typeface="Times New Roman" panose="02020603050405020304" pitchFamily="18" charset="0"/>
                <a:cs typeface="Times New Roman" panose="02020603050405020304" pitchFamily="18" charset="0"/>
              </a:rPr>
              <a:t>3 </a:t>
            </a:r>
            <a:r>
              <a:rPr lang="zh-CN" altLang="en-US" sz="1100" b="1" dirty="0">
                <a:latin typeface="Times New Roman" panose="02020603050405020304" pitchFamily="18" charset="0"/>
                <a:cs typeface="Times New Roman" panose="02020603050405020304" pitchFamily="18" charset="0"/>
              </a:rPr>
              <a:t>阶元，</a:t>
            </a:r>
            <a:r>
              <a:rPr lang="en-US" altLang="zh-CN" sz="1100" b="1" dirty="0">
                <a:latin typeface="Times New Roman" panose="02020603050405020304" pitchFamily="18" charset="0"/>
                <a:cs typeface="Times New Roman" panose="02020603050405020304" pitchFamily="18" charset="0"/>
              </a:rPr>
              <a:t>3 </a:t>
            </a:r>
            <a:r>
              <a:rPr lang="zh-CN" altLang="en-US" sz="1100" b="1" dirty="0">
                <a:latin typeface="Times New Roman" panose="02020603050405020304" pitchFamily="18" charset="0"/>
                <a:cs typeface="Times New Roman" panose="02020603050405020304" pitchFamily="18" charset="0"/>
              </a:rPr>
              <a:t>是 </a:t>
            </a:r>
            <a:r>
              <a:rPr lang="en-US" altLang="zh-CN" sz="1100" b="1" dirty="0">
                <a:latin typeface="Times New Roman" panose="02020603050405020304" pitchFamily="18" charset="0"/>
                <a:cs typeface="Times New Roman" panose="02020603050405020304" pitchFamily="18" charset="0"/>
              </a:rPr>
              <a:t>2 </a:t>
            </a:r>
            <a:r>
              <a:rPr lang="zh-CN" altLang="en-US" sz="1100" b="1" dirty="0">
                <a:latin typeface="Times New Roman" panose="02020603050405020304" pitchFamily="18" charset="0"/>
                <a:cs typeface="Times New Roman" panose="02020603050405020304" pitchFamily="18" charset="0"/>
              </a:rPr>
              <a:t>阶元，</a:t>
            </a:r>
            <a:r>
              <a:rPr lang="en-US" altLang="zh-CN" sz="1100" b="1" dirty="0">
                <a:latin typeface="Times New Roman" panose="02020603050405020304" pitchFamily="18" charset="0"/>
                <a:cs typeface="Times New Roman" panose="02020603050405020304" pitchFamily="18" charset="0"/>
              </a:rPr>
              <a:t>1 </a:t>
            </a:r>
            <a:r>
              <a:rPr lang="zh-CN" altLang="en-US" sz="1100" b="1" dirty="0">
                <a:latin typeface="Times New Roman" panose="02020603050405020304" pitchFamily="18" charset="0"/>
                <a:cs typeface="Times New Roman" panose="02020603050405020304" pitchFamily="18" charset="0"/>
              </a:rPr>
              <a:t>和 </a:t>
            </a:r>
            <a:r>
              <a:rPr lang="en-US" altLang="zh-CN" sz="1100" b="1" dirty="0">
                <a:latin typeface="Times New Roman" panose="02020603050405020304" pitchFamily="18" charset="0"/>
                <a:cs typeface="Times New Roman" panose="02020603050405020304" pitchFamily="18" charset="0"/>
              </a:rPr>
              <a:t>5 </a:t>
            </a:r>
            <a:r>
              <a:rPr lang="zh-CN" altLang="en-US" sz="1100" b="1" dirty="0">
                <a:latin typeface="Times New Roman" panose="02020603050405020304" pitchFamily="18" charset="0"/>
                <a:cs typeface="Times New Roman" panose="02020603050405020304" pitchFamily="18" charset="0"/>
              </a:rPr>
              <a:t>是 </a:t>
            </a:r>
            <a:r>
              <a:rPr lang="en-US" altLang="zh-CN" sz="1100" b="1" dirty="0">
                <a:latin typeface="Times New Roman" panose="02020603050405020304" pitchFamily="18" charset="0"/>
                <a:cs typeface="Times New Roman" panose="02020603050405020304" pitchFamily="18" charset="0"/>
              </a:rPr>
              <a:t>6 </a:t>
            </a:r>
            <a:r>
              <a:rPr lang="zh-CN" altLang="en-US" sz="1100" b="1" dirty="0">
                <a:latin typeface="Times New Roman" panose="02020603050405020304" pitchFamily="18" charset="0"/>
                <a:cs typeface="Times New Roman" panose="02020603050405020304" pitchFamily="18" charset="0"/>
              </a:rPr>
              <a:t>阶元，</a:t>
            </a:r>
            <a:r>
              <a:rPr lang="en-US" altLang="zh-CN" sz="1100" b="1" dirty="0">
                <a:latin typeface="Times New Roman" panose="02020603050405020304" pitchFamily="18" charset="0"/>
                <a:cs typeface="Times New Roman" panose="02020603050405020304" pitchFamily="18" charset="0"/>
              </a:rPr>
              <a:t>0 </a:t>
            </a:r>
            <a:r>
              <a:rPr lang="zh-CN" altLang="en-US" sz="1100" b="1" dirty="0">
                <a:latin typeface="Times New Roman" panose="02020603050405020304" pitchFamily="18" charset="0"/>
                <a:cs typeface="Times New Roman" panose="02020603050405020304" pitchFamily="18" charset="0"/>
              </a:rPr>
              <a:t>是 </a:t>
            </a:r>
            <a:r>
              <a:rPr lang="en-US" altLang="zh-CN" sz="1100" b="1" dirty="0">
                <a:latin typeface="Times New Roman" panose="02020603050405020304" pitchFamily="18" charset="0"/>
                <a:cs typeface="Times New Roman" panose="02020603050405020304" pitchFamily="18" charset="0"/>
              </a:rPr>
              <a:t>1 </a:t>
            </a:r>
            <a:r>
              <a:rPr lang="zh-CN" altLang="en-US" sz="1100" b="1" dirty="0">
                <a:latin typeface="Times New Roman" panose="02020603050405020304" pitchFamily="18" charset="0"/>
                <a:cs typeface="Times New Roman" panose="02020603050405020304" pitchFamily="18" charset="0"/>
              </a:rPr>
              <a:t>阶元 </a:t>
            </a:r>
            <a:endParaRPr lang="en-US" altLang="zh-CN" sz="1100" b="1" dirty="0">
              <a:latin typeface="Times New Roman" panose="02020603050405020304" pitchFamily="18" charset="0"/>
              <a:cs typeface="Times New Roman" panose="02020603050405020304" pitchFamily="18" charset="0"/>
            </a:endParaRPr>
          </a:p>
          <a:p>
            <a:pPr>
              <a:lnSpc>
                <a:spcPct val="110000"/>
              </a:lnSpc>
            </a:pPr>
            <a:r>
              <a:rPr lang="zh-CN" altLang="en-US" sz="1050" b="1" dirty="0">
                <a:solidFill>
                  <a:srgbClr val="00B0F0"/>
                </a:solidFill>
                <a:latin typeface="Times New Roman" panose="02020603050405020304" pitchFamily="18" charset="0"/>
                <a:cs typeface="Times New Roman" panose="02020603050405020304" pitchFamily="18" charset="0"/>
              </a:rPr>
              <a:t>注</a:t>
            </a:r>
            <a:r>
              <a:rPr lang="en-US" altLang="zh-CN" sz="1050" b="1" dirty="0">
                <a:solidFill>
                  <a:srgbClr val="00B0F0"/>
                </a:solidFill>
                <a:latin typeface="Times New Roman" panose="02020603050405020304" pitchFamily="18" charset="0"/>
                <a:cs typeface="Times New Roman" panose="02020603050405020304" pitchFamily="18" charset="0"/>
              </a:rPr>
              <a:t>: </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模</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6</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加法群的单位元是</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0, </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元素</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2</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和</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4</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经过</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3</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次模</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6</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加法运算的结果都是单位元是</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0</a:t>
            </a:r>
            <a:endParaRPr lang="zh-CN" altLang="en-US" sz="1050" b="1" dirty="0">
              <a:latin typeface="楷体" panose="02010609060101010101" pitchFamily="49" charset="-122"/>
              <a:ea typeface="楷体" panose="02010609060101010101" pitchFamily="49" charset="-122"/>
              <a:cs typeface="Times New Roman" panose="02020603050405020304" pitchFamily="18" charset="0"/>
            </a:endParaRPr>
          </a:p>
          <a:p>
            <a:pPr eaLnBrk="1" hangingPunct="1">
              <a:lnSpc>
                <a:spcPct val="110000"/>
              </a:lnSpc>
              <a:buFontTx/>
              <a:buNone/>
            </a:pPr>
            <a:r>
              <a:rPr lang="en-US" altLang="zh-CN" sz="1100" b="1" dirty="0">
                <a:latin typeface="Times New Roman" panose="02020603050405020304" pitchFamily="18" charset="0"/>
                <a:cs typeface="Times New Roman" panose="02020603050405020304" pitchFamily="18" charset="0"/>
              </a:rPr>
              <a:t>(2)</a:t>
            </a:r>
            <a:r>
              <a:rPr lang="zh-CN" altLang="en-US" sz="1100" b="1" dirty="0">
                <a:latin typeface="Times New Roman" panose="02020603050405020304" pitchFamily="18" charset="0"/>
                <a:cs typeface="Times New Roman" panose="02020603050405020304" pitchFamily="18" charset="0"/>
              </a:rPr>
              <a:t>在</a:t>
            </a:r>
            <a:r>
              <a:rPr lang="en-US" altLang="zh-CN" sz="1100" b="1" dirty="0">
                <a:latin typeface="Times New Roman" panose="02020603050405020304" pitchFamily="18" charset="0"/>
                <a:cs typeface="Times New Roman" panose="02020603050405020304" pitchFamily="18" charset="0"/>
              </a:rPr>
              <a:t>&lt;</a:t>
            </a:r>
            <a:r>
              <a:rPr lang="en-US" altLang="zh-CN" sz="1100" b="1" i="1" dirty="0">
                <a:latin typeface="Times New Roman" panose="02020603050405020304" pitchFamily="18" charset="0"/>
                <a:cs typeface="Times New Roman" panose="02020603050405020304" pitchFamily="18" charset="0"/>
              </a:rPr>
              <a:t>Z</a:t>
            </a:r>
            <a:r>
              <a:rPr lang="en-US" altLang="zh-CN" sz="1100" b="1" dirty="0">
                <a:latin typeface="Times New Roman" panose="02020603050405020304" pitchFamily="18" charset="0"/>
                <a:cs typeface="Times New Roman" panose="02020603050405020304" pitchFamily="18" charset="0"/>
              </a:rPr>
              <a:t>,+&gt;</a:t>
            </a:r>
            <a:r>
              <a:rPr lang="zh-CN" altLang="en-US" sz="1100" b="1" dirty="0">
                <a:latin typeface="Times New Roman" panose="02020603050405020304" pitchFamily="18" charset="0"/>
                <a:cs typeface="Times New Roman" panose="02020603050405020304" pitchFamily="18" charset="0"/>
              </a:rPr>
              <a:t>中，</a:t>
            </a:r>
            <a:r>
              <a:rPr lang="en-US" altLang="zh-CN" sz="1100" b="1" dirty="0">
                <a:latin typeface="Times New Roman" panose="02020603050405020304" pitchFamily="18" charset="0"/>
                <a:cs typeface="Times New Roman" panose="02020603050405020304" pitchFamily="18" charset="0"/>
              </a:rPr>
              <a:t>0 </a:t>
            </a:r>
            <a:r>
              <a:rPr lang="zh-CN" altLang="en-US" sz="1100" b="1" dirty="0">
                <a:latin typeface="Times New Roman" panose="02020603050405020304" pitchFamily="18" charset="0"/>
                <a:cs typeface="Times New Roman" panose="02020603050405020304" pitchFamily="18" charset="0"/>
              </a:rPr>
              <a:t>是 </a:t>
            </a:r>
            <a:r>
              <a:rPr lang="en-US" altLang="zh-CN" sz="1100" b="1" dirty="0">
                <a:latin typeface="Times New Roman" panose="02020603050405020304" pitchFamily="18" charset="0"/>
                <a:cs typeface="Times New Roman" panose="02020603050405020304" pitchFamily="18" charset="0"/>
              </a:rPr>
              <a:t>1 </a:t>
            </a:r>
            <a:r>
              <a:rPr lang="zh-CN" altLang="en-US" sz="1100" b="1" dirty="0">
                <a:latin typeface="Times New Roman" panose="02020603050405020304" pitchFamily="18" charset="0"/>
                <a:cs typeface="Times New Roman" panose="02020603050405020304" pitchFamily="18" charset="0"/>
              </a:rPr>
              <a:t>阶元，其它整数的阶都不存在</a:t>
            </a:r>
            <a:r>
              <a:rPr lang="en-US" altLang="zh-CN" sz="1100" b="1" dirty="0">
                <a:latin typeface="Times New Roman" panose="02020603050405020304" pitchFamily="18" charset="0"/>
                <a:cs typeface="Times New Roman" panose="02020603050405020304" pitchFamily="18" charset="0"/>
              </a:rPr>
              <a:t>. </a:t>
            </a:r>
          </a:p>
          <a:p>
            <a:pPr eaLnBrk="1" hangingPunct="1">
              <a:lnSpc>
                <a:spcPct val="110000"/>
              </a:lnSpc>
              <a:buFontTx/>
              <a:buNone/>
            </a:pPr>
            <a:endParaRPr lang="zh-CN" altLang="en-US" sz="1100" b="1"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75</a:t>
            </a:fld>
            <a:endParaRPr lang="zh-CN" altLang="en-US"/>
          </a:p>
        </p:txBody>
      </p:sp>
    </p:spTree>
    <p:extLst>
      <p:ext uri="{BB962C8B-B14F-4D97-AF65-F5344CB8AC3E}">
        <p14:creationId xmlns:p14="http://schemas.microsoft.com/office/powerpoint/2010/main" val="63464041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元素的阶反映了如何通过重复的群操作返回到单位元，有助于理解群的结构和元素的分布。</a:t>
            </a:r>
            <a:endParaRPr lang="en-US" altLang="zh-CN" dirty="0"/>
          </a:p>
          <a:p>
            <a:endParaRPr lang="en-US" altLang="zh-CN" dirty="0"/>
          </a:p>
          <a:p>
            <a:pPr eaLnBrk="1" hangingPunct="1">
              <a:lnSpc>
                <a:spcPct val="110000"/>
              </a:lnSpc>
              <a:buFontTx/>
              <a:buNone/>
            </a:pPr>
            <a:r>
              <a:rPr lang="zh-CN" altLang="en-US" sz="1200" b="1" dirty="0">
                <a:solidFill>
                  <a:srgbClr val="FF3300"/>
                </a:solidFill>
              </a:rPr>
              <a:t>定义</a:t>
            </a:r>
            <a:r>
              <a:rPr lang="en-US" altLang="zh-CN" sz="1200" b="1" dirty="0">
                <a:solidFill>
                  <a:srgbClr val="FF3300"/>
                </a:solidFill>
              </a:rPr>
              <a:t>:</a:t>
            </a:r>
            <a:r>
              <a:rPr lang="en-US" altLang="zh-CN" sz="1200" b="1" dirty="0"/>
              <a: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是群，</a:t>
            </a:r>
            <a:r>
              <a:rPr lang="en-US" altLang="zh-CN" sz="1200" b="1" i="1" dirty="0" err="1">
                <a:latin typeface="Times New Roman" panose="02020603050405020304" pitchFamily="18" charset="0"/>
                <a:cs typeface="Times New Roman" panose="02020603050405020304" pitchFamily="18" charset="0"/>
              </a:rPr>
              <a:t>x</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，使得等式 </a:t>
            </a:r>
            <a:r>
              <a:rPr lang="en-US" altLang="zh-CN" sz="1200" b="1" i="1" dirty="0" err="1">
                <a:latin typeface="Times New Roman" panose="02020603050405020304" pitchFamily="18" charset="0"/>
                <a:cs typeface="Times New Roman" panose="02020603050405020304" pitchFamily="18" charset="0"/>
              </a:rPr>
              <a:t>x</a:t>
            </a:r>
            <a:r>
              <a:rPr lang="en-US" altLang="zh-CN" sz="1200" b="1" i="1" baseline="30000" dirty="0" err="1">
                <a:latin typeface="Times New Roman" panose="02020603050405020304" pitchFamily="18" charset="0"/>
                <a:cs typeface="Times New Roman" panose="02020603050405020304" pitchFamily="18" charset="0"/>
              </a:rPr>
              <a:t>k</a:t>
            </a:r>
            <a:r>
              <a:rPr lang="en-US" altLang="zh-CN" sz="1200" b="1" i="1" baseline="30000"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e </a:t>
            </a:r>
            <a:r>
              <a:rPr lang="zh-CN" altLang="en-US" sz="1200" b="1" dirty="0">
                <a:latin typeface="Times New Roman" panose="02020603050405020304" pitchFamily="18" charset="0"/>
                <a:cs typeface="Times New Roman" panose="02020603050405020304" pitchFamily="18" charset="0"/>
              </a:rPr>
              <a:t>成立的最小</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正整数 </a:t>
            </a:r>
            <a:r>
              <a:rPr lang="en-US" altLang="zh-CN" sz="1200" b="1" i="1" dirty="0">
                <a:latin typeface="Times New Roman" panose="02020603050405020304" pitchFamily="18" charset="0"/>
                <a:cs typeface="Times New Roman" panose="02020603050405020304" pitchFamily="18" charset="0"/>
              </a:rPr>
              <a:t>k </a:t>
            </a:r>
            <a:r>
              <a:rPr lang="zh-CN" altLang="en-US" sz="1200" b="1" dirty="0">
                <a:latin typeface="Times New Roman" panose="02020603050405020304" pitchFamily="18" charset="0"/>
                <a:cs typeface="Times New Roman" panose="02020603050405020304" pitchFamily="18" charset="0"/>
              </a:rPr>
              <a:t>称为 </a:t>
            </a:r>
            <a:r>
              <a:rPr lang="en-US" altLang="zh-CN" sz="1200" b="1" i="1" dirty="0">
                <a:latin typeface="Times New Roman" panose="02020603050405020304" pitchFamily="18" charset="0"/>
                <a:cs typeface="Times New Roman" panose="02020603050405020304" pitchFamily="18" charset="0"/>
              </a:rPr>
              <a:t>x </a:t>
            </a:r>
            <a:r>
              <a:rPr lang="zh-CN" altLang="en-US" sz="1200" b="1" dirty="0">
                <a:latin typeface="Times New Roman" panose="02020603050405020304" pitchFamily="18" charset="0"/>
                <a:cs typeface="Times New Roman" panose="02020603050405020304" pitchFamily="18" charset="0"/>
              </a:rPr>
              <a:t>的</a:t>
            </a:r>
            <a:r>
              <a:rPr lang="zh-CN" altLang="en-US" sz="1200" b="1" dirty="0">
                <a:solidFill>
                  <a:srgbClr val="FF3300"/>
                </a:solidFill>
                <a:latin typeface="Times New Roman" panose="02020603050405020304" pitchFamily="18" charset="0"/>
                <a:cs typeface="Times New Roman" panose="02020603050405020304" pitchFamily="18" charset="0"/>
              </a:rPr>
              <a:t>阶</a:t>
            </a:r>
            <a:r>
              <a:rPr lang="en-US" altLang="zh-CN" sz="1200" b="1" dirty="0">
                <a:solidFill>
                  <a:srgbClr val="FF3300"/>
                </a:solidFill>
                <a:latin typeface="Times New Roman" panose="02020603050405020304" pitchFamily="18" charset="0"/>
                <a:cs typeface="Times New Roman" panose="02020603050405020304" pitchFamily="18" charset="0"/>
              </a:rPr>
              <a:t>(</a:t>
            </a:r>
            <a:r>
              <a:rPr lang="zh-CN" altLang="en-US" sz="1200" b="1" dirty="0">
                <a:solidFill>
                  <a:srgbClr val="FF3300"/>
                </a:solidFill>
                <a:latin typeface="Times New Roman" panose="02020603050405020304" pitchFamily="18" charset="0"/>
                <a:cs typeface="Times New Roman" panose="02020603050405020304" pitchFamily="18" charset="0"/>
              </a:rPr>
              <a:t>或周期</a:t>
            </a:r>
            <a:r>
              <a:rPr lang="en-US" altLang="zh-CN" sz="1200" b="1" dirty="0">
                <a:solidFill>
                  <a:srgbClr val="FF3300"/>
                </a:solidFill>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记作 </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x</a:t>
            </a:r>
            <a:r>
              <a:rPr lang="en-US" altLang="zh-CN" sz="1200" b="1" dirty="0">
                <a:latin typeface="Times New Roman" panose="02020603050405020304" pitchFamily="18" charset="0"/>
                <a:cs typeface="Times New Roman" panose="02020603050405020304" pitchFamily="18" charset="0"/>
              </a:rPr>
              <a:t>| = </a:t>
            </a:r>
            <a:r>
              <a:rPr lang="en-US" altLang="zh-CN" sz="1200" b="1" i="1" dirty="0">
                <a:latin typeface="Times New Roman" panose="02020603050405020304" pitchFamily="18" charset="0"/>
                <a:cs typeface="Times New Roman" panose="02020603050405020304" pitchFamily="18" charset="0"/>
              </a:rPr>
              <a:t>k</a:t>
            </a:r>
            <a:r>
              <a:rPr lang="zh-CN" altLang="en-US" sz="1200" b="1" dirty="0">
                <a:latin typeface="Times New Roman" panose="02020603050405020304" pitchFamily="18" charset="0"/>
                <a:cs typeface="Times New Roman" panose="02020603050405020304" pitchFamily="18" charset="0"/>
              </a:rPr>
              <a:t>，称 </a:t>
            </a:r>
            <a:r>
              <a:rPr lang="en-US" altLang="zh-CN" sz="1200" b="1" i="1" dirty="0">
                <a:latin typeface="Times New Roman" panose="02020603050405020304" pitchFamily="18" charset="0"/>
                <a:cs typeface="Times New Roman" panose="02020603050405020304" pitchFamily="18" charset="0"/>
              </a:rPr>
              <a:t>x</a:t>
            </a:r>
            <a:r>
              <a:rPr lang="zh-CN" altLang="en-US" sz="1200" b="1" dirty="0">
                <a:latin typeface="Times New Roman" panose="02020603050405020304" pitchFamily="18" charset="0"/>
                <a:cs typeface="Times New Roman" panose="02020603050405020304" pitchFamily="18" charset="0"/>
              </a:rPr>
              <a:t>为 </a:t>
            </a:r>
            <a:r>
              <a:rPr lang="en-US" altLang="zh-CN" sz="1200" b="1" i="1" dirty="0">
                <a:solidFill>
                  <a:srgbClr val="FF3300"/>
                </a:solidFill>
                <a:latin typeface="Times New Roman" panose="02020603050405020304" pitchFamily="18" charset="0"/>
                <a:cs typeface="Times New Roman" panose="02020603050405020304" pitchFamily="18" charset="0"/>
              </a:rPr>
              <a:t>k </a:t>
            </a:r>
          </a:p>
          <a:p>
            <a:pPr eaLnBrk="1" hangingPunct="1">
              <a:lnSpc>
                <a:spcPct val="11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阶元</a:t>
            </a:r>
            <a:r>
              <a:rPr lang="en-US" altLang="zh-CN" sz="1200" b="1" dirty="0">
                <a:solidFill>
                  <a:srgbClr val="FF3300"/>
                </a:solidFill>
                <a:latin typeface="Times New Roman" panose="02020603050405020304" pitchFamily="18" charset="0"/>
                <a:cs typeface="Times New Roman" panose="02020603050405020304" pitchFamily="18" charset="0"/>
              </a:rPr>
              <a:t>(</a:t>
            </a:r>
            <a:r>
              <a:rPr lang="zh-CN" altLang="en-US" sz="1200" b="1" dirty="0">
                <a:solidFill>
                  <a:srgbClr val="FF3300"/>
                </a:solidFill>
                <a:latin typeface="Times New Roman" panose="02020603050405020304" pitchFamily="18" charset="0"/>
                <a:cs typeface="Times New Roman" panose="02020603050405020304" pitchFamily="18" charset="0"/>
              </a:rPr>
              <a:t>也称为</a:t>
            </a:r>
            <a:r>
              <a:rPr lang="en-US" altLang="zh-CN" sz="1200" b="1" i="1" dirty="0">
                <a:solidFill>
                  <a:srgbClr val="FF3300"/>
                </a:solidFill>
                <a:latin typeface="Times New Roman" panose="02020603050405020304" pitchFamily="18" charset="0"/>
                <a:cs typeface="Times New Roman" panose="02020603050405020304" pitchFamily="18" charset="0"/>
              </a:rPr>
              <a:t>k</a:t>
            </a:r>
            <a:r>
              <a:rPr lang="zh-CN" altLang="en-US" sz="1200" b="1" dirty="0">
                <a:solidFill>
                  <a:srgbClr val="FF3300"/>
                </a:solidFill>
                <a:latin typeface="Times New Roman" panose="02020603050405020304" pitchFamily="18" charset="0"/>
                <a:cs typeface="Times New Roman" panose="02020603050405020304" pitchFamily="18" charset="0"/>
              </a:rPr>
              <a:t>次幂</a:t>
            </a:r>
            <a:r>
              <a:rPr lang="en-US" altLang="zh-CN" sz="1200" b="1" dirty="0">
                <a:solidFill>
                  <a:srgbClr val="FF3300"/>
                </a:solidFill>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若不存在这样的正整数</a:t>
            </a:r>
            <a:r>
              <a:rPr lang="en-US" altLang="zh-CN" sz="1200" b="1" i="1" dirty="0">
                <a:latin typeface="Times New Roman" panose="02020603050405020304" pitchFamily="18" charset="0"/>
                <a:cs typeface="Times New Roman" panose="02020603050405020304" pitchFamily="18" charset="0"/>
              </a:rPr>
              <a:t>k</a:t>
            </a:r>
            <a:r>
              <a:rPr lang="zh-CN" altLang="en-US" sz="1200" b="1" dirty="0">
                <a:latin typeface="Times New Roman" panose="02020603050405020304" pitchFamily="18" charset="0"/>
                <a:cs typeface="Times New Roman" panose="02020603050405020304" pitchFamily="18" charset="0"/>
              </a:rPr>
              <a:t>，则称 </a:t>
            </a:r>
            <a:r>
              <a:rPr lang="en-US" altLang="zh-CN" sz="1200" b="1" i="1" dirty="0">
                <a:latin typeface="Times New Roman" panose="02020603050405020304" pitchFamily="18" charset="0"/>
                <a:cs typeface="Times New Roman" panose="02020603050405020304" pitchFamily="18" charset="0"/>
              </a:rPr>
              <a:t>x </a:t>
            </a:r>
            <a:r>
              <a:rPr lang="zh-CN" altLang="en-US" sz="1200" b="1" dirty="0">
                <a:latin typeface="Times New Roman" panose="02020603050405020304" pitchFamily="18" charset="0"/>
                <a:cs typeface="Times New Roman" panose="02020603050405020304" pitchFamily="18" charset="0"/>
              </a:rPr>
              <a:t>为</a:t>
            </a:r>
            <a:r>
              <a:rPr lang="zh-CN" altLang="en-US" sz="1200" b="1" dirty="0">
                <a:solidFill>
                  <a:srgbClr val="FF3300"/>
                </a:solidFill>
                <a:latin typeface="Times New Roman" panose="02020603050405020304" pitchFamily="18" charset="0"/>
                <a:cs typeface="Times New Roman" panose="02020603050405020304" pitchFamily="18" charset="0"/>
              </a:rPr>
              <a:t>无限阶元</a:t>
            </a:r>
            <a:r>
              <a:rPr lang="en-US" altLang="zh-CN" sz="1200" b="1" dirty="0"/>
              <a:t>.</a:t>
            </a:r>
          </a:p>
          <a:p>
            <a:pPr eaLnBrk="1" hangingPunct="1">
              <a:lnSpc>
                <a:spcPct val="110000"/>
              </a:lnSpc>
              <a:buFontTx/>
              <a:buNone/>
            </a:pPr>
            <a:r>
              <a:rPr lang="en-US" altLang="zh-CN" sz="1200" b="1" dirty="0"/>
              <a:t>   </a:t>
            </a:r>
            <a:r>
              <a:rPr lang="zh-CN" altLang="en-US" sz="1100" b="1" dirty="0">
                <a:solidFill>
                  <a:srgbClr val="00B0F0"/>
                </a:solidFill>
                <a:latin typeface="Times New Roman" panose="02020603050405020304" pitchFamily="18" charset="0"/>
                <a:cs typeface="Times New Roman" panose="02020603050405020304" pitchFamily="18" charset="0"/>
              </a:rPr>
              <a:t>注</a:t>
            </a:r>
            <a:r>
              <a:rPr lang="en-US" altLang="zh-CN" sz="1100" b="1" dirty="0">
                <a:solidFill>
                  <a:srgbClr val="00B0F0"/>
                </a:solidFill>
                <a:latin typeface="Times New Roman" panose="02020603050405020304" pitchFamily="18" charset="0"/>
                <a:cs typeface="Times New Roman" panose="02020603050405020304" pitchFamily="18" charset="0"/>
              </a:rPr>
              <a:t>: </a:t>
            </a:r>
            <a:r>
              <a:rPr lang="zh-CN" altLang="en-US" sz="1100" b="1" dirty="0">
                <a:latin typeface="Times New Roman" panose="02020603050405020304" pitchFamily="18" charset="0"/>
                <a:cs typeface="Times New Roman" panose="02020603050405020304" pitchFamily="18" charset="0"/>
              </a:rPr>
              <a:t>  </a:t>
            </a:r>
            <a:r>
              <a:rPr lang="zh-CN" altLang="en-US" sz="1100" b="1" dirty="0">
                <a:latin typeface="Calibri" panose="020F0502020204030204" pitchFamily="34" charset="0"/>
                <a:cs typeface="Calibri" panose="020F0502020204030204" pitchFamily="34" charset="0"/>
              </a:rPr>
              <a:t>①</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元素的阶反映了通过</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k</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次重复的群操作，元素</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返回到幺元</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e </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；②任何群</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中的幺元</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e</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的阶都是</a:t>
            </a:r>
            <a:r>
              <a:rPr lang="en-US" altLang="zh-CN" sz="1100" b="1" dirty="0">
                <a:latin typeface="Times New Roman" panose="02020603050405020304" pitchFamily="18" charset="0"/>
                <a:ea typeface="楷体" panose="02010609060101010101" pitchFamily="49" charset="-122"/>
                <a:cs typeface="Times New Roman" panose="02020603050405020304" pitchFamily="18" charset="0"/>
              </a:rPr>
              <a:t>1</a:t>
            </a:r>
          </a:p>
          <a:p>
            <a:pPr eaLnBrk="1" hangingPunct="1">
              <a:lnSpc>
                <a:spcPct val="110000"/>
              </a:lnSpc>
              <a:buFontTx/>
              <a:buNone/>
            </a:pPr>
            <a:endParaRPr lang="en-US" altLang="zh-CN" sz="11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10000"/>
              </a:lnSpc>
              <a:buFontTx/>
              <a:buNone/>
            </a:pPr>
            <a:r>
              <a:rPr lang="zh-CN" altLang="en-US" sz="1100" b="1" dirty="0">
                <a:solidFill>
                  <a:srgbClr val="00B0F0"/>
                </a:solidFill>
                <a:latin typeface="Times New Roman" panose="02020603050405020304" pitchFamily="18" charset="0"/>
                <a:cs typeface="Times New Roman" panose="02020603050405020304" pitchFamily="18" charset="0"/>
              </a:rPr>
              <a:t>实例</a:t>
            </a:r>
            <a:r>
              <a:rPr lang="en-US" altLang="zh-CN" sz="1100" b="1" dirty="0">
                <a:solidFill>
                  <a:srgbClr val="00B0F0"/>
                </a:solidFill>
                <a:latin typeface="Times New Roman" panose="02020603050405020304" pitchFamily="18" charset="0"/>
                <a:cs typeface="Times New Roman" panose="02020603050405020304" pitchFamily="18" charset="0"/>
              </a:rPr>
              <a:t>:</a:t>
            </a:r>
            <a:r>
              <a:rPr lang="zh-CN" altLang="en-US" sz="1100" b="1" dirty="0">
                <a:latin typeface="Times New Roman" panose="02020603050405020304" pitchFamily="18" charset="0"/>
                <a:cs typeface="Times New Roman" panose="02020603050405020304" pitchFamily="18" charset="0"/>
              </a:rPr>
              <a:t>  </a:t>
            </a:r>
          </a:p>
          <a:p>
            <a:pPr eaLnBrk="1" hangingPunct="1">
              <a:lnSpc>
                <a:spcPct val="110000"/>
              </a:lnSpc>
              <a:buFontTx/>
              <a:buNone/>
            </a:pPr>
            <a:r>
              <a:rPr lang="en-US" altLang="zh-CN" sz="1100" b="1" dirty="0">
                <a:latin typeface="Times New Roman" panose="02020603050405020304" pitchFamily="18" charset="0"/>
                <a:cs typeface="Times New Roman" panose="02020603050405020304" pitchFamily="18" charset="0"/>
              </a:rPr>
              <a:t>(1)</a:t>
            </a:r>
            <a:r>
              <a:rPr lang="zh-CN" altLang="en-US" sz="1100" b="1" dirty="0">
                <a:latin typeface="Times New Roman" panose="02020603050405020304" pitchFamily="18" charset="0"/>
                <a:cs typeface="Times New Roman" panose="02020603050405020304" pitchFamily="18" charset="0"/>
              </a:rPr>
              <a:t>在</a:t>
            </a:r>
            <a:r>
              <a:rPr lang="en-US" altLang="zh-CN" sz="1100" b="1" dirty="0">
                <a:latin typeface="Times New Roman" panose="02020603050405020304" pitchFamily="18" charset="0"/>
                <a:cs typeface="Times New Roman" panose="02020603050405020304" pitchFamily="18" charset="0"/>
              </a:rPr>
              <a:t>&lt;</a:t>
            </a:r>
            <a:r>
              <a:rPr lang="en-US" altLang="zh-CN" sz="1100" b="1" i="1" dirty="0">
                <a:latin typeface="Times New Roman" panose="02020603050405020304" pitchFamily="18" charset="0"/>
                <a:cs typeface="Times New Roman" panose="02020603050405020304" pitchFamily="18" charset="0"/>
              </a:rPr>
              <a:t>Z</a:t>
            </a:r>
            <a:r>
              <a:rPr lang="en-US" altLang="zh-CN" sz="1100" b="1" baseline="-25000" dirty="0">
                <a:latin typeface="Times New Roman" panose="02020603050405020304" pitchFamily="18" charset="0"/>
                <a:cs typeface="Times New Roman" panose="02020603050405020304" pitchFamily="18" charset="0"/>
              </a:rPr>
              <a:t>6</a:t>
            </a:r>
            <a:r>
              <a:rPr lang="en-US" altLang="zh-CN" sz="1100" b="1"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100" b="1" dirty="0">
                <a:latin typeface="Times New Roman" panose="02020603050405020304" pitchFamily="18" charset="0"/>
                <a:cs typeface="Times New Roman" panose="02020603050405020304" pitchFamily="18" charset="0"/>
              </a:rPr>
              <a:t>&gt;</a:t>
            </a:r>
            <a:r>
              <a:rPr lang="zh-CN" altLang="en-US" sz="1100" b="1" dirty="0">
                <a:latin typeface="Times New Roman" panose="02020603050405020304" pitchFamily="18" charset="0"/>
                <a:cs typeface="Times New Roman" panose="02020603050405020304" pitchFamily="18" charset="0"/>
              </a:rPr>
              <a:t>中，</a:t>
            </a:r>
            <a:r>
              <a:rPr lang="en-US" altLang="zh-CN" sz="1100" b="1" dirty="0">
                <a:latin typeface="Times New Roman" panose="02020603050405020304" pitchFamily="18" charset="0"/>
                <a:cs typeface="Times New Roman" panose="02020603050405020304" pitchFamily="18" charset="0"/>
              </a:rPr>
              <a:t>2 </a:t>
            </a:r>
            <a:r>
              <a:rPr lang="zh-CN" altLang="en-US" sz="1100" b="1" dirty="0">
                <a:latin typeface="Times New Roman" panose="02020603050405020304" pitchFamily="18" charset="0"/>
                <a:cs typeface="Times New Roman" panose="02020603050405020304" pitchFamily="18" charset="0"/>
              </a:rPr>
              <a:t>和 </a:t>
            </a:r>
            <a:r>
              <a:rPr lang="en-US" altLang="zh-CN" sz="1100" b="1" dirty="0">
                <a:latin typeface="Times New Roman" panose="02020603050405020304" pitchFamily="18" charset="0"/>
                <a:cs typeface="Times New Roman" panose="02020603050405020304" pitchFamily="18" charset="0"/>
              </a:rPr>
              <a:t>4 </a:t>
            </a:r>
            <a:r>
              <a:rPr lang="zh-CN" altLang="en-US" sz="1100" b="1" dirty="0">
                <a:latin typeface="Times New Roman" panose="02020603050405020304" pitchFamily="18" charset="0"/>
                <a:cs typeface="Times New Roman" panose="02020603050405020304" pitchFamily="18" charset="0"/>
              </a:rPr>
              <a:t>是 </a:t>
            </a:r>
            <a:r>
              <a:rPr lang="en-US" altLang="zh-CN" sz="1100" b="1" dirty="0">
                <a:latin typeface="Times New Roman" panose="02020603050405020304" pitchFamily="18" charset="0"/>
                <a:cs typeface="Times New Roman" panose="02020603050405020304" pitchFamily="18" charset="0"/>
              </a:rPr>
              <a:t>3 </a:t>
            </a:r>
            <a:r>
              <a:rPr lang="zh-CN" altLang="en-US" sz="1100" b="1" dirty="0">
                <a:latin typeface="Times New Roman" panose="02020603050405020304" pitchFamily="18" charset="0"/>
                <a:cs typeface="Times New Roman" panose="02020603050405020304" pitchFamily="18" charset="0"/>
              </a:rPr>
              <a:t>阶元，</a:t>
            </a:r>
            <a:r>
              <a:rPr lang="en-US" altLang="zh-CN" sz="1100" b="1" dirty="0">
                <a:latin typeface="Times New Roman" panose="02020603050405020304" pitchFamily="18" charset="0"/>
                <a:cs typeface="Times New Roman" panose="02020603050405020304" pitchFamily="18" charset="0"/>
              </a:rPr>
              <a:t>3 </a:t>
            </a:r>
            <a:r>
              <a:rPr lang="zh-CN" altLang="en-US" sz="1100" b="1" dirty="0">
                <a:latin typeface="Times New Roman" panose="02020603050405020304" pitchFamily="18" charset="0"/>
                <a:cs typeface="Times New Roman" panose="02020603050405020304" pitchFamily="18" charset="0"/>
              </a:rPr>
              <a:t>是 </a:t>
            </a:r>
            <a:r>
              <a:rPr lang="en-US" altLang="zh-CN" sz="1100" b="1" dirty="0">
                <a:latin typeface="Times New Roman" panose="02020603050405020304" pitchFamily="18" charset="0"/>
                <a:cs typeface="Times New Roman" panose="02020603050405020304" pitchFamily="18" charset="0"/>
              </a:rPr>
              <a:t>2 </a:t>
            </a:r>
            <a:r>
              <a:rPr lang="zh-CN" altLang="en-US" sz="1100" b="1" dirty="0">
                <a:latin typeface="Times New Roman" panose="02020603050405020304" pitchFamily="18" charset="0"/>
                <a:cs typeface="Times New Roman" panose="02020603050405020304" pitchFamily="18" charset="0"/>
              </a:rPr>
              <a:t>阶元，</a:t>
            </a:r>
            <a:r>
              <a:rPr lang="en-US" altLang="zh-CN" sz="1100" b="1" dirty="0">
                <a:latin typeface="Times New Roman" panose="02020603050405020304" pitchFamily="18" charset="0"/>
                <a:cs typeface="Times New Roman" panose="02020603050405020304" pitchFamily="18" charset="0"/>
              </a:rPr>
              <a:t>1 </a:t>
            </a:r>
            <a:r>
              <a:rPr lang="zh-CN" altLang="en-US" sz="1100" b="1" dirty="0">
                <a:latin typeface="Times New Roman" panose="02020603050405020304" pitchFamily="18" charset="0"/>
                <a:cs typeface="Times New Roman" panose="02020603050405020304" pitchFamily="18" charset="0"/>
              </a:rPr>
              <a:t>和 </a:t>
            </a:r>
            <a:r>
              <a:rPr lang="en-US" altLang="zh-CN" sz="1100" b="1" dirty="0">
                <a:latin typeface="Times New Roman" panose="02020603050405020304" pitchFamily="18" charset="0"/>
                <a:cs typeface="Times New Roman" panose="02020603050405020304" pitchFamily="18" charset="0"/>
              </a:rPr>
              <a:t>5 </a:t>
            </a:r>
            <a:r>
              <a:rPr lang="zh-CN" altLang="en-US" sz="1100" b="1" dirty="0">
                <a:latin typeface="Times New Roman" panose="02020603050405020304" pitchFamily="18" charset="0"/>
                <a:cs typeface="Times New Roman" panose="02020603050405020304" pitchFamily="18" charset="0"/>
              </a:rPr>
              <a:t>是 </a:t>
            </a:r>
            <a:r>
              <a:rPr lang="en-US" altLang="zh-CN" sz="1100" b="1" dirty="0">
                <a:latin typeface="Times New Roman" panose="02020603050405020304" pitchFamily="18" charset="0"/>
                <a:cs typeface="Times New Roman" panose="02020603050405020304" pitchFamily="18" charset="0"/>
              </a:rPr>
              <a:t>6 </a:t>
            </a:r>
            <a:r>
              <a:rPr lang="zh-CN" altLang="en-US" sz="1100" b="1" dirty="0">
                <a:latin typeface="Times New Roman" panose="02020603050405020304" pitchFamily="18" charset="0"/>
                <a:cs typeface="Times New Roman" panose="02020603050405020304" pitchFamily="18" charset="0"/>
              </a:rPr>
              <a:t>阶元，</a:t>
            </a:r>
            <a:r>
              <a:rPr lang="en-US" altLang="zh-CN" sz="1100" b="1" dirty="0">
                <a:latin typeface="Times New Roman" panose="02020603050405020304" pitchFamily="18" charset="0"/>
                <a:cs typeface="Times New Roman" panose="02020603050405020304" pitchFamily="18" charset="0"/>
              </a:rPr>
              <a:t>0 </a:t>
            </a:r>
            <a:r>
              <a:rPr lang="zh-CN" altLang="en-US" sz="1100" b="1" dirty="0">
                <a:latin typeface="Times New Roman" panose="02020603050405020304" pitchFamily="18" charset="0"/>
                <a:cs typeface="Times New Roman" panose="02020603050405020304" pitchFamily="18" charset="0"/>
              </a:rPr>
              <a:t>是 </a:t>
            </a:r>
            <a:r>
              <a:rPr lang="en-US" altLang="zh-CN" sz="1100" b="1" dirty="0">
                <a:latin typeface="Times New Roman" panose="02020603050405020304" pitchFamily="18" charset="0"/>
                <a:cs typeface="Times New Roman" panose="02020603050405020304" pitchFamily="18" charset="0"/>
              </a:rPr>
              <a:t>1 </a:t>
            </a:r>
            <a:r>
              <a:rPr lang="zh-CN" altLang="en-US" sz="1100" b="1" dirty="0">
                <a:latin typeface="Times New Roman" panose="02020603050405020304" pitchFamily="18" charset="0"/>
                <a:cs typeface="Times New Roman" panose="02020603050405020304" pitchFamily="18" charset="0"/>
              </a:rPr>
              <a:t>阶元 </a:t>
            </a:r>
            <a:endParaRPr lang="en-US" altLang="zh-CN" sz="1100" b="1" dirty="0">
              <a:latin typeface="Times New Roman" panose="02020603050405020304" pitchFamily="18" charset="0"/>
              <a:cs typeface="Times New Roman" panose="02020603050405020304" pitchFamily="18" charset="0"/>
            </a:endParaRPr>
          </a:p>
          <a:p>
            <a:pPr>
              <a:lnSpc>
                <a:spcPct val="110000"/>
              </a:lnSpc>
            </a:pPr>
            <a:r>
              <a:rPr lang="zh-CN" altLang="en-US" sz="1050" b="1" dirty="0">
                <a:solidFill>
                  <a:srgbClr val="00B0F0"/>
                </a:solidFill>
                <a:latin typeface="Times New Roman" panose="02020603050405020304" pitchFamily="18" charset="0"/>
                <a:cs typeface="Times New Roman" panose="02020603050405020304" pitchFamily="18" charset="0"/>
              </a:rPr>
              <a:t>注</a:t>
            </a:r>
            <a:r>
              <a:rPr lang="en-US" altLang="zh-CN" sz="1050" b="1" dirty="0">
                <a:solidFill>
                  <a:srgbClr val="00B0F0"/>
                </a:solidFill>
                <a:latin typeface="Times New Roman" panose="02020603050405020304" pitchFamily="18" charset="0"/>
                <a:cs typeface="Times New Roman" panose="02020603050405020304" pitchFamily="18" charset="0"/>
              </a:rPr>
              <a:t>: </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模</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6</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加法群的单位元是</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0, </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元素</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2</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和</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4</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经过</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3</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次模</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6</a:t>
            </a:r>
            <a:r>
              <a:rPr lang="zh-CN" altLang="en-US" sz="1050" b="1" dirty="0">
                <a:latin typeface="楷体" panose="02010609060101010101" pitchFamily="49" charset="-122"/>
                <a:ea typeface="楷体" panose="02010609060101010101" pitchFamily="49" charset="-122"/>
                <a:cs typeface="Times New Roman" panose="02020603050405020304" pitchFamily="18" charset="0"/>
              </a:rPr>
              <a:t>加法运算的结果都是单位元是</a:t>
            </a:r>
            <a:r>
              <a:rPr lang="en-US" altLang="zh-CN" sz="1050" b="1" dirty="0">
                <a:latin typeface="楷体" panose="02010609060101010101" pitchFamily="49" charset="-122"/>
                <a:ea typeface="楷体" panose="02010609060101010101" pitchFamily="49" charset="-122"/>
                <a:cs typeface="Times New Roman" panose="02020603050405020304" pitchFamily="18" charset="0"/>
              </a:rPr>
              <a:t>0</a:t>
            </a:r>
            <a:endParaRPr lang="zh-CN" altLang="en-US" sz="1050" b="1" dirty="0">
              <a:latin typeface="楷体" panose="02010609060101010101" pitchFamily="49" charset="-122"/>
              <a:ea typeface="楷体" panose="02010609060101010101" pitchFamily="49" charset="-122"/>
              <a:cs typeface="Times New Roman" panose="02020603050405020304" pitchFamily="18" charset="0"/>
            </a:endParaRPr>
          </a:p>
          <a:p>
            <a:pPr eaLnBrk="1" hangingPunct="1">
              <a:lnSpc>
                <a:spcPct val="110000"/>
              </a:lnSpc>
              <a:buFontTx/>
              <a:buNone/>
            </a:pPr>
            <a:r>
              <a:rPr lang="en-US" altLang="zh-CN" sz="1100" b="1" dirty="0">
                <a:latin typeface="Times New Roman" panose="02020603050405020304" pitchFamily="18" charset="0"/>
                <a:cs typeface="Times New Roman" panose="02020603050405020304" pitchFamily="18" charset="0"/>
              </a:rPr>
              <a:t>(2)</a:t>
            </a:r>
            <a:r>
              <a:rPr lang="zh-CN" altLang="en-US" sz="1100" b="1" dirty="0">
                <a:latin typeface="Times New Roman" panose="02020603050405020304" pitchFamily="18" charset="0"/>
                <a:cs typeface="Times New Roman" panose="02020603050405020304" pitchFamily="18" charset="0"/>
              </a:rPr>
              <a:t>在</a:t>
            </a:r>
            <a:r>
              <a:rPr lang="en-US" altLang="zh-CN" sz="1100" b="1" dirty="0">
                <a:latin typeface="Times New Roman" panose="02020603050405020304" pitchFamily="18" charset="0"/>
                <a:cs typeface="Times New Roman" panose="02020603050405020304" pitchFamily="18" charset="0"/>
              </a:rPr>
              <a:t>&lt;</a:t>
            </a:r>
            <a:r>
              <a:rPr lang="en-US" altLang="zh-CN" sz="1100" b="1" i="1" dirty="0">
                <a:latin typeface="Times New Roman" panose="02020603050405020304" pitchFamily="18" charset="0"/>
                <a:cs typeface="Times New Roman" panose="02020603050405020304" pitchFamily="18" charset="0"/>
              </a:rPr>
              <a:t>Z</a:t>
            </a:r>
            <a:r>
              <a:rPr lang="en-US" altLang="zh-CN" sz="1100" b="1" dirty="0">
                <a:latin typeface="Times New Roman" panose="02020603050405020304" pitchFamily="18" charset="0"/>
                <a:cs typeface="Times New Roman" panose="02020603050405020304" pitchFamily="18" charset="0"/>
              </a:rPr>
              <a:t>,+&gt;</a:t>
            </a:r>
            <a:r>
              <a:rPr lang="zh-CN" altLang="en-US" sz="1100" b="1" dirty="0">
                <a:latin typeface="Times New Roman" panose="02020603050405020304" pitchFamily="18" charset="0"/>
                <a:cs typeface="Times New Roman" panose="02020603050405020304" pitchFamily="18" charset="0"/>
              </a:rPr>
              <a:t>中，</a:t>
            </a:r>
            <a:r>
              <a:rPr lang="en-US" altLang="zh-CN" sz="1100" b="1" dirty="0">
                <a:latin typeface="Times New Roman" panose="02020603050405020304" pitchFamily="18" charset="0"/>
                <a:cs typeface="Times New Roman" panose="02020603050405020304" pitchFamily="18" charset="0"/>
              </a:rPr>
              <a:t>0 </a:t>
            </a:r>
            <a:r>
              <a:rPr lang="zh-CN" altLang="en-US" sz="1100" b="1" dirty="0">
                <a:latin typeface="Times New Roman" panose="02020603050405020304" pitchFamily="18" charset="0"/>
                <a:cs typeface="Times New Roman" panose="02020603050405020304" pitchFamily="18" charset="0"/>
              </a:rPr>
              <a:t>是 </a:t>
            </a:r>
            <a:r>
              <a:rPr lang="en-US" altLang="zh-CN" sz="1100" b="1" dirty="0">
                <a:latin typeface="Times New Roman" panose="02020603050405020304" pitchFamily="18" charset="0"/>
                <a:cs typeface="Times New Roman" panose="02020603050405020304" pitchFamily="18" charset="0"/>
              </a:rPr>
              <a:t>1 </a:t>
            </a:r>
            <a:r>
              <a:rPr lang="zh-CN" altLang="en-US" sz="1100" b="1" dirty="0">
                <a:latin typeface="Times New Roman" panose="02020603050405020304" pitchFamily="18" charset="0"/>
                <a:cs typeface="Times New Roman" panose="02020603050405020304" pitchFamily="18" charset="0"/>
              </a:rPr>
              <a:t>阶元，其它整数的阶都不存在</a:t>
            </a:r>
            <a:r>
              <a:rPr lang="en-US" altLang="zh-CN" sz="1100" b="1" dirty="0">
                <a:latin typeface="Times New Roman" panose="02020603050405020304" pitchFamily="18" charset="0"/>
                <a:cs typeface="Times New Roman" panose="02020603050405020304" pitchFamily="18" charset="0"/>
              </a:rPr>
              <a:t>. </a:t>
            </a:r>
          </a:p>
          <a:p>
            <a:pPr eaLnBrk="1" hangingPunct="1">
              <a:lnSpc>
                <a:spcPct val="110000"/>
              </a:lnSpc>
              <a:buFontTx/>
              <a:buNone/>
            </a:pPr>
            <a:endParaRPr lang="zh-CN" altLang="en-US" sz="1100" b="1"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76</a:t>
            </a:fld>
            <a:endParaRPr lang="zh-CN" altLang="en-US"/>
          </a:p>
        </p:txBody>
      </p:sp>
    </p:spTree>
    <p:extLst>
      <p:ext uri="{BB962C8B-B14F-4D97-AF65-F5344CB8AC3E}">
        <p14:creationId xmlns:p14="http://schemas.microsoft.com/office/powerpoint/2010/main" val="62556589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3300"/>
                </a:solidFill>
                <a:latin typeface="Times New Roman" panose="02020603050405020304" pitchFamily="18" charset="0"/>
                <a:ea typeface="宋体" panose="02010600030101010101" pitchFamily="2" charset="-122"/>
              </a:rPr>
              <a:t>定理</a:t>
            </a:r>
            <a:r>
              <a:rPr lang="en-US" altLang="zh-CN" sz="1200" b="1" dirty="0">
                <a:solidFill>
                  <a:srgbClr val="FF3300"/>
                </a:solidFill>
                <a:latin typeface="Times New Roman" panose="02020603050405020304" pitchFamily="18" charset="0"/>
                <a:ea typeface="宋体" panose="02010600030101010101" pitchFamily="2" charset="-122"/>
              </a:rPr>
              <a:t>9.4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 </a:t>
            </a:r>
            <a:r>
              <a:rPr lang="en-US" altLang="zh-CN" sz="1200" b="1" i="1" dirty="0">
                <a:solidFill>
                  <a:schemeClr val="tx1"/>
                </a:solidFill>
                <a:latin typeface="Times New Roman" panose="02020603050405020304" pitchFamily="18" charset="0"/>
                <a:ea typeface="宋体" panose="02010600030101010101" pitchFamily="2" charset="-122"/>
              </a:rPr>
              <a:t>G </a:t>
            </a:r>
            <a:r>
              <a:rPr lang="zh-CN" altLang="en-US" sz="1200" b="1" dirty="0">
                <a:solidFill>
                  <a:schemeClr val="tx1"/>
                </a:solidFill>
                <a:latin typeface="Times New Roman" panose="02020603050405020304" pitchFamily="18" charset="0"/>
                <a:ea typeface="宋体" panose="02010600030101010101" pitchFamily="2" charset="-122"/>
              </a:rPr>
              <a:t>为群</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 </a:t>
            </a:r>
            <a:r>
              <a:rPr lang="en-US" altLang="zh-CN" sz="1200" b="1" i="1" dirty="0">
                <a:solidFill>
                  <a:schemeClr val="tx1"/>
                </a:solidFill>
                <a:latin typeface="Times New Roman" panose="02020603050405020304" pitchFamily="18" charset="0"/>
                <a:ea typeface="宋体" panose="02010600030101010101" pitchFamily="2" charset="-122"/>
              </a:rPr>
              <a:t>G </a:t>
            </a:r>
            <a:r>
              <a:rPr lang="zh-CN" altLang="en-US" sz="1200" b="1" dirty="0">
                <a:solidFill>
                  <a:schemeClr val="tx1"/>
                </a:solidFill>
                <a:latin typeface="Times New Roman" panose="02020603050405020304" pitchFamily="18" charset="0"/>
                <a:ea typeface="宋体" panose="02010600030101010101" pitchFamily="2" charset="-122"/>
              </a:rPr>
              <a:t>中的幂运算满足： </a:t>
            </a:r>
            <a:br>
              <a:rPr lang="zh-CN" altLang="en-US" sz="1200" b="1" dirty="0">
                <a:solidFill>
                  <a:schemeClr val="tx1"/>
                </a:solidFill>
                <a:latin typeface="Times New Roman" panose="02020603050405020304" pitchFamily="18" charset="0"/>
                <a:ea typeface="宋体" panose="02010600030101010101" pitchFamily="2" charset="-122"/>
              </a:rPr>
            </a:br>
            <a:r>
              <a:rPr lang="zh-CN" altLang="en-US"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rPr>
              <a:t>(1)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G</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x</a:t>
            </a:r>
            <a:r>
              <a:rPr lang="en-US" altLang="zh-CN" sz="1200" b="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x</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b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b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(2) </a:t>
            </a:r>
            <a:r>
              <a:rPr lang="en-US" altLang="zh-CN" sz="1200" b="1" i="1" dirty="0">
                <a:solidFill>
                  <a:schemeClr val="tx1"/>
                </a:solidFill>
                <a:latin typeface="Times New Roman" panose="02020603050405020304" pitchFamily="18" charset="0"/>
                <a:ea typeface="宋体" panose="02010600030101010101" pitchFamily="2" charset="-122"/>
              </a:rPr>
              <a:t>x</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y</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G</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xy</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rPr>
              <a:t>1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y</a:t>
            </a:r>
            <a:r>
              <a:rPr lang="en-US" altLang="zh-CN" sz="1200" b="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rPr>
              <a:t>1</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x</a:t>
            </a:r>
            <a:r>
              <a:rPr lang="en-US" altLang="zh-CN" sz="1200" b="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rPr>
              <a:t>1</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b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b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(3)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G</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x</a:t>
            </a:r>
            <a:r>
              <a:rPr lang="en-US" altLang="zh-CN" sz="1200" b="1" i="1" baseline="30000"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n</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x</a:t>
            </a:r>
            <a:r>
              <a:rPr lang="en-US" altLang="zh-CN" sz="1200" b="1" i="1" baseline="30000"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m</a:t>
            </a:r>
            <a:r>
              <a:rPr lang="en-US" altLang="zh-CN" sz="1200" b="1" i="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x</a:t>
            </a:r>
            <a:r>
              <a:rPr lang="en-US" altLang="zh-CN" sz="1200" b="1" i="1" baseline="30000"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n</a:t>
            </a:r>
            <a:r>
              <a:rPr lang="en-US" altLang="zh-CN" sz="1200" b="1" baseline="30000"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baseline="30000"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m</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n</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m</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∈Z</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b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b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(4) </a:t>
            </a:r>
            <a:r>
              <a:rPr lang="en-US" altLang="zh-CN" sz="1200" b="1" i="1" dirty="0" err="1">
                <a:solidFill>
                  <a:schemeClr val="tx1"/>
                </a:solidFill>
                <a:latin typeface="Times New Roman" panose="02020603050405020304" pitchFamily="18" charset="0"/>
                <a:ea typeface="宋体" panose="02010600030101010101" pitchFamily="2" charset="-122"/>
              </a:rPr>
              <a:t>x</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G</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x</a:t>
            </a:r>
            <a:r>
              <a:rPr lang="en-US" altLang="zh-CN" sz="1200" b="1" i="1" baseline="30000"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n</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m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x</a:t>
            </a:r>
            <a:r>
              <a:rPr lang="en-US" altLang="zh-CN" sz="1200" b="1" i="1" baseline="30000"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nm</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n</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m</a:t>
            </a:r>
            <a:r>
              <a:rPr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∈Z</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b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b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(5)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若</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G</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为交换群</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(Abel</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群</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，则</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xy</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n </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x</a:t>
            </a:r>
            <a:r>
              <a:rPr lang="en-US" altLang="zh-CN" sz="1200" b="1" i="1" baseline="30000"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n</a:t>
            </a:r>
            <a:r>
              <a:rPr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y</a:t>
            </a:r>
            <a:r>
              <a:rPr lang="en-US" altLang="zh-CN" sz="1200" b="1" i="1" baseline="30000"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n</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100" b="1" dirty="0">
                <a:latin typeface="Times New Roman" panose="02020603050405020304" pitchFamily="18" charset="0"/>
                <a:ea typeface="宋体" panose="02010600030101010101" pitchFamily="2" charset="-122"/>
                <a:sym typeface="Symbol" panose="05050102010706020507" pitchFamily="18" charset="2"/>
              </a:rPr>
              <a:t>(</a:t>
            </a:r>
            <a:r>
              <a:rPr lang="en-US" altLang="zh-CN" sz="1100" b="1" dirty="0">
                <a:latin typeface="Times New Roman" panose="02020603050405020304" pitchFamily="18" charset="0"/>
                <a:sym typeface="Symbol" panose="05050102010706020507" pitchFamily="18" charset="2"/>
              </a:rPr>
              <a:t>Abel</a:t>
            </a:r>
            <a:r>
              <a:rPr lang="zh-CN" altLang="en-US" sz="1100" b="1" dirty="0">
                <a:latin typeface="Times New Roman" panose="02020603050405020304" pitchFamily="18" charset="0"/>
                <a:sym typeface="Symbol" panose="05050102010706020507" pitchFamily="18" charset="2"/>
              </a:rPr>
              <a:t>群的二元运算可交换</a:t>
            </a:r>
            <a:r>
              <a:rPr lang="en-US" altLang="zh-CN" sz="1100" b="1" dirty="0">
                <a:latin typeface="Times New Roman" panose="02020603050405020304" pitchFamily="18" charset="0"/>
                <a:ea typeface="宋体" panose="02010600030101010101" pitchFamily="2" charset="-122"/>
                <a:sym typeface="Symbol" panose="05050102010706020507" pitchFamily="18" charset="2"/>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100" b="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a:p>
            <a:pPr>
              <a:lnSpc>
                <a:spcPct val="120000"/>
              </a:lnSpc>
              <a:spcBef>
                <a:spcPct val="50000"/>
              </a:spcBef>
            </a:pP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证 </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的逆元，</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也是</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的逆元</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根据逆元的</a:t>
            </a:r>
          </a:p>
          <a:p>
            <a:pPr>
              <a:lnSpc>
                <a:spcPct val="120000"/>
              </a:lnSpc>
            </a:pP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惟一性，等式得证</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pPr>
              <a:lnSpc>
                <a:spcPct val="120000"/>
              </a:lnSpc>
            </a:pP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证</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(2)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xy</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100" b="1" i="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pPr>
              <a:lnSpc>
                <a:spcPct val="120000"/>
              </a:lnSpc>
            </a:pP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同理  </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xy</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y</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，故</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1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 </a:t>
            </a:r>
            <a:r>
              <a:rPr lang="en-US" altLang="zh-CN" sz="11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xy</a:t>
            </a:r>
            <a:r>
              <a:rPr lang="en-US" altLang="zh-CN" sz="11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的逆元</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根据逆元的惟一性等式得证</a:t>
            </a:r>
            <a:r>
              <a:rPr lang="en-US" altLang="zh-CN" sz="11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zh-CN" altLang="en-US" sz="1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100" b="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77</a:t>
            </a:fld>
            <a:endParaRPr lang="zh-CN" altLang="en-US"/>
          </a:p>
        </p:txBody>
      </p:sp>
    </p:spTree>
    <p:extLst>
      <p:ext uri="{BB962C8B-B14F-4D97-AF65-F5344CB8AC3E}">
        <p14:creationId xmlns:p14="http://schemas.microsoft.com/office/powerpoint/2010/main" val="368445556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0000"/>
              </a:lnSpc>
            </a:pPr>
            <a:r>
              <a:rPr lang="zh-CN" altLang="en-US" sz="2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说明：</a:t>
            </a:r>
          </a:p>
          <a:p>
            <a:pPr marL="800100" lvl="1" indent="-342900" eaLnBrk="0" hangingPunct="0">
              <a:lnSpc>
                <a:spcPct val="110000"/>
              </a:lnSpc>
              <a:buFont typeface="Wingdings" panose="05000000000000000000" pitchFamily="2" charset="2"/>
              <a:buChar char="Ø"/>
            </a:pP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 (4) (5) </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的证明：</a:t>
            </a:r>
          </a:p>
          <a:p>
            <a:pPr eaLnBrk="0" hangingPunct="0">
              <a:lnSpc>
                <a:spcPct val="110000"/>
              </a:lnSpc>
              <a:buFont typeface="Wingdings" panose="05000000000000000000" pitchFamily="2" charset="2"/>
              <a:buNone/>
            </a:pP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用数学归纳法证明对于自然数</a:t>
            </a:r>
            <a:r>
              <a:rPr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m</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证等式为真，</a:t>
            </a: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0" hangingPunct="0">
              <a:lnSpc>
                <a:spcPct val="110000"/>
              </a:lnSpc>
            </a:pP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然后讨论 </a:t>
            </a:r>
            <a:r>
              <a:rPr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 </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或 </a:t>
            </a:r>
            <a:r>
              <a:rPr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m </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为负数的情况</a:t>
            </a: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lnSpc>
                <a:spcPct val="110000"/>
              </a:lnSpc>
              <a:buFont typeface="Wingdings" panose="05000000000000000000" pitchFamily="2" charset="2"/>
              <a:buChar char="Ø"/>
            </a:pP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(2) </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中的结果可以推广到有限多个元素的情况，即 </a:t>
            </a:r>
            <a:r>
              <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lnSpc>
                <a:spcPct val="110000"/>
              </a:lnSpc>
              <a:buFont typeface="Wingdings" panose="05000000000000000000" pitchFamily="2" charset="2"/>
              <a:buChar char="Ø"/>
            </a:pPr>
            <a:endParaRPr lang="en-US" altLang="zh-CN"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800100" marR="0" lvl="1" indent="-342900" algn="l" defTabSz="914400" rtl="0" eaLnBrk="0" fontAlgn="auto" latinLnBrk="0" hangingPunct="0">
              <a:lnSpc>
                <a:spcPct val="110000"/>
              </a:lnSpc>
              <a:spcBef>
                <a:spcPts val="0"/>
              </a:spcBef>
              <a:spcAft>
                <a:spcPts val="0"/>
              </a:spcAft>
              <a:buClrTx/>
              <a:buSzTx/>
              <a:buFont typeface="Wingdings" panose="05000000000000000000" pitchFamily="2" charset="2"/>
              <a:buChar char="Ø"/>
              <a:tabLst/>
              <a:defRPr/>
            </a:pPr>
            <a:r>
              <a:rPr lang="zh-CN" altLang="en-US" sz="24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等式</a:t>
            </a: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只对交换群成立</a:t>
            </a: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24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是非交换群，那么</a:t>
            </a:r>
            <a:br>
              <a:rPr lang="zh-CN" altLang="en-US" sz="1000" dirty="0">
                <a:solidFill>
                  <a:srgbClr val="000000"/>
                </a:solidFill>
                <a:latin typeface="Times New Roman" panose="02020603050405020304" pitchFamily="18" charset="0"/>
                <a:cs typeface="Times New Roman" panose="02020603050405020304" pitchFamily="18" charset="0"/>
              </a:rPr>
            </a:br>
            <a:r>
              <a:rPr lang="zh-CN" altLang="en-US" sz="1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sz="36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eaLnBrk="0" hangingPunct="0">
              <a:lnSpc>
                <a:spcPct val="110000"/>
              </a:lnSpc>
              <a:buFont typeface="Wingdings" panose="05000000000000000000" pitchFamily="2" charset="2"/>
              <a:buChar char="Ø"/>
            </a:pPr>
            <a:endPar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78</a:t>
            </a:fld>
            <a:endParaRPr lang="zh-CN" altLang="en-US"/>
          </a:p>
        </p:txBody>
      </p:sp>
    </p:spTree>
    <p:extLst>
      <p:ext uri="{BB962C8B-B14F-4D97-AF65-F5344CB8AC3E}">
        <p14:creationId xmlns:p14="http://schemas.microsoft.com/office/powerpoint/2010/main" val="12700043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定理</a:t>
            </a:r>
            <a:r>
              <a:rPr lang="en-US" altLang="zh-CN" sz="12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9.5</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为群</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方程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和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在</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中有解且仅有</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唯</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一解</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证：</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是方程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唯一</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解</a:t>
            </a:r>
            <a:b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将</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代入方程左边得</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 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eb</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b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所以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是该方程的解</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b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假设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c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是方程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ax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的解，必有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ac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，从而有</a:t>
            </a:r>
            <a:b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c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ec</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c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ac</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，解的</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唯一性得证</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同理可证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是方程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的唯一解</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pPr>
              <a:lnSpc>
                <a:spcPct val="120000"/>
              </a:lnSpc>
            </a:pP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sz="1200" b="1" kern="100" dirty="0">
                <a:solidFill>
                  <a:srgbClr val="00B0F0"/>
                </a:solidFill>
                <a:latin typeface="Times New Roman" panose="02020603050405020304" pitchFamily="18" charset="0"/>
                <a:cs typeface="Times New Roman" panose="02020603050405020304" pitchFamily="18" charset="0"/>
              </a:rPr>
              <a:t>注：</a:t>
            </a:r>
            <a:r>
              <a:rPr lang="zh-CN" altLang="en-US" sz="1200" kern="100" dirty="0">
                <a:latin typeface="楷体" panose="02010609060101010101" pitchFamily="49" charset="-122"/>
                <a:ea typeface="楷体" panose="02010609060101010101" pitchFamily="49" charset="-122"/>
                <a:cs typeface="Calibri" panose="020F0502020204030204" pitchFamily="34" charset="0"/>
              </a:rPr>
              <a:t>①</a:t>
            </a:r>
            <a:r>
              <a:rPr lang="zh-CN" altLang="en-US" sz="1200" kern="100" dirty="0">
                <a:latin typeface="Times New Roman" panose="02020603050405020304" pitchFamily="18" charset="0"/>
                <a:ea typeface="楷体" panose="02010609060101010101" pitchFamily="49" charset="-122"/>
                <a:cs typeface="Times New Roman" panose="02020603050405020304" pitchFamily="18" charset="0"/>
              </a:rPr>
              <a:t>群方程可</a:t>
            </a:r>
            <a:r>
              <a:rPr lang="zh-CN" altLang="zh-CN" sz="1200" kern="100" dirty="0">
                <a:latin typeface="Times New Roman" panose="02020603050405020304" pitchFamily="18" charset="0"/>
                <a:ea typeface="楷体" panose="02010609060101010101" pitchFamily="49" charset="-122"/>
                <a:cs typeface="Times New Roman" panose="02020603050405020304" pitchFamily="18" charset="0"/>
              </a:rPr>
              <a:t>在</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给定群</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i="1" kern="100" dirty="0">
                <a:effectLst/>
                <a:latin typeface="Times New Roman" panose="02020603050405020304" pitchFamily="18" charset="0"/>
                <a:ea typeface="楷体" panose="02010609060101010101" pitchFamily="49" charset="-122"/>
                <a:cs typeface="Times New Roman" panose="02020603050405020304" pitchFamily="18" charset="0"/>
              </a:rPr>
              <a:t>G</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中找到满足某种特定关系的元素</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;②</a:t>
            </a:r>
            <a:r>
              <a:rPr lang="zh-CN" altLang="en-US" sz="1200" kern="100" dirty="0">
                <a:effectLst/>
                <a:latin typeface="Times New Roman" panose="02020603050405020304" pitchFamily="18" charset="0"/>
                <a:ea typeface="楷体" panose="02010609060101010101" pitchFamily="49" charset="-122"/>
                <a:cs typeface="Times New Roman" panose="02020603050405020304" pitchFamily="18" charset="0"/>
              </a:rPr>
              <a:t>可</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更深入地理解群的内部结构</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例如子群、同态、同构和自同构</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);③</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可用于描述空间中点的移动、密码</a:t>
            </a:r>
            <a:r>
              <a:rPr lang="zh-CN" altLang="en-US" sz="1200" kern="100" dirty="0">
                <a:effectLst/>
                <a:latin typeface="Times New Roman" panose="02020603050405020304" pitchFamily="18" charset="0"/>
                <a:ea typeface="楷体" panose="02010609060101010101" pitchFamily="49" charset="-122"/>
                <a:cs typeface="Times New Roman" panose="02020603050405020304" pitchFamily="18" charset="0"/>
              </a:rPr>
              <a:t>计算</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、量子系统的对称性</a:t>
            </a:r>
            <a:r>
              <a:rPr lang="zh-CN" altLang="en-US" sz="1200" kern="100" dirty="0">
                <a:effectLst/>
                <a:latin typeface="Times New Roman" panose="02020603050405020304" pitchFamily="18" charset="0"/>
                <a:ea typeface="楷体" panose="02010609060101010101" pitchFamily="49" charset="-122"/>
                <a:cs typeface="Times New Roman" panose="02020603050405020304" pitchFamily="18" charset="0"/>
              </a:rPr>
              <a:t>等领域</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79</a:t>
            </a:fld>
            <a:endParaRPr lang="zh-CN" altLang="en-US"/>
          </a:p>
        </p:txBody>
      </p:sp>
    </p:spTree>
    <p:extLst>
      <p:ext uri="{BB962C8B-B14F-4D97-AF65-F5344CB8AC3E}">
        <p14:creationId xmlns:p14="http://schemas.microsoft.com/office/powerpoint/2010/main" val="371427177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定理</a:t>
            </a:r>
            <a:r>
              <a:rPr lang="en-US" altLang="zh-CN" sz="12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9.5</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为群</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方程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和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在</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中有解且仅有</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唯</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一解</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pPr>
              <a:lnSpc>
                <a:spcPct val="120000"/>
              </a:lnSpc>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证：</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是方程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ax</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唯一</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解</a:t>
            </a:r>
            <a:b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将</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代入方程左边得</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 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eb</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b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所以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是该方程的解</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b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假设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c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是方程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ax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的解，必有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ac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，从而有</a:t>
            </a:r>
            <a:b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c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ec</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c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ac</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，解的</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唯一性得证</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同理可证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是方程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的唯一解</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pPr>
              <a:lnSpc>
                <a:spcPct val="120000"/>
              </a:lnSpc>
            </a:pP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sz="1200" b="1" kern="100" dirty="0">
                <a:solidFill>
                  <a:srgbClr val="00B0F0"/>
                </a:solidFill>
                <a:latin typeface="Times New Roman" panose="02020603050405020304" pitchFamily="18" charset="0"/>
                <a:cs typeface="Times New Roman" panose="02020603050405020304" pitchFamily="18" charset="0"/>
              </a:rPr>
              <a:t>注：</a:t>
            </a:r>
            <a:r>
              <a:rPr lang="zh-CN" altLang="en-US" sz="1200" kern="100" dirty="0">
                <a:latin typeface="楷体" panose="02010609060101010101" pitchFamily="49" charset="-122"/>
                <a:ea typeface="楷体" panose="02010609060101010101" pitchFamily="49" charset="-122"/>
                <a:cs typeface="Calibri" panose="020F0502020204030204" pitchFamily="34" charset="0"/>
              </a:rPr>
              <a:t>①</a:t>
            </a:r>
            <a:r>
              <a:rPr lang="zh-CN" altLang="en-US" sz="1200" kern="100" dirty="0">
                <a:latin typeface="Times New Roman" panose="02020603050405020304" pitchFamily="18" charset="0"/>
                <a:ea typeface="楷体" panose="02010609060101010101" pitchFamily="49" charset="-122"/>
                <a:cs typeface="Times New Roman" panose="02020603050405020304" pitchFamily="18" charset="0"/>
              </a:rPr>
              <a:t>群方程可</a:t>
            </a:r>
            <a:r>
              <a:rPr lang="zh-CN" altLang="zh-CN" sz="1200" kern="100" dirty="0">
                <a:latin typeface="Times New Roman" panose="02020603050405020304" pitchFamily="18" charset="0"/>
                <a:ea typeface="楷体" panose="02010609060101010101" pitchFamily="49" charset="-122"/>
                <a:cs typeface="Times New Roman" panose="02020603050405020304" pitchFamily="18" charset="0"/>
              </a:rPr>
              <a:t>在</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给定群</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i="1" kern="100" dirty="0">
                <a:effectLst/>
                <a:latin typeface="Times New Roman" panose="02020603050405020304" pitchFamily="18" charset="0"/>
                <a:ea typeface="楷体" panose="02010609060101010101" pitchFamily="49" charset="-122"/>
                <a:cs typeface="Times New Roman" panose="02020603050405020304" pitchFamily="18" charset="0"/>
              </a:rPr>
              <a:t>G</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中找到满足某种特定关系的元素</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;②</a:t>
            </a:r>
            <a:r>
              <a:rPr lang="zh-CN" altLang="en-US" sz="1200" kern="100" dirty="0">
                <a:effectLst/>
                <a:latin typeface="Times New Roman" panose="02020603050405020304" pitchFamily="18" charset="0"/>
                <a:ea typeface="楷体" panose="02010609060101010101" pitchFamily="49" charset="-122"/>
                <a:cs typeface="Times New Roman" panose="02020603050405020304" pitchFamily="18" charset="0"/>
              </a:rPr>
              <a:t>可</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更深入地理解群的内部结构</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例如子群、同态、同构和自同构</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);③</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可用于描述空间中点的移动、密码</a:t>
            </a:r>
            <a:r>
              <a:rPr lang="zh-CN" altLang="en-US" sz="1200" kern="100" dirty="0">
                <a:effectLst/>
                <a:latin typeface="Times New Roman" panose="02020603050405020304" pitchFamily="18" charset="0"/>
                <a:ea typeface="楷体" panose="02010609060101010101" pitchFamily="49" charset="-122"/>
                <a:cs typeface="Times New Roman" panose="02020603050405020304" pitchFamily="18" charset="0"/>
              </a:rPr>
              <a:t>计算</a:t>
            </a:r>
            <a:r>
              <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、量子系统的对称性</a:t>
            </a:r>
            <a:r>
              <a:rPr lang="zh-CN" altLang="en-US" sz="1200" kern="100" dirty="0">
                <a:effectLst/>
                <a:latin typeface="Times New Roman" panose="02020603050405020304" pitchFamily="18" charset="0"/>
                <a:ea typeface="楷体" panose="02010609060101010101" pitchFamily="49" charset="-122"/>
                <a:cs typeface="Times New Roman" panose="02020603050405020304" pitchFamily="18" charset="0"/>
              </a:rPr>
              <a:t>等领域</a:t>
            </a:r>
            <a:r>
              <a:rPr lang="en-US" altLang="zh-CN" sz="12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12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endPar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80</a:t>
            </a:fld>
            <a:endParaRPr lang="zh-CN" altLang="en-US"/>
          </a:p>
        </p:txBody>
      </p:sp>
    </p:spTree>
    <p:extLst>
      <p:ext uri="{BB962C8B-B14F-4D97-AF65-F5344CB8AC3E}">
        <p14:creationId xmlns:p14="http://schemas.microsoft.com/office/powerpoint/2010/main" val="128388252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20000"/>
              </a:lnSpc>
              <a:spcBef>
                <a:spcPct val="50000"/>
              </a:spcBef>
              <a:buNone/>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例</a:t>
            </a: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设群 </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&gt;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，其中</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为对称差</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求解群方程</a:t>
            </a:r>
            <a:b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 和  </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p>
          <a:p>
            <a:pPr marL="0" indent="0">
              <a:lnSpc>
                <a:spcPct val="120000"/>
              </a:lnSpc>
              <a:spcBef>
                <a:spcPct val="50000"/>
              </a:spcBef>
              <a:buNone/>
            </a:pPr>
            <a:endPar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0" indent="0">
              <a:lnSpc>
                <a:spcPct val="120000"/>
              </a:lnSpc>
              <a:spcBef>
                <a:spcPct val="50000"/>
              </a:spcBef>
              <a:buNone/>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解</a:t>
            </a: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05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a:t>
            </a:r>
            <a:r>
              <a:rPr lang="zh-CN" altLang="en-US" sz="105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的</a:t>
            </a:r>
            <a:r>
              <a:rPr lang="zh-CN" altLang="zh-CN" sz="1050" b="1" dirty="0">
                <a:effectLst/>
                <a:latin typeface="Times New Roman" panose="02020603050405020304" pitchFamily="18" charset="0"/>
                <a:ea typeface="宋体" panose="02010600030101010101" pitchFamily="2" charset="-122"/>
                <a:cs typeface="Times New Roman" panose="02020603050405020304" pitchFamily="18" charset="0"/>
              </a:rPr>
              <a:t>单位元是空集</a:t>
            </a:r>
            <a:r>
              <a:rPr lang="en-US" altLang="zh-CN" sz="105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zh-CN" sz="1050" b="1" dirty="0">
                <a:effectLst/>
                <a:ea typeface="Times New Roman" panose="02020603050405020304" pitchFamily="18" charset="0"/>
              </a:rPr>
              <a:t> </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p>
          <a:p>
            <a:pPr marL="0" indent="0">
              <a:lnSpc>
                <a:spcPct val="120000"/>
              </a:lnSpc>
              <a:spcBef>
                <a:spcPct val="50000"/>
              </a:spcBef>
              <a:buNone/>
            </a:pP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由</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运算的性质可知</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每个元素是自己的逆元</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即：</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X</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p>
          <a:p>
            <a:pPr marL="0" indent="0">
              <a:lnSpc>
                <a:spcPct val="120000"/>
              </a:lnSpc>
              <a:spcBef>
                <a:spcPct val="50000"/>
              </a:spcBef>
              <a:buNone/>
            </a:pPr>
            <a:endPar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marL="0" indent="0">
              <a:lnSpc>
                <a:spcPct val="120000"/>
              </a:lnSpc>
              <a:buNone/>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解</a:t>
            </a: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要使</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成立</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zh-CN" sz="1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Y</a:t>
            </a:r>
            <a:r>
              <a:rPr lang="zh-CN" altLang="zh-CN" sz="1200" b="1" dirty="0">
                <a:latin typeface="Times New Roman" panose="02020603050405020304" pitchFamily="18" charset="0"/>
                <a:ea typeface="宋体" panose="02010600030101010101" pitchFamily="2" charset="-122"/>
                <a:cs typeface="Times New Roman" panose="02020603050405020304" pitchFamily="18" charset="0"/>
              </a:rPr>
              <a:t> 必须包含 </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dirty="0" err="1">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200" b="1" dirty="0">
                <a:latin typeface="Times New Roman" panose="02020603050405020304" pitchFamily="18" charset="0"/>
                <a:ea typeface="宋体" panose="02010600030101010101" pitchFamily="2" charset="-122"/>
                <a:cs typeface="Times New Roman" panose="02020603050405020304" pitchFamily="18" charset="0"/>
              </a:rPr>
              <a:t> 的逆元以及在</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zh-CN" sz="1200" b="1" dirty="0">
                <a:latin typeface="Times New Roman" panose="02020603050405020304" pitchFamily="18" charset="0"/>
                <a:ea typeface="宋体" panose="02010600030101010101" pitchFamily="2" charset="-122"/>
                <a:cs typeface="Times New Roman" panose="02020603050405020304" pitchFamily="18" charset="0"/>
              </a:rPr>
              <a:t>操作后保留 </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{b},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即</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Y</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81</a:t>
            </a:fld>
            <a:endParaRPr lang="zh-CN" altLang="en-US"/>
          </a:p>
        </p:txBody>
      </p:sp>
    </p:spTree>
    <p:extLst>
      <p:ext uri="{BB962C8B-B14F-4D97-AF65-F5344CB8AC3E}">
        <p14:creationId xmlns:p14="http://schemas.microsoft.com/office/powerpoint/2010/main" val="426684103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由于群的定义和性质（特别是单位元和逆元的存在性）与零元的吸收性质互相矛盾，群中不可能存在一个零元。</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所以消去律对</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中任何元素（包括幺元）都成立。</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en-US" sz="18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定理</a:t>
            </a:r>
            <a:r>
              <a:rPr lang="en-US" altLang="zh-CN" sz="18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9.6</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为群</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中适合消去律，即对任意</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a:t>
            </a:r>
            <a:b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b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若</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ab</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ac</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b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b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(2)  </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若</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ba</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ca</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b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br>
            <a:r>
              <a:rPr lang="zh-CN" altLang="en-US" sz="18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证</a:t>
            </a:r>
            <a:r>
              <a:rPr lang="en-US" altLang="zh-CN" sz="18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ab</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ac</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8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ab</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8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800" b="1" baseline="30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8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ac</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800" b="1" baseline="30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8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800" b="1" baseline="30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8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c</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b=c     </a:t>
            </a:r>
          </a:p>
          <a:p>
            <a:pPr>
              <a:lnSpc>
                <a:spcPct val="120000"/>
              </a:lnSpc>
            </a:pP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(2) </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同理可证</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ct val="50000"/>
              </a:spcBef>
            </a:pPr>
            <a:r>
              <a:rPr lang="zh-CN" altLang="en-US"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设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阶群，令</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j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=1,2, …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证明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20000"/>
              </a:lnSpc>
            </a:pP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说明</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20000"/>
              </a:lnSpc>
            </a:pP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①</a:t>
            </a:r>
            <a:r>
              <a:rPr lang="en-US" altLang="zh-CN" sz="1100" i="1"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1100" i="1" kern="0"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kern="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是</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与群 </a:t>
            </a:r>
            <a:r>
              <a:rPr lang="en-US" altLang="zh-CN" sz="1100" i="1"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G</a:t>
            </a:r>
            <a:r>
              <a:rPr lang="en-US"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中所有其他元素的乘积组成的集合</a:t>
            </a:r>
            <a:r>
              <a:rPr lang="en-US"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p>
          <a:p>
            <a:pPr>
              <a:lnSpc>
                <a:spcPct val="120000"/>
              </a:lnSpc>
            </a:pPr>
            <a:r>
              <a:rPr lang="en-US" altLang="zh-CN" sz="1100" kern="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②</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意味着</a:t>
            </a:r>
            <a:r>
              <a:rPr lang="zh-CN" altLang="en-US" sz="1100" dirty="0">
                <a:effectLst/>
                <a:latin typeface="Times New Roman" panose="02020603050405020304" pitchFamily="18" charset="0"/>
                <a:ea typeface="楷体" panose="02010609060101010101" pitchFamily="49" charset="-122"/>
                <a:cs typeface="Times New Roman" panose="02020603050405020304" pitchFamily="18" charset="0"/>
              </a:rPr>
              <a:t>二者</a:t>
            </a:r>
            <a:r>
              <a:rPr lang="zh-CN" altLang="zh-CN" sz="1100" dirty="0">
                <a:effectLst/>
                <a:latin typeface="Times New Roman" panose="02020603050405020304" pitchFamily="18" charset="0"/>
                <a:ea typeface="楷体" panose="02010609060101010101" pitchFamily="49" charset="-122"/>
                <a:cs typeface="Times New Roman" panose="02020603050405020304" pitchFamily="18" charset="0"/>
              </a:rPr>
              <a:t>包含</a:t>
            </a:r>
            <a:r>
              <a:rPr lang="zh-CN" altLang="en-US" sz="1100" dirty="0">
                <a:effectLst/>
                <a:latin typeface="Times New Roman" panose="02020603050405020304" pitchFamily="18" charset="0"/>
                <a:ea typeface="楷体" panose="02010609060101010101" pitchFamily="49" charset="-122"/>
                <a:cs typeface="Times New Roman" panose="02020603050405020304" pitchFamily="18" charset="0"/>
              </a:rPr>
              <a:t>有</a:t>
            </a:r>
            <a:r>
              <a:rPr lang="zh-CN" altLang="zh-CN" sz="1100" dirty="0">
                <a:effectLst/>
                <a:latin typeface="Times New Roman" panose="02020603050405020304" pitchFamily="18" charset="0"/>
                <a:ea typeface="楷体" panose="02010609060101010101" pitchFamily="49" charset="-122"/>
                <a:cs typeface="Times New Roman" panose="02020603050405020304" pitchFamily="18" charset="0"/>
              </a:rPr>
              <a:t>相同的元素</a:t>
            </a:r>
            <a:r>
              <a:rPr lang="zh-CN" altLang="en-US" sz="1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100" dirty="0">
              <a:effectLst/>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③</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尽管元素顺序可能因乘以 </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而变化</a:t>
            </a:r>
            <a:r>
              <a:rPr lang="en-US"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但结构和操作的性质</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均</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保持不变</a:t>
            </a:r>
            <a:r>
              <a:rPr lang="en-US" altLang="zh-CN" sz="1100" kern="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1100" kern="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同构</a:t>
            </a:r>
            <a:r>
              <a:rPr lang="en-US" altLang="zh-CN"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p>
          <a:p>
            <a:pPr>
              <a:lnSpc>
                <a:spcPct val="120000"/>
              </a:lnSpc>
            </a:pP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④群的对称性保证了每个元素的作用在群结构上是平等的</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没有哪个元素可以单独改变群的整体结构</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1100"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82</a:t>
            </a:fld>
            <a:endParaRPr lang="zh-CN" altLang="en-US"/>
          </a:p>
        </p:txBody>
      </p:sp>
    </p:spTree>
    <p:extLst>
      <p:ext uri="{BB962C8B-B14F-4D97-AF65-F5344CB8AC3E}">
        <p14:creationId xmlns:p14="http://schemas.microsoft.com/office/powerpoint/2010/main" val="383219297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由于群的定义和性质（特别是单位元和逆元的存在性）与零元的吸收性质互相矛盾，群中不可能存在一个零元。</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所以消去律对</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中任何元素（包括幺元）都成立。</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en-US" sz="18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定理</a:t>
            </a:r>
            <a:r>
              <a:rPr lang="en-US" altLang="zh-CN" sz="18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9.6</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为群</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中适合消去律，即对任意</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a:t>
            </a:r>
            <a:br>
              <a:rPr lang="zh-CN" altLang="en-US" sz="2400" b="1" kern="1200" dirty="0">
                <a:solidFill>
                  <a:srgbClr val="0B61FF"/>
                </a:solidFill>
                <a:latin typeface="Trebuchet MS" panose="020B0603020202020204" pitchFamily="34" charset="0"/>
                <a:ea typeface="+mn-ea"/>
                <a:cs typeface="+mn-cs"/>
              </a:rPr>
            </a:br>
            <a:r>
              <a:rPr lang="zh-CN" altLang="en-US" sz="2400" b="1" kern="1200" dirty="0">
                <a:solidFill>
                  <a:srgbClr val="0B61FF"/>
                </a:solidFill>
                <a:latin typeface="Trebuchet MS" panose="020B0603020202020204" pitchFamily="34" charset="0"/>
                <a:ea typeface="+mn-ea"/>
                <a:cs typeface="+mn-cs"/>
              </a:rPr>
              <a:t>     </a:t>
            </a:r>
            <a:r>
              <a:rPr lang="en-US" altLang="zh-CN" sz="2400" b="1" kern="1200" dirty="0">
                <a:solidFill>
                  <a:srgbClr val="0B61FF"/>
                </a:solidFill>
                <a:latin typeface="Trebuchet MS" panose="020B0603020202020204" pitchFamily="34" charset="0"/>
                <a:ea typeface="+mn-ea"/>
                <a:cs typeface="+mn-cs"/>
              </a:rPr>
              <a:t>(1)  </a:t>
            </a:r>
            <a:r>
              <a:rPr lang="zh-CN" altLang="en-US" sz="2400" b="1" kern="1200" dirty="0">
                <a:solidFill>
                  <a:srgbClr val="0B61FF"/>
                </a:solidFill>
                <a:latin typeface="Trebuchet MS" panose="020B0603020202020204" pitchFamily="34" charset="0"/>
                <a:ea typeface="+mn-ea"/>
                <a:cs typeface="+mn-cs"/>
              </a:rPr>
              <a:t>若</a:t>
            </a:r>
            <a:r>
              <a:rPr lang="en-US" altLang="zh-CN" sz="2400" b="1" kern="1200" dirty="0">
                <a:solidFill>
                  <a:srgbClr val="0B61FF"/>
                </a:solidFill>
                <a:latin typeface="Trebuchet MS" panose="020B0603020202020204" pitchFamily="34" charset="0"/>
                <a:ea typeface="+mn-ea"/>
                <a:cs typeface="+mn-cs"/>
              </a:rPr>
              <a:t>ab=ac</a:t>
            </a:r>
            <a:r>
              <a:rPr lang="zh-CN" altLang="en-US" sz="2400" b="1" kern="1200" dirty="0">
                <a:solidFill>
                  <a:srgbClr val="0B61FF"/>
                </a:solidFill>
                <a:latin typeface="Trebuchet MS" panose="020B0603020202020204" pitchFamily="34" charset="0"/>
                <a:ea typeface="+mn-ea"/>
                <a:cs typeface="+mn-cs"/>
              </a:rPr>
              <a:t>，则</a:t>
            </a:r>
            <a:r>
              <a:rPr lang="en-US" altLang="zh-CN" sz="2400" b="1" kern="1200" dirty="0">
                <a:solidFill>
                  <a:srgbClr val="0B61FF"/>
                </a:solidFill>
                <a:latin typeface="Trebuchet MS" panose="020B0603020202020204" pitchFamily="34" charset="0"/>
                <a:ea typeface="+mn-ea"/>
                <a:cs typeface="+mn-cs"/>
              </a:rPr>
              <a:t>b=c.</a:t>
            </a:r>
            <a:br>
              <a:rPr lang="en-US" altLang="zh-CN" sz="2400" b="1" kern="1200" dirty="0">
                <a:solidFill>
                  <a:srgbClr val="0B61FF"/>
                </a:solidFill>
                <a:latin typeface="Trebuchet MS" panose="020B0603020202020204" pitchFamily="34" charset="0"/>
                <a:ea typeface="+mn-ea"/>
                <a:cs typeface="+mn-cs"/>
              </a:rPr>
            </a:br>
            <a:r>
              <a:rPr lang="en-US" altLang="zh-CN" sz="2400" b="1" kern="1200" dirty="0">
                <a:solidFill>
                  <a:srgbClr val="0B61FF"/>
                </a:solidFill>
                <a:latin typeface="Trebuchet MS" panose="020B0603020202020204" pitchFamily="34" charset="0"/>
                <a:ea typeface="+mn-ea"/>
                <a:cs typeface="+mn-cs"/>
              </a:rPr>
              <a:t>     (2)  </a:t>
            </a:r>
            <a:r>
              <a:rPr lang="zh-CN" altLang="en-US" sz="2400" b="1" kern="1200" dirty="0">
                <a:solidFill>
                  <a:srgbClr val="0B61FF"/>
                </a:solidFill>
                <a:latin typeface="Trebuchet MS" panose="020B0603020202020204" pitchFamily="34" charset="0"/>
                <a:ea typeface="+mn-ea"/>
                <a:cs typeface="+mn-cs"/>
              </a:rPr>
              <a:t>若</a:t>
            </a:r>
            <a:r>
              <a:rPr lang="en-US" altLang="zh-CN" sz="2400" b="1" kern="1200" dirty="0" err="1">
                <a:solidFill>
                  <a:srgbClr val="0B61FF"/>
                </a:solidFill>
                <a:latin typeface="Trebuchet MS" panose="020B0603020202020204" pitchFamily="34" charset="0"/>
                <a:ea typeface="+mn-ea"/>
                <a:cs typeface="+mn-cs"/>
              </a:rPr>
              <a:t>ba</a:t>
            </a:r>
            <a:r>
              <a:rPr lang="en-US" altLang="zh-CN" sz="2400" b="1" kern="1200" dirty="0">
                <a:solidFill>
                  <a:srgbClr val="0B61FF"/>
                </a:solidFill>
                <a:latin typeface="Trebuchet MS" panose="020B0603020202020204" pitchFamily="34" charset="0"/>
                <a:ea typeface="+mn-ea"/>
                <a:cs typeface="+mn-cs"/>
              </a:rPr>
              <a:t>=ca</a:t>
            </a:r>
            <a:r>
              <a:rPr lang="zh-CN" altLang="en-US" sz="2400" b="1" kern="1200" dirty="0">
                <a:solidFill>
                  <a:srgbClr val="0B61FF"/>
                </a:solidFill>
                <a:latin typeface="Trebuchet MS" panose="020B0603020202020204" pitchFamily="34" charset="0"/>
                <a:ea typeface="+mn-ea"/>
                <a:cs typeface="+mn-cs"/>
              </a:rPr>
              <a:t>，则</a:t>
            </a:r>
            <a:r>
              <a:rPr lang="en-US" altLang="zh-CN" sz="2400" b="1" kern="1200" dirty="0">
                <a:solidFill>
                  <a:srgbClr val="0B61FF"/>
                </a:solidFill>
                <a:latin typeface="Trebuchet MS" panose="020B0603020202020204" pitchFamily="34" charset="0"/>
                <a:ea typeface="+mn-ea"/>
                <a:cs typeface="+mn-cs"/>
              </a:rPr>
              <a:t>b=c. </a:t>
            </a:r>
            <a:br>
              <a:rPr lang="en-US" altLang="zh-CN" sz="2400" b="1" kern="1200" dirty="0">
                <a:solidFill>
                  <a:srgbClr val="0B61FF"/>
                </a:solidFill>
                <a:latin typeface="Trebuchet MS" panose="020B0603020202020204" pitchFamily="34" charset="0"/>
                <a:ea typeface="+mn-ea"/>
                <a:cs typeface="+mn-cs"/>
              </a:rPr>
            </a:br>
            <a:r>
              <a:rPr lang="zh-CN" altLang="en-US" sz="2400" b="1" kern="1200" dirty="0">
                <a:solidFill>
                  <a:srgbClr val="0B61FF"/>
                </a:solidFill>
                <a:latin typeface="Trebuchet MS" panose="020B0603020202020204" pitchFamily="34" charset="0"/>
                <a:ea typeface="+mn-ea"/>
                <a:cs typeface="+mn-cs"/>
              </a:rPr>
              <a:t>证</a:t>
            </a:r>
            <a:r>
              <a:rPr lang="en-US" altLang="zh-CN" sz="2400" b="1" kern="1200" dirty="0">
                <a:solidFill>
                  <a:srgbClr val="0B61FF"/>
                </a:solidFill>
                <a:latin typeface="Trebuchet MS" panose="020B0603020202020204" pitchFamily="34" charset="0"/>
                <a:ea typeface="+mn-ea"/>
                <a:cs typeface="+mn-cs"/>
              </a:rPr>
              <a:t>:</a:t>
            </a:r>
            <a:r>
              <a:rPr lang="zh-CN" altLang="en-US" sz="2400" b="1" kern="1200" dirty="0">
                <a:solidFill>
                  <a:srgbClr val="0B61FF"/>
                </a:solidFill>
                <a:latin typeface="Trebuchet MS" panose="020B0603020202020204" pitchFamily="34" charset="0"/>
                <a:ea typeface="+mn-ea"/>
                <a:cs typeface="+mn-cs"/>
              </a:rPr>
              <a:t>  </a:t>
            </a:r>
            <a:r>
              <a:rPr lang="en-US" altLang="zh-CN" sz="2400" b="1" kern="1200" dirty="0">
                <a:solidFill>
                  <a:srgbClr val="0B61FF"/>
                </a:solidFill>
                <a:latin typeface="Trebuchet MS" panose="020B0603020202020204" pitchFamily="34" charset="0"/>
                <a:ea typeface="+mn-ea"/>
                <a:cs typeface="+mn-cs"/>
              </a:rPr>
              <a:t>(1) ab=ac </a:t>
            </a:r>
            <a:r>
              <a:rPr lang="en-US" altLang="zh-CN" sz="2400" b="1" kern="1200" dirty="0">
                <a:solidFill>
                  <a:srgbClr val="0B61FF"/>
                </a:solidFill>
                <a:latin typeface="Trebuchet MS" panose="020B0603020202020204" pitchFamily="34" charset="0"/>
                <a:ea typeface="+mn-ea"/>
                <a:cs typeface="+mn-cs"/>
                <a:sym typeface="Symbol" panose="05050102010706020507" pitchFamily="18" charset="2"/>
              </a:rPr>
              <a:t> a1(ab)=a 1(ac)  (a1a)b=(a1a)c  b=c     </a:t>
            </a:r>
          </a:p>
          <a:p>
            <a:pPr>
              <a:lnSpc>
                <a:spcPct val="120000"/>
              </a:lnSpc>
            </a:pPr>
            <a:r>
              <a:rPr lang="en-US" altLang="zh-CN" sz="2400" b="1" kern="1200" dirty="0">
                <a:solidFill>
                  <a:srgbClr val="0B61FF"/>
                </a:solidFill>
                <a:latin typeface="Trebuchet MS" panose="020B0603020202020204" pitchFamily="34" charset="0"/>
                <a:ea typeface="+mn-ea"/>
                <a:cs typeface="+mn-cs"/>
                <a:sym typeface="Symbol" panose="05050102010706020507" pitchFamily="18" charset="2"/>
              </a:rPr>
              <a:t>       (2) </a:t>
            </a:r>
            <a:r>
              <a:rPr lang="zh-CN" altLang="en-US" sz="2400" b="1" kern="1200" dirty="0">
                <a:solidFill>
                  <a:srgbClr val="0B61FF"/>
                </a:solidFill>
                <a:latin typeface="Trebuchet MS" panose="020B0603020202020204" pitchFamily="34" charset="0"/>
                <a:ea typeface="+mn-ea"/>
                <a:cs typeface="+mn-cs"/>
                <a:sym typeface="Symbol" panose="05050102010706020507" pitchFamily="18" charset="2"/>
              </a:rPr>
              <a:t>同理可证</a:t>
            </a:r>
            <a:r>
              <a:rPr lang="en-US" altLang="zh-CN" sz="2400" b="1" kern="1200" dirty="0">
                <a:solidFill>
                  <a:srgbClr val="0B61FF"/>
                </a:solidFill>
                <a:latin typeface="Trebuchet MS" panose="020B0603020202020204" pitchFamily="34" charset="0"/>
                <a:ea typeface="+mn-ea"/>
                <a:cs typeface="+mn-cs"/>
                <a:sym typeface="Symbol" panose="05050102010706020507" pitchFamily="18" charset="2"/>
              </a:rPr>
              <a:t>. </a:t>
            </a:r>
            <a:endParaRPr lang="en-US" altLang="zh-CN" sz="2400" b="1" kern="1200" dirty="0">
              <a:solidFill>
                <a:srgbClr val="0B61FF"/>
              </a:solidFill>
              <a:latin typeface="Trebuchet MS" panose="020B0603020202020204" pitchFamily="34" charset="0"/>
              <a:ea typeface="+mn-ea"/>
              <a:cs typeface="+mn-cs"/>
            </a:endParaRPr>
          </a:p>
          <a:p>
            <a:endParaRPr lang="en-US" altLang="zh-CN" sz="2400" b="1" kern="1200" dirty="0">
              <a:solidFill>
                <a:srgbClr val="0B61FF"/>
              </a:solidFill>
              <a:latin typeface="Trebuchet MS" panose="020B0603020202020204" pitchFamily="34" charset="0"/>
              <a:ea typeface="+mn-ea"/>
              <a:cs typeface="+mn-cs"/>
            </a:endParaRPr>
          </a:p>
          <a:p>
            <a:endParaRPr lang="en-US" altLang="zh-CN" sz="2400" b="1" kern="1200" dirty="0">
              <a:solidFill>
                <a:srgbClr val="0B61FF"/>
              </a:solidFill>
              <a:latin typeface="Trebuchet MS" panose="020B0603020202020204" pitchFamily="34" charset="0"/>
              <a:ea typeface="+mn-ea"/>
              <a:cs typeface="+mn-cs"/>
            </a:endParaRPr>
          </a:p>
          <a:p>
            <a:pPr>
              <a:lnSpc>
                <a:spcPct val="120000"/>
              </a:lnSpc>
              <a:spcBef>
                <a:spcPct val="50000"/>
              </a:spcBef>
            </a:pPr>
            <a:r>
              <a:rPr lang="zh-CN" altLang="en-US" sz="2400" b="1" kern="1200" dirty="0">
                <a:solidFill>
                  <a:srgbClr val="0B61FF"/>
                </a:solidFill>
                <a:latin typeface="Trebuchet MS" panose="020B0603020202020204" pitchFamily="34" charset="0"/>
                <a:ea typeface="+mn-ea"/>
                <a:cs typeface="+mn-cs"/>
              </a:rPr>
              <a:t>例</a:t>
            </a:r>
            <a:r>
              <a:rPr lang="en-US" altLang="zh-CN" sz="2400" b="1" kern="1200" dirty="0">
                <a:solidFill>
                  <a:srgbClr val="0B61FF"/>
                </a:solidFill>
                <a:latin typeface="Trebuchet MS" panose="020B0603020202020204" pitchFamily="34" charset="0"/>
                <a:ea typeface="+mn-ea"/>
                <a:cs typeface="+mn-cs"/>
              </a:rPr>
              <a:t>: </a:t>
            </a:r>
            <a:r>
              <a:rPr lang="zh-CN" altLang="en-US" sz="2400" b="1" kern="1200" dirty="0">
                <a:solidFill>
                  <a:srgbClr val="0B61FF"/>
                </a:solidFill>
                <a:latin typeface="Trebuchet MS" panose="020B0603020202020204" pitchFamily="34" charset="0"/>
                <a:ea typeface="+mn-ea"/>
                <a:cs typeface="+mn-cs"/>
              </a:rPr>
              <a:t>设 </a:t>
            </a:r>
            <a:r>
              <a:rPr lang="en-US" altLang="zh-CN" sz="2400" b="1" kern="1200" dirty="0">
                <a:solidFill>
                  <a:srgbClr val="0B61FF"/>
                </a:solidFill>
                <a:latin typeface="Trebuchet MS" panose="020B0603020202020204" pitchFamily="34" charset="0"/>
                <a:ea typeface="+mn-ea"/>
                <a:cs typeface="+mn-cs"/>
              </a:rPr>
              <a:t>G={a1, a2, …, an} </a:t>
            </a:r>
            <a:r>
              <a:rPr lang="zh-CN" altLang="en-US" sz="2400" b="1" kern="1200" dirty="0">
                <a:solidFill>
                  <a:srgbClr val="0B61FF"/>
                </a:solidFill>
                <a:latin typeface="Trebuchet MS" panose="020B0603020202020204" pitchFamily="34" charset="0"/>
                <a:ea typeface="+mn-ea"/>
                <a:cs typeface="+mn-cs"/>
              </a:rPr>
              <a:t>是 </a:t>
            </a:r>
            <a:r>
              <a:rPr lang="en-US" altLang="zh-CN" sz="2400" b="1" kern="1200" dirty="0">
                <a:solidFill>
                  <a:srgbClr val="0B61FF"/>
                </a:solidFill>
                <a:latin typeface="Trebuchet MS" panose="020B0603020202020204" pitchFamily="34" charset="0"/>
                <a:ea typeface="+mn-ea"/>
                <a:cs typeface="+mn-cs"/>
              </a:rPr>
              <a:t>n </a:t>
            </a:r>
            <a:r>
              <a:rPr lang="zh-CN" altLang="en-US" sz="2400" b="1" kern="1200" dirty="0">
                <a:solidFill>
                  <a:srgbClr val="0B61FF"/>
                </a:solidFill>
                <a:latin typeface="Trebuchet MS" panose="020B0603020202020204" pitchFamily="34" charset="0"/>
                <a:ea typeface="+mn-ea"/>
                <a:cs typeface="+mn-cs"/>
              </a:rPr>
              <a:t>阶群，令</a:t>
            </a:r>
          </a:p>
          <a:p>
            <a:pPr>
              <a:lnSpc>
                <a:spcPct val="120000"/>
              </a:lnSpc>
            </a:pP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12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j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=1,2, … ,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证明 </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2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2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20000"/>
              </a:lnSpc>
            </a:pPr>
            <a:r>
              <a:rPr lang="zh-CN" altLang="en-US"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说明</a:t>
            </a:r>
            <a:r>
              <a:rPr lang="en-US" altLang="zh-CN" sz="11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20000"/>
              </a:lnSpc>
            </a:pP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①</a:t>
            </a:r>
            <a:r>
              <a:rPr lang="en-US" altLang="zh-CN" sz="1100" i="1"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1100" i="1" kern="0"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kern="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是</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与群 </a:t>
            </a:r>
            <a:r>
              <a:rPr lang="en-US" altLang="zh-CN" sz="1100" i="1"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G</a:t>
            </a:r>
            <a:r>
              <a:rPr lang="en-US"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中所有其他元素的乘积组成的集合</a:t>
            </a:r>
            <a:r>
              <a:rPr lang="en-US"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p>
          <a:p>
            <a:pPr>
              <a:lnSpc>
                <a:spcPct val="120000"/>
              </a:lnSpc>
            </a:pPr>
            <a:r>
              <a:rPr lang="en-US" altLang="zh-CN" sz="1100" kern="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②</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意味着</a:t>
            </a:r>
            <a:r>
              <a:rPr lang="zh-CN" altLang="en-US" sz="1100" dirty="0">
                <a:effectLst/>
                <a:latin typeface="Times New Roman" panose="02020603050405020304" pitchFamily="18" charset="0"/>
                <a:ea typeface="楷体" panose="02010609060101010101" pitchFamily="49" charset="-122"/>
                <a:cs typeface="Times New Roman" panose="02020603050405020304" pitchFamily="18" charset="0"/>
              </a:rPr>
              <a:t>二者</a:t>
            </a:r>
            <a:r>
              <a:rPr lang="zh-CN" altLang="zh-CN" sz="1100" dirty="0">
                <a:effectLst/>
                <a:latin typeface="Times New Roman" panose="02020603050405020304" pitchFamily="18" charset="0"/>
                <a:ea typeface="楷体" panose="02010609060101010101" pitchFamily="49" charset="-122"/>
                <a:cs typeface="Times New Roman" panose="02020603050405020304" pitchFamily="18" charset="0"/>
              </a:rPr>
              <a:t>包含</a:t>
            </a:r>
            <a:r>
              <a:rPr lang="zh-CN" altLang="en-US" sz="1100" dirty="0">
                <a:effectLst/>
                <a:latin typeface="Times New Roman" panose="02020603050405020304" pitchFamily="18" charset="0"/>
                <a:ea typeface="楷体" panose="02010609060101010101" pitchFamily="49" charset="-122"/>
                <a:cs typeface="Times New Roman" panose="02020603050405020304" pitchFamily="18" charset="0"/>
              </a:rPr>
              <a:t>有</a:t>
            </a:r>
            <a:r>
              <a:rPr lang="zh-CN" altLang="zh-CN" sz="1100" dirty="0">
                <a:effectLst/>
                <a:latin typeface="Times New Roman" panose="02020603050405020304" pitchFamily="18" charset="0"/>
                <a:ea typeface="楷体" panose="02010609060101010101" pitchFamily="49" charset="-122"/>
                <a:cs typeface="Times New Roman" panose="02020603050405020304" pitchFamily="18" charset="0"/>
              </a:rPr>
              <a:t>相同的元素</a:t>
            </a:r>
            <a:r>
              <a:rPr lang="zh-CN" altLang="en-US" sz="1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100" dirty="0">
              <a:effectLst/>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③</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尽管元素顺序可能因乘以 </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而变化</a:t>
            </a:r>
            <a:r>
              <a:rPr lang="en-US"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但结构和操作的性质</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均</a:t>
            </a:r>
            <a:r>
              <a:rPr lang="zh-CN" altLang="zh-CN" sz="1100" kern="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保持不变</a:t>
            </a:r>
            <a:r>
              <a:rPr lang="en-US" altLang="zh-CN" sz="1100" kern="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1100" kern="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1100" i="1" baseline="-25000"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sz="1100" i="1" dirty="0" err="1">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100"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11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同构</a:t>
            </a:r>
            <a:r>
              <a:rPr lang="en-US" altLang="zh-CN"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p>
          <a:p>
            <a:pPr>
              <a:lnSpc>
                <a:spcPct val="120000"/>
              </a:lnSpc>
            </a:pP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④群的对称性保证了每个元素的作用在群结构上是平等的</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没有哪个元素可以单独改变群的整体结构</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1100"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83</a:t>
            </a:fld>
            <a:endParaRPr lang="zh-CN" altLang="en-US"/>
          </a:p>
        </p:txBody>
      </p:sp>
    </p:spTree>
    <p:extLst>
      <p:ext uri="{BB962C8B-B14F-4D97-AF65-F5344CB8AC3E}">
        <p14:creationId xmlns:p14="http://schemas.microsoft.com/office/powerpoint/2010/main" val="183710534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这种性质显示了群的对称性，即每个元素的作用在群结构上是平等的，</a:t>
            </a:r>
            <a:r>
              <a:rPr lang="zh-CN" altLang="zh-CN" sz="1800" kern="0" dirty="0">
                <a:solidFill>
                  <a:srgbClr val="0D0D0D"/>
                </a:solidFill>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没有哪个元素可以单独改变群的整体结构</a:t>
            </a:r>
            <a:r>
              <a:rPr lang="zh-CN" altLang="zh-CN" sz="1800" kern="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。这是群理论中一个非常重要的概念，因为它关系到群的操作如何在整个结构中均匀分布。</a:t>
            </a:r>
            <a:endParaRPr lang="en-US" altLang="zh-CN" sz="1800" kern="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ct val="50000"/>
              </a:spcBef>
            </a:pPr>
            <a:r>
              <a:rPr lang="zh-CN" altLang="en-US" sz="18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证明</a:t>
            </a:r>
            <a:r>
              <a:rPr lang="en-US" altLang="zh-CN" sz="18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群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满足封闭性、结合律、有幺元和逆元</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要证明</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 </a:t>
            </a:r>
            <a:r>
              <a:rPr lang="zh-CN" altLang="en-US" sz="1800" b="1" dirty="0">
                <a:effectLst/>
                <a:latin typeface="Times New Roman" panose="02020603050405020304" pitchFamily="18" charset="0"/>
                <a:cs typeface="Times New Roman" panose="02020603050405020304" pitchFamily="18" charset="0"/>
              </a:rPr>
              <a:t>则</a:t>
            </a:r>
            <a:r>
              <a:rPr lang="zh-CN" altLang="zh-CN" sz="1800" b="1" dirty="0">
                <a:effectLst/>
                <a:latin typeface="Times New Roman" panose="02020603050405020304" pitchFamily="18" charset="0"/>
                <a:cs typeface="Times New Roman" panose="02020603050405020304" pitchFamily="18" charset="0"/>
              </a:rPr>
              <a:t>需要证明</a:t>
            </a:r>
            <a:r>
              <a:rPr lang="en-US" altLang="zh-CN" sz="1800" b="1" i="1" dirty="0" err="1">
                <a:latin typeface="Times New Roman" panose="02020603050405020304" pitchFamily="18" charset="0"/>
                <a:cs typeface="Times New Roman" panose="02020603050405020304" pitchFamily="18" charset="0"/>
              </a:rPr>
              <a:t>a</a:t>
            </a:r>
            <a:r>
              <a:rPr lang="en-US" altLang="zh-CN" sz="1800" b="1" i="1" baseline="-25000" dirty="0" err="1">
                <a:latin typeface="Times New Roman" panose="02020603050405020304" pitchFamily="18" charset="0"/>
                <a:cs typeface="Times New Roman" panose="02020603050405020304" pitchFamily="18" charset="0"/>
              </a:rPr>
              <a:t>i</a:t>
            </a:r>
            <a:r>
              <a:rPr lang="en-US" altLang="zh-CN" sz="1800" b="1" i="1" dirty="0" err="1">
                <a:latin typeface="Times New Roman" panose="02020603050405020304" pitchFamily="18" charset="0"/>
                <a:cs typeface="Times New Roman" panose="02020603050405020304" pitchFamily="18" charset="0"/>
              </a:rPr>
              <a:t>G</a:t>
            </a:r>
            <a:r>
              <a:rPr lang="en-US" altLang="zh-CN" sz="1800" b="1" i="1" dirty="0">
                <a:latin typeface="Times New Roman" panose="02020603050405020304" pitchFamily="18" charset="0"/>
                <a:cs typeface="Times New Roman" panose="02020603050405020304" pitchFamily="18" charset="0"/>
              </a:rPr>
              <a:t> </a:t>
            </a:r>
            <a:r>
              <a:rPr lang="en-US" altLang="zh-CN" sz="1800" b="1" dirty="0">
                <a:solidFill>
                  <a:srgbClr val="0D0D0D"/>
                </a:solidFill>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 G </a:t>
            </a:r>
            <a:r>
              <a:rPr lang="zh-CN" altLang="en-US" sz="1800" b="1" dirty="0">
                <a:latin typeface="Times New Roman" panose="02020603050405020304" pitchFamily="18" charset="0"/>
                <a:cs typeface="Times New Roman" panose="02020603050405020304" pitchFamily="18" charset="0"/>
              </a:rPr>
              <a:t>和</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latin typeface="Times New Roman" panose="02020603050405020304" pitchFamily="18" charset="0"/>
                <a:cs typeface="Times New Roman" panose="02020603050405020304" pitchFamily="18" charset="0"/>
              </a:rPr>
              <a:t>a</a:t>
            </a:r>
            <a:r>
              <a:rPr lang="en-US" altLang="zh-CN" sz="1800" b="1" i="1" baseline="-25000" dirty="0" err="1">
                <a:latin typeface="Times New Roman" panose="02020603050405020304" pitchFamily="18" charset="0"/>
                <a:cs typeface="Times New Roman" panose="02020603050405020304" pitchFamily="18" charset="0"/>
              </a:rPr>
              <a:t>i</a:t>
            </a:r>
            <a:r>
              <a:rPr lang="en-US" altLang="zh-CN" sz="1800" b="1" i="1" dirty="0" err="1">
                <a:latin typeface="Times New Roman" panose="02020603050405020304" pitchFamily="18" charset="0"/>
                <a:cs typeface="Times New Roman" panose="02020603050405020304" pitchFamily="18" charset="0"/>
              </a:rPr>
              <a:t>G</a:t>
            </a:r>
            <a:r>
              <a:rPr lang="en-US" altLang="zh-CN" sz="1800" b="1" i="1" dirty="0">
                <a:latin typeface="Times New Roman" panose="02020603050405020304" pitchFamily="18" charset="0"/>
                <a:cs typeface="Times New Roman" panose="02020603050405020304" pitchFamily="18" charset="0"/>
              </a:rPr>
              <a:t> </a:t>
            </a:r>
            <a:r>
              <a:rPr lang="en-US" altLang="zh-CN" sz="2800" b="1" dirty="0"/>
              <a:t>⊇</a:t>
            </a:r>
            <a:r>
              <a:rPr lang="en-US" altLang="zh-CN" sz="1800" b="1" i="1" dirty="0">
                <a:latin typeface="Times New Roman" panose="02020603050405020304" pitchFamily="18" charset="0"/>
                <a:cs typeface="Times New Roman" panose="02020603050405020304" pitchFamily="18" charset="0"/>
              </a:rPr>
              <a:t> G</a:t>
            </a:r>
            <a:r>
              <a:rPr lang="en-US" altLang="zh-CN" sz="1800" b="1" i="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即</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只</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是</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zh-CN" sz="1800" b="1" dirty="0">
                <a:effectLst/>
                <a:latin typeface="Times New Roman" panose="02020603050405020304" pitchFamily="18" charset="0"/>
                <a:cs typeface="Times New Roman" panose="02020603050405020304" pitchFamily="18" charset="0"/>
              </a:rPr>
              <a:t> </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的一个排列</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pPr>
            <a:r>
              <a:rPr lang="zh-CN" altLang="en-US" sz="1800" b="1" dirty="0">
                <a:effectLst/>
                <a:latin typeface="Calibri" panose="020F0502020204030204" pitchFamily="34" charset="0"/>
                <a:ea typeface="宋体" panose="02010600030101010101" pitchFamily="2" charset="-122"/>
                <a:cs typeface="Calibri" panose="020F0502020204030204" pitchFamily="34" charset="0"/>
              </a:rPr>
              <a:t>①</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由于群的封闭性</a:t>
            </a:r>
            <a:r>
              <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dirty="0">
                <a:solidFill>
                  <a:srgbClr val="0D0D0D"/>
                </a:solidFill>
                <a:effectLst/>
                <a:latin typeface="Times New Roman" panose="02020603050405020304" pitchFamily="18" charset="0"/>
                <a:ea typeface="KaTeX_Math"/>
                <a:cs typeface="Times New Roman" panose="02020603050405020304" pitchFamily="18" charset="0"/>
              </a:rPr>
              <a:t>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的结果仍然在群</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中</a:t>
            </a:r>
            <a:r>
              <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所以</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G</a:t>
            </a:r>
            <a:r>
              <a:rPr lang="en-US" altLang="zh-CN"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p>
          <a:p>
            <a:pPr>
              <a:spcBef>
                <a:spcPct val="50000"/>
              </a:spcBef>
            </a:pP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②</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对于</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中的任意元素</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都可表示为</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 </a:t>
            </a:r>
            <a:r>
              <a:rPr lang="en-US" altLang="zh-CN" sz="1800" b="1"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i </a:t>
            </a:r>
            <a:r>
              <a:rPr lang="en-US" altLang="zh-CN" sz="18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rgbClr val="0D0D0D"/>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即</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latin typeface="Times New Roman" panose="02020603050405020304" pitchFamily="18" charset="0"/>
                <a:ea typeface="宋体" panose="02010600030101010101" pitchFamily="2" charset="-122"/>
                <a:cs typeface="Times New Roman" panose="02020603050405020304" pitchFamily="18" charset="0"/>
              </a:rPr>
              <a:t>k</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形式</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由于群的逆元和封闭性质</a:t>
            </a:r>
            <a:r>
              <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这意味着对于任何</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1" dirty="0">
                <a:effectLst/>
                <a:latin typeface="Times New Roman" panose="02020603050405020304" pitchFamily="18" charset="0"/>
                <a:cs typeface="Times New Roman" panose="02020603050405020304" pitchFamily="18" charset="0"/>
              </a:rPr>
              <a:t>,</a:t>
            </a:r>
            <a:r>
              <a:rPr lang="zh-CN" altLang="zh-CN" sz="1800" b="1" dirty="0">
                <a:effectLst/>
                <a:latin typeface="Times New Roman" panose="02020603050405020304" pitchFamily="18" charset="0"/>
                <a:cs typeface="Times New Roman" panose="02020603050405020304" pitchFamily="18" charset="0"/>
              </a:rPr>
              <a:t>都存在一个</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latin typeface="Times New Roman" panose="02020603050405020304" pitchFamily="18" charset="0"/>
                <a:ea typeface="宋体" panose="02010600030101010101" pitchFamily="2" charset="-122"/>
                <a:cs typeface="Times New Roman" panose="02020603050405020304" pitchFamily="18" charset="0"/>
              </a:rPr>
              <a:t>k</a:t>
            </a:r>
            <a:r>
              <a:rPr lang="en-US" altLang="zh-CN" sz="18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cs typeface="Times New Roman" panose="02020603050405020304" pitchFamily="18" charset="0"/>
              </a:rPr>
              <a:t>∈</a:t>
            </a:r>
            <a:r>
              <a:rPr lang="en-US" altLang="zh-CN" sz="18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G</a:t>
            </a:r>
            <a:r>
              <a:rPr lang="zh-CN" altLang="zh-CN" sz="1800" b="1" dirty="0">
                <a:effectLst/>
                <a:latin typeface="Times New Roman" panose="02020603050405020304" pitchFamily="18" charset="0"/>
                <a:cs typeface="Times New Roman" panose="02020603050405020304" pitchFamily="18" charset="0"/>
              </a:rPr>
              <a:t> </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使得</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i="1"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i="1" baseline="-25000" dirty="0" err="1">
                <a:latin typeface="Times New Roman" panose="02020603050405020304" pitchFamily="18" charset="0"/>
                <a:ea typeface="宋体" panose="02010600030101010101" pitchFamily="2" charset="-122"/>
                <a:cs typeface="Times New Roman" panose="02020603050405020304" pitchFamily="18" charset="0"/>
              </a:rPr>
              <a:t>k</a:t>
            </a:r>
            <a:r>
              <a:rPr lang="en-US" altLang="zh-CN" sz="18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dirty="0">
                <a:solidFill>
                  <a:srgbClr val="0D0D0D"/>
                </a:solidFill>
                <a:latin typeface="Times New Roman" panose="02020603050405020304" pitchFamily="18" charset="0"/>
                <a:ea typeface="宋体" panose="02010600030101010101" pitchFamily="2" charset="-122"/>
                <a:cs typeface="Times New Roman" panose="02020603050405020304" pitchFamily="18" charset="0"/>
              </a:rPr>
              <a:t>;</a:t>
            </a:r>
          </a:p>
          <a:p>
            <a:pPr>
              <a:spcBef>
                <a:spcPct val="50000"/>
              </a:spcBef>
            </a:pP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③</a:t>
            </a:r>
            <a:r>
              <a:rPr lang="zh-CN" altLang="en-US"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对于</a:t>
            </a:r>
            <a:r>
              <a:rPr lang="en-US" altLang="zh-CN" sz="1800" b="1" i="1" dirty="0" err="1">
                <a:latin typeface="Times New Roman" panose="02020603050405020304" pitchFamily="18" charset="0"/>
                <a:cs typeface="Times New Roman" panose="02020603050405020304" pitchFamily="18" charset="0"/>
              </a:rPr>
              <a:t>a</a:t>
            </a:r>
            <a:r>
              <a:rPr lang="en-US" altLang="zh-CN" sz="1800" b="1" i="1" baseline="-25000" dirty="0" err="1">
                <a:latin typeface="Times New Roman" panose="02020603050405020304" pitchFamily="18" charset="0"/>
                <a:cs typeface="Times New Roman" panose="02020603050405020304" pitchFamily="18" charset="0"/>
              </a:rPr>
              <a:t>i</a:t>
            </a:r>
            <a:r>
              <a:rPr lang="en-US" altLang="zh-CN" sz="1800" b="1" i="1" dirty="0" err="1">
                <a:latin typeface="Times New Roman" panose="02020603050405020304" pitchFamily="18" charset="0"/>
                <a:cs typeface="Times New Roman" panose="02020603050405020304" pitchFamily="18" charset="0"/>
              </a:rPr>
              <a:t>G</a:t>
            </a:r>
            <a:r>
              <a:rPr lang="zh-CN" altLang="en-US" sz="1800" b="1" dirty="0">
                <a:latin typeface="Times New Roman" panose="02020603050405020304" pitchFamily="18" charset="0"/>
                <a:cs typeface="Times New Roman" panose="02020603050405020304" pitchFamily="18" charset="0"/>
              </a:rPr>
              <a:t>中的</a:t>
            </a:r>
            <a:r>
              <a:rPr lang="zh-CN" altLang="en-US"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任意</a:t>
            </a:r>
            <a:r>
              <a:rPr lang="zh-CN" altLang="en-US" sz="1800" b="1" dirty="0">
                <a:solidFill>
                  <a:srgbClr val="0D0D0D"/>
                </a:solidFill>
                <a:latin typeface="Times New Roman" panose="02020603050405020304" pitchFamily="18" charset="0"/>
                <a:ea typeface="宋体" panose="02010600030101010101" pitchFamily="2" charset="-122"/>
                <a:cs typeface="Times New Roman" panose="02020603050405020304" pitchFamily="18" charset="0"/>
              </a:rPr>
              <a:t>元素</a:t>
            </a:r>
            <a:r>
              <a:rPr lang="en-US" altLang="zh-CN" sz="1800" b="1" i="1" dirty="0">
                <a:latin typeface="Times New Roman" panose="02020603050405020304" pitchFamily="18" charset="0"/>
                <a:cs typeface="Times New Roman" panose="02020603050405020304" pitchFamily="18" charset="0"/>
              </a:rPr>
              <a:t>a</a:t>
            </a:r>
            <a:r>
              <a:rPr lang="en-US" altLang="zh-CN" sz="1800" b="1" i="1" baseline="-25000" dirty="0">
                <a:latin typeface="Times New Roman" panose="02020603050405020304" pitchFamily="18" charset="0"/>
                <a:cs typeface="Times New Roman" panose="02020603050405020304" pitchFamily="18" charset="0"/>
              </a:rPr>
              <a:t>i</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a:latin typeface="Times New Roman" panose="02020603050405020304" pitchFamily="18" charset="0"/>
                <a:cs typeface="Times New Roman" panose="02020603050405020304" pitchFamily="18" charset="0"/>
              </a:rPr>
              <a:t>a</a:t>
            </a:r>
            <a:r>
              <a:rPr lang="en-US" altLang="zh-CN" sz="1800" b="1" i="1" baseline="-25000" dirty="0" err="1">
                <a:latin typeface="Times New Roman" panose="02020603050405020304" pitchFamily="18" charset="0"/>
                <a:cs typeface="Times New Roman" panose="02020603050405020304" pitchFamily="18" charset="0"/>
              </a:rPr>
              <a:t>j</a:t>
            </a:r>
            <a:r>
              <a:rPr lang="zh-CN" altLang="en-US" sz="1800" b="1" dirty="0">
                <a:solidFill>
                  <a:srgbClr val="0D0D0D"/>
                </a:solidFill>
                <a:latin typeface="Times New Roman" panose="02020603050405020304" pitchFamily="18" charset="0"/>
                <a:ea typeface="宋体" panose="02010600030101010101" pitchFamily="2" charset="-122"/>
                <a:cs typeface="Times New Roman" panose="02020603050405020304" pitchFamily="18" charset="0"/>
              </a:rPr>
              <a:t>有</a:t>
            </a:r>
            <a:r>
              <a:rPr lang="en-US" altLang="zh-CN" sz="1800" b="1" i="1" dirty="0">
                <a:latin typeface="Times New Roman" panose="02020603050405020304" pitchFamily="18" charset="0"/>
                <a:cs typeface="Times New Roman" panose="02020603050405020304" pitchFamily="18" charset="0"/>
              </a:rPr>
              <a:t>a</a:t>
            </a:r>
            <a:r>
              <a:rPr lang="en-US" altLang="zh-CN" sz="1800" b="1" i="1" baseline="-25000" dirty="0">
                <a:latin typeface="Times New Roman" panose="02020603050405020304" pitchFamily="18" charset="0"/>
                <a:cs typeface="Times New Roman" panose="02020603050405020304" pitchFamily="18" charset="0"/>
              </a:rPr>
              <a:t>i</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a:latin typeface="Times New Roman" panose="02020603050405020304" pitchFamily="18" charset="0"/>
                <a:cs typeface="Times New Roman" panose="02020603050405020304" pitchFamily="18" charset="0"/>
              </a:rPr>
              <a:t>a</a:t>
            </a:r>
            <a:r>
              <a:rPr lang="en-US" altLang="zh-CN" sz="1800" b="1" i="1" baseline="-25000" dirty="0" err="1">
                <a:latin typeface="Times New Roman" panose="02020603050405020304" pitchFamily="18" charset="0"/>
                <a:cs typeface="Times New Roman" panose="02020603050405020304" pitchFamily="18" charset="0"/>
              </a:rPr>
              <a:t>j</a:t>
            </a:r>
            <a:r>
              <a:rPr lang="en-US" altLang="zh-CN" sz="1800" b="1" dirty="0">
                <a:solidFill>
                  <a:srgbClr val="0D0D0D"/>
                </a:solidFill>
                <a:latin typeface="Times New Roman" panose="02020603050405020304" pitchFamily="18" charset="0"/>
                <a:cs typeface="Times New Roman" panose="02020603050405020304" pitchFamily="18" charset="0"/>
              </a:rPr>
              <a:t> = </a:t>
            </a:r>
            <a:r>
              <a:rPr lang="en-US" altLang="zh-CN" sz="1800" b="1" i="1" dirty="0">
                <a:latin typeface="Times New Roman" panose="02020603050405020304" pitchFamily="18" charset="0"/>
                <a:cs typeface="Times New Roman" panose="02020603050405020304" pitchFamily="18" charset="0"/>
              </a:rPr>
              <a:t>a</a:t>
            </a:r>
            <a:r>
              <a:rPr lang="en-US" altLang="zh-CN" sz="1800" b="1" i="1" baseline="-25000" dirty="0">
                <a:latin typeface="Times New Roman" panose="02020603050405020304" pitchFamily="18" charset="0"/>
                <a:cs typeface="Times New Roman" panose="02020603050405020304" pitchFamily="18" charset="0"/>
              </a:rPr>
              <a:t>i</a:t>
            </a:r>
            <a:r>
              <a:rPr lang="zh-CN" altLang="zh-CN" sz="1800" b="1" dirty="0">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a</a:t>
            </a:r>
            <a:r>
              <a:rPr lang="zh-CN" altLang="zh-CN" sz="1800" b="1" i="1" baseline="-25000" dirty="0">
                <a:latin typeface="Times New Roman" panose="02020603050405020304" pitchFamily="18" charset="0"/>
                <a:cs typeface="Times New Roman" panose="02020603050405020304" pitchFamily="18" charset="0"/>
              </a:rPr>
              <a:t>i</a:t>
            </a:r>
            <a:r>
              <a:rPr lang="en-US" altLang="zh-CN" sz="1800" b="1" i="1" baseline="30000" dirty="0">
                <a:latin typeface="Times New Roman" panose="02020603050405020304" pitchFamily="18" charset="0"/>
                <a:cs typeface="Times New Roman" panose="02020603050405020304" pitchFamily="18" charset="0"/>
              </a:rPr>
              <a:t>−1</a:t>
            </a:r>
            <a:r>
              <a:rPr lang="en-US" altLang="zh-CN" sz="1800" b="1" i="1" dirty="0">
                <a:latin typeface="Times New Roman" panose="02020603050405020304" pitchFamily="18" charset="0"/>
                <a:cs typeface="Times New Roman" panose="02020603050405020304" pitchFamily="18" charset="0"/>
              </a:rPr>
              <a:t>a</a:t>
            </a:r>
            <a:r>
              <a:rPr lang="en-US" altLang="zh-CN" sz="1800" b="1" i="1" baseline="-25000" dirty="0">
                <a:latin typeface="Times New Roman" panose="02020603050405020304" pitchFamily="18" charset="0"/>
                <a:cs typeface="Times New Roman" panose="02020603050405020304" pitchFamily="18" charset="0"/>
              </a:rPr>
              <a:t>k</a:t>
            </a:r>
            <a:r>
              <a:rPr lang="zh-CN" altLang="zh-CN" sz="2800" b="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 </a:t>
            </a:r>
            <a:r>
              <a:rPr lang="en-US" altLang="zh-CN" sz="1800" b="1" i="1" dirty="0" err="1">
                <a:latin typeface="Times New Roman" panose="02020603050405020304" pitchFamily="18" charset="0"/>
                <a:cs typeface="Times New Roman" panose="02020603050405020304" pitchFamily="18" charset="0"/>
              </a:rPr>
              <a:t>a</a:t>
            </a:r>
            <a:r>
              <a:rPr lang="en-US" altLang="zh-CN" sz="1800" b="1" i="1" baseline="-25000" dirty="0" err="1">
                <a:latin typeface="Times New Roman" panose="02020603050405020304" pitchFamily="18" charset="0"/>
                <a:cs typeface="Times New Roman" panose="02020603050405020304" pitchFamily="18" charset="0"/>
              </a:rPr>
              <a:t>k</a:t>
            </a:r>
            <a:r>
              <a:rPr lang="en-US" altLang="zh-CN" sz="1800" b="1" i="1" baseline="-25000" dirty="0">
                <a:latin typeface="Times New Roman" panose="02020603050405020304" pitchFamily="18" charset="0"/>
                <a:cs typeface="Times New Roman" panose="02020603050405020304" pitchFamily="18" charset="0"/>
              </a:rPr>
              <a:t> </a:t>
            </a:r>
            <a:r>
              <a:rPr lang="zh-CN" altLang="zh-CN" sz="1800" b="1" dirty="0">
                <a:latin typeface="Times New Roman" panose="02020603050405020304" pitchFamily="18" charset="0"/>
                <a:cs typeface="Times New Roman" panose="02020603050405020304" pitchFamily="18" charset="0"/>
              </a:rPr>
              <a:t>∈</a:t>
            </a:r>
            <a:r>
              <a:rPr lang="en-US" altLang="zh-CN" sz="1800" b="1" i="1" dirty="0">
                <a:solidFill>
                  <a:srgbClr val="0D0D0D"/>
                </a:solidFill>
                <a:latin typeface="Times New Roman" panose="02020603050405020304" pitchFamily="18" charset="0"/>
                <a:cs typeface="Times New Roman" panose="02020603050405020304" pitchFamily="18" charset="0"/>
              </a:rPr>
              <a:t>G</a:t>
            </a:r>
            <a:r>
              <a:rPr lang="zh-CN" altLang="en-US" sz="1800" b="1" dirty="0">
                <a:solidFill>
                  <a:srgbClr val="0D0D0D"/>
                </a:solidFill>
                <a:latin typeface="Times New Roman" panose="02020603050405020304" pitchFamily="18" charset="0"/>
                <a:cs typeface="Times New Roman" panose="02020603050405020304" pitchFamily="18" charset="0"/>
              </a:rPr>
              <a:t>，</a:t>
            </a:r>
            <a:r>
              <a:rPr lang="zh-CN" altLang="en-US" sz="1800" b="1" dirty="0">
                <a:solidFill>
                  <a:srgbClr val="0D0D0D"/>
                </a:solidFill>
                <a:latin typeface="Times New Roman" panose="02020603050405020304" pitchFamily="18" charset="0"/>
                <a:ea typeface="宋体" panose="02010600030101010101" pitchFamily="2" charset="-122"/>
                <a:cs typeface="Times New Roman" panose="02020603050405020304" pitchFamily="18" charset="0"/>
              </a:rPr>
              <a:t>也就是</a:t>
            </a:r>
            <a:r>
              <a:rPr lang="en-US" altLang="zh-CN" sz="1800" b="1" i="1" dirty="0" err="1">
                <a:latin typeface="Times New Roman" panose="02020603050405020304" pitchFamily="18" charset="0"/>
                <a:cs typeface="Times New Roman" panose="02020603050405020304" pitchFamily="18" charset="0"/>
              </a:rPr>
              <a:t>a</a:t>
            </a:r>
            <a:r>
              <a:rPr lang="en-US" altLang="zh-CN" sz="1800" b="1" i="1" baseline="-25000" dirty="0" err="1">
                <a:latin typeface="Times New Roman" panose="02020603050405020304" pitchFamily="18" charset="0"/>
                <a:cs typeface="Times New Roman" panose="02020603050405020304" pitchFamily="18" charset="0"/>
              </a:rPr>
              <a:t>i</a:t>
            </a:r>
            <a:r>
              <a:rPr lang="en-US" altLang="zh-CN" sz="1800" b="1" i="1" dirty="0" err="1">
                <a:latin typeface="Times New Roman" panose="02020603050405020304" pitchFamily="18" charset="0"/>
                <a:cs typeface="Times New Roman" panose="02020603050405020304" pitchFamily="18" charset="0"/>
              </a:rPr>
              <a:t>G</a:t>
            </a:r>
            <a:r>
              <a:rPr lang="en-US" altLang="zh-CN" sz="1800" b="1" i="1" dirty="0">
                <a:latin typeface="Times New Roman" panose="02020603050405020304" pitchFamily="18" charset="0"/>
                <a:cs typeface="Times New Roman" panose="02020603050405020304" pitchFamily="18" charset="0"/>
              </a:rPr>
              <a:t> </a:t>
            </a:r>
            <a:r>
              <a:rPr lang="en-US" altLang="zh-CN" sz="1800" b="1" dirty="0"/>
              <a:t>⊇</a:t>
            </a:r>
            <a:r>
              <a:rPr lang="en-US" altLang="zh-CN" sz="1800" b="1" i="1" dirty="0">
                <a:latin typeface="Times New Roman" panose="02020603050405020304" pitchFamily="18" charset="0"/>
                <a:cs typeface="Times New Roman" panose="02020603050405020304" pitchFamily="18" charset="0"/>
              </a:rPr>
              <a:t> G </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成立</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p>
          <a:p>
            <a:pPr>
              <a:spcBef>
                <a:spcPct val="50000"/>
              </a:spcBef>
            </a:pPr>
            <a:r>
              <a:rPr lang="en-US" altLang="zh-CN" sz="1800" b="1" dirty="0">
                <a:solidFill>
                  <a:srgbClr val="0D0D0D"/>
                </a:solidFill>
                <a:latin typeface="Times New Roman" panose="02020603050405020304" pitchFamily="18" charset="0"/>
                <a:ea typeface="宋体" panose="02010600030101010101" pitchFamily="2" charset="-122"/>
                <a:cs typeface="Times New Roman" panose="02020603050405020304" pitchFamily="18" charset="0"/>
              </a:rPr>
              <a:t>④</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a:latin typeface="Times New Roman" panose="02020603050405020304" pitchFamily="18" charset="0"/>
                <a:cs typeface="Times New Roman" panose="02020603050405020304" pitchFamily="18" charset="0"/>
              </a:rPr>
              <a:t>a</a:t>
            </a:r>
            <a:r>
              <a:rPr lang="en-US" altLang="zh-CN" sz="1800" b="1" i="1" baseline="-25000" dirty="0" err="1">
                <a:latin typeface="Times New Roman" panose="02020603050405020304" pitchFamily="18" charset="0"/>
                <a:cs typeface="Times New Roman" panose="02020603050405020304" pitchFamily="18" charset="0"/>
              </a:rPr>
              <a:t>i</a:t>
            </a:r>
            <a:r>
              <a:rPr lang="en-US" altLang="zh-CN" sz="1800" b="1" i="1" dirty="0" err="1">
                <a:latin typeface="Times New Roman" panose="02020603050405020304" pitchFamily="18" charset="0"/>
                <a:cs typeface="Times New Roman" panose="02020603050405020304" pitchFamily="18" charset="0"/>
              </a:rPr>
              <a:t>G</a:t>
            </a:r>
            <a:r>
              <a:rPr lang="en-US" altLang="zh-CN" sz="1800" b="1" i="1" dirty="0">
                <a:latin typeface="Times New Roman" panose="02020603050405020304" pitchFamily="18" charset="0"/>
                <a:cs typeface="Times New Roman" panose="02020603050405020304" pitchFamily="18" charset="0"/>
              </a:rPr>
              <a:t> </a:t>
            </a:r>
            <a:r>
              <a:rPr lang="en-US" altLang="zh-CN" sz="1800" b="1" dirty="0">
                <a:solidFill>
                  <a:srgbClr val="0D0D0D"/>
                </a:solidFill>
                <a:latin typeface="Times New Roman" panose="02020603050405020304" pitchFamily="18" charset="0"/>
                <a:cs typeface="Times New Roman" panose="02020603050405020304" pitchFamily="18" charset="0"/>
              </a:rPr>
              <a:t>⊆</a:t>
            </a:r>
            <a:r>
              <a:rPr lang="en-US" altLang="zh-CN" sz="1800" b="1" i="1" dirty="0">
                <a:latin typeface="Times New Roman" panose="02020603050405020304" pitchFamily="18" charset="0"/>
                <a:cs typeface="Times New Roman" panose="02020603050405020304" pitchFamily="18" charset="0"/>
              </a:rPr>
              <a:t> G </a:t>
            </a:r>
            <a:r>
              <a:rPr lang="zh-CN" altLang="en-US" sz="1800" b="1" dirty="0">
                <a:latin typeface="Times New Roman" panose="02020603050405020304" pitchFamily="18" charset="0"/>
                <a:cs typeface="Times New Roman" panose="02020603050405020304" pitchFamily="18" charset="0"/>
              </a:rPr>
              <a:t>和</a:t>
            </a:r>
            <a:r>
              <a:rPr lang="zh-CN" altLang="zh-CN" sz="18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latin typeface="Times New Roman" panose="02020603050405020304" pitchFamily="18" charset="0"/>
                <a:cs typeface="Times New Roman" panose="02020603050405020304" pitchFamily="18" charset="0"/>
              </a:rPr>
              <a:t>a</a:t>
            </a:r>
            <a:r>
              <a:rPr lang="en-US" altLang="zh-CN" sz="1800" b="1" i="1" baseline="-25000" dirty="0" err="1">
                <a:latin typeface="Times New Roman" panose="02020603050405020304" pitchFamily="18" charset="0"/>
                <a:cs typeface="Times New Roman" panose="02020603050405020304" pitchFamily="18" charset="0"/>
              </a:rPr>
              <a:t>i</a:t>
            </a:r>
            <a:r>
              <a:rPr lang="en-US" altLang="zh-CN" sz="1800" b="1" i="1" dirty="0" err="1">
                <a:latin typeface="Times New Roman" panose="02020603050405020304" pitchFamily="18" charset="0"/>
                <a:cs typeface="Times New Roman" panose="02020603050405020304" pitchFamily="18" charset="0"/>
              </a:rPr>
              <a:t>G</a:t>
            </a:r>
            <a:r>
              <a:rPr lang="en-US" altLang="zh-CN" sz="1800" b="1" i="1" dirty="0">
                <a:latin typeface="Times New Roman" panose="02020603050405020304" pitchFamily="18" charset="0"/>
                <a:cs typeface="Times New Roman" panose="02020603050405020304" pitchFamily="18" charset="0"/>
              </a:rPr>
              <a:t> </a:t>
            </a:r>
            <a:r>
              <a:rPr lang="en-US" altLang="zh-CN" sz="1800" b="1" dirty="0"/>
              <a:t>⊇</a:t>
            </a:r>
            <a:r>
              <a:rPr lang="en-US" altLang="zh-CN" sz="1800" b="1" i="1" dirty="0">
                <a:latin typeface="Times New Roman" panose="02020603050405020304" pitchFamily="18" charset="0"/>
                <a:cs typeface="Times New Roman" panose="02020603050405020304" pitchFamily="18" charset="0"/>
              </a:rPr>
              <a:t> G</a:t>
            </a:r>
            <a:r>
              <a:rPr lang="zh-CN" altLang="en-US" sz="1800" b="1" dirty="0">
                <a:latin typeface="Times New Roman" panose="02020603050405020304" pitchFamily="18" charset="0"/>
                <a:cs typeface="Times New Roman" panose="02020603050405020304" pitchFamily="18" charset="0"/>
              </a:rPr>
              <a:t>均成立，可以得出</a:t>
            </a:r>
            <a:r>
              <a:rPr lang="en-US" altLang="zh-CN" sz="1800" b="1" i="1" dirty="0">
                <a:latin typeface="Times New Roman" panose="02020603050405020304" pitchFamily="18" charset="0"/>
                <a:cs typeface="Times New Roman" panose="02020603050405020304" pitchFamily="18" charset="0"/>
              </a:rPr>
              <a:t> </a:t>
            </a:r>
            <a:r>
              <a:rPr lang="en-US" altLang="zh-CN" sz="1800" b="1" i="1" dirty="0" err="1">
                <a:latin typeface="Times New Roman" panose="02020603050405020304" pitchFamily="18" charset="0"/>
                <a:cs typeface="Times New Roman" panose="02020603050405020304" pitchFamily="18" charset="0"/>
              </a:rPr>
              <a:t>a</a:t>
            </a:r>
            <a:r>
              <a:rPr lang="en-US" altLang="zh-CN" sz="1800" b="1" i="1" baseline="-25000" dirty="0" err="1">
                <a:latin typeface="Times New Roman" panose="02020603050405020304" pitchFamily="18" charset="0"/>
                <a:cs typeface="Times New Roman" panose="02020603050405020304" pitchFamily="18" charset="0"/>
              </a:rPr>
              <a:t>i</a:t>
            </a:r>
            <a:r>
              <a:rPr lang="en-US" altLang="zh-CN" sz="1800" b="1" i="1" dirty="0" err="1">
                <a:latin typeface="Times New Roman" panose="02020603050405020304" pitchFamily="18" charset="0"/>
                <a:cs typeface="Times New Roman" panose="02020603050405020304" pitchFamily="18" charset="0"/>
              </a:rPr>
              <a:t>G</a:t>
            </a:r>
            <a:r>
              <a:rPr lang="en-US" altLang="zh-CN" sz="1800" b="1" i="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 </a:t>
            </a:r>
            <a:r>
              <a:rPr lang="en-US" altLang="zh-CN" sz="1800" b="1" i="1" dirty="0">
                <a:latin typeface="Times New Roman" panose="02020603050405020304" pitchFamily="18" charset="0"/>
                <a:cs typeface="Times New Roman" panose="02020603050405020304" pitchFamily="18" charset="0"/>
              </a:rPr>
              <a:t>G .</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ct val="50000"/>
              </a:spcBef>
            </a:pPr>
            <a:r>
              <a:rPr lang="zh-CN" altLang="en-US" sz="18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18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设</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群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b="1"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b="1" dirty="0">
                <a:effectLst/>
                <a:latin typeface="Times New Roman" panose="02020603050405020304" pitchFamily="18" charset="0"/>
                <a:cs typeface="Times New Roman" panose="02020603050405020304" pitchFamily="18" charset="0"/>
              </a:rPr>
              <a:t>元素为</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dirty="0">
                <a:effectLst/>
                <a:latin typeface="Times New Roman" panose="02020603050405020304" pitchFamily="18" charset="0"/>
                <a:cs typeface="Times New Roman" panose="02020603050405020304" pitchFamily="18" charset="0"/>
              </a:rPr>
              <a:t>,</a:t>
            </a:r>
            <a:r>
              <a:rPr lang="zh-CN" altLang="zh-CN" sz="1800" b="1" dirty="0">
                <a:effectLst/>
                <a:latin typeface="Times New Roman" panose="02020603050405020304" pitchFamily="18" charset="0"/>
                <a:cs typeface="Times New Roman" panose="02020603050405020304" pitchFamily="18" charset="0"/>
              </a:rPr>
              <a:t>其中</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800" b="1" dirty="0">
                <a:effectLst/>
                <a:latin typeface="Times New Roman" panose="02020603050405020304" pitchFamily="18" charset="0"/>
                <a:cs typeface="Times New Roman" panose="02020603050405020304" pitchFamily="18" charset="0"/>
              </a:rPr>
              <a:t> </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是单位元</a:t>
            </a:r>
            <a:r>
              <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乘法运算规则为：</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ct val="50000"/>
              </a:spcBef>
            </a:pPr>
            <a:r>
              <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计算</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aG</a:t>
            </a:r>
            <a:r>
              <a:rPr lang="en-US" altLang="zh-CN" sz="18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20000"/>
              </a:lnSpc>
              <a:spcBef>
                <a:spcPct val="50000"/>
              </a:spcBef>
              <a:spcAft>
                <a:spcPts val="0"/>
              </a:spcAft>
              <a:buClrTx/>
              <a:buSzTx/>
              <a:buFontTx/>
              <a:buNone/>
              <a:tabLst/>
              <a:defRPr/>
            </a:pP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集合</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aG</a:t>
            </a:r>
            <a:r>
              <a:rPr lang="zh-CN" altLang="zh-CN" sz="1800" b="1" dirty="0">
                <a:effectLst/>
                <a:latin typeface="Times New Roman" panose="02020603050405020304" pitchFamily="18" charset="0"/>
                <a:cs typeface="Times New Roman" panose="02020603050405020304" pitchFamily="18" charset="0"/>
              </a:rPr>
              <a:t> </a:t>
            </a:r>
            <a:r>
              <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cs typeface="Times New Roman" panose="02020603050405020304" pitchFamily="18" charset="0"/>
              </a:rPr>
              <a:t> 是群</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G</a:t>
            </a:r>
            <a:r>
              <a:rPr lang="zh-CN" altLang="zh-CN" sz="1800" b="1" dirty="0">
                <a:effectLst/>
                <a:latin typeface="Times New Roman" panose="02020603050405020304" pitchFamily="18" charset="0"/>
                <a:cs typeface="Times New Roman" panose="02020603050405020304" pitchFamily="18" charset="0"/>
              </a:rPr>
              <a:t> </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的一个排列</a:t>
            </a:r>
            <a:endParaRPr lang="zh-CN" altLang="en-US" sz="1800" b="1" dirty="0">
              <a:latin typeface="Times New Roman" panose="02020603050405020304" pitchFamily="18" charset="0"/>
              <a:cs typeface="Times New Roman" panose="02020603050405020304" pitchFamily="18" charset="0"/>
            </a:endParaRPr>
          </a:p>
          <a:p>
            <a:pPr>
              <a:lnSpc>
                <a:spcPct val="120000"/>
              </a:lnSpc>
              <a:spcBef>
                <a:spcPct val="50000"/>
              </a:spcBef>
            </a:pP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84</a:t>
            </a:fld>
            <a:endParaRPr lang="zh-CN" altLang="en-US"/>
          </a:p>
        </p:txBody>
      </p:sp>
    </p:spTree>
    <p:extLst>
      <p:ext uri="{BB962C8B-B14F-4D97-AF65-F5344CB8AC3E}">
        <p14:creationId xmlns:p14="http://schemas.microsoft.com/office/powerpoint/2010/main" val="308282837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这种性质显示了群的对称性，即每个元素的作用在群结构上是平等的，</a:t>
            </a:r>
            <a:r>
              <a:rPr lang="zh-CN" altLang="zh-CN" sz="1800" kern="0" dirty="0">
                <a:solidFill>
                  <a:srgbClr val="0D0D0D"/>
                </a:solidFill>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没有哪个元素可以单独改变群的整体结构</a:t>
            </a:r>
            <a:r>
              <a:rPr lang="zh-CN" altLang="zh-CN" sz="1800" kern="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。这是群理论中一个非常重要的概念，因为它关系到群的操作如何在整个结构中均匀分布。</a:t>
            </a:r>
            <a:endParaRPr lang="en-US" altLang="zh-CN" sz="1800" kern="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ct val="50000"/>
              </a:spcBef>
            </a:pPr>
            <a:r>
              <a:rPr lang="zh-CN" altLang="en-US" sz="18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18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设</a:t>
            </a:r>
            <a:r>
              <a:rPr lang="zh-CN" altLang="en-US"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群 </a:t>
            </a:r>
            <a:r>
              <a:rPr lang="en-US" altLang="zh-CN" sz="1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a:t>
            </a:r>
            <a:r>
              <a:rPr lang="zh-CN" altLang="en-US" sz="1800" b="1"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b="1" dirty="0">
                <a:effectLst/>
                <a:latin typeface="Times New Roman" panose="02020603050405020304" pitchFamily="18" charset="0"/>
                <a:cs typeface="Times New Roman" panose="02020603050405020304" pitchFamily="18" charset="0"/>
              </a:rPr>
              <a:t>元素为</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dirty="0">
                <a:effectLst/>
                <a:latin typeface="Times New Roman" panose="02020603050405020304" pitchFamily="18" charset="0"/>
                <a:cs typeface="Times New Roman" panose="02020603050405020304" pitchFamily="18" charset="0"/>
              </a:rPr>
              <a:t>,</a:t>
            </a:r>
            <a:r>
              <a:rPr lang="zh-CN" altLang="zh-CN" sz="1800" b="1" dirty="0">
                <a:effectLst/>
                <a:latin typeface="Times New Roman" panose="02020603050405020304" pitchFamily="18" charset="0"/>
                <a:cs typeface="Times New Roman" panose="02020603050405020304" pitchFamily="18" charset="0"/>
              </a:rPr>
              <a:t>其中</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800" b="1" dirty="0">
                <a:effectLst/>
                <a:latin typeface="Times New Roman" panose="02020603050405020304" pitchFamily="18" charset="0"/>
                <a:cs typeface="Times New Roman" panose="02020603050405020304" pitchFamily="18" charset="0"/>
              </a:rPr>
              <a:t> </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是单位元</a:t>
            </a:r>
            <a:r>
              <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1" dirty="0">
                <a:latin typeface="Times New Roman" panose="02020603050405020304" pitchFamily="18" charset="0"/>
                <a:ea typeface="宋体" panose="02010600030101010101" pitchFamily="2" charset="-122"/>
                <a:cs typeface="Times New Roman" panose="02020603050405020304" pitchFamily="18" charset="0"/>
              </a:rPr>
              <a:t> 乘法运算规则为：</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ct val="50000"/>
              </a:spcBef>
            </a:pPr>
            <a:r>
              <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计算</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aG</a:t>
            </a:r>
            <a:r>
              <a:rPr lang="en-US" altLang="zh-CN" sz="18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20000"/>
              </a:lnSpc>
              <a:spcBef>
                <a:spcPct val="50000"/>
              </a:spcBef>
              <a:spcAft>
                <a:spcPts val="0"/>
              </a:spcAft>
              <a:buClrTx/>
              <a:buSzTx/>
              <a:buFontTx/>
              <a:buNone/>
              <a:tabLst/>
              <a:defRPr/>
            </a:pP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集合</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aG</a:t>
            </a:r>
            <a:r>
              <a:rPr lang="zh-CN" altLang="zh-CN" sz="1800" b="1" dirty="0">
                <a:effectLst/>
                <a:latin typeface="Times New Roman" panose="02020603050405020304" pitchFamily="18" charset="0"/>
                <a:cs typeface="Times New Roman" panose="02020603050405020304" pitchFamily="18" charset="0"/>
              </a:rPr>
              <a:t> </a:t>
            </a:r>
            <a:r>
              <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b="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dirty="0" err="1">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dirty="0">
                <a:effectLst/>
                <a:latin typeface="Times New Roman" panose="02020603050405020304" pitchFamily="18" charset="0"/>
                <a:cs typeface="Times New Roman" panose="02020603050405020304" pitchFamily="18" charset="0"/>
              </a:rPr>
              <a:t> 是群</a:t>
            </a:r>
            <a:r>
              <a:rPr lang="zh-CN" altLang="zh-CN"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G</a:t>
            </a:r>
            <a:r>
              <a:rPr lang="zh-CN" altLang="zh-CN" sz="1800" b="1" dirty="0">
                <a:effectLst/>
                <a:latin typeface="Times New Roman" panose="02020603050405020304" pitchFamily="18" charset="0"/>
                <a:cs typeface="Times New Roman" panose="02020603050405020304" pitchFamily="18" charset="0"/>
              </a:rPr>
              <a:t> </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的一个排列</a:t>
            </a:r>
            <a:endParaRPr lang="zh-CN" altLang="en-US" sz="1800" b="1" dirty="0">
              <a:latin typeface="Times New Roman" panose="02020603050405020304" pitchFamily="18" charset="0"/>
              <a:cs typeface="Times New Roman" panose="02020603050405020304" pitchFamily="18" charset="0"/>
            </a:endParaRPr>
          </a:p>
          <a:p>
            <a:pPr>
              <a:lnSpc>
                <a:spcPct val="120000"/>
              </a:lnSpc>
              <a:spcBef>
                <a:spcPct val="50000"/>
              </a:spcBef>
            </a:pP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85</a:t>
            </a:fld>
            <a:endParaRPr lang="zh-CN" altLang="en-US"/>
          </a:p>
        </p:txBody>
      </p:sp>
    </p:spTree>
    <p:extLst>
      <p:ext uri="{BB962C8B-B14F-4D97-AF65-F5344CB8AC3E}">
        <p14:creationId xmlns:p14="http://schemas.microsoft.com/office/powerpoint/2010/main" val="54457151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eaLnBrk="1" hangingPunct="1">
              <a:lnSpc>
                <a:spcPct val="110000"/>
              </a:lnSpc>
              <a:buFont typeface="Wingdings" panose="05000000000000000000" pitchFamily="2" charset="2"/>
              <a:buNone/>
            </a:pPr>
            <a:r>
              <a:rPr lang="zh-CN" altLang="en-US" sz="1200" b="1" dirty="0">
                <a:solidFill>
                  <a:srgbClr val="FF3300"/>
                </a:solidFill>
              </a:rPr>
              <a:t>定理</a:t>
            </a:r>
            <a:r>
              <a:rPr lang="en-US" altLang="zh-CN" sz="1200" b="1" dirty="0">
                <a:solidFill>
                  <a:srgbClr val="FF3300"/>
                </a:solidFill>
                <a:latin typeface="Times New Roman" panose="02020603050405020304" pitchFamily="18" charset="0"/>
                <a:ea typeface="宋体" panose="02010600030101010101" pitchFamily="2" charset="-122"/>
              </a:rPr>
              <a:t>9.7</a:t>
            </a:r>
            <a:r>
              <a:rPr lang="en-US" altLang="zh-CN" sz="1200" b="1" dirty="0"/>
              <a:t> </a:t>
            </a:r>
            <a:r>
              <a:rPr lang="zh-CN" altLang="en-US" sz="1200" b="1" dirty="0"/>
              <a:t>设 </a:t>
            </a:r>
            <a:r>
              <a:rPr lang="en-US" altLang="zh-CN" sz="1200" b="1" i="1" dirty="0">
                <a:latin typeface="Times New Roman" panose="02020603050405020304" pitchFamily="18" charset="0"/>
              </a:rPr>
              <a:t>G </a:t>
            </a:r>
            <a:r>
              <a:rPr lang="zh-CN" altLang="en-US" sz="1200" b="1" dirty="0"/>
              <a:t>为有限群</a:t>
            </a:r>
            <a:r>
              <a:rPr lang="en-US" altLang="zh-CN" sz="1200" b="1" dirty="0"/>
              <a:t>, </a:t>
            </a:r>
            <a:r>
              <a:rPr lang="zh-CN" altLang="en-US" sz="1200" b="1" dirty="0"/>
              <a:t>则 </a:t>
            </a:r>
            <a:r>
              <a:rPr lang="en-US" altLang="zh-CN" sz="1200" b="1" i="1" dirty="0">
                <a:latin typeface="Times New Roman" panose="02020603050405020304" pitchFamily="18" charset="0"/>
              </a:rPr>
              <a:t>G </a:t>
            </a:r>
            <a:r>
              <a:rPr lang="zh-CN" altLang="en-US" sz="1200" b="1" dirty="0"/>
              <a:t>的运算表中每行每列都是 </a:t>
            </a:r>
            <a:r>
              <a:rPr lang="en-US" altLang="zh-CN" sz="1200" b="1" i="1" dirty="0">
                <a:latin typeface="Times New Roman" panose="02020603050405020304" pitchFamily="18" charset="0"/>
              </a:rPr>
              <a:t>G</a:t>
            </a:r>
            <a:r>
              <a:rPr lang="en-US" altLang="zh-CN" sz="1200" b="1" dirty="0"/>
              <a:t> </a:t>
            </a:r>
            <a:r>
              <a:rPr lang="zh-CN" altLang="en-US" sz="1200" b="1" dirty="0"/>
              <a:t>中元素的一个全排列，且不同的行（或列）的排列都不相同</a:t>
            </a:r>
            <a:r>
              <a:rPr lang="en-US" altLang="zh-CN" sz="1200" b="1" dirty="0"/>
              <a:t>.</a:t>
            </a:r>
          </a:p>
          <a:p>
            <a:pPr eaLnBrk="1" hangingPunct="1">
              <a:lnSpc>
                <a:spcPct val="110000"/>
              </a:lnSpc>
              <a:buFont typeface="Wingdings" panose="05000000000000000000" pitchFamily="2" charset="2"/>
              <a:buNone/>
            </a:pPr>
            <a:r>
              <a:rPr lang="zh-CN" altLang="en-US" sz="1200" b="1" dirty="0">
                <a:solidFill>
                  <a:srgbClr val="00B0F0"/>
                </a:solidFill>
              </a:rPr>
              <a:t>注</a:t>
            </a:r>
            <a:r>
              <a:rPr lang="en-US" altLang="zh-CN" sz="1100" dirty="0">
                <a:solidFill>
                  <a:srgbClr val="00B0F0"/>
                </a:solidFill>
                <a:latin typeface="楷体" panose="02010609060101010101" pitchFamily="49" charset="-122"/>
                <a:ea typeface="楷体" panose="02010609060101010101" pitchFamily="49" charset="-122"/>
              </a:rPr>
              <a:t>: </a:t>
            </a:r>
            <a:r>
              <a:rPr lang="en-US" altLang="zh-CN" sz="1100" dirty="0">
                <a:latin typeface="楷体" panose="02010609060101010101" pitchFamily="49" charset="-122"/>
                <a:ea typeface="楷体" panose="02010609060101010101" pitchFamily="49" charset="-122"/>
                <a:cs typeface="Calibri" panose="020F0502020204030204" pitchFamily="34" charset="0"/>
              </a:rPr>
              <a:t>①</a:t>
            </a:r>
            <a:r>
              <a:rPr lang="zh-CN" altLang="en-US" sz="1100" dirty="0">
                <a:latin typeface="楷体" panose="02010609060101010101" pitchFamily="49" charset="-122"/>
                <a:ea typeface="楷体" panose="02010609060101010101" pitchFamily="49" charset="-122"/>
                <a:cs typeface="Calibri" panose="020F0502020204030204" pitchFamily="34" charset="0"/>
              </a:rPr>
              <a:t>只能满足</a:t>
            </a:r>
            <a:r>
              <a:rPr lang="zh-CN" altLang="zh-CN" sz="1100" dirty="0">
                <a:effectLst/>
                <a:latin typeface="楷体" panose="02010609060101010101" pitchFamily="49" charset="-122"/>
                <a:ea typeface="楷体" panose="02010609060101010101" pitchFamily="49" charset="-122"/>
                <a:cs typeface="Times New Roman" panose="02020603050405020304" pitchFamily="18" charset="0"/>
              </a:rPr>
              <a:t>有限群</a:t>
            </a:r>
            <a:r>
              <a:rPr lang="zh-CN" altLang="en-US" sz="1100" dirty="0">
                <a:effectLst/>
                <a:latin typeface="楷体" panose="02010609060101010101" pitchFamily="49" charset="-122"/>
                <a:ea typeface="楷体" panose="02010609060101010101" pitchFamily="49" charset="-122"/>
                <a:cs typeface="Times New Roman" panose="02020603050405020304" pitchFamily="18" charset="0"/>
              </a:rPr>
              <a:t>要求的</a:t>
            </a:r>
            <a:r>
              <a:rPr lang="en-US" altLang="zh-CN" sz="1100" dirty="0">
                <a:latin typeface="楷体" panose="02010609060101010101" pitchFamily="49" charset="-122"/>
                <a:ea typeface="楷体" panose="02010609060101010101" pitchFamily="49" charset="-122"/>
                <a:cs typeface="Times New Roman" panose="02020603050405020304" pitchFamily="18" charset="0"/>
              </a:rPr>
              <a:t>4</a:t>
            </a:r>
            <a:r>
              <a:rPr lang="zh-CN" altLang="en-US" sz="1100" dirty="0">
                <a:latin typeface="楷体" panose="02010609060101010101" pitchFamily="49" charset="-122"/>
                <a:ea typeface="楷体" panose="02010609060101010101" pitchFamily="49" charset="-122"/>
                <a:cs typeface="Times New Roman" panose="02020603050405020304" pitchFamily="18" charset="0"/>
              </a:rPr>
              <a:t>个条件中的</a:t>
            </a:r>
            <a:r>
              <a:rPr lang="zh-CN" altLang="en-US" sz="1100" dirty="0">
                <a:effectLst/>
                <a:latin typeface="楷体" panose="02010609060101010101" pitchFamily="49" charset="-122"/>
                <a:ea typeface="楷体" panose="02010609060101010101" pitchFamily="49" charset="-122"/>
                <a:cs typeface="Times New Roman" panose="02020603050405020304" pitchFamily="18" charset="0"/>
              </a:rPr>
              <a:t>封闭性、单位元、逆元</a:t>
            </a:r>
            <a:r>
              <a:rPr lang="en-US" altLang="zh-CN" sz="1100" dirty="0">
                <a:effectLst/>
                <a:latin typeface="楷体" panose="02010609060101010101" pitchFamily="49" charset="-122"/>
                <a:ea typeface="楷体" panose="02010609060101010101" pitchFamily="49" charset="-122"/>
                <a:cs typeface="Times New Roman" panose="02020603050405020304" pitchFamily="18" charset="0"/>
              </a:rPr>
              <a:t>3</a:t>
            </a:r>
            <a:r>
              <a:rPr lang="zh-CN" altLang="en-US" sz="1100" dirty="0">
                <a:effectLst/>
                <a:latin typeface="楷体" panose="02010609060101010101" pitchFamily="49" charset="-122"/>
                <a:ea typeface="楷体" panose="02010609060101010101" pitchFamily="49" charset="-122"/>
                <a:cs typeface="Times New Roman" panose="02020603050405020304" pitchFamily="18" charset="0"/>
              </a:rPr>
              <a:t>个</a:t>
            </a:r>
            <a:r>
              <a:rPr lang="en-US" altLang="zh-CN" sz="1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en-US" sz="1100" dirty="0">
                <a:effectLst/>
                <a:latin typeface="楷体" panose="02010609060101010101" pitchFamily="49" charset="-122"/>
                <a:ea typeface="楷体" panose="02010609060101010101" pitchFamily="49" charset="-122"/>
                <a:cs typeface="Times New Roman" panose="02020603050405020304" pitchFamily="18" charset="0"/>
              </a:rPr>
              <a:t>是必要条件；</a:t>
            </a:r>
            <a:r>
              <a:rPr lang="en-US" altLang="zh-CN" sz="1100" dirty="0">
                <a:latin typeface="楷体" panose="02010609060101010101" pitchFamily="49" charset="-122"/>
                <a:ea typeface="楷体" panose="02010609060101010101" pitchFamily="49" charset="-122"/>
                <a:cs typeface="Times New Roman" panose="02020603050405020304" pitchFamily="18" charset="0"/>
              </a:rPr>
              <a:t>②</a:t>
            </a:r>
            <a:r>
              <a:rPr lang="zh-CN" altLang="en-US" sz="1100" dirty="0">
                <a:latin typeface="楷体" panose="02010609060101010101" pitchFamily="49" charset="-122"/>
                <a:ea typeface="楷体" panose="02010609060101010101" pitchFamily="49" charset="-122"/>
                <a:cs typeface="Times New Roman" panose="02020603050405020304" pitchFamily="18" charset="0"/>
              </a:rPr>
              <a:t>结合律是关于三元运算的性质</a:t>
            </a:r>
            <a:r>
              <a:rPr lang="en-US" altLang="zh-CN" sz="1100" dirty="0">
                <a:latin typeface="楷体" panose="02010609060101010101" pitchFamily="49" charset="-122"/>
                <a:ea typeface="楷体" panose="02010609060101010101" pitchFamily="49" charset="-122"/>
                <a:cs typeface="Times New Roman" panose="02020603050405020304" pitchFamily="18" charset="0"/>
              </a:rPr>
              <a:t>, </a:t>
            </a:r>
            <a:r>
              <a:rPr lang="zh-CN" altLang="en-US" sz="1100" dirty="0">
                <a:latin typeface="楷体" panose="02010609060101010101" pitchFamily="49" charset="-122"/>
                <a:ea typeface="楷体" panose="02010609060101010101" pitchFamily="49" charset="-122"/>
                <a:cs typeface="Times New Roman" panose="02020603050405020304" pitchFamily="18" charset="0"/>
              </a:rPr>
              <a:t>二元运算表不能直接反映满足结合律</a:t>
            </a:r>
            <a:r>
              <a:rPr lang="en-US" altLang="zh-CN" sz="1100" dirty="0">
                <a:latin typeface="楷体" panose="02010609060101010101" pitchFamily="49" charset="-122"/>
                <a:ea typeface="楷体" panose="02010609060101010101" pitchFamily="49" charset="-122"/>
                <a:cs typeface="Times New Roman" panose="02020603050405020304" pitchFamily="18" charset="0"/>
              </a:rPr>
              <a:t>.</a:t>
            </a:r>
          </a:p>
          <a:p>
            <a:pPr eaLnBrk="1" hangingPunct="1">
              <a:lnSpc>
                <a:spcPct val="110000"/>
              </a:lnSpc>
              <a:buFont typeface="Wingdings" panose="05000000000000000000" pitchFamily="2" charset="2"/>
              <a:buNone/>
            </a:pPr>
            <a:endParaRPr lang="en-US" altLang="zh-CN" sz="1100" dirty="0">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1" fontAlgn="auto" latinLnBrk="0" hangingPunct="1">
              <a:lnSpc>
                <a:spcPct val="110000"/>
              </a:lnSpc>
              <a:spcBef>
                <a:spcPts val="0"/>
              </a:spcBef>
              <a:spcAft>
                <a:spcPts val="0"/>
              </a:spcAft>
              <a:buClrTx/>
              <a:buSzTx/>
              <a:buFont typeface="Wingdings" panose="05000000000000000000" pitchFamily="2" charset="2"/>
              <a:buNone/>
              <a:tabLst/>
              <a:defRPr/>
            </a:pPr>
            <a:r>
              <a:rPr lang="zh-CN" altLang="en-US" sz="1100" b="1" dirty="0">
                <a:solidFill>
                  <a:srgbClr val="00B0F0"/>
                </a:solidFill>
              </a:rPr>
              <a:t>例</a:t>
            </a:r>
            <a:r>
              <a:rPr lang="en-US" altLang="zh-CN" sz="1100" b="1" dirty="0">
                <a:solidFill>
                  <a:srgbClr val="00B0F0"/>
                </a:solidFill>
              </a:rPr>
              <a:t>: </a:t>
            </a:r>
            <a:r>
              <a:rPr lang="zh-CN" altLang="en-US" sz="1100" b="1" dirty="0">
                <a:latin typeface="Calibri" panose="020F0502020204030204" pitchFamily="34" charset="0"/>
                <a:cs typeface="Calibri" panose="020F0502020204030204" pitchFamily="34" charset="0"/>
              </a:rPr>
              <a:t>分析下面的运算表</a:t>
            </a:r>
            <a:r>
              <a:rPr lang="en-US" altLang="zh-CN" sz="1100" b="1" dirty="0">
                <a:latin typeface="Calibri" panose="020F0502020204030204" pitchFamily="34" charset="0"/>
                <a:cs typeface="Calibri" panose="020F0502020204030204" pitchFamily="34" charset="0"/>
              </a:rPr>
              <a:t>,</a:t>
            </a:r>
            <a:r>
              <a:rPr lang="zh-CN" altLang="en-US" sz="1100" b="1" dirty="0">
                <a:latin typeface="Calibri" panose="020F0502020204030204" pitchFamily="34" charset="0"/>
                <a:cs typeface="Calibri" panose="020F0502020204030204" pitchFamily="34" charset="0"/>
              </a:rPr>
              <a:t>判断是否满足群的必要条件</a:t>
            </a:r>
            <a:r>
              <a:rPr lang="en-US" altLang="zh-CN" sz="1100" b="1"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lnSpc>
                <a:spcPct val="110000"/>
              </a:lnSpc>
              <a:buFont typeface="Wingdings" panose="05000000000000000000" pitchFamily="2" charset="2"/>
              <a:buNone/>
            </a:pPr>
            <a:endParaRPr lang="en-US" altLang="zh-CN" sz="1100" dirty="0">
              <a:latin typeface="楷体" panose="02010609060101010101" pitchFamily="49" charset="-122"/>
              <a:ea typeface="楷体"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86</a:t>
            </a:fld>
            <a:endParaRPr lang="zh-CN" altLang="en-US"/>
          </a:p>
        </p:txBody>
      </p:sp>
    </p:spTree>
    <p:extLst>
      <p:ext uri="{BB962C8B-B14F-4D97-AF65-F5344CB8AC3E}">
        <p14:creationId xmlns:p14="http://schemas.microsoft.com/office/powerpoint/2010/main" val="358806917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不是全排列（有重复的</a:t>
            </a:r>
            <a:r>
              <a:rPr lang="en-US" altLang="zh-CN" dirty="0"/>
              <a:t>b),</a:t>
            </a:r>
            <a:r>
              <a:rPr lang="zh-CN" altLang="en-US" dirty="0"/>
              <a:t>满足封闭性</a:t>
            </a:r>
            <a:r>
              <a:rPr lang="en-US" altLang="zh-CN" dirty="0"/>
              <a:t>,</a:t>
            </a:r>
            <a:r>
              <a:rPr lang="zh-CN" altLang="en-US" dirty="0"/>
              <a:t>没有单位元</a:t>
            </a:r>
            <a:r>
              <a:rPr lang="en-US" altLang="zh-CN" dirty="0"/>
              <a:t>,</a:t>
            </a:r>
            <a:r>
              <a:rPr lang="zh-CN" altLang="en-US" dirty="0"/>
              <a:t>无法找到逆元，无法验证结合律</a:t>
            </a:r>
            <a:r>
              <a:rPr lang="en-US" altLang="zh-CN" dirty="0"/>
              <a:t>.</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满足封闭性、单位元</a:t>
            </a:r>
            <a:r>
              <a:rPr lang="en-US" altLang="zh-CN" dirty="0"/>
              <a:t>e</a:t>
            </a:r>
            <a:r>
              <a:rPr lang="zh-CN" altLang="en-US" dirty="0"/>
              <a:t>、每个元素都有逆元</a:t>
            </a:r>
            <a:r>
              <a:rPr lang="en-US" altLang="zh-CN" dirty="0"/>
              <a:t>(</a:t>
            </a:r>
            <a:r>
              <a:rPr lang="zh-CN" altLang="en-US" dirty="0"/>
              <a:t>自身），无法验证结合律</a:t>
            </a:r>
            <a:r>
              <a:rPr lang="en-US" altLang="zh-CN" dirty="0"/>
              <a:t>.</a:t>
            </a:r>
            <a:endParaRPr lang="zh-CN" altLang="en-US" dirty="0"/>
          </a:p>
          <a:p>
            <a:r>
              <a:rPr lang="en-US" altLang="zh-CN" dirty="0"/>
              <a:t>(3)</a:t>
            </a:r>
            <a:r>
              <a:rPr lang="zh-CN" altLang="en-US" dirty="0"/>
              <a:t>不符合群的全排列要求（</a:t>
            </a:r>
            <a:r>
              <a:rPr lang="en-US" altLang="zh-CN" dirty="0"/>
              <a:t>1</a:t>
            </a:r>
            <a:r>
              <a:rPr lang="zh-CN" altLang="en-US" dirty="0"/>
              <a:t>行</a:t>
            </a:r>
            <a:r>
              <a:rPr lang="en-US" altLang="zh-CN" dirty="0"/>
              <a:t>1</a:t>
            </a:r>
            <a:r>
              <a:rPr lang="zh-CN" altLang="en-US" dirty="0"/>
              <a:t>列相同）</a:t>
            </a:r>
            <a:r>
              <a:rPr lang="en-US" altLang="zh-CN" dirty="0"/>
              <a:t>,</a:t>
            </a:r>
            <a:r>
              <a:rPr lang="zh-CN" altLang="en-US" dirty="0"/>
              <a:t>满足封闭性</a:t>
            </a:r>
            <a:r>
              <a:rPr lang="en-US" altLang="zh-CN" dirty="0"/>
              <a:t>,</a:t>
            </a:r>
            <a:r>
              <a:rPr lang="zh-CN" altLang="en-US" dirty="0"/>
              <a:t>没有单位元</a:t>
            </a:r>
            <a:r>
              <a:rPr lang="en-US" altLang="zh-CN" dirty="0"/>
              <a:t>,</a:t>
            </a:r>
            <a:r>
              <a:rPr lang="zh-CN" altLang="en-US" dirty="0"/>
              <a:t>无法找到逆元，无法验证结合律</a:t>
            </a:r>
            <a:endParaRPr lang="en-US" altLang="zh-CN" dirty="0"/>
          </a:p>
          <a:p>
            <a:pPr eaLnBrk="1" hangingPunct="1">
              <a:lnSpc>
                <a:spcPct val="110000"/>
              </a:lnSpc>
              <a:buFont typeface="Wingdings" panose="05000000000000000000" pitchFamily="2" charset="2"/>
              <a:buNone/>
            </a:pPr>
            <a:endParaRPr lang="en-US" altLang="zh-CN" sz="1100" dirty="0">
              <a:latin typeface="楷体" panose="02010609060101010101" pitchFamily="49" charset="-122"/>
              <a:ea typeface="楷体"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87</a:t>
            </a:fld>
            <a:endParaRPr lang="zh-CN" altLang="en-US"/>
          </a:p>
        </p:txBody>
      </p:sp>
    </p:spTree>
    <p:extLst>
      <p:ext uri="{BB962C8B-B14F-4D97-AF65-F5344CB8AC3E}">
        <p14:creationId xmlns:p14="http://schemas.microsoft.com/office/powerpoint/2010/main" val="29323941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代数或子代数系统</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结构</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封闭性</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结合律</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单位元</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逆元</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半群 </a:t>
            </a:r>
            <a:r>
              <a:rPr lang="en-US" sz="1800" b="1" i="0" u="none" strike="noStrike" kern="100" dirty="0">
                <a:solidFill>
                  <a:srgbClr val="000000"/>
                </a:solidFill>
                <a:effectLst/>
                <a:latin typeface="Times New Roman" panose="02020603050405020304" pitchFamily="18" charset="0"/>
                <a:cs typeface="Times New Roman" panose="02020603050405020304" pitchFamily="18" charset="0"/>
              </a:rPr>
              <a:t>Semigroup</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集合</a:t>
            </a: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S</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上的二元运算</a:t>
            </a: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S</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S</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 </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 </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子半群</a:t>
            </a:r>
            <a:r>
              <a:rPr lang="en-US" sz="1800" b="1" i="0" u="none" strike="noStrike" kern="100" dirty="0" err="1">
                <a:solidFill>
                  <a:srgbClr val="000000"/>
                </a:solidFill>
                <a:effectLst/>
                <a:latin typeface="Times New Roman" panose="02020603050405020304" pitchFamily="18" charset="0"/>
                <a:cs typeface="Times New Roman" panose="02020603050405020304" pitchFamily="18" charset="0"/>
              </a:rPr>
              <a:t>Subsemigroup</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子集</a:t>
            </a:r>
            <a:r>
              <a:rPr lang="en-US" sz="1800" b="1" i="1" u="none" strike="noStrike" kern="100" dirty="0">
                <a:solidFill>
                  <a:srgbClr val="FF0000"/>
                </a:solidFill>
                <a:effectLst/>
                <a:latin typeface="Times New Roman" panose="02020603050405020304" pitchFamily="18" charset="0"/>
                <a:cs typeface="Times New Roman" panose="02020603050405020304" pitchFamily="18" charset="0"/>
              </a:rPr>
              <a:t>T</a:t>
            </a:r>
            <a:r>
              <a:rPr lang="zh-CN" sz="1800" b="1" i="0" u="none" strike="noStrike"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b="1" i="1" u="none" strike="noStrike" kern="100" dirty="0">
                <a:solidFill>
                  <a:srgbClr val="FF0000"/>
                </a:solidFill>
                <a:effectLst/>
                <a:latin typeface="Times New Roman" panose="02020603050405020304" pitchFamily="18" charset="0"/>
                <a:cs typeface="Times New Roman" panose="02020603050405020304" pitchFamily="18" charset="0"/>
              </a:rPr>
              <a:t>S</a:t>
            </a: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 </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上的二元运算</a:t>
            </a: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T</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T</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 </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 </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独异点 </a:t>
            </a:r>
            <a:r>
              <a:rPr lang="en-US" sz="1800" b="1" i="0" u="none" strike="noStrike" kern="100" dirty="0">
                <a:solidFill>
                  <a:srgbClr val="000000"/>
                </a:solidFill>
                <a:effectLst/>
                <a:latin typeface="Times New Roman" panose="02020603050405020304" pitchFamily="18" charset="0"/>
                <a:cs typeface="Times New Roman" panose="02020603050405020304" pitchFamily="18" charset="0"/>
              </a:rPr>
              <a:t>Monoid</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集合</a:t>
            </a: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M</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上的二元运算</a:t>
            </a: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M</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M</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单位元 </a:t>
            </a:r>
            <a:r>
              <a:rPr lang="en-US" sz="1800" b="0" i="1" u="none" strike="noStrike" kern="100" dirty="0" err="1">
                <a:solidFill>
                  <a:srgbClr val="000000"/>
                </a:solidFill>
                <a:effectLst/>
                <a:latin typeface="Times New Roman" panose="02020603050405020304" pitchFamily="18" charset="0"/>
                <a:cs typeface="Times New Roman" panose="02020603050405020304" pitchFamily="18" charset="0"/>
              </a:rPr>
              <a:t>e</a:t>
            </a:r>
            <a:r>
              <a:rPr lang="en-US" sz="1800" b="0" i="0" u="none" strike="noStrike" kern="100" dirty="0" err="1">
                <a:solidFill>
                  <a:srgbClr val="000000"/>
                </a:solidFill>
                <a:effectLst/>
                <a:latin typeface="Times New Roman" panose="02020603050405020304" pitchFamily="18" charset="0"/>
                <a:cs typeface="Times New Roman" panose="02020603050405020304" pitchFamily="18" charset="0"/>
              </a:rPr>
              <a:t>∈</a:t>
            </a:r>
            <a:r>
              <a:rPr lang="en-US" sz="1800" b="0" i="1" u="none" strike="noStrike" kern="100" dirty="0" err="1">
                <a:solidFill>
                  <a:srgbClr val="000000"/>
                </a:solidFill>
                <a:effectLst/>
                <a:latin typeface="Times New Roman" panose="02020603050405020304" pitchFamily="18" charset="0"/>
                <a:cs typeface="Times New Roman" panose="02020603050405020304" pitchFamily="18" charset="0"/>
              </a:rPr>
              <a:t>M</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 </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子独异点 </a:t>
            </a:r>
            <a:r>
              <a:rPr lang="en-US" sz="1800" b="1" i="0" u="none" strike="noStrike" kern="100" dirty="0" err="1">
                <a:solidFill>
                  <a:srgbClr val="000000"/>
                </a:solidFill>
                <a:effectLst/>
                <a:latin typeface="Times New Roman" panose="02020603050405020304" pitchFamily="18" charset="0"/>
                <a:cs typeface="Times New Roman" panose="02020603050405020304" pitchFamily="18" charset="0"/>
              </a:rPr>
              <a:t>Submonoid</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子集</a:t>
            </a:r>
            <a:r>
              <a:rPr lang="en-US" sz="1800" b="1" i="1" u="none" strike="noStrike" kern="100" dirty="0">
                <a:solidFill>
                  <a:srgbClr val="FF0000"/>
                </a:solidFill>
                <a:effectLst/>
                <a:latin typeface="Times New Roman" panose="02020603050405020304" pitchFamily="18" charset="0"/>
                <a:cs typeface="Times New Roman" panose="02020603050405020304" pitchFamily="18" charset="0"/>
              </a:rPr>
              <a:t>N</a:t>
            </a:r>
            <a:r>
              <a:rPr lang="zh-CN" sz="1800" b="1" i="0" u="none" strike="noStrike"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b="1" i="1" u="none" strike="noStrike" kern="100" dirty="0">
                <a:solidFill>
                  <a:srgbClr val="FF0000"/>
                </a:solidFill>
                <a:effectLst/>
                <a:latin typeface="Times New Roman" panose="02020603050405020304" pitchFamily="18" charset="0"/>
                <a:cs typeface="Times New Roman" panose="02020603050405020304" pitchFamily="18" charset="0"/>
              </a:rPr>
              <a:t>M</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上的二元运算</a:t>
            </a: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N</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N</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e</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zh-CN" sz="1800" b="0" i="1"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 </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群 </a:t>
            </a:r>
            <a:r>
              <a:rPr lang="en-US" sz="1800" b="1" i="0" u="none" strike="noStrike" kern="100" dirty="0">
                <a:solidFill>
                  <a:srgbClr val="000000"/>
                </a:solidFill>
                <a:effectLst/>
                <a:latin typeface="Times New Roman" panose="02020603050405020304" pitchFamily="18" charset="0"/>
                <a:cs typeface="Times New Roman" panose="02020603050405020304" pitchFamily="18" charset="0"/>
              </a:rPr>
              <a:t>Group</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集合</a:t>
            </a: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G</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上的二元运算</a:t>
            </a: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G</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G</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e</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zh-CN" sz="1800" b="0" i="1"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a:t>
            </a:r>
            <a:endParaRPr lang="en-US"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G</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中每个元素都存在</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1"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子群 </a:t>
            </a:r>
            <a:r>
              <a:rPr lang="en-US" sz="1800" b="1" i="0" u="none" strike="noStrike" kern="100" dirty="0">
                <a:solidFill>
                  <a:srgbClr val="000000"/>
                </a:solidFill>
                <a:effectLst/>
                <a:latin typeface="Times New Roman" panose="02020603050405020304" pitchFamily="18" charset="0"/>
                <a:cs typeface="Times New Roman" panose="02020603050405020304" pitchFamily="18" charset="0"/>
              </a:rPr>
              <a:t>Subgroup</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子集</a:t>
            </a:r>
            <a:r>
              <a:rPr lang="en-US" sz="1800" b="1" i="1" u="none" strike="noStrike" kern="100" dirty="0">
                <a:solidFill>
                  <a:srgbClr val="FF0000"/>
                </a:solidFill>
                <a:effectLst/>
                <a:latin typeface="Times New Roman" panose="02020603050405020304" pitchFamily="18" charset="0"/>
                <a:cs typeface="Times New Roman" panose="02020603050405020304" pitchFamily="18" charset="0"/>
              </a:rPr>
              <a:t>H</a:t>
            </a:r>
            <a:r>
              <a:rPr lang="en-US" sz="1800" b="1" i="0" u="none" strike="noStrike" kern="100" dirty="0">
                <a:solidFill>
                  <a:srgbClr val="FF0000"/>
                </a:solidFill>
                <a:effectLst/>
                <a:latin typeface="Times New Roman" panose="02020603050405020304" pitchFamily="18" charset="0"/>
                <a:cs typeface="Times New Roman" panose="02020603050405020304" pitchFamily="18" charset="0"/>
              </a:rPr>
              <a:t>⊆ </a:t>
            </a:r>
            <a:r>
              <a:rPr lang="en-US" sz="1800" b="1" i="1" u="none" strike="noStrike" kern="100" dirty="0">
                <a:solidFill>
                  <a:srgbClr val="FF0000"/>
                </a:solidFill>
                <a:effectLst/>
                <a:latin typeface="Times New Roman" panose="02020603050405020304" pitchFamily="18" charset="0"/>
                <a:cs typeface="Times New Roman" panose="02020603050405020304" pitchFamily="18" charset="0"/>
              </a:rPr>
              <a:t>G</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上的二元运算</a:t>
            </a:r>
            <a:r>
              <a:rPr lang="en-US" sz="1800" b="0" i="0" u="none" strike="noStrike" kern="100" dirty="0">
                <a:solidFill>
                  <a:srgbClr val="000000"/>
                </a:solidFill>
                <a:effectLst/>
                <a:latin typeface="Times New Roman" panose="02020603050405020304" pitchFamily="18" charset="0"/>
                <a:cs typeface="Times New Roman" panose="02020603050405020304" pitchFamily="18" charset="0"/>
              </a:rPr>
              <a:t>°</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H</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H</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上满足</a:t>
            </a:r>
            <a:endParaRPr lang="en-US" sz="1800" b="0" i="0" u="none" strike="noStrike" dirty="0">
              <a:effectLst/>
              <a:latin typeface="Arial" panose="020B0604020202020204" pitchFamily="34" charset="0"/>
            </a:endParaRPr>
          </a:p>
          <a:p>
            <a:pPr marL="0" indent="128016" algn="ctr" rtl="0" eaLnBrk="1" fontAlgn="ctr"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e</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zh-CN" sz="1800" b="0" i="1"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a:t>
            </a:r>
            <a:endParaRPr lang="en-US"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sz="1800" b="0" i="1" u="none" strike="noStrike" kern="100" dirty="0">
                <a:solidFill>
                  <a:srgbClr val="000000"/>
                </a:solidFill>
                <a:effectLst/>
                <a:latin typeface="Times New Roman" panose="02020603050405020304" pitchFamily="18" charset="0"/>
                <a:cs typeface="Times New Roman" panose="02020603050405020304" pitchFamily="18" charset="0"/>
              </a:rPr>
              <a:t>H</a:t>
            </a:r>
            <a:r>
              <a:rPr lang="zh-CN" sz="1800" b="0" i="0"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中每个元素都存在</a:t>
            </a:r>
            <a:endParaRPr lang="en-US" sz="1800" b="0" i="0" u="none" strike="noStrike" dirty="0">
              <a:effectLst/>
              <a:latin typeface="Arial" panose="020B0604020202020204" pitchFamily="34" charset="0"/>
            </a:endParaRPr>
          </a:p>
          <a:p>
            <a:pPr indent="267970" algn="l"/>
            <a:endParaRPr lang="zh-CN" altLang="en-US" sz="1000"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88</a:t>
            </a:fld>
            <a:endParaRPr lang="zh-CN" altLang="en-US"/>
          </a:p>
        </p:txBody>
      </p:sp>
    </p:spTree>
    <p:extLst>
      <p:ext uri="{BB962C8B-B14F-4D97-AF65-F5344CB8AC3E}">
        <p14:creationId xmlns:p14="http://schemas.microsoft.com/office/powerpoint/2010/main" val="383889960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0000"/>
              </a:lnSpc>
            </a:pPr>
            <a:r>
              <a:rPr lang="zh-CN" altLang="en-US" sz="1200" b="1" dirty="0">
                <a:solidFill>
                  <a:srgbClr val="FF3300"/>
                </a:solidFill>
                <a:latin typeface="Times New Roman" panose="02020603050405020304" pitchFamily="18" charset="0"/>
                <a:ea typeface="宋体" panose="02010600030101010101" pitchFamily="2" charset="-122"/>
              </a:rPr>
              <a:t>定义</a:t>
            </a:r>
            <a:r>
              <a:rPr lang="en-US" altLang="zh-CN" sz="1200" b="1" dirty="0">
                <a:solidFill>
                  <a:srgbClr val="FF3300"/>
                </a:solidFill>
                <a:latin typeface="Times New Roman" panose="02020603050405020304" pitchFamily="18" charset="0"/>
                <a:ea typeface="宋体" panose="02010600030101010101" pitchFamily="2" charset="-122"/>
              </a:rPr>
              <a:t>9.15 </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设 </a:t>
            </a:r>
            <a:r>
              <a:rPr lang="en-US" altLang="zh-CN" sz="1200" b="1" i="1" dirty="0">
                <a:solidFill>
                  <a:schemeClr val="tx1"/>
                </a:solidFill>
                <a:latin typeface="Times New Roman" panose="02020603050405020304" pitchFamily="18" charset="0"/>
                <a:ea typeface="宋体" panose="02010600030101010101" pitchFamily="2" charset="-122"/>
              </a:rPr>
              <a:t>G </a:t>
            </a:r>
            <a:r>
              <a:rPr lang="zh-CN" altLang="en-US" sz="1200" b="1" dirty="0">
                <a:solidFill>
                  <a:schemeClr val="tx1"/>
                </a:solidFill>
                <a:latin typeface="Times New Roman" panose="02020603050405020304" pitchFamily="18" charset="0"/>
                <a:ea typeface="宋体" panose="02010600030101010101" pitchFamily="2" charset="-122"/>
              </a:rPr>
              <a:t>是群</a:t>
            </a:r>
            <a:r>
              <a:rPr lang="en-US" altLang="zh-CN" sz="1200" b="1" dirty="0">
                <a:solidFill>
                  <a:schemeClr val="tx1"/>
                </a:solidFill>
                <a:latin typeface="Times New Roman" panose="02020603050405020304" pitchFamily="18" charset="0"/>
                <a:ea typeface="宋体" panose="02010600030101010101" pitchFamily="2" charset="-122"/>
              </a:rPr>
              <a:t>, </a:t>
            </a:r>
            <a:r>
              <a:rPr lang="en-US" altLang="zh-CN" sz="1200" b="1" i="1" dirty="0">
                <a:solidFill>
                  <a:schemeClr val="tx1"/>
                </a:solidFill>
                <a:latin typeface="Times New Roman" panose="02020603050405020304" pitchFamily="18" charset="0"/>
                <a:ea typeface="宋体" panose="02010600030101010101" pitchFamily="2" charset="-122"/>
              </a:rPr>
              <a:t>H </a:t>
            </a:r>
            <a:r>
              <a:rPr lang="zh-CN" altLang="en-US" sz="1200" b="1" dirty="0">
                <a:solidFill>
                  <a:schemeClr val="tx1"/>
                </a:solidFill>
                <a:latin typeface="Times New Roman" panose="02020603050405020304" pitchFamily="18" charset="0"/>
                <a:ea typeface="宋体" panose="02010600030101010101" pitchFamily="2" charset="-122"/>
              </a:rPr>
              <a:t>是 </a:t>
            </a:r>
            <a:r>
              <a:rPr lang="en-US" altLang="zh-CN" sz="1200" b="1" i="1" dirty="0">
                <a:solidFill>
                  <a:schemeClr val="tx1"/>
                </a:solidFill>
                <a:latin typeface="Times New Roman" panose="02020603050405020304" pitchFamily="18" charset="0"/>
                <a:ea typeface="宋体" panose="02010600030101010101" pitchFamily="2" charset="-122"/>
              </a:rPr>
              <a:t>G </a:t>
            </a:r>
            <a:r>
              <a:rPr lang="zh-CN" altLang="en-US" sz="1200" b="1" dirty="0">
                <a:solidFill>
                  <a:schemeClr val="tx1"/>
                </a:solidFill>
                <a:latin typeface="Times New Roman" panose="02020603050405020304" pitchFamily="18" charset="0"/>
                <a:ea typeface="宋体" panose="02010600030101010101" pitchFamily="2" charset="-122"/>
              </a:rPr>
              <a:t>的非空子集</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如果 </a:t>
            </a:r>
            <a:r>
              <a:rPr lang="en-US" altLang="zh-CN" sz="1200" b="1" i="1" dirty="0">
                <a:solidFill>
                  <a:schemeClr val="tx1"/>
                </a:solidFill>
                <a:latin typeface="Times New Roman" panose="02020603050405020304" pitchFamily="18" charset="0"/>
                <a:ea typeface="宋体" panose="02010600030101010101" pitchFamily="2" charset="-122"/>
              </a:rPr>
              <a:t>H </a:t>
            </a:r>
            <a:r>
              <a:rPr lang="zh-CN" altLang="en-US" sz="1200" b="1" dirty="0">
                <a:solidFill>
                  <a:schemeClr val="tx1"/>
                </a:solidFill>
                <a:latin typeface="Times New Roman" panose="02020603050405020304" pitchFamily="18" charset="0"/>
                <a:ea typeface="宋体" panose="02010600030101010101" pitchFamily="2" charset="-122"/>
              </a:rPr>
              <a:t>关于</a:t>
            </a:r>
            <a:r>
              <a:rPr lang="en-US" altLang="zh-CN" sz="1200" b="1" i="1" dirty="0">
                <a:solidFill>
                  <a:schemeClr val="tx1"/>
                </a:solidFill>
                <a:latin typeface="Times New Roman" panose="02020603050405020304" pitchFamily="18" charset="0"/>
                <a:ea typeface="宋体" panose="02010600030101010101" pitchFamily="2" charset="-122"/>
              </a:rPr>
              <a:t>G</a:t>
            </a:r>
            <a:r>
              <a:rPr lang="zh-CN" altLang="en-US" sz="1200" b="1" dirty="0">
                <a:solidFill>
                  <a:schemeClr val="tx1"/>
                </a:solidFill>
                <a:latin typeface="Times New Roman" panose="02020603050405020304" pitchFamily="18" charset="0"/>
                <a:ea typeface="宋体" panose="02010600030101010101" pitchFamily="2" charset="-122"/>
              </a:rPr>
              <a:t>中的运算构成群</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则称 </a:t>
            </a:r>
            <a:r>
              <a:rPr lang="en-US" altLang="zh-CN" sz="1200" b="1" i="1" dirty="0">
                <a:solidFill>
                  <a:schemeClr val="tx1"/>
                </a:solidFill>
                <a:latin typeface="Times New Roman" panose="02020603050405020304" pitchFamily="18" charset="0"/>
                <a:ea typeface="宋体" panose="02010600030101010101" pitchFamily="2" charset="-122"/>
              </a:rPr>
              <a:t>H </a:t>
            </a:r>
            <a:r>
              <a:rPr lang="zh-CN" altLang="en-US" sz="1200" b="1" dirty="0">
                <a:solidFill>
                  <a:schemeClr val="tx1"/>
                </a:solidFill>
                <a:latin typeface="Times New Roman" panose="02020603050405020304" pitchFamily="18" charset="0"/>
                <a:ea typeface="宋体" panose="02010600030101010101" pitchFamily="2" charset="-122"/>
              </a:rPr>
              <a:t>是 </a:t>
            </a:r>
            <a:r>
              <a:rPr lang="en-US" altLang="zh-CN" sz="1200" b="1" i="1" dirty="0">
                <a:solidFill>
                  <a:schemeClr val="tx1"/>
                </a:solidFill>
                <a:latin typeface="Times New Roman" panose="02020603050405020304" pitchFamily="18" charset="0"/>
                <a:ea typeface="宋体" panose="02010600030101010101" pitchFamily="2" charset="-122"/>
              </a:rPr>
              <a:t>G </a:t>
            </a:r>
            <a:r>
              <a:rPr lang="zh-CN" altLang="en-US" sz="1200" b="1" dirty="0">
                <a:solidFill>
                  <a:schemeClr val="tx1"/>
                </a:solidFill>
                <a:latin typeface="Times New Roman" panose="02020603050405020304" pitchFamily="18" charset="0"/>
                <a:ea typeface="宋体" panose="02010600030101010101" pitchFamily="2" charset="-122"/>
              </a:rPr>
              <a:t>的</a:t>
            </a:r>
            <a:r>
              <a:rPr lang="zh-CN" altLang="en-US" sz="1200" b="1" dirty="0">
                <a:solidFill>
                  <a:srgbClr val="FF3300"/>
                </a:solidFill>
                <a:latin typeface="Times New Roman" panose="02020603050405020304" pitchFamily="18" charset="0"/>
                <a:ea typeface="宋体" panose="02010600030101010101" pitchFamily="2" charset="-122"/>
              </a:rPr>
              <a:t>子群</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记作 </a:t>
            </a:r>
            <a:r>
              <a:rPr lang="en-US" altLang="zh-CN" sz="1200" b="1" i="1" dirty="0">
                <a:solidFill>
                  <a:schemeClr val="tx1"/>
                </a:solidFill>
                <a:latin typeface="Times New Roman" panose="02020603050405020304" pitchFamily="18" charset="0"/>
                <a:ea typeface="宋体" panose="02010600030101010101" pitchFamily="2" charset="-122"/>
              </a:rPr>
              <a:t>H</a:t>
            </a:r>
            <a:r>
              <a:rPr lang="en-US" altLang="zh-CN" sz="1200" b="1" dirty="0">
                <a:solidFill>
                  <a:schemeClr val="tx1"/>
                </a:solidFill>
                <a:latin typeface="Times New Roman" panose="02020603050405020304" pitchFamily="18" charset="0"/>
                <a:ea typeface="宋体" panose="02010600030101010101" pitchFamily="2" charset="-122"/>
              </a:rPr>
              <a:t>≤</a:t>
            </a:r>
            <a:r>
              <a:rPr lang="en-US" altLang="zh-CN" sz="1200" b="1" i="1" dirty="0">
                <a:solidFill>
                  <a:schemeClr val="tx1"/>
                </a:solidFill>
                <a:latin typeface="Times New Roman" panose="02020603050405020304" pitchFamily="18" charset="0"/>
                <a:ea typeface="宋体" panose="02010600030101010101" pitchFamily="2" charset="-122"/>
              </a:rPr>
              <a:t>G</a:t>
            </a:r>
            <a:r>
              <a:rPr lang="en-US" altLang="zh-CN" sz="1200" b="1" dirty="0">
                <a:solidFill>
                  <a:schemeClr val="tx1"/>
                </a:solidFill>
                <a:latin typeface="Times New Roman" panose="02020603050405020304" pitchFamily="18" charset="0"/>
                <a:ea typeface="宋体" panose="02010600030101010101" pitchFamily="2" charset="-122"/>
              </a:rPr>
              <a:t>. </a:t>
            </a:r>
          </a:p>
          <a:p>
            <a:pPr>
              <a:lnSpc>
                <a:spcPct val="110000"/>
              </a:lnSpc>
            </a:pPr>
            <a:r>
              <a:rPr lang="zh-CN" altLang="en-US" sz="1200" b="1" dirty="0">
                <a:solidFill>
                  <a:schemeClr val="tx1"/>
                </a:solidFill>
                <a:latin typeface="Times New Roman" panose="02020603050405020304" pitchFamily="18" charset="0"/>
                <a:ea typeface="宋体" panose="02010600030101010101" pitchFamily="2" charset="-122"/>
              </a:rPr>
              <a:t>若 </a:t>
            </a:r>
            <a:r>
              <a:rPr lang="en-US" altLang="zh-CN" sz="1200" b="1" i="1" dirty="0">
                <a:solidFill>
                  <a:schemeClr val="tx1"/>
                </a:solidFill>
                <a:latin typeface="Times New Roman" panose="02020603050405020304" pitchFamily="18" charset="0"/>
                <a:ea typeface="宋体" panose="02010600030101010101" pitchFamily="2" charset="-122"/>
              </a:rPr>
              <a:t>H </a:t>
            </a:r>
            <a:r>
              <a:rPr lang="zh-CN" altLang="en-US" sz="1200" b="1" dirty="0">
                <a:solidFill>
                  <a:schemeClr val="tx1"/>
                </a:solidFill>
                <a:latin typeface="Times New Roman" panose="02020603050405020304" pitchFamily="18" charset="0"/>
                <a:ea typeface="宋体" panose="02010600030101010101" pitchFamily="2" charset="-122"/>
              </a:rPr>
              <a:t>是 </a:t>
            </a:r>
            <a:r>
              <a:rPr lang="en-US" altLang="zh-CN" sz="1200" b="1" i="1" dirty="0">
                <a:solidFill>
                  <a:schemeClr val="tx1"/>
                </a:solidFill>
                <a:latin typeface="Times New Roman" panose="02020603050405020304" pitchFamily="18" charset="0"/>
                <a:ea typeface="宋体" panose="02010600030101010101" pitchFamily="2" charset="-122"/>
              </a:rPr>
              <a:t>G </a:t>
            </a:r>
            <a:r>
              <a:rPr lang="zh-CN" altLang="en-US" sz="1200" b="1" dirty="0">
                <a:solidFill>
                  <a:schemeClr val="tx1"/>
                </a:solidFill>
                <a:latin typeface="Times New Roman" panose="02020603050405020304" pitchFamily="18" charset="0"/>
                <a:ea typeface="宋体" panose="02010600030101010101" pitchFamily="2" charset="-122"/>
              </a:rPr>
              <a:t>的子群</a:t>
            </a:r>
            <a:r>
              <a:rPr lang="en-US" altLang="zh-CN" sz="1200" b="1" dirty="0">
                <a:solidFill>
                  <a:schemeClr val="tx1"/>
                </a:solidFill>
                <a:latin typeface="Times New Roman" panose="02020603050405020304" pitchFamily="18" charset="0"/>
                <a:ea typeface="宋体" panose="02010600030101010101" pitchFamily="2" charset="-122"/>
              </a:rPr>
              <a:t>, </a:t>
            </a:r>
            <a:r>
              <a:rPr lang="zh-CN" altLang="en-US" sz="1200" b="1" dirty="0">
                <a:solidFill>
                  <a:schemeClr val="tx1"/>
                </a:solidFill>
                <a:latin typeface="Times New Roman" panose="02020603050405020304" pitchFamily="18" charset="0"/>
                <a:ea typeface="宋体" panose="02010600030101010101" pitchFamily="2" charset="-122"/>
              </a:rPr>
              <a:t>且 </a:t>
            </a:r>
            <a:r>
              <a:rPr lang="en-US" altLang="zh-CN" sz="1200" b="1" i="1" dirty="0">
                <a:solidFill>
                  <a:schemeClr val="tx1"/>
                </a:solidFill>
                <a:latin typeface="Times New Roman" panose="02020603050405020304" pitchFamily="18" charset="0"/>
                <a:ea typeface="宋体" panose="02010600030101010101" pitchFamily="2" charset="-122"/>
              </a:rPr>
              <a:t>H</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rPr>
              <a:t>G</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则称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H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是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G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的</a:t>
            </a:r>
            <a:r>
              <a:rPr lang="zh-CN" altLang="en-US" sz="12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真子群</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记作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H</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&lt;</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G</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p>
          <a:p>
            <a:pPr>
              <a:lnSpc>
                <a:spcPct val="110000"/>
              </a:lnSpc>
            </a:pP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对任何群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G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都存在子群</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G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和</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都是 </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G </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的子群，称为</a:t>
            </a:r>
            <a:r>
              <a:rPr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G</a:t>
            </a:r>
            <a:r>
              <a:rPr lang="zh-CN" altLang="en-US"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的</a:t>
            </a:r>
            <a:r>
              <a:rPr lang="zh-CN" altLang="en-US" sz="1200" b="1" dirty="0">
                <a:solidFill>
                  <a:srgbClr val="FF3300"/>
                </a:solidFill>
                <a:latin typeface="Times New Roman" panose="02020603050405020304" pitchFamily="18" charset="0"/>
                <a:ea typeface="宋体" panose="02010600030101010101" pitchFamily="2" charset="-122"/>
                <a:sym typeface="Symbol" panose="05050102010706020507" pitchFamily="18" charset="2"/>
              </a:rPr>
              <a:t>平凡子群</a:t>
            </a:r>
            <a:r>
              <a:rPr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endParaRPr lang="zh-CN" altLang="en-US" sz="1200" b="1" dirty="0">
              <a:solidFill>
                <a:schemeClr val="tx1"/>
              </a:solidFill>
              <a:latin typeface="Times New Roman" panose="02020603050405020304" pitchFamily="18" charset="0"/>
              <a:ea typeface="宋体" panose="02010600030101010101" pitchFamily="2" charset="-122"/>
            </a:endParaRPr>
          </a:p>
          <a:p>
            <a:pPr>
              <a:lnSpc>
                <a:spcPct val="110000"/>
              </a:lnSpc>
            </a:pPr>
            <a:r>
              <a:rPr lang="zh-CN" altLang="en-US" sz="1200" b="1" dirty="0">
                <a:solidFill>
                  <a:srgbClr val="00B0F0"/>
                </a:solidFill>
                <a:latin typeface="Times New Roman" panose="02020603050405020304" pitchFamily="18" charset="0"/>
                <a:ea typeface="宋体" panose="02010600030101010101" pitchFamily="2" charset="-122"/>
                <a:sym typeface="Symbol" panose="05050102010706020507" pitchFamily="18" charset="2"/>
              </a:rPr>
              <a:t>实例</a:t>
            </a:r>
            <a:r>
              <a:rPr lang="en-US" altLang="zh-CN" sz="1200" b="1" dirty="0">
                <a:solidFill>
                  <a:srgbClr val="00B0F0"/>
                </a:solidFill>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solidFill>
                  <a:srgbClr val="00B0F0"/>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latin typeface="Times New Roman" panose="02020603050405020304" pitchFamily="18" charset="0"/>
                <a:ea typeface="宋体" panose="02010600030101010101" pitchFamily="2" charset="-122"/>
                <a:sym typeface="Symbol" panose="05050102010706020507" pitchFamily="18" charset="2"/>
              </a:rPr>
              <a:t>n</a:t>
            </a:r>
            <a:r>
              <a:rPr lang="en-US" altLang="zh-CN" sz="1200" b="1" dirty="0" err="1">
                <a:latin typeface="Times New Roman" panose="02020603050405020304" pitchFamily="18" charset="0"/>
                <a:ea typeface="宋体" panose="02010600030101010101" pitchFamily="2" charset="-122"/>
                <a:sym typeface="Symbol" panose="05050102010706020507" pitchFamily="18" charset="2"/>
              </a:rPr>
              <a:t>Z</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sym typeface="Symbol" panose="05050102010706020507" pitchFamily="18" charset="2"/>
              </a:rPr>
              <a:t>n</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是自然数</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是整数加群 </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&lt;Z,+&gt; </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的子群</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p>
          <a:p>
            <a:pPr>
              <a:lnSpc>
                <a:spcPct val="110000"/>
              </a:lnSpc>
            </a:pPr>
            <a:r>
              <a:rPr lang="zh-CN" altLang="en-US" sz="1200" b="1" dirty="0">
                <a:latin typeface="Times New Roman" panose="02020603050405020304" pitchFamily="18" charset="0"/>
                <a:ea typeface="宋体" panose="02010600030101010101" pitchFamily="2" charset="-122"/>
                <a:sym typeface="Symbol" panose="05050102010706020507" pitchFamily="18" charset="2"/>
              </a:rPr>
              <a:t>当 </a:t>
            </a:r>
            <a:r>
              <a:rPr lang="en-US" altLang="zh-CN" sz="1200" b="1" i="1" dirty="0">
                <a:latin typeface="Times New Roman" panose="02020603050405020304" pitchFamily="18" charset="0"/>
                <a:ea typeface="宋体" panose="02010600030101010101" pitchFamily="2" charset="-122"/>
                <a:sym typeface="Symbol" panose="05050102010706020507" pitchFamily="18" charset="2"/>
              </a:rPr>
              <a:t>n</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≠1 </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时</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latin typeface="Times New Roman" panose="02020603050405020304" pitchFamily="18" charset="0"/>
                <a:ea typeface="宋体" panose="02010600030101010101" pitchFamily="2" charset="-122"/>
                <a:sym typeface="Symbol" panose="05050102010706020507" pitchFamily="18" charset="2"/>
              </a:rPr>
              <a:t>n</a:t>
            </a:r>
            <a:r>
              <a:rPr lang="en-US" altLang="zh-CN" sz="1200" b="1" dirty="0" err="1">
                <a:latin typeface="Times New Roman" panose="02020603050405020304" pitchFamily="18" charset="0"/>
                <a:ea typeface="宋体" panose="02010600030101010101" pitchFamily="2" charset="-122"/>
                <a:sym typeface="Symbol" panose="05050102010706020507" pitchFamily="18" charset="2"/>
              </a:rPr>
              <a:t>Z</a:t>
            </a:r>
            <a:r>
              <a:rPr lang="en-US" altLang="zh-CN" sz="1200" b="1" i="1" dirty="0">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是 </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Z</a:t>
            </a:r>
            <a:r>
              <a:rPr lang="en-US" altLang="zh-CN" sz="1200" b="1" i="1" dirty="0">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的真子群</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p>
          <a:p>
            <a:pPr marL="342900" indent="-342900">
              <a:lnSpc>
                <a:spcPct val="110000"/>
              </a:lnSpc>
              <a:buFont typeface="Wingdings" panose="05000000000000000000" pitchFamily="2" charset="2"/>
              <a:buChar char="Ø"/>
            </a:pP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n</a:t>
            </a:r>
            <a:r>
              <a:rPr lang="en-US" altLang="zh-CN" sz="1100"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Z</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表示所有整数 </a:t>
            </a:r>
            <a:r>
              <a:rPr lang="en-US" altLang="zh-CN" sz="1100" i="1"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的倍数的集合</a:t>
            </a:r>
            <a:r>
              <a:rPr lang="en-US" altLang="zh-CN"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是整数</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Z</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的子集</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构成的子群</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&lt;</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n</a:t>
            </a:r>
            <a:r>
              <a:rPr lang="en-US" altLang="zh-CN" sz="1100"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Z</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,+&gt;</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满足</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封闭性、结合律、存在单位元和存在逆元的条件</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p>
          <a:p>
            <a:pPr marL="342900" indent="-342900">
              <a:lnSpc>
                <a:spcPct val="110000"/>
              </a:lnSpc>
              <a:buFont typeface="Wingdings" panose="05000000000000000000" pitchFamily="2" charset="2"/>
              <a:buChar char="Ø"/>
            </a:pP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每个自然数 </a:t>
            </a:r>
            <a:r>
              <a:rPr lang="en-US" altLang="zh-CN" sz="1100" i="1"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都对应一个独特的子群 </a:t>
            </a:r>
            <a:r>
              <a:rPr lang="en-US" altLang="zh-CN" sz="1100" i="1"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i="0"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Z</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0</a:t>
            </a:r>
            <a:r>
              <a:rPr lang="en-US" altLang="zh-CN" sz="1100" i="1"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Z</a:t>
            </a:r>
            <a:r>
              <a:rPr lang="en-US" altLang="zh-CN"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是只包含零元素的集合</a:t>
            </a:r>
            <a:r>
              <a:rPr lang="en-US" altLang="zh-CN"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{0},</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是 </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&lt;Z,+&gt;</a:t>
            </a:r>
            <a:r>
              <a:rPr lang="en-US" altLang="zh-CN"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的一个平凡子群</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endParaRPr lang="zh-CN" altLang="en-US"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89</a:t>
            </a:fld>
            <a:endParaRPr lang="zh-CN" altLang="en-US"/>
          </a:p>
        </p:txBody>
      </p:sp>
    </p:spTree>
    <p:extLst>
      <p:ext uri="{BB962C8B-B14F-4D97-AF65-F5344CB8AC3E}">
        <p14:creationId xmlns:p14="http://schemas.microsoft.com/office/powerpoint/2010/main" val="328166302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0000"/>
              </a:lnSpc>
            </a:pPr>
            <a:r>
              <a:rPr lang="zh-CN" altLang="en-US" sz="1200" b="1" dirty="0">
                <a:solidFill>
                  <a:srgbClr val="00B0F0"/>
                </a:solidFill>
                <a:latin typeface="Times New Roman" panose="02020603050405020304" pitchFamily="18" charset="0"/>
                <a:ea typeface="宋体" panose="02010600030101010101" pitchFamily="2" charset="-122"/>
                <a:sym typeface="Symbol" panose="05050102010706020507" pitchFamily="18" charset="2"/>
              </a:rPr>
              <a:t>实例</a:t>
            </a:r>
            <a:r>
              <a:rPr lang="en-US" altLang="zh-CN" sz="1200" b="1" dirty="0">
                <a:solidFill>
                  <a:srgbClr val="00B0F0"/>
                </a:solidFill>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solidFill>
                  <a:srgbClr val="00B0F0"/>
                </a:solidFill>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latin typeface="Times New Roman" panose="02020603050405020304" pitchFamily="18" charset="0"/>
                <a:ea typeface="宋体" panose="02010600030101010101" pitchFamily="2" charset="-122"/>
                <a:sym typeface="Symbol" panose="05050102010706020507" pitchFamily="18" charset="2"/>
              </a:rPr>
              <a:t>n</a:t>
            </a:r>
            <a:r>
              <a:rPr lang="en-US" altLang="zh-CN" sz="1200" b="1" dirty="0" err="1">
                <a:latin typeface="Times New Roman" panose="02020603050405020304" pitchFamily="18" charset="0"/>
                <a:ea typeface="宋体" panose="02010600030101010101" pitchFamily="2" charset="-122"/>
                <a:sym typeface="Symbol" panose="05050102010706020507" pitchFamily="18" charset="2"/>
              </a:rPr>
              <a:t>Z</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r>
              <a:rPr lang="en-US" altLang="zh-CN" sz="1200" b="1" i="1" dirty="0">
                <a:latin typeface="Times New Roman" panose="02020603050405020304" pitchFamily="18" charset="0"/>
                <a:ea typeface="宋体" panose="02010600030101010101" pitchFamily="2" charset="-122"/>
                <a:sym typeface="Symbol" panose="05050102010706020507" pitchFamily="18" charset="2"/>
              </a:rPr>
              <a:t>n</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是自然数</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是整数加群 </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&lt;Z,+&gt; </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的子群</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p>
          <a:p>
            <a:pPr>
              <a:lnSpc>
                <a:spcPct val="110000"/>
              </a:lnSpc>
            </a:pPr>
            <a:r>
              <a:rPr lang="zh-CN" altLang="en-US" sz="1200" b="1" dirty="0">
                <a:latin typeface="Times New Roman" panose="02020603050405020304" pitchFamily="18" charset="0"/>
                <a:ea typeface="宋体" panose="02010600030101010101" pitchFamily="2" charset="-122"/>
                <a:sym typeface="Symbol" panose="05050102010706020507" pitchFamily="18" charset="2"/>
              </a:rPr>
              <a:t>当 </a:t>
            </a:r>
            <a:r>
              <a:rPr lang="en-US" altLang="zh-CN" sz="1200" b="1" i="1" dirty="0">
                <a:latin typeface="Times New Roman" panose="02020603050405020304" pitchFamily="18" charset="0"/>
                <a:ea typeface="宋体" panose="02010600030101010101" pitchFamily="2" charset="-122"/>
                <a:sym typeface="Symbol" panose="05050102010706020507" pitchFamily="18" charset="2"/>
              </a:rPr>
              <a:t>n</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≠1 </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时</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 </a:t>
            </a:r>
            <a:r>
              <a:rPr lang="en-US" altLang="zh-CN" sz="1200" b="1" i="1" dirty="0" err="1">
                <a:latin typeface="Times New Roman" panose="02020603050405020304" pitchFamily="18" charset="0"/>
                <a:ea typeface="宋体" panose="02010600030101010101" pitchFamily="2" charset="-122"/>
                <a:sym typeface="Symbol" panose="05050102010706020507" pitchFamily="18" charset="2"/>
              </a:rPr>
              <a:t>n</a:t>
            </a:r>
            <a:r>
              <a:rPr lang="en-US" altLang="zh-CN" sz="1200" b="1" dirty="0" err="1">
                <a:latin typeface="Times New Roman" panose="02020603050405020304" pitchFamily="18" charset="0"/>
                <a:ea typeface="宋体" panose="02010600030101010101" pitchFamily="2" charset="-122"/>
                <a:sym typeface="Symbol" panose="05050102010706020507" pitchFamily="18" charset="2"/>
              </a:rPr>
              <a:t>Z</a:t>
            </a:r>
            <a:r>
              <a:rPr lang="en-US" altLang="zh-CN" sz="1200" b="1" i="1" dirty="0">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是 </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Z</a:t>
            </a:r>
            <a:r>
              <a:rPr lang="en-US" altLang="zh-CN" sz="1200" b="1" i="1" dirty="0">
                <a:latin typeface="Times New Roman" panose="02020603050405020304" pitchFamily="18" charset="0"/>
                <a:ea typeface="宋体" panose="02010600030101010101" pitchFamily="2" charset="-122"/>
                <a:sym typeface="Symbol" panose="05050102010706020507" pitchFamily="18" charset="2"/>
              </a:rPr>
              <a:t> </a:t>
            </a:r>
            <a:r>
              <a:rPr lang="zh-CN" altLang="en-US" sz="1200" b="1" dirty="0">
                <a:latin typeface="Times New Roman" panose="02020603050405020304" pitchFamily="18" charset="0"/>
                <a:ea typeface="宋体" panose="02010600030101010101" pitchFamily="2" charset="-122"/>
                <a:sym typeface="Symbol" panose="05050102010706020507" pitchFamily="18" charset="2"/>
              </a:rPr>
              <a:t>的真子群</a:t>
            </a:r>
            <a:r>
              <a:rPr lang="en-US" altLang="zh-CN" sz="1200" b="1" dirty="0">
                <a:latin typeface="Times New Roman" panose="02020603050405020304" pitchFamily="18" charset="0"/>
                <a:ea typeface="宋体" panose="02010600030101010101" pitchFamily="2" charset="-122"/>
                <a:sym typeface="Symbol" panose="05050102010706020507" pitchFamily="18" charset="2"/>
              </a:rPr>
              <a:t>.</a:t>
            </a:r>
          </a:p>
          <a:p>
            <a:pPr marL="342900" indent="-342900">
              <a:lnSpc>
                <a:spcPct val="110000"/>
              </a:lnSpc>
              <a:buFont typeface="Wingdings" panose="05000000000000000000" pitchFamily="2" charset="2"/>
              <a:buChar char="Ø"/>
            </a:pP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n</a:t>
            </a:r>
            <a:r>
              <a:rPr lang="en-US" altLang="zh-CN" sz="1100"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Z</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表示所有整数 </a:t>
            </a:r>
            <a:r>
              <a:rPr lang="en-US" altLang="zh-CN" sz="1100" i="1"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的倍数的集合</a:t>
            </a:r>
            <a:r>
              <a:rPr lang="en-US" altLang="zh-CN"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是整数</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Z</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的子集</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构成的子群</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&lt;</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lang="en-US" altLang="zh-CN" sz="1100" i="1"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n</a:t>
            </a:r>
            <a:r>
              <a:rPr lang="en-US" altLang="zh-CN" sz="1100" dirty="0" err="1">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Z</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,+&gt;</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满足</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封闭性、结合律、存在单位元和存在逆元的条件</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p>
          <a:p>
            <a:pPr marL="342900" indent="-342900">
              <a:lnSpc>
                <a:spcPct val="110000"/>
              </a:lnSpc>
              <a:buFont typeface="Wingdings" panose="05000000000000000000" pitchFamily="2" charset="2"/>
              <a:buChar char="Ø"/>
            </a:pP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每个自然数 </a:t>
            </a:r>
            <a:r>
              <a:rPr lang="en-US" altLang="zh-CN" sz="1100" i="1"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n</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都对应一个独特的子群 </a:t>
            </a:r>
            <a:r>
              <a:rPr lang="en-US" altLang="zh-CN" sz="1100" i="1"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i="0" dirty="0" err="1">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Z</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0</a:t>
            </a:r>
            <a:r>
              <a:rPr lang="en-US" altLang="zh-CN" sz="1100" i="1"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Z</a:t>
            </a:r>
            <a:r>
              <a:rPr lang="en-US" altLang="zh-CN"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是只包含零元素的集合</a:t>
            </a:r>
            <a:r>
              <a:rPr lang="en-US" altLang="zh-CN"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{0},</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是 </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&lt;Z,+&gt;</a:t>
            </a:r>
            <a:r>
              <a:rPr lang="en-US" altLang="zh-CN"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的一个平凡子群</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endParaRPr lang="zh-CN" altLang="en-US" sz="11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90</a:t>
            </a:fld>
            <a:endParaRPr lang="zh-CN" altLang="en-US"/>
          </a:p>
        </p:txBody>
      </p:sp>
    </p:spTree>
    <p:extLst>
      <p:ext uri="{BB962C8B-B14F-4D97-AF65-F5344CB8AC3E}">
        <p14:creationId xmlns:p14="http://schemas.microsoft.com/office/powerpoint/2010/main" val="401743675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solidFill>
                  <a:srgbClr val="FF0000"/>
                </a:solidFill>
                <a:latin typeface="Times New Roman" panose="02020603050405020304" pitchFamily="18" charset="0"/>
                <a:cs typeface="Times New Roman" panose="02020603050405020304" pitchFamily="18" charset="0"/>
              </a:rPr>
              <a:t>定理</a:t>
            </a:r>
            <a:r>
              <a:rPr lang="en-US" altLang="zh-CN" sz="1200" b="1" dirty="0">
                <a:solidFill>
                  <a:srgbClr val="FF0000"/>
                </a:solidFill>
                <a:latin typeface="Times New Roman" panose="02020603050405020304" pitchFamily="18" charset="0"/>
                <a:cs typeface="Times New Roman" panose="02020603050405020304" pitchFamily="18" charset="0"/>
              </a:rPr>
              <a:t>9.8</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为群</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H</a:t>
            </a:r>
            <a:r>
              <a:rPr lang="zh-CN" altLang="en-US" sz="1200" b="1" dirty="0">
                <a:latin typeface="Times New Roman" panose="02020603050405020304" pitchFamily="18" charset="0"/>
                <a:cs typeface="Times New Roman" panose="02020603050405020304" pitchFamily="18" charset="0"/>
              </a:rPr>
              <a:t>是</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的非空子集</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如果对任意</a:t>
            </a:r>
            <a:r>
              <a:rPr lang="en-US" altLang="zh-CN" sz="1200" b="1" i="1" dirty="0" err="1">
                <a:latin typeface="Times New Roman" panose="02020603050405020304" pitchFamily="18" charset="0"/>
                <a:cs typeface="Times New Roman" panose="02020603050405020304" pitchFamily="18" charset="0"/>
              </a:rPr>
              <a:t>x,y</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H </a:t>
            </a:r>
            <a:r>
              <a:rPr lang="zh-CN" altLang="en-US" sz="1200" b="1" dirty="0">
                <a:latin typeface="Times New Roman" panose="02020603050405020304" pitchFamily="18" charset="0"/>
                <a:cs typeface="Times New Roman" panose="02020603050405020304" pitchFamily="18" charset="0"/>
              </a:rPr>
              <a:t>都有</a:t>
            </a:r>
            <a:r>
              <a:rPr lang="en-US" altLang="zh-CN" sz="1200" b="1" i="1" dirty="0">
                <a:latin typeface="Times New Roman" panose="02020603050405020304" pitchFamily="18" charset="0"/>
                <a:cs typeface="Times New Roman" panose="02020603050405020304" pitchFamily="18" charset="0"/>
              </a:rPr>
              <a:t>xy</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H,</a:t>
            </a:r>
            <a:r>
              <a:rPr lang="zh-CN" altLang="en-US" sz="1200" b="1" i="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则</a:t>
            </a:r>
            <a:r>
              <a:rPr lang="en-US" altLang="zh-CN" sz="1200" b="1" i="1" dirty="0">
                <a:latin typeface="Times New Roman" panose="02020603050405020304" pitchFamily="18" charset="0"/>
                <a:cs typeface="Times New Roman" panose="02020603050405020304" pitchFamily="18" charset="0"/>
              </a:rPr>
              <a:t>H</a:t>
            </a:r>
            <a:r>
              <a:rPr lang="zh-CN" altLang="en-US" sz="1200" b="1" dirty="0">
                <a:latin typeface="Times New Roman" panose="02020603050405020304" pitchFamily="18" charset="0"/>
                <a:cs typeface="Times New Roman" panose="02020603050405020304" pitchFamily="18" charset="0"/>
              </a:rPr>
              <a:t>是</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的子群</a:t>
            </a:r>
            <a:r>
              <a:rPr lang="en-US" altLang="zh-CN" sz="1200" b="1" dirty="0">
                <a:latin typeface="Times New Roman" panose="02020603050405020304" pitchFamily="18" charset="0"/>
                <a:cs typeface="Times New Roman" panose="02020603050405020304" pitchFamily="18" charset="0"/>
              </a:rPr>
              <a:t>. </a:t>
            </a:r>
          </a:p>
          <a:p>
            <a:pPr eaLnBrk="1" hangingPunct="1">
              <a:buFontTx/>
              <a:buNone/>
            </a:pPr>
            <a:r>
              <a:rPr lang="zh-CN" altLang="en-US" sz="1200" b="1" dirty="0">
                <a:solidFill>
                  <a:srgbClr val="00B0F0"/>
                </a:solidFill>
                <a:latin typeface="Times New Roman" panose="02020603050405020304" pitchFamily="18" charset="0"/>
                <a:cs typeface="Times New Roman" panose="02020603050405020304" pitchFamily="18" charset="0"/>
              </a:rPr>
              <a:t>证</a:t>
            </a:r>
            <a:r>
              <a:rPr lang="en-US" altLang="zh-CN" sz="1200" b="1" dirty="0">
                <a:solidFill>
                  <a:srgbClr val="00B0F0"/>
                </a:solidFill>
                <a:latin typeface="Times New Roman" panose="02020603050405020304" pitchFamily="18" charset="0"/>
                <a:cs typeface="Times New Roman" panose="02020603050405020304" pitchFamily="18" charset="0"/>
              </a:rPr>
              <a:t>:</a:t>
            </a:r>
            <a:r>
              <a:rPr lang="zh-CN" altLang="en-US" sz="1100" b="1" kern="100" dirty="0">
                <a:effectLst/>
                <a:latin typeface="Calibri" panose="020F0502020204030204" pitchFamily="34" charset="0"/>
                <a:ea typeface="宋体" panose="02010600030101010101" pitchFamily="2" charset="-122"/>
                <a:cs typeface="Calibri" panose="020F0502020204030204" pitchFamily="34" charset="0"/>
              </a:rPr>
              <a:t>①</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封闭性证明</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根据已知条件</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1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设</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z</a:t>
            </a:r>
            <a:r>
              <a:rPr lang="en-US" altLang="zh-CN" sz="1100" b="1" kern="100" baseline="300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z</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则</a:t>
            </a:r>
            <a:r>
              <a:rPr lang="zh-CN" altLang="en-US" sz="1100" b="1" kern="100" dirty="0">
                <a:latin typeface="Times New Roman" panose="02020603050405020304" pitchFamily="18" charset="0"/>
                <a:ea typeface="宋体" panose="02010600030101010101" pitchFamily="2" charset="-122"/>
                <a:cs typeface="Times New Roman" panose="02020603050405020304" pitchFamily="18" charset="0"/>
              </a:rPr>
              <a:t>有</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1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=z ,</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xz=xy</a:t>
            </a:r>
            <a:r>
              <a:rPr lang="zh-CN" altLang="zh-CN" sz="11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100" b="1" kern="100" dirty="0">
                <a:effectLst/>
                <a:latin typeface="Times New Roman" panose="02020603050405020304" pitchFamily="18" charset="0"/>
                <a:ea typeface="宋体" panose="02010600030101010101" pitchFamily="2" charset="-122"/>
                <a:cs typeface="Times New Roman" panose="02020603050405020304" pitchFamily="18" charset="0"/>
              </a:rPr>
              <a:t>这样</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对于任意</a:t>
            </a:r>
            <a:r>
              <a:rPr lang="en-US" altLang="zh-CN" sz="1100" b="1" i="1" kern="100" dirty="0" err="1">
                <a:effectLst/>
                <a:latin typeface="Times New Roman" panose="02020603050405020304" pitchFamily="18" charset="0"/>
                <a:ea typeface="宋体" panose="02010600030101010101" pitchFamily="2" charset="-122"/>
                <a:cs typeface="Times New Roman" panose="02020603050405020304" pitchFamily="18" charset="0"/>
              </a:rPr>
              <a:t>x,z</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有</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i="1" kern="100" dirty="0" err="1">
                <a:effectLst/>
                <a:latin typeface="Times New Roman" panose="02020603050405020304" pitchFamily="18" charset="0"/>
                <a:ea typeface="宋体" panose="02010600030101010101" pitchFamily="2" charset="-122"/>
                <a:cs typeface="Times New Roman" panose="02020603050405020304" pitchFamily="18" charset="0"/>
              </a:rPr>
              <a:t>xz</a:t>
            </a:r>
            <a:r>
              <a:rPr lang="en-US" altLang="zh-CN" sz="1100" b="1" kern="100" dirty="0" err="1">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kern="100" dirty="0" err="1">
                <a:effectLst/>
                <a:latin typeface="Times New Roman" panose="02020603050405020304" pitchFamily="18" charset="0"/>
                <a:ea typeface="宋体" panose="02010600030101010101" pitchFamily="2" charset="-122"/>
                <a:cs typeface="Times New Roman" panose="02020603050405020304" pitchFamily="18" charset="0"/>
              </a:rPr>
              <a:t>H</a:t>
            </a:r>
            <a:r>
              <a:rPr lang="en-US" altLang="zh-CN" sz="11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z= </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1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−1 </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1" dirty="0">
                <a:latin typeface="Times New Roman" panose="02020603050405020304" pitchFamily="18" charset="0"/>
                <a:cs typeface="Times New Roman" panose="02020603050405020304" pitchFamily="18" charset="0"/>
              </a:rPr>
              <a:t>.  </a:t>
            </a:r>
            <a:r>
              <a:rPr lang="en-US" altLang="zh-CN" sz="1100" b="1" dirty="0">
                <a:latin typeface="Calibri" panose="020F0502020204030204" pitchFamily="34" charset="0"/>
                <a:cs typeface="Calibri" panose="020F0502020204030204" pitchFamily="34" charset="0"/>
              </a:rPr>
              <a:t>②</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单位元</a:t>
            </a:r>
            <a:r>
              <a:rPr lang="zh-CN" altLang="en-US" sz="1100" b="1" kern="100" dirty="0">
                <a:effectLst/>
                <a:latin typeface="Times New Roman" panose="02020603050405020304" pitchFamily="18" charset="0"/>
                <a:ea typeface="宋体" panose="02010600030101010101" pitchFamily="2" charset="-122"/>
                <a:cs typeface="Times New Roman" panose="02020603050405020304" pitchFamily="18" charset="0"/>
              </a:rPr>
              <a:t>证明</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根据已知条件</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对于任意</a:t>
            </a:r>
            <a:r>
              <a:rPr lang="en-US" altLang="zh-CN" sz="1100" b="1" i="1"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100" b="1" kern="100" dirty="0" err="1">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kern="100" dirty="0" err="1">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,都</a:t>
            </a:r>
            <a:r>
              <a:rPr lang="zh-CN" altLang="en-US" sz="1100" b="1" kern="100" dirty="0">
                <a:effectLst/>
                <a:latin typeface="Times New Roman" panose="02020603050405020304" pitchFamily="18" charset="0"/>
                <a:ea typeface="宋体" panose="02010600030101010101" pitchFamily="2" charset="-122"/>
                <a:cs typeface="Times New Roman" panose="02020603050405020304" pitchFamily="18" charset="0"/>
              </a:rPr>
              <a:t>有</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en-US" altLang="zh-CN" sz="11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设</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有</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1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由于</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100" b="1" i="1" kern="100" baseline="30000" dirty="0">
                <a:effectLst/>
                <a:latin typeface="Times New Roman" panose="02020603050405020304" pitchFamily="18" charset="0"/>
                <a:ea typeface="宋体" panose="02010600030101010101" pitchFamily="2" charset="-122"/>
                <a:cs typeface="Times New Roman" panose="02020603050405020304" pitchFamily="18" charset="0"/>
              </a:rPr>
              <a:t>−1 </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是群</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G</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的单位元</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所以有</a:t>
            </a:r>
            <a:r>
              <a:rPr lang="en-US"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 </a:t>
            </a:r>
            <a:r>
              <a:rPr lang="zh-CN" altLang="en-US" sz="1100" b="1" kern="100" dirty="0">
                <a:effectLst/>
                <a:latin typeface="Calibri" panose="020F0502020204030204" pitchFamily="34" charset="0"/>
                <a:ea typeface="宋体" panose="02010600030101010101" pitchFamily="2" charset="-122"/>
                <a:cs typeface="Calibri" panose="020F0502020204030204" pitchFamily="34" charset="0"/>
              </a:rPr>
              <a:t>③</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逆元证明</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已经证明</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根据已知条件</a:t>
            </a:r>
            <a:r>
              <a:rPr lang="en-US"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对于任意</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1100" b="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,都有</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100" b="1" i="1" kern="100" baseline="30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 </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所以有</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1100" b="1" i="1" kern="100" baseline="300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H</a:t>
            </a:r>
            <a:r>
              <a:rPr lang="zh-CN" altLang="zh-CN" sz="1100" b="1" kern="100" dirty="0">
                <a:effectLst/>
                <a:latin typeface="Times New Roman" panose="02020603050405020304" pitchFamily="18" charset="0"/>
                <a:ea typeface="宋体" panose="02010600030101010101" pitchFamily="2" charset="-122"/>
                <a:cs typeface="Times New Roman" panose="02020603050405020304" pitchFamily="18" charset="0"/>
              </a:rPr>
              <a:t>成立</a:t>
            </a:r>
            <a:r>
              <a:rPr lang="en-US" altLang="zh-CN" sz="1100" b="1" i="1" kern="1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100" b="1" i="1"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100" b="1" dirty="0">
              <a:latin typeface="Times New Roman" panose="02020603050405020304" pitchFamily="18" charset="0"/>
              <a:cs typeface="Times New Roman" panose="02020603050405020304" pitchFamily="18" charset="0"/>
            </a:endParaRP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91</a:t>
            </a:fld>
            <a:endParaRPr lang="zh-CN" altLang="en-US"/>
          </a:p>
        </p:txBody>
      </p:sp>
    </p:spTree>
    <p:extLst>
      <p:ext uri="{BB962C8B-B14F-4D97-AF65-F5344CB8AC3E}">
        <p14:creationId xmlns:p14="http://schemas.microsoft.com/office/powerpoint/2010/main" val="240853666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marL="990600" lvl="1" indent="-533400">
              <a:buFontTx/>
              <a:buNone/>
            </a:pPr>
            <a:r>
              <a:rPr lang="zh-CN" altLang="en-US" b="1" dirty="0">
                <a:solidFill>
                  <a:srgbClr val="FF3300"/>
                </a:solidFill>
                <a:latin typeface="Times New Roman" panose="02020603050405020304" pitchFamily="18" charset="0"/>
                <a:cs typeface="Times New Roman" panose="02020603050405020304" pitchFamily="18" charset="0"/>
              </a:rPr>
              <a:t>定义</a:t>
            </a:r>
            <a:r>
              <a:rPr lang="zh-CN" altLang="en-US" b="1" dirty="0">
                <a:latin typeface="Times New Roman" panose="02020603050405020304" pitchFamily="18" charset="0"/>
                <a:cs typeface="Times New Roman" panose="02020603050405020304" pitchFamily="18" charset="0"/>
              </a:rPr>
              <a:t> 设 </a:t>
            </a:r>
            <a:r>
              <a:rPr lang="en-US" altLang="zh-CN" b="1" i="1" dirty="0">
                <a:latin typeface="Times New Roman" panose="02020603050405020304" pitchFamily="18" charset="0"/>
                <a:cs typeface="Times New Roman" panose="02020603050405020304" pitchFamily="18" charset="0"/>
              </a:rPr>
              <a:t>G </a:t>
            </a:r>
            <a:r>
              <a:rPr lang="zh-CN" altLang="en-US" b="1" dirty="0">
                <a:latin typeface="Times New Roman" panose="02020603050405020304" pitchFamily="18" charset="0"/>
                <a:cs typeface="Times New Roman" panose="02020603050405020304" pitchFamily="18" charset="0"/>
              </a:rPr>
              <a:t>为群</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对任何</a:t>
            </a:r>
            <a:r>
              <a:rPr lang="en-US" altLang="zh-CN" b="1" i="1" dirty="0" err="1">
                <a:latin typeface="Times New Roman" panose="02020603050405020304" pitchFamily="18" charset="0"/>
                <a:cs typeface="Times New Roman" panose="02020603050405020304" pitchFamily="18" charset="0"/>
              </a:rPr>
              <a:t>a</a:t>
            </a:r>
            <a:r>
              <a:rPr lang="en-US" altLang="zh-CN" b="1" dirty="0" err="1">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G</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令</a:t>
            </a:r>
            <a:r>
              <a:rPr lang="zh-CN" altLang="en-US" b="1" i="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H</a:t>
            </a:r>
            <a:r>
              <a:rPr lang="en-US" altLang="zh-CN" b="1" dirty="0">
                <a:latin typeface="Times New Roman" panose="02020603050405020304" pitchFamily="18" charset="0"/>
                <a:cs typeface="Times New Roman" panose="02020603050405020304" pitchFamily="18" charset="0"/>
              </a:rPr>
              <a:t>= { </a:t>
            </a:r>
            <a:r>
              <a:rPr lang="en-US" altLang="zh-CN" b="1" i="1" dirty="0" err="1">
                <a:latin typeface="Times New Roman" panose="02020603050405020304" pitchFamily="18" charset="0"/>
                <a:cs typeface="Times New Roman" panose="02020603050405020304" pitchFamily="18" charset="0"/>
              </a:rPr>
              <a:t>a</a:t>
            </a:r>
            <a:r>
              <a:rPr lang="en-US" altLang="zh-CN" b="1" i="1" baseline="30000" dirty="0" err="1">
                <a:latin typeface="Times New Roman" panose="02020603050405020304" pitchFamily="18" charset="0"/>
                <a:cs typeface="Times New Roman" panose="02020603050405020304" pitchFamily="18" charset="0"/>
              </a:rPr>
              <a:t>k</a:t>
            </a:r>
            <a:r>
              <a:rPr lang="en-US" altLang="zh-CN" b="1" i="1" baseline="30000"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k</a:t>
            </a:r>
            <a:r>
              <a:rPr lang="en-US" altLang="zh-CN" b="1" dirty="0" err="1">
                <a:latin typeface="Times New Roman" panose="02020603050405020304" pitchFamily="18" charset="0"/>
                <a:cs typeface="Times New Roman" panose="02020603050405020304" pitchFamily="18" charset="0"/>
              </a:rPr>
              <a:t>∈Z</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则 </a:t>
            </a:r>
            <a:r>
              <a:rPr lang="en-US" altLang="zh-CN" b="1" i="1" dirty="0">
                <a:latin typeface="Times New Roman" panose="02020603050405020304" pitchFamily="18" charset="0"/>
                <a:cs typeface="Times New Roman" panose="02020603050405020304" pitchFamily="18" charset="0"/>
              </a:rPr>
              <a:t>H </a:t>
            </a:r>
            <a:r>
              <a:rPr lang="zh-CN" altLang="en-US" b="1" dirty="0">
                <a:latin typeface="Times New Roman" panose="02020603050405020304" pitchFamily="18" charset="0"/>
                <a:cs typeface="Times New Roman" panose="02020603050405020304" pitchFamily="18" charset="0"/>
              </a:rPr>
              <a:t>是 </a:t>
            </a:r>
            <a:r>
              <a:rPr lang="en-US" altLang="zh-CN" b="1" i="1" dirty="0">
                <a:latin typeface="Times New Roman" panose="02020603050405020304" pitchFamily="18" charset="0"/>
                <a:cs typeface="Times New Roman" panose="02020603050405020304" pitchFamily="18" charset="0"/>
              </a:rPr>
              <a:t>G </a:t>
            </a:r>
          </a:p>
          <a:p>
            <a:pPr marL="990600" lvl="1" indent="-533400">
              <a:buFontTx/>
              <a:buNone/>
            </a:pPr>
            <a:r>
              <a:rPr lang="zh-CN" altLang="en-US" b="1" dirty="0">
                <a:latin typeface="Times New Roman" panose="02020603050405020304" pitchFamily="18" charset="0"/>
                <a:cs typeface="Times New Roman" panose="02020603050405020304" pitchFamily="18" charset="0"/>
              </a:rPr>
              <a:t>的子群</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称为</a:t>
            </a:r>
            <a:r>
              <a:rPr lang="zh-CN" altLang="en-US" b="1" dirty="0">
                <a:solidFill>
                  <a:srgbClr val="FF3300"/>
                </a:solidFill>
                <a:latin typeface="Times New Roman" panose="02020603050405020304" pitchFamily="18" charset="0"/>
                <a:cs typeface="Times New Roman" panose="02020603050405020304" pitchFamily="18" charset="0"/>
              </a:rPr>
              <a:t>由 </a:t>
            </a:r>
            <a:r>
              <a:rPr lang="en-US" altLang="zh-CN" b="1" i="1" dirty="0">
                <a:solidFill>
                  <a:srgbClr val="FF3300"/>
                </a:solidFill>
                <a:latin typeface="Times New Roman" panose="02020603050405020304" pitchFamily="18" charset="0"/>
                <a:cs typeface="Times New Roman" panose="02020603050405020304" pitchFamily="18" charset="0"/>
              </a:rPr>
              <a:t>a</a:t>
            </a:r>
            <a:r>
              <a:rPr lang="zh-CN" altLang="en-US" b="1" dirty="0">
                <a:solidFill>
                  <a:srgbClr val="FF3300"/>
                </a:solidFill>
                <a:latin typeface="Times New Roman" panose="02020603050405020304" pitchFamily="18" charset="0"/>
                <a:cs typeface="Times New Roman" panose="02020603050405020304" pitchFamily="18" charset="0"/>
              </a:rPr>
              <a:t>生成的子群</a:t>
            </a:r>
            <a:r>
              <a:rPr lang="en-US" altLang="zh-CN" b="1" dirty="0">
                <a:solidFill>
                  <a:srgbClr val="FF3300"/>
                </a:solidFill>
                <a:latin typeface="Times New Roman" panose="02020603050405020304" pitchFamily="18" charset="0"/>
                <a:cs typeface="Times New Roman" panose="02020603050405020304" pitchFamily="18" charset="0"/>
              </a:rPr>
              <a:t>,</a:t>
            </a:r>
            <a:r>
              <a:rPr lang="zh-CN" altLang="en-US" b="1" dirty="0">
                <a:solidFill>
                  <a:srgbClr val="FF3300"/>
                </a:solidFill>
                <a:latin typeface="Times New Roman" panose="02020603050405020304" pitchFamily="18" charset="0"/>
                <a:cs typeface="Times New Roman" panose="02020603050405020304" pitchFamily="18" charset="0"/>
              </a:rPr>
              <a:t>记作</a:t>
            </a:r>
            <a:r>
              <a:rPr lang="en-US" altLang="zh-CN" b="1" dirty="0">
                <a:solidFill>
                  <a:srgbClr val="FF3300"/>
                </a:solidFill>
                <a:latin typeface="Times New Roman" panose="02020603050405020304" pitchFamily="18" charset="0"/>
                <a:cs typeface="Times New Roman" panose="02020603050405020304" pitchFamily="18" charset="0"/>
              </a:rPr>
              <a:t>&lt;</a:t>
            </a:r>
            <a:r>
              <a:rPr lang="en-US" altLang="zh-CN" b="1" i="1" dirty="0">
                <a:solidFill>
                  <a:srgbClr val="FF3300"/>
                </a:solidFill>
                <a:latin typeface="Times New Roman" panose="02020603050405020304" pitchFamily="18" charset="0"/>
                <a:cs typeface="Times New Roman" panose="02020603050405020304" pitchFamily="18" charset="0"/>
              </a:rPr>
              <a:t>a</a:t>
            </a:r>
            <a:r>
              <a:rPr lang="en-US" altLang="zh-CN" b="1" dirty="0">
                <a:solidFill>
                  <a:srgbClr val="FF3300"/>
                </a:solidFill>
                <a:latin typeface="Times New Roman" panose="02020603050405020304" pitchFamily="18" charset="0"/>
                <a:cs typeface="Times New Roman" panose="02020603050405020304" pitchFamily="18" charset="0"/>
              </a:rPr>
              <a:t>&gt;.</a:t>
            </a:r>
          </a:p>
          <a:p>
            <a:pPr marL="609600" indent="-609600">
              <a:buFontTx/>
              <a:buNone/>
            </a:pPr>
            <a:r>
              <a:rPr lang="en-US" altLang="zh-CN" sz="2400" b="1" dirty="0">
                <a:latin typeface="Times New Roman" panose="02020603050405020304" pitchFamily="18" charset="0"/>
                <a:cs typeface="Times New Roman" panose="02020603050405020304" pitchFamily="18" charset="0"/>
              </a:rPr>
              <a:t>      </a:t>
            </a:r>
            <a:r>
              <a:rPr lang="zh-CN" altLang="en-US" sz="2400" b="1" dirty="0">
                <a:solidFill>
                  <a:srgbClr val="00B0F0"/>
                </a:solidFill>
                <a:latin typeface="Times New Roman" panose="02020603050405020304" pitchFamily="18" charset="0"/>
                <a:cs typeface="Times New Roman" panose="02020603050405020304" pitchFamily="18" charset="0"/>
              </a:rPr>
              <a:t>证</a:t>
            </a:r>
            <a:r>
              <a:rPr lang="en-US" altLang="zh-CN" sz="2400" b="1" dirty="0">
                <a:solidFill>
                  <a:srgbClr val="00B0F0"/>
                </a:solidFill>
                <a:latin typeface="Times New Roman" panose="02020603050405020304" pitchFamily="18" charset="0"/>
                <a:cs typeface="Times New Roman" panose="02020603050405020304" pitchFamily="18" charset="0"/>
              </a:rPr>
              <a:t>:</a:t>
            </a:r>
            <a:r>
              <a:rPr lang="zh-CN" altLang="en-US" sz="2400" b="1" dirty="0">
                <a:solidFill>
                  <a:srgbClr val="00B0F0"/>
                </a:solidFill>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由 </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∈&lt;</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&gt; </a:t>
            </a:r>
            <a:r>
              <a:rPr lang="zh-CN" altLang="en-US" sz="2400" b="1" dirty="0">
                <a:latin typeface="Times New Roman" panose="02020603050405020304" pitchFamily="18" charset="0"/>
                <a:cs typeface="Times New Roman" panose="02020603050405020304" pitchFamily="18" charset="0"/>
              </a:rPr>
              <a:t>知</a:t>
            </a:r>
            <a:r>
              <a:rPr lang="en-US" altLang="zh-CN" sz="2400" b="1" dirty="0">
                <a:latin typeface="Times New Roman" panose="02020603050405020304" pitchFamily="18" charset="0"/>
                <a:cs typeface="Times New Roman" panose="02020603050405020304" pitchFamily="18" charset="0"/>
              </a:rPr>
              <a:t>&lt;</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&gt;≠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任取</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dirty="0" err="1">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l</a:t>
            </a:r>
            <a:r>
              <a:rPr lang="en-US" altLang="zh-CN" sz="2400" b="1" dirty="0">
                <a:latin typeface="Times New Roman" panose="02020603050405020304" pitchFamily="18" charset="0"/>
                <a:cs typeface="Times New Roman" panose="02020603050405020304" pitchFamily="18" charset="0"/>
              </a:rPr>
              <a:t>∈&lt;</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&gt;,</a:t>
            </a:r>
            <a:r>
              <a:rPr lang="zh-CN" altLang="en-US" sz="2400" b="1" dirty="0">
                <a:latin typeface="Times New Roman" panose="02020603050405020304" pitchFamily="18" charset="0"/>
                <a:cs typeface="Times New Roman" panose="02020603050405020304" pitchFamily="18" charset="0"/>
              </a:rPr>
              <a:t>则</a:t>
            </a:r>
            <a:br>
              <a:rPr lang="zh-CN" altLang="en-US" sz="2400" b="1" dirty="0">
                <a:latin typeface="Times New Roman" panose="02020603050405020304" pitchFamily="18" charset="0"/>
                <a:cs typeface="Times New Roman" panose="02020603050405020304" pitchFamily="18" charset="0"/>
              </a:rPr>
            </a:br>
            <a:r>
              <a:rPr lang="zh-CN" altLang="en-US"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a</a:t>
            </a:r>
            <a:r>
              <a:rPr lang="en-US" altLang="zh-CN" sz="2400" b="1" i="1" baseline="30000" dirty="0">
                <a:latin typeface="Times New Roman" panose="02020603050405020304" pitchFamily="18" charset="0"/>
                <a:cs typeface="Times New Roman" panose="02020603050405020304" pitchFamily="18" charset="0"/>
              </a:rPr>
              <a:t>m</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a</a:t>
            </a:r>
            <a:r>
              <a:rPr lang="en-US" altLang="zh-CN" sz="2400" b="1" i="1" baseline="30000" dirty="0">
                <a:latin typeface="Times New Roman" panose="02020603050405020304" pitchFamily="18" charset="0"/>
                <a:cs typeface="Times New Roman" panose="02020603050405020304" pitchFamily="18" charset="0"/>
              </a:rPr>
              <a:t>l</a:t>
            </a:r>
            <a:r>
              <a:rPr lang="en-US" altLang="zh-CN" sz="2400" b="1" dirty="0">
                <a:latin typeface="Times New Roman" panose="02020603050405020304" pitchFamily="18" charset="0"/>
                <a:cs typeface="Times New Roman" panose="02020603050405020304" pitchFamily="18" charset="0"/>
              </a:rPr>
              <a:t>)</a:t>
            </a:r>
            <a:r>
              <a:rPr lang="en-US" altLang="zh-CN" sz="24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baseline="30000" dirty="0">
                <a:latin typeface="Times New Roman" panose="02020603050405020304" pitchFamily="18" charset="0"/>
                <a:cs typeface="Times New Roman" panose="02020603050405020304" pitchFamily="18" charset="0"/>
              </a:rPr>
              <a:t>1 </a:t>
            </a:r>
            <a:r>
              <a:rPr lang="en-US" altLang="zh-CN" sz="2400" b="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i="1" dirty="0" err="1">
                <a:latin typeface="Times New Roman" panose="02020603050405020304" pitchFamily="18" charset="0"/>
                <a:cs typeface="Times New Roman" panose="02020603050405020304" pitchFamily="18" charset="0"/>
              </a:rPr>
              <a:t>a</a:t>
            </a:r>
            <a:r>
              <a:rPr lang="en-US" altLang="zh-CN" sz="2400" b="1" baseline="300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30000" dirty="0" err="1">
                <a:latin typeface="Times New Roman" panose="02020603050405020304" pitchFamily="18" charset="0"/>
                <a:cs typeface="Times New Roman" panose="02020603050405020304" pitchFamily="18" charset="0"/>
              </a:rPr>
              <a:t>l</a:t>
            </a:r>
            <a:r>
              <a:rPr lang="en-US" altLang="zh-CN" sz="2400" b="1" i="1" baseline="30000"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a</a:t>
            </a:r>
            <a:r>
              <a:rPr lang="en-US" altLang="zh-CN" sz="2400" b="1" i="1" baseline="30000" dirty="0" err="1">
                <a:latin typeface="Times New Roman" panose="02020603050405020304" pitchFamily="18" charset="0"/>
                <a:cs typeface="Times New Roman" panose="02020603050405020304" pitchFamily="18" charset="0"/>
              </a:rPr>
              <a:t>m</a:t>
            </a:r>
            <a:r>
              <a:rPr lang="en-US" altLang="zh-CN" sz="2400" b="1" baseline="300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baseline="30000" dirty="0" err="1">
                <a:latin typeface="Times New Roman" panose="02020603050405020304" pitchFamily="18" charset="0"/>
                <a:cs typeface="Times New Roman" panose="02020603050405020304" pitchFamily="18" charset="0"/>
              </a:rPr>
              <a:t>l</a:t>
            </a:r>
            <a:r>
              <a:rPr lang="en-US" altLang="zh-CN" sz="2400" b="1" dirty="0">
                <a:latin typeface="Times New Roman" panose="02020603050405020304" pitchFamily="18" charset="0"/>
                <a:cs typeface="Times New Roman" panose="02020603050405020304" pitchFamily="18" charset="0"/>
              </a:rPr>
              <a:t>∈&lt;</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&gt;</a:t>
            </a:r>
          </a:p>
          <a:p>
            <a:pPr marL="609600" indent="-609600">
              <a:buFontTx/>
              <a:buNone/>
            </a:pP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根据判定</a:t>
            </a:r>
            <a:r>
              <a:rPr lang="zh-CN" altLang="en-US" sz="2400" b="1" dirty="0">
                <a:solidFill>
                  <a:srgbClr val="FF0000"/>
                </a:solidFill>
                <a:latin typeface="Times New Roman" panose="02020603050405020304" pitchFamily="18" charset="0"/>
                <a:cs typeface="Times New Roman" panose="02020603050405020304" pitchFamily="18" charset="0"/>
              </a:rPr>
              <a:t>定理</a:t>
            </a:r>
            <a:r>
              <a:rPr lang="en-US" altLang="zh-CN" sz="2400" b="1" dirty="0">
                <a:solidFill>
                  <a:srgbClr val="FF0000"/>
                </a:solidFill>
                <a:latin typeface="Times New Roman" panose="02020603050405020304" pitchFamily="18" charset="0"/>
                <a:cs typeface="Times New Roman" panose="02020603050405020304" pitchFamily="18" charset="0"/>
              </a:rPr>
              <a:t>9.8</a:t>
            </a:r>
            <a:r>
              <a:rPr lang="zh-CN" altLang="en-US" sz="2400" b="1" dirty="0">
                <a:latin typeface="Times New Roman" panose="02020603050405020304" pitchFamily="18" charset="0"/>
                <a:cs typeface="Times New Roman" panose="02020603050405020304" pitchFamily="18" charset="0"/>
              </a:rPr>
              <a:t>可知</a:t>
            </a:r>
            <a:r>
              <a:rPr lang="en-US" altLang="zh-CN" sz="2400" b="1" dirty="0">
                <a:latin typeface="Times New Roman" panose="02020603050405020304" pitchFamily="18" charset="0"/>
                <a:cs typeface="Times New Roman" panose="02020603050405020304" pitchFamily="18" charset="0"/>
              </a:rPr>
              <a:t>&lt;</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&gt;≤</a:t>
            </a:r>
            <a:r>
              <a:rPr lang="en-US" altLang="zh-CN" sz="2400" b="1" i="1" dirty="0">
                <a:latin typeface="Times New Roman" panose="02020603050405020304" pitchFamily="18" charset="0"/>
                <a:cs typeface="Times New Roman" panose="02020603050405020304" pitchFamily="18" charset="0"/>
              </a:rPr>
              <a:t>G</a:t>
            </a:r>
            <a:r>
              <a:rPr lang="en-US" altLang="zh-CN" sz="2400" b="1" dirty="0">
                <a:latin typeface="Times New Roman" panose="02020603050405020304" pitchFamily="18" charset="0"/>
                <a:cs typeface="Times New Roman" panose="02020603050405020304" pitchFamily="18" charset="0"/>
              </a:rPr>
              <a:t>.</a:t>
            </a:r>
            <a:r>
              <a:rPr lang="en-US" altLang="zh-CN" sz="2400" b="1" dirty="0"/>
              <a:t>      </a:t>
            </a:r>
            <a:endParaRPr lang="en-US" altLang="zh-CN" sz="2400" b="1" dirty="0">
              <a:solidFill>
                <a:srgbClr val="000066"/>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92</a:t>
            </a:fld>
            <a:endParaRPr lang="zh-CN" altLang="en-US"/>
          </a:p>
        </p:txBody>
      </p:sp>
    </p:spTree>
    <p:extLst>
      <p:ext uri="{BB962C8B-B14F-4D97-AF65-F5344CB8AC3E}">
        <p14:creationId xmlns:p14="http://schemas.microsoft.com/office/powerpoint/2010/main" val="342697991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90600" lvl="1" indent="-903288" eaLnBrk="1" hangingPunct="1">
              <a:lnSpc>
                <a:spcPct val="80000"/>
              </a:lnSpc>
              <a:buFontTx/>
              <a:buNone/>
            </a:pPr>
            <a:r>
              <a:rPr lang="zh-CN" altLang="en-US" sz="2400" b="1" dirty="0">
                <a:solidFill>
                  <a:srgbClr val="00B0F0"/>
                </a:solidFill>
              </a:rPr>
              <a:t>实例：</a:t>
            </a:r>
          </a:p>
          <a:p>
            <a:pPr marL="609600" indent="-609600" eaLnBrk="1" hangingPunct="1">
              <a:buFontTx/>
              <a:buNone/>
            </a:pPr>
            <a:r>
              <a:rPr lang="en-US" altLang="zh-CN" sz="2400" b="1" dirty="0"/>
              <a:t>(1)</a:t>
            </a:r>
            <a:r>
              <a:rPr lang="zh-CN" altLang="en-US" sz="2400" b="1" dirty="0">
                <a:solidFill>
                  <a:srgbClr val="000066"/>
                </a:solidFill>
              </a:rPr>
              <a:t>对</a:t>
            </a:r>
            <a:r>
              <a:rPr lang="zh-CN" altLang="en-US" sz="2400" b="1" dirty="0">
                <a:latin typeface="Times New Roman" panose="02020603050405020304" pitchFamily="18" charset="0"/>
                <a:cs typeface="Times New Roman" panose="02020603050405020304" pitchFamily="18" charset="0"/>
              </a:rPr>
              <a:t>整数加群</a:t>
            </a:r>
            <a:r>
              <a:rPr lang="en-US" altLang="zh-CN" sz="2400" b="1" dirty="0">
                <a:latin typeface="Times New Roman" panose="02020603050405020304" pitchFamily="18" charset="0"/>
                <a:cs typeface="Times New Roman" panose="02020603050405020304" pitchFamily="18" charset="0"/>
              </a:rPr>
              <a:t>&lt;</a:t>
            </a:r>
            <a:r>
              <a:rPr lang="en-US" altLang="zh-CN" sz="2400" b="1" i="1" dirty="0">
                <a:latin typeface="Times New Roman" panose="02020603050405020304" pitchFamily="18" charset="0"/>
                <a:cs typeface="Times New Roman" panose="02020603050405020304" pitchFamily="18" charset="0"/>
              </a:rPr>
              <a:t>Z</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&gt; ,</a:t>
            </a:r>
            <a:r>
              <a:rPr lang="zh-CN" altLang="en-US" sz="2400" b="1" dirty="0">
                <a:latin typeface="Times New Roman" panose="02020603050405020304" pitchFamily="18" charset="0"/>
                <a:cs typeface="Times New Roman" panose="02020603050405020304" pitchFamily="18" charset="0"/>
              </a:rPr>
              <a:t>由</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生成的子群是 </a:t>
            </a:r>
            <a:r>
              <a:rPr lang="en-US" altLang="zh-CN" sz="2400" b="1" dirty="0">
                <a:latin typeface="Times New Roman" panose="02020603050405020304" pitchFamily="18" charset="0"/>
                <a:cs typeface="Times New Roman" panose="02020603050405020304" pitchFamily="18" charset="0"/>
              </a:rPr>
              <a:t>&lt;2&gt; = { 2</a:t>
            </a:r>
            <a:r>
              <a:rPr lang="en-US" altLang="zh-CN" sz="2400" b="1" i="1" dirty="0">
                <a:latin typeface="Times New Roman" panose="02020603050405020304" pitchFamily="18" charset="0"/>
                <a:cs typeface="Times New Roman" panose="02020603050405020304" pitchFamily="18" charset="0"/>
              </a:rPr>
              <a:t>k </a:t>
            </a:r>
            <a:r>
              <a:rPr lang="en-US" altLang="zh-CN" sz="2400" b="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k</a:t>
            </a:r>
            <a:r>
              <a:rPr lang="en-US" altLang="zh-CN" sz="2400" b="1" dirty="0" err="1">
                <a:latin typeface="Times New Roman" panose="02020603050405020304" pitchFamily="18" charset="0"/>
                <a:cs typeface="Times New Roman" panose="02020603050405020304" pitchFamily="18" charset="0"/>
              </a:rPr>
              <a:t>∈Z</a:t>
            </a:r>
            <a:r>
              <a:rPr lang="en-US" altLang="zh-CN" sz="2400" b="1" i="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 = 2Z</a:t>
            </a:r>
          </a:p>
          <a:p>
            <a:pPr marL="609600" indent="-609600" eaLnBrk="1" hangingPunct="1">
              <a:buFontTx/>
              <a:buNone/>
            </a:pPr>
            <a:endParaRPr lang="en-US" altLang="zh-CN" sz="2400" b="1" dirty="0">
              <a:latin typeface="Times New Roman" panose="02020603050405020304" pitchFamily="18" charset="0"/>
              <a:cs typeface="Times New Roman" panose="02020603050405020304" pitchFamily="18" charset="0"/>
            </a:endParaRPr>
          </a:p>
          <a:p>
            <a:pPr marL="609600" indent="-609600" eaLnBrk="1" hangingPunct="1">
              <a:buFontTx/>
              <a:buNone/>
            </a:pP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群</a:t>
            </a:r>
            <a:r>
              <a:rPr lang="en-US" altLang="zh-CN" sz="2400" b="1" dirty="0">
                <a:latin typeface="Times New Roman" panose="02020603050405020304" pitchFamily="18" charset="0"/>
                <a:cs typeface="Times New Roman" panose="02020603050405020304" pitchFamily="18" charset="0"/>
              </a:rPr>
              <a:t>&lt;</a:t>
            </a:r>
            <a:r>
              <a:rPr lang="en-US" altLang="zh-CN" sz="2400" b="1" i="1" dirty="0">
                <a:latin typeface="Times New Roman" panose="02020603050405020304" pitchFamily="18" charset="0"/>
                <a:cs typeface="Times New Roman" panose="02020603050405020304" pitchFamily="18" charset="0"/>
              </a:rPr>
              <a:t>Z</a:t>
            </a:r>
            <a:r>
              <a:rPr lang="en-US" altLang="zh-CN" sz="2400" b="1" baseline="-25000" dirty="0">
                <a:latin typeface="Times New Roman" panose="02020603050405020304" pitchFamily="18" charset="0"/>
                <a:cs typeface="Times New Roman" panose="02020603050405020304" pitchFamily="18" charset="0"/>
              </a:rPr>
              <a:t>6</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&gt;</a:t>
            </a:r>
            <a:r>
              <a:rPr lang="zh-CN" altLang="en-US" sz="2400" b="1" dirty="0">
                <a:latin typeface="Times New Roman" panose="02020603050405020304" pitchFamily="18" charset="0"/>
                <a:cs typeface="Times New Roman" panose="02020603050405020304" pitchFamily="18" charset="0"/>
              </a:rPr>
              <a:t>中</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由</a:t>
            </a: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生成的子群 </a:t>
            </a:r>
            <a:r>
              <a:rPr lang="en-US" altLang="zh-CN" sz="2400" b="1" dirty="0">
                <a:latin typeface="Times New Roman" panose="02020603050405020304" pitchFamily="18" charset="0"/>
                <a:cs typeface="Times New Roman" panose="02020603050405020304" pitchFamily="18" charset="0"/>
              </a:rPr>
              <a:t>&lt;2&gt; = { 0, 2, 4 },</a:t>
            </a:r>
            <a:r>
              <a:rPr lang="zh-CN" altLang="en-US" sz="2400" b="1" dirty="0">
                <a:latin typeface="Times New Roman" panose="02020603050405020304" pitchFamily="18" charset="0"/>
                <a:cs typeface="Times New Roman" panose="02020603050405020304" pitchFamily="18" charset="0"/>
              </a:rPr>
              <a:t>同理</a:t>
            </a:r>
            <a:r>
              <a:rPr lang="en-US" altLang="zh-CN" sz="2400" b="1" dirty="0">
                <a:latin typeface="Times New Roman" panose="02020603050405020304" pitchFamily="18" charset="0"/>
                <a:cs typeface="Times New Roman" panose="02020603050405020304" pitchFamily="18" charset="0"/>
              </a:rPr>
              <a:t>&lt;3&gt; = { 0, 3}, &lt;1&gt; = &lt;5&gt; ={ 0, 1, 2, 3,4 ,5} =</a:t>
            </a:r>
            <a:r>
              <a:rPr lang="en-US" altLang="zh-CN" sz="2400" b="1" i="1" dirty="0">
                <a:latin typeface="Times New Roman" panose="02020603050405020304" pitchFamily="18" charset="0"/>
                <a:cs typeface="Times New Roman" panose="02020603050405020304" pitchFamily="18" charset="0"/>
              </a:rPr>
              <a:t> Z</a:t>
            </a:r>
            <a:r>
              <a:rPr lang="en-US" altLang="zh-CN" sz="2400" b="1" baseline="-25000" dirty="0">
                <a:latin typeface="Times New Roman" panose="02020603050405020304" pitchFamily="18" charset="0"/>
                <a:cs typeface="Times New Roman" panose="02020603050405020304" pitchFamily="18" charset="0"/>
              </a:rPr>
              <a:t>6</a:t>
            </a:r>
            <a:r>
              <a:rPr lang="en-US" altLang="zh-CN" sz="2400" b="1" dirty="0">
                <a:latin typeface="Times New Roman" panose="02020603050405020304" pitchFamily="18" charset="0"/>
                <a:cs typeface="Times New Roman" panose="02020603050405020304" pitchFamily="18" charset="0"/>
              </a:rPr>
              <a:t>, &lt;0&gt; = { 0}, &lt;4&gt; = { 0, 2, 4 }</a:t>
            </a:r>
          </a:p>
          <a:p>
            <a:pPr marL="609600" indent="-609600" eaLnBrk="1" hangingPunct="1">
              <a:buFontTx/>
              <a:buNone/>
            </a:pPr>
            <a:endParaRPr lang="en-US" altLang="zh-CN" sz="2400" b="1" dirty="0">
              <a:latin typeface="Times New Roman" panose="02020603050405020304" pitchFamily="18" charset="0"/>
              <a:cs typeface="Times New Roman" panose="02020603050405020304" pitchFamily="18" charset="0"/>
            </a:endParaRPr>
          </a:p>
          <a:p>
            <a:pPr marL="609600" indent="-609600" eaLnBrk="1" hangingPunct="1">
              <a:buFontTx/>
              <a:buNone/>
            </a:pPr>
            <a:r>
              <a:rPr lang="en-US" altLang="zh-CN" sz="2400" b="1" dirty="0">
                <a:latin typeface="Times New Roman" panose="02020603050405020304" pitchFamily="18" charset="0"/>
                <a:cs typeface="Times New Roman" panose="02020603050405020304" pitchFamily="18" charset="0"/>
              </a:rPr>
              <a:t>(3)Klein</a:t>
            </a:r>
            <a:r>
              <a:rPr lang="zh-CN" altLang="en-US" sz="2400" b="1" dirty="0">
                <a:latin typeface="Times New Roman" panose="02020603050405020304" pitchFamily="18" charset="0"/>
                <a:cs typeface="Times New Roman" panose="02020603050405020304" pitchFamily="18" charset="0"/>
              </a:rPr>
              <a:t>四元群</a:t>
            </a:r>
            <a:r>
              <a:rPr lang="en-US" altLang="zh-CN" sz="2400" b="1" i="1" dirty="0">
                <a:latin typeface="Times New Roman" panose="02020603050405020304" pitchFamily="18" charset="0"/>
                <a:cs typeface="Times New Roman" panose="02020603050405020304" pitchFamily="18" charset="0"/>
              </a:rPr>
              <a:t>G </a:t>
            </a:r>
            <a:r>
              <a:rPr lang="en-US" altLang="zh-CN" sz="2400" b="1" dirty="0">
                <a:latin typeface="Times New Roman" panose="02020603050405020304" pitchFamily="18" charset="0"/>
                <a:cs typeface="Times New Roman" panose="02020603050405020304" pitchFamily="18" charset="0"/>
              </a:rPr>
              <a:t>= { </a:t>
            </a:r>
            <a:r>
              <a:rPr lang="en-US" altLang="zh-CN" sz="2400" b="1" i="1" dirty="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c </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的所有生成子群是：</a:t>
            </a:r>
          </a:p>
          <a:p>
            <a:pPr marL="609600" indent="-609600" eaLnBrk="1" hangingPunct="1">
              <a:buFontTx/>
              <a:buNone/>
            </a:pP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&lt;</a:t>
            </a:r>
            <a:r>
              <a:rPr lang="en-US" altLang="zh-CN" sz="2400" b="1" i="1" dirty="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rPr>
              <a:t>&gt; = { </a:t>
            </a:r>
            <a:r>
              <a:rPr lang="en-US" altLang="zh-CN" sz="2400" b="1" i="1" dirty="0">
                <a:latin typeface="Times New Roman" panose="02020603050405020304" pitchFamily="18" charset="0"/>
                <a:cs typeface="Times New Roman" panose="02020603050405020304" pitchFamily="18" charset="0"/>
              </a:rPr>
              <a:t>e </a:t>
            </a:r>
            <a:r>
              <a:rPr lang="en-US" altLang="zh-CN" sz="2400" b="1" dirty="0">
                <a:latin typeface="Times New Roman" panose="02020603050405020304" pitchFamily="18" charset="0"/>
                <a:cs typeface="Times New Roman" panose="02020603050405020304" pitchFamily="18" charset="0"/>
              </a:rPr>
              <a:t>},  &lt;</a:t>
            </a:r>
            <a:r>
              <a:rPr lang="en-US" altLang="zh-CN" sz="2400" b="1" i="1" dirty="0">
                <a:latin typeface="Times New Roman" panose="02020603050405020304" pitchFamily="18" charset="0"/>
                <a:cs typeface="Times New Roman" panose="02020603050405020304" pitchFamily="18" charset="0"/>
              </a:rPr>
              <a:t>a</a:t>
            </a:r>
            <a:r>
              <a:rPr lang="en-US" altLang="zh-CN" sz="2400" b="1" dirty="0">
                <a:latin typeface="Times New Roman" panose="02020603050405020304" pitchFamily="18" charset="0"/>
                <a:cs typeface="Times New Roman" panose="02020603050405020304" pitchFamily="18" charset="0"/>
              </a:rPr>
              <a:t>&gt; = { </a:t>
            </a:r>
            <a:r>
              <a:rPr lang="en-US" altLang="zh-CN" sz="2400" b="1" i="1" dirty="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a </a:t>
            </a:r>
            <a:r>
              <a:rPr lang="en-US" altLang="zh-CN" sz="2400" b="1" dirty="0">
                <a:latin typeface="Times New Roman" panose="02020603050405020304" pitchFamily="18" charset="0"/>
                <a:cs typeface="Times New Roman" panose="02020603050405020304" pitchFamily="18" charset="0"/>
              </a:rPr>
              <a:t>},  &lt;</a:t>
            </a:r>
            <a:r>
              <a:rPr lang="en-US" altLang="zh-CN" sz="2400" b="1" i="1" dirty="0">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&gt; = { </a:t>
            </a:r>
            <a:r>
              <a:rPr lang="en-US" altLang="zh-CN" sz="2400" b="1" i="1" dirty="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b </a:t>
            </a:r>
            <a:r>
              <a:rPr lang="en-US" altLang="zh-CN" sz="2400" b="1" dirty="0">
                <a:latin typeface="Times New Roman" panose="02020603050405020304" pitchFamily="18" charset="0"/>
                <a:cs typeface="Times New Roman" panose="02020603050405020304" pitchFamily="18" charset="0"/>
              </a:rPr>
              <a:t>}, &lt;</a:t>
            </a:r>
            <a:r>
              <a:rPr lang="en-US" altLang="zh-CN" sz="2400" b="1" i="1" dirty="0">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&gt; = { </a:t>
            </a:r>
            <a:r>
              <a:rPr lang="en-US" altLang="zh-CN" sz="2400" b="1" i="1" dirty="0">
                <a:latin typeface="Times New Roman" panose="02020603050405020304" pitchFamily="18" charset="0"/>
                <a:cs typeface="Times New Roman" panose="02020603050405020304" pitchFamily="18" charset="0"/>
              </a:rPr>
              <a:t>e</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c </a:t>
            </a:r>
            <a:r>
              <a:rPr lang="en-US" altLang="zh-CN" sz="2400" b="1" dirty="0">
                <a:latin typeface="Times New Roman" panose="02020603050405020304" pitchFamily="18" charset="0"/>
                <a:cs typeface="Times New Roman" panose="02020603050405020304" pitchFamily="18" charset="0"/>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93</a:t>
            </a:fld>
            <a:endParaRPr lang="zh-CN" altLang="en-US"/>
          </a:p>
        </p:txBody>
      </p:sp>
    </p:spTree>
    <p:extLst>
      <p:ext uri="{BB962C8B-B14F-4D97-AF65-F5344CB8AC3E}">
        <p14:creationId xmlns:p14="http://schemas.microsoft.com/office/powerpoint/2010/main" val="398126440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72000" eaLnBrk="1" hangingPunct="1">
              <a:lnSpc>
                <a:spcPct val="90000"/>
              </a:lnSpc>
              <a:buFont typeface="Wingdings" panose="05000000000000000000" pitchFamily="2" charset="2"/>
              <a:buNone/>
              <a:defRPr/>
            </a:pPr>
            <a:r>
              <a:rPr lang="zh-CN" altLang="en-US" sz="1200" b="1" dirty="0">
                <a:solidFill>
                  <a:srgbClr val="FF3300"/>
                </a:solidFill>
                <a:latin typeface="Times New Roman" pitchFamily="18" charset="0"/>
              </a:rPr>
              <a:t>定义</a:t>
            </a:r>
            <a:r>
              <a:rPr lang="en-US" altLang="zh-CN" sz="1200" b="1" dirty="0">
                <a:solidFill>
                  <a:srgbClr val="FF3300"/>
                </a:solidFill>
                <a:latin typeface="Times New Roman" pitchFamily="18" charset="0"/>
              </a:rPr>
              <a:t>9.16</a:t>
            </a:r>
            <a:r>
              <a:rPr lang="zh-CN" altLang="en-US" sz="1200" b="1" dirty="0">
                <a:latin typeface="Times New Roman" pitchFamily="18" charset="0"/>
              </a:rPr>
              <a:t>  设 </a:t>
            </a:r>
            <a:r>
              <a:rPr lang="en-US" altLang="zh-CN" sz="1200" b="1" i="1" dirty="0">
                <a:latin typeface="Times New Roman" pitchFamily="18" charset="0"/>
              </a:rPr>
              <a:t>G </a:t>
            </a:r>
            <a:r>
              <a:rPr lang="zh-CN" altLang="en-US" sz="1200" b="1" dirty="0">
                <a:latin typeface="Times New Roman" pitchFamily="18" charset="0"/>
              </a:rPr>
              <a:t>是群</a:t>
            </a:r>
            <a:r>
              <a:rPr lang="en-US" altLang="zh-CN" sz="1200" b="1" dirty="0">
                <a:latin typeface="Times New Roman" pitchFamily="18" charset="0"/>
              </a:rPr>
              <a:t>, </a:t>
            </a:r>
            <a:r>
              <a:rPr lang="zh-CN" altLang="en-US" sz="1200" b="1" dirty="0">
                <a:latin typeface="Times New Roman" pitchFamily="18" charset="0"/>
              </a:rPr>
              <a:t>若存在 </a:t>
            </a:r>
            <a:r>
              <a:rPr lang="en-US" altLang="zh-CN" sz="1200" b="1" i="1" dirty="0" err="1">
                <a:latin typeface="Times New Roman" pitchFamily="18" charset="0"/>
              </a:rPr>
              <a:t>a</a:t>
            </a:r>
            <a:r>
              <a:rPr lang="en-US" altLang="zh-CN" sz="1200" b="1" dirty="0" err="1">
                <a:latin typeface="Times New Roman" pitchFamily="18" charset="0"/>
              </a:rPr>
              <a:t>∈</a:t>
            </a:r>
            <a:r>
              <a:rPr lang="en-US" altLang="zh-CN" sz="1200" b="1" i="1" dirty="0" err="1">
                <a:latin typeface="Times New Roman" pitchFamily="18" charset="0"/>
              </a:rPr>
              <a:t>G</a:t>
            </a:r>
            <a:r>
              <a:rPr lang="en-US" altLang="zh-CN" sz="1200" b="1" i="1" dirty="0">
                <a:latin typeface="Times New Roman" pitchFamily="18" charset="0"/>
              </a:rPr>
              <a:t> </a:t>
            </a:r>
            <a:r>
              <a:rPr lang="zh-CN" altLang="en-US" sz="1200" b="1" dirty="0">
                <a:latin typeface="Times New Roman" pitchFamily="18" charset="0"/>
              </a:rPr>
              <a:t>使得</a:t>
            </a:r>
            <a:r>
              <a:rPr lang="en-US" altLang="zh-CN" sz="1200" b="1" i="1" dirty="0">
                <a:latin typeface="Times New Roman" pitchFamily="18" charset="0"/>
              </a:rPr>
              <a:t>G </a:t>
            </a:r>
            <a:r>
              <a:rPr lang="en-US" altLang="zh-CN" sz="1200" b="1" dirty="0">
                <a:latin typeface="Times New Roman" pitchFamily="18" charset="0"/>
              </a:rPr>
              <a:t>= { </a:t>
            </a:r>
            <a:r>
              <a:rPr lang="en-US" altLang="zh-CN" sz="1200" b="1" i="1" dirty="0" err="1">
                <a:latin typeface="Times New Roman" pitchFamily="18" charset="0"/>
              </a:rPr>
              <a:t>a</a:t>
            </a:r>
            <a:r>
              <a:rPr lang="en-US" altLang="zh-CN" sz="1200" b="1" i="1" baseline="30000" dirty="0" err="1">
                <a:latin typeface="Times New Roman" pitchFamily="18" charset="0"/>
              </a:rPr>
              <a:t>k</a:t>
            </a:r>
            <a:r>
              <a:rPr lang="en-US" altLang="zh-CN" sz="1200" b="1" i="1" dirty="0">
                <a:latin typeface="Times New Roman" pitchFamily="18" charset="0"/>
              </a:rPr>
              <a:t> </a:t>
            </a:r>
            <a:r>
              <a:rPr lang="en-US" altLang="zh-CN" sz="1200" b="1" dirty="0">
                <a:latin typeface="Times New Roman" pitchFamily="18" charset="0"/>
              </a:rPr>
              <a:t>| </a:t>
            </a:r>
            <a:r>
              <a:rPr lang="en-US" altLang="zh-CN" sz="1200" b="1" i="1" dirty="0" err="1">
                <a:latin typeface="Times New Roman" pitchFamily="18" charset="0"/>
              </a:rPr>
              <a:t>k</a:t>
            </a:r>
            <a:r>
              <a:rPr lang="en-US" altLang="zh-CN" sz="1200" b="1" dirty="0" err="1">
                <a:latin typeface="Times New Roman" pitchFamily="18" charset="0"/>
              </a:rPr>
              <a:t>∈Z</a:t>
            </a:r>
            <a:r>
              <a:rPr lang="en-US" altLang="zh-CN" sz="1200" b="1" i="1" dirty="0">
                <a:latin typeface="Times New Roman" pitchFamily="18" charset="0"/>
              </a:rPr>
              <a:t> </a:t>
            </a:r>
            <a:r>
              <a:rPr lang="en-US" altLang="zh-CN" sz="1200" b="1" dirty="0">
                <a:latin typeface="Times New Roman" pitchFamily="18" charset="0"/>
              </a:rPr>
              <a:t>} </a:t>
            </a:r>
          </a:p>
          <a:p>
            <a:pPr marL="72000" eaLnBrk="1" hangingPunct="1">
              <a:lnSpc>
                <a:spcPct val="90000"/>
              </a:lnSpc>
              <a:buFont typeface="Wingdings" panose="05000000000000000000" pitchFamily="2" charset="2"/>
              <a:buNone/>
              <a:defRPr/>
            </a:pPr>
            <a:r>
              <a:rPr lang="zh-CN" altLang="en-US" sz="1200" b="1" dirty="0">
                <a:latin typeface="Times New Roman" pitchFamily="18" charset="0"/>
              </a:rPr>
              <a:t>称</a:t>
            </a:r>
            <a:r>
              <a:rPr lang="en-US" altLang="zh-CN" sz="1200" b="1" i="1" dirty="0">
                <a:latin typeface="Times New Roman" pitchFamily="18" charset="0"/>
              </a:rPr>
              <a:t>G</a:t>
            </a:r>
            <a:r>
              <a:rPr lang="zh-CN" altLang="en-US" sz="1200" b="1" dirty="0">
                <a:latin typeface="Times New Roman" pitchFamily="18" charset="0"/>
              </a:rPr>
              <a:t>是</a:t>
            </a:r>
            <a:r>
              <a:rPr lang="zh-CN" altLang="en-US" sz="1200" b="1" dirty="0">
                <a:solidFill>
                  <a:srgbClr val="FF3300"/>
                </a:solidFill>
                <a:latin typeface="Times New Roman" pitchFamily="18" charset="0"/>
              </a:rPr>
              <a:t>循环群</a:t>
            </a:r>
            <a:r>
              <a:rPr lang="en-US" altLang="zh-CN" sz="1200" b="1" dirty="0">
                <a:latin typeface="Times New Roman" pitchFamily="18" charset="0"/>
              </a:rPr>
              <a:t>,</a:t>
            </a:r>
            <a:r>
              <a:rPr lang="zh-CN" altLang="en-US" sz="1200" b="1" dirty="0">
                <a:latin typeface="Times New Roman" pitchFamily="18" charset="0"/>
              </a:rPr>
              <a:t>记作 </a:t>
            </a:r>
            <a:r>
              <a:rPr lang="en-US" altLang="zh-CN" sz="1200" b="1" i="1" dirty="0">
                <a:latin typeface="Times New Roman" pitchFamily="18" charset="0"/>
              </a:rPr>
              <a:t>G</a:t>
            </a:r>
            <a:r>
              <a:rPr lang="en-US" altLang="zh-CN" sz="1200" b="1" dirty="0">
                <a:latin typeface="Times New Roman" pitchFamily="18" charset="0"/>
              </a:rPr>
              <a:t>=&lt;</a:t>
            </a:r>
            <a:r>
              <a:rPr lang="en-US" altLang="zh-CN" sz="1200" b="1" i="1" dirty="0">
                <a:latin typeface="Times New Roman" pitchFamily="18" charset="0"/>
              </a:rPr>
              <a:t>a</a:t>
            </a:r>
            <a:r>
              <a:rPr lang="en-US" altLang="zh-CN" sz="1200" b="1" dirty="0">
                <a:latin typeface="Times New Roman" pitchFamily="18" charset="0"/>
              </a:rPr>
              <a:t>&gt;,</a:t>
            </a:r>
            <a:r>
              <a:rPr lang="zh-CN" altLang="en-US" sz="1200" b="1" dirty="0">
                <a:latin typeface="Times New Roman" pitchFamily="18" charset="0"/>
              </a:rPr>
              <a:t>称 </a:t>
            </a:r>
            <a:r>
              <a:rPr lang="en-US" altLang="zh-CN" sz="1200" b="1" i="1" dirty="0">
                <a:latin typeface="Times New Roman" pitchFamily="18" charset="0"/>
              </a:rPr>
              <a:t>a</a:t>
            </a:r>
            <a:r>
              <a:rPr lang="zh-CN" altLang="en-US" sz="1200" b="1" dirty="0">
                <a:latin typeface="Times New Roman" pitchFamily="18" charset="0"/>
              </a:rPr>
              <a:t>为 </a:t>
            </a:r>
            <a:r>
              <a:rPr lang="en-US" altLang="zh-CN" sz="1200" b="1" i="1" dirty="0">
                <a:latin typeface="Times New Roman" pitchFamily="18" charset="0"/>
              </a:rPr>
              <a:t>G </a:t>
            </a:r>
            <a:r>
              <a:rPr lang="zh-CN" altLang="en-US" sz="1200" b="1" dirty="0">
                <a:latin typeface="Times New Roman" pitchFamily="18" charset="0"/>
              </a:rPr>
              <a:t>的</a:t>
            </a:r>
            <a:r>
              <a:rPr lang="zh-CN" altLang="en-US" sz="1200" b="1" dirty="0">
                <a:solidFill>
                  <a:srgbClr val="FF3300"/>
                </a:solidFill>
                <a:latin typeface="Times New Roman" pitchFamily="18" charset="0"/>
              </a:rPr>
              <a:t>生成元</a:t>
            </a:r>
            <a:r>
              <a:rPr lang="en-US" altLang="zh-CN" sz="1200" b="1" dirty="0">
                <a:latin typeface="Times New Roman" pitchFamily="18" charset="0"/>
              </a:rPr>
              <a:t>.</a:t>
            </a:r>
            <a:endParaRPr lang="zh-CN" altLang="en-US" sz="1200" b="1" dirty="0">
              <a:solidFill>
                <a:srgbClr val="FF3300"/>
              </a:solidFill>
              <a:latin typeface="Times New Roman" pitchFamily="18" charset="0"/>
            </a:endParaRPr>
          </a:p>
          <a:p>
            <a:pPr marL="72000" eaLnBrk="1" hangingPunct="1">
              <a:spcBef>
                <a:spcPts val="2400"/>
              </a:spcBef>
              <a:buFont typeface="Wingdings" panose="05000000000000000000" pitchFamily="2" charset="2"/>
              <a:buNone/>
              <a:defRPr/>
            </a:pPr>
            <a:r>
              <a:rPr lang="zh-CN" altLang="en-US" sz="1200" b="1" dirty="0">
                <a:latin typeface="Times New Roman" pitchFamily="18" charset="0"/>
              </a:rPr>
              <a:t>设 </a:t>
            </a:r>
            <a:r>
              <a:rPr lang="en-US" altLang="zh-CN" sz="1200" b="1" i="1" dirty="0">
                <a:latin typeface="Times New Roman" pitchFamily="18" charset="0"/>
              </a:rPr>
              <a:t>G </a:t>
            </a:r>
            <a:r>
              <a:rPr lang="en-US" altLang="zh-CN" sz="1200" b="1" dirty="0">
                <a:latin typeface="Times New Roman" pitchFamily="18" charset="0"/>
              </a:rPr>
              <a:t>= &lt;</a:t>
            </a:r>
            <a:r>
              <a:rPr lang="en-US" altLang="zh-CN" sz="1200" b="1" i="1" dirty="0">
                <a:latin typeface="Times New Roman" pitchFamily="18" charset="0"/>
              </a:rPr>
              <a:t>a</a:t>
            </a:r>
            <a:r>
              <a:rPr lang="en-US" altLang="zh-CN" sz="1200" b="1" dirty="0">
                <a:latin typeface="Times New Roman" pitchFamily="18" charset="0"/>
              </a:rPr>
              <a:t>&gt;,</a:t>
            </a:r>
            <a:r>
              <a:rPr lang="zh-CN" altLang="en-US" sz="1200" b="1" dirty="0">
                <a:latin typeface="Times New Roman" pitchFamily="18" charset="0"/>
              </a:rPr>
              <a:t>若</a:t>
            </a:r>
            <a:r>
              <a:rPr lang="en-US" altLang="zh-CN" sz="1200" b="1" i="1" dirty="0">
                <a:latin typeface="Times New Roman" pitchFamily="18" charset="0"/>
              </a:rPr>
              <a:t>a</a:t>
            </a:r>
            <a:r>
              <a:rPr lang="zh-CN" altLang="en-US" sz="1200" b="1" dirty="0">
                <a:latin typeface="Times New Roman" pitchFamily="18" charset="0"/>
              </a:rPr>
              <a:t>是</a:t>
            </a:r>
            <a:r>
              <a:rPr lang="en-US" altLang="zh-CN" sz="1200" b="1" i="1" dirty="0">
                <a:latin typeface="Times New Roman" pitchFamily="18" charset="0"/>
              </a:rPr>
              <a:t>n</a:t>
            </a:r>
            <a:r>
              <a:rPr lang="zh-CN" altLang="en-US" sz="1200" b="1" dirty="0">
                <a:latin typeface="Times New Roman" pitchFamily="18" charset="0"/>
              </a:rPr>
              <a:t>阶元</a:t>
            </a:r>
            <a:r>
              <a:rPr lang="en-US" altLang="zh-CN" sz="1200" b="1" dirty="0">
                <a:latin typeface="Times New Roman" pitchFamily="18" charset="0"/>
              </a:rPr>
              <a:t>,</a:t>
            </a:r>
            <a:r>
              <a:rPr lang="zh-CN" altLang="en-US" sz="1200" b="1" dirty="0">
                <a:latin typeface="Times New Roman" pitchFamily="18" charset="0"/>
              </a:rPr>
              <a:t>则</a:t>
            </a:r>
            <a:r>
              <a:rPr lang="en-US" altLang="zh-CN" sz="1200" b="1" i="1" dirty="0">
                <a:latin typeface="Times New Roman" pitchFamily="18" charset="0"/>
              </a:rPr>
              <a:t>G</a:t>
            </a:r>
            <a:r>
              <a:rPr lang="zh-CN" altLang="en-US" sz="1200" b="1" dirty="0">
                <a:latin typeface="Times New Roman" pitchFamily="18" charset="0"/>
              </a:rPr>
              <a:t>为</a:t>
            </a:r>
            <a:r>
              <a:rPr lang="en-US" altLang="zh-CN" sz="1200" b="1" i="1" dirty="0">
                <a:solidFill>
                  <a:srgbClr val="FF3300"/>
                </a:solidFill>
                <a:latin typeface="Times New Roman" pitchFamily="18" charset="0"/>
              </a:rPr>
              <a:t>n</a:t>
            </a:r>
            <a:r>
              <a:rPr lang="zh-CN" altLang="en-US" sz="1200" b="1" dirty="0">
                <a:solidFill>
                  <a:srgbClr val="FF3300"/>
                </a:solidFill>
                <a:latin typeface="Times New Roman" pitchFamily="18" charset="0"/>
              </a:rPr>
              <a:t>阶循环群</a:t>
            </a:r>
            <a:r>
              <a:rPr lang="en-US" altLang="zh-CN" sz="1200" b="1" dirty="0">
                <a:latin typeface="Times New Roman" pitchFamily="18" charset="0"/>
              </a:rPr>
              <a:t>,</a:t>
            </a:r>
            <a:r>
              <a:rPr lang="zh-CN" altLang="en-US" sz="1200" b="1" dirty="0">
                <a:latin typeface="Times New Roman" pitchFamily="18" charset="0"/>
              </a:rPr>
              <a:t>即</a:t>
            </a:r>
            <a:r>
              <a:rPr lang="en-US" altLang="zh-CN" sz="1200" b="1" i="1" dirty="0">
                <a:latin typeface="Times New Roman" pitchFamily="18" charset="0"/>
              </a:rPr>
              <a:t>G </a:t>
            </a:r>
            <a:r>
              <a:rPr lang="en-US" altLang="zh-CN" sz="1200" b="1" dirty="0">
                <a:latin typeface="Times New Roman" pitchFamily="18" charset="0"/>
              </a:rPr>
              <a:t>= { </a:t>
            </a:r>
            <a:r>
              <a:rPr lang="en-US" altLang="zh-CN" sz="1200" b="1" i="1" dirty="0">
                <a:latin typeface="Times New Roman" pitchFamily="18" charset="0"/>
              </a:rPr>
              <a:t>a</a:t>
            </a:r>
            <a:r>
              <a:rPr lang="en-US" altLang="zh-CN" sz="1200" b="1" baseline="30000" dirty="0">
                <a:latin typeface="Times New Roman" pitchFamily="18" charset="0"/>
              </a:rPr>
              <a:t>0</a:t>
            </a:r>
            <a:r>
              <a:rPr lang="en-US" altLang="zh-CN" sz="1200" b="1" dirty="0">
                <a:latin typeface="Times New Roman" pitchFamily="18" charset="0"/>
              </a:rPr>
              <a:t>=</a:t>
            </a:r>
            <a:r>
              <a:rPr lang="en-US" altLang="zh-CN" sz="1200" b="1" i="1" dirty="0">
                <a:latin typeface="Times New Roman" pitchFamily="18" charset="0"/>
              </a:rPr>
              <a:t>e</a:t>
            </a:r>
            <a:r>
              <a:rPr lang="en-US" altLang="zh-CN" sz="1200" b="1" dirty="0">
                <a:latin typeface="Times New Roman" pitchFamily="18" charset="0"/>
              </a:rPr>
              <a:t>, </a:t>
            </a:r>
            <a:r>
              <a:rPr lang="en-US" altLang="zh-CN" sz="1200" b="1" i="1" dirty="0">
                <a:latin typeface="Times New Roman" pitchFamily="18" charset="0"/>
              </a:rPr>
              <a:t>a</a:t>
            </a:r>
            <a:r>
              <a:rPr lang="en-US" altLang="zh-CN" sz="1200" b="1" baseline="30000" dirty="0">
                <a:latin typeface="Times New Roman" pitchFamily="18" charset="0"/>
              </a:rPr>
              <a:t>1</a:t>
            </a:r>
            <a:r>
              <a:rPr lang="en-US" altLang="zh-CN" sz="1200" b="1" dirty="0">
                <a:latin typeface="Times New Roman" pitchFamily="18" charset="0"/>
              </a:rPr>
              <a:t>, </a:t>
            </a:r>
            <a:r>
              <a:rPr lang="en-US" altLang="zh-CN" sz="1200" b="1" i="1" dirty="0">
                <a:latin typeface="Times New Roman" pitchFamily="18" charset="0"/>
              </a:rPr>
              <a:t>a</a:t>
            </a:r>
            <a:r>
              <a:rPr lang="en-US" altLang="zh-CN" sz="1200" b="1" baseline="30000" dirty="0">
                <a:latin typeface="Times New Roman" pitchFamily="18" charset="0"/>
              </a:rPr>
              <a:t>2</a:t>
            </a:r>
            <a:r>
              <a:rPr lang="en-US" altLang="zh-CN" sz="1200" b="1" dirty="0">
                <a:latin typeface="Times New Roman" pitchFamily="18" charset="0"/>
              </a:rPr>
              <a:t>, … , </a:t>
            </a:r>
            <a:r>
              <a:rPr lang="en-US" altLang="zh-CN" sz="1200" b="1" i="1" dirty="0">
                <a:latin typeface="Times New Roman" pitchFamily="18" charset="0"/>
              </a:rPr>
              <a:t>a</a:t>
            </a:r>
            <a:r>
              <a:rPr lang="en-US" altLang="zh-CN" sz="1200" b="1" i="1" baseline="30000" dirty="0">
                <a:latin typeface="Times New Roman" pitchFamily="18" charset="0"/>
              </a:rPr>
              <a:t>n</a:t>
            </a:r>
            <a:r>
              <a:rPr lang="en-US" altLang="zh-CN" sz="1200" b="1" baseline="30000" dirty="0">
                <a:latin typeface="Times New Roman" pitchFamily="18" charset="0"/>
                <a:sym typeface="Symbol" pitchFamily="18" charset="2"/>
              </a:rPr>
              <a:t></a:t>
            </a:r>
            <a:r>
              <a:rPr lang="en-US" altLang="zh-CN" sz="1200" b="1" baseline="30000" dirty="0">
                <a:latin typeface="Times New Roman" pitchFamily="18" charset="0"/>
              </a:rPr>
              <a:t>1 </a:t>
            </a:r>
            <a:r>
              <a:rPr lang="en-US" altLang="zh-CN" sz="1200" b="1" dirty="0">
                <a:latin typeface="Times New Roman" pitchFamily="18" charset="0"/>
              </a:rPr>
              <a:t>},</a:t>
            </a:r>
            <a:r>
              <a:rPr lang="zh-CN" altLang="en-US" sz="1200" b="1" dirty="0">
                <a:latin typeface="Times New Roman" pitchFamily="18" charset="0"/>
              </a:rPr>
              <a:t>若 </a:t>
            </a:r>
            <a:r>
              <a:rPr lang="en-US" altLang="zh-CN" sz="1200" b="1" i="1" dirty="0">
                <a:latin typeface="Times New Roman" pitchFamily="18" charset="0"/>
              </a:rPr>
              <a:t>a</a:t>
            </a:r>
            <a:r>
              <a:rPr lang="zh-CN" altLang="en-US" sz="1200" b="1" dirty="0">
                <a:latin typeface="Times New Roman" pitchFamily="18" charset="0"/>
              </a:rPr>
              <a:t>是无限阶元</a:t>
            </a:r>
            <a:r>
              <a:rPr lang="en-US" altLang="zh-CN" sz="1200" b="1" dirty="0">
                <a:latin typeface="Times New Roman" pitchFamily="18" charset="0"/>
              </a:rPr>
              <a:t>,</a:t>
            </a:r>
            <a:r>
              <a:rPr lang="zh-CN" altLang="en-US" sz="1200" b="1" dirty="0">
                <a:latin typeface="Times New Roman" pitchFamily="18" charset="0"/>
              </a:rPr>
              <a:t>则 </a:t>
            </a:r>
            <a:r>
              <a:rPr lang="en-US" altLang="zh-CN" sz="1200" b="1" i="1" dirty="0">
                <a:latin typeface="Times New Roman" pitchFamily="18" charset="0"/>
              </a:rPr>
              <a:t>G </a:t>
            </a:r>
            <a:r>
              <a:rPr lang="zh-CN" altLang="en-US" sz="1200" b="1" dirty="0">
                <a:latin typeface="Times New Roman" pitchFamily="18" charset="0"/>
              </a:rPr>
              <a:t>为</a:t>
            </a:r>
            <a:r>
              <a:rPr lang="zh-CN" altLang="en-US" sz="1200" b="1" dirty="0">
                <a:solidFill>
                  <a:srgbClr val="FF3300"/>
                </a:solidFill>
                <a:latin typeface="Times New Roman" pitchFamily="18" charset="0"/>
              </a:rPr>
              <a:t>无限循环群</a:t>
            </a:r>
            <a:r>
              <a:rPr lang="en-US" altLang="zh-CN" sz="1200" b="1" dirty="0">
                <a:latin typeface="Times New Roman" pitchFamily="18" charset="0"/>
              </a:rPr>
              <a:t>,</a:t>
            </a:r>
            <a:r>
              <a:rPr lang="zh-CN" altLang="en-US" sz="1200" b="1" dirty="0">
                <a:latin typeface="Times New Roman" pitchFamily="18" charset="0"/>
              </a:rPr>
              <a:t>即</a:t>
            </a:r>
            <a:r>
              <a:rPr lang="en-US" altLang="zh-CN" sz="1200" b="1" i="1" dirty="0">
                <a:latin typeface="Times New Roman" pitchFamily="18" charset="0"/>
              </a:rPr>
              <a:t>G </a:t>
            </a:r>
            <a:r>
              <a:rPr lang="en-US" altLang="zh-CN" sz="1200" b="1" dirty="0">
                <a:latin typeface="Times New Roman" pitchFamily="18" charset="0"/>
              </a:rPr>
              <a:t>= { </a:t>
            </a:r>
            <a:r>
              <a:rPr lang="en-US" altLang="zh-CN" sz="1200" b="1" i="1" dirty="0">
                <a:latin typeface="Times New Roman" pitchFamily="18" charset="0"/>
              </a:rPr>
              <a:t>a</a:t>
            </a:r>
            <a:r>
              <a:rPr lang="en-US" altLang="zh-CN" sz="1200" b="1" baseline="30000" dirty="0">
                <a:latin typeface="Times New Roman" pitchFamily="18" charset="0"/>
              </a:rPr>
              <a:t>±0</a:t>
            </a:r>
            <a:r>
              <a:rPr lang="en-US" altLang="zh-CN" sz="1200" b="1" dirty="0">
                <a:latin typeface="Times New Roman" pitchFamily="18" charset="0"/>
              </a:rPr>
              <a:t>=</a:t>
            </a:r>
            <a:r>
              <a:rPr lang="en-US" altLang="zh-CN" sz="1200" b="1" i="1" dirty="0">
                <a:latin typeface="Times New Roman" pitchFamily="18" charset="0"/>
              </a:rPr>
              <a:t>e</a:t>
            </a:r>
            <a:r>
              <a:rPr lang="en-US" altLang="zh-CN" sz="1200" b="1" dirty="0">
                <a:latin typeface="Times New Roman" pitchFamily="18" charset="0"/>
              </a:rPr>
              <a:t>, </a:t>
            </a:r>
            <a:r>
              <a:rPr lang="en-US" altLang="zh-CN" sz="1200" b="1" i="1" dirty="0">
                <a:latin typeface="Times New Roman" pitchFamily="18" charset="0"/>
              </a:rPr>
              <a:t>a</a:t>
            </a:r>
            <a:r>
              <a:rPr lang="en-US" altLang="zh-CN" sz="1200" b="1" baseline="30000" dirty="0">
                <a:latin typeface="Times New Roman" pitchFamily="18" charset="0"/>
              </a:rPr>
              <a:t>±1</a:t>
            </a:r>
            <a:r>
              <a:rPr lang="en-US" altLang="zh-CN" sz="1200" b="1" dirty="0">
                <a:latin typeface="Times New Roman" pitchFamily="18" charset="0"/>
              </a:rPr>
              <a:t>, </a:t>
            </a:r>
            <a:r>
              <a:rPr lang="en-US" altLang="zh-CN" sz="1200" b="1" i="1" dirty="0">
                <a:latin typeface="Times New Roman" pitchFamily="18" charset="0"/>
              </a:rPr>
              <a:t>a</a:t>
            </a:r>
            <a:r>
              <a:rPr lang="en-US" altLang="zh-CN" sz="1200" b="1" baseline="30000" dirty="0">
                <a:latin typeface="Times New Roman" pitchFamily="18" charset="0"/>
              </a:rPr>
              <a:t>±2</a:t>
            </a:r>
            <a:r>
              <a:rPr lang="en-US" altLang="zh-CN" sz="1200" b="1" dirty="0">
                <a:latin typeface="Times New Roman" pitchFamily="18" charset="0"/>
              </a:rPr>
              <a:t>, … }</a:t>
            </a:r>
          </a:p>
          <a:p>
            <a:pPr marL="72000" eaLnBrk="1" hangingPunct="1">
              <a:spcBef>
                <a:spcPts val="2400"/>
              </a:spcBef>
              <a:buFont typeface="Wingdings" panose="05000000000000000000" pitchFamily="2" charset="2"/>
              <a:buNone/>
              <a:defRPr/>
            </a:pPr>
            <a:endParaRPr lang="en-US" altLang="zh-CN" sz="1200" b="1" dirty="0">
              <a:latin typeface="Times New Roman" pitchFamily="18" charset="0"/>
            </a:endParaRPr>
          </a:p>
          <a:p>
            <a:pPr marL="0" indent="0" eaLnBrk="1" hangingPunct="1">
              <a:lnSpc>
                <a:spcPct val="90000"/>
              </a:lnSpc>
              <a:spcBef>
                <a:spcPts val="0"/>
              </a:spcBef>
              <a:buFont typeface="Wingdings" panose="05000000000000000000" pitchFamily="2" charset="2"/>
              <a:buNone/>
              <a:defRPr/>
            </a:pPr>
            <a:r>
              <a:rPr lang="zh-CN" altLang="en-US" sz="1200" b="1" dirty="0">
                <a:solidFill>
                  <a:srgbClr val="00B0F0"/>
                </a:solidFill>
              </a:rPr>
              <a:t>循环群实例</a:t>
            </a:r>
            <a:r>
              <a:rPr lang="en-US" altLang="zh-CN" sz="1200" b="1" dirty="0">
                <a:solidFill>
                  <a:srgbClr val="00B0F0"/>
                </a:solidFill>
              </a:rPr>
              <a:t>:</a:t>
            </a:r>
          </a:p>
          <a:p>
            <a:pPr marL="0" indent="0">
              <a:spcBef>
                <a:spcPts val="0"/>
              </a:spcBef>
              <a:buNone/>
              <a:defRPr/>
            </a:pPr>
            <a:r>
              <a:rPr lang="en-US" altLang="zh-CN" sz="1200" b="1" dirty="0"/>
              <a:t>(1)</a:t>
            </a:r>
            <a:r>
              <a:rPr lang="zh-CN" altLang="en-US" sz="1200" b="1" dirty="0">
                <a:latin typeface="Times New Roman" pitchFamily="18" charset="0"/>
              </a:rPr>
              <a:t>整数加群 </a:t>
            </a:r>
            <a:r>
              <a:rPr lang="en-US" altLang="zh-CN" sz="1200" b="1" i="1" dirty="0">
                <a:latin typeface="Times New Roman" pitchFamily="18" charset="0"/>
              </a:rPr>
              <a:t>G</a:t>
            </a:r>
            <a:r>
              <a:rPr lang="en-US" altLang="zh-CN" sz="1200" b="1" dirty="0">
                <a:latin typeface="Times New Roman" pitchFamily="18" charset="0"/>
              </a:rPr>
              <a:t> = &lt;Z,+&gt; = &lt;1&gt; = &lt; -1&gt;, </a:t>
            </a:r>
            <a:r>
              <a:rPr lang="zh-CN" altLang="en-US" sz="1200" b="1" dirty="0">
                <a:latin typeface="Times New Roman" pitchFamily="18" charset="0"/>
              </a:rPr>
              <a:t>是典型的无限循环群</a:t>
            </a:r>
            <a:r>
              <a:rPr lang="en-US" altLang="zh-CN" sz="1200" b="1" dirty="0">
                <a:latin typeface="Times New Roman" pitchFamily="18" charset="0"/>
              </a:rPr>
              <a:t>,</a:t>
            </a:r>
            <a:r>
              <a:rPr lang="zh-CN" altLang="en-US" sz="1200" b="1" dirty="0">
                <a:latin typeface="Times New Roman" pitchFamily="18" charset="0"/>
              </a:rPr>
              <a:t>有 </a:t>
            </a:r>
            <a:r>
              <a:rPr lang="en-US" altLang="zh-CN" sz="1200" b="1" dirty="0">
                <a:latin typeface="Times New Roman" pitchFamily="18" charset="0"/>
              </a:rPr>
              <a:t>2 </a:t>
            </a:r>
            <a:r>
              <a:rPr lang="zh-CN" altLang="en-US" sz="1200" b="1" dirty="0">
                <a:latin typeface="Times New Roman" pitchFamily="18" charset="0"/>
              </a:rPr>
              <a:t>个生成元</a:t>
            </a:r>
            <a:r>
              <a:rPr lang="en-US" altLang="zh-CN" sz="1200" b="1" dirty="0">
                <a:latin typeface="Times New Roman" pitchFamily="18" charset="0"/>
              </a:rPr>
              <a:t>.</a:t>
            </a:r>
          </a:p>
          <a:p>
            <a:pPr>
              <a:buNone/>
              <a:defRPr/>
            </a:pPr>
            <a:r>
              <a:rPr lang="en-US" altLang="zh-CN" sz="1200" b="1" dirty="0"/>
              <a:t>(2)</a:t>
            </a:r>
            <a:r>
              <a:rPr lang="zh-CN" altLang="en-US" sz="1200" b="1" dirty="0"/>
              <a:t>模 </a:t>
            </a:r>
            <a:r>
              <a:rPr lang="en-US" altLang="zh-CN" sz="1200" b="1" dirty="0">
                <a:latin typeface="Times New Roman" pitchFamily="18" charset="0"/>
              </a:rPr>
              <a:t>6 </a:t>
            </a:r>
            <a:r>
              <a:rPr lang="zh-CN" altLang="en-US" sz="1200" b="1" dirty="0">
                <a:latin typeface="Times New Roman" pitchFamily="18" charset="0"/>
              </a:rPr>
              <a:t>加群 </a:t>
            </a:r>
            <a:r>
              <a:rPr lang="en-US" altLang="zh-CN" sz="1200" b="1" dirty="0">
                <a:latin typeface="Times New Roman" pitchFamily="18" charset="0"/>
              </a:rPr>
              <a:t>G = &lt;Z</a:t>
            </a:r>
            <a:r>
              <a:rPr lang="en-US" altLang="zh-CN" sz="1200" b="1" baseline="-25000" dirty="0">
                <a:latin typeface="Times New Roman" pitchFamily="18" charset="0"/>
              </a:rPr>
              <a:t>6</a:t>
            </a:r>
            <a:r>
              <a:rPr lang="en-US" altLang="zh-CN" sz="1200" b="1" dirty="0">
                <a:latin typeface="Times New Roman" pitchFamily="18" charset="0"/>
              </a:rPr>
              <a:t>,</a:t>
            </a:r>
            <a:r>
              <a:rPr lang="en-US" altLang="zh-CN" sz="1200" b="1" dirty="0">
                <a:latin typeface="Times New Roman" pitchFamily="18" charset="0"/>
                <a:sym typeface="Symbol" pitchFamily="18" charset="2"/>
              </a:rPr>
              <a:t>&gt; = &lt;1&gt; = &lt;5&gt;</a:t>
            </a:r>
            <a:r>
              <a:rPr lang="en-US" altLang="zh-CN" sz="1200" b="1" dirty="0">
                <a:latin typeface="Times New Roman" pitchFamily="18" charset="0"/>
              </a:rPr>
              <a:t>, </a:t>
            </a:r>
            <a:r>
              <a:rPr lang="zh-CN" altLang="en-US" sz="1200" b="1" dirty="0">
                <a:latin typeface="Times New Roman" pitchFamily="18" charset="0"/>
              </a:rPr>
              <a:t>是</a:t>
            </a:r>
            <a:r>
              <a:rPr lang="en-US" altLang="zh-CN" sz="1200" b="1" dirty="0">
                <a:latin typeface="Times New Roman" pitchFamily="18" charset="0"/>
              </a:rPr>
              <a:t>6</a:t>
            </a:r>
            <a:r>
              <a:rPr lang="zh-CN" altLang="en-US" sz="1200" b="1" dirty="0">
                <a:latin typeface="Times New Roman" pitchFamily="18" charset="0"/>
              </a:rPr>
              <a:t>个元素的有限循环群</a:t>
            </a:r>
            <a:r>
              <a:rPr lang="en-US" altLang="zh-CN" sz="1200" b="1" dirty="0">
                <a:latin typeface="Times New Roman" pitchFamily="18" charset="0"/>
              </a:rPr>
              <a:t>,</a:t>
            </a:r>
            <a:r>
              <a:rPr lang="zh-CN" altLang="en-US" sz="1200" b="1" dirty="0">
                <a:latin typeface="Times New Roman" pitchFamily="18" charset="0"/>
              </a:rPr>
              <a:t>有 </a:t>
            </a:r>
            <a:r>
              <a:rPr lang="en-US" altLang="zh-CN" sz="1200" b="1" dirty="0">
                <a:latin typeface="Times New Roman" pitchFamily="18" charset="0"/>
              </a:rPr>
              <a:t>2 </a:t>
            </a:r>
            <a:r>
              <a:rPr lang="zh-CN" altLang="en-US" sz="1200" b="1" dirty="0">
                <a:latin typeface="Times New Roman" pitchFamily="18" charset="0"/>
              </a:rPr>
              <a:t>个生成元</a:t>
            </a:r>
            <a:r>
              <a:rPr lang="en-US" altLang="zh-CN" sz="1200" b="1" dirty="0">
                <a:latin typeface="Times New Roman" pitchFamily="18" charset="0"/>
              </a:rPr>
              <a:t>.</a:t>
            </a:r>
          </a:p>
          <a:p>
            <a:pPr>
              <a:buNone/>
              <a:defRPr/>
            </a:pPr>
            <a:endParaRPr lang="en-US" altLang="zh-CN" sz="1200" b="1" dirty="0">
              <a:latin typeface="Times New Roman" pitchFamily="18" charset="0"/>
            </a:endParaRPr>
          </a:p>
          <a:p>
            <a:pPr marL="72000">
              <a:buFont typeface="Wingdings" panose="05000000000000000000" pitchFamily="2" charset="2"/>
              <a:buNone/>
              <a:defRPr/>
            </a:pPr>
            <a:r>
              <a:rPr lang="en-US" altLang="zh-CN" sz="1400" b="1" i="1" dirty="0">
                <a:solidFill>
                  <a:srgbClr val="FF3300"/>
                </a:solidFill>
                <a:latin typeface="Times New Roman" pitchFamily="18" charset="0"/>
              </a:rPr>
              <a:t>n</a:t>
            </a:r>
            <a:r>
              <a:rPr lang="zh-CN" altLang="en-US" sz="1400" b="1" dirty="0">
                <a:solidFill>
                  <a:srgbClr val="FF3300"/>
                </a:solidFill>
                <a:latin typeface="Times New Roman" pitchFamily="18" charset="0"/>
              </a:rPr>
              <a:t>阶</a:t>
            </a:r>
            <a:r>
              <a:rPr lang="zh-CN" altLang="en-US" sz="1400" b="1" dirty="0">
                <a:solidFill>
                  <a:srgbClr val="FF0000"/>
                </a:solidFill>
                <a:latin typeface="Times New Roman" pitchFamily="18" charset="0"/>
              </a:rPr>
              <a:t>循环群</a:t>
            </a:r>
            <a:r>
              <a:rPr lang="en-US" altLang="zh-CN" sz="1400" b="1" dirty="0">
                <a:solidFill>
                  <a:srgbClr val="FF0000"/>
                </a:solidFill>
                <a:latin typeface="Times New Roman" pitchFamily="18" charset="0"/>
              </a:rPr>
              <a:t>&amp;</a:t>
            </a:r>
            <a:r>
              <a:rPr lang="zh-CN" altLang="en-US" sz="1400" b="1" dirty="0">
                <a:solidFill>
                  <a:srgbClr val="FF0000"/>
                </a:solidFill>
                <a:latin typeface="Times New Roman" pitchFamily="18" charset="0"/>
              </a:rPr>
              <a:t>无限循环群</a:t>
            </a:r>
            <a:r>
              <a:rPr lang="zh-CN" altLang="en-US" sz="1400" b="1" dirty="0">
                <a:solidFill>
                  <a:srgbClr val="FF3300"/>
                </a:solidFill>
                <a:latin typeface="Times New Roman" pitchFamily="18" charset="0"/>
              </a:rPr>
              <a:t>：</a:t>
            </a:r>
            <a:endParaRPr lang="en-US" altLang="zh-CN" sz="1400" b="1" dirty="0">
              <a:solidFill>
                <a:srgbClr val="FF3300"/>
              </a:solidFill>
              <a:latin typeface="Times New Roman" pitchFamily="18" charset="0"/>
            </a:endParaRPr>
          </a:p>
          <a:p>
            <a:pPr marL="72000">
              <a:buFont typeface="Wingdings" panose="05000000000000000000" pitchFamily="2" charset="2"/>
              <a:buNone/>
              <a:defRPr/>
            </a:pP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①</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根据群定义和群中元素幂运算定义</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对</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阶循环群和无限循环群中的任何元素</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1200" baseline="30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单位元</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p>
          <a:p>
            <a:pPr marL="72000">
              <a:buFont typeface="Wingdings" panose="05000000000000000000" pitchFamily="2" charset="2"/>
              <a:buNone/>
              <a:defRPr/>
            </a:pP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②</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阶循环群的周期性使得生成元</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1200" i="1" baseline="30000"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单位元</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1200" b="1" i="1" baseline="30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1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sz="1200" b="1"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b="1"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和 </a:t>
            </a:r>
            <a:r>
              <a:rPr lang="en-US" altLang="zh-CN" sz="1200"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1200" b="1" i="1" baseline="30000"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sz="1200" b="1"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是循环群的基本性质</a:t>
            </a:r>
            <a:r>
              <a:rPr lang="en-US" altLang="zh-CN" sz="12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确保了群的封闭性和周期性</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p>
          <a:p>
            <a:pPr marL="72000">
              <a:buFont typeface="Arial" panose="020B0604020202020204" pitchFamily="34" charset="0"/>
              <a:buNone/>
              <a:defRPr/>
            </a:pP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③</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所有</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阶循环群都是</a:t>
            </a:r>
            <a:r>
              <a:rPr lang="zh-CN" altLang="en-US" sz="1200" b="1" dirty="0">
                <a:latin typeface="Times New Roman" panose="02020603050405020304" pitchFamily="18" charset="0"/>
                <a:ea typeface="楷体" panose="02010609060101010101" pitchFamily="49" charset="-122"/>
                <a:cs typeface="Times New Roman" panose="02020603050405020304" pitchFamily="18" charset="0"/>
              </a:rPr>
              <a:t>同构</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的</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所有无限循环群也是</a:t>
            </a:r>
            <a:r>
              <a:rPr lang="zh-CN" altLang="en-US" sz="1200" b="1" dirty="0">
                <a:latin typeface="Times New Roman" panose="02020603050405020304" pitchFamily="18" charset="0"/>
                <a:ea typeface="楷体" panose="02010609060101010101" pitchFamily="49" charset="-122"/>
                <a:cs typeface="Times New Roman" panose="02020603050405020304" pitchFamily="18" charset="0"/>
              </a:rPr>
              <a:t>同构</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的</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p>
          <a:p>
            <a:pPr marL="72000">
              <a:buFont typeface="Wingdings" panose="05000000000000000000" pitchFamily="2" charset="2"/>
              <a:buNone/>
              <a:defRPr/>
            </a:pPr>
            <a:endParaRPr lang="en-US" altLang="zh-CN" sz="1200" b="1" dirty="0">
              <a:latin typeface="Times New Roman" pitchFamily="18" charset="0"/>
            </a:endParaRPr>
          </a:p>
          <a:p>
            <a:pPr>
              <a:buNone/>
              <a:defRPr/>
            </a:pPr>
            <a:endParaRPr lang="en-US" altLang="zh-CN" sz="1200" b="1" dirty="0">
              <a:latin typeface="Times New Roman" pitchFamily="18" charset="0"/>
            </a:endParaRPr>
          </a:p>
          <a:p>
            <a:pPr marL="72000" eaLnBrk="1" hangingPunct="1">
              <a:spcBef>
                <a:spcPts val="2400"/>
              </a:spcBef>
              <a:buFont typeface="Wingdings" panose="05000000000000000000" pitchFamily="2" charset="2"/>
              <a:buNone/>
              <a:defRPr/>
            </a:pPr>
            <a:endParaRPr lang="en-US" altLang="zh-CN" sz="1200" b="1" dirty="0">
              <a:latin typeface="Times New Roman" pitchFamily="18" charset="0"/>
            </a:endParaRPr>
          </a:p>
          <a:p>
            <a:pPr marL="72000" eaLnBrk="1" hangingPunct="1">
              <a:spcBef>
                <a:spcPts val="2400"/>
              </a:spcBef>
              <a:buFont typeface="Wingdings" panose="05000000000000000000" pitchFamily="2" charset="2"/>
              <a:buNone/>
              <a:defRPr/>
            </a:pPr>
            <a:endParaRPr lang="en-US" altLang="zh-CN" sz="1200" b="1" dirty="0">
              <a:latin typeface="Times New Roman" pitchFamily="18" charset="0"/>
            </a:endParaRPr>
          </a:p>
          <a:p>
            <a:pPr marL="72000" eaLnBrk="1" hangingPunct="1">
              <a:spcBef>
                <a:spcPts val="2400"/>
              </a:spcBef>
              <a:buFont typeface="Wingdings" panose="05000000000000000000" pitchFamily="2" charset="2"/>
              <a:buNone/>
              <a:defRPr/>
            </a:pPr>
            <a:endParaRPr lang="en-US" altLang="zh-CN" sz="1200" b="1" dirty="0">
              <a:latin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94</a:t>
            </a:fld>
            <a:endParaRPr lang="zh-CN" altLang="en-US"/>
          </a:p>
        </p:txBody>
      </p:sp>
    </p:spTree>
    <p:extLst>
      <p:ext uri="{BB962C8B-B14F-4D97-AF65-F5344CB8AC3E}">
        <p14:creationId xmlns:p14="http://schemas.microsoft.com/office/powerpoint/2010/main" val="146791505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72000" eaLnBrk="1" hangingPunct="1">
              <a:lnSpc>
                <a:spcPct val="90000"/>
              </a:lnSpc>
              <a:buFont typeface="Wingdings" panose="05000000000000000000" pitchFamily="2" charset="2"/>
              <a:buNone/>
              <a:defRPr/>
            </a:pPr>
            <a:r>
              <a:rPr lang="zh-CN" altLang="en-US" sz="1200" b="1" dirty="0">
                <a:solidFill>
                  <a:srgbClr val="FF3300"/>
                </a:solidFill>
                <a:latin typeface="Times New Roman" pitchFamily="18" charset="0"/>
              </a:rPr>
              <a:t>定义</a:t>
            </a:r>
            <a:r>
              <a:rPr lang="en-US" altLang="zh-CN" sz="1200" b="1" dirty="0">
                <a:solidFill>
                  <a:srgbClr val="FF3300"/>
                </a:solidFill>
                <a:latin typeface="Times New Roman" pitchFamily="18" charset="0"/>
              </a:rPr>
              <a:t>9.16</a:t>
            </a:r>
            <a:r>
              <a:rPr lang="zh-CN" altLang="en-US" sz="1200" b="1" dirty="0">
                <a:latin typeface="Times New Roman" pitchFamily="18" charset="0"/>
              </a:rPr>
              <a:t>  设 </a:t>
            </a:r>
            <a:r>
              <a:rPr lang="en-US" altLang="zh-CN" sz="1200" b="1" i="1" dirty="0">
                <a:latin typeface="Times New Roman" pitchFamily="18" charset="0"/>
              </a:rPr>
              <a:t>G </a:t>
            </a:r>
            <a:r>
              <a:rPr lang="zh-CN" altLang="en-US" sz="1200" b="1" dirty="0">
                <a:latin typeface="Times New Roman" pitchFamily="18" charset="0"/>
              </a:rPr>
              <a:t>是群</a:t>
            </a:r>
            <a:r>
              <a:rPr lang="en-US" altLang="zh-CN" sz="1200" b="1" dirty="0">
                <a:latin typeface="Times New Roman" pitchFamily="18" charset="0"/>
              </a:rPr>
              <a:t>, </a:t>
            </a:r>
            <a:r>
              <a:rPr lang="zh-CN" altLang="en-US" sz="1200" b="1" dirty="0">
                <a:latin typeface="Times New Roman" pitchFamily="18" charset="0"/>
              </a:rPr>
              <a:t>若存在 </a:t>
            </a:r>
            <a:r>
              <a:rPr lang="en-US" altLang="zh-CN" sz="1200" b="1" i="1" dirty="0" err="1">
                <a:latin typeface="Times New Roman" pitchFamily="18" charset="0"/>
              </a:rPr>
              <a:t>a</a:t>
            </a:r>
            <a:r>
              <a:rPr lang="en-US" altLang="zh-CN" sz="1200" b="1" dirty="0" err="1">
                <a:latin typeface="Times New Roman" pitchFamily="18" charset="0"/>
              </a:rPr>
              <a:t>∈</a:t>
            </a:r>
            <a:r>
              <a:rPr lang="en-US" altLang="zh-CN" sz="1200" b="1" i="1" dirty="0" err="1">
                <a:latin typeface="Times New Roman" pitchFamily="18" charset="0"/>
              </a:rPr>
              <a:t>G</a:t>
            </a:r>
            <a:r>
              <a:rPr lang="en-US" altLang="zh-CN" sz="1200" b="1" i="1" dirty="0">
                <a:latin typeface="Times New Roman" pitchFamily="18" charset="0"/>
              </a:rPr>
              <a:t> </a:t>
            </a:r>
            <a:r>
              <a:rPr lang="zh-CN" altLang="en-US" sz="1200" b="1" dirty="0">
                <a:latin typeface="Times New Roman" pitchFamily="18" charset="0"/>
              </a:rPr>
              <a:t>使得</a:t>
            </a:r>
            <a:r>
              <a:rPr lang="en-US" altLang="zh-CN" sz="1200" b="1" i="1" dirty="0">
                <a:latin typeface="Times New Roman" pitchFamily="18" charset="0"/>
              </a:rPr>
              <a:t>G </a:t>
            </a:r>
            <a:r>
              <a:rPr lang="en-US" altLang="zh-CN" sz="1200" b="1" dirty="0">
                <a:latin typeface="Times New Roman" pitchFamily="18" charset="0"/>
              </a:rPr>
              <a:t>= { </a:t>
            </a:r>
            <a:r>
              <a:rPr lang="en-US" altLang="zh-CN" sz="1200" b="1" i="1" dirty="0" err="1">
                <a:latin typeface="Times New Roman" pitchFamily="18" charset="0"/>
              </a:rPr>
              <a:t>a</a:t>
            </a:r>
            <a:r>
              <a:rPr lang="en-US" altLang="zh-CN" sz="1200" b="1" i="1" baseline="30000" dirty="0" err="1">
                <a:latin typeface="Times New Roman" pitchFamily="18" charset="0"/>
              </a:rPr>
              <a:t>k</a:t>
            </a:r>
            <a:r>
              <a:rPr lang="en-US" altLang="zh-CN" sz="1200" b="1" i="1" dirty="0">
                <a:latin typeface="Times New Roman" pitchFamily="18" charset="0"/>
              </a:rPr>
              <a:t> </a:t>
            </a:r>
            <a:r>
              <a:rPr lang="en-US" altLang="zh-CN" sz="1200" b="1" dirty="0">
                <a:latin typeface="Times New Roman" pitchFamily="18" charset="0"/>
              </a:rPr>
              <a:t>| </a:t>
            </a:r>
            <a:r>
              <a:rPr lang="en-US" altLang="zh-CN" sz="1200" b="1" i="1" dirty="0" err="1">
                <a:latin typeface="Times New Roman" pitchFamily="18" charset="0"/>
              </a:rPr>
              <a:t>k</a:t>
            </a:r>
            <a:r>
              <a:rPr lang="en-US" altLang="zh-CN" sz="1200" b="1" dirty="0" err="1">
                <a:latin typeface="Times New Roman" pitchFamily="18" charset="0"/>
              </a:rPr>
              <a:t>∈Z</a:t>
            </a:r>
            <a:r>
              <a:rPr lang="en-US" altLang="zh-CN" sz="1200" b="1" i="1" dirty="0">
                <a:latin typeface="Times New Roman" pitchFamily="18" charset="0"/>
              </a:rPr>
              <a:t> </a:t>
            </a:r>
            <a:r>
              <a:rPr lang="en-US" altLang="zh-CN" sz="1200" b="1" dirty="0">
                <a:latin typeface="Times New Roman" pitchFamily="18" charset="0"/>
              </a:rPr>
              <a:t>} </a:t>
            </a:r>
          </a:p>
          <a:p>
            <a:pPr marL="72000" eaLnBrk="1" hangingPunct="1">
              <a:lnSpc>
                <a:spcPct val="90000"/>
              </a:lnSpc>
              <a:buFont typeface="Wingdings" panose="05000000000000000000" pitchFamily="2" charset="2"/>
              <a:buNone/>
              <a:defRPr/>
            </a:pPr>
            <a:r>
              <a:rPr lang="zh-CN" altLang="en-US" sz="1200" b="1" dirty="0">
                <a:latin typeface="Times New Roman" pitchFamily="18" charset="0"/>
              </a:rPr>
              <a:t>称</a:t>
            </a:r>
            <a:r>
              <a:rPr lang="en-US" altLang="zh-CN" sz="1200" b="1" i="1" dirty="0">
                <a:latin typeface="Times New Roman" pitchFamily="18" charset="0"/>
              </a:rPr>
              <a:t>G</a:t>
            </a:r>
            <a:r>
              <a:rPr lang="zh-CN" altLang="en-US" sz="1200" b="1" dirty="0">
                <a:latin typeface="Times New Roman" pitchFamily="18" charset="0"/>
              </a:rPr>
              <a:t>是</a:t>
            </a:r>
            <a:r>
              <a:rPr lang="zh-CN" altLang="en-US" sz="1200" b="1" dirty="0">
                <a:solidFill>
                  <a:srgbClr val="FF3300"/>
                </a:solidFill>
                <a:latin typeface="Times New Roman" pitchFamily="18" charset="0"/>
              </a:rPr>
              <a:t>循环群</a:t>
            </a:r>
            <a:r>
              <a:rPr lang="en-US" altLang="zh-CN" sz="1200" b="1" dirty="0">
                <a:latin typeface="Times New Roman" pitchFamily="18" charset="0"/>
              </a:rPr>
              <a:t>,</a:t>
            </a:r>
            <a:r>
              <a:rPr lang="zh-CN" altLang="en-US" sz="1200" b="1" dirty="0">
                <a:latin typeface="Times New Roman" pitchFamily="18" charset="0"/>
              </a:rPr>
              <a:t>记作 </a:t>
            </a:r>
            <a:r>
              <a:rPr lang="en-US" altLang="zh-CN" sz="1200" b="1" i="1" dirty="0">
                <a:latin typeface="Times New Roman" pitchFamily="18" charset="0"/>
              </a:rPr>
              <a:t>G</a:t>
            </a:r>
            <a:r>
              <a:rPr lang="en-US" altLang="zh-CN" sz="1200" b="1" dirty="0">
                <a:latin typeface="Times New Roman" pitchFamily="18" charset="0"/>
              </a:rPr>
              <a:t>=&lt;</a:t>
            </a:r>
            <a:r>
              <a:rPr lang="en-US" altLang="zh-CN" sz="1200" b="1" i="1" dirty="0">
                <a:latin typeface="Times New Roman" pitchFamily="18" charset="0"/>
              </a:rPr>
              <a:t>a</a:t>
            </a:r>
            <a:r>
              <a:rPr lang="en-US" altLang="zh-CN" sz="1200" b="1" dirty="0">
                <a:latin typeface="Times New Roman" pitchFamily="18" charset="0"/>
              </a:rPr>
              <a:t>&gt;,</a:t>
            </a:r>
            <a:r>
              <a:rPr lang="zh-CN" altLang="en-US" sz="1200" b="1" dirty="0">
                <a:latin typeface="Times New Roman" pitchFamily="18" charset="0"/>
              </a:rPr>
              <a:t>称 </a:t>
            </a:r>
            <a:r>
              <a:rPr lang="en-US" altLang="zh-CN" sz="1200" b="1" i="1" dirty="0">
                <a:latin typeface="Times New Roman" pitchFamily="18" charset="0"/>
              </a:rPr>
              <a:t>a</a:t>
            </a:r>
            <a:r>
              <a:rPr lang="zh-CN" altLang="en-US" sz="1200" b="1" dirty="0">
                <a:latin typeface="Times New Roman" pitchFamily="18" charset="0"/>
              </a:rPr>
              <a:t>为 </a:t>
            </a:r>
            <a:r>
              <a:rPr lang="en-US" altLang="zh-CN" sz="1200" b="1" i="1" dirty="0">
                <a:latin typeface="Times New Roman" pitchFamily="18" charset="0"/>
              </a:rPr>
              <a:t>G </a:t>
            </a:r>
            <a:r>
              <a:rPr lang="zh-CN" altLang="en-US" sz="1200" b="1" dirty="0">
                <a:latin typeface="Times New Roman" pitchFamily="18" charset="0"/>
              </a:rPr>
              <a:t>的</a:t>
            </a:r>
            <a:r>
              <a:rPr lang="zh-CN" altLang="en-US" sz="1200" b="1" dirty="0">
                <a:solidFill>
                  <a:srgbClr val="FF3300"/>
                </a:solidFill>
                <a:latin typeface="Times New Roman" pitchFamily="18" charset="0"/>
              </a:rPr>
              <a:t>生成元</a:t>
            </a:r>
            <a:r>
              <a:rPr lang="en-US" altLang="zh-CN" sz="1200" b="1" dirty="0">
                <a:latin typeface="Times New Roman" pitchFamily="18" charset="0"/>
              </a:rPr>
              <a:t>.</a:t>
            </a:r>
            <a:endParaRPr lang="zh-CN" altLang="en-US" sz="1200" b="1" dirty="0">
              <a:solidFill>
                <a:srgbClr val="FF3300"/>
              </a:solidFill>
              <a:latin typeface="Times New Roman" pitchFamily="18" charset="0"/>
            </a:endParaRPr>
          </a:p>
          <a:p>
            <a:pPr marL="72000" eaLnBrk="1" hangingPunct="1">
              <a:spcBef>
                <a:spcPts val="2400"/>
              </a:spcBef>
              <a:buFont typeface="Wingdings" panose="05000000000000000000" pitchFamily="2" charset="2"/>
              <a:buNone/>
              <a:defRPr/>
            </a:pPr>
            <a:r>
              <a:rPr lang="zh-CN" altLang="en-US" sz="1200" b="1" dirty="0">
                <a:latin typeface="Times New Roman" pitchFamily="18" charset="0"/>
              </a:rPr>
              <a:t>设 </a:t>
            </a:r>
            <a:r>
              <a:rPr lang="en-US" altLang="zh-CN" sz="1200" b="1" i="1" dirty="0">
                <a:latin typeface="Times New Roman" pitchFamily="18" charset="0"/>
              </a:rPr>
              <a:t>G </a:t>
            </a:r>
            <a:r>
              <a:rPr lang="en-US" altLang="zh-CN" sz="1200" b="1" dirty="0">
                <a:latin typeface="Times New Roman" pitchFamily="18" charset="0"/>
              </a:rPr>
              <a:t>= &lt;</a:t>
            </a:r>
            <a:r>
              <a:rPr lang="en-US" altLang="zh-CN" sz="1200" b="1" i="1" dirty="0">
                <a:latin typeface="Times New Roman" pitchFamily="18" charset="0"/>
              </a:rPr>
              <a:t>a</a:t>
            </a:r>
            <a:r>
              <a:rPr lang="en-US" altLang="zh-CN" sz="1200" b="1" dirty="0">
                <a:latin typeface="Times New Roman" pitchFamily="18" charset="0"/>
              </a:rPr>
              <a:t>&gt;,</a:t>
            </a:r>
            <a:r>
              <a:rPr lang="zh-CN" altLang="en-US" sz="1200" b="1" dirty="0">
                <a:latin typeface="Times New Roman" pitchFamily="18" charset="0"/>
              </a:rPr>
              <a:t>若</a:t>
            </a:r>
            <a:r>
              <a:rPr lang="en-US" altLang="zh-CN" sz="1200" b="1" i="1" dirty="0">
                <a:latin typeface="Times New Roman" pitchFamily="18" charset="0"/>
              </a:rPr>
              <a:t>a</a:t>
            </a:r>
            <a:r>
              <a:rPr lang="zh-CN" altLang="en-US" sz="1200" b="1" dirty="0">
                <a:latin typeface="Times New Roman" pitchFamily="18" charset="0"/>
              </a:rPr>
              <a:t>是</a:t>
            </a:r>
            <a:r>
              <a:rPr lang="en-US" altLang="zh-CN" sz="1200" b="1" i="1" dirty="0">
                <a:latin typeface="Times New Roman" pitchFamily="18" charset="0"/>
              </a:rPr>
              <a:t>n</a:t>
            </a:r>
            <a:r>
              <a:rPr lang="zh-CN" altLang="en-US" sz="1200" b="1" dirty="0">
                <a:latin typeface="Times New Roman" pitchFamily="18" charset="0"/>
              </a:rPr>
              <a:t>阶元</a:t>
            </a:r>
            <a:r>
              <a:rPr lang="en-US" altLang="zh-CN" sz="1200" b="1" dirty="0">
                <a:latin typeface="Times New Roman" pitchFamily="18" charset="0"/>
              </a:rPr>
              <a:t>,</a:t>
            </a:r>
            <a:r>
              <a:rPr lang="zh-CN" altLang="en-US" sz="1200" b="1" dirty="0">
                <a:latin typeface="Times New Roman" pitchFamily="18" charset="0"/>
              </a:rPr>
              <a:t>则</a:t>
            </a:r>
            <a:r>
              <a:rPr lang="en-US" altLang="zh-CN" sz="1200" b="1" i="1" dirty="0">
                <a:latin typeface="Times New Roman" pitchFamily="18" charset="0"/>
              </a:rPr>
              <a:t>G</a:t>
            </a:r>
            <a:r>
              <a:rPr lang="zh-CN" altLang="en-US" sz="1200" b="1" dirty="0">
                <a:latin typeface="Times New Roman" pitchFamily="18" charset="0"/>
              </a:rPr>
              <a:t>为</a:t>
            </a:r>
            <a:r>
              <a:rPr lang="en-US" altLang="zh-CN" sz="1200" b="1" i="1" dirty="0">
                <a:solidFill>
                  <a:srgbClr val="FF3300"/>
                </a:solidFill>
                <a:latin typeface="Times New Roman" pitchFamily="18" charset="0"/>
              </a:rPr>
              <a:t>n</a:t>
            </a:r>
            <a:r>
              <a:rPr lang="zh-CN" altLang="en-US" sz="1200" b="1" dirty="0">
                <a:solidFill>
                  <a:srgbClr val="FF3300"/>
                </a:solidFill>
                <a:latin typeface="Times New Roman" pitchFamily="18" charset="0"/>
              </a:rPr>
              <a:t>阶循环群</a:t>
            </a:r>
            <a:r>
              <a:rPr lang="en-US" altLang="zh-CN" sz="1200" b="1" dirty="0">
                <a:latin typeface="Times New Roman" pitchFamily="18" charset="0"/>
              </a:rPr>
              <a:t>,</a:t>
            </a:r>
            <a:r>
              <a:rPr lang="zh-CN" altLang="en-US" sz="1200" b="1" dirty="0">
                <a:latin typeface="Times New Roman" pitchFamily="18" charset="0"/>
              </a:rPr>
              <a:t>即</a:t>
            </a:r>
            <a:r>
              <a:rPr lang="en-US" altLang="zh-CN" sz="1200" b="1" i="1" dirty="0">
                <a:latin typeface="Times New Roman" pitchFamily="18" charset="0"/>
              </a:rPr>
              <a:t>G </a:t>
            </a:r>
            <a:r>
              <a:rPr lang="en-US" altLang="zh-CN" sz="1200" b="1" dirty="0">
                <a:latin typeface="Times New Roman" pitchFamily="18" charset="0"/>
              </a:rPr>
              <a:t>= { </a:t>
            </a:r>
            <a:r>
              <a:rPr lang="en-US" altLang="zh-CN" sz="1200" b="1" i="1" dirty="0">
                <a:latin typeface="Times New Roman" pitchFamily="18" charset="0"/>
              </a:rPr>
              <a:t>a</a:t>
            </a:r>
            <a:r>
              <a:rPr lang="en-US" altLang="zh-CN" sz="1200" b="1" baseline="30000" dirty="0">
                <a:latin typeface="Times New Roman" pitchFamily="18" charset="0"/>
              </a:rPr>
              <a:t>0</a:t>
            </a:r>
            <a:r>
              <a:rPr lang="en-US" altLang="zh-CN" sz="1200" b="1" dirty="0">
                <a:latin typeface="Times New Roman" pitchFamily="18" charset="0"/>
              </a:rPr>
              <a:t>=</a:t>
            </a:r>
            <a:r>
              <a:rPr lang="en-US" altLang="zh-CN" sz="1200" b="1" i="1" dirty="0">
                <a:latin typeface="Times New Roman" pitchFamily="18" charset="0"/>
              </a:rPr>
              <a:t>e</a:t>
            </a:r>
            <a:r>
              <a:rPr lang="en-US" altLang="zh-CN" sz="1200" b="1" dirty="0">
                <a:latin typeface="Times New Roman" pitchFamily="18" charset="0"/>
              </a:rPr>
              <a:t>, </a:t>
            </a:r>
            <a:r>
              <a:rPr lang="en-US" altLang="zh-CN" sz="1200" b="1" i="1" dirty="0">
                <a:latin typeface="Times New Roman" pitchFamily="18" charset="0"/>
              </a:rPr>
              <a:t>a</a:t>
            </a:r>
            <a:r>
              <a:rPr lang="en-US" altLang="zh-CN" sz="1200" b="1" baseline="30000" dirty="0">
                <a:latin typeface="Times New Roman" pitchFamily="18" charset="0"/>
              </a:rPr>
              <a:t>1</a:t>
            </a:r>
            <a:r>
              <a:rPr lang="en-US" altLang="zh-CN" sz="1200" b="1" dirty="0">
                <a:latin typeface="Times New Roman" pitchFamily="18" charset="0"/>
              </a:rPr>
              <a:t>, </a:t>
            </a:r>
            <a:r>
              <a:rPr lang="en-US" altLang="zh-CN" sz="1200" b="1" i="1" dirty="0">
                <a:latin typeface="Times New Roman" pitchFamily="18" charset="0"/>
              </a:rPr>
              <a:t>a</a:t>
            </a:r>
            <a:r>
              <a:rPr lang="en-US" altLang="zh-CN" sz="1200" b="1" baseline="30000" dirty="0">
                <a:latin typeface="Times New Roman" pitchFamily="18" charset="0"/>
              </a:rPr>
              <a:t>2</a:t>
            </a:r>
            <a:r>
              <a:rPr lang="en-US" altLang="zh-CN" sz="1200" b="1" dirty="0">
                <a:latin typeface="Times New Roman" pitchFamily="18" charset="0"/>
              </a:rPr>
              <a:t>, … , </a:t>
            </a:r>
            <a:r>
              <a:rPr lang="en-US" altLang="zh-CN" sz="1200" b="1" i="1" dirty="0">
                <a:latin typeface="Times New Roman" pitchFamily="18" charset="0"/>
              </a:rPr>
              <a:t>a</a:t>
            </a:r>
            <a:r>
              <a:rPr lang="en-US" altLang="zh-CN" sz="1200" b="1" i="1" baseline="30000" dirty="0">
                <a:latin typeface="Times New Roman" pitchFamily="18" charset="0"/>
              </a:rPr>
              <a:t>n</a:t>
            </a:r>
            <a:r>
              <a:rPr lang="en-US" altLang="zh-CN" sz="1200" b="1" baseline="30000" dirty="0">
                <a:latin typeface="Times New Roman" pitchFamily="18" charset="0"/>
                <a:sym typeface="Symbol" pitchFamily="18" charset="2"/>
              </a:rPr>
              <a:t></a:t>
            </a:r>
            <a:r>
              <a:rPr lang="en-US" altLang="zh-CN" sz="1200" b="1" baseline="30000" dirty="0">
                <a:latin typeface="Times New Roman" pitchFamily="18" charset="0"/>
              </a:rPr>
              <a:t>1 </a:t>
            </a:r>
            <a:r>
              <a:rPr lang="en-US" altLang="zh-CN" sz="1200" b="1" dirty="0">
                <a:latin typeface="Times New Roman" pitchFamily="18" charset="0"/>
              </a:rPr>
              <a:t>},</a:t>
            </a:r>
            <a:r>
              <a:rPr lang="zh-CN" altLang="en-US" sz="1200" b="1" dirty="0">
                <a:latin typeface="Times New Roman" pitchFamily="18" charset="0"/>
              </a:rPr>
              <a:t>若 </a:t>
            </a:r>
            <a:r>
              <a:rPr lang="en-US" altLang="zh-CN" sz="1200" b="1" i="1" dirty="0">
                <a:latin typeface="Times New Roman" pitchFamily="18" charset="0"/>
              </a:rPr>
              <a:t>a</a:t>
            </a:r>
            <a:r>
              <a:rPr lang="zh-CN" altLang="en-US" sz="1200" b="1" dirty="0">
                <a:latin typeface="Times New Roman" pitchFamily="18" charset="0"/>
              </a:rPr>
              <a:t>是无限阶元</a:t>
            </a:r>
            <a:r>
              <a:rPr lang="en-US" altLang="zh-CN" sz="1200" b="1" dirty="0">
                <a:latin typeface="Times New Roman" pitchFamily="18" charset="0"/>
              </a:rPr>
              <a:t>,</a:t>
            </a:r>
            <a:r>
              <a:rPr lang="zh-CN" altLang="en-US" sz="1200" b="1" dirty="0">
                <a:latin typeface="Times New Roman" pitchFamily="18" charset="0"/>
              </a:rPr>
              <a:t>则 </a:t>
            </a:r>
            <a:r>
              <a:rPr lang="en-US" altLang="zh-CN" sz="1200" b="1" i="1" dirty="0">
                <a:latin typeface="Times New Roman" pitchFamily="18" charset="0"/>
              </a:rPr>
              <a:t>G </a:t>
            </a:r>
            <a:r>
              <a:rPr lang="zh-CN" altLang="en-US" sz="1200" b="1" dirty="0">
                <a:latin typeface="Times New Roman" pitchFamily="18" charset="0"/>
              </a:rPr>
              <a:t>为</a:t>
            </a:r>
            <a:r>
              <a:rPr lang="zh-CN" altLang="en-US" sz="1200" b="1" dirty="0">
                <a:solidFill>
                  <a:srgbClr val="FF3300"/>
                </a:solidFill>
                <a:latin typeface="Times New Roman" pitchFamily="18" charset="0"/>
              </a:rPr>
              <a:t>无限循环群</a:t>
            </a:r>
            <a:r>
              <a:rPr lang="en-US" altLang="zh-CN" sz="1200" b="1" dirty="0">
                <a:latin typeface="Times New Roman" pitchFamily="18" charset="0"/>
              </a:rPr>
              <a:t>,</a:t>
            </a:r>
            <a:r>
              <a:rPr lang="zh-CN" altLang="en-US" sz="1200" b="1" dirty="0">
                <a:latin typeface="Times New Roman" pitchFamily="18" charset="0"/>
              </a:rPr>
              <a:t>即</a:t>
            </a:r>
            <a:r>
              <a:rPr lang="en-US" altLang="zh-CN" sz="1200" b="1" i="1" dirty="0">
                <a:latin typeface="Times New Roman" pitchFamily="18" charset="0"/>
              </a:rPr>
              <a:t>G </a:t>
            </a:r>
            <a:r>
              <a:rPr lang="en-US" altLang="zh-CN" sz="1200" b="1" dirty="0">
                <a:latin typeface="Times New Roman" pitchFamily="18" charset="0"/>
              </a:rPr>
              <a:t>= { </a:t>
            </a:r>
            <a:r>
              <a:rPr lang="en-US" altLang="zh-CN" sz="1200" b="1" i="1" dirty="0">
                <a:latin typeface="Times New Roman" pitchFamily="18" charset="0"/>
              </a:rPr>
              <a:t>a</a:t>
            </a:r>
            <a:r>
              <a:rPr lang="en-US" altLang="zh-CN" sz="1200" b="1" baseline="30000" dirty="0">
                <a:latin typeface="Times New Roman" pitchFamily="18" charset="0"/>
              </a:rPr>
              <a:t>±0</a:t>
            </a:r>
            <a:r>
              <a:rPr lang="en-US" altLang="zh-CN" sz="1200" b="1" dirty="0">
                <a:latin typeface="Times New Roman" pitchFamily="18" charset="0"/>
              </a:rPr>
              <a:t>=</a:t>
            </a:r>
            <a:r>
              <a:rPr lang="en-US" altLang="zh-CN" sz="1200" b="1" i="1" dirty="0">
                <a:latin typeface="Times New Roman" pitchFamily="18" charset="0"/>
              </a:rPr>
              <a:t>e</a:t>
            </a:r>
            <a:r>
              <a:rPr lang="en-US" altLang="zh-CN" sz="1200" b="1" dirty="0">
                <a:latin typeface="Times New Roman" pitchFamily="18" charset="0"/>
              </a:rPr>
              <a:t>, </a:t>
            </a:r>
            <a:r>
              <a:rPr lang="en-US" altLang="zh-CN" sz="1200" b="1" i="1" dirty="0">
                <a:latin typeface="Times New Roman" pitchFamily="18" charset="0"/>
              </a:rPr>
              <a:t>a</a:t>
            </a:r>
            <a:r>
              <a:rPr lang="en-US" altLang="zh-CN" sz="1200" b="1" baseline="30000" dirty="0">
                <a:latin typeface="Times New Roman" pitchFamily="18" charset="0"/>
              </a:rPr>
              <a:t>±1</a:t>
            </a:r>
            <a:r>
              <a:rPr lang="en-US" altLang="zh-CN" sz="1200" b="1" dirty="0">
                <a:latin typeface="Times New Roman" pitchFamily="18" charset="0"/>
              </a:rPr>
              <a:t>, </a:t>
            </a:r>
            <a:r>
              <a:rPr lang="en-US" altLang="zh-CN" sz="1200" b="1" i="1" dirty="0">
                <a:latin typeface="Times New Roman" pitchFamily="18" charset="0"/>
              </a:rPr>
              <a:t>a</a:t>
            </a:r>
            <a:r>
              <a:rPr lang="en-US" altLang="zh-CN" sz="1200" b="1" baseline="30000" dirty="0">
                <a:latin typeface="Times New Roman" pitchFamily="18" charset="0"/>
              </a:rPr>
              <a:t>±2</a:t>
            </a:r>
            <a:r>
              <a:rPr lang="en-US" altLang="zh-CN" sz="1200" b="1" dirty="0">
                <a:latin typeface="Times New Roman" pitchFamily="18" charset="0"/>
              </a:rPr>
              <a:t>, … }</a:t>
            </a:r>
          </a:p>
          <a:p>
            <a:pPr marL="72000" eaLnBrk="1" hangingPunct="1">
              <a:spcBef>
                <a:spcPts val="2400"/>
              </a:spcBef>
              <a:buFont typeface="Wingdings" panose="05000000000000000000" pitchFamily="2" charset="2"/>
              <a:buNone/>
              <a:defRPr/>
            </a:pPr>
            <a:endParaRPr lang="en-US" altLang="zh-CN" sz="1200" b="1" dirty="0">
              <a:latin typeface="Times New Roman" pitchFamily="18" charset="0"/>
            </a:endParaRPr>
          </a:p>
          <a:p>
            <a:pPr marL="0" indent="0" eaLnBrk="1" hangingPunct="1">
              <a:lnSpc>
                <a:spcPct val="90000"/>
              </a:lnSpc>
              <a:spcBef>
                <a:spcPts val="0"/>
              </a:spcBef>
              <a:buFont typeface="Wingdings" panose="05000000000000000000" pitchFamily="2" charset="2"/>
              <a:buNone/>
              <a:defRPr/>
            </a:pPr>
            <a:r>
              <a:rPr lang="zh-CN" altLang="en-US" sz="1200" b="1" dirty="0">
                <a:solidFill>
                  <a:srgbClr val="00B0F0"/>
                </a:solidFill>
              </a:rPr>
              <a:t>循环群实例</a:t>
            </a:r>
            <a:r>
              <a:rPr lang="en-US" altLang="zh-CN" sz="1200" b="1" dirty="0">
                <a:solidFill>
                  <a:srgbClr val="00B0F0"/>
                </a:solidFill>
              </a:rPr>
              <a:t>:</a:t>
            </a:r>
          </a:p>
          <a:p>
            <a:pPr marL="0" indent="0">
              <a:spcBef>
                <a:spcPts val="0"/>
              </a:spcBef>
              <a:buNone/>
              <a:defRPr/>
            </a:pPr>
            <a:r>
              <a:rPr lang="en-US" altLang="zh-CN" sz="1200" b="1" dirty="0"/>
              <a:t>(1)</a:t>
            </a:r>
            <a:r>
              <a:rPr lang="zh-CN" altLang="en-US" sz="1200" b="1" dirty="0">
                <a:latin typeface="Times New Roman" pitchFamily="18" charset="0"/>
              </a:rPr>
              <a:t>整数加群 </a:t>
            </a:r>
            <a:r>
              <a:rPr lang="en-US" altLang="zh-CN" sz="1200" b="1" i="1" dirty="0">
                <a:latin typeface="Times New Roman" pitchFamily="18" charset="0"/>
              </a:rPr>
              <a:t>G</a:t>
            </a:r>
            <a:r>
              <a:rPr lang="en-US" altLang="zh-CN" sz="1200" b="1" dirty="0">
                <a:latin typeface="Times New Roman" pitchFamily="18" charset="0"/>
              </a:rPr>
              <a:t> = &lt;Z,+&gt; = &lt;1&gt; = &lt; -1&gt;, </a:t>
            </a:r>
            <a:r>
              <a:rPr lang="zh-CN" altLang="en-US" sz="1200" b="1" dirty="0">
                <a:latin typeface="Times New Roman" pitchFamily="18" charset="0"/>
              </a:rPr>
              <a:t>是典型的无限循环群</a:t>
            </a:r>
            <a:r>
              <a:rPr lang="en-US" altLang="zh-CN" sz="1200" b="1" dirty="0">
                <a:latin typeface="Times New Roman" pitchFamily="18" charset="0"/>
              </a:rPr>
              <a:t>,</a:t>
            </a:r>
            <a:r>
              <a:rPr lang="zh-CN" altLang="en-US" sz="1200" b="1" dirty="0">
                <a:latin typeface="Times New Roman" pitchFamily="18" charset="0"/>
              </a:rPr>
              <a:t>有 </a:t>
            </a:r>
            <a:r>
              <a:rPr lang="en-US" altLang="zh-CN" sz="1200" b="1" dirty="0">
                <a:latin typeface="Times New Roman" pitchFamily="18" charset="0"/>
              </a:rPr>
              <a:t>2 </a:t>
            </a:r>
            <a:r>
              <a:rPr lang="zh-CN" altLang="en-US" sz="1200" b="1" dirty="0">
                <a:latin typeface="Times New Roman" pitchFamily="18" charset="0"/>
              </a:rPr>
              <a:t>个生成元</a:t>
            </a:r>
            <a:r>
              <a:rPr lang="en-US" altLang="zh-CN" sz="1200" b="1" dirty="0">
                <a:latin typeface="Times New Roman" pitchFamily="18" charset="0"/>
              </a:rPr>
              <a:t>.</a:t>
            </a:r>
          </a:p>
          <a:p>
            <a:pPr>
              <a:buNone/>
              <a:defRPr/>
            </a:pPr>
            <a:r>
              <a:rPr lang="en-US" altLang="zh-CN" sz="1200" b="1" dirty="0"/>
              <a:t>(2)</a:t>
            </a:r>
            <a:r>
              <a:rPr lang="zh-CN" altLang="en-US" sz="1200" b="1" dirty="0"/>
              <a:t>模 </a:t>
            </a:r>
            <a:r>
              <a:rPr lang="en-US" altLang="zh-CN" sz="1200" b="1" dirty="0">
                <a:latin typeface="Times New Roman" pitchFamily="18" charset="0"/>
              </a:rPr>
              <a:t>6 </a:t>
            </a:r>
            <a:r>
              <a:rPr lang="zh-CN" altLang="en-US" sz="1200" b="1" dirty="0">
                <a:latin typeface="Times New Roman" pitchFamily="18" charset="0"/>
              </a:rPr>
              <a:t>加群 </a:t>
            </a:r>
            <a:r>
              <a:rPr lang="en-US" altLang="zh-CN" sz="1200" b="1" dirty="0">
                <a:latin typeface="Times New Roman" pitchFamily="18" charset="0"/>
              </a:rPr>
              <a:t>G = &lt;Z</a:t>
            </a:r>
            <a:r>
              <a:rPr lang="en-US" altLang="zh-CN" sz="1200" b="1" baseline="-25000" dirty="0">
                <a:latin typeface="Times New Roman" pitchFamily="18" charset="0"/>
              </a:rPr>
              <a:t>6</a:t>
            </a:r>
            <a:r>
              <a:rPr lang="en-US" altLang="zh-CN" sz="1200" b="1" dirty="0">
                <a:latin typeface="Times New Roman" pitchFamily="18" charset="0"/>
              </a:rPr>
              <a:t>,</a:t>
            </a:r>
            <a:r>
              <a:rPr lang="en-US" altLang="zh-CN" sz="1200" b="1" dirty="0">
                <a:latin typeface="Times New Roman" pitchFamily="18" charset="0"/>
                <a:sym typeface="Symbol" pitchFamily="18" charset="2"/>
              </a:rPr>
              <a:t>&gt; = &lt;1&gt; = &lt;5&gt;</a:t>
            </a:r>
            <a:r>
              <a:rPr lang="en-US" altLang="zh-CN" sz="1200" b="1" dirty="0">
                <a:latin typeface="Times New Roman" pitchFamily="18" charset="0"/>
              </a:rPr>
              <a:t>, </a:t>
            </a:r>
            <a:r>
              <a:rPr lang="zh-CN" altLang="en-US" sz="1200" b="1" dirty="0">
                <a:latin typeface="Times New Roman" pitchFamily="18" charset="0"/>
              </a:rPr>
              <a:t>是</a:t>
            </a:r>
            <a:r>
              <a:rPr lang="en-US" altLang="zh-CN" sz="1200" b="1" dirty="0">
                <a:latin typeface="Times New Roman" pitchFamily="18" charset="0"/>
              </a:rPr>
              <a:t>6</a:t>
            </a:r>
            <a:r>
              <a:rPr lang="zh-CN" altLang="en-US" sz="1200" b="1" dirty="0">
                <a:latin typeface="Times New Roman" pitchFamily="18" charset="0"/>
              </a:rPr>
              <a:t>个元素的有限循环群</a:t>
            </a:r>
            <a:r>
              <a:rPr lang="en-US" altLang="zh-CN" sz="1200" b="1" dirty="0">
                <a:latin typeface="Times New Roman" pitchFamily="18" charset="0"/>
              </a:rPr>
              <a:t>,</a:t>
            </a:r>
            <a:r>
              <a:rPr lang="zh-CN" altLang="en-US" sz="1200" b="1" dirty="0">
                <a:latin typeface="Times New Roman" pitchFamily="18" charset="0"/>
              </a:rPr>
              <a:t>有 </a:t>
            </a:r>
            <a:r>
              <a:rPr lang="en-US" altLang="zh-CN" sz="1200" b="1" dirty="0">
                <a:latin typeface="Times New Roman" pitchFamily="18" charset="0"/>
              </a:rPr>
              <a:t>2 </a:t>
            </a:r>
            <a:r>
              <a:rPr lang="zh-CN" altLang="en-US" sz="1200" b="1" dirty="0">
                <a:latin typeface="Times New Roman" pitchFamily="18" charset="0"/>
              </a:rPr>
              <a:t>个生成元</a:t>
            </a:r>
            <a:r>
              <a:rPr lang="en-US" altLang="zh-CN" sz="1200" b="1" dirty="0">
                <a:latin typeface="Times New Roman" pitchFamily="18" charset="0"/>
              </a:rPr>
              <a:t>.</a:t>
            </a:r>
          </a:p>
          <a:p>
            <a:pPr>
              <a:buNone/>
              <a:defRPr/>
            </a:pPr>
            <a:endParaRPr lang="en-US" altLang="zh-CN" sz="1200" b="1" dirty="0">
              <a:latin typeface="Times New Roman" pitchFamily="18" charset="0"/>
            </a:endParaRPr>
          </a:p>
          <a:p>
            <a:pPr marL="72000">
              <a:buFont typeface="Wingdings" panose="05000000000000000000" pitchFamily="2" charset="2"/>
              <a:buNone/>
              <a:defRPr/>
            </a:pPr>
            <a:r>
              <a:rPr lang="en-US" altLang="zh-CN" sz="1400" b="1" i="1" dirty="0">
                <a:solidFill>
                  <a:srgbClr val="FF3300"/>
                </a:solidFill>
                <a:latin typeface="Times New Roman" pitchFamily="18" charset="0"/>
              </a:rPr>
              <a:t>n</a:t>
            </a:r>
            <a:r>
              <a:rPr lang="zh-CN" altLang="en-US" sz="1400" b="1" dirty="0">
                <a:solidFill>
                  <a:srgbClr val="FF3300"/>
                </a:solidFill>
                <a:latin typeface="Times New Roman" pitchFamily="18" charset="0"/>
              </a:rPr>
              <a:t>阶</a:t>
            </a:r>
            <a:r>
              <a:rPr lang="zh-CN" altLang="en-US" sz="1400" b="1" dirty="0">
                <a:solidFill>
                  <a:srgbClr val="FF0000"/>
                </a:solidFill>
                <a:latin typeface="Times New Roman" pitchFamily="18" charset="0"/>
              </a:rPr>
              <a:t>循环群</a:t>
            </a:r>
            <a:r>
              <a:rPr lang="en-US" altLang="zh-CN" sz="1400" b="1" dirty="0">
                <a:solidFill>
                  <a:srgbClr val="FF0000"/>
                </a:solidFill>
                <a:latin typeface="Times New Roman" pitchFamily="18" charset="0"/>
              </a:rPr>
              <a:t>&amp;</a:t>
            </a:r>
            <a:r>
              <a:rPr lang="zh-CN" altLang="en-US" sz="1400" b="1" dirty="0">
                <a:solidFill>
                  <a:srgbClr val="FF0000"/>
                </a:solidFill>
                <a:latin typeface="Times New Roman" pitchFamily="18" charset="0"/>
              </a:rPr>
              <a:t>无限循环群</a:t>
            </a:r>
            <a:r>
              <a:rPr lang="zh-CN" altLang="en-US" sz="1400" b="1" dirty="0">
                <a:solidFill>
                  <a:srgbClr val="FF3300"/>
                </a:solidFill>
                <a:latin typeface="Times New Roman" pitchFamily="18" charset="0"/>
              </a:rPr>
              <a:t>：</a:t>
            </a:r>
            <a:endParaRPr lang="en-US" altLang="zh-CN" sz="1400" b="1" dirty="0">
              <a:solidFill>
                <a:srgbClr val="FF3300"/>
              </a:solidFill>
              <a:latin typeface="Times New Roman" pitchFamily="18" charset="0"/>
            </a:endParaRPr>
          </a:p>
          <a:p>
            <a:pPr marL="72000">
              <a:buFont typeface="Wingdings" panose="05000000000000000000" pitchFamily="2" charset="2"/>
              <a:buNone/>
              <a:defRPr/>
            </a:pP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①</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根据群定义和群中元素幂运算定义</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对</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阶循环群和无限循环群中的任何元素</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1200" baseline="30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单位元</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p>
          <a:p>
            <a:pPr marL="72000">
              <a:buFont typeface="Wingdings" panose="05000000000000000000" pitchFamily="2" charset="2"/>
              <a:buNone/>
              <a:defRPr/>
            </a:pP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②</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阶循环群的周期性使得生成元</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1200" i="1" baseline="30000"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单位元</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1200" b="1" i="1" baseline="30000" dirty="0">
                <a:latin typeface="Times New Roman" panose="02020603050405020304" pitchFamily="18" charset="0"/>
                <a:ea typeface="楷体" panose="02010609060101010101" pitchFamily="49" charset="-122"/>
                <a:cs typeface="Times New Roman" panose="02020603050405020304" pitchFamily="18" charset="0"/>
              </a:rPr>
              <a:t>0</a:t>
            </a:r>
            <a:r>
              <a:rPr lang="en-US" altLang="zh-CN" sz="1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sz="1200" b="1"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b="1"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和 </a:t>
            </a:r>
            <a:r>
              <a:rPr lang="en-US" altLang="zh-CN" sz="1200" b="1" i="1" dirty="0">
                <a:latin typeface="Times New Roman" panose="02020603050405020304" pitchFamily="18" charset="0"/>
                <a:ea typeface="楷体" panose="02010609060101010101" pitchFamily="49" charset="-122"/>
                <a:cs typeface="Times New Roman" panose="02020603050405020304" pitchFamily="18" charset="0"/>
              </a:rPr>
              <a:t>a</a:t>
            </a:r>
            <a:r>
              <a:rPr lang="en-US" altLang="zh-CN" sz="1200" b="1" i="1" baseline="30000"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sz="1200" b="1"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是循环群的基本性质</a:t>
            </a:r>
            <a:r>
              <a:rPr lang="en-US" altLang="zh-CN" sz="12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确保了群的封闭性和周期性</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p>
          <a:p>
            <a:pPr marL="72000">
              <a:buFont typeface="Arial" panose="020B0604020202020204" pitchFamily="34" charset="0"/>
              <a:buNone/>
              <a:defRPr/>
            </a:pP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③</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所有</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阶循环群都是</a:t>
            </a:r>
            <a:r>
              <a:rPr lang="zh-CN" altLang="en-US" sz="1200" b="1" dirty="0">
                <a:latin typeface="Times New Roman" panose="02020603050405020304" pitchFamily="18" charset="0"/>
                <a:ea typeface="楷体" panose="02010609060101010101" pitchFamily="49" charset="-122"/>
                <a:cs typeface="Times New Roman" panose="02020603050405020304" pitchFamily="18" charset="0"/>
              </a:rPr>
              <a:t>同构</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的</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所有无限循环群也是</a:t>
            </a:r>
            <a:r>
              <a:rPr lang="zh-CN" altLang="en-US" sz="1200" b="1" dirty="0">
                <a:latin typeface="Times New Roman" panose="02020603050405020304" pitchFamily="18" charset="0"/>
                <a:ea typeface="楷体" panose="02010609060101010101" pitchFamily="49" charset="-122"/>
                <a:cs typeface="Times New Roman" panose="02020603050405020304" pitchFamily="18" charset="0"/>
              </a:rPr>
              <a:t>同构</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的</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p>
          <a:p>
            <a:pPr marL="72000">
              <a:buFont typeface="Wingdings" panose="05000000000000000000" pitchFamily="2" charset="2"/>
              <a:buNone/>
              <a:defRPr/>
            </a:pPr>
            <a:endParaRPr lang="en-US" altLang="zh-CN" sz="1200" b="1" dirty="0">
              <a:latin typeface="Times New Roman" pitchFamily="18" charset="0"/>
            </a:endParaRPr>
          </a:p>
          <a:p>
            <a:pPr>
              <a:buNone/>
              <a:defRPr/>
            </a:pPr>
            <a:endParaRPr lang="en-US" altLang="zh-CN" sz="1200" b="1" dirty="0">
              <a:latin typeface="Times New Roman" pitchFamily="18" charset="0"/>
            </a:endParaRPr>
          </a:p>
          <a:p>
            <a:pPr marL="72000" eaLnBrk="1" hangingPunct="1">
              <a:spcBef>
                <a:spcPts val="2400"/>
              </a:spcBef>
              <a:buFont typeface="Wingdings" panose="05000000000000000000" pitchFamily="2" charset="2"/>
              <a:buNone/>
              <a:defRPr/>
            </a:pPr>
            <a:endParaRPr lang="en-US" altLang="zh-CN" sz="1200" b="1" dirty="0">
              <a:latin typeface="Times New Roman" pitchFamily="18" charset="0"/>
            </a:endParaRPr>
          </a:p>
          <a:p>
            <a:pPr marL="72000" eaLnBrk="1" hangingPunct="1">
              <a:spcBef>
                <a:spcPts val="2400"/>
              </a:spcBef>
              <a:buFont typeface="Wingdings" panose="05000000000000000000" pitchFamily="2" charset="2"/>
              <a:buNone/>
              <a:defRPr/>
            </a:pPr>
            <a:endParaRPr lang="en-US" altLang="zh-CN" sz="1200" b="1" dirty="0">
              <a:latin typeface="Times New Roman" pitchFamily="18" charset="0"/>
            </a:endParaRPr>
          </a:p>
          <a:p>
            <a:pPr marL="72000" eaLnBrk="1" hangingPunct="1">
              <a:spcBef>
                <a:spcPts val="2400"/>
              </a:spcBef>
              <a:buFont typeface="Wingdings" panose="05000000000000000000" pitchFamily="2" charset="2"/>
              <a:buNone/>
              <a:defRPr/>
            </a:pPr>
            <a:endParaRPr lang="en-US" altLang="zh-CN" sz="1200" b="1" dirty="0">
              <a:latin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95</a:t>
            </a:fld>
            <a:endParaRPr lang="zh-CN" altLang="en-US"/>
          </a:p>
        </p:txBody>
      </p:sp>
    </p:spTree>
    <p:extLst>
      <p:ext uri="{BB962C8B-B14F-4D97-AF65-F5344CB8AC3E}">
        <p14:creationId xmlns:p14="http://schemas.microsoft.com/office/powerpoint/2010/main" val="421346639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eaLnBrk="1" hangingPunct="1">
                  <a:lnSpc>
                    <a:spcPct val="12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定理</a:t>
                </a:r>
                <a:r>
                  <a:rPr lang="en-US" altLang="zh-CN" sz="1200" b="1" dirty="0">
                    <a:solidFill>
                      <a:srgbClr val="FF3300"/>
                    </a:solidFill>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a</a:t>
                </a:r>
                <a:r>
                  <a:rPr lang="en-US" altLang="zh-CN" sz="1200" b="1" dirty="0">
                    <a:latin typeface="Times New Roman" panose="02020603050405020304" pitchFamily="18" charset="0"/>
                    <a:cs typeface="Times New Roman" panose="02020603050405020304" pitchFamily="18" charset="0"/>
                  </a:rPr>
                  <a:t>&gt;</a:t>
                </a:r>
                <a:r>
                  <a:rPr lang="zh-CN" altLang="en-US" sz="1200" b="1" dirty="0">
                    <a:latin typeface="Times New Roman" panose="02020603050405020304" pitchFamily="18" charset="0"/>
                    <a:cs typeface="Times New Roman" panose="02020603050405020304" pitchFamily="18" charset="0"/>
                  </a:rPr>
                  <a:t>是循环群</a:t>
                </a:r>
                <a:r>
                  <a:rPr lang="en-US" altLang="zh-CN" sz="1200" b="1" dirty="0">
                    <a:latin typeface="Times New Roman" panose="02020603050405020304" pitchFamily="18" charset="0"/>
                    <a:cs typeface="Times New Roman" panose="02020603050405020304" pitchFamily="18" charset="0"/>
                  </a:rPr>
                  <a:t>.  </a:t>
                </a:r>
              </a:p>
              <a:p>
                <a:pPr eaLnBrk="1" hangingPunct="1">
                  <a:lnSpc>
                    <a:spcPct val="120000"/>
                  </a:lnSpc>
                  <a:buFontTx/>
                  <a:buNone/>
                </a:pPr>
                <a:r>
                  <a:rPr lang="en-US" altLang="zh-CN" sz="1200" b="1" dirty="0">
                    <a:latin typeface="Times New Roman" panose="02020603050405020304" pitchFamily="18" charset="0"/>
                    <a:cs typeface="Times New Roman" panose="02020603050405020304" pitchFamily="18" charset="0"/>
                  </a:rPr>
                  <a:t> (1) </a:t>
                </a:r>
                <a:r>
                  <a:rPr lang="zh-CN" altLang="en-US" sz="1200" b="1" dirty="0">
                    <a:latin typeface="Times New Roman" panose="02020603050405020304" pitchFamily="18" charset="0"/>
                    <a:cs typeface="Times New Roman" panose="02020603050405020304" pitchFamily="18" charset="0"/>
                  </a:rPr>
                  <a:t>若</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是无限循环群</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则</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只有两个生成元</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即 </a:t>
                </a:r>
                <a:r>
                  <a:rPr lang="en-US" altLang="zh-CN" sz="1200" b="1" i="1" dirty="0">
                    <a:latin typeface="Times New Roman" panose="02020603050405020304" pitchFamily="18" charset="0"/>
                    <a:cs typeface="Times New Roman" panose="02020603050405020304" pitchFamily="18" charset="0"/>
                  </a:rPr>
                  <a:t>a </a:t>
                </a:r>
                <a:r>
                  <a:rPr lang="zh-CN" altLang="en-US" sz="1200" b="1" dirty="0">
                    <a:latin typeface="Times New Roman" panose="02020603050405020304" pitchFamily="18" charset="0"/>
                    <a:cs typeface="Times New Roman" panose="02020603050405020304" pitchFamily="18" charset="0"/>
                  </a:rPr>
                  <a:t>和 </a:t>
                </a:r>
                <a:r>
                  <a:rPr lang="en-US" altLang="zh-CN" sz="1200" b="1" i="1" dirty="0">
                    <a:latin typeface="Times New Roman" panose="02020603050405020304" pitchFamily="18" charset="0"/>
                    <a:cs typeface="Times New Roman" panose="02020603050405020304" pitchFamily="18" charset="0"/>
                  </a:rPr>
                  <a:t>a</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 </a:t>
                </a:r>
              </a:p>
              <a:p>
                <a:pPr>
                  <a:lnSpc>
                    <a:spcPct val="120000"/>
                  </a:lnSpc>
                  <a:buNone/>
                </a:pPr>
                <a:r>
                  <a:rPr lang="en-US" altLang="zh-CN" sz="1200" b="1" dirty="0">
                    <a:latin typeface="Times New Roman" panose="02020603050405020304" pitchFamily="18" charset="0"/>
                    <a:cs typeface="Times New Roman" panose="02020603050405020304" pitchFamily="18" charset="0"/>
                  </a:rPr>
                  <a:t> (2) </a:t>
                </a:r>
                <a:r>
                  <a:rPr lang="zh-CN" altLang="en-US" sz="1200" b="1" dirty="0">
                    <a:latin typeface="Times New Roman" panose="02020603050405020304" pitchFamily="18" charset="0"/>
                    <a:cs typeface="Times New Roman" panose="02020603050405020304" pitchFamily="18" charset="0"/>
                  </a:rPr>
                  <a:t>若</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是 </a:t>
                </a:r>
                <a:r>
                  <a:rPr lang="en-US" altLang="zh-CN" sz="1200" b="1" i="1" dirty="0">
                    <a:latin typeface="Times New Roman" panose="02020603050405020304" pitchFamily="18" charset="0"/>
                    <a:cs typeface="Times New Roman" panose="02020603050405020304" pitchFamily="18" charset="0"/>
                  </a:rPr>
                  <a:t>n </a:t>
                </a:r>
                <a:r>
                  <a:rPr lang="zh-CN" altLang="en-US" sz="1200" b="1" dirty="0">
                    <a:latin typeface="Times New Roman" panose="02020603050405020304" pitchFamily="18" charset="0"/>
                    <a:cs typeface="Times New Roman" panose="02020603050405020304" pitchFamily="18" charset="0"/>
                  </a:rPr>
                  <a:t>阶循环群</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则</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含有</a:t>
                </a:r>
                <a14:m>
                  <m:oMath xmlns:m="http://schemas.openxmlformats.org/officeDocument/2006/math">
                    <m:r>
                      <a:rPr lang="zh-CN" altLang="en-US" sz="1200" b="1" i="1" smtClean="0">
                        <a:latin typeface="Cambria Math" panose="02040503050406030204" pitchFamily="18" charset="0"/>
                        <a:cs typeface="Times New Roman" panose="02020603050405020304" pitchFamily="18" charset="0"/>
                      </a:rPr>
                      <m:t>𝝋</m:t>
                    </m:r>
                    <m:d>
                      <m:dPr>
                        <m:ctrlPr>
                          <a:rPr lang="en-US" altLang="zh-CN" sz="1200" b="1" i="1" smtClean="0">
                            <a:latin typeface="Cambria Math" panose="02040503050406030204" pitchFamily="18" charset="0"/>
                            <a:cs typeface="Times New Roman" panose="02020603050405020304" pitchFamily="18" charset="0"/>
                          </a:rPr>
                        </m:ctrlPr>
                      </m:dPr>
                      <m:e>
                        <m:r>
                          <a:rPr lang="en-US" altLang="zh-CN" sz="1200" b="1" i="1">
                            <a:latin typeface="Cambria Math" panose="02040503050406030204" pitchFamily="18" charset="0"/>
                            <a:cs typeface="Times New Roman" panose="02020603050405020304" pitchFamily="18" charset="0"/>
                          </a:rPr>
                          <m:t>𝒏</m:t>
                        </m:r>
                      </m:e>
                    </m:d>
                  </m:oMath>
                </a14:m>
                <a:r>
                  <a:rPr lang="zh-CN" altLang="en-US" sz="1200" b="1" dirty="0">
                    <a:latin typeface="Times New Roman" panose="02020603050405020304" pitchFamily="18" charset="0"/>
                    <a:cs typeface="Times New Roman" panose="02020603050405020304" pitchFamily="18" charset="0"/>
                  </a:rPr>
                  <a:t>个生成元</a:t>
                </a:r>
                <a:r>
                  <a:rPr lang="en-US" altLang="zh-CN" sz="1200" b="1" dirty="0">
                    <a:latin typeface="Times New Roman" panose="02020603050405020304" pitchFamily="18" charset="0"/>
                    <a:cs typeface="Times New Roman" panose="02020603050405020304" pitchFamily="18" charset="0"/>
                  </a:rPr>
                  <a:t>,</a:t>
                </a:r>
                <a:r>
                  <a:rPr lang="zh-CN" altLang="en-US" sz="1400" b="1" dirty="0">
                    <a:latin typeface="Times New Roman" panose="02020603050405020304" pitchFamily="18" charset="0"/>
                    <a:cs typeface="Times New Roman" panose="02020603050405020304" pitchFamily="18" charset="0"/>
                  </a:rPr>
                  <a:t>也就是说</a:t>
                </a:r>
                <a:r>
                  <a:rPr lang="zh-CN" altLang="zh-CN" sz="1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400" b="1" i="1" dirty="0">
                    <a:solidFill>
                      <a:srgbClr val="0D0D0D"/>
                    </a:solidFill>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阶循环群</a:t>
                </a:r>
                <a:r>
                  <a:rPr lang="en-US" altLang="zh-CN" sz="1400" b="1" dirty="0">
                    <a:solidFill>
                      <a:srgbClr val="0D0D0D"/>
                    </a:solidFill>
                    <a:latin typeface="Times New Roman" panose="02020603050405020304" pitchFamily="18" charset="0"/>
                    <a:cs typeface="Times New Roman" panose="02020603050405020304" pitchFamily="18" charset="0"/>
                  </a:rPr>
                  <a:t>​</a:t>
                </a:r>
                <a:r>
                  <a:rPr lang="zh-CN" altLang="zh-CN" sz="1400" b="1" dirty="0">
                    <a:latin typeface="Times New Roman" panose="02020603050405020304" pitchFamily="18" charset="0"/>
                    <a:cs typeface="Times New Roman" panose="02020603050405020304" pitchFamily="18" charset="0"/>
                  </a:rPr>
                  <a:t>生成元的数量是与</a:t>
                </a:r>
                <a:r>
                  <a:rPr lang="zh-CN" altLang="zh-CN" sz="1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400" b="1" i="1" dirty="0">
                    <a:solidFill>
                      <a:srgbClr val="0D0D0D"/>
                    </a:solidFill>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互素的正整数的数量</a:t>
                </a:r>
                <a:r>
                  <a:rPr lang="en-US" altLang="zh-CN" sz="1400" b="1" dirty="0">
                    <a:latin typeface="Times New Roman" panose="02020603050405020304" pitchFamily="18" charset="0"/>
                    <a:cs typeface="Times New Roman" panose="02020603050405020304" pitchFamily="18" charset="0"/>
                  </a:rPr>
                  <a:t>.</a:t>
                </a:r>
              </a:p>
              <a:p>
                <a:pPr>
                  <a:lnSpc>
                    <a:spcPct val="120000"/>
                  </a:lnSpc>
                  <a:buNone/>
                </a:pPr>
                <a:r>
                  <a:rPr lang="en-US" altLang="zh-CN" sz="1200" b="1" dirty="0">
                    <a:latin typeface="Times New Roman" panose="02020603050405020304" pitchFamily="18" charset="0"/>
                    <a:cs typeface="Times New Roman" panose="02020603050405020304" pitchFamily="18" charset="0"/>
                  </a:rPr>
                  <a:t> (3) </a:t>
                </a:r>
                <a:r>
                  <a:rPr lang="zh-CN" altLang="en-US" sz="1200" b="1" dirty="0">
                    <a:latin typeface="Times New Roman" panose="02020603050405020304" pitchFamily="18" charset="0"/>
                    <a:cs typeface="Times New Roman" panose="02020603050405020304" pitchFamily="18" charset="0"/>
                  </a:rPr>
                  <a:t>对于任何小于</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且与</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互质的自然数 </a:t>
                </a:r>
                <a:r>
                  <a:rPr lang="en-US" altLang="zh-CN" sz="1200" b="1" i="1" dirty="0">
                    <a:latin typeface="Times New Roman" panose="02020603050405020304" pitchFamily="18" charset="0"/>
                    <a:cs typeface="Times New Roman" panose="02020603050405020304" pitchFamily="18" charset="0"/>
                  </a:rPr>
                  <a:t>r</a:t>
                </a:r>
                <a:r>
                  <a:rPr lang="en-US" altLang="zh-CN" sz="1200" b="1" dirty="0">
                    <a:latin typeface="Times New Roman" panose="02020603050405020304" pitchFamily="18" charset="0"/>
                    <a:cs typeface="Times New Roman" panose="02020603050405020304" pitchFamily="18" charset="0"/>
                  </a:rPr>
                  <a:t>, </a:t>
                </a:r>
                <a:r>
                  <a:rPr lang="en-US" altLang="zh-CN" sz="1200" b="1" i="1" dirty="0" err="1">
                    <a:latin typeface="Times New Roman" panose="02020603050405020304" pitchFamily="18" charset="0"/>
                    <a:cs typeface="Times New Roman" panose="02020603050405020304" pitchFamily="18" charset="0"/>
                  </a:rPr>
                  <a:t>a</a:t>
                </a:r>
                <a:r>
                  <a:rPr lang="en-US" altLang="zh-CN" sz="1200" b="1" i="1" baseline="30000" dirty="0" err="1">
                    <a:latin typeface="Times New Roman" panose="02020603050405020304" pitchFamily="18" charset="0"/>
                    <a:cs typeface="Times New Roman" panose="02020603050405020304" pitchFamily="18" charset="0"/>
                  </a:rPr>
                  <a:t>r</a:t>
                </a:r>
                <a:r>
                  <a:rPr lang="zh-CN" altLang="en-US" sz="1200" b="1" dirty="0">
                    <a:latin typeface="Times New Roman" panose="02020603050405020304" pitchFamily="18" charset="0"/>
                    <a:cs typeface="Times New Roman" panose="02020603050405020304" pitchFamily="18" charset="0"/>
                  </a:rPr>
                  <a:t>是都是</a:t>
                </a:r>
                <a:r>
                  <a:rPr lang="en-US" altLang="zh-CN" sz="1200" b="1" i="1" dirty="0">
                    <a:latin typeface="Times New Roman" panose="02020603050405020304" pitchFamily="18" charset="0"/>
                    <a:cs typeface="Times New Roman" panose="02020603050405020304" pitchFamily="18" charset="0"/>
                  </a:rPr>
                  <a:t>n </a:t>
                </a:r>
                <a:r>
                  <a:rPr lang="zh-CN" altLang="en-US" sz="1200" b="1" dirty="0">
                    <a:latin typeface="Times New Roman" panose="02020603050405020304" pitchFamily="18" charset="0"/>
                    <a:cs typeface="Times New Roman" panose="02020603050405020304" pitchFamily="18" charset="0"/>
                  </a:rPr>
                  <a:t>阶循环群</a:t>
                </a:r>
                <a:r>
                  <a:rPr lang="en-US" altLang="zh-CN" sz="1200" b="1" i="1" dirty="0">
                    <a:latin typeface="Times New Roman" panose="02020603050405020304" pitchFamily="18" charset="0"/>
                    <a:cs typeface="Times New Roman" panose="02020603050405020304" pitchFamily="18" charset="0"/>
                  </a:rPr>
                  <a:t>G </a:t>
                </a:r>
                <a:r>
                  <a:rPr lang="zh-CN" altLang="en-US" sz="1200" b="1" dirty="0">
                    <a:latin typeface="Times New Roman" panose="02020603050405020304" pitchFamily="18" charset="0"/>
                    <a:cs typeface="Times New Roman" panose="02020603050405020304" pitchFamily="18" charset="0"/>
                  </a:rPr>
                  <a:t>的生成元</a:t>
                </a:r>
                <a:r>
                  <a:rPr lang="en-US" altLang="zh-CN" sz="1200" b="1" dirty="0">
                    <a:latin typeface="Times New Roman" panose="02020603050405020304" pitchFamily="18" charset="0"/>
                    <a:cs typeface="Times New Roman" panose="02020603050405020304" pitchFamily="18" charset="0"/>
                  </a:rPr>
                  <a:t>. </a:t>
                </a:r>
              </a:p>
              <a:p>
                <a:r>
                  <a:rPr lang="zh-CN" altLang="en-US" sz="1200" b="1" dirty="0">
                    <a:solidFill>
                      <a:srgbClr val="00B0F0"/>
                    </a:solidFill>
                    <a:latin typeface="Times New Roman" panose="02020603050405020304" pitchFamily="18" charset="0"/>
                    <a:cs typeface="Times New Roman" panose="02020603050405020304" pitchFamily="18" charset="0"/>
                  </a:rPr>
                  <a:t>注：</a:t>
                </a:r>
                <a:r>
                  <a:rPr lang="zh-CN" altLang="en-US" sz="1100" b="1" dirty="0">
                    <a:latin typeface="Calibri" panose="020F0502020204030204" pitchFamily="34" charset="0"/>
                    <a:cs typeface="Calibri" panose="020F0502020204030204" pitchFamily="34" charset="0"/>
                  </a:rPr>
                  <a:t>①</a:t>
                </a:r>
                <a14:m>
                  <m:oMath xmlns:m="http://schemas.openxmlformats.org/officeDocument/2006/math">
                    <m:r>
                      <a:rPr lang="zh-CN" altLang="en-US" sz="1100" b="0" i="1" smtClean="0">
                        <a:latin typeface="Cambria Math" panose="02040503050406030204" pitchFamily="18" charset="0"/>
                        <a:cs typeface="Times New Roman" panose="02020603050405020304" pitchFamily="18" charset="0"/>
                      </a:rPr>
                      <m:t>𝜑</m:t>
                    </m:r>
                    <m:d>
                      <m:dPr>
                        <m:ctrlPr>
                          <a:rPr lang="en-US" altLang="zh-CN" sz="1100" i="1" smtClean="0">
                            <a:latin typeface="Cambria Math" panose="02040503050406030204" pitchFamily="18" charset="0"/>
                            <a:cs typeface="Times New Roman" panose="02020603050405020304" pitchFamily="18" charset="0"/>
                          </a:rPr>
                        </m:ctrlPr>
                      </m:dPr>
                      <m:e>
                        <m:r>
                          <a:rPr lang="en-US" altLang="zh-CN" sz="1100" b="0" i="1">
                            <a:latin typeface="Cambria Math" panose="02040503050406030204" pitchFamily="18" charset="0"/>
                            <a:cs typeface="Times New Roman" panose="02020603050405020304" pitchFamily="18" charset="0"/>
                          </a:rPr>
                          <m:t>𝑛</m:t>
                        </m:r>
                      </m:e>
                    </m:d>
                  </m:oMath>
                </a14:m>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为</a:t>
                </a:r>
                <a:r>
                  <a:rPr lang="zh-CN" altLang="en-US" sz="1100" dirty="0">
                    <a:solidFill>
                      <a:srgbClr val="FF3300"/>
                    </a:solidFill>
                    <a:latin typeface="Times New Roman" panose="02020603050405020304" pitchFamily="18" charset="0"/>
                    <a:ea typeface="楷体" panose="02010609060101010101" pitchFamily="49" charset="-122"/>
                    <a:cs typeface="Times New Roman" panose="02020603050405020304" pitchFamily="18" charset="0"/>
                  </a:rPr>
                  <a:t>欧拉函数</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{0, 1, … ,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1}</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中</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与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互素的整数个数</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可用质因数分解法求解</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②</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如果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是素数</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那么</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1,2,…,</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−1 </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都与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互素</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生成元的数量为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−1 . </a:t>
                </a:r>
                <a:r>
                  <a:rPr lang="en-US" altLang="zh-CN" sz="1100" dirty="0">
                    <a:latin typeface="Calibri" panose="020F0502020204030204" pitchFamily="34" charset="0"/>
                    <a:ea typeface="楷体" panose="02010609060101010101" pitchFamily="49" charset="-122"/>
                    <a:cs typeface="Calibri" panose="020F0502020204030204" pitchFamily="34" charset="0"/>
                  </a:rPr>
                  <a:t>③</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如果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是合数</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生成元的数量数量就是</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φ</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的值</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p>
              <a:p>
                <a:pPr>
                  <a:lnSpc>
                    <a:spcPct val="120000"/>
                  </a:lnSpc>
                  <a:spcBef>
                    <a:spcPct val="50000"/>
                  </a:spcBef>
                  <a:buFont typeface="Arial" panose="020B0604020202020204" pitchFamily="34" charset="0"/>
                  <a:buNone/>
                </a:pPr>
                <a:r>
                  <a:rPr lang="zh-CN" altLang="en-US" sz="1200" b="1" dirty="0">
                    <a:solidFill>
                      <a:srgbClr val="00B0F0"/>
                    </a:solidFill>
                    <a:latin typeface="Times New Roman" panose="02020603050405020304" pitchFamily="18" charset="0"/>
                    <a:cs typeface="Times New Roman" panose="02020603050405020304" pitchFamily="18" charset="0"/>
                  </a:rPr>
                  <a:t>例</a:t>
                </a:r>
                <a:r>
                  <a:rPr lang="en-US" altLang="zh-CN" sz="1200" b="1" dirty="0">
                    <a:solidFill>
                      <a:srgbClr val="00B0F0"/>
                    </a:solidFill>
                    <a:latin typeface="Times New Roman" panose="02020603050405020304" pitchFamily="18" charset="0"/>
                    <a:cs typeface="Times New Roman" panose="02020603050405020304" pitchFamily="18" charset="0"/>
                  </a:rPr>
                  <a:t>:</a:t>
                </a:r>
                <a:r>
                  <a:rPr lang="zh-CN" altLang="en-US" sz="1200" b="1" dirty="0">
                    <a:solidFill>
                      <a:srgbClr val="00B0F0"/>
                    </a:solidFill>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=12</a:t>
                </a:r>
                <a:r>
                  <a:rPr lang="zh-CN" altLang="zh-CN" sz="1200" b="1" dirty="0">
                    <a:latin typeface="Times New Roman" panose="02020603050405020304" pitchFamily="18" charset="0"/>
                    <a:cs typeface="Times New Roman" panose="02020603050405020304" pitchFamily="18" charset="0"/>
                  </a:rPr>
                  <a:t>时</a:t>
                </a:r>
                <a:r>
                  <a:rPr lang="en-US" altLang="zh-CN" sz="1200" b="1" dirty="0">
                    <a:latin typeface="Times New Roman" panose="02020603050405020304" pitchFamily="18" charset="0"/>
                    <a:cs typeface="Times New Roman" panose="02020603050405020304" pitchFamily="18" charset="0"/>
                  </a:rPr>
                  <a:t>, 12=2</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·3,</a:t>
                </a:r>
                <a14:m>
                  <m:oMath xmlns:m="http://schemas.openxmlformats.org/officeDocument/2006/math">
                    <m:r>
                      <a:rPr lang="en-US" altLang="zh-CN" sz="1200" b="1" smtClean="0">
                        <a:latin typeface="Cambria Math" panose="02040503050406030204" pitchFamily="18" charset="0"/>
                        <a:cs typeface="Times New Roman" panose="02020603050405020304" pitchFamily="18" charset="0"/>
                      </a:rPr>
                      <m:t>    </m:t>
                    </m:r>
                    <m:r>
                      <a:rPr lang="zh-CN" altLang="en-US" sz="1200" b="1" i="1">
                        <a:latin typeface="Cambria Math" panose="02040503050406030204" pitchFamily="18" charset="0"/>
                        <a:cs typeface="Times New Roman" panose="02020603050405020304" pitchFamily="18" charset="0"/>
                      </a:rPr>
                      <m:t>𝝋</m:t>
                    </m:r>
                    <m:d>
                      <m:dPr>
                        <m:ctrlPr>
                          <a:rPr lang="en-US" altLang="zh-CN" sz="1200" b="1" i="1">
                            <a:latin typeface="Cambria Math" panose="02040503050406030204" pitchFamily="18" charset="0"/>
                            <a:cs typeface="Times New Roman" panose="02020603050405020304" pitchFamily="18" charset="0"/>
                          </a:rPr>
                        </m:ctrlPr>
                      </m:dPr>
                      <m:e>
                        <m:r>
                          <a:rPr lang="en-US" altLang="zh-CN" sz="1200" b="1" i="1">
                            <a:latin typeface="Cambria Math" panose="02040503050406030204" pitchFamily="18" charset="0"/>
                            <a:cs typeface="Times New Roman" panose="02020603050405020304" pitchFamily="18" charset="0"/>
                          </a:rPr>
                          <m:t>𝟏</m:t>
                        </m:r>
                        <m:r>
                          <a:rPr lang="en-US" altLang="zh-CN" sz="1200" b="1" i="1" smtClean="0">
                            <a:latin typeface="Cambria Math" panose="02040503050406030204" pitchFamily="18" charset="0"/>
                            <a:cs typeface="Times New Roman" panose="02020603050405020304" pitchFamily="18" charset="0"/>
                          </a:rPr>
                          <m:t>𝟐</m:t>
                        </m:r>
                      </m:e>
                    </m:d>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m:t>
                    </m:r>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𝟏𝟐</m:t>
                    </m:r>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𝟏</m:t>
                        </m:r>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𝟏</m:t>
                            </m:r>
                          </m:num>
                          <m:den>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𝟐</m:t>
                            </m:r>
                          </m:den>
                        </m:f>
                      </m:e>
                    </m:d>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d>
                      <m:dP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𝟏</m:t>
                        </m:r>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𝟏</m:t>
                            </m:r>
                          </m:num>
                          <m:den>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𝟑</m:t>
                            </m:r>
                          </m:den>
                        </m:f>
                      </m:e>
                    </m:d>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𝟒</m:t>
                    </m:r>
                  </m:oMath>
                </a14:m>
                <a:endParaRPr lang="en-US"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20000"/>
                  </a:lnSpc>
                  <a:spcBef>
                    <a:spcPct val="50000"/>
                  </a:spcBef>
                  <a:spcAft>
                    <a:spcPts val="0"/>
                  </a:spcAft>
                  <a:buClrTx/>
                  <a:buSzTx/>
                  <a:buFont typeface="Arial" panose="020B0604020202020204" pitchFamily="34" charset="0"/>
                  <a:buNone/>
                  <a:tabLst/>
                  <a:defRPr/>
                </a:pPr>
                <a:r>
                  <a:rPr lang="en-US" altLang="zh-CN" sz="1200" dirty="0">
                    <a:solidFill>
                      <a:srgbClr val="0D0D0D"/>
                    </a:solidFill>
                    <a:latin typeface="Times New Roman" panose="02020603050405020304" pitchFamily="18" charset="0"/>
                    <a:cs typeface="Times New Roman" panose="02020603050405020304" pitchFamily="18" charset="0"/>
                  </a:rPr>
                  <a:t>1 </a:t>
                </a:r>
                <a:r>
                  <a:rPr lang="zh-CN" altLang="en-US" sz="1200" dirty="0">
                    <a:solidFill>
                      <a:srgbClr val="0D0D0D"/>
                    </a:solidFill>
                    <a:latin typeface="Times New Roman" panose="02020603050405020304" pitchFamily="18" charset="0"/>
                    <a:cs typeface="Times New Roman" panose="02020603050405020304" pitchFamily="18" charset="0"/>
                  </a:rPr>
                  <a:t>到 </a:t>
                </a:r>
                <a:r>
                  <a:rPr lang="en-US" altLang="zh-CN" sz="1200" dirty="0">
                    <a:solidFill>
                      <a:srgbClr val="0D0D0D"/>
                    </a:solidFill>
                    <a:latin typeface="Times New Roman" panose="02020603050405020304" pitchFamily="18" charset="0"/>
                    <a:cs typeface="Times New Roman" panose="02020603050405020304" pitchFamily="18" charset="0"/>
                  </a:rPr>
                  <a:t>12 </a:t>
                </a:r>
                <a:r>
                  <a:rPr lang="zh-CN" altLang="en-US" sz="1200" dirty="0">
                    <a:solidFill>
                      <a:srgbClr val="0D0D0D"/>
                    </a:solidFill>
                    <a:latin typeface="Times New Roman" panose="02020603050405020304" pitchFamily="18" charset="0"/>
                    <a:cs typeface="Times New Roman" panose="02020603050405020304" pitchFamily="18" charset="0"/>
                  </a:rPr>
                  <a:t>之间与 </a:t>
                </a:r>
                <a:r>
                  <a:rPr lang="en-US" altLang="zh-CN" sz="1200" dirty="0">
                    <a:solidFill>
                      <a:srgbClr val="0D0D0D"/>
                    </a:solidFill>
                    <a:latin typeface="Times New Roman" panose="02020603050405020304" pitchFamily="18" charset="0"/>
                    <a:cs typeface="Times New Roman" panose="02020603050405020304" pitchFamily="18" charset="0"/>
                  </a:rPr>
                  <a:t>12 </a:t>
                </a:r>
                <a:r>
                  <a:rPr lang="zh-CN" altLang="en-US" sz="1200" dirty="0">
                    <a:solidFill>
                      <a:srgbClr val="0D0D0D"/>
                    </a:solidFill>
                    <a:latin typeface="Times New Roman" panose="02020603050405020304" pitchFamily="18" charset="0"/>
                    <a:cs typeface="Times New Roman" panose="02020603050405020304" pitchFamily="18" charset="0"/>
                  </a:rPr>
                  <a:t>互质的整数共有 </a:t>
                </a:r>
                <a:r>
                  <a:rPr lang="en-US" altLang="zh-CN" sz="1200" dirty="0">
                    <a:solidFill>
                      <a:srgbClr val="0D0D0D"/>
                    </a:solidFill>
                    <a:latin typeface="Times New Roman" panose="02020603050405020304" pitchFamily="18" charset="0"/>
                    <a:cs typeface="Times New Roman" panose="02020603050405020304" pitchFamily="18" charset="0"/>
                  </a:rPr>
                  <a:t>4 </a:t>
                </a:r>
                <a:r>
                  <a:rPr lang="zh-CN" altLang="en-US" sz="1200" dirty="0">
                    <a:solidFill>
                      <a:srgbClr val="0D0D0D"/>
                    </a:solidFill>
                    <a:latin typeface="Times New Roman" panose="02020603050405020304" pitchFamily="18" charset="0"/>
                    <a:cs typeface="Times New Roman" panose="02020603050405020304" pitchFamily="18" charset="0"/>
                  </a:rPr>
                  <a:t>个</a:t>
                </a:r>
                <a:r>
                  <a:rPr lang="en-US" altLang="zh-CN" sz="1200" dirty="0">
                    <a:solidFill>
                      <a:srgbClr val="0D0D0D"/>
                    </a:solidFill>
                    <a:latin typeface="Times New Roman" panose="02020603050405020304" pitchFamily="18" charset="0"/>
                    <a:cs typeface="Times New Roman" panose="02020603050405020304" pitchFamily="18" charset="0"/>
                  </a:rPr>
                  <a:t>(1</a:t>
                </a:r>
                <a:r>
                  <a:rPr lang="zh-CN" altLang="en-US" sz="1200" dirty="0">
                    <a:solidFill>
                      <a:srgbClr val="0D0D0D"/>
                    </a:solidFill>
                    <a:latin typeface="Times New Roman" panose="02020603050405020304" pitchFamily="18" charset="0"/>
                    <a:cs typeface="Times New Roman" panose="02020603050405020304" pitchFamily="18" charset="0"/>
                  </a:rPr>
                  <a:t>、</a:t>
                </a:r>
                <a:r>
                  <a:rPr lang="en-US" altLang="zh-CN" sz="1200" dirty="0">
                    <a:solidFill>
                      <a:srgbClr val="0D0D0D"/>
                    </a:solidFill>
                    <a:latin typeface="Times New Roman" panose="02020603050405020304" pitchFamily="18" charset="0"/>
                    <a:cs typeface="Times New Roman" panose="02020603050405020304" pitchFamily="18" charset="0"/>
                  </a:rPr>
                  <a:t>5</a:t>
                </a:r>
                <a:r>
                  <a:rPr lang="zh-CN" altLang="en-US" sz="1200" dirty="0">
                    <a:solidFill>
                      <a:srgbClr val="0D0D0D"/>
                    </a:solidFill>
                    <a:latin typeface="Times New Roman" panose="02020603050405020304" pitchFamily="18" charset="0"/>
                    <a:cs typeface="Times New Roman" panose="02020603050405020304" pitchFamily="18" charset="0"/>
                  </a:rPr>
                  <a:t>、</a:t>
                </a:r>
                <a:r>
                  <a:rPr lang="en-US" altLang="zh-CN" sz="1200" dirty="0">
                    <a:solidFill>
                      <a:srgbClr val="0D0D0D"/>
                    </a:solidFill>
                    <a:latin typeface="Times New Roman" panose="02020603050405020304" pitchFamily="18" charset="0"/>
                    <a:cs typeface="Times New Roman" panose="02020603050405020304" pitchFamily="18" charset="0"/>
                  </a:rPr>
                  <a:t>7 </a:t>
                </a:r>
                <a:r>
                  <a:rPr lang="zh-CN" altLang="en-US" sz="1200" dirty="0">
                    <a:solidFill>
                      <a:srgbClr val="0D0D0D"/>
                    </a:solidFill>
                    <a:latin typeface="Times New Roman" panose="02020603050405020304" pitchFamily="18" charset="0"/>
                    <a:cs typeface="Times New Roman" panose="02020603050405020304" pitchFamily="18" charset="0"/>
                  </a:rPr>
                  <a:t>和 </a:t>
                </a:r>
                <a:r>
                  <a:rPr lang="en-US" altLang="zh-CN" sz="1200" dirty="0">
                    <a:solidFill>
                      <a:srgbClr val="0D0D0D"/>
                    </a:solidFill>
                    <a:latin typeface="Times New Roman" panose="02020603050405020304" pitchFamily="18" charset="0"/>
                    <a:cs typeface="Times New Roman" panose="02020603050405020304" pitchFamily="18" charset="0"/>
                  </a:rPr>
                  <a:t>11)</a:t>
                </a:r>
              </a:p>
              <a:p>
                <a:pPr marL="0" marR="0" lvl="0" indent="0" algn="l" defTabSz="914400" rtl="0" eaLnBrk="1" fontAlgn="auto" latinLnBrk="0" hangingPunct="1">
                  <a:lnSpc>
                    <a:spcPct val="120000"/>
                  </a:lnSpc>
                  <a:spcBef>
                    <a:spcPct val="50000"/>
                  </a:spcBef>
                  <a:spcAft>
                    <a:spcPts val="0"/>
                  </a:spcAft>
                  <a:buClrTx/>
                  <a:buSzTx/>
                  <a:buFont typeface="Arial" panose="020B0604020202020204" pitchFamily="34" charset="0"/>
                  <a:buNone/>
                  <a:tabLst/>
                  <a:defRPr/>
                </a:pPr>
                <a:r>
                  <a:rPr lang="zh-CN" altLang="en-US" sz="1400" b="1" dirty="0">
                    <a:solidFill>
                      <a:srgbClr val="00B0F0"/>
                    </a:solidFill>
                    <a:latin typeface="Times New Roman" panose="02020603050405020304" pitchFamily="18" charset="0"/>
                    <a:cs typeface="Times New Roman" panose="02020603050405020304" pitchFamily="18" charset="0"/>
                  </a:rPr>
                  <a:t>注：</a:t>
                </a:r>
                <a:r>
                  <a:rPr lang="zh-CN" altLang="en-US" sz="1200" b="1" dirty="0">
                    <a:latin typeface="Calibri" panose="020F0502020204030204" pitchFamily="34" charset="0"/>
                    <a:cs typeface="Calibri" panose="020F0502020204030204" pitchFamily="34" charset="0"/>
                  </a:rPr>
                  <a:t>①</a:t>
                </a:r>
                <a14:m>
                  <m:oMath xmlns:m="http://schemas.openxmlformats.org/officeDocument/2006/math">
                    <m:r>
                      <a:rPr lang="zh-CN" altLang="en-US" sz="1200" b="0" i="1" smtClean="0">
                        <a:latin typeface="Cambria Math" panose="02040503050406030204" pitchFamily="18" charset="0"/>
                        <a:cs typeface="Times New Roman" panose="02020603050405020304" pitchFamily="18" charset="0"/>
                      </a:rPr>
                      <m:t>𝜑</m:t>
                    </m:r>
                    <m:d>
                      <m:dPr>
                        <m:ctrlPr>
                          <a:rPr lang="en-US" altLang="zh-CN" sz="1200" i="1" smtClean="0">
                            <a:latin typeface="Cambria Math" panose="02040503050406030204" pitchFamily="18" charset="0"/>
                            <a:cs typeface="Times New Roman" panose="02020603050405020304" pitchFamily="18" charset="0"/>
                          </a:rPr>
                        </m:ctrlPr>
                      </m:dPr>
                      <m:e>
                        <m:r>
                          <a:rPr lang="en-US" altLang="zh-CN" sz="1200" b="0" i="1">
                            <a:latin typeface="Cambria Math" panose="02040503050406030204" pitchFamily="18" charset="0"/>
                            <a:cs typeface="Times New Roman" panose="02020603050405020304" pitchFamily="18" charset="0"/>
                          </a:rPr>
                          <m:t>𝑛</m:t>
                        </m:r>
                      </m:e>
                    </m:d>
                  </m:oMath>
                </a14:m>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为</a:t>
                </a:r>
                <a:r>
                  <a:rPr lang="zh-CN" altLang="en-US" sz="1200" dirty="0">
                    <a:solidFill>
                      <a:srgbClr val="FF3300"/>
                    </a:solidFill>
                    <a:latin typeface="Times New Roman" panose="02020603050405020304" pitchFamily="18" charset="0"/>
                    <a:ea typeface="楷体" panose="02010609060101010101" pitchFamily="49" charset="-122"/>
                    <a:cs typeface="Times New Roman" panose="02020603050405020304" pitchFamily="18" charset="0"/>
                  </a:rPr>
                  <a:t>欧拉函数</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{0, 1, … ,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1}</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中</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与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互素的整数个数</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可用质因数分解法求解</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②</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如果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是素数</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那么</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1,2,…,</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−1 </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都与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互素</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生成元的数量为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−1 . </a:t>
                </a:r>
                <a:r>
                  <a:rPr lang="en-US" altLang="zh-CN" sz="1200" dirty="0">
                    <a:latin typeface="Calibri" panose="020F0502020204030204" pitchFamily="34" charset="0"/>
                    <a:ea typeface="楷体" panose="02010609060101010101" pitchFamily="49" charset="-122"/>
                    <a:cs typeface="Calibri" panose="020F0502020204030204" pitchFamily="34" charset="0"/>
                  </a:rPr>
                  <a:t>③</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如果 </a:t>
                </a:r>
                <a:r>
                  <a:rPr lang="en-US" altLang="zh-CN" sz="14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是合数</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生成元的数量数量就是</a:t>
                </a:r>
                <a:r>
                  <a:rPr lang="en-US" altLang="zh-CN" sz="1400" i="1" dirty="0">
                    <a:latin typeface="Times New Roman" panose="02020603050405020304" pitchFamily="18" charset="0"/>
                    <a:ea typeface="楷体" panose="02010609060101010101" pitchFamily="49" charset="-122"/>
                    <a:cs typeface="Times New Roman" panose="02020603050405020304" pitchFamily="18" charset="0"/>
                  </a:rPr>
                  <a:t>φ</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4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的值</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 </a:t>
                </a:r>
              </a:p>
              <a:p>
                <a:pPr>
                  <a:lnSpc>
                    <a:spcPct val="120000"/>
                  </a:lnSpc>
                  <a:spcBef>
                    <a:spcPct val="50000"/>
                  </a:spcBef>
                  <a:buFont typeface="Arial" panose="020B0604020202020204" pitchFamily="34" charset="0"/>
                  <a:buNone/>
                </a:pPr>
                <a:endParaRPr lang="en-US" altLang="zh-CN" sz="1200" dirty="0">
                  <a:solidFill>
                    <a:srgbClr val="000066"/>
                  </a:solidFill>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eaLnBrk="1" hangingPunct="1">
                  <a:lnSpc>
                    <a:spcPct val="12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定理</a:t>
                </a:r>
                <a:r>
                  <a:rPr lang="en-US" altLang="zh-CN" sz="1200" b="1" dirty="0">
                    <a:solidFill>
                      <a:srgbClr val="FF3300"/>
                    </a:solidFill>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a</a:t>
                </a:r>
                <a:r>
                  <a:rPr lang="en-US" altLang="zh-CN" sz="1200" b="1" dirty="0">
                    <a:latin typeface="Times New Roman" panose="02020603050405020304" pitchFamily="18" charset="0"/>
                    <a:cs typeface="Times New Roman" panose="02020603050405020304" pitchFamily="18" charset="0"/>
                  </a:rPr>
                  <a:t>&gt;</a:t>
                </a:r>
                <a:r>
                  <a:rPr lang="zh-CN" altLang="en-US" sz="1200" b="1" dirty="0">
                    <a:latin typeface="Times New Roman" panose="02020603050405020304" pitchFamily="18" charset="0"/>
                    <a:cs typeface="Times New Roman" panose="02020603050405020304" pitchFamily="18" charset="0"/>
                  </a:rPr>
                  <a:t>是循环群</a:t>
                </a:r>
                <a:r>
                  <a:rPr lang="en-US" altLang="zh-CN" sz="1200" b="1" dirty="0">
                    <a:latin typeface="Times New Roman" panose="02020603050405020304" pitchFamily="18" charset="0"/>
                    <a:cs typeface="Times New Roman" panose="02020603050405020304" pitchFamily="18" charset="0"/>
                  </a:rPr>
                  <a:t>.  </a:t>
                </a:r>
              </a:p>
              <a:p>
                <a:pPr eaLnBrk="1" hangingPunct="1">
                  <a:lnSpc>
                    <a:spcPct val="120000"/>
                  </a:lnSpc>
                  <a:buFontTx/>
                  <a:buNone/>
                </a:pPr>
                <a:r>
                  <a:rPr lang="en-US" altLang="zh-CN" sz="1200" b="1" dirty="0">
                    <a:latin typeface="Times New Roman" panose="02020603050405020304" pitchFamily="18" charset="0"/>
                    <a:cs typeface="Times New Roman" panose="02020603050405020304" pitchFamily="18" charset="0"/>
                  </a:rPr>
                  <a:t> (1) </a:t>
                </a:r>
                <a:r>
                  <a:rPr lang="zh-CN" altLang="en-US" sz="1200" b="1" dirty="0">
                    <a:latin typeface="Times New Roman" panose="02020603050405020304" pitchFamily="18" charset="0"/>
                    <a:cs typeface="Times New Roman" panose="02020603050405020304" pitchFamily="18" charset="0"/>
                  </a:rPr>
                  <a:t>若</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是无限循环群</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则</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只有两个生成元</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即 </a:t>
                </a:r>
                <a:r>
                  <a:rPr lang="en-US" altLang="zh-CN" sz="1200" b="1" i="1" dirty="0">
                    <a:latin typeface="Times New Roman" panose="02020603050405020304" pitchFamily="18" charset="0"/>
                    <a:cs typeface="Times New Roman" panose="02020603050405020304" pitchFamily="18" charset="0"/>
                  </a:rPr>
                  <a:t>a </a:t>
                </a:r>
                <a:r>
                  <a:rPr lang="zh-CN" altLang="en-US" sz="1200" b="1" dirty="0">
                    <a:latin typeface="Times New Roman" panose="02020603050405020304" pitchFamily="18" charset="0"/>
                    <a:cs typeface="Times New Roman" panose="02020603050405020304" pitchFamily="18" charset="0"/>
                  </a:rPr>
                  <a:t>和 </a:t>
                </a:r>
                <a:r>
                  <a:rPr lang="en-US" altLang="zh-CN" sz="1200" b="1" i="1" dirty="0">
                    <a:latin typeface="Times New Roman" panose="02020603050405020304" pitchFamily="18" charset="0"/>
                    <a:cs typeface="Times New Roman" panose="02020603050405020304" pitchFamily="18" charset="0"/>
                  </a:rPr>
                  <a:t>a</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 </a:t>
                </a:r>
              </a:p>
              <a:p>
                <a:pPr>
                  <a:lnSpc>
                    <a:spcPct val="120000"/>
                  </a:lnSpc>
                  <a:buNone/>
                </a:pPr>
                <a:r>
                  <a:rPr lang="en-US" altLang="zh-CN" sz="1200" b="1" dirty="0">
                    <a:latin typeface="Times New Roman" panose="02020603050405020304" pitchFamily="18" charset="0"/>
                    <a:cs typeface="Times New Roman" panose="02020603050405020304" pitchFamily="18" charset="0"/>
                  </a:rPr>
                  <a:t> (2) </a:t>
                </a:r>
                <a:r>
                  <a:rPr lang="zh-CN" altLang="en-US" sz="1200" b="1" dirty="0">
                    <a:latin typeface="Times New Roman" panose="02020603050405020304" pitchFamily="18" charset="0"/>
                    <a:cs typeface="Times New Roman" panose="02020603050405020304" pitchFamily="18" charset="0"/>
                  </a:rPr>
                  <a:t>若</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是 </a:t>
                </a:r>
                <a:r>
                  <a:rPr lang="en-US" altLang="zh-CN" sz="1200" b="1" i="1" dirty="0">
                    <a:latin typeface="Times New Roman" panose="02020603050405020304" pitchFamily="18" charset="0"/>
                    <a:cs typeface="Times New Roman" panose="02020603050405020304" pitchFamily="18" charset="0"/>
                  </a:rPr>
                  <a:t>n </a:t>
                </a:r>
                <a:r>
                  <a:rPr lang="zh-CN" altLang="en-US" sz="1200" b="1" dirty="0">
                    <a:latin typeface="Times New Roman" panose="02020603050405020304" pitchFamily="18" charset="0"/>
                    <a:cs typeface="Times New Roman" panose="02020603050405020304" pitchFamily="18" charset="0"/>
                  </a:rPr>
                  <a:t>阶循环群</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则</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含有</a:t>
                </a:r>
                <a:r>
                  <a:rPr lang="zh-CN" altLang="en-US" sz="1200" b="1" i="0">
                    <a:latin typeface="Cambria Math" panose="02040503050406030204" pitchFamily="18" charset="0"/>
                    <a:cs typeface="Times New Roman" panose="02020603050405020304" pitchFamily="18" charset="0"/>
                  </a:rPr>
                  <a:t>𝝋</a:t>
                </a:r>
                <a:r>
                  <a:rPr lang="en-US" altLang="zh-CN" sz="1200" b="1" i="0">
                    <a:latin typeface="Cambria Math" panose="02040503050406030204" pitchFamily="18" charset="0"/>
                    <a:cs typeface="Times New Roman" panose="02020603050405020304" pitchFamily="18" charset="0"/>
                  </a:rPr>
                  <a:t>(𝒏)</a:t>
                </a:r>
                <a:r>
                  <a:rPr lang="zh-CN" altLang="en-US" sz="1200" b="1" dirty="0">
                    <a:latin typeface="Times New Roman" panose="02020603050405020304" pitchFamily="18" charset="0"/>
                    <a:cs typeface="Times New Roman" panose="02020603050405020304" pitchFamily="18" charset="0"/>
                  </a:rPr>
                  <a:t>个生成元</a:t>
                </a:r>
                <a:r>
                  <a:rPr lang="en-US" altLang="zh-CN" sz="1200" b="1" dirty="0">
                    <a:latin typeface="Times New Roman" panose="02020603050405020304" pitchFamily="18" charset="0"/>
                    <a:cs typeface="Times New Roman" panose="02020603050405020304" pitchFamily="18" charset="0"/>
                  </a:rPr>
                  <a:t>,</a:t>
                </a:r>
                <a:r>
                  <a:rPr lang="zh-CN" altLang="en-US" sz="1400" b="1" dirty="0">
                    <a:latin typeface="Times New Roman" panose="02020603050405020304" pitchFamily="18" charset="0"/>
                    <a:cs typeface="Times New Roman" panose="02020603050405020304" pitchFamily="18" charset="0"/>
                  </a:rPr>
                  <a:t>也就是说</a:t>
                </a:r>
                <a:r>
                  <a:rPr lang="zh-CN" altLang="zh-CN" sz="1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400" b="1" i="1" dirty="0">
                    <a:solidFill>
                      <a:srgbClr val="0D0D0D"/>
                    </a:solidFill>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阶循环群</a:t>
                </a:r>
                <a:r>
                  <a:rPr lang="en-US" altLang="zh-CN" sz="1400" b="1" dirty="0">
                    <a:solidFill>
                      <a:srgbClr val="0D0D0D"/>
                    </a:solidFill>
                    <a:latin typeface="Times New Roman" panose="02020603050405020304" pitchFamily="18" charset="0"/>
                    <a:cs typeface="Times New Roman" panose="02020603050405020304" pitchFamily="18" charset="0"/>
                  </a:rPr>
                  <a:t>​</a:t>
                </a:r>
                <a:r>
                  <a:rPr lang="zh-CN" altLang="zh-CN" sz="1400" b="1" dirty="0">
                    <a:latin typeface="Times New Roman" panose="02020603050405020304" pitchFamily="18" charset="0"/>
                    <a:cs typeface="Times New Roman" panose="02020603050405020304" pitchFamily="18" charset="0"/>
                  </a:rPr>
                  <a:t>生成元的数量是与</a:t>
                </a:r>
                <a:r>
                  <a:rPr lang="zh-CN" altLang="zh-CN" sz="1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400" b="1" i="1" dirty="0">
                    <a:solidFill>
                      <a:srgbClr val="0D0D0D"/>
                    </a:solidFill>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互素的正整数的数量</a:t>
                </a:r>
                <a:r>
                  <a:rPr lang="en-US" altLang="zh-CN" sz="1400" b="1" dirty="0">
                    <a:latin typeface="Times New Roman" panose="02020603050405020304" pitchFamily="18" charset="0"/>
                    <a:cs typeface="Times New Roman" panose="02020603050405020304" pitchFamily="18" charset="0"/>
                  </a:rPr>
                  <a:t>.</a:t>
                </a:r>
              </a:p>
              <a:p>
                <a:pPr>
                  <a:lnSpc>
                    <a:spcPct val="120000"/>
                  </a:lnSpc>
                  <a:buNone/>
                </a:pPr>
                <a:r>
                  <a:rPr lang="en-US" altLang="zh-CN" sz="1200" b="1" dirty="0">
                    <a:latin typeface="Times New Roman" panose="02020603050405020304" pitchFamily="18" charset="0"/>
                    <a:cs typeface="Times New Roman" panose="02020603050405020304" pitchFamily="18" charset="0"/>
                  </a:rPr>
                  <a:t> (3) </a:t>
                </a:r>
                <a:r>
                  <a:rPr lang="zh-CN" altLang="en-US" sz="1200" b="1" dirty="0">
                    <a:latin typeface="Times New Roman" panose="02020603050405020304" pitchFamily="18" charset="0"/>
                    <a:cs typeface="Times New Roman" panose="02020603050405020304" pitchFamily="18" charset="0"/>
                  </a:rPr>
                  <a:t>对于任何小于</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且与</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互质的自然数 </a:t>
                </a:r>
                <a:r>
                  <a:rPr lang="en-US" altLang="zh-CN" sz="1200" b="1" i="1" dirty="0">
                    <a:latin typeface="Times New Roman" panose="02020603050405020304" pitchFamily="18" charset="0"/>
                    <a:cs typeface="Times New Roman" panose="02020603050405020304" pitchFamily="18" charset="0"/>
                  </a:rPr>
                  <a:t>r</a:t>
                </a:r>
                <a:r>
                  <a:rPr lang="en-US" altLang="zh-CN" sz="1200" b="1" dirty="0">
                    <a:latin typeface="Times New Roman" panose="02020603050405020304" pitchFamily="18" charset="0"/>
                    <a:cs typeface="Times New Roman" panose="02020603050405020304" pitchFamily="18" charset="0"/>
                  </a:rPr>
                  <a:t>, </a:t>
                </a:r>
                <a:r>
                  <a:rPr lang="en-US" altLang="zh-CN" sz="1200" b="1" i="1" dirty="0" err="1">
                    <a:latin typeface="Times New Roman" panose="02020603050405020304" pitchFamily="18" charset="0"/>
                    <a:cs typeface="Times New Roman" panose="02020603050405020304" pitchFamily="18" charset="0"/>
                  </a:rPr>
                  <a:t>a</a:t>
                </a:r>
                <a:r>
                  <a:rPr lang="en-US" altLang="zh-CN" sz="1200" b="1" i="1" baseline="30000" dirty="0" err="1">
                    <a:latin typeface="Times New Roman" panose="02020603050405020304" pitchFamily="18" charset="0"/>
                    <a:cs typeface="Times New Roman" panose="02020603050405020304" pitchFamily="18" charset="0"/>
                  </a:rPr>
                  <a:t>r</a:t>
                </a:r>
                <a:r>
                  <a:rPr lang="zh-CN" altLang="en-US" sz="1200" b="1" dirty="0">
                    <a:latin typeface="Times New Roman" panose="02020603050405020304" pitchFamily="18" charset="0"/>
                    <a:cs typeface="Times New Roman" panose="02020603050405020304" pitchFamily="18" charset="0"/>
                  </a:rPr>
                  <a:t>是都是</a:t>
                </a:r>
                <a:r>
                  <a:rPr lang="en-US" altLang="zh-CN" sz="1200" b="1" i="1" dirty="0">
                    <a:latin typeface="Times New Roman" panose="02020603050405020304" pitchFamily="18" charset="0"/>
                    <a:cs typeface="Times New Roman" panose="02020603050405020304" pitchFamily="18" charset="0"/>
                  </a:rPr>
                  <a:t>n </a:t>
                </a:r>
                <a:r>
                  <a:rPr lang="zh-CN" altLang="en-US" sz="1200" b="1" dirty="0">
                    <a:latin typeface="Times New Roman" panose="02020603050405020304" pitchFamily="18" charset="0"/>
                    <a:cs typeface="Times New Roman" panose="02020603050405020304" pitchFamily="18" charset="0"/>
                  </a:rPr>
                  <a:t>阶循环群</a:t>
                </a:r>
                <a:r>
                  <a:rPr lang="en-US" altLang="zh-CN" sz="1200" b="1" i="1" dirty="0">
                    <a:latin typeface="Times New Roman" panose="02020603050405020304" pitchFamily="18" charset="0"/>
                    <a:cs typeface="Times New Roman" panose="02020603050405020304" pitchFamily="18" charset="0"/>
                  </a:rPr>
                  <a:t>G </a:t>
                </a:r>
                <a:r>
                  <a:rPr lang="zh-CN" altLang="en-US" sz="1200" b="1" dirty="0">
                    <a:latin typeface="Times New Roman" panose="02020603050405020304" pitchFamily="18" charset="0"/>
                    <a:cs typeface="Times New Roman" panose="02020603050405020304" pitchFamily="18" charset="0"/>
                  </a:rPr>
                  <a:t>的生成元</a:t>
                </a:r>
                <a:r>
                  <a:rPr lang="en-US" altLang="zh-CN" sz="1200" b="1" dirty="0">
                    <a:latin typeface="Times New Roman" panose="02020603050405020304" pitchFamily="18" charset="0"/>
                    <a:cs typeface="Times New Roman" panose="02020603050405020304" pitchFamily="18" charset="0"/>
                  </a:rPr>
                  <a:t>. </a:t>
                </a:r>
              </a:p>
              <a:p>
                <a:r>
                  <a:rPr lang="zh-CN" altLang="en-US" sz="1200" b="1" dirty="0">
                    <a:solidFill>
                      <a:srgbClr val="00B0F0"/>
                    </a:solidFill>
                    <a:latin typeface="Times New Roman" panose="02020603050405020304" pitchFamily="18" charset="0"/>
                    <a:cs typeface="Times New Roman" panose="02020603050405020304" pitchFamily="18" charset="0"/>
                  </a:rPr>
                  <a:t>注：</a:t>
                </a:r>
                <a:r>
                  <a:rPr lang="zh-CN" altLang="en-US" sz="1100" b="1" dirty="0">
                    <a:latin typeface="Calibri" panose="020F0502020204030204" pitchFamily="34" charset="0"/>
                    <a:cs typeface="Calibri" panose="020F0502020204030204" pitchFamily="34" charset="0"/>
                  </a:rPr>
                  <a:t>①</a:t>
                </a:r>
                <a:r>
                  <a:rPr lang="zh-CN" altLang="en-US" sz="1100" b="0" i="0">
                    <a:latin typeface="Cambria Math" panose="02040503050406030204" pitchFamily="18" charset="0"/>
                    <a:cs typeface="Times New Roman" panose="02020603050405020304" pitchFamily="18" charset="0"/>
                  </a:rPr>
                  <a:t>𝜑</a:t>
                </a:r>
                <a:r>
                  <a:rPr lang="en-US" altLang="zh-CN" sz="1100" i="0">
                    <a:latin typeface="Cambria Math" panose="02040503050406030204" pitchFamily="18" charset="0"/>
                    <a:cs typeface="Times New Roman" panose="02020603050405020304" pitchFamily="18" charset="0"/>
                  </a:rPr>
                  <a:t>(</a:t>
                </a:r>
                <a:r>
                  <a:rPr lang="en-US" altLang="zh-CN" sz="1100" b="0" i="0">
                    <a:latin typeface="Cambria Math" panose="02040503050406030204" pitchFamily="18" charset="0"/>
                    <a:cs typeface="Times New Roman" panose="02020603050405020304" pitchFamily="18" charset="0"/>
                  </a:rPr>
                  <a:t>𝑛)</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为</a:t>
                </a:r>
                <a:r>
                  <a:rPr lang="zh-CN" altLang="en-US" sz="1100" dirty="0">
                    <a:solidFill>
                      <a:srgbClr val="FF3300"/>
                    </a:solidFill>
                    <a:latin typeface="Times New Roman" panose="02020603050405020304" pitchFamily="18" charset="0"/>
                    <a:ea typeface="楷体" panose="02010609060101010101" pitchFamily="49" charset="-122"/>
                    <a:cs typeface="Times New Roman" panose="02020603050405020304" pitchFamily="18" charset="0"/>
                  </a:rPr>
                  <a:t>欧拉函数</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{0, 1, … ,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1}</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中</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与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互素的整数个数</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dirty="0">
                    <a:latin typeface="Times New Roman" panose="02020603050405020304" pitchFamily="18" charset="0"/>
                    <a:ea typeface="楷体" panose="02010609060101010101" pitchFamily="49" charset="-122"/>
                    <a:cs typeface="Times New Roman" panose="02020603050405020304" pitchFamily="18" charset="0"/>
                  </a:rPr>
                  <a:t>可用质因数分解法求解</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②</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如果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是素数</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那么</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1,2,…,</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−1 </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都与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互素</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dirty="0">
                    <a:latin typeface="Times New Roman" panose="02020603050405020304" pitchFamily="18" charset="0"/>
                    <a:ea typeface="楷体" panose="02010609060101010101" pitchFamily="49" charset="-122"/>
                    <a:cs typeface="Times New Roman" panose="02020603050405020304" pitchFamily="18" charset="0"/>
                  </a:rPr>
                  <a:t>生成元的数量为 </a:t>
                </a:r>
                <a:r>
                  <a:rPr lang="en-US" altLang="zh-CN" sz="11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100" dirty="0">
                    <a:latin typeface="Times New Roman" panose="02020603050405020304" pitchFamily="18" charset="0"/>
                    <a:ea typeface="楷体" panose="02010609060101010101" pitchFamily="49" charset="-122"/>
                    <a:cs typeface="Times New Roman" panose="02020603050405020304" pitchFamily="18" charset="0"/>
                  </a:rPr>
                  <a:t>−1 . </a:t>
                </a:r>
                <a:r>
                  <a:rPr lang="en-US" altLang="zh-CN" sz="1100" dirty="0">
                    <a:latin typeface="Calibri" panose="020F0502020204030204" pitchFamily="34" charset="0"/>
                    <a:ea typeface="楷体" panose="02010609060101010101" pitchFamily="49" charset="-122"/>
                    <a:cs typeface="Calibri" panose="020F0502020204030204" pitchFamily="34" charset="0"/>
                  </a:rPr>
                  <a:t>③</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如果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是合数</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生成元的数量数量就是</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φ</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的值</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p>
              <a:p>
                <a:pPr>
                  <a:lnSpc>
                    <a:spcPct val="120000"/>
                  </a:lnSpc>
                  <a:spcBef>
                    <a:spcPct val="50000"/>
                  </a:spcBef>
                  <a:buFont typeface="Arial" panose="020B0604020202020204" pitchFamily="34" charset="0"/>
                  <a:buNone/>
                </a:pPr>
                <a:r>
                  <a:rPr lang="zh-CN" altLang="en-US" sz="1200" b="1" dirty="0">
                    <a:solidFill>
                      <a:srgbClr val="00B0F0"/>
                    </a:solidFill>
                    <a:latin typeface="Times New Roman" panose="02020603050405020304" pitchFamily="18" charset="0"/>
                    <a:cs typeface="Times New Roman" panose="02020603050405020304" pitchFamily="18" charset="0"/>
                  </a:rPr>
                  <a:t>例</a:t>
                </a:r>
                <a:r>
                  <a:rPr lang="en-US" altLang="zh-CN" sz="1200" b="1" dirty="0">
                    <a:solidFill>
                      <a:srgbClr val="00B0F0"/>
                    </a:solidFill>
                    <a:latin typeface="Times New Roman" panose="02020603050405020304" pitchFamily="18" charset="0"/>
                    <a:cs typeface="Times New Roman" panose="02020603050405020304" pitchFamily="18" charset="0"/>
                  </a:rPr>
                  <a:t>:</a:t>
                </a:r>
                <a:r>
                  <a:rPr lang="zh-CN" altLang="en-US" sz="1200" b="1" dirty="0">
                    <a:solidFill>
                      <a:srgbClr val="00B0F0"/>
                    </a:solidFill>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=12</a:t>
                </a:r>
                <a:r>
                  <a:rPr lang="zh-CN" altLang="zh-CN" sz="1200" b="1" dirty="0">
                    <a:latin typeface="Times New Roman" panose="02020603050405020304" pitchFamily="18" charset="0"/>
                    <a:cs typeface="Times New Roman" panose="02020603050405020304" pitchFamily="18" charset="0"/>
                  </a:rPr>
                  <a:t>时</a:t>
                </a:r>
                <a:r>
                  <a:rPr lang="en-US" altLang="zh-CN" sz="1200" b="1" dirty="0">
                    <a:latin typeface="Times New Roman" panose="02020603050405020304" pitchFamily="18" charset="0"/>
                    <a:cs typeface="Times New Roman" panose="02020603050405020304" pitchFamily="18" charset="0"/>
                  </a:rPr>
                  <a:t>, 12=2</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·3,</a:t>
                </a:r>
                <a:r>
                  <a:rPr lang="en-US" altLang="zh-CN" sz="1200" b="1" i="0">
                    <a:latin typeface="Cambria Math" panose="02040503050406030204" pitchFamily="18" charset="0"/>
                    <a:cs typeface="Times New Roman" panose="02020603050405020304" pitchFamily="18" charset="0"/>
                  </a:rPr>
                  <a:t>    </a:t>
                </a:r>
                <a:r>
                  <a:rPr lang="zh-CN" altLang="en-US" sz="1200" b="1" i="0">
                    <a:latin typeface="Cambria Math" panose="02040503050406030204" pitchFamily="18" charset="0"/>
                    <a:cs typeface="Times New Roman" panose="02020603050405020304" pitchFamily="18" charset="0"/>
                  </a:rPr>
                  <a:t>𝝋</a:t>
                </a:r>
                <a:r>
                  <a:rPr lang="en-US" altLang="zh-CN" sz="1200" b="1" i="0">
                    <a:latin typeface="Cambria Math" panose="02040503050406030204" pitchFamily="18" charset="0"/>
                    <a:cs typeface="Times New Roman" panose="02020603050405020304" pitchFamily="18" charset="0"/>
                  </a:rPr>
                  <a:t>(𝟏𝟐)</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=𝟏𝟐∙(𝟏−𝟏/𝟐)∙</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 </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(𝟏−𝟏/𝟑)=𝟒</a:t>
                </a:r>
                <a:endParaRPr lang="en-US"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20000"/>
                  </a:lnSpc>
                  <a:spcBef>
                    <a:spcPct val="50000"/>
                  </a:spcBef>
                  <a:spcAft>
                    <a:spcPts val="0"/>
                  </a:spcAft>
                  <a:buClrTx/>
                  <a:buSzTx/>
                  <a:buFont typeface="Arial" panose="020B0604020202020204" pitchFamily="34" charset="0"/>
                  <a:buNone/>
                  <a:tabLst/>
                  <a:defRPr/>
                </a:pPr>
                <a:r>
                  <a:rPr lang="en-US" altLang="zh-CN" sz="1200" dirty="0">
                    <a:solidFill>
                      <a:srgbClr val="0D0D0D"/>
                    </a:solidFill>
                    <a:latin typeface="Times New Roman" panose="02020603050405020304" pitchFamily="18" charset="0"/>
                    <a:cs typeface="Times New Roman" panose="02020603050405020304" pitchFamily="18" charset="0"/>
                  </a:rPr>
                  <a:t>1 </a:t>
                </a:r>
                <a:r>
                  <a:rPr lang="zh-CN" altLang="en-US" sz="1200" dirty="0">
                    <a:solidFill>
                      <a:srgbClr val="0D0D0D"/>
                    </a:solidFill>
                    <a:latin typeface="Times New Roman" panose="02020603050405020304" pitchFamily="18" charset="0"/>
                    <a:cs typeface="Times New Roman" panose="02020603050405020304" pitchFamily="18" charset="0"/>
                  </a:rPr>
                  <a:t>到 </a:t>
                </a:r>
                <a:r>
                  <a:rPr lang="en-US" altLang="zh-CN" sz="1200" dirty="0">
                    <a:solidFill>
                      <a:srgbClr val="0D0D0D"/>
                    </a:solidFill>
                    <a:latin typeface="Times New Roman" panose="02020603050405020304" pitchFamily="18" charset="0"/>
                    <a:cs typeface="Times New Roman" panose="02020603050405020304" pitchFamily="18" charset="0"/>
                  </a:rPr>
                  <a:t>12 </a:t>
                </a:r>
                <a:r>
                  <a:rPr lang="zh-CN" altLang="en-US" sz="1200" dirty="0">
                    <a:solidFill>
                      <a:srgbClr val="0D0D0D"/>
                    </a:solidFill>
                    <a:latin typeface="Times New Roman" panose="02020603050405020304" pitchFamily="18" charset="0"/>
                    <a:cs typeface="Times New Roman" panose="02020603050405020304" pitchFamily="18" charset="0"/>
                  </a:rPr>
                  <a:t>之间与 </a:t>
                </a:r>
                <a:r>
                  <a:rPr lang="en-US" altLang="zh-CN" sz="1200" dirty="0">
                    <a:solidFill>
                      <a:srgbClr val="0D0D0D"/>
                    </a:solidFill>
                    <a:latin typeface="Times New Roman" panose="02020603050405020304" pitchFamily="18" charset="0"/>
                    <a:cs typeface="Times New Roman" panose="02020603050405020304" pitchFamily="18" charset="0"/>
                  </a:rPr>
                  <a:t>12 </a:t>
                </a:r>
                <a:r>
                  <a:rPr lang="zh-CN" altLang="en-US" sz="1200" dirty="0">
                    <a:solidFill>
                      <a:srgbClr val="0D0D0D"/>
                    </a:solidFill>
                    <a:latin typeface="Times New Roman" panose="02020603050405020304" pitchFamily="18" charset="0"/>
                    <a:cs typeface="Times New Roman" panose="02020603050405020304" pitchFamily="18" charset="0"/>
                  </a:rPr>
                  <a:t>互质的整数共有 </a:t>
                </a:r>
                <a:r>
                  <a:rPr lang="en-US" altLang="zh-CN" sz="1200" dirty="0">
                    <a:solidFill>
                      <a:srgbClr val="0D0D0D"/>
                    </a:solidFill>
                    <a:latin typeface="Times New Roman" panose="02020603050405020304" pitchFamily="18" charset="0"/>
                    <a:cs typeface="Times New Roman" panose="02020603050405020304" pitchFamily="18" charset="0"/>
                  </a:rPr>
                  <a:t>4 </a:t>
                </a:r>
                <a:r>
                  <a:rPr lang="zh-CN" altLang="en-US" sz="1200" dirty="0">
                    <a:solidFill>
                      <a:srgbClr val="0D0D0D"/>
                    </a:solidFill>
                    <a:latin typeface="Times New Roman" panose="02020603050405020304" pitchFamily="18" charset="0"/>
                    <a:cs typeface="Times New Roman" panose="02020603050405020304" pitchFamily="18" charset="0"/>
                  </a:rPr>
                  <a:t>个</a:t>
                </a:r>
                <a:r>
                  <a:rPr lang="en-US" altLang="zh-CN" sz="1200" dirty="0">
                    <a:solidFill>
                      <a:srgbClr val="0D0D0D"/>
                    </a:solidFill>
                    <a:latin typeface="Times New Roman" panose="02020603050405020304" pitchFamily="18" charset="0"/>
                    <a:cs typeface="Times New Roman" panose="02020603050405020304" pitchFamily="18" charset="0"/>
                  </a:rPr>
                  <a:t>(1</a:t>
                </a:r>
                <a:r>
                  <a:rPr lang="zh-CN" altLang="en-US" sz="1200" dirty="0">
                    <a:solidFill>
                      <a:srgbClr val="0D0D0D"/>
                    </a:solidFill>
                    <a:latin typeface="Times New Roman" panose="02020603050405020304" pitchFamily="18" charset="0"/>
                    <a:cs typeface="Times New Roman" panose="02020603050405020304" pitchFamily="18" charset="0"/>
                  </a:rPr>
                  <a:t>、</a:t>
                </a:r>
                <a:r>
                  <a:rPr lang="en-US" altLang="zh-CN" sz="1200" dirty="0">
                    <a:solidFill>
                      <a:srgbClr val="0D0D0D"/>
                    </a:solidFill>
                    <a:latin typeface="Times New Roman" panose="02020603050405020304" pitchFamily="18" charset="0"/>
                    <a:cs typeface="Times New Roman" panose="02020603050405020304" pitchFamily="18" charset="0"/>
                  </a:rPr>
                  <a:t>5</a:t>
                </a:r>
                <a:r>
                  <a:rPr lang="zh-CN" altLang="en-US" sz="1200" dirty="0">
                    <a:solidFill>
                      <a:srgbClr val="0D0D0D"/>
                    </a:solidFill>
                    <a:latin typeface="Times New Roman" panose="02020603050405020304" pitchFamily="18" charset="0"/>
                    <a:cs typeface="Times New Roman" panose="02020603050405020304" pitchFamily="18" charset="0"/>
                  </a:rPr>
                  <a:t>、</a:t>
                </a:r>
                <a:r>
                  <a:rPr lang="en-US" altLang="zh-CN" sz="1200" dirty="0">
                    <a:solidFill>
                      <a:srgbClr val="0D0D0D"/>
                    </a:solidFill>
                    <a:latin typeface="Times New Roman" panose="02020603050405020304" pitchFamily="18" charset="0"/>
                    <a:cs typeface="Times New Roman" panose="02020603050405020304" pitchFamily="18" charset="0"/>
                  </a:rPr>
                  <a:t>7 </a:t>
                </a:r>
                <a:r>
                  <a:rPr lang="zh-CN" altLang="en-US" sz="1200" dirty="0">
                    <a:solidFill>
                      <a:srgbClr val="0D0D0D"/>
                    </a:solidFill>
                    <a:latin typeface="Times New Roman" panose="02020603050405020304" pitchFamily="18" charset="0"/>
                    <a:cs typeface="Times New Roman" panose="02020603050405020304" pitchFamily="18" charset="0"/>
                  </a:rPr>
                  <a:t>和 </a:t>
                </a:r>
                <a:r>
                  <a:rPr lang="en-US" altLang="zh-CN" sz="1200" dirty="0">
                    <a:solidFill>
                      <a:srgbClr val="0D0D0D"/>
                    </a:solidFill>
                    <a:latin typeface="Times New Roman" panose="02020603050405020304" pitchFamily="18" charset="0"/>
                    <a:cs typeface="Times New Roman" panose="02020603050405020304" pitchFamily="18" charset="0"/>
                  </a:rPr>
                  <a:t>11)</a:t>
                </a:r>
              </a:p>
              <a:p>
                <a:pPr marL="0" marR="0" lvl="0" indent="0" algn="l" defTabSz="914400" rtl="0" eaLnBrk="1" fontAlgn="auto" latinLnBrk="0" hangingPunct="1">
                  <a:lnSpc>
                    <a:spcPct val="120000"/>
                  </a:lnSpc>
                  <a:spcBef>
                    <a:spcPct val="50000"/>
                  </a:spcBef>
                  <a:spcAft>
                    <a:spcPts val="0"/>
                  </a:spcAft>
                  <a:buClrTx/>
                  <a:buSzTx/>
                  <a:buFont typeface="Arial" panose="020B0604020202020204" pitchFamily="34" charset="0"/>
                  <a:buNone/>
                  <a:tabLst/>
                  <a:defRPr/>
                </a:pPr>
                <a:r>
                  <a:rPr lang="zh-CN" altLang="en-US" sz="1400" b="1" dirty="0">
                    <a:solidFill>
                      <a:srgbClr val="00B0F0"/>
                    </a:solidFill>
                    <a:latin typeface="Times New Roman" panose="02020603050405020304" pitchFamily="18" charset="0"/>
                    <a:cs typeface="Times New Roman" panose="02020603050405020304" pitchFamily="18" charset="0"/>
                  </a:rPr>
                  <a:t>注：</a:t>
                </a:r>
                <a:r>
                  <a:rPr lang="zh-CN" altLang="en-US" sz="1200" b="1" dirty="0">
                    <a:latin typeface="Calibri" panose="020F0502020204030204" pitchFamily="34" charset="0"/>
                    <a:cs typeface="Calibri" panose="020F0502020204030204" pitchFamily="34" charset="0"/>
                  </a:rPr>
                  <a:t>①</a:t>
                </a:r>
                <a:r>
                  <a:rPr lang="zh-CN" altLang="en-US" sz="1200" b="0" i="0">
                    <a:latin typeface="Cambria Math" panose="02040503050406030204" pitchFamily="18" charset="0"/>
                    <a:cs typeface="Times New Roman" panose="02020603050405020304" pitchFamily="18" charset="0"/>
                  </a:rPr>
                  <a:t>𝜑</a:t>
                </a:r>
                <a:r>
                  <a:rPr lang="en-US" altLang="zh-CN" sz="1200" i="0">
                    <a:latin typeface="Cambria Math" panose="02040503050406030204" pitchFamily="18" charset="0"/>
                    <a:cs typeface="Times New Roman" panose="02020603050405020304" pitchFamily="18" charset="0"/>
                  </a:rPr>
                  <a:t>(</a:t>
                </a:r>
                <a:r>
                  <a:rPr lang="en-US" altLang="zh-CN" sz="1200" b="0" i="0">
                    <a:latin typeface="Cambria Math" panose="02040503050406030204" pitchFamily="18" charset="0"/>
                    <a:cs typeface="Times New Roman" panose="02020603050405020304" pitchFamily="18" charset="0"/>
                  </a:rPr>
                  <a:t>𝑛)</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为</a:t>
                </a:r>
                <a:r>
                  <a:rPr lang="zh-CN" altLang="en-US" sz="1200" dirty="0">
                    <a:solidFill>
                      <a:srgbClr val="FF3300"/>
                    </a:solidFill>
                    <a:latin typeface="Times New Roman" panose="02020603050405020304" pitchFamily="18" charset="0"/>
                    <a:ea typeface="楷体" panose="02010609060101010101" pitchFamily="49" charset="-122"/>
                    <a:cs typeface="Times New Roman" panose="02020603050405020304" pitchFamily="18" charset="0"/>
                  </a:rPr>
                  <a:t>欧拉函数</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表示</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{0, 1, … ,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1}</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中</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与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互素的整数个数</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可用质因数分解法求解</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②</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如果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是素数</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那么</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1,2,…,</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−1 </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都与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互素</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生成元的数量为 </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−1 . </a:t>
                </a:r>
                <a:r>
                  <a:rPr lang="en-US" altLang="zh-CN" sz="1200" dirty="0">
                    <a:latin typeface="Calibri" panose="020F0502020204030204" pitchFamily="34" charset="0"/>
                    <a:ea typeface="楷体" panose="02010609060101010101" pitchFamily="49" charset="-122"/>
                    <a:cs typeface="Calibri" panose="020F0502020204030204" pitchFamily="34" charset="0"/>
                  </a:rPr>
                  <a:t>③</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如果 </a:t>
                </a:r>
                <a:r>
                  <a:rPr lang="en-US" altLang="zh-CN" sz="14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是合数</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生成元的数量数量就是</a:t>
                </a:r>
                <a:r>
                  <a:rPr lang="en-US" altLang="zh-CN" sz="1400" i="1" dirty="0">
                    <a:latin typeface="Times New Roman" panose="02020603050405020304" pitchFamily="18" charset="0"/>
                    <a:ea typeface="楷体" panose="02010609060101010101" pitchFamily="49" charset="-122"/>
                    <a:cs typeface="Times New Roman" panose="02020603050405020304" pitchFamily="18" charset="0"/>
                  </a:rPr>
                  <a:t>φ</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4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的值</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 </a:t>
                </a:r>
              </a:p>
              <a:p>
                <a:pPr>
                  <a:lnSpc>
                    <a:spcPct val="120000"/>
                  </a:lnSpc>
                  <a:spcBef>
                    <a:spcPct val="50000"/>
                  </a:spcBef>
                  <a:buFont typeface="Arial" panose="020B0604020202020204" pitchFamily="34" charset="0"/>
                  <a:buNone/>
                </a:pPr>
                <a:endParaRPr lang="en-US" altLang="zh-CN" sz="1200" dirty="0">
                  <a:solidFill>
                    <a:srgbClr val="000066"/>
                  </a:solidFill>
                  <a:latin typeface="Times New Roman" panose="02020603050405020304" pitchFamily="18" charset="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96</a:t>
            </a:fld>
            <a:endParaRPr lang="zh-CN" altLang="en-US"/>
          </a:p>
        </p:txBody>
      </p:sp>
    </p:spTree>
    <p:extLst>
      <p:ext uri="{BB962C8B-B14F-4D97-AF65-F5344CB8AC3E}">
        <p14:creationId xmlns:p14="http://schemas.microsoft.com/office/powerpoint/2010/main" val="411089128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Tx/>
              <a:buNone/>
            </a:pPr>
            <a:r>
              <a:rPr lang="zh-CN" altLang="en-US" dirty="0"/>
              <a:t>设</a:t>
            </a:r>
            <a:r>
              <a:rPr lang="en-US" altLang="zh-CN" dirty="0"/>
              <a:t>G=&lt;a&gt;</a:t>
            </a:r>
            <a:r>
              <a:rPr lang="zh-CN" altLang="en-US" dirty="0"/>
              <a:t>是循环群</a:t>
            </a:r>
            <a:r>
              <a:rPr lang="en-US" altLang="zh-CN" dirty="0"/>
              <a:t>,</a:t>
            </a:r>
            <a:r>
              <a:rPr lang="zh-CN" altLang="en-US" dirty="0"/>
              <a:t>则  </a:t>
            </a:r>
            <a:r>
              <a:rPr lang="en-US" altLang="zh-CN" dirty="0"/>
              <a:t>(1) G</a:t>
            </a:r>
            <a:r>
              <a:rPr lang="zh-CN" altLang="en-US" dirty="0"/>
              <a:t>的子群仍是循环群</a:t>
            </a:r>
            <a:r>
              <a:rPr lang="en-US" altLang="zh-CN" dirty="0"/>
              <a:t>. (2) </a:t>
            </a:r>
            <a:r>
              <a:rPr lang="zh-CN" altLang="en-US" dirty="0"/>
              <a:t>若</a:t>
            </a:r>
            <a:r>
              <a:rPr lang="en-US" altLang="zh-CN" dirty="0"/>
              <a:t>G=&lt;a&gt;</a:t>
            </a:r>
            <a:r>
              <a:rPr lang="zh-CN" altLang="en-US" dirty="0"/>
              <a:t>是无限循环群</a:t>
            </a:r>
            <a:r>
              <a:rPr lang="en-US" altLang="zh-CN" dirty="0"/>
              <a:t>,</a:t>
            </a:r>
            <a:r>
              <a:rPr lang="zh-CN" altLang="en-US" dirty="0"/>
              <a:t>则</a:t>
            </a:r>
            <a:r>
              <a:rPr lang="en-US" altLang="zh-CN" dirty="0"/>
              <a:t>G</a:t>
            </a:r>
            <a:r>
              <a:rPr lang="zh-CN" altLang="en-US" dirty="0"/>
              <a:t>的子群除</a:t>
            </a:r>
            <a:r>
              <a:rPr lang="en-US" altLang="zh-CN" dirty="0"/>
              <a:t>{e}</a:t>
            </a:r>
            <a:r>
              <a:rPr lang="zh-CN" altLang="en-US" dirty="0"/>
              <a:t>以外都是无限循环群</a:t>
            </a:r>
            <a:r>
              <a:rPr lang="en-US" altLang="zh-CN" dirty="0"/>
              <a:t>. (3) </a:t>
            </a:r>
            <a:r>
              <a:rPr lang="zh-CN" altLang="en-US" dirty="0"/>
              <a:t>若</a:t>
            </a:r>
            <a:r>
              <a:rPr lang="en-US" altLang="zh-CN" dirty="0"/>
              <a:t>G=&lt;a&gt;</a:t>
            </a:r>
            <a:r>
              <a:rPr lang="zh-CN" altLang="en-US" dirty="0"/>
              <a:t>是 </a:t>
            </a:r>
            <a:r>
              <a:rPr lang="en-US" altLang="zh-CN" dirty="0"/>
              <a:t>n </a:t>
            </a:r>
            <a:r>
              <a:rPr lang="zh-CN" altLang="en-US" dirty="0"/>
              <a:t>阶循环群</a:t>
            </a:r>
            <a:r>
              <a:rPr lang="en-US" altLang="zh-CN" dirty="0"/>
              <a:t>,</a:t>
            </a:r>
            <a:r>
              <a:rPr lang="zh-CN" altLang="en-US" dirty="0"/>
              <a:t>则对</a:t>
            </a:r>
            <a:r>
              <a:rPr lang="en-US" altLang="zh-CN" dirty="0"/>
              <a:t>n</a:t>
            </a:r>
            <a:r>
              <a:rPr lang="zh-CN" altLang="en-US" dirty="0"/>
              <a:t>的每个正因子</a:t>
            </a:r>
            <a:r>
              <a:rPr lang="en-US" altLang="zh-CN" dirty="0"/>
              <a:t>d , G</a:t>
            </a:r>
            <a:r>
              <a:rPr lang="zh-CN" altLang="en-US" dirty="0"/>
              <a:t>恰好含有一个</a:t>
            </a:r>
            <a:r>
              <a:rPr lang="en-US" altLang="zh-CN" dirty="0"/>
              <a:t>d </a:t>
            </a:r>
            <a:r>
              <a:rPr lang="zh-CN" altLang="en-US" dirty="0"/>
              <a:t>阶子群</a:t>
            </a:r>
            <a:r>
              <a:rPr lang="en-US" altLang="zh-CN" dirty="0"/>
              <a:t>.</a:t>
            </a:r>
            <a:endParaRPr lang="en-US" altLang="zh-CN" sz="1200" b="1" dirty="0">
              <a:solidFill>
                <a:srgbClr val="00B0F0"/>
              </a:solidFill>
            </a:endParaRPr>
          </a:p>
          <a:p>
            <a:pPr>
              <a:buFontTx/>
              <a:buNone/>
            </a:pPr>
            <a:endParaRPr lang="en-US" altLang="zh-CN" sz="1200" b="1" dirty="0">
              <a:solidFill>
                <a:srgbClr val="00B0F0"/>
              </a:solidFill>
            </a:endParaRPr>
          </a:p>
          <a:p>
            <a:pPr>
              <a:buFontTx/>
              <a:buNone/>
            </a:pPr>
            <a:r>
              <a:rPr lang="zh-CN" altLang="en-US" sz="1200" b="1" dirty="0">
                <a:solidFill>
                  <a:srgbClr val="00B0F0"/>
                </a:solidFill>
              </a:rPr>
              <a:t>例</a:t>
            </a:r>
            <a:r>
              <a:rPr lang="en-US" altLang="zh-CN" sz="1200" b="1" i="1" dirty="0">
                <a:solidFill>
                  <a:srgbClr val="00B0F0"/>
                </a:solidFill>
              </a:rPr>
              <a:t> </a:t>
            </a:r>
            <a:r>
              <a:rPr lang="en-US" altLang="zh-CN" sz="1200" b="1" dirty="0">
                <a:solidFill>
                  <a:srgbClr val="00B0F0"/>
                </a:solidFill>
                <a:latin typeface="Times New Roman" panose="02020603050405020304" pitchFamily="18" charset="0"/>
                <a:cs typeface="Times New Roman" panose="02020603050405020304" pitchFamily="18" charset="0"/>
              </a:rPr>
              <a:t>(1)</a:t>
            </a:r>
            <a:r>
              <a:rPr lang="en-US" altLang="zh-CN" sz="1200" b="1" i="1" dirty="0">
                <a:solidFill>
                  <a:srgbClr val="00B0F0"/>
                </a:solidFill>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=&lt;Z,+&gt;</a:t>
            </a:r>
            <a:r>
              <a:rPr lang="zh-CN" altLang="en-US" sz="1200" b="1" dirty="0">
                <a:latin typeface="Times New Roman" panose="02020603050405020304" pitchFamily="18" charset="0"/>
                <a:cs typeface="Times New Roman" panose="02020603050405020304" pitchFamily="18" charset="0"/>
              </a:rPr>
              <a:t>是无限循环群</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对于自然数</a:t>
            </a:r>
            <a:r>
              <a:rPr lang="en-US" altLang="zh-CN" sz="1200" b="1" i="1" dirty="0" err="1">
                <a:latin typeface="Times New Roman" panose="02020603050405020304" pitchFamily="18" charset="0"/>
                <a:cs typeface="Times New Roman" panose="02020603050405020304" pitchFamily="18" charset="0"/>
              </a:rPr>
              <a:t>m</a:t>
            </a:r>
            <a:r>
              <a:rPr lang="en-US" altLang="zh-CN" sz="1200" b="1" dirty="0" err="1">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 1</a:t>
            </a:r>
            <a:r>
              <a:rPr lang="zh-CN" altLang="en-US" sz="1200" b="1" dirty="0">
                <a:latin typeface="Times New Roman" panose="02020603050405020304" pitchFamily="18" charset="0"/>
                <a:cs typeface="Times New Roman" panose="02020603050405020304" pitchFamily="18" charset="0"/>
              </a:rPr>
              <a:t>的 </a:t>
            </a:r>
            <a:r>
              <a:rPr lang="en-US" altLang="zh-CN" sz="1200" b="1" i="1" dirty="0">
                <a:latin typeface="Times New Roman" panose="02020603050405020304" pitchFamily="18" charset="0"/>
                <a:cs typeface="Times New Roman" panose="02020603050405020304" pitchFamily="18" charset="0"/>
              </a:rPr>
              <a:t>m </a:t>
            </a:r>
            <a:r>
              <a:rPr lang="zh-CN" altLang="en-US" sz="1200" b="1" dirty="0">
                <a:latin typeface="Times New Roman" panose="02020603050405020304" pitchFamily="18" charset="0"/>
                <a:cs typeface="Times New Roman" panose="02020603050405020304" pitchFamily="18" charset="0"/>
              </a:rPr>
              <a:t>次幂是 </a:t>
            </a:r>
            <a:r>
              <a:rPr lang="en-US" altLang="zh-CN" sz="1200" b="1" i="1" dirty="0">
                <a:latin typeface="Times New Roman" panose="02020603050405020304" pitchFamily="18" charset="0"/>
                <a:cs typeface="Times New Roman" panose="02020603050405020304" pitchFamily="18" charset="0"/>
              </a:rPr>
              <a:t>m</a:t>
            </a:r>
            <a:r>
              <a:rPr lang="zh-CN" altLang="en-US"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m </a:t>
            </a:r>
            <a:r>
              <a:rPr lang="zh-CN" altLang="en-US" sz="1200" b="1" dirty="0">
                <a:latin typeface="Times New Roman" panose="02020603050405020304" pitchFamily="18" charset="0"/>
                <a:cs typeface="Times New Roman" panose="02020603050405020304" pitchFamily="18" charset="0"/>
              </a:rPr>
              <a:t>生成的子群是 </a:t>
            </a:r>
            <a:r>
              <a:rPr lang="en-US" altLang="zh-CN" sz="1200" b="1" i="1" dirty="0" err="1">
                <a:latin typeface="Times New Roman" panose="02020603050405020304" pitchFamily="18" charset="0"/>
                <a:cs typeface="Times New Roman" panose="02020603050405020304" pitchFamily="18" charset="0"/>
              </a:rPr>
              <a:t>m</a:t>
            </a:r>
            <a:r>
              <a:rPr lang="en-US" altLang="zh-CN" sz="1200" b="1" dirty="0" err="1">
                <a:latin typeface="Times New Roman" panose="02020603050405020304" pitchFamily="18" charset="0"/>
                <a:cs typeface="Times New Roman" panose="02020603050405020304" pitchFamily="18" charset="0"/>
              </a:rPr>
              <a:t>Z</a:t>
            </a:r>
            <a:r>
              <a:rPr lang="zh-CN" altLang="en-US"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m</a:t>
            </a:r>
            <a:r>
              <a:rPr lang="en-US" altLang="zh-CN" sz="1200" b="1" dirty="0" err="1">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即 </a:t>
            </a:r>
            <a:br>
              <a:rPr lang="zh-CN" altLang="en-US" sz="1200" b="1" dirty="0">
                <a:latin typeface="Times New Roman" panose="02020603050405020304" pitchFamily="18" charset="0"/>
                <a:cs typeface="Times New Roman" panose="02020603050405020304" pitchFamily="18" charset="0"/>
              </a:rPr>
            </a:br>
            <a:r>
              <a:rPr lang="zh-CN" altLang="en-US" sz="1200" b="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&lt;0&gt; = { 0 }=0Z</a:t>
            </a:r>
          </a:p>
          <a:p>
            <a:pPr>
              <a:buFontTx/>
              <a:buNone/>
            </a:pPr>
            <a:r>
              <a:rPr lang="en-US" altLang="zh-CN" sz="1200" b="1" dirty="0">
                <a:latin typeface="Times New Roman" panose="02020603050405020304" pitchFamily="18" charset="0"/>
                <a:cs typeface="Times New Roman" panose="02020603050405020304" pitchFamily="18" charset="0"/>
              </a:rPr>
              <a:t>           &lt;2&gt; = { 2k | </a:t>
            </a:r>
            <a:r>
              <a:rPr lang="en-US" altLang="zh-CN" sz="1200" b="1" dirty="0" err="1">
                <a:latin typeface="Times New Roman" panose="02020603050405020304" pitchFamily="18" charset="0"/>
                <a:cs typeface="Times New Roman" panose="02020603050405020304" pitchFamily="18" charset="0"/>
              </a:rPr>
              <a:t>k∈Z</a:t>
            </a:r>
            <a:r>
              <a:rPr lang="en-US" altLang="zh-CN" sz="1200" b="1" dirty="0">
                <a:latin typeface="Times New Roman" panose="02020603050405020304" pitchFamily="18" charset="0"/>
                <a:cs typeface="Times New Roman" panose="02020603050405020304" pitchFamily="18" charset="0"/>
              </a:rPr>
              <a:t> } = 2Z</a:t>
            </a:r>
            <a:br>
              <a:rPr lang="en-US" altLang="zh-CN" sz="1200" b="1" dirty="0">
                <a:latin typeface="Times New Roman" panose="02020603050405020304" pitchFamily="18" charset="0"/>
                <a:cs typeface="Times New Roman" panose="02020603050405020304" pitchFamily="18" charset="0"/>
              </a:rPr>
            </a:br>
            <a:r>
              <a:rPr lang="en-US" altLang="zh-CN" sz="1200" b="1" dirty="0">
                <a:latin typeface="Times New Roman" panose="02020603050405020304" pitchFamily="18" charset="0"/>
                <a:cs typeface="Times New Roman" panose="02020603050405020304" pitchFamily="18" charset="0"/>
              </a:rPr>
              <a:t>        &lt;</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&gt; = { </a:t>
            </a:r>
            <a:r>
              <a:rPr lang="en-US" altLang="zh-CN" sz="1200" b="1" i="1" dirty="0" err="1">
                <a:latin typeface="Times New Roman" panose="02020603050405020304" pitchFamily="18" charset="0"/>
                <a:cs typeface="Times New Roman" panose="02020603050405020304" pitchFamily="18" charset="0"/>
              </a:rPr>
              <a:t>mz</a:t>
            </a:r>
            <a:r>
              <a:rPr lang="en-US" altLang="zh-CN" sz="1200" b="1" i="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a:t>
            </a:r>
            <a:r>
              <a:rPr lang="en-US" altLang="zh-CN" sz="1200" b="1" i="1" dirty="0" err="1">
                <a:latin typeface="Times New Roman" panose="02020603050405020304" pitchFamily="18" charset="0"/>
                <a:cs typeface="Times New Roman" panose="02020603050405020304" pitchFamily="18" charset="0"/>
              </a:rPr>
              <a:t>z</a:t>
            </a:r>
            <a:r>
              <a:rPr lang="en-US" altLang="zh-CN" sz="1200" b="1" dirty="0" err="1">
                <a:latin typeface="Times New Roman" panose="02020603050405020304" pitchFamily="18" charset="0"/>
                <a:cs typeface="Times New Roman" panose="02020603050405020304" pitchFamily="18" charset="0"/>
              </a:rPr>
              <a:t>∈Z</a:t>
            </a:r>
            <a:r>
              <a:rPr lang="en-US" altLang="zh-CN" sz="1200" b="1" i="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 </a:t>
            </a:r>
            <a:r>
              <a:rPr lang="en-US" altLang="zh-CN" sz="1200" b="1" i="1" dirty="0" err="1">
                <a:latin typeface="Times New Roman" panose="02020603050405020304" pitchFamily="18" charset="0"/>
                <a:cs typeface="Times New Roman" panose="02020603050405020304" pitchFamily="18" charset="0"/>
              </a:rPr>
              <a:t>m</a:t>
            </a:r>
            <a:r>
              <a:rPr lang="en-US" altLang="zh-CN" sz="1200" b="1" dirty="0" err="1">
                <a:latin typeface="Times New Roman" panose="02020603050405020304" pitchFamily="18" charset="0"/>
                <a:cs typeface="Times New Roman" panose="02020603050405020304" pitchFamily="18" charset="0"/>
              </a:rPr>
              <a:t>Z</a:t>
            </a:r>
            <a:r>
              <a:rPr lang="zh-CN" altLang="en-US"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&gt;0 </a:t>
            </a:r>
            <a:r>
              <a:rPr lang="en-US" altLang="zh-CN" sz="1200" b="1" dirty="0">
                <a:solidFill>
                  <a:srgbClr val="000066"/>
                </a:solidFill>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97</a:t>
            </a:fld>
            <a:endParaRPr lang="zh-CN" altLang="en-US"/>
          </a:p>
        </p:txBody>
      </p:sp>
    </p:spTree>
    <p:extLst>
      <p:ext uri="{BB962C8B-B14F-4D97-AF65-F5344CB8AC3E}">
        <p14:creationId xmlns:p14="http://schemas.microsoft.com/office/powerpoint/2010/main" val="50687979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900" kern="100" dirty="0">
                <a:effectLst/>
                <a:latin typeface="+mn-ea"/>
                <a:ea typeface="+mn-ea"/>
                <a:cs typeface="Times New Roman" panose="02020603050405020304" pitchFamily="18" charset="0"/>
              </a:rPr>
              <a:t>子群的元素个数直接等于其对应正因子的值。具体关系如下：</a:t>
            </a:r>
          </a:p>
          <a:p>
            <a:pPr indent="266700" algn="just"/>
            <a:r>
              <a:rPr lang="zh-CN" altLang="zh-CN" sz="900" kern="100" dirty="0">
                <a:effectLst/>
                <a:latin typeface="+mn-ea"/>
                <a:ea typeface="+mn-ea"/>
                <a:cs typeface="Times New Roman" panose="02020603050405020304" pitchFamily="18" charset="0"/>
              </a:rPr>
              <a:t>每个正因子 </a:t>
            </a:r>
            <a:r>
              <a:rPr lang="en-US" altLang="zh-CN" sz="900" i="1" kern="100" dirty="0">
                <a:effectLst/>
                <a:latin typeface="+mn-ea"/>
                <a:ea typeface="+mn-ea"/>
                <a:cs typeface="Times New Roman" panose="02020603050405020304" pitchFamily="18" charset="0"/>
              </a:rPr>
              <a:t>d</a:t>
            </a:r>
            <a:r>
              <a:rPr lang="en-US" altLang="zh-CN" sz="900" kern="100" dirty="0">
                <a:effectLst/>
                <a:latin typeface="+mn-ea"/>
                <a:ea typeface="+mn-ea"/>
                <a:cs typeface="Times New Roman" panose="02020603050405020304" pitchFamily="18" charset="0"/>
              </a:rPr>
              <a:t> </a:t>
            </a:r>
            <a:r>
              <a:rPr lang="zh-CN" altLang="zh-CN" sz="900" kern="100" dirty="0">
                <a:effectLst/>
                <a:latin typeface="+mn-ea"/>
                <a:ea typeface="+mn-ea"/>
                <a:cs typeface="Times New Roman" panose="02020603050405020304" pitchFamily="18" charset="0"/>
              </a:rPr>
              <a:t>对应一个包含 </a:t>
            </a:r>
            <a:r>
              <a:rPr lang="en-US" altLang="zh-CN" sz="900" i="1" kern="100" dirty="0">
                <a:effectLst/>
                <a:latin typeface="+mn-ea"/>
                <a:ea typeface="+mn-ea"/>
                <a:cs typeface="Times New Roman" panose="02020603050405020304" pitchFamily="18" charset="0"/>
              </a:rPr>
              <a:t>d</a:t>
            </a:r>
            <a:r>
              <a:rPr lang="en-US" altLang="zh-CN" sz="900" kern="100" dirty="0">
                <a:effectLst/>
                <a:latin typeface="+mn-ea"/>
                <a:ea typeface="+mn-ea"/>
                <a:cs typeface="Times New Roman" panose="02020603050405020304" pitchFamily="18" charset="0"/>
              </a:rPr>
              <a:t> </a:t>
            </a:r>
            <a:r>
              <a:rPr lang="zh-CN" altLang="zh-CN" sz="900" kern="100" dirty="0">
                <a:effectLst/>
                <a:latin typeface="+mn-ea"/>
                <a:ea typeface="+mn-ea"/>
                <a:cs typeface="Times New Roman" panose="02020603050405020304" pitchFamily="18" charset="0"/>
              </a:rPr>
              <a:t>个元素的子群。</a:t>
            </a:r>
          </a:p>
          <a:p>
            <a:pPr indent="266700" algn="just"/>
            <a:r>
              <a:rPr lang="zh-CN" altLang="zh-CN" sz="900" kern="100" dirty="0">
                <a:effectLst/>
                <a:latin typeface="+mn-ea"/>
                <a:ea typeface="+mn-ea"/>
                <a:cs typeface="Times New Roman" panose="02020603050405020304" pitchFamily="18" charset="0"/>
              </a:rPr>
              <a:t>这些子群的生成元为 </a:t>
            </a:r>
            <a:r>
              <a:rPr lang="en-US" altLang="zh-CN" sz="900" kern="100" dirty="0">
                <a:effectLst/>
                <a:latin typeface="+mn-ea"/>
                <a:ea typeface="+mn-ea"/>
                <a:cs typeface="Times New Roman" panose="02020603050405020304" pitchFamily="18" charset="0"/>
              </a:rPr>
              <a:t>12</a:t>
            </a:r>
            <a:r>
              <a:rPr lang="en-US" altLang="zh-CN" sz="900" kern="100" dirty="0">
                <a:effectLst/>
                <a:latin typeface="+mn-ea"/>
                <a:ea typeface="+mn-ea"/>
                <a:cs typeface="Malgun Gothic" panose="020B0503020000020004" pitchFamily="34" charset="-127"/>
              </a:rPr>
              <a:t>/</a:t>
            </a:r>
            <a:r>
              <a:rPr lang="en-US" altLang="zh-CN" sz="900" i="1" kern="100" dirty="0">
                <a:effectLst/>
                <a:latin typeface="+mn-ea"/>
                <a:ea typeface="+mn-ea"/>
                <a:cs typeface="Times New Roman" panose="02020603050405020304" pitchFamily="18" charset="0"/>
              </a:rPr>
              <a:t>d</a:t>
            </a:r>
            <a:r>
              <a:rPr lang="en-US" altLang="zh-CN" sz="900" kern="100" dirty="0">
                <a:effectLst/>
                <a:latin typeface="+mn-ea"/>
                <a:ea typeface="+mn-ea"/>
                <a:cs typeface="Times New Roman" panose="02020603050405020304" pitchFamily="18" charset="0"/>
              </a:rPr>
              <a:t>​</a:t>
            </a:r>
            <a:r>
              <a:rPr lang="zh-CN" altLang="zh-CN" sz="900" kern="100" dirty="0">
                <a:effectLst/>
                <a:latin typeface="+mn-ea"/>
                <a:ea typeface="+mn-ea"/>
                <a:cs typeface="Times New Roman" panose="02020603050405020304" pitchFamily="18" charset="0"/>
              </a:rPr>
              <a:t>，子群的元素为生成元的倍数。</a:t>
            </a:r>
            <a:endParaRPr lang="en-US" altLang="zh-CN" sz="900" kern="100" dirty="0">
              <a:effectLst/>
              <a:latin typeface="+mn-ea"/>
              <a:ea typeface="+mn-ea"/>
              <a:cs typeface="Times New Roman" panose="02020603050405020304" pitchFamily="18" charset="0"/>
            </a:endParaRPr>
          </a:p>
          <a:p>
            <a:pPr eaLnBrk="1" hangingPunct="1">
              <a:buFontTx/>
              <a:buNone/>
            </a:pPr>
            <a:r>
              <a:rPr lang="zh-CN" altLang="en-US" sz="900" b="1" dirty="0">
                <a:solidFill>
                  <a:srgbClr val="00B0F0"/>
                </a:solidFill>
              </a:rPr>
              <a:t>例</a:t>
            </a:r>
            <a:r>
              <a:rPr lang="en-US" altLang="zh-CN" sz="900" b="1" i="1" dirty="0">
                <a:solidFill>
                  <a:srgbClr val="00B0F0"/>
                </a:solidFill>
              </a:rPr>
              <a:t> </a:t>
            </a:r>
            <a:r>
              <a:rPr lang="en-US" altLang="zh-CN" sz="900" b="1" dirty="0">
                <a:solidFill>
                  <a:srgbClr val="00B0F0"/>
                </a:solidFill>
                <a:latin typeface="Times New Roman" panose="02020603050405020304" pitchFamily="18" charset="0"/>
                <a:cs typeface="Times New Roman" panose="02020603050405020304" pitchFamily="18" charset="0"/>
              </a:rPr>
              <a:t>(2)</a:t>
            </a:r>
            <a:r>
              <a:rPr lang="en-US" altLang="zh-CN" sz="900" b="1" i="1" dirty="0">
                <a:solidFill>
                  <a:srgbClr val="000066"/>
                </a:solidFill>
              </a:rPr>
              <a:t> </a:t>
            </a:r>
            <a:r>
              <a:rPr lang="en-US" altLang="zh-CN" sz="900" b="1" i="1" dirty="0">
                <a:latin typeface="Times New Roman" panose="02020603050405020304" pitchFamily="18" charset="0"/>
                <a:cs typeface="Times New Roman" panose="02020603050405020304" pitchFamily="18" charset="0"/>
              </a:rPr>
              <a:t>G</a:t>
            </a:r>
            <a:r>
              <a:rPr lang="en-US" altLang="zh-CN" sz="900" b="1" dirty="0">
                <a:latin typeface="Times New Roman" panose="02020603050405020304" pitchFamily="18" charset="0"/>
                <a:cs typeface="Times New Roman" panose="02020603050405020304" pitchFamily="18" charset="0"/>
              </a:rPr>
              <a:t>=</a:t>
            </a:r>
            <a:r>
              <a:rPr lang="en-US" altLang="zh-CN" sz="900" b="1" i="1" dirty="0">
                <a:latin typeface="Times New Roman" panose="02020603050405020304" pitchFamily="18" charset="0"/>
                <a:cs typeface="Times New Roman" panose="02020603050405020304" pitchFamily="18" charset="0"/>
              </a:rPr>
              <a:t>Z</a:t>
            </a:r>
            <a:r>
              <a:rPr lang="en-US" altLang="zh-CN" sz="900" b="1" baseline="-25000"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是</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阶循环群</a:t>
            </a:r>
            <a:r>
              <a:rPr lang="en-US" altLang="zh-CN" sz="900" b="1" dirty="0">
                <a:latin typeface="Times New Roman" panose="02020603050405020304" pitchFamily="18" charset="0"/>
                <a:cs typeface="Times New Roman" panose="02020603050405020304" pitchFamily="18" charset="0"/>
              </a:rPr>
              <a:t>. 12</a:t>
            </a:r>
            <a:r>
              <a:rPr lang="zh-CN" altLang="en-US" sz="900" b="1" dirty="0">
                <a:latin typeface="Times New Roman" panose="02020603050405020304" pitchFamily="18" charset="0"/>
                <a:cs typeface="Times New Roman" panose="02020603050405020304" pitchFamily="18" charset="0"/>
              </a:rPr>
              <a:t>的正因子是</a:t>
            </a:r>
            <a:r>
              <a:rPr lang="en-US" altLang="zh-CN" sz="900" b="1" dirty="0">
                <a:latin typeface="Times New Roman" panose="02020603050405020304" pitchFamily="18" charset="0"/>
                <a:cs typeface="Times New Roman" panose="02020603050405020304" pitchFamily="18" charset="0"/>
              </a:rPr>
              <a:t>1, 2, 3, 4, 6 </a:t>
            </a:r>
            <a:r>
              <a:rPr lang="zh-CN" altLang="en-US" sz="900" b="1" dirty="0">
                <a:latin typeface="Times New Roman" panose="02020603050405020304" pitchFamily="18" charset="0"/>
                <a:cs typeface="Times New Roman" panose="02020603050405020304" pitchFamily="18" charset="0"/>
              </a:rPr>
              <a:t>和</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，对</a:t>
            </a:r>
            <a:r>
              <a:rPr lang="zh-CN" altLang="zh-CN" sz="900" b="1" dirty="0">
                <a:effectLst/>
                <a:latin typeface="Times New Roman" panose="02020603050405020304" pitchFamily="18" charset="0"/>
                <a:ea typeface="宋体" panose="02010600030101010101" pitchFamily="2" charset="-122"/>
                <a:cs typeface="Times New Roman" panose="02020603050405020304" pitchFamily="18" charset="0"/>
              </a:rPr>
              <a:t>每个正</a:t>
            </a:r>
            <a:r>
              <a:rPr lang="zh-CN" altLang="en-US" sz="900" b="1" dirty="0">
                <a:effectLst/>
                <a:latin typeface="Times New Roman" panose="02020603050405020304" pitchFamily="18" charset="0"/>
                <a:ea typeface="宋体" panose="02010600030101010101" pitchFamily="2" charset="-122"/>
                <a:cs typeface="Times New Roman" panose="02020603050405020304" pitchFamily="18" charset="0"/>
              </a:rPr>
              <a:t>因子</a:t>
            </a:r>
            <a:r>
              <a:rPr lang="zh-CN" altLang="zh-CN" sz="9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9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900" b="1" dirty="0">
                <a:effectLst/>
                <a:latin typeface="Times New Roman" panose="02020603050405020304" pitchFamily="18" charset="0"/>
                <a:cs typeface="Times New Roman" panose="02020603050405020304" pitchFamily="18" charset="0"/>
              </a:rPr>
              <a:t> </a:t>
            </a:r>
            <a:r>
              <a:rPr lang="zh-CN" altLang="zh-CN" sz="900" b="1" dirty="0">
                <a:effectLst/>
                <a:latin typeface="Times New Roman" panose="02020603050405020304" pitchFamily="18" charset="0"/>
                <a:ea typeface="宋体" panose="02010600030101010101" pitchFamily="2" charset="-122"/>
                <a:cs typeface="Times New Roman" panose="02020603050405020304" pitchFamily="18" charset="0"/>
              </a:rPr>
              <a:t>构造一个阶数为</a:t>
            </a:r>
            <a:r>
              <a:rPr lang="zh-CN" altLang="zh-CN" sz="9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9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900" b="1" dirty="0">
                <a:effectLst/>
                <a:latin typeface="Times New Roman" panose="02020603050405020304" pitchFamily="18" charset="0"/>
                <a:cs typeface="Times New Roman" panose="02020603050405020304" pitchFamily="18" charset="0"/>
              </a:rPr>
              <a:t> </a:t>
            </a:r>
            <a:r>
              <a:rPr lang="zh-CN" altLang="zh-CN" sz="900" b="1" dirty="0">
                <a:effectLst/>
                <a:latin typeface="Times New Roman" panose="02020603050405020304" pitchFamily="18" charset="0"/>
                <a:ea typeface="宋体" panose="02010600030101010101" pitchFamily="2" charset="-122"/>
                <a:cs typeface="Times New Roman" panose="02020603050405020304" pitchFamily="18" charset="0"/>
              </a:rPr>
              <a:t>的子群</a:t>
            </a:r>
            <a:r>
              <a:rPr lang="en-US" altLang="zh-CN" sz="900" b="1" dirty="0">
                <a:latin typeface="Times New Roman" panose="02020603050405020304" pitchFamily="18" charset="0"/>
                <a:ea typeface="宋体" panose="02010600030101010101" pitchFamily="2" charset="-122"/>
                <a:cs typeface="Times New Roman" panose="02020603050405020304" pitchFamily="18" charset="0"/>
              </a:rPr>
              <a:t>.</a:t>
            </a:r>
          </a:p>
          <a:p>
            <a:pPr marL="0" indent="0" eaLnBrk="1" hangingPunct="1">
              <a:buFontTx/>
              <a:buNone/>
            </a:pPr>
            <a:r>
              <a:rPr lang="en-US" altLang="zh-CN" sz="8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800" dirty="0">
                <a:latin typeface="楷体" panose="02010609060101010101" pitchFamily="49" charset="-122"/>
                <a:ea typeface="楷体" panose="02010609060101010101" pitchFamily="49" charset="-122"/>
                <a:cs typeface="Times New Roman" panose="02020603050405020304" pitchFamily="18" charset="0"/>
              </a:rPr>
              <a:t>对加法运算下模</a:t>
            </a:r>
            <a:r>
              <a:rPr lang="en-US" altLang="zh-CN" sz="800" dirty="0">
                <a:latin typeface="楷体" panose="02010609060101010101" pitchFamily="49" charset="-122"/>
                <a:ea typeface="楷体" panose="02010609060101010101" pitchFamily="49" charset="-122"/>
                <a:cs typeface="Times New Roman" panose="02020603050405020304" pitchFamily="18" charset="0"/>
              </a:rPr>
              <a:t>12,</a:t>
            </a:r>
            <a:r>
              <a:rPr lang="zh-CN" altLang="en-US" sz="800" dirty="0">
                <a:latin typeface="楷体" panose="02010609060101010101" pitchFamily="49" charset="-122"/>
                <a:ea typeface="楷体" panose="02010609060101010101" pitchFamily="49" charset="-122"/>
                <a:cs typeface="Times New Roman" panose="02020603050405020304" pitchFamily="18" charset="0"/>
              </a:rPr>
              <a:t>子群必须满足包含单位元</a:t>
            </a:r>
            <a:r>
              <a:rPr lang="en-US" altLang="zh-CN" sz="800" dirty="0">
                <a:latin typeface="楷体" panose="02010609060101010101" pitchFamily="49" charset="-122"/>
                <a:ea typeface="楷体" panose="02010609060101010101" pitchFamily="49" charset="-122"/>
                <a:cs typeface="Times New Roman" panose="02020603050405020304" pitchFamily="18" charset="0"/>
              </a:rPr>
              <a:t>0</a:t>
            </a:r>
            <a:r>
              <a:rPr lang="zh-CN" altLang="en-US" sz="800" dirty="0">
                <a:latin typeface="楷体" panose="02010609060101010101" pitchFamily="49" charset="-122"/>
                <a:ea typeface="楷体" panose="02010609060101010101" pitchFamily="49" charset="-122"/>
                <a:cs typeface="Times New Roman" panose="02020603050405020304" pitchFamily="18" charset="0"/>
              </a:rPr>
              <a:t>、子群中的任意两个元素的和</a:t>
            </a:r>
            <a:r>
              <a:rPr lang="en-US" altLang="zh-CN" sz="800" dirty="0">
                <a:latin typeface="楷体" panose="02010609060101010101" pitchFamily="49" charset="-122"/>
                <a:ea typeface="楷体" panose="02010609060101010101" pitchFamily="49" charset="-122"/>
                <a:cs typeface="Times New Roman" panose="02020603050405020304" pitchFamily="18" charset="0"/>
              </a:rPr>
              <a:t>(</a:t>
            </a:r>
            <a:r>
              <a:rPr lang="zh-CN" altLang="en-US" sz="800" dirty="0">
                <a:latin typeface="楷体" panose="02010609060101010101" pitchFamily="49" charset="-122"/>
                <a:ea typeface="楷体" panose="02010609060101010101" pitchFamily="49" charset="-122"/>
                <a:cs typeface="Times New Roman" panose="02020603050405020304" pitchFamily="18" charset="0"/>
              </a:rPr>
              <a:t>模</a:t>
            </a:r>
            <a:r>
              <a:rPr lang="en-US" altLang="zh-CN" sz="800" dirty="0">
                <a:latin typeface="楷体" panose="02010609060101010101" pitchFamily="49" charset="-122"/>
                <a:ea typeface="楷体" panose="02010609060101010101" pitchFamily="49" charset="-122"/>
                <a:cs typeface="Times New Roman" panose="02020603050405020304" pitchFamily="18" charset="0"/>
              </a:rPr>
              <a:t>12)</a:t>
            </a:r>
            <a:r>
              <a:rPr lang="zh-CN" altLang="en-US" sz="800" dirty="0">
                <a:latin typeface="楷体" panose="02010609060101010101" pitchFamily="49" charset="-122"/>
                <a:ea typeface="楷体" panose="02010609060101010101" pitchFamily="49" charset="-122"/>
                <a:cs typeface="Times New Roman" panose="02020603050405020304" pitchFamily="18" charset="0"/>
              </a:rPr>
              <a:t>满足封闭性、子群中的每个元素的逆元</a:t>
            </a:r>
            <a:r>
              <a:rPr lang="en-US" altLang="zh-CN" sz="800" dirty="0">
                <a:latin typeface="楷体" panose="02010609060101010101" pitchFamily="49" charset="-122"/>
                <a:ea typeface="楷体" panose="02010609060101010101" pitchFamily="49" charset="-122"/>
                <a:cs typeface="Times New Roman" panose="02020603050405020304" pitchFamily="18" charset="0"/>
              </a:rPr>
              <a:t>(</a:t>
            </a:r>
            <a:r>
              <a:rPr lang="zh-CN" altLang="en-US" sz="800" dirty="0">
                <a:latin typeface="楷体" panose="02010609060101010101" pitchFamily="49" charset="-122"/>
                <a:ea typeface="楷体" panose="02010609060101010101" pitchFamily="49" charset="-122"/>
                <a:cs typeface="Times New Roman" panose="02020603050405020304" pitchFamily="18" charset="0"/>
              </a:rPr>
              <a:t>模</a:t>
            </a:r>
            <a:r>
              <a:rPr lang="en-US" altLang="zh-CN" sz="800" dirty="0">
                <a:latin typeface="楷体" panose="02010609060101010101" pitchFamily="49" charset="-122"/>
                <a:ea typeface="楷体" panose="02010609060101010101" pitchFamily="49" charset="-122"/>
                <a:cs typeface="Times New Roman" panose="02020603050405020304" pitchFamily="18" charset="0"/>
              </a:rPr>
              <a:t>12)</a:t>
            </a:r>
            <a:r>
              <a:rPr lang="zh-CN" altLang="en-US" sz="800" dirty="0">
                <a:latin typeface="楷体" panose="02010609060101010101" pitchFamily="49" charset="-122"/>
                <a:ea typeface="楷体" panose="02010609060101010101" pitchFamily="49" charset="-122"/>
                <a:cs typeface="Times New Roman" panose="02020603050405020304" pitchFamily="18" charset="0"/>
              </a:rPr>
              <a:t>也在子群中</a:t>
            </a:r>
            <a:r>
              <a:rPr lang="en-US" altLang="zh-CN" sz="800" dirty="0">
                <a:latin typeface="楷体" panose="02010609060101010101" pitchFamily="49" charset="-122"/>
                <a:ea typeface="楷体" panose="02010609060101010101" pitchFamily="49" charset="-122"/>
                <a:cs typeface="Times New Roman" panose="02020603050405020304" pitchFamily="18" charset="0"/>
              </a:rPr>
              <a:t>.</a:t>
            </a:r>
            <a:r>
              <a:rPr lang="en-US" altLang="zh-CN" sz="900" b="1" dirty="0">
                <a:latin typeface="Times New Roman" panose="02020603050405020304" pitchFamily="18" charset="0"/>
                <a:cs typeface="Times New Roman" panose="02020603050405020304" pitchFamily="18" charset="0"/>
              </a:rPr>
              <a:t>    </a:t>
            </a:r>
          </a:p>
          <a:p>
            <a:pPr marL="0" indent="0">
              <a:lnSpc>
                <a:spcPct val="10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1 </a:t>
            </a:r>
            <a:r>
              <a:rPr lang="zh-CN" altLang="en-US" sz="900" b="1" dirty="0">
                <a:latin typeface="Times New Roman" panose="02020603050405020304" pitchFamily="18" charset="0"/>
                <a:cs typeface="Times New Roman" panose="02020603050405020304" pitchFamily="18" charset="0"/>
              </a:rPr>
              <a:t>阶子群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 </a:t>
            </a:r>
            <a:r>
              <a:rPr lang="en-US" altLang="zh-CN" sz="900" b="1" dirty="0">
                <a:latin typeface="Times New Roman" panose="02020603050405020304" pitchFamily="18" charset="0"/>
                <a:cs typeface="Times New Roman" panose="02020603050405020304" pitchFamily="18" charset="0"/>
              </a:rPr>
              <a:t>&lt;12&gt; = &lt;0&gt; = {0}</a:t>
            </a:r>
          </a:p>
          <a:p>
            <a:pPr marL="0" indent="0">
              <a:lnSpc>
                <a:spcPct val="11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2</a:t>
            </a:r>
            <a:r>
              <a:rPr lang="zh-CN" altLang="en-US" sz="900" b="1" dirty="0">
                <a:latin typeface="Times New Roman" panose="02020603050405020304" pitchFamily="18" charset="0"/>
                <a:cs typeface="Times New Roman" panose="02020603050405020304" pitchFamily="18" charset="0"/>
              </a:rPr>
              <a:t>阶数子群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用</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除以正因子</a:t>
            </a:r>
            <a:r>
              <a:rPr lang="en-US" altLang="zh-CN" sz="900" b="1" dirty="0">
                <a:latin typeface="Times New Roman" panose="02020603050405020304" pitchFamily="18" charset="0"/>
                <a:cs typeface="Times New Roman" panose="02020603050405020304" pitchFamily="18" charset="0"/>
              </a:rPr>
              <a:t>2</a:t>
            </a:r>
            <a:r>
              <a:rPr lang="zh-CN" altLang="en-US" sz="900" b="1" dirty="0">
                <a:latin typeface="Times New Roman" panose="02020603050405020304" pitchFamily="18" charset="0"/>
                <a:cs typeface="Times New Roman" panose="02020603050405020304" pitchFamily="18" charset="0"/>
              </a:rPr>
              <a:t>得到的元素</a:t>
            </a:r>
            <a:r>
              <a:rPr lang="en-US" altLang="zh-CN" sz="900" b="1" dirty="0">
                <a:latin typeface="Times New Roman" panose="02020603050405020304" pitchFamily="18" charset="0"/>
                <a:cs typeface="Times New Roman" panose="02020603050405020304" pitchFamily="18" charset="0"/>
              </a:rPr>
              <a:t>6</a:t>
            </a:r>
            <a:r>
              <a:rPr lang="zh-CN" altLang="en-US" sz="900" b="1" dirty="0">
                <a:latin typeface="Times New Roman" panose="02020603050405020304" pitchFamily="18" charset="0"/>
                <a:cs typeface="Times New Roman" panose="02020603050405020304" pitchFamily="18" charset="0"/>
              </a:rPr>
              <a:t>作为生成元</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得到子群 </a:t>
            </a:r>
            <a:r>
              <a:rPr lang="en-US" altLang="zh-CN" sz="900" b="1" dirty="0">
                <a:latin typeface="Times New Roman" panose="02020603050405020304" pitchFamily="18" charset="0"/>
                <a:cs typeface="Times New Roman" panose="02020603050405020304" pitchFamily="18" charset="0"/>
              </a:rPr>
              <a:t>&lt;6&gt; = { 0, 6 }</a:t>
            </a:r>
          </a:p>
          <a:p>
            <a:pPr marL="0" indent="0">
              <a:lnSpc>
                <a:spcPct val="11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3</a:t>
            </a:r>
            <a:r>
              <a:rPr lang="zh-CN" altLang="en-US" sz="900" b="1" dirty="0">
                <a:latin typeface="Times New Roman" panose="02020603050405020304" pitchFamily="18" charset="0"/>
                <a:cs typeface="Times New Roman" panose="02020603050405020304" pitchFamily="18" charset="0"/>
              </a:rPr>
              <a:t>阶数子群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用</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除以正因子</a:t>
            </a:r>
            <a:r>
              <a:rPr lang="en-US" altLang="zh-CN" sz="900" b="1" dirty="0">
                <a:latin typeface="Times New Roman" panose="02020603050405020304" pitchFamily="18" charset="0"/>
                <a:cs typeface="Times New Roman" panose="02020603050405020304" pitchFamily="18" charset="0"/>
              </a:rPr>
              <a:t>3</a:t>
            </a:r>
            <a:r>
              <a:rPr lang="zh-CN" altLang="en-US" sz="900" b="1" dirty="0">
                <a:latin typeface="Times New Roman" panose="02020603050405020304" pitchFamily="18" charset="0"/>
                <a:cs typeface="Times New Roman" panose="02020603050405020304" pitchFamily="18" charset="0"/>
              </a:rPr>
              <a:t>得到的元素</a:t>
            </a:r>
            <a:r>
              <a:rPr lang="en-US" altLang="zh-CN" sz="900" b="1" dirty="0">
                <a:latin typeface="Times New Roman" panose="02020603050405020304" pitchFamily="18" charset="0"/>
                <a:cs typeface="Times New Roman" panose="02020603050405020304" pitchFamily="18" charset="0"/>
              </a:rPr>
              <a:t>4</a:t>
            </a:r>
            <a:r>
              <a:rPr lang="zh-CN" altLang="en-US" sz="900" b="1" dirty="0">
                <a:latin typeface="Times New Roman" panose="02020603050405020304" pitchFamily="18" charset="0"/>
                <a:cs typeface="Times New Roman" panose="02020603050405020304" pitchFamily="18" charset="0"/>
              </a:rPr>
              <a:t>作为生成元</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得到子群 </a:t>
            </a:r>
            <a:r>
              <a:rPr lang="en-US" altLang="zh-CN" sz="900" b="1" dirty="0">
                <a:latin typeface="Times New Roman" panose="02020603050405020304" pitchFamily="18" charset="0"/>
                <a:cs typeface="Times New Roman" panose="02020603050405020304" pitchFamily="18" charset="0"/>
              </a:rPr>
              <a:t>&lt;4&gt; = {0, 4, 8 }</a:t>
            </a:r>
          </a:p>
          <a:p>
            <a:pPr marL="0" indent="0">
              <a:lnSpc>
                <a:spcPct val="11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4</a:t>
            </a:r>
            <a:r>
              <a:rPr lang="zh-CN" altLang="en-US" sz="900" b="1" dirty="0">
                <a:latin typeface="Times New Roman" panose="02020603050405020304" pitchFamily="18" charset="0"/>
                <a:cs typeface="Times New Roman" panose="02020603050405020304" pitchFamily="18" charset="0"/>
              </a:rPr>
              <a:t>阶数子群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用</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除以正因子</a:t>
            </a:r>
            <a:r>
              <a:rPr lang="en-US" altLang="zh-CN" sz="900" b="1" dirty="0">
                <a:latin typeface="Times New Roman" panose="02020603050405020304" pitchFamily="18" charset="0"/>
                <a:cs typeface="Times New Roman" panose="02020603050405020304" pitchFamily="18" charset="0"/>
              </a:rPr>
              <a:t>4</a:t>
            </a:r>
            <a:r>
              <a:rPr lang="zh-CN" altLang="en-US" sz="900" b="1" dirty="0">
                <a:latin typeface="Times New Roman" panose="02020603050405020304" pitchFamily="18" charset="0"/>
                <a:cs typeface="Times New Roman" panose="02020603050405020304" pitchFamily="18" charset="0"/>
              </a:rPr>
              <a:t>得到的元素</a:t>
            </a:r>
            <a:r>
              <a:rPr lang="en-US" altLang="zh-CN" sz="900" b="1" dirty="0">
                <a:latin typeface="Times New Roman" panose="02020603050405020304" pitchFamily="18" charset="0"/>
                <a:cs typeface="Times New Roman" panose="02020603050405020304" pitchFamily="18" charset="0"/>
              </a:rPr>
              <a:t>3</a:t>
            </a:r>
            <a:r>
              <a:rPr lang="zh-CN" altLang="en-US" sz="900" b="1" dirty="0">
                <a:latin typeface="Times New Roman" panose="02020603050405020304" pitchFamily="18" charset="0"/>
                <a:cs typeface="Times New Roman" panose="02020603050405020304" pitchFamily="18" charset="0"/>
              </a:rPr>
              <a:t>作为生成元</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得到子群 </a:t>
            </a:r>
            <a:r>
              <a:rPr lang="en-US" altLang="zh-CN" sz="900" b="1" dirty="0">
                <a:latin typeface="Times New Roman" panose="02020603050405020304" pitchFamily="18" charset="0"/>
                <a:cs typeface="Times New Roman" panose="02020603050405020304" pitchFamily="18" charset="0"/>
              </a:rPr>
              <a:t>&lt;3&gt; = {0, 3, 6, 9 }</a:t>
            </a:r>
          </a:p>
          <a:p>
            <a:pPr marL="0" indent="0">
              <a:lnSpc>
                <a:spcPct val="11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6</a:t>
            </a:r>
            <a:r>
              <a:rPr lang="zh-CN" altLang="en-US" sz="900" b="1" dirty="0">
                <a:latin typeface="Times New Roman" panose="02020603050405020304" pitchFamily="18" charset="0"/>
                <a:cs typeface="Times New Roman" panose="02020603050405020304" pitchFamily="18" charset="0"/>
              </a:rPr>
              <a:t>阶数子群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用</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除以正因子</a:t>
            </a:r>
            <a:r>
              <a:rPr lang="en-US" altLang="zh-CN" sz="900" b="1" dirty="0">
                <a:latin typeface="Times New Roman" panose="02020603050405020304" pitchFamily="18" charset="0"/>
                <a:cs typeface="Times New Roman" panose="02020603050405020304" pitchFamily="18" charset="0"/>
              </a:rPr>
              <a:t>6</a:t>
            </a:r>
            <a:r>
              <a:rPr lang="zh-CN" altLang="en-US" sz="900" b="1" dirty="0">
                <a:latin typeface="Times New Roman" panose="02020603050405020304" pitchFamily="18" charset="0"/>
                <a:cs typeface="Times New Roman" panose="02020603050405020304" pitchFamily="18" charset="0"/>
              </a:rPr>
              <a:t>得到的元素</a:t>
            </a:r>
            <a:r>
              <a:rPr lang="en-US" altLang="zh-CN" sz="900" b="1" dirty="0">
                <a:latin typeface="Times New Roman" panose="02020603050405020304" pitchFamily="18" charset="0"/>
                <a:cs typeface="Times New Roman" panose="02020603050405020304" pitchFamily="18" charset="0"/>
              </a:rPr>
              <a:t>2</a:t>
            </a:r>
            <a:r>
              <a:rPr lang="zh-CN" altLang="en-US" sz="900" b="1" dirty="0">
                <a:latin typeface="Times New Roman" panose="02020603050405020304" pitchFamily="18" charset="0"/>
                <a:cs typeface="Times New Roman" panose="02020603050405020304" pitchFamily="18" charset="0"/>
              </a:rPr>
              <a:t>作为生成元</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得到子群 </a:t>
            </a:r>
            <a:r>
              <a:rPr lang="en-US" altLang="zh-CN" sz="900" b="1" dirty="0">
                <a:latin typeface="Times New Roman" panose="02020603050405020304" pitchFamily="18" charset="0"/>
                <a:cs typeface="Times New Roman" panose="02020603050405020304" pitchFamily="18" charset="0"/>
              </a:rPr>
              <a:t>&lt;6&gt; = {0, 2, 4, 6, 8, 10 }</a:t>
            </a:r>
          </a:p>
          <a:p>
            <a:pPr marL="0" indent="0">
              <a:lnSpc>
                <a:spcPct val="11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阶数子群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用</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除以正因子</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得到的元素</a:t>
            </a:r>
            <a:r>
              <a:rPr lang="en-US" altLang="zh-CN" sz="900" b="1" dirty="0">
                <a:latin typeface="Times New Roman" panose="02020603050405020304" pitchFamily="18" charset="0"/>
                <a:cs typeface="Times New Roman" panose="02020603050405020304" pitchFamily="18" charset="0"/>
              </a:rPr>
              <a:t>1</a:t>
            </a:r>
            <a:r>
              <a:rPr lang="zh-CN" altLang="en-US" sz="900" b="1" dirty="0">
                <a:latin typeface="Times New Roman" panose="02020603050405020304" pitchFamily="18" charset="0"/>
                <a:cs typeface="Times New Roman" panose="02020603050405020304" pitchFamily="18" charset="0"/>
              </a:rPr>
              <a:t>作为生成元</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得到子群 </a:t>
            </a:r>
            <a:r>
              <a:rPr lang="en-US" altLang="zh-CN" sz="900" b="1" dirty="0">
                <a:latin typeface="Times New Roman" panose="02020603050405020304" pitchFamily="18" charset="0"/>
                <a:cs typeface="Times New Roman" panose="02020603050405020304" pitchFamily="18" charset="0"/>
              </a:rPr>
              <a:t>&lt;1&gt; = Z</a:t>
            </a:r>
            <a:r>
              <a:rPr lang="en-US" altLang="zh-CN" sz="900" b="1" baseline="-25000" dirty="0">
                <a:latin typeface="Times New Roman" panose="02020603050405020304" pitchFamily="18" charset="0"/>
                <a:cs typeface="Times New Roman" panose="02020603050405020304" pitchFamily="18" charset="0"/>
              </a:rPr>
              <a:t>12</a:t>
            </a:r>
            <a:r>
              <a:rPr lang="en-US" altLang="zh-CN" sz="900" b="1" dirty="0">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zh-CN" altLang="en-US" sz="9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验证</a:t>
            </a:r>
            <a:r>
              <a:rPr lang="en-US" altLang="zh-CN" sz="9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900" dirty="0">
                <a:latin typeface="Times New Roman" panose="02020603050405020304" pitchFamily="18" charset="0"/>
                <a:ea typeface="楷体" panose="02010609060101010101" pitchFamily="49" charset="-122"/>
                <a:cs typeface="Times New Roman" panose="02020603050405020304" pitchFamily="18" charset="0"/>
              </a:rPr>
              <a:t>①</a:t>
            </a:r>
            <a:r>
              <a:rPr lang="zh-CN" altLang="en-US" sz="900" dirty="0">
                <a:latin typeface="Times New Roman" panose="02020603050405020304" pitchFamily="18" charset="0"/>
                <a:ea typeface="楷体" panose="02010609060101010101" pitchFamily="49" charset="-122"/>
                <a:cs typeface="Times New Roman" panose="02020603050405020304" pitchFamily="18" charset="0"/>
              </a:rPr>
              <a:t>以</a:t>
            </a:r>
            <a:r>
              <a:rPr lang="en-US" altLang="zh-CN"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 4</a:t>
            </a:r>
            <a:r>
              <a:rPr lang="zh-CN" altLang="zh-CN"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阶</a:t>
            </a:r>
            <a:r>
              <a:rPr lang="zh-CN" altLang="en-US"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子群</a:t>
            </a:r>
            <a:r>
              <a:rPr lang="zh-CN" altLang="zh-CN"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为</a:t>
            </a:r>
            <a:r>
              <a:rPr lang="zh-CN" altLang="en-US"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例</a:t>
            </a:r>
            <a:r>
              <a:rPr lang="en-US" altLang="zh-CN"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900" kern="1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{0,3,6,9}</a:t>
            </a:r>
            <a:r>
              <a:rPr lang="zh-CN" altLang="zh-CN" sz="900" kern="1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中</a:t>
            </a:r>
            <a:r>
              <a:rPr lang="zh-CN" altLang="en-US" sz="900" kern="1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任意两元素</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运算的结果都在集合</a:t>
            </a:r>
            <a:r>
              <a:rPr lang="en-US" altLang="zh-CN" sz="900" kern="1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{0,3,6,9}</a:t>
            </a:r>
            <a:r>
              <a:rPr lang="zh-CN" altLang="zh-CN" sz="900" kern="1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900" kern="100" dirty="0">
                <a:latin typeface="Times New Roman" panose="02020603050405020304" pitchFamily="18" charset="0"/>
                <a:ea typeface="楷体" panose="02010609060101010101" pitchFamily="49" charset="-122"/>
                <a:cs typeface="Times New Roman" panose="02020603050405020304" pitchFamily="18" charset="0"/>
              </a:rPr>
              <a:t>满足</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封闭性</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900" kern="100" dirty="0">
                <a:latin typeface="Times New Roman" panose="02020603050405020304" pitchFamily="18" charset="0"/>
                <a:ea typeface="楷体" panose="02010609060101010101" pitchFamily="49" charset="-122"/>
                <a:cs typeface="Times New Roman" panose="02020603050405020304" pitchFamily="18" charset="0"/>
              </a:rPr>
              <a:t>②</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 0</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的逆元是</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0(0+0=0);3</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的逆元是</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9(3+9=12 ≡ 0(mod 12));6</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的逆元是</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 6(6+6 = 12 ≡ 0 (mod 12));9 </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的逆元是</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3(9+3=12 ≡ 0 (mod 12)) ,</a:t>
            </a:r>
            <a:r>
              <a:rPr lang="zh-CN" altLang="en-US" sz="900" kern="100" dirty="0">
                <a:latin typeface="Times New Roman" panose="02020603050405020304" pitchFamily="18" charset="0"/>
                <a:ea typeface="楷体" panose="02010609060101010101" pitchFamily="49" charset="-122"/>
                <a:cs typeface="Times New Roman" panose="02020603050405020304" pitchFamily="18" charset="0"/>
              </a:rPr>
              <a:t>逆元都在子群中</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000" b="1" dirty="0">
                <a:latin typeface="Times New Roman" panose="02020603050405020304" pitchFamily="18" charset="0"/>
                <a:cs typeface="Times New Roman" panose="02020603050405020304" pitchFamily="18" charset="0"/>
              </a:rPr>
              <a:t> </a:t>
            </a:r>
          </a:p>
          <a:p>
            <a:pPr marL="0" indent="0">
              <a:lnSpc>
                <a:spcPct val="110000"/>
              </a:lnSpc>
              <a:buFont typeface="Arial" panose="020B0604020202020204" pitchFamily="34" charset="0"/>
              <a:buNone/>
            </a:pPr>
            <a:endParaRPr lang="en-US" altLang="zh-CN" sz="900" b="1" dirty="0">
              <a:latin typeface="Times New Roman" panose="02020603050405020304" pitchFamily="18" charset="0"/>
              <a:cs typeface="Times New Roman" panose="02020603050405020304" pitchFamily="18" charset="0"/>
            </a:endParaRPr>
          </a:p>
          <a:p>
            <a:pPr marL="0" indent="0" eaLnBrk="1" hangingPunct="1">
              <a:buFontTx/>
              <a:buNone/>
            </a:pPr>
            <a:endParaRPr lang="en-US" altLang="zh-CN" sz="900" b="1" dirty="0">
              <a:latin typeface="Times New Roman" panose="02020603050405020304" pitchFamily="18" charset="0"/>
              <a:cs typeface="Times New Roman" panose="02020603050405020304" pitchFamily="18" charset="0"/>
            </a:endParaRPr>
          </a:p>
          <a:p>
            <a:pPr indent="266700" algn="just"/>
            <a:endParaRPr lang="zh-CN" altLang="zh-CN" sz="900" kern="100" dirty="0">
              <a:effectLst/>
              <a:latin typeface="+mn-ea"/>
              <a:ea typeface="+mn-ea"/>
              <a:cs typeface="Times New Roman" panose="02020603050405020304" pitchFamily="18" charset="0"/>
            </a:endParaRPr>
          </a:p>
          <a:p>
            <a:endParaRPr lang="zh-CN" altLang="en-US" sz="900"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98</a:t>
            </a:fld>
            <a:endParaRPr lang="zh-CN" altLang="en-US"/>
          </a:p>
        </p:txBody>
      </p:sp>
    </p:spTree>
    <p:extLst>
      <p:ext uri="{BB962C8B-B14F-4D97-AF65-F5344CB8AC3E}">
        <p14:creationId xmlns:p14="http://schemas.microsoft.com/office/powerpoint/2010/main" val="277023740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900" kern="100" dirty="0">
                <a:effectLst/>
                <a:latin typeface="+mn-ea"/>
                <a:ea typeface="+mn-ea"/>
                <a:cs typeface="Times New Roman" panose="02020603050405020304" pitchFamily="18" charset="0"/>
              </a:rPr>
              <a:t>子群的元素个数直接等于其对应正因子的值。具体关系如下：</a:t>
            </a:r>
          </a:p>
          <a:p>
            <a:pPr indent="266700" algn="just"/>
            <a:r>
              <a:rPr lang="zh-CN" altLang="zh-CN" sz="900" kern="100" dirty="0">
                <a:effectLst/>
                <a:latin typeface="+mn-ea"/>
                <a:ea typeface="+mn-ea"/>
                <a:cs typeface="Times New Roman" panose="02020603050405020304" pitchFamily="18" charset="0"/>
              </a:rPr>
              <a:t>每个正因子 </a:t>
            </a:r>
            <a:r>
              <a:rPr lang="en-US" altLang="zh-CN" sz="900" i="1" kern="100" dirty="0">
                <a:effectLst/>
                <a:latin typeface="+mn-ea"/>
                <a:ea typeface="+mn-ea"/>
                <a:cs typeface="Times New Roman" panose="02020603050405020304" pitchFamily="18" charset="0"/>
              </a:rPr>
              <a:t>d</a:t>
            </a:r>
            <a:r>
              <a:rPr lang="en-US" altLang="zh-CN" sz="900" kern="100" dirty="0">
                <a:effectLst/>
                <a:latin typeface="+mn-ea"/>
                <a:ea typeface="+mn-ea"/>
                <a:cs typeface="Times New Roman" panose="02020603050405020304" pitchFamily="18" charset="0"/>
              </a:rPr>
              <a:t> </a:t>
            </a:r>
            <a:r>
              <a:rPr lang="zh-CN" altLang="zh-CN" sz="900" kern="100" dirty="0">
                <a:effectLst/>
                <a:latin typeface="+mn-ea"/>
                <a:ea typeface="+mn-ea"/>
                <a:cs typeface="Times New Roman" panose="02020603050405020304" pitchFamily="18" charset="0"/>
              </a:rPr>
              <a:t>对应一个包含 </a:t>
            </a:r>
            <a:r>
              <a:rPr lang="en-US" altLang="zh-CN" sz="900" i="1" kern="100" dirty="0">
                <a:effectLst/>
                <a:latin typeface="+mn-ea"/>
                <a:ea typeface="+mn-ea"/>
                <a:cs typeface="Times New Roman" panose="02020603050405020304" pitchFamily="18" charset="0"/>
              </a:rPr>
              <a:t>d</a:t>
            </a:r>
            <a:r>
              <a:rPr lang="en-US" altLang="zh-CN" sz="900" kern="100" dirty="0">
                <a:effectLst/>
                <a:latin typeface="+mn-ea"/>
                <a:ea typeface="+mn-ea"/>
                <a:cs typeface="Times New Roman" panose="02020603050405020304" pitchFamily="18" charset="0"/>
              </a:rPr>
              <a:t> </a:t>
            </a:r>
            <a:r>
              <a:rPr lang="zh-CN" altLang="zh-CN" sz="900" kern="100" dirty="0">
                <a:effectLst/>
                <a:latin typeface="+mn-ea"/>
                <a:ea typeface="+mn-ea"/>
                <a:cs typeface="Times New Roman" panose="02020603050405020304" pitchFamily="18" charset="0"/>
              </a:rPr>
              <a:t>个元素的子群。</a:t>
            </a:r>
          </a:p>
          <a:p>
            <a:pPr indent="266700" algn="just"/>
            <a:r>
              <a:rPr lang="zh-CN" altLang="zh-CN" sz="900" kern="100" dirty="0">
                <a:effectLst/>
                <a:latin typeface="+mn-ea"/>
                <a:ea typeface="+mn-ea"/>
                <a:cs typeface="Times New Roman" panose="02020603050405020304" pitchFamily="18" charset="0"/>
              </a:rPr>
              <a:t>这些子群的生成元为 </a:t>
            </a:r>
            <a:r>
              <a:rPr lang="en-US" altLang="zh-CN" sz="900" kern="100" dirty="0">
                <a:effectLst/>
                <a:latin typeface="+mn-ea"/>
                <a:ea typeface="+mn-ea"/>
                <a:cs typeface="Times New Roman" panose="02020603050405020304" pitchFamily="18" charset="0"/>
              </a:rPr>
              <a:t>12</a:t>
            </a:r>
            <a:r>
              <a:rPr lang="en-US" altLang="zh-CN" sz="900" kern="100" dirty="0">
                <a:effectLst/>
                <a:latin typeface="+mn-ea"/>
                <a:ea typeface="+mn-ea"/>
                <a:cs typeface="Malgun Gothic" panose="020B0503020000020004" pitchFamily="34" charset="-127"/>
              </a:rPr>
              <a:t>/</a:t>
            </a:r>
            <a:r>
              <a:rPr lang="en-US" altLang="zh-CN" sz="900" i="1" kern="100" dirty="0">
                <a:effectLst/>
                <a:latin typeface="+mn-ea"/>
                <a:ea typeface="+mn-ea"/>
                <a:cs typeface="Times New Roman" panose="02020603050405020304" pitchFamily="18" charset="0"/>
              </a:rPr>
              <a:t>d</a:t>
            </a:r>
            <a:r>
              <a:rPr lang="en-US" altLang="zh-CN" sz="900" kern="100" dirty="0">
                <a:effectLst/>
                <a:latin typeface="+mn-ea"/>
                <a:ea typeface="+mn-ea"/>
                <a:cs typeface="Times New Roman" panose="02020603050405020304" pitchFamily="18" charset="0"/>
              </a:rPr>
              <a:t>​</a:t>
            </a:r>
            <a:r>
              <a:rPr lang="zh-CN" altLang="zh-CN" sz="900" kern="100" dirty="0">
                <a:effectLst/>
                <a:latin typeface="+mn-ea"/>
                <a:ea typeface="+mn-ea"/>
                <a:cs typeface="Times New Roman" panose="02020603050405020304" pitchFamily="18" charset="0"/>
              </a:rPr>
              <a:t>，子群的元素为生成元的倍数。</a:t>
            </a:r>
            <a:endParaRPr lang="en-US" altLang="zh-CN" sz="900" kern="100" dirty="0">
              <a:effectLst/>
              <a:latin typeface="+mn-ea"/>
              <a:ea typeface="+mn-ea"/>
              <a:cs typeface="Times New Roman" panose="02020603050405020304" pitchFamily="18" charset="0"/>
            </a:endParaRPr>
          </a:p>
          <a:p>
            <a:pPr eaLnBrk="1" hangingPunct="1">
              <a:buFontTx/>
              <a:buNone/>
            </a:pPr>
            <a:r>
              <a:rPr lang="zh-CN" altLang="en-US" sz="900" b="1" dirty="0">
                <a:solidFill>
                  <a:srgbClr val="00B0F0"/>
                </a:solidFill>
              </a:rPr>
              <a:t>例</a:t>
            </a:r>
            <a:r>
              <a:rPr lang="en-US" altLang="zh-CN" sz="900" b="1" i="1" dirty="0">
                <a:solidFill>
                  <a:srgbClr val="00B0F0"/>
                </a:solidFill>
              </a:rPr>
              <a:t> </a:t>
            </a:r>
            <a:r>
              <a:rPr lang="en-US" altLang="zh-CN" sz="900" b="1" dirty="0">
                <a:solidFill>
                  <a:srgbClr val="00B0F0"/>
                </a:solidFill>
                <a:latin typeface="Times New Roman" panose="02020603050405020304" pitchFamily="18" charset="0"/>
                <a:cs typeface="Times New Roman" panose="02020603050405020304" pitchFamily="18" charset="0"/>
              </a:rPr>
              <a:t>(2)</a:t>
            </a:r>
            <a:r>
              <a:rPr lang="en-US" altLang="zh-CN" sz="900" b="1" i="1" dirty="0">
                <a:solidFill>
                  <a:srgbClr val="000066"/>
                </a:solidFill>
              </a:rPr>
              <a:t> </a:t>
            </a:r>
            <a:r>
              <a:rPr lang="en-US" altLang="zh-CN" sz="900" b="1" i="1" dirty="0">
                <a:latin typeface="Times New Roman" panose="02020603050405020304" pitchFamily="18" charset="0"/>
                <a:cs typeface="Times New Roman" panose="02020603050405020304" pitchFamily="18" charset="0"/>
              </a:rPr>
              <a:t>G</a:t>
            </a:r>
            <a:r>
              <a:rPr lang="en-US" altLang="zh-CN" sz="900" b="1" dirty="0">
                <a:latin typeface="Times New Roman" panose="02020603050405020304" pitchFamily="18" charset="0"/>
                <a:cs typeface="Times New Roman" panose="02020603050405020304" pitchFamily="18" charset="0"/>
              </a:rPr>
              <a:t>=</a:t>
            </a:r>
            <a:r>
              <a:rPr lang="en-US" altLang="zh-CN" sz="900" b="1" i="1" dirty="0">
                <a:latin typeface="Times New Roman" panose="02020603050405020304" pitchFamily="18" charset="0"/>
                <a:cs typeface="Times New Roman" panose="02020603050405020304" pitchFamily="18" charset="0"/>
              </a:rPr>
              <a:t>Z</a:t>
            </a:r>
            <a:r>
              <a:rPr lang="en-US" altLang="zh-CN" sz="900" b="1" baseline="-25000"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是</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阶循环群</a:t>
            </a:r>
            <a:r>
              <a:rPr lang="en-US" altLang="zh-CN" sz="900" b="1" dirty="0">
                <a:latin typeface="Times New Roman" panose="02020603050405020304" pitchFamily="18" charset="0"/>
                <a:cs typeface="Times New Roman" panose="02020603050405020304" pitchFamily="18" charset="0"/>
              </a:rPr>
              <a:t>. 12</a:t>
            </a:r>
            <a:r>
              <a:rPr lang="zh-CN" altLang="en-US" sz="900" b="1" dirty="0">
                <a:latin typeface="Times New Roman" panose="02020603050405020304" pitchFamily="18" charset="0"/>
                <a:cs typeface="Times New Roman" panose="02020603050405020304" pitchFamily="18" charset="0"/>
              </a:rPr>
              <a:t>的正因子是</a:t>
            </a:r>
            <a:r>
              <a:rPr lang="en-US" altLang="zh-CN" sz="900" b="1" dirty="0">
                <a:latin typeface="Times New Roman" panose="02020603050405020304" pitchFamily="18" charset="0"/>
                <a:cs typeface="Times New Roman" panose="02020603050405020304" pitchFamily="18" charset="0"/>
              </a:rPr>
              <a:t>1, 2, 3, 4, 6 </a:t>
            </a:r>
            <a:r>
              <a:rPr lang="zh-CN" altLang="en-US" sz="900" b="1" dirty="0">
                <a:latin typeface="Times New Roman" panose="02020603050405020304" pitchFamily="18" charset="0"/>
                <a:cs typeface="Times New Roman" panose="02020603050405020304" pitchFamily="18" charset="0"/>
              </a:rPr>
              <a:t>和</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，对</a:t>
            </a:r>
            <a:r>
              <a:rPr lang="zh-CN" altLang="zh-CN" sz="900" b="1" dirty="0">
                <a:effectLst/>
                <a:latin typeface="Times New Roman" panose="02020603050405020304" pitchFamily="18" charset="0"/>
                <a:ea typeface="宋体" panose="02010600030101010101" pitchFamily="2" charset="-122"/>
                <a:cs typeface="Times New Roman" panose="02020603050405020304" pitchFamily="18" charset="0"/>
              </a:rPr>
              <a:t>每个正</a:t>
            </a:r>
            <a:r>
              <a:rPr lang="zh-CN" altLang="en-US" sz="900" b="1" dirty="0">
                <a:effectLst/>
                <a:latin typeface="Times New Roman" panose="02020603050405020304" pitchFamily="18" charset="0"/>
                <a:ea typeface="宋体" panose="02010600030101010101" pitchFamily="2" charset="-122"/>
                <a:cs typeface="Times New Roman" panose="02020603050405020304" pitchFamily="18" charset="0"/>
              </a:rPr>
              <a:t>因子</a:t>
            </a:r>
            <a:r>
              <a:rPr lang="zh-CN" altLang="zh-CN" sz="9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9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900" b="1" dirty="0">
                <a:effectLst/>
                <a:latin typeface="Times New Roman" panose="02020603050405020304" pitchFamily="18" charset="0"/>
                <a:cs typeface="Times New Roman" panose="02020603050405020304" pitchFamily="18" charset="0"/>
              </a:rPr>
              <a:t> </a:t>
            </a:r>
            <a:r>
              <a:rPr lang="zh-CN" altLang="zh-CN" sz="900" b="1" dirty="0">
                <a:effectLst/>
                <a:latin typeface="Times New Roman" panose="02020603050405020304" pitchFamily="18" charset="0"/>
                <a:ea typeface="宋体" panose="02010600030101010101" pitchFamily="2" charset="-122"/>
                <a:cs typeface="Times New Roman" panose="02020603050405020304" pitchFamily="18" charset="0"/>
              </a:rPr>
              <a:t>构造一个阶数为</a:t>
            </a:r>
            <a:r>
              <a:rPr lang="zh-CN" altLang="zh-CN" sz="9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900" b="1" i="1"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900" b="1" dirty="0">
                <a:effectLst/>
                <a:latin typeface="Times New Roman" panose="02020603050405020304" pitchFamily="18" charset="0"/>
                <a:cs typeface="Times New Roman" panose="02020603050405020304" pitchFamily="18" charset="0"/>
              </a:rPr>
              <a:t> </a:t>
            </a:r>
            <a:r>
              <a:rPr lang="zh-CN" altLang="zh-CN" sz="900" b="1" dirty="0">
                <a:effectLst/>
                <a:latin typeface="Times New Roman" panose="02020603050405020304" pitchFamily="18" charset="0"/>
                <a:ea typeface="宋体" panose="02010600030101010101" pitchFamily="2" charset="-122"/>
                <a:cs typeface="Times New Roman" panose="02020603050405020304" pitchFamily="18" charset="0"/>
              </a:rPr>
              <a:t>的子群</a:t>
            </a:r>
            <a:r>
              <a:rPr lang="en-US" altLang="zh-CN" sz="900" b="1" dirty="0">
                <a:latin typeface="Times New Roman" panose="02020603050405020304" pitchFamily="18" charset="0"/>
                <a:ea typeface="宋体" panose="02010600030101010101" pitchFamily="2" charset="-122"/>
                <a:cs typeface="Times New Roman" panose="02020603050405020304" pitchFamily="18" charset="0"/>
              </a:rPr>
              <a:t>.</a:t>
            </a:r>
          </a:p>
          <a:p>
            <a:pPr marL="0" indent="0" eaLnBrk="1" hangingPunct="1">
              <a:buFontTx/>
              <a:buNone/>
            </a:pPr>
            <a:r>
              <a:rPr lang="en-US" altLang="zh-CN" sz="8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800" dirty="0">
                <a:latin typeface="楷体" panose="02010609060101010101" pitchFamily="49" charset="-122"/>
                <a:ea typeface="楷体" panose="02010609060101010101" pitchFamily="49" charset="-122"/>
                <a:cs typeface="Times New Roman" panose="02020603050405020304" pitchFamily="18" charset="0"/>
              </a:rPr>
              <a:t>对加法运算下模</a:t>
            </a:r>
            <a:r>
              <a:rPr lang="en-US" altLang="zh-CN" sz="800" dirty="0">
                <a:latin typeface="楷体" panose="02010609060101010101" pitchFamily="49" charset="-122"/>
                <a:ea typeface="楷体" panose="02010609060101010101" pitchFamily="49" charset="-122"/>
                <a:cs typeface="Times New Roman" panose="02020603050405020304" pitchFamily="18" charset="0"/>
              </a:rPr>
              <a:t>12,</a:t>
            </a:r>
            <a:r>
              <a:rPr lang="zh-CN" altLang="en-US" sz="800" dirty="0">
                <a:latin typeface="楷体" panose="02010609060101010101" pitchFamily="49" charset="-122"/>
                <a:ea typeface="楷体" panose="02010609060101010101" pitchFamily="49" charset="-122"/>
                <a:cs typeface="Times New Roman" panose="02020603050405020304" pitchFamily="18" charset="0"/>
              </a:rPr>
              <a:t>子群必须满足包含单位元</a:t>
            </a:r>
            <a:r>
              <a:rPr lang="en-US" altLang="zh-CN" sz="800" dirty="0">
                <a:latin typeface="楷体" panose="02010609060101010101" pitchFamily="49" charset="-122"/>
                <a:ea typeface="楷体" panose="02010609060101010101" pitchFamily="49" charset="-122"/>
                <a:cs typeface="Times New Roman" panose="02020603050405020304" pitchFamily="18" charset="0"/>
              </a:rPr>
              <a:t>0</a:t>
            </a:r>
            <a:r>
              <a:rPr lang="zh-CN" altLang="en-US" sz="800" dirty="0">
                <a:latin typeface="楷体" panose="02010609060101010101" pitchFamily="49" charset="-122"/>
                <a:ea typeface="楷体" panose="02010609060101010101" pitchFamily="49" charset="-122"/>
                <a:cs typeface="Times New Roman" panose="02020603050405020304" pitchFamily="18" charset="0"/>
              </a:rPr>
              <a:t>、子群中的任意两个元素的和</a:t>
            </a:r>
            <a:r>
              <a:rPr lang="en-US" altLang="zh-CN" sz="800" dirty="0">
                <a:latin typeface="楷体" panose="02010609060101010101" pitchFamily="49" charset="-122"/>
                <a:ea typeface="楷体" panose="02010609060101010101" pitchFamily="49" charset="-122"/>
                <a:cs typeface="Times New Roman" panose="02020603050405020304" pitchFamily="18" charset="0"/>
              </a:rPr>
              <a:t>(</a:t>
            </a:r>
            <a:r>
              <a:rPr lang="zh-CN" altLang="en-US" sz="800" dirty="0">
                <a:latin typeface="楷体" panose="02010609060101010101" pitchFamily="49" charset="-122"/>
                <a:ea typeface="楷体" panose="02010609060101010101" pitchFamily="49" charset="-122"/>
                <a:cs typeface="Times New Roman" panose="02020603050405020304" pitchFamily="18" charset="0"/>
              </a:rPr>
              <a:t>模</a:t>
            </a:r>
            <a:r>
              <a:rPr lang="en-US" altLang="zh-CN" sz="800" dirty="0">
                <a:latin typeface="楷体" panose="02010609060101010101" pitchFamily="49" charset="-122"/>
                <a:ea typeface="楷体" panose="02010609060101010101" pitchFamily="49" charset="-122"/>
                <a:cs typeface="Times New Roman" panose="02020603050405020304" pitchFamily="18" charset="0"/>
              </a:rPr>
              <a:t>12)</a:t>
            </a:r>
            <a:r>
              <a:rPr lang="zh-CN" altLang="en-US" sz="800" dirty="0">
                <a:latin typeface="楷体" panose="02010609060101010101" pitchFamily="49" charset="-122"/>
                <a:ea typeface="楷体" panose="02010609060101010101" pitchFamily="49" charset="-122"/>
                <a:cs typeface="Times New Roman" panose="02020603050405020304" pitchFamily="18" charset="0"/>
              </a:rPr>
              <a:t>满足封闭性、子群中的每个元素的逆元</a:t>
            </a:r>
            <a:r>
              <a:rPr lang="en-US" altLang="zh-CN" sz="800" dirty="0">
                <a:latin typeface="楷体" panose="02010609060101010101" pitchFamily="49" charset="-122"/>
                <a:ea typeface="楷体" panose="02010609060101010101" pitchFamily="49" charset="-122"/>
                <a:cs typeface="Times New Roman" panose="02020603050405020304" pitchFamily="18" charset="0"/>
              </a:rPr>
              <a:t>(</a:t>
            </a:r>
            <a:r>
              <a:rPr lang="zh-CN" altLang="en-US" sz="800" dirty="0">
                <a:latin typeface="楷体" panose="02010609060101010101" pitchFamily="49" charset="-122"/>
                <a:ea typeface="楷体" panose="02010609060101010101" pitchFamily="49" charset="-122"/>
                <a:cs typeface="Times New Roman" panose="02020603050405020304" pitchFamily="18" charset="0"/>
              </a:rPr>
              <a:t>模</a:t>
            </a:r>
            <a:r>
              <a:rPr lang="en-US" altLang="zh-CN" sz="800" dirty="0">
                <a:latin typeface="楷体" panose="02010609060101010101" pitchFamily="49" charset="-122"/>
                <a:ea typeface="楷体" panose="02010609060101010101" pitchFamily="49" charset="-122"/>
                <a:cs typeface="Times New Roman" panose="02020603050405020304" pitchFamily="18" charset="0"/>
              </a:rPr>
              <a:t>12)</a:t>
            </a:r>
            <a:r>
              <a:rPr lang="zh-CN" altLang="en-US" sz="800" dirty="0">
                <a:latin typeface="楷体" panose="02010609060101010101" pitchFamily="49" charset="-122"/>
                <a:ea typeface="楷体" panose="02010609060101010101" pitchFamily="49" charset="-122"/>
                <a:cs typeface="Times New Roman" panose="02020603050405020304" pitchFamily="18" charset="0"/>
              </a:rPr>
              <a:t>也在子群中</a:t>
            </a:r>
            <a:r>
              <a:rPr lang="en-US" altLang="zh-CN" sz="800" dirty="0">
                <a:latin typeface="楷体" panose="02010609060101010101" pitchFamily="49" charset="-122"/>
                <a:ea typeface="楷体" panose="02010609060101010101" pitchFamily="49" charset="-122"/>
                <a:cs typeface="Times New Roman" panose="02020603050405020304" pitchFamily="18" charset="0"/>
              </a:rPr>
              <a:t>.</a:t>
            </a:r>
            <a:r>
              <a:rPr lang="en-US" altLang="zh-CN" sz="900" b="1" dirty="0">
                <a:latin typeface="Times New Roman" panose="02020603050405020304" pitchFamily="18" charset="0"/>
                <a:cs typeface="Times New Roman" panose="02020603050405020304" pitchFamily="18" charset="0"/>
              </a:rPr>
              <a:t>    </a:t>
            </a:r>
          </a:p>
          <a:p>
            <a:pPr marL="0" indent="0">
              <a:lnSpc>
                <a:spcPct val="10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1 </a:t>
            </a:r>
            <a:r>
              <a:rPr lang="zh-CN" altLang="en-US" sz="900" b="1" dirty="0">
                <a:latin typeface="Times New Roman" panose="02020603050405020304" pitchFamily="18" charset="0"/>
                <a:cs typeface="Times New Roman" panose="02020603050405020304" pitchFamily="18" charset="0"/>
              </a:rPr>
              <a:t>阶子群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 </a:t>
            </a:r>
            <a:r>
              <a:rPr lang="en-US" altLang="zh-CN" sz="900" b="1" dirty="0">
                <a:latin typeface="Times New Roman" panose="02020603050405020304" pitchFamily="18" charset="0"/>
                <a:cs typeface="Times New Roman" panose="02020603050405020304" pitchFamily="18" charset="0"/>
              </a:rPr>
              <a:t>&lt;12&gt; = &lt;0&gt; = {0}</a:t>
            </a:r>
          </a:p>
          <a:p>
            <a:pPr marL="0" indent="0">
              <a:lnSpc>
                <a:spcPct val="11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2</a:t>
            </a:r>
            <a:r>
              <a:rPr lang="zh-CN" altLang="en-US" sz="900" b="1" dirty="0">
                <a:latin typeface="Times New Roman" panose="02020603050405020304" pitchFamily="18" charset="0"/>
                <a:cs typeface="Times New Roman" panose="02020603050405020304" pitchFamily="18" charset="0"/>
              </a:rPr>
              <a:t>阶数子群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用</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除以正因子</a:t>
            </a:r>
            <a:r>
              <a:rPr lang="en-US" altLang="zh-CN" sz="900" b="1" dirty="0">
                <a:latin typeface="Times New Roman" panose="02020603050405020304" pitchFamily="18" charset="0"/>
                <a:cs typeface="Times New Roman" panose="02020603050405020304" pitchFamily="18" charset="0"/>
              </a:rPr>
              <a:t>2</a:t>
            </a:r>
            <a:r>
              <a:rPr lang="zh-CN" altLang="en-US" sz="900" b="1" dirty="0">
                <a:latin typeface="Times New Roman" panose="02020603050405020304" pitchFamily="18" charset="0"/>
                <a:cs typeface="Times New Roman" panose="02020603050405020304" pitchFamily="18" charset="0"/>
              </a:rPr>
              <a:t>得到的元素</a:t>
            </a:r>
            <a:r>
              <a:rPr lang="en-US" altLang="zh-CN" sz="900" b="1" dirty="0">
                <a:latin typeface="Times New Roman" panose="02020603050405020304" pitchFamily="18" charset="0"/>
                <a:cs typeface="Times New Roman" panose="02020603050405020304" pitchFamily="18" charset="0"/>
              </a:rPr>
              <a:t>6</a:t>
            </a:r>
            <a:r>
              <a:rPr lang="zh-CN" altLang="en-US" sz="900" b="1" dirty="0">
                <a:latin typeface="Times New Roman" panose="02020603050405020304" pitchFamily="18" charset="0"/>
                <a:cs typeface="Times New Roman" panose="02020603050405020304" pitchFamily="18" charset="0"/>
              </a:rPr>
              <a:t>作为生成元</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得到子群 </a:t>
            </a:r>
            <a:r>
              <a:rPr lang="en-US" altLang="zh-CN" sz="900" b="1" dirty="0">
                <a:latin typeface="Times New Roman" panose="02020603050405020304" pitchFamily="18" charset="0"/>
                <a:cs typeface="Times New Roman" panose="02020603050405020304" pitchFamily="18" charset="0"/>
              </a:rPr>
              <a:t>&lt;6&gt; = { 0, 6 }</a:t>
            </a:r>
          </a:p>
          <a:p>
            <a:pPr marL="0" indent="0">
              <a:lnSpc>
                <a:spcPct val="11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3</a:t>
            </a:r>
            <a:r>
              <a:rPr lang="zh-CN" altLang="en-US" sz="900" b="1" dirty="0">
                <a:latin typeface="Times New Roman" panose="02020603050405020304" pitchFamily="18" charset="0"/>
                <a:cs typeface="Times New Roman" panose="02020603050405020304" pitchFamily="18" charset="0"/>
              </a:rPr>
              <a:t>阶数子群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用</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除以正因子</a:t>
            </a:r>
            <a:r>
              <a:rPr lang="en-US" altLang="zh-CN" sz="900" b="1" dirty="0">
                <a:latin typeface="Times New Roman" panose="02020603050405020304" pitchFamily="18" charset="0"/>
                <a:cs typeface="Times New Roman" panose="02020603050405020304" pitchFamily="18" charset="0"/>
              </a:rPr>
              <a:t>3</a:t>
            </a:r>
            <a:r>
              <a:rPr lang="zh-CN" altLang="en-US" sz="900" b="1" dirty="0">
                <a:latin typeface="Times New Roman" panose="02020603050405020304" pitchFamily="18" charset="0"/>
                <a:cs typeface="Times New Roman" panose="02020603050405020304" pitchFamily="18" charset="0"/>
              </a:rPr>
              <a:t>得到的元素</a:t>
            </a:r>
            <a:r>
              <a:rPr lang="en-US" altLang="zh-CN" sz="900" b="1" dirty="0">
                <a:latin typeface="Times New Roman" panose="02020603050405020304" pitchFamily="18" charset="0"/>
                <a:cs typeface="Times New Roman" panose="02020603050405020304" pitchFamily="18" charset="0"/>
              </a:rPr>
              <a:t>4</a:t>
            </a:r>
            <a:r>
              <a:rPr lang="zh-CN" altLang="en-US" sz="900" b="1" dirty="0">
                <a:latin typeface="Times New Roman" panose="02020603050405020304" pitchFamily="18" charset="0"/>
                <a:cs typeface="Times New Roman" panose="02020603050405020304" pitchFamily="18" charset="0"/>
              </a:rPr>
              <a:t>作为生成元</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得到子群 </a:t>
            </a:r>
            <a:r>
              <a:rPr lang="en-US" altLang="zh-CN" sz="900" b="1" dirty="0">
                <a:latin typeface="Times New Roman" panose="02020603050405020304" pitchFamily="18" charset="0"/>
                <a:cs typeface="Times New Roman" panose="02020603050405020304" pitchFamily="18" charset="0"/>
              </a:rPr>
              <a:t>&lt;4&gt; = {0, 4, 8 }</a:t>
            </a:r>
          </a:p>
          <a:p>
            <a:pPr marL="0" indent="0">
              <a:lnSpc>
                <a:spcPct val="11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4</a:t>
            </a:r>
            <a:r>
              <a:rPr lang="zh-CN" altLang="en-US" sz="900" b="1" dirty="0">
                <a:latin typeface="Times New Roman" panose="02020603050405020304" pitchFamily="18" charset="0"/>
                <a:cs typeface="Times New Roman" panose="02020603050405020304" pitchFamily="18" charset="0"/>
              </a:rPr>
              <a:t>阶数子群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用</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除以正因子</a:t>
            </a:r>
            <a:r>
              <a:rPr lang="en-US" altLang="zh-CN" sz="900" b="1" dirty="0">
                <a:latin typeface="Times New Roman" panose="02020603050405020304" pitchFamily="18" charset="0"/>
                <a:cs typeface="Times New Roman" panose="02020603050405020304" pitchFamily="18" charset="0"/>
              </a:rPr>
              <a:t>4</a:t>
            </a:r>
            <a:r>
              <a:rPr lang="zh-CN" altLang="en-US" sz="900" b="1" dirty="0">
                <a:latin typeface="Times New Roman" panose="02020603050405020304" pitchFamily="18" charset="0"/>
                <a:cs typeface="Times New Roman" panose="02020603050405020304" pitchFamily="18" charset="0"/>
              </a:rPr>
              <a:t>得到的元素</a:t>
            </a:r>
            <a:r>
              <a:rPr lang="en-US" altLang="zh-CN" sz="900" b="1" dirty="0">
                <a:latin typeface="Times New Roman" panose="02020603050405020304" pitchFamily="18" charset="0"/>
                <a:cs typeface="Times New Roman" panose="02020603050405020304" pitchFamily="18" charset="0"/>
              </a:rPr>
              <a:t>3</a:t>
            </a:r>
            <a:r>
              <a:rPr lang="zh-CN" altLang="en-US" sz="900" b="1" dirty="0">
                <a:latin typeface="Times New Roman" panose="02020603050405020304" pitchFamily="18" charset="0"/>
                <a:cs typeface="Times New Roman" panose="02020603050405020304" pitchFamily="18" charset="0"/>
              </a:rPr>
              <a:t>作为生成元</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得到子群 </a:t>
            </a:r>
            <a:r>
              <a:rPr lang="en-US" altLang="zh-CN" sz="900" b="1" dirty="0">
                <a:latin typeface="Times New Roman" panose="02020603050405020304" pitchFamily="18" charset="0"/>
                <a:cs typeface="Times New Roman" panose="02020603050405020304" pitchFamily="18" charset="0"/>
              </a:rPr>
              <a:t>&lt;3&gt; = {0, 3, 6, 9 }</a:t>
            </a:r>
          </a:p>
          <a:p>
            <a:pPr marL="0" indent="0">
              <a:lnSpc>
                <a:spcPct val="11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6</a:t>
            </a:r>
            <a:r>
              <a:rPr lang="zh-CN" altLang="en-US" sz="900" b="1" dirty="0">
                <a:latin typeface="Times New Roman" panose="02020603050405020304" pitchFamily="18" charset="0"/>
                <a:cs typeface="Times New Roman" panose="02020603050405020304" pitchFamily="18" charset="0"/>
              </a:rPr>
              <a:t>阶数子群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用</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除以正因子</a:t>
            </a:r>
            <a:r>
              <a:rPr lang="en-US" altLang="zh-CN" sz="900" b="1" dirty="0">
                <a:latin typeface="Times New Roman" panose="02020603050405020304" pitchFamily="18" charset="0"/>
                <a:cs typeface="Times New Roman" panose="02020603050405020304" pitchFamily="18" charset="0"/>
              </a:rPr>
              <a:t>6</a:t>
            </a:r>
            <a:r>
              <a:rPr lang="zh-CN" altLang="en-US" sz="900" b="1" dirty="0">
                <a:latin typeface="Times New Roman" panose="02020603050405020304" pitchFamily="18" charset="0"/>
                <a:cs typeface="Times New Roman" panose="02020603050405020304" pitchFamily="18" charset="0"/>
              </a:rPr>
              <a:t>得到的元素</a:t>
            </a:r>
            <a:r>
              <a:rPr lang="en-US" altLang="zh-CN" sz="900" b="1" dirty="0">
                <a:latin typeface="Times New Roman" panose="02020603050405020304" pitchFamily="18" charset="0"/>
                <a:cs typeface="Times New Roman" panose="02020603050405020304" pitchFamily="18" charset="0"/>
              </a:rPr>
              <a:t>2</a:t>
            </a:r>
            <a:r>
              <a:rPr lang="zh-CN" altLang="en-US" sz="900" b="1" dirty="0">
                <a:latin typeface="Times New Roman" panose="02020603050405020304" pitchFamily="18" charset="0"/>
                <a:cs typeface="Times New Roman" panose="02020603050405020304" pitchFamily="18" charset="0"/>
              </a:rPr>
              <a:t>作为生成元</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得到子群 </a:t>
            </a:r>
            <a:r>
              <a:rPr lang="en-US" altLang="zh-CN" sz="900" b="1" dirty="0">
                <a:latin typeface="Times New Roman" panose="02020603050405020304" pitchFamily="18" charset="0"/>
                <a:cs typeface="Times New Roman" panose="02020603050405020304" pitchFamily="18" charset="0"/>
              </a:rPr>
              <a:t>&lt;6&gt; = {0, 2, 4, 6, 8, 10 }</a:t>
            </a:r>
          </a:p>
          <a:p>
            <a:pPr marL="0" indent="0">
              <a:lnSpc>
                <a:spcPct val="110000"/>
              </a:lnSpc>
              <a:buFont typeface="Arial" panose="020B0604020202020204" pitchFamily="34" charset="0"/>
              <a:buNone/>
            </a:pP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阶数子群</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用</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除以正因子</a:t>
            </a:r>
            <a:r>
              <a:rPr lang="en-US" altLang="zh-CN" sz="900" b="1" dirty="0">
                <a:latin typeface="Times New Roman" panose="02020603050405020304" pitchFamily="18" charset="0"/>
                <a:cs typeface="Times New Roman" panose="02020603050405020304" pitchFamily="18" charset="0"/>
              </a:rPr>
              <a:t>12</a:t>
            </a:r>
            <a:r>
              <a:rPr lang="zh-CN" altLang="en-US" sz="900" b="1" dirty="0">
                <a:latin typeface="Times New Roman" panose="02020603050405020304" pitchFamily="18" charset="0"/>
                <a:cs typeface="Times New Roman" panose="02020603050405020304" pitchFamily="18" charset="0"/>
              </a:rPr>
              <a:t>得到的元素</a:t>
            </a:r>
            <a:r>
              <a:rPr lang="en-US" altLang="zh-CN" sz="900" b="1" dirty="0">
                <a:latin typeface="Times New Roman" panose="02020603050405020304" pitchFamily="18" charset="0"/>
                <a:cs typeface="Times New Roman" panose="02020603050405020304" pitchFamily="18" charset="0"/>
              </a:rPr>
              <a:t>1</a:t>
            </a:r>
            <a:r>
              <a:rPr lang="zh-CN" altLang="en-US" sz="900" b="1" dirty="0">
                <a:latin typeface="Times New Roman" panose="02020603050405020304" pitchFamily="18" charset="0"/>
                <a:cs typeface="Times New Roman" panose="02020603050405020304" pitchFamily="18" charset="0"/>
              </a:rPr>
              <a:t>作为生成元</a:t>
            </a:r>
            <a:r>
              <a:rPr lang="en-US" altLang="zh-CN" sz="900" b="1" dirty="0">
                <a:latin typeface="Times New Roman" panose="02020603050405020304" pitchFamily="18" charset="0"/>
                <a:cs typeface="Times New Roman" panose="02020603050405020304" pitchFamily="18" charset="0"/>
              </a:rPr>
              <a:t>,</a:t>
            </a:r>
            <a:r>
              <a:rPr lang="zh-CN" altLang="en-US" sz="900" b="1" dirty="0">
                <a:latin typeface="Times New Roman" panose="02020603050405020304" pitchFamily="18" charset="0"/>
                <a:cs typeface="Times New Roman" panose="02020603050405020304" pitchFamily="18" charset="0"/>
              </a:rPr>
              <a:t>得到子群 </a:t>
            </a:r>
            <a:r>
              <a:rPr lang="en-US" altLang="zh-CN" sz="900" b="1" dirty="0">
                <a:latin typeface="Times New Roman" panose="02020603050405020304" pitchFamily="18" charset="0"/>
                <a:cs typeface="Times New Roman" panose="02020603050405020304" pitchFamily="18" charset="0"/>
              </a:rPr>
              <a:t>&lt;1&gt; = Z</a:t>
            </a:r>
            <a:r>
              <a:rPr lang="en-US" altLang="zh-CN" sz="900" b="1" baseline="-25000" dirty="0">
                <a:latin typeface="Times New Roman" panose="02020603050405020304" pitchFamily="18" charset="0"/>
                <a:cs typeface="Times New Roman" panose="02020603050405020304" pitchFamily="18" charset="0"/>
              </a:rPr>
              <a:t>12</a:t>
            </a:r>
            <a:r>
              <a:rPr lang="en-US" altLang="zh-CN" sz="900" b="1" dirty="0">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zh-CN" altLang="en-US" sz="9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验证</a:t>
            </a:r>
            <a:r>
              <a:rPr lang="en-US" altLang="zh-CN" sz="9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900" dirty="0">
                <a:latin typeface="Times New Roman" panose="02020603050405020304" pitchFamily="18" charset="0"/>
                <a:ea typeface="楷体" panose="02010609060101010101" pitchFamily="49" charset="-122"/>
                <a:cs typeface="Times New Roman" panose="02020603050405020304" pitchFamily="18" charset="0"/>
              </a:rPr>
              <a:t>①</a:t>
            </a:r>
            <a:r>
              <a:rPr lang="zh-CN" altLang="en-US" sz="900" dirty="0">
                <a:latin typeface="Times New Roman" panose="02020603050405020304" pitchFamily="18" charset="0"/>
                <a:ea typeface="楷体" panose="02010609060101010101" pitchFamily="49" charset="-122"/>
                <a:cs typeface="Times New Roman" panose="02020603050405020304" pitchFamily="18" charset="0"/>
              </a:rPr>
              <a:t>以</a:t>
            </a:r>
            <a:r>
              <a:rPr lang="en-US" altLang="zh-CN"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 4</a:t>
            </a:r>
            <a:r>
              <a:rPr lang="zh-CN" altLang="zh-CN"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阶</a:t>
            </a:r>
            <a:r>
              <a:rPr lang="zh-CN" altLang="en-US"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子群</a:t>
            </a:r>
            <a:r>
              <a:rPr lang="zh-CN" altLang="zh-CN"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为</a:t>
            </a:r>
            <a:r>
              <a:rPr lang="zh-CN" altLang="en-US"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例</a:t>
            </a:r>
            <a:r>
              <a:rPr lang="en-US" altLang="zh-CN" sz="9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900" kern="1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{0,3,6,9}</a:t>
            </a:r>
            <a:r>
              <a:rPr lang="zh-CN" altLang="zh-CN" sz="900" kern="1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中</a:t>
            </a:r>
            <a:r>
              <a:rPr lang="zh-CN" altLang="en-US" sz="900" kern="1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任意两元素</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运算的结果都在集合</a:t>
            </a:r>
            <a:r>
              <a:rPr lang="en-US" altLang="zh-CN" sz="900" kern="1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{0,3,6,9}</a:t>
            </a:r>
            <a:r>
              <a:rPr lang="zh-CN" altLang="zh-CN" sz="900" kern="100"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900" kern="100" dirty="0">
                <a:latin typeface="Times New Roman" panose="02020603050405020304" pitchFamily="18" charset="0"/>
                <a:ea typeface="楷体" panose="02010609060101010101" pitchFamily="49" charset="-122"/>
                <a:cs typeface="Times New Roman" panose="02020603050405020304" pitchFamily="18" charset="0"/>
              </a:rPr>
              <a:t>满足</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封闭性</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900" kern="100" dirty="0">
                <a:latin typeface="Times New Roman" panose="02020603050405020304" pitchFamily="18" charset="0"/>
                <a:ea typeface="楷体" panose="02010609060101010101" pitchFamily="49" charset="-122"/>
                <a:cs typeface="Times New Roman" panose="02020603050405020304" pitchFamily="18" charset="0"/>
              </a:rPr>
              <a:t>②</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 0</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的逆元是</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0(0+0=0);3</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的逆元是</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9(3+9=12 ≡ 0(mod 12));6</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的逆元是</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 6(6+6 = 12 ≡ 0 (mod 12));9 </a:t>
            </a:r>
            <a:r>
              <a:rPr lang="zh-CN" altLang="zh-CN" sz="900" kern="100" dirty="0">
                <a:latin typeface="Times New Roman" panose="02020603050405020304" pitchFamily="18" charset="0"/>
                <a:ea typeface="楷体" panose="02010609060101010101" pitchFamily="49" charset="-122"/>
                <a:cs typeface="Times New Roman" panose="02020603050405020304" pitchFamily="18" charset="0"/>
              </a:rPr>
              <a:t>的逆元是</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3(9+3=12 ≡ 0 (mod 12)) ,</a:t>
            </a:r>
            <a:r>
              <a:rPr lang="zh-CN" altLang="en-US" sz="900" kern="100" dirty="0">
                <a:latin typeface="Times New Roman" panose="02020603050405020304" pitchFamily="18" charset="0"/>
                <a:ea typeface="楷体" panose="02010609060101010101" pitchFamily="49" charset="-122"/>
                <a:cs typeface="Times New Roman" panose="02020603050405020304" pitchFamily="18" charset="0"/>
              </a:rPr>
              <a:t>逆元都在子群中</a:t>
            </a:r>
            <a:r>
              <a:rPr lang="en-US" altLang="zh-CN" sz="900" kern="1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000" b="1" dirty="0">
                <a:latin typeface="Times New Roman" panose="02020603050405020304" pitchFamily="18" charset="0"/>
                <a:cs typeface="Times New Roman" panose="02020603050405020304" pitchFamily="18" charset="0"/>
              </a:rPr>
              <a:t> </a:t>
            </a:r>
          </a:p>
          <a:p>
            <a:pPr marL="0" indent="0">
              <a:lnSpc>
                <a:spcPct val="110000"/>
              </a:lnSpc>
              <a:buFont typeface="Arial" panose="020B0604020202020204" pitchFamily="34" charset="0"/>
              <a:buNone/>
            </a:pPr>
            <a:endParaRPr lang="en-US" altLang="zh-CN" sz="900" b="1" dirty="0">
              <a:latin typeface="Times New Roman" panose="02020603050405020304" pitchFamily="18" charset="0"/>
              <a:cs typeface="Times New Roman" panose="02020603050405020304" pitchFamily="18" charset="0"/>
            </a:endParaRPr>
          </a:p>
          <a:p>
            <a:pPr marL="0" indent="0" eaLnBrk="1" hangingPunct="1">
              <a:buFontTx/>
              <a:buNone/>
            </a:pPr>
            <a:endParaRPr lang="en-US" altLang="zh-CN" sz="900" b="1" dirty="0">
              <a:latin typeface="Times New Roman" panose="02020603050405020304" pitchFamily="18" charset="0"/>
              <a:cs typeface="Times New Roman" panose="02020603050405020304" pitchFamily="18" charset="0"/>
            </a:endParaRPr>
          </a:p>
          <a:p>
            <a:pPr indent="266700" algn="just"/>
            <a:endParaRPr lang="zh-CN" altLang="zh-CN" sz="900" kern="100" dirty="0">
              <a:effectLst/>
              <a:latin typeface="+mn-ea"/>
              <a:ea typeface="+mn-ea"/>
              <a:cs typeface="Times New Roman" panose="02020603050405020304" pitchFamily="18" charset="0"/>
            </a:endParaRPr>
          </a:p>
          <a:p>
            <a:endParaRPr lang="zh-CN" altLang="en-US" sz="900"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99</a:t>
            </a:fld>
            <a:endParaRPr lang="zh-CN" altLang="en-US"/>
          </a:p>
        </p:txBody>
      </p:sp>
    </p:spTree>
    <p:extLst>
      <p:ext uri="{BB962C8B-B14F-4D97-AF65-F5344CB8AC3E}">
        <p14:creationId xmlns:p14="http://schemas.microsoft.com/office/powerpoint/2010/main" val="274213179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Tx/>
              <a:buNone/>
            </a:pPr>
            <a:r>
              <a:rPr lang="zh-CN" altLang="en-US" sz="1200" b="1" dirty="0">
                <a:solidFill>
                  <a:srgbClr val="FF3300"/>
                </a:solidFill>
                <a:latin typeface="Times New Roman" panose="02020603050405020304" pitchFamily="18" charset="0"/>
                <a:cs typeface="Times New Roman" panose="02020603050405020304" pitchFamily="18" charset="0"/>
              </a:rPr>
              <a:t>定义</a:t>
            </a:r>
            <a:r>
              <a:rPr lang="en-US" altLang="zh-CN" sz="1200" b="1" dirty="0">
                <a:solidFill>
                  <a:srgbClr val="FF3300"/>
                </a:solidFill>
                <a:latin typeface="Times New Roman" panose="02020603050405020304" pitchFamily="18" charset="0"/>
                <a:cs typeface="Times New Roman" panose="02020603050405020304" pitchFamily="18" charset="0"/>
              </a:rPr>
              <a:t>9.17 </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S </a:t>
            </a:r>
            <a:r>
              <a:rPr lang="en-US" altLang="zh-CN" sz="1200" b="1" dirty="0">
                <a:latin typeface="Times New Roman" panose="02020603050405020304" pitchFamily="18" charset="0"/>
                <a:cs typeface="Times New Roman" panose="02020603050405020304" pitchFamily="18" charset="0"/>
              </a:rPr>
              <a:t>= { 1, 2, … , </a:t>
            </a:r>
            <a:r>
              <a:rPr lang="en-US" altLang="zh-CN" sz="1200" b="1" i="1" dirty="0">
                <a:latin typeface="Times New Roman" panose="02020603050405020304" pitchFamily="18" charset="0"/>
                <a:cs typeface="Times New Roman" panose="02020603050405020304" pitchFamily="18" charset="0"/>
              </a:rPr>
              <a:t>n </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S</a:t>
            </a:r>
            <a:r>
              <a:rPr lang="zh-CN" altLang="en-US" sz="1200" b="1" dirty="0">
                <a:latin typeface="Times New Roman" panose="02020603050405020304" pitchFamily="18" charset="0"/>
                <a:cs typeface="Times New Roman" panose="02020603050405020304" pitchFamily="18" charset="0"/>
              </a:rPr>
              <a:t>上的双射函数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S</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S</a:t>
            </a:r>
            <a:r>
              <a:rPr lang="zh-CN" altLang="en-US" sz="1200" b="1" dirty="0">
                <a:latin typeface="Times New Roman" panose="02020603050405020304" pitchFamily="18" charset="0"/>
                <a:cs typeface="Times New Roman" panose="02020603050405020304" pitchFamily="18" charset="0"/>
              </a:rPr>
              <a:t>构成了</a:t>
            </a:r>
            <a:r>
              <a:rPr lang="en-US" altLang="zh-CN" sz="1200" b="1" i="1" dirty="0">
                <a:latin typeface="Times New Roman" panose="02020603050405020304" pitchFamily="18" charset="0"/>
                <a:cs typeface="Times New Roman" panose="02020603050405020304" pitchFamily="18" charset="0"/>
              </a:rPr>
              <a:t>S</a:t>
            </a:r>
            <a:r>
              <a:rPr lang="zh-CN" altLang="en-US" sz="1200" b="1" dirty="0">
                <a:latin typeface="Times New Roman" panose="02020603050405020304" pitchFamily="18" charset="0"/>
                <a:cs typeface="Times New Roman" panose="02020603050405020304" pitchFamily="18" charset="0"/>
              </a:rPr>
              <a:t>上</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个元素的置换</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称为 </a:t>
            </a:r>
            <a:r>
              <a:rPr lang="en-US" altLang="zh-CN" sz="1200" b="1" i="1" dirty="0">
                <a:solidFill>
                  <a:srgbClr val="FF3300"/>
                </a:solidFill>
                <a:latin typeface="Times New Roman" panose="02020603050405020304" pitchFamily="18" charset="0"/>
                <a:cs typeface="Times New Roman" panose="02020603050405020304" pitchFamily="18" charset="0"/>
              </a:rPr>
              <a:t>n</a:t>
            </a:r>
            <a:r>
              <a:rPr lang="zh-CN" altLang="en-US" sz="1200" b="1" dirty="0">
                <a:solidFill>
                  <a:srgbClr val="FF3300"/>
                </a:solidFill>
                <a:latin typeface="Times New Roman" panose="02020603050405020304" pitchFamily="18" charset="0"/>
                <a:cs typeface="Times New Roman" panose="02020603050405020304" pitchFamily="18" charset="0"/>
              </a:rPr>
              <a:t>元置换</a:t>
            </a:r>
            <a:r>
              <a:rPr lang="en-US" altLang="zh-CN" sz="1200" b="1" dirty="0">
                <a:latin typeface="Times New Roman" panose="02020603050405020304" pitchFamily="18" charset="0"/>
                <a:cs typeface="Times New Roman" panose="02020603050405020304" pitchFamily="18" charset="0"/>
              </a:rPr>
              <a:t>. </a:t>
            </a:r>
          </a:p>
          <a:p>
            <a:pPr>
              <a:buFontTx/>
              <a:buNone/>
            </a:pPr>
            <a:endParaRPr lang="en-US" altLang="zh-CN" sz="1200" b="1" dirty="0">
              <a:latin typeface="Times New Roman" panose="02020603050405020304" pitchFamily="18" charset="0"/>
              <a:cs typeface="Times New Roman" panose="02020603050405020304" pitchFamily="18" charset="0"/>
            </a:endParaRPr>
          </a:p>
          <a:p>
            <a:pPr>
              <a:buFontTx/>
              <a:buNone/>
            </a:pPr>
            <a:r>
              <a:rPr lang="zh-CN" altLang="en-US" sz="1200" b="1" dirty="0">
                <a:latin typeface="Times New Roman" panose="02020603050405020304" pitchFamily="18" charset="0"/>
                <a:cs typeface="Times New Roman" panose="02020603050405020304" pitchFamily="18" charset="0"/>
              </a:rPr>
              <a:t>一般将 </a:t>
            </a:r>
            <a:r>
              <a:rPr lang="en-US" altLang="zh-CN" sz="1200" b="1" i="1" dirty="0">
                <a:latin typeface="Times New Roman" panose="02020603050405020304" pitchFamily="18" charset="0"/>
                <a:cs typeface="Times New Roman" panose="02020603050405020304" pitchFamily="18" charset="0"/>
              </a:rPr>
              <a:t>n </a:t>
            </a:r>
            <a:r>
              <a:rPr lang="zh-CN" altLang="en-US" sz="1200" b="1" dirty="0">
                <a:latin typeface="Times New Roman" panose="02020603050405020304" pitchFamily="18" charset="0"/>
                <a:cs typeface="Times New Roman" panose="02020603050405020304" pitchFamily="18" charset="0"/>
              </a:rPr>
              <a:t>元置换</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 记为</a:t>
            </a:r>
          </a:p>
          <a:p>
            <a:pPr>
              <a:buFontTx/>
              <a:buNone/>
            </a:pPr>
            <a:r>
              <a:rPr lang="zh-CN" altLang="en-US" sz="1200" b="1" dirty="0">
                <a:solidFill>
                  <a:srgbClr val="00B0F0"/>
                </a:solidFill>
                <a:latin typeface="Times New Roman" panose="02020603050405020304" pitchFamily="18" charset="0"/>
                <a:cs typeface="Times New Roman" panose="02020603050405020304" pitchFamily="18" charset="0"/>
              </a:rPr>
              <a:t>例</a:t>
            </a:r>
            <a:r>
              <a:rPr lang="en-US" altLang="zh-CN" sz="1200" b="1" dirty="0">
                <a:solidFill>
                  <a:srgbClr val="00B0F0"/>
                </a:solidFill>
                <a:latin typeface="Times New Roman" panose="02020603050405020304" pitchFamily="18" charset="0"/>
                <a:cs typeface="Times New Roman" panose="02020603050405020304" pitchFamily="18" charset="0"/>
              </a:rPr>
              <a:t>:</a:t>
            </a:r>
            <a:r>
              <a:rPr lang="zh-CN" altLang="en-US" sz="1200" b="1" dirty="0">
                <a:solidFill>
                  <a:srgbClr val="00B0F0"/>
                </a:solidFill>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S</a:t>
            </a:r>
            <a:r>
              <a:rPr lang="en-US" altLang="zh-CN" sz="1200" b="1" dirty="0">
                <a:latin typeface="Times New Roman" panose="02020603050405020304" pitchFamily="18" charset="0"/>
                <a:cs typeface="Times New Roman" panose="02020603050405020304" pitchFamily="18" charset="0"/>
              </a:rPr>
              <a:t> = { 1, 2, 3, 4, 5 }, </a:t>
            </a:r>
            <a:r>
              <a:rPr lang="zh-CN" altLang="en-US" sz="1200" b="1" dirty="0">
                <a:latin typeface="Times New Roman" panose="02020603050405020304" pitchFamily="18" charset="0"/>
                <a:cs typeface="Times New Roman" panose="02020603050405020304" pitchFamily="18" charset="0"/>
              </a:rPr>
              <a:t>则</a:t>
            </a:r>
            <a:br>
              <a:rPr lang="zh-CN" altLang="en-US" sz="1200" b="1" dirty="0">
                <a:latin typeface="Times New Roman" panose="02020603050405020304" pitchFamily="18" charset="0"/>
                <a:cs typeface="Times New Roman" panose="02020603050405020304" pitchFamily="18" charset="0"/>
              </a:rPr>
            </a:br>
            <a:r>
              <a:rPr lang="zh-CN" altLang="en-US" sz="1200" b="1" dirty="0">
                <a:latin typeface="Times New Roman" panose="02020603050405020304" pitchFamily="18" charset="0"/>
                <a:cs typeface="Times New Roman" panose="02020603050405020304" pitchFamily="18" charset="0"/>
              </a:rPr>
              <a:t> </a:t>
            </a:r>
            <a:br>
              <a:rPr lang="zh-CN" altLang="en-US" sz="1200" b="1" dirty="0">
                <a:latin typeface="Times New Roman" panose="02020603050405020304" pitchFamily="18" charset="0"/>
                <a:cs typeface="Times New Roman" panose="02020603050405020304" pitchFamily="18" charset="0"/>
              </a:rPr>
            </a:br>
            <a:r>
              <a:rPr lang="zh-CN" altLang="en-US" sz="1200" b="1" dirty="0">
                <a:latin typeface="Times New Roman" panose="02020603050405020304" pitchFamily="18" charset="0"/>
                <a:cs typeface="Times New Roman" panose="02020603050405020304" pitchFamily="18" charset="0"/>
              </a:rPr>
              <a:t>     </a:t>
            </a:r>
          </a:p>
          <a:p>
            <a:pPr>
              <a:buFontTx/>
              <a:buNone/>
            </a:pPr>
            <a:endParaRPr lang="zh-CN" altLang="en-US" sz="1200" b="1" dirty="0">
              <a:latin typeface="Times New Roman" panose="02020603050405020304" pitchFamily="18" charset="0"/>
              <a:cs typeface="Times New Roman" panose="02020603050405020304" pitchFamily="18" charset="0"/>
            </a:endParaRPr>
          </a:p>
          <a:p>
            <a:pPr>
              <a:buFontTx/>
              <a:buNone/>
            </a:pPr>
            <a:r>
              <a:rPr lang="zh-CN" altLang="en-US" sz="1200" b="1" dirty="0">
                <a:latin typeface="Times New Roman" panose="02020603050405020304" pitchFamily="18" charset="0"/>
                <a:cs typeface="Times New Roman" panose="02020603050405020304" pitchFamily="18" charset="0"/>
              </a:rPr>
              <a:t>都是</a:t>
            </a:r>
            <a:r>
              <a:rPr lang="en-US" altLang="zh-CN" sz="1200" b="1" i="1" dirty="0">
                <a:latin typeface="Times New Roman" panose="02020603050405020304" pitchFamily="18" charset="0"/>
                <a:cs typeface="Times New Roman" panose="02020603050405020304" pitchFamily="18" charset="0"/>
              </a:rPr>
              <a:t>S</a:t>
            </a:r>
            <a:r>
              <a:rPr lang="zh-CN" altLang="en-US" sz="1200" b="1" dirty="0">
                <a:latin typeface="Times New Roman" panose="02020603050405020304" pitchFamily="18" charset="0"/>
                <a:cs typeface="Times New Roman" panose="02020603050405020304" pitchFamily="18" charset="0"/>
              </a:rPr>
              <a:t>上的</a:t>
            </a:r>
            <a:r>
              <a:rPr lang="en-US" altLang="zh-CN" sz="1200" b="1" dirty="0">
                <a:latin typeface="Times New Roman" panose="02020603050405020304" pitchFamily="18" charset="0"/>
                <a:cs typeface="Times New Roman" panose="02020603050405020304" pitchFamily="18" charset="0"/>
              </a:rPr>
              <a:t>5</a:t>
            </a:r>
            <a:r>
              <a:rPr lang="zh-CN" altLang="en-US" sz="1200" b="1" dirty="0">
                <a:latin typeface="Times New Roman" panose="02020603050405020304" pitchFamily="18" charset="0"/>
                <a:cs typeface="Times New Roman" panose="02020603050405020304" pitchFamily="18" charset="0"/>
              </a:rPr>
              <a:t>元置换</a:t>
            </a:r>
            <a:r>
              <a:rPr lang="en-US" altLang="zh-CN" sz="1200" b="1" dirty="0">
                <a:latin typeface="Times New Roman" panose="02020603050405020304" pitchFamily="18" charset="0"/>
                <a:cs typeface="Times New Roman" panose="02020603050405020304" pitchFamily="18" charset="0"/>
              </a:rPr>
              <a:t>.</a:t>
            </a:r>
          </a:p>
          <a:p>
            <a:pPr>
              <a:buFontTx/>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100</a:t>
            </a:fld>
            <a:endParaRPr lang="zh-CN" altLang="en-US"/>
          </a:p>
        </p:txBody>
      </p:sp>
    </p:spTree>
    <p:extLst>
      <p:ext uri="{BB962C8B-B14F-4D97-AF65-F5344CB8AC3E}">
        <p14:creationId xmlns:p14="http://schemas.microsoft.com/office/powerpoint/2010/main" val="286137312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一种置换是</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个群元素的一种排列</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个排列对应了</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en-US" altLang="zh-CN" sz="1200" b="1" dirty="0">
                    <a:solidFill>
                      <a:srgbClr val="FF0000"/>
                    </a:solidFill>
                    <a:latin typeface="Times New Roman" panose="02020603050405020304" pitchFamily="18" charset="0"/>
                    <a:cs typeface="Times New Roman" panose="02020603050405020304" pitchFamily="18" charset="0"/>
                  </a:rPr>
                  <a:t>!</a:t>
                </a:r>
                <a:r>
                  <a:rPr lang="zh-CN" altLang="en-US" sz="1200" b="1" dirty="0">
                    <a:solidFill>
                      <a:srgbClr val="FF0000"/>
                    </a:solidFill>
                    <a:latin typeface="Times New Roman" panose="02020603050405020304" pitchFamily="18" charset="0"/>
                    <a:cs typeface="Times New Roman" panose="02020603050405020304" pitchFamily="18" charset="0"/>
                  </a:rPr>
                  <a:t>个置换</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构成的置换集合记为</a:t>
                </a:r>
                <a:r>
                  <a:rPr lang="en-US" altLang="zh-CN" sz="1200" b="1" i="1" dirty="0">
                    <a:solidFill>
                      <a:srgbClr val="FF0000"/>
                    </a:solidFill>
                    <a:latin typeface="Times New Roman" panose="02020603050405020304" pitchFamily="18" charset="0"/>
                    <a:cs typeface="Times New Roman" panose="02020603050405020304" pitchFamily="18" charset="0"/>
                  </a:rPr>
                  <a:t>S</a:t>
                </a:r>
                <a:r>
                  <a:rPr lang="en-US" altLang="zh-CN" sz="1200" b="1" i="1" baseline="-25000" dirty="0">
                    <a:solidFill>
                      <a:srgbClr val="FF0000"/>
                    </a:solidFill>
                    <a:latin typeface="Times New Roman" panose="02020603050405020304" pitchFamily="18" charset="0"/>
                    <a:cs typeface="Times New Roman" panose="02020603050405020304" pitchFamily="18" charset="0"/>
                  </a:rPr>
                  <a:t>n</a:t>
                </a:r>
                <a:r>
                  <a:rPr lang="en-US" altLang="zh-CN" sz="1200" b="1" i="1"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关于置换复合运算</a:t>
                </a:r>
                <a:r>
                  <a:rPr lang="en-US" altLang="zh-CN" sz="1200" b="1"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构成</a:t>
                </a:r>
                <a:r>
                  <a:rPr lang="zh-CN" altLang="en-US" sz="1200" b="1" dirty="0">
                    <a:solidFill>
                      <a:srgbClr val="FF0000"/>
                    </a:solidFill>
                    <a:latin typeface="Times New Roman" panose="02020603050405020304" pitchFamily="18" charset="0"/>
                    <a:cs typeface="Times New Roman" panose="02020603050405020304" pitchFamily="18" charset="0"/>
                  </a:rPr>
                  <a:t>群</a:t>
                </a:r>
                <a:r>
                  <a:rPr lang="en-US" altLang="zh-CN" sz="1200" b="1" dirty="0">
                    <a:solidFill>
                      <a:srgbClr val="FF0000"/>
                    </a:solidFill>
                    <a:latin typeface="Times New Roman" panose="02020603050405020304" pitchFamily="18" charset="0"/>
                    <a:cs typeface="Times New Roman" panose="02020603050405020304" pitchFamily="18" charset="0"/>
                  </a:rPr>
                  <a:t>&lt;</a:t>
                </a:r>
                <a:r>
                  <a:rPr lang="en-US" altLang="zh-CN" sz="1200" b="1" i="1" dirty="0">
                    <a:solidFill>
                      <a:srgbClr val="FF0000"/>
                    </a:solidFill>
                    <a:latin typeface="Times New Roman" panose="02020603050405020304" pitchFamily="18" charset="0"/>
                    <a:cs typeface="Times New Roman" panose="02020603050405020304" pitchFamily="18" charset="0"/>
                  </a:rPr>
                  <a:t> S</a:t>
                </a:r>
                <a:r>
                  <a:rPr lang="en-US" altLang="zh-CN" sz="1200" b="1" i="1" baseline="-25000" dirty="0">
                    <a:solidFill>
                      <a:srgbClr val="FF0000"/>
                    </a:solidFill>
                    <a:latin typeface="Times New Roman" panose="02020603050405020304" pitchFamily="18" charset="0"/>
                    <a:cs typeface="Times New Roman" panose="02020603050405020304" pitchFamily="18" charset="0"/>
                  </a:rPr>
                  <a:t>n</a:t>
                </a:r>
                <a:r>
                  <a:rPr lang="en-US" altLang="zh-CN" sz="1200" b="1" dirty="0">
                    <a:solidFill>
                      <a:srgbClr val="FF0000"/>
                    </a:solidFill>
                    <a:latin typeface="Times New Roman" panose="02020603050405020304" pitchFamily="18" charset="0"/>
                    <a:cs typeface="Times New Roman" panose="02020603050405020304" pitchFamily="18" charset="0"/>
                  </a:rPr>
                  <a:t>, </a:t>
                </a:r>
                <a:r>
                  <a:rPr lang="en-US" altLang="zh-CN"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rgbClr val="FF0000"/>
                    </a:solidFill>
                    <a:latin typeface="Times New Roman" panose="02020603050405020304" pitchFamily="18" charset="0"/>
                    <a:cs typeface="Times New Roman" panose="02020603050405020304" pitchFamily="18" charset="0"/>
                  </a:rPr>
                  <a:t> &gt;</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恒等置换</a:t>
                </a:r>
                <a:r>
                  <a:rPr lang="en-US" altLang="zh-CN" sz="1200" b="1" i="1" dirty="0">
                    <a:latin typeface="Times New Roman" panose="02020603050405020304" pitchFamily="18" charset="0"/>
                    <a:cs typeface="Times New Roman" panose="02020603050405020304" pitchFamily="18" charset="0"/>
                  </a:rPr>
                  <a:t>I</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是其幺元</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置换</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的逆元</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为：</a:t>
                </a:r>
                <a:endParaRPr lang="en-US" altLang="zh-CN" sz="1200" b="1"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14:m>
                  <m:oMathPara xmlns:m="http://schemas.openxmlformats.org/officeDocument/2006/math">
                    <m:oMathParaPr>
                      <m:jc m:val="centerGroup"/>
                    </m:oMathParaPr>
                    <m:oMath xmlns:m="http://schemas.openxmlformats.org/officeDocument/2006/math">
                      <m:sSup>
                        <m:sSupPr>
                          <m:ctrlPr>
                            <a:rPr lang="en-US" altLang="zh-CN" sz="1200" b="1" i="1" smtClean="0">
                              <a:latin typeface="Cambria Math" panose="02040503050406030204" pitchFamily="18" charset="0"/>
                              <a:cs typeface="Times New Roman" panose="02020603050405020304" pitchFamily="18" charset="0"/>
                            </a:rPr>
                          </m:ctrlPr>
                        </m:sSupPr>
                        <m:e>
                          <m:r>
                            <a:rPr lang="zh-CN" altLang="en-US" sz="1200" b="1" i="1" smtClean="0">
                              <a:latin typeface="Cambria Math" panose="02040503050406030204" pitchFamily="18" charset="0"/>
                              <a:cs typeface="Times New Roman" panose="02020603050405020304" pitchFamily="18" charset="0"/>
                            </a:rPr>
                            <m:t>𝝈</m:t>
                          </m:r>
                        </m:e>
                        <m:sup>
                          <m:r>
                            <a:rPr lang="en-US" altLang="zh-CN" sz="1200" b="1" i="1">
                              <a:latin typeface="Cambria Math" panose="02040503050406030204" pitchFamily="18" charset="0"/>
                              <a:cs typeface="Times New Roman" panose="02020603050405020304" pitchFamily="18" charset="0"/>
                            </a:rPr>
                            <m:t>−</m:t>
                          </m:r>
                          <m:r>
                            <a:rPr lang="en-US" altLang="zh-CN" sz="1200" b="1" i="1" smtClean="0">
                              <a:latin typeface="Cambria Math" panose="02040503050406030204" pitchFamily="18" charset="0"/>
                              <a:cs typeface="Times New Roman" panose="02020603050405020304" pitchFamily="18" charset="0"/>
                            </a:rPr>
                            <m:t>𝟏</m:t>
                          </m:r>
                        </m:sup>
                      </m:sSup>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dPr>
                        <m:e>
                          <m:f>
                            <m:fPr>
                              <m:type m:val="noBa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1200" b="1" i="1" smtClean="0">
                                  <a:latin typeface="Cambria Math" panose="02040503050406030204" pitchFamily="18" charset="0"/>
                                  <a:ea typeface="Cambria Math" panose="02040503050406030204" pitchFamily="18" charset="0"/>
                                  <a:cs typeface="Times New Roman" panose="02020603050405020304" pitchFamily="18" charset="0"/>
                                </a:rPr>
                                <m:t>𝝈</m:t>
                              </m:r>
                              <m:d>
                                <m:dP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𝟏</m:t>
                                  </m:r>
                                </m:e>
                              </m:d>
                            </m:num>
                            <m:den>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𝟏</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1200" b="1" i="1">
                                  <a:latin typeface="Cambria Math" panose="02040503050406030204" pitchFamily="18" charset="0"/>
                                  <a:ea typeface="Cambria Math" panose="02040503050406030204" pitchFamily="18" charset="0"/>
                                  <a:cs typeface="Times New Roman" panose="02020603050405020304" pitchFamily="18" charset="0"/>
                                </a:rPr>
                                <m:t>𝝈</m:t>
                              </m:r>
                              <m:d>
                                <m:dP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𝟐</m:t>
                                  </m:r>
                                </m:e>
                              </m:d>
                            </m:num>
                            <m:den>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𝟐</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1200" b="1" i="1" smtClean="0">
                                  <a:latin typeface="Cambria Math" panose="02040503050406030204" pitchFamily="18" charset="0"/>
                                  <a:ea typeface="Cambria Math" panose="02040503050406030204" pitchFamily="18" charset="0"/>
                                  <a:cs typeface="Times New Roman" panose="02020603050405020304" pitchFamily="18" charset="0"/>
                                </a:rPr>
                                <m:t>⋯</m:t>
                              </m:r>
                            </m:num>
                            <m:den>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1200" b="1" i="1">
                                  <a:latin typeface="Cambria Math" panose="02040503050406030204" pitchFamily="18" charset="0"/>
                                  <a:ea typeface="Cambria Math" panose="02040503050406030204" pitchFamily="18" charset="0"/>
                                  <a:cs typeface="Times New Roman" panose="02020603050405020304" pitchFamily="18" charset="0"/>
                                </a:rPr>
                                <m:t>𝝈</m:t>
                              </m:r>
                              <m:d>
                                <m:dP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𝒏</m:t>
                                  </m:r>
                                </m:e>
                              </m:d>
                            </m:num>
                            <m:den>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𝒏</m:t>
                              </m:r>
                            </m:den>
                          </m:f>
                        </m:e>
                      </m:d>
                    </m:oMath>
                  </m:oMathPara>
                </a14:m>
                <a:endParaRPr lang="en-US" altLang="zh-CN" sz="1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称</a:t>
                </a:r>
                <a:r>
                  <a:rPr lang="en-US" altLang="zh-CN" sz="1200" b="1" dirty="0">
                    <a:latin typeface="Times New Roman" panose="02020603050405020304" pitchFamily="18" charset="0"/>
                    <a:cs typeface="Times New Roman" panose="02020603050405020304" pitchFamily="18" charset="0"/>
                  </a:rPr>
                  <a:t>&lt;</a:t>
                </a:r>
                <a:r>
                  <a:rPr lang="en-US" altLang="zh-CN" sz="1200" b="1" i="1" dirty="0">
                    <a:solidFill>
                      <a:srgbClr val="FF0000"/>
                    </a:solidFill>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 &gt;</a:t>
                </a:r>
                <a:r>
                  <a:rPr lang="zh-CN" altLang="en-US" sz="1200" b="1" dirty="0">
                    <a:latin typeface="Times New Roman" panose="02020603050405020304" pitchFamily="18" charset="0"/>
                    <a:cs typeface="Times New Roman" panose="02020603050405020304" pitchFamily="18" charset="0"/>
                  </a:rPr>
                  <a:t>为</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zh-CN" altLang="en-US" sz="1200" b="1" dirty="0">
                    <a:solidFill>
                      <a:srgbClr val="FF0000"/>
                    </a:solidFill>
                    <a:latin typeface="Times New Roman" panose="02020603050405020304" pitchFamily="18" charset="0"/>
                    <a:cs typeface="Times New Roman" panose="02020603050405020304" pitchFamily="18" charset="0"/>
                  </a:rPr>
                  <a:t>元对称群</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的子群为</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zh-CN" altLang="en-US" sz="1200" b="1" dirty="0">
                    <a:solidFill>
                      <a:srgbClr val="FF0000"/>
                    </a:solidFill>
                    <a:latin typeface="Times New Roman" panose="02020603050405020304" pitchFamily="18" charset="0"/>
                    <a:cs typeface="Times New Roman" panose="02020603050405020304" pitchFamily="18" charset="0"/>
                  </a:rPr>
                  <a:t>元置换群</a:t>
                </a:r>
                <a:r>
                  <a:rPr lang="en-US" altLang="zh-CN" sz="1200" b="1"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en-US"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1200" b="1" dirty="0">
                    <a:solidFill>
                      <a:srgbClr val="00B0F0"/>
                    </a:solidFill>
                    <a:latin typeface="Times New Roman" panose="02020603050405020304" pitchFamily="18" charset="0"/>
                    <a:cs typeface="Times New Roman" panose="02020603050405020304" pitchFamily="18" charset="0"/>
                  </a:rPr>
                  <a:t>注</a:t>
                </a:r>
                <a:r>
                  <a:rPr lang="en-US" altLang="zh-CN" sz="1200" b="1" dirty="0">
                    <a:solidFill>
                      <a:srgbClr val="00B0F0"/>
                    </a:solidFill>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①</a:t>
                </a:r>
                <a:r>
                  <a:rPr lang="en-US" altLang="zh-CN" sz="12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元对称群</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包含了</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个元素的所有可能的</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个置换</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排列</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这些置换保持群</a:t>
                </a:r>
                <a:r>
                  <a:rPr lang="zh-CN" altLang="zh-CN" sz="1200" dirty="0">
                    <a:latin typeface="楷体" panose="02010609060101010101" pitchFamily="49" charset="-122"/>
                    <a:ea typeface="楷体" panose="02010609060101010101" pitchFamily="49" charset="-122"/>
                  </a:rPr>
                  <a:t>结构</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的不变性</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即数学上的对称性</a:t>
                </a:r>
                <a:r>
                  <a:rPr lang="en-US" altLang="zh-CN" sz="1200" dirty="0">
                    <a:latin typeface="楷体" panose="02010609060101010101" pitchFamily="49" charset="-122"/>
                    <a:ea typeface="楷体" panose="02010609060101010101" pitchFamily="49" charset="-122"/>
                  </a:rPr>
                  <a:t>.</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②</a:t>
                </a:r>
                <a:r>
                  <a:rPr lang="en-US" altLang="zh-CN" sz="1200"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元置换群</a:t>
                </a:r>
                <a:r>
                  <a:rPr lang="zh-CN" altLang="en-US" sz="1200" dirty="0">
                    <a:latin typeface="楷体" panose="02010609060101010101" pitchFamily="49" charset="-122"/>
                    <a:ea typeface="楷体" panose="02010609060101010101" pitchFamily="49" charset="-122"/>
                  </a:rPr>
                  <a:t>是任意特定置换的集合</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元素的数量可以少于</a:t>
                </a:r>
                <a:r>
                  <a:rPr lang="en-US" altLang="zh-CN" sz="1200" dirty="0">
                    <a:latin typeface="楷体" panose="02010609060101010101" pitchFamily="49" charset="-122"/>
                    <a:ea typeface="楷体" panose="02010609060101010101" pitchFamily="49" charset="-122"/>
                  </a:rPr>
                  <a:t>n!,</a:t>
                </a:r>
                <a:r>
                  <a:rPr lang="en-US" altLang="zh-CN" sz="1200" b="1" i="1" dirty="0">
                    <a:latin typeface="Times New Roman" panose="02020603050405020304" pitchFamily="18" charset="0"/>
                    <a:cs typeface="Times New Roman" panose="02020603050405020304" pitchFamily="18" charset="0"/>
                  </a:rPr>
                  <a:t> S</a:t>
                </a:r>
                <a:r>
                  <a:rPr lang="en-US" altLang="zh-CN" sz="1200" b="1" i="1" baseline="-25000" dirty="0">
                    <a:latin typeface="Times New Roman" panose="02020603050405020304" pitchFamily="18" charset="0"/>
                    <a:cs typeface="Times New Roman" panose="02020603050405020304" pitchFamily="18" charset="0"/>
                  </a:rPr>
                  <a:t>n</a:t>
                </a:r>
                <a:r>
                  <a:rPr lang="zh-CN" altLang="en-US" sz="1200" dirty="0">
                    <a:latin typeface="楷体" panose="02010609060101010101" pitchFamily="49" charset="-122"/>
                    <a:ea typeface="楷体" panose="02010609060101010101" pitchFamily="49" charset="-122"/>
                  </a:rPr>
                  <a:t>是最大的</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元置换群</a:t>
                </a:r>
                <a:r>
                  <a:rPr lang="en-US" altLang="zh-CN" sz="12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200" b="1" dirty="0">
                  <a:latin typeface="楷体" panose="02010609060101010101" pitchFamily="49" charset="-122"/>
                  <a:ea typeface="楷体" panose="02010609060101010101" pitchFamily="49" charset="-122"/>
                  <a:cs typeface="Times New Roman" panose="02020603050405020304" pitchFamily="18" charset="0"/>
                </a:endParaRPr>
              </a:p>
              <a:p>
                <a:pPr>
                  <a:buFont typeface="Wingdings" panose="05000000000000000000" pitchFamily="2" charset="2"/>
                  <a:buChar char="Ø"/>
                </a:pPr>
                <a:endParaRPr lang="en-US" altLang="zh-CN" sz="1200" b="1" dirty="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一种置换是</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个群元素的一种排列</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个排列对应了</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en-US" altLang="zh-CN" sz="1200" b="1" dirty="0">
                    <a:solidFill>
                      <a:srgbClr val="FF0000"/>
                    </a:solidFill>
                    <a:latin typeface="Times New Roman" panose="02020603050405020304" pitchFamily="18" charset="0"/>
                    <a:cs typeface="Times New Roman" panose="02020603050405020304" pitchFamily="18" charset="0"/>
                  </a:rPr>
                  <a:t>!</a:t>
                </a:r>
                <a:r>
                  <a:rPr lang="zh-CN" altLang="en-US" sz="1200" b="1" dirty="0">
                    <a:solidFill>
                      <a:srgbClr val="FF0000"/>
                    </a:solidFill>
                    <a:latin typeface="Times New Roman" panose="02020603050405020304" pitchFamily="18" charset="0"/>
                    <a:cs typeface="Times New Roman" panose="02020603050405020304" pitchFamily="18" charset="0"/>
                  </a:rPr>
                  <a:t>个置换</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构成的置换集合记为</a:t>
                </a:r>
                <a:r>
                  <a:rPr lang="en-US" altLang="zh-CN" sz="1200" b="1" i="1" dirty="0">
                    <a:solidFill>
                      <a:srgbClr val="FF0000"/>
                    </a:solidFill>
                    <a:latin typeface="Times New Roman" panose="02020603050405020304" pitchFamily="18" charset="0"/>
                    <a:cs typeface="Times New Roman" panose="02020603050405020304" pitchFamily="18" charset="0"/>
                  </a:rPr>
                  <a:t>S</a:t>
                </a:r>
                <a:r>
                  <a:rPr lang="en-US" altLang="zh-CN" sz="1200" b="1" i="1" baseline="-25000" dirty="0">
                    <a:solidFill>
                      <a:srgbClr val="FF0000"/>
                    </a:solidFill>
                    <a:latin typeface="Times New Roman" panose="02020603050405020304" pitchFamily="18" charset="0"/>
                    <a:cs typeface="Times New Roman" panose="02020603050405020304" pitchFamily="18" charset="0"/>
                  </a:rPr>
                  <a:t>n</a:t>
                </a:r>
                <a:r>
                  <a:rPr lang="en-US" altLang="zh-CN" sz="1200" b="1" i="1"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关于置换复合运算</a:t>
                </a:r>
                <a:r>
                  <a:rPr lang="en-US" altLang="zh-CN" sz="1200" b="1"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构成</a:t>
                </a:r>
                <a:r>
                  <a:rPr lang="zh-CN" altLang="en-US" sz="1200" b="1" dirty="0">
                    <a:solidFill>
                      <a:srgbClr val="FF0000"/>
                    </a:solidFill>
                    <a:latin typeface="Times New Roman" panose="02020603050405020304" pitchFamily="18" charset="0"/>
                    <a:cs typeface="Times New Roman" panose="02020603050405020304" pitchFamily="18" charset="0"/>
                  </a:rPr>
                  <a:t>群</a:t>
                </a:r>
                <a:r>
                  <a:rPr lang="en-US" altLang="zh-CN" sz="1200" b="1" dirty="0">
                    <a:solidFill>
                      <a:srgbClr val="FF0000"/>
                    </a:solidFill>
                    <a:latin typeface="Times New Roman" panose="02020603050405020304" pitchFamily="18" charset="0"/>
                    <a:cs typeface="Times New Roman" panose="02020603050405020304" pitchFamily="18" charset="0"/>
                  </a:rPr>
                  <a:t>&lt;</a:t>
                </a:r>
                <a:r>
                  <a:rPr lang="en-US" altLang="zh-CN" sz="1200" b="1" i="1" dirty="0">
                    <a:solidFill>
                      <a:srgbClr val="FF0000"/>
                    </a:solidFill>
                    <a:latin typeface="Times New Roman" panose="02020603050405020304" pitchFamily="18" charset="0"/>
                    <a:cs typeface="Times New Roman" panose="02020603050405020304" pitchFamily="18" charset="0"/>
                  </a:rPr>
                  <a:t> S</a:t>
                </a:r>
                <a:r>
                  <a:rPr lang="en-US" altLang="zh-CN" sz="1200" b="1" i="1" baseline="-25000" dirty="0">
                    <a:solidFill>
                      <a:srgbClr val="FF0000"/>
                    </a:solidFill>
                    <a:latin typeface="Times New Roman" panose="02020603050405020304" pitchFamily="18" charset="0"/>
                    <a:cs typeface="Times New Roman" panose="02020603050405020304" pitchFamily="18" charset="0"/>
                  </a:rPr>
                  <a:t>n</a:t>
                </a:r>
                <a:r>
                  <a:rPr lang="en-US" altLang="zh-CN" sz="1200" b="1" dirty="0">
                    <a:solidFill>
                      <a:srgbClr val="FF0000"/>
                    </a:solidFill>
                    <a:latin typeface="Times New Roman" panose="02020603050405020304" pitchFamily="18" charset="0"/>
                    <a:cs typeface="Times New Roman" panose="02020603050405020304" pitchFamily="18" charset="0"/>
                  </a:rPr>
                  <a:t>, </a:t>
                </a:r>
                <a:r>
                  <a:rPr lang="en-US" altLang="zh-CN"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rgbClr val="FF0000"/>
                    </a:solidFill>
                    <a:latin typeface="Times New Roman" panose="02020603050405020304" pitchFamily="18" charset="0"/>
                    <a:cs typeface="Times New Roman" panose="02020603050405020304" pitchFamily="18" charset="0"/>
                  </a:rPr>
                  <a:t> &gt;</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恒等置换</a:t>
                </a:r>
                <a:r>
                  <a:rPr lang="en-US" altLang="zh-CN" sz="1200" b="1" i="1" dirty="0">
                    <a:latin typeface="Times New Roman" panose="02020603050405020304" pitchFamily="18" charset="0"/>
                    <a:cs typeface="Times New Roman" panose="02020603050405020304" pitchFamily="18" charset="0"/>
                  </a:rPr>
                  <a:t>I</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是其幺元</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置换</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的逆元</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为：</a:t>
                </a:r>
                <a:endParaRPr lang="en-US" altLang="zh-CN" sz="1200" b="1"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r>
                  <a:rPr lang="zh-CN" altLang="en-US" sz="1200" b="1" i="0">
                    <a:latin typeface="Cambria Math" panose="02040503050406030204" pitchFamily="18" charset="0"/>
                    <a:cs typeface="Times New Roman" panose="02020603050405020304" pitchFamily="18" charset="0"/>
                  </a:rPr>
                  <a:t>𝝈</a:t>
                </a:r>
                <a:r>
                  <a:rPr lang="en-US" altLang="zh-CN" sz="1200" b="1" i="0">
                    <a:latin typeface="Cambria Math" panose="02040503050406030204" pitchFamily="18" charset="0"/>
                    <a:cs typeface="Times New Roman" panose="02020603050405020304" pitchFamily="18" charset="0"/>
                  </a:rPr>
                  <a:t>^(−𝟏)</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𝝈</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(𝟏)¦𝟏 </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 𝝈</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(𝟐)¦𝟐 </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 ⋯</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 </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 𝝈</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(𝒏)¦𝒏)</a:t>
                </a:r>
                <a:endParaRPr lang="en-US" altLang="zh-CN" sz="1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称</a:t>
                </a:r>
                <a:r>
                  <a:rPr lang="en-US" altLang="zh-CN" sz="1200" b="1" dirty="0">
                    <a:latin typeface="Times New Roman" panose="02020603050405020304" pitchFamily="18" charset="0"/>
                    <a:cs typeface="Times New Roman" panose="02020603050405020304" pitchFamily="18" charset="0"/>
                  </a:rPr>
                  <a:t>&lt;</a:t>
                </a:r>
                <a:r>
                  <a:rPr lang="en-US" altLang="zh-CN" sz="1200" b="1" i="1" dirty="0">
                    <a:solidFill>
                      <a:srgbClr val="FF0000"/>
                    </a:solidFill>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 &gt;</a:t>
                </a:r>
                <a:r>
                  <a:rPr lang="zh-CN" altLang="en-US" sz="1200" b="1" dirty="0">
                    <a:latin typeface="Times New Roman" panose="02020603050405020304" pitchFamily="18" charset="0"/>
                    <a:cs typeface="Times New Roman" panose="02020603050405020304" pitchFamily="18" charset="0"/>
                  </a:rPr>
                  <a:t>为</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zh-CN" altLang="en-US" sz="1200" b="1" dirty="0">
                    <a:solidFill>
                      <a:srgbClr val="FF0000"/>
                    </a:solidFill>
                    <a:latin typeface="Times New Roman" panose="02020603050405020304" pitchFamily="18" charset="0"/>
                    <a:cs typeface="Times New Roman" panose="02020603050405020304" pitchFamily="18" charset="0"/>
                  </a:rPr>
                  <a:t>元对称群</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的子群为</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zh-CN" altLang="en-US" sz="1200" b="1" dirty="0">
                    <a:solidFill>
                      <a:srgbClr val="FF0000"/>
                    </a:solidFill>
                    <a:latin typeface="Times New Roman" panose="02020603050405020304" pitchFamily="18" charset="0"/>
                    <a:cs typeface="Times New Roman" panose="02020603050405020304" pitchFamily="18" charset="0"/>
                  </a:rPr>
                  <a:t>元置换群</a:t>
                </a:r>
                <a:r>
                  <a:rPr lang="en-US" altLang="zh-CN" sz="1200" b="1"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en-US"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1200" b="1" dirty="0">
                    <a:solidFill>
                      <a:srgbClr val="00B0F0"/>
                    </a:solidFill>
                    <a:latin typeface="Times New Roman" panose="02020603050405020304" pitchFamily="18" charset="0"/>
                    <a:cs typeface="Times New Roman" panose="02020603050405020304" pitchFamily="18" charset="0"/>
                  </a:rPr>
                  <a:t>注</a:t>
                </a:r>
                <a:r>
                  <a:rPr lang="en-US" altLang="zh-CN" sz="1200" b="1" dirty="0">
                    <a:solidFill>
                      <a:srgbClr val="00B0F0"/>
                    </a:solidFill>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①</a:t>
                </a:r>
                <a:r>
                  <a:rPr lang="en-US" altLang="zh-CN" sz="12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元对称群</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包含了</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个元素的所有可能的</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个置换</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排列</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这些置换保持群</a:t>
                </a:r>
                <a:r>
                  <a:rPr lang="zh-CN" altLang="zh-CN" sz="1200" dirty="0">
                    <a:latin typeface="楷体" panose="02010609060101010101" pitchFamily="49" charset="-122"/>
                    <a:ea typeface="楷体" panose="02010609060101010101" pitchFamily="49" charset="-122"/>
                  </a:rPr>
                  <a:t>结构</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的不变性</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即数学上的对称性</a:t>
                </a:r>
                <a:r>
                  <a:rPr lang="en-US" altLang="zh-CN" sz="1200" dirty="0">
                    <a:latin typeface="楷体" panose="02010609060101010101" pitchFamily="49" charset="-122"/>
                    <a:ea typeface="楷体" panose="02010609060101010101" pitchFamily="49" charset="-122"/>
                  </a:rPr>
                  <a:t>.</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②</a:t>
                </a:r>
                <a:r>
                  <a:rPr lang="en-US" altLang="zh-CN" sz="1200"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元置换群</a:t>
                </a:r>
                <a:r>
                  <a:rPr lang="zh-CN" altLang="en-US" sz="1200" dirty="0">
                    <a:latin typeface="楷体" panose="02010609060101010101" pitchFamily="49" charset="-122"/>
                    <a:ea typeface="楷体" panose="02010609060101010101" pitchFamily="49" charset="-122"/>
                  </a:rPr>
                  <a:t>是任意特定置换的集合</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元素的数量可以少于</a:t>
                </a:r>
                <a:r>
                  <a:rPr lang="en-US" altLang="zh-CN" sz="1200" dirty="0">
                    <a:latin typeface="楷体" panose="02010609060101010101" pitchFamily="49" charset="-122"/>
                    <a:ea typeface="楷体" panose="02010609060101010101" pitchFamily="49" charset="-122"/>
                  </a:rPr>
                  <a:t>n!,</a:t>
                </a:r>
                <a:r>
                  <a:rPr lang="en-US" altLang="zh-CN" sz="1200" b="1" i="1" dirty="0">
                    <a:latin typeface="Times New Roman" panose="02020603050405020304" pitchFamily="18" charset="0"/>
                    <a:cs typeface="Times New Roman" panose="02020603050405020304" pitchFamily="18" charset="0"/>
                  </a:rPr>
                  <a:t> S</a:t>
                </a:r>
                <a:r>
                  <a:rPr lang="en-US" altLang="zh-CN" sz="1200" b="1" i="1" baseline="-25000" dirty="0">
                    <a:latin typeface="Times New Roman" panose="02020603050405020304" pitchFamily="18" charset="0"/>
                    <a:cs typeface="Times New Roman" panose="02020603050405020304" pitchFamily="18" charset="0"/>
                  </a:rPr>
                  <a:t>n</a:t>
                </a:r>
                <a:r>
                  <a:rPr lang="zh-CN" altLang="en-US" sz="1200" dirty="0">
                    <a:latin typeface="楷体" panose="02010609060101010101" pitchFamily="49" charset="-122"/>
                    <a:ea typeface="楷体" panose="02010609060101010101" pitchFamily="49" charset="-122"/>
                  </a:rPr>
                  <a:t>是最大的</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元置换群</a:t>
                </a:r>
                <a:r>
                  <a:rPr lang="en-US" altLang="zh-CN" sz="12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200" b="1" dirty="0">
                  <a:latin typeface="楷体" panose="02010609060101010101" pitchFamily="49" charset="-122"/>
                  <a:ea typeface="楷体" panose="02010609060101010101" pitchFamily="49" charset="-122"/>
                  <a:cs typeface="Times New Roman" panose="02020603050405020304" pitchFamily="18" charset="0"/>
                </a:endParaRPr>
              </a:p>
              <a:p>
                <a:pPr>
                  <a:buFont typeface="Wingdings" panose="05000000000000000000" pitchFamily="2" charset="2"/>
                  <a:buChar char="Ø"/>
                </a:pPr>
                <a:endParaRPr lang="en-US" altLang="zh-CN" sz="1200" b="1" dirty="0">
                  <a:latin typeface="Times New Roman" panose="02020603050405020304" pitchFamily="18" charset="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101</a:t>
            </a:fld>
            <a:endParaRPr lang="zh-CN" altLang="en-US"/>
          </a:p>
        </p:txBody>
      </p:sp>
    </p:spTree>
    <p:extLst>
      <p:ext uri="{BB962C8B-B14F-4D97-AF65-F5344CB8AC3E}">
        <p14:creationId xmlns:p14="http://schemas.microsoft.com/office/powerpoint/2010/main" val="32752169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一种置换是</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个群元素的一种排列</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个排列对应了</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en-US" altLang="zh-CN" sz="1200" b="1" dirty="0">
                    <a:solidFill>
                      <a:srgbClr val="FF0000"/>
                    </a:solidFill>
                    <a:latin typeface="Times New Roman" panose="02020603050405020304" pitchFamily="18" charset="0"/>
                    <a:cs typeface="Times New Roman" panose="02020603050405020304" pitchFamily="18" charset="0"/>
                  </a:rPr>
                  <a:t>!</a:t>
                </a:r>
                <a:r>
                  <a:rPr lang="zh-CN" altLang="en-US" sz="1200" b="1" dirty="0">
                    <a:solidFill>
                      <a:srgbClr val="FF0000"/>
                    </a:solidFill>
                    <a:latin typeface="Times New Roman" panose="02020603050405020304" pitchFamily="18" charset="0"/>
                    <a:cs typeface="Times New Roman" panose="02020603050405020304" pitchFamily="18" charset="0"/>
                  </a:rPr>
                  <a:t>个置换</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构成的置换集合记为</a:t>
                </a:r>
                <a:r>
                  <a:rPr lang="en-US" altLang="zh-CN" sz="1200" b="1" i="1" dirty="0">
                    <a:solidFill>
                      <a:srgbClr val="FF0000"/>
                    </a:solidFill>
                    <a:latin typeface="Times New Roman" panose="02020603050405020304" pitchFamily="18" charset="0"/>
                    <a:cs typeface="Times New Roman" panose="02020603050405020304" pitchFamily="18" charset="0"/>
                  </a:rPr>
                  <a:t>S</a:t>
                </a:r>
                <a:r>
                  <a:rPr lang="en-US" altLang="zh-CN" sz="1200" b="1" i="1" baseline="-25000" dirty="0">
                    <a:solidFill>
                      <a:srgbClr val="FF0000"/>
                    </a:solidFill>
                    <a:latin typeface="Times New Roman" panose="02020603050405020304" pitchFamily="18" charset="0"/>
                    <a:cs typeface="Times New Roman" panose="02020603050405020304" pitchFamily="18" charset="0"/>
                  </a:rPr>
                  <a:t>n</a:t>
                </a:r>
                <a:r>
                  <a:rPr lang="en-US" altLang="zh-CN" sz="1200" b="1" i="1"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关于置换复合运算</a:t>
                </a:r>
                <a:r>
                  <a:rPr lang="en-US" altLang="zh-CN" sz="1200" b="1"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构成</a:t>
                </a:r>
                <a:r>
                  <a:rPr lang="zh-CN" altLang="en-US" sz="1200" b="1" dirty="0">
                    <a:solidFill>
                      <a:srgbClr val="FF0000"/>
                    </a:solidFill>
                    <a:latin typeface="Times New Roman" panose="02020603050405020304" pitchFamily="18" charset="0"/>
                    <a:cs typeface="Times New Roman" panose="02020603050405020304" pitchFamily="18" charset="0"/>
                  </a:rPr>
                  <a:t>群</a:t>
                </a:r>
                <a:r>
                  <a:rPr lang="en-US" altLang="zh-CN" sz="1200" b="1" dirty="0">
                    <a:solidFill>
                      <a:srgbClr val="FF0000"/>
                    </a:solidFill>
                    <a:latin typeface="Times New Roman" panose="02020603050405020304" pitchFamily="18" charset="0"/>
                    <a:cs typeface="Times New Roman" panose="02020603050405020304" pitchFamily="18" charset="0"/>
                  </a:rPr>
                  <a:t>&lt;</a:t>
                </a:r>
                <a:r>
                  <a:rPr lang="en-US" altLang="zh-CN" sz="1200" b="1" i="1" dirty="0">
                    <a:solidFill>
                      <a:srgbClr val="FF0000"/>
                    </a:solidFill>
                    <a:latin typeface="Times New Roman" panose="02020603050405020304" pitchFamily="18" charset="0"/>
                    <a:cs typeface="Times New Roman" panose="02020603050405020304" pitchFamily="18" charset="0"/>
                  </a:rPr>
                  <a:t> S</a:t>
                </a:r>
                <a:r>
                  <a:rPr lang="en-US" altLang="zh-CN" sz="1200" b="1" i="1" baseline="-25000" dirty="0">
                    <a:solidFill>
                      <a:srgbClr val="FF0000"/>
                    </a:solidFill>
                    <a:latin typeface="Times New Roman" panose="02020603050405020304" pitchFamily="18" charset="0"/>
                    <a:cs typeface="Times New Roman" panose="02020603050405020304" pitchFamily="18" charset="0"/>
                  </a:rPr>
                  <a:t>n</a:t>
                </a:r>
                <a:r>
                  <a:rPr lang="en-US" altLang="zh-CN" sz="1200" b="1" dirty="0">
                    <a:solidFill>
                      <a:srgbClr val="FF0000"/>
                    </a:solidFill>
                    <a:latin typeface="Times New Roman" panose="02020603050405020304" pitchFamily="18" charset="0"/>
                    <a:cs typeface="Times New Roman" panose="02020603050405020304" pitchFamily="18" charset="0"/>
                  </a:rPr>
                  <a:t>, </a:t>
                </a:r>
                <a:r>
                  <a:rPr lang="en-US" altLang="zh-CN"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rgbClr val="FF0000"/>
                    </a:solidFill>
                    <a:latin typeface="Times New Roman" panose="02020603050405020304" pitchFamily="18" charset="0"/>
                    <a:cs typeface="Times New Roman" panose="02020603050405020304" pitchFamily="18" charset="0"/>
                  </a:rPr>
                  <a:t> &gt;</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恒等置换</a:t>
                </a:r>
                <a:r>
                  <a:rPr lang="en-US" altLang="zh-CN" sz="1200" b="1" i="1" dirty="0">
                    <a:latin typeface="Times New Roman" panose="02020603050405020304" pitchFamily="18" charset="0"/>
                    <a:cs typeface="Times New Roman" panose="02020603050405020304" pitchFamily="18" charset="0"/>
                  </a:rPr>
                  <a:t>I</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是其幺元</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置换</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的逆元</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为：</a:t>
                </a:r>
                <a:endParaRPr lang="en-US" altLang="zh-CN" sz="1200" b="1"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14:m>
                  <m:oMathPara xmlns:m="http://schemas.openxmlformats.org/officeDocument/2006/math">
                    <m:oMathParaPr>
                      <m:jc m:val="centerGroup"/>
                    </m:oMathParaPr>
                    <m:oMath xmlns:m="http://schemas.openxmlformats.org/officeDocument/2006/math">
                      <m:sSup>
                        <m:sSupPr>
                          <m:ctrlPr>
                            <a:rPr lang="en-US" altLang="zh-CN" sz="1200" b="1" i="1" smtClean="0">
                              <a:latin typeface="Cambria Math" panose="02040503050406030204" pitchFamily="18" charset="0"/>
                              <a:cs typeface="Times New Roman" panose="02020603050405020304" pitchFamily="18" charset="0"/>
                            </a:rPr>
                          </m:ctrlPr>
                        </m:sSupPr>
                        <m:e>
                          <m:r>
                            <a:rPr lang="zh-CN" altLang="en-US" sz="1200" b="1" i="1" smtClean="0">
                              <a:latin typeface="Cambria Math" panose="02040503050406030204" pitchFamily="18" charset="0"/>
                              <a:cs typeface="Times New Roman" panose="02020603050405020304" pitchFamily="18" charset="0"/>
                            </a:rPr>
                            <m:t>𝝈</m:t>
                          </m:r>
                        </m:e>
                        <m:sup>
                          <m:r>
                            <a:rPr lang="en-US" altLang="zh-CN" sz="1200" b="1" i="1">
                              <a:latin typeface="Cambria Math" panose="02040503050406030204" pitchFamily="18" charset="0"/>
                              <a:cs typeface="Times New Roman" panose="02020603050405020304" pitchFamily="18" charset="0"/>
                            </a:rPr>
                            <m:t>−</m:t>
                          </m:r>
                          <m:r>
                            <a:rPr lang="en-US" altLang="zh-CN" sz="1200" b="1" i="1" smtClean="0">
                              <a:latin typeface="Cambria Math" panose="02040503050406030204" pitchFamily="18" charset="0"/>
                              <a:cs typeface="Times New Roman" panose="02020603050405020304" pitchFamily="18" charset="0"/>
                            </a:rPr>
                            <m:t>𝟏</m:t>
                          </m:r>
                        </m:sup>
                      </m:sSup>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dPr>
                        <m:e>
                          <m:f>
                            <m:fPr>
                              <m:type m:val="noBa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1200" b="1" i="1" smtClean="0">
                                  <a:latin typeface="Cambria Math" panose="02040503050406030204" pitchFamily="18" charset="0"/>
                                  <a:ea typeface="Cambria Math" panose="02040503050406030204" pitchFamily="18" charset="0"/>
                                  <a:cs typeface="Times New Roman" panose="02020603050405020304" pitchFamily="18" charset="0"/>
                                </a:rPr>
                                <m:t>𝝈</m:t>
                              </m:r>
                              <m:d>
                                <m:dP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𝟏</m:t>
                                  </m:r>
                                </m:e>
                              </m:d>
                            </m:num>
                            <m:den>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𝟏</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1200" b="1" i="1">
                                  <a:latin typeface="Cambria Math" panose="02040503050406030204" pitchFamily="18" charset="0"/>
                                  <a:ea typeface="Cambria Math" panose="02040503050406030204" pitchFamily="18" charset="0"/>
                                  <a:cs typeface="Times New Roman" panose="02020603050405020304" pitchFamily="18" charset="0"/>
                                </a:rPr>
                                <m:t>𝝈</m:t>
                              </m:r>
                              <m:d>
                                <m:dP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𝟐</m:t>
                                  </m:r>
                                </m:e>
                              </m:d>
                            </m:num>
                            <m:den>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𝟐</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1200" b="1" i="1" smtClean="0">
                                  <a:latin typeface="Cambria Math" panose="02040503050406030204" pitchFamily="18" charset="0"/>
                                  <a:ea typeface="Cambria Math" panose="02040503050406030204" pitchFamily="18" charset="0"/>
                                  <a:cs typeface="Times New Roman" panose="02020603050405020304" pitchFamily="18" charset="0"/>
                                </a:rPr>
                                <m:t>⋯</m:t>
                              </m:r>
                            </m:num>
                            <m:den>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1200" b="1" i="1">
                                  <a:latin typeface="Cambria Math" panose="02040503050406030204" pitchFamily="18" charset="0"/>
                                  <a:ea typeface="Cambria Math" panose="02040503050406030204" pitchFamily="18" charset="0"/>
                                  <a:cs typeface="Times New Roman" panose="02020603050405020304" pitchFamily="18" charset="0"/>
                                </a:rPr>
                                <m:t>𝝈</m:t>
                              </m:r>
                              <m:d>
                                <m:dP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𝒏</m:t>
                                  </m:r>
                                </m:e>
                              </m:d>
                            </m:num>
                            <m:den>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𝒏</m:t>
                              </m:r>
                            </m:den>
                          </m:f>
                        </m:e>
                      </m:d>
                    </m:oMath>
                  </m:oMathPara>
                </a14:m>
                <a:endParaRPr lang="en-US" altLang="zh-CN" sz="1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称</a:t>
                </a:r>
                <a:r>
                  <a:rPr lang="en-US" altLang="zh-CN" sz="1200" b="1" dirty="0">
                    <a:latin typeface="Times New Roman" panose="02020603050405020304" pitchFamily="18" charset="0"/>
                    <a:cs typeface="Times New Roman" panose="02020603050405020304" pitchFamily="18" charset="0"/>
                  </a:rPr>
                  <a:t>&lt;</a:t>
                </a:r>
                <a:r>
                  <a:rPr lang="en-US" altLang="zh-CN" sz="1200" b="1" i="1" dirty="0">
                    <a:solidFill>
                      <a:srgbClr val="FF0000"/>
                    </a:solidFill>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 &gt;</a:t>
                </a:r>
                <a:r>
                  <a:rPr lang="zh-CN" altLang="en-US" sz="1200" b="1" dirty="0">
                    <a:latin typeface="Times New Roman" panose="02020603050405020304" pitchFamily="18" charset="0"/>
                    <a:cs typeface="Times New Roman" panose="02020603050405020304" pitchFamily="18" charset="0"/>
                  </a:rPr>
                  <a:t>为</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zh-CN" altLang="en-US" sz="1200" b="1" dirty="0">
                    <a:solidFill>
                      <a:srgbClr val="FF0000"/>
                    </a:solidFill>
                    <a:latin typeface="Times New Roman" panose="02020603050405020304" pitchFamily="18" charset="0"/>
                    <a:cs typeface="Times New Roman" panose="02020603050405020304" pitchFamily="18" charset="0"/>
                  </a:rPr>
                  <a:t>元对称群</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的子群为</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zh-CN" altLang="en-US" sz="1200" b="1" dirty="0">
                    <a:solidFill>
                      <a:srgbClr val="FF0000"/>
                    </a:solidFill>
                    <a:latin typeface="Times New Roman" panose="02020603050405020304" pitchFamily="18" charset="0"/>
                    <a:cs typeface="Times New Roman" panose="02020603050405020304" pitchFamily="18" charset="0"/>
                  </a:rPr>
                  <a:t>元置换群</a:t>
                </a:r>
                <a:r>
                  <a:rPr lang="en-US" altLang="zh-CN" sz="1200" b="1"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en-US"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1200" b="1" dirty="0">
                    <a:solidFill>
                      <a:srgbClr val="00B0F0"/>
                    </a:solidFill>
                    <a:latin typeface="Times New Roman" panose="02020603050405020304" pitchFamily="18" charset="0"/>
                    <a:cs typeface="Times New Roman" panose="02020603050405020304" pitchFamily="18" charset="0"/>
                  </a:rPr>
                  <a:t>注</a:t>
                </a:r>
                <a:r>
                  <a:rPr lang="en-US" altLang="zh-CN" sz="1200" b="1" dirty="0">
                    <a:solidFill>
                      <a:srgbClr val="00B0F0"/>
                    </a:solidFill>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①</a:t>
                </a:r>
                <a:r>
                  <a:rPr lang="en-US" altLang="zh-CN" sz="12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元对称群</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包含了</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个元素的所有可能的</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个置换</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排列</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这些置换保持群</a:t>
                </a:r>
                <a:r>
                  <a:rPr lang="zh-CN" altLang="zh-CN" sz="1200" dirty="0">
                    <a:latin typeface="楷体" panose="02010609060101010101" pitchFamily="49" charset="-122"/>
                    <a:ea typeface="楷体" panose="02010609060101010101" pitchFamily="49" charset="-122"/>
                  </a:rPr>
                  <a:t>结构</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的不变性</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即数学上的对称性</a:t>
                </a:r>
                <a:r>
                  <a:rPr lang="en-US" altLang="zh-CN" sz="1200" dirty="0">
                    <a:latin typeface="楷体" panose="02010609060101010101" pitchFamily="49" charset="-122"/>
                    <a:ea typeface="楷体" panose="02010609060101010101" pitchFamily="49" charset="-122"/>
                  </a:rPr>
                  <a:t>.</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②</a:t>
                </a:r>
                <a:r>
                  <a:rPr lang="en-US" altLang="zh-CN" sz="1200"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元置换群</a:t>
                </a:r>
                <a:r>
                  <a:rPr lang="zh-CN" altLang="en-US" sz="1200" dirty="0">
                    <a:latin typeface="楷体" panose="02010609060101010101" pitchFamily="49" charset="-122"/>
                    <a:ea typeface="楷体" panose="02010609060101010101" pitchFamily="49" charset="-122"/>
                  </a:rPr>
                  <a:t>是任意特定置换的集合</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元素的数量可以少于</a:t>
                </a:r>
                <a:r>
                  <a:rPr lang="en-US" altLang="zh-CN" sz="1200" dirty="0">
                    <a:latin typeface="楷体" panose="02010609060101010101" pitchFamily="49" charset="-122"/>
                    <a:ea typeface="楷体" panose="02010609060101010101" pitchFamily="49" charset="-122"/>
                  </a:rPr>
                  <a:t>n!,</a:t>
                </a:r>
                <a:r>
                  <a:rPr lang="en-US" altLang="zh-CN" sz="1200" b="1" i="1" dirty="0">
                    <a:latin typeface="Times New Roman" panose="02020603050405020304" pitchFamily="18" charset="0"/>
                    <a:cs typeface="Times New Roman" panose="02020603050405020304" pitchFamily="18" charset="0"/>
                  </a:rPr>
                  <a:t> S</a:t>
                </a:r>
                <a:r>
                  <a:rPr lang="en-US" altLang="zh-CN" sz="1200" b="1" i="1" baseline="-25000" dirty="0">
                    <a:latin typeface="Times New Roman" panose="02020603050405020304" pitchFamily="18" charset="0"/>
                    <a:cs typeface="Times New Roman" panose="02020603050405020304" pitchFamily="18" charset="0"/>
                  </a:rPr>
                  <a:t>n</a:t>
                </a:r>
                <a:r>
                  <a:rPr lang="zh-CN" altLang="en-US" sz="1200" dirty="0">
                    <a:latin typeface="楷体" panose="02010609060101010101" pitchFamily="49" charset="-122"/>
                    <a:ea typeface="楷体" panose="02010609060101010101" pitchFamily="49" charset="-122"/>
                  </a:rPr>
                  <a:t>是最大的</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元置换群</a:t>
                </a:r>
                <a:r>
                  <a:rPr lang="en-US" altLang="zh-CN" sz="12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200" b="1" dirty="0">
                  <a:latin typeface="楷体" panose="02010609060101010101" pitchFamily="49" charset="-122"/>
                  <a:ea typeface="楷体" panose="02010609060101010101" pitchFamily="49" charset="-122"/>
                  <a:cs typeface="Times New Roman" panose="02020603050405020304" pitchFamily="18" charset="0"/>
                </a:endParaRPr>
              </a:p>
              <a:p>
                <a:pPr>
                  <a:buFont typeface="Wingdings" panose="05000000000000000000" pitchFamily="2" charset="2"/>
                  <a:buChar char="Ø"/>
                </a:pPr>
                <a:endParaRPr lang="en-US" altLang="zh-CN" sz="1200" b="1" dirty="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一种置换是</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个群元素的一种排列</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个排列对应了</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en-US" altLang="zh-CN" sz="1200" b="1" dirty="0">
                    <a:solidFill>
                      <a:srgbClr val="FF0000"/>
                    </a:solidFill>
                    <a:latin typeface="Times New Roman" panose="02020603050405020304" pitchFamily="18" charset="0"/>
                    <a:cs typeface="Times New Roman" panose="02020603050405020304" pitchFamily="18" charset="0"/>
                  </a:rPr>
                  <a:t>!</a:t>
                </a:r>
                <a:r>
                  <a:rPr lang="zh-CN" altLang="en-US" sz="1200" b="1" dirty="0">
                    <a:solidFill>
                      <a:srgbClr val="FF0000"/>
                    </a:solidFill>
                    <a:latin typeface="Times New Roman" panose="02020603050405020304" pitchFamily="18" charset="0"/>
                    <a:cs typeface="Times New Roman" panose="02020603050405020304" pitchFamily="18" charset="0"/>
                  </a:rPr>
                  <a:t>个置换</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构成的置换集合记为</a:t>
                </a:r>
                <a:r>
                  <a:rPr lang="en-US" altLang="zh-CN" sz="1200" b="1" i="1" dirty="0">
                    <a:solidFill>
                      <a:srgbClr val="FF0000"/>
                    </a:solidFill>
                    <a:latin typeface="Times New Roman" panose="02020603050405020304" pitchFamily="18" charset="0"/>
                    <a:cs typeface="Times New Roman" panose="02020603050405020304" pitchFamily="18" charset="0"/>
                  </a:rPr>
                  <a:t>S</a:t>
                </a:r>
                <a:r>
                  <a:rPr lang="en-US" altLang="zh-CN" sz="1200" b="1" i="1" baseline="-25000" dirty="0">
                    <a:solidFill>
                      <a:srgbClr val="FF0000"/>
                    </a:solidFill>
                    <a:latin typeface="Times New Roman" panose="02020603050405020304" pitchFamily="18" charset="0"/>
                    <a:cs typeface="Times New Roman" panose="02020603050405020304" pitchFamily="18" charset="0"/>
                  </a:rPr>
                  <a:t>n</a:t>
                </a:r>
                <a:r>
                  <a:rPr lang="en-US" altLang="zh-CN" sz="1200" b="1" i="1"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关于置换复合运算</a:t>
                </a:r>
                <a:r>
                  <a:rPr lang="en-US" altLang="zh-CN" sz="1200" b="1" dirty="0">
                    <a:latin typeface="Times New Roman" panose="02020603050405020304" pitchFamily="18" charset="0"/>
                    <a:cs typeface="Times New Roman" panose="02020603050405020304" pitchFamily="18" charset="0"/>
                  </a:rPr>
                  <a:t>(</a:t>
                </a:r>
                <a:r>
                  <a:rPr lang="en-US" altLang="zh-CN" sz="11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构成</a:t>
                </a:r>
                <a:r>
                  <a:rPr lang="zh-CN" altLang="en-US" sz="1200" b="1" dirty="0">
                    <a:solidFill>
                      <a:srgbClr val="FF0000"/>
                    </a:solidFill>
                    <a:latin typeface="Times New Roman" panose="02020603050405020304" pitchFamily="18" charset="0"/>
                    <a:cs typeface="Times New Roman" panose="02020603050405020304" pitchFamily="18" charset="0"/>
                  </a:rPr>
                  <a:t>群</a:t>
                </a:r>
                <a:r>
                  <a:rPr lang="en-US" altLang="zh-CN" sz="1200" b="1" dirty="0">
                    <a:solidFill>
                      <a:srgbClr val="FF0000"/>
                    </a:solidFill>
                    <a:latin typeface="Times New Roman" panose="02020603050405020304" pitchFamily="18" charset="0"/>
                    <a:cs typeface="Times New Roman" panose="02020603050405020304" pitchFamily="18" charset="0"/>
                  </a:rPr>
                  <a:t>&lt;</a:t>
                </a:r>
                <a:r>
                  <a:rPr lang="en-US" altLang="zh-CN" sz="1200" b="1" i="1" dirty="0">
                    <a:solidFill>
                      <a:srgbClr val="FF0000"/>
                    </a:solidFill>
                    <a:latin typeface="Times New Roman" panose="02020603050405020304" pitchFamily="18" charset="0"/>
                    <a:cs typeface="Times New Roman" panose="02020603050405020304" pitchFamily="18" charset="0"/>
                  </a:rPr>
                  <a:t> S</a:t>
                </a:r>
                <a:r>
                  <a:rPr lang="en-US" altLang="zh-CN" sz="1200" b="1" i="1" baseline="-25000" dirty="0">
                    <a:solidFill>
                      <a:srgbClr val="FF0000"/>
                    </a:solidFill>
                    <a:latin typeface="Times New Roman" panose="02020603050405020304" pitchFamily="18" charset="0"/>
                    <a:cs typeface="Times New Roman" panose="02020603050405020304" pitchFamily="18" charset="0"/>
                  </a:rPr>
                  <a:t>n</a:t>
                </a:r>
                <a:r>
                  <a:rPr lang="en-US" altLang="zh-CN" sz="1200" b="1" dirty="0">
                    <a:solidFill>
                      <a:srgbClr val="FF0000"/>
                    </a:solidFill>
                    <a:latin typeface="Times New Roman" panose="02020603050405020304" pitchFamily="18" charset="0"/>
                    <a:cs typeface="Times New Roman" panose="02020603050405020304" pitchFamily="18" charset="0"/>
                  </a:rPr>
                  <a:t>, </a:t>
                </a:r>
                <a:r>
                  <a:rPr lang="en-US" altLang="zh-CN" sz="12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solidFill>
                      <a:srgbClr val="FF0000"/>
                    </a:solidFill>
                    <a:latin typeface="Times New Roman" panose="02020603050405020304" pitchFamily="18" charset="0"/>
                    <a:cs typeface="Times New Roman" panose="02020603050405020304" pitchFamily="18" charset="0"/>
                  </a:rPr>
                  <a:t> &gt;</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恒等置换</a:t>
                </a:r>
                <a:r>
                  <a:rPr lang="en-US" altLang="zh-CN" sz="1200" b="1" i="1" dirty="0">
                    <a:latin typeface="Times New Roman" panose="02020603050405020304" pitchFamily="18" charset="0"/>
                    <a:cs typeface="Times New Roman" panose="02020603050405020304" pitchFamily="18" charset="0"/>
                  </a:rPr>
                  <a:t>I</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是其幺元</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置换</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的逆元</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baseline="30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为：</a:t>
                </a:r>
                <a:endParaRPr lang="en-US" altLang="zh-CN" sz="1200" b="1"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r>
                  <a:rPr lang="zh-CN" altLang="en-US" sz="1200" b="1" i="0">
                    <a:latin typeface="Cambria Math" panose="02040503050406030204" pitchFamily="18" charset="0"/>
                    <a:cs typeface="Times New Roman" panose="02020603050405020304" pitchFamily="18" charset="0"/>
                  </a:rPr>
                  <a:t>𝝈</a:t>
                </a:r>
                <a:r>
                  <a:rPr lang="en-US" altLang="zh-CN" sz="1200" b="1" i="0">
                    <a:latin typeface="Cambria Math" panose="02040503050406030204" pitchFamily="18" charset="0"/>
                    <a:cs typeface="Times New Roman" panose="02020603050405020304" pitchFamily="18" charset="0"/>
                  </a:rPr>
                  <a:t>^(−𝟏)</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𝝈</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(𝟏)¦𝟏 </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 𝝈</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(𝟐)¦𝟐 </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 ⋯</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 </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 𝝈</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(𝒏)¦𝒏)</a:t>
                </a:r>
                <a:endParaRPr lang="en-US" altLang="zh-CN" sz="12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称</a:t>
                </a:r>
                <a:r>
                  <a:rPr lang="en-US" altLang="zh-CN" sz="1200" b="1" dirty="0">
                    <a:latin typeface="Times New Roman" panose="02020603050405020304" pitchFamily="18" charset="0"/>
                    <a:cs typeface="Times New Roman" panose="02020603050405020304" pitchFamily="18" charset="0"/>
                  </a:rPr>
                  <a:t>&lt;</a:t>
                </a:r>
                <a:r>
                  <a:rPr lang="en-US" altLang="zh-CN" sz="1200" b="1" i="1" dirty="0">
                    <a:solidFill>
                      <a:srgbClr val="FF0000"/>
                    </a:solidFill>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 &gt;</a:t>
                </a:r>
                <a:r>
                  <a:rPr lang="zh-CN" altLang="en-US" sz="1200" b="1" dirty="0">
                    <a:latin typeface="Times New Roman" panose="02020603050405020304" pitchFamily="18" charset="0"/>
                    <a:cs typeface="Times New Roman" panose="02020603050405020304" pitchFamily="18" charset="0"/>
                  </a:rPr>
                  <a:t>为</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zh-CN" altLang="en-US" sz="1200" b="1" dirty="0">
                    <a:solidFill>
                      <a:srgbClr val="FF0000"/>
                    </a:solidFill>
                    <a:latin typeface="Times New Roman" panose="02020603050405020304" pitchFamily="18" charset="0"/>
                    <a:cs typeface="Times New Roman" panose="02020603050405020304" pitchFamily="18" charset="0"/>
                  </a:rPr>
                  <a:t>元对称群</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的子群为</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zh-CN" altLang="en-US" sz="1200" b="1" dirty="0">
                    <a:solidFill>
                      <a:srgbClr val="FF0000"/>
                    </a:solidFill>
                    <a:latin typeface="Times New Roman" panose="02020603050405020304" pitchFamily="18" charset="0"/>
                    <a:cs typeface="Times New Roman" panose="02020603050405020304" pitchFamily="18" charset="0"/>
                  </a:rPr>
                  <a:t>元置换群</a:t>
                </a:r>
                <a:r>
                  <a:rPr lang="en-US" altLang="zh-CN" sz="1200" b="1"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en-US"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1200" b="1" dirty="0">
                    <a:solidFill>
                      <a:srgbClr val="00B0F0"/>
                    </a:solidFill>
                    <a:latin typeface="Times New Roman" panose="02020603050405020304" pitchFamily="18" charset="0"/>
                    <a:cs typeface="Times New Roman" panose="02020603050405020304" pitchFamily="18" charset="0"/>
                  </a:rPr>
                  <a:t>注</a:t>
                </a:r>
                <a:r>
                  <a:rPr lang="en-US" altLang="zh-CN" sz="1200" b="1" dirty="0">
                    <a:solidFill>
                      <a:srgbClr val="00B0F0"/>
                    </a:solidFill>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①</a:t>
                </a:r>
                <a:r>
                  <a:rPr lang="en-US" altLang="zh-CN" sz="12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元对称群</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包含了</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个元素的所有可能的</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个置换</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排列</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这些置换保持群</a:t>
                </a:r>
                <a:r>
                  <a:rPr lang="zh-CN" altLang="zh-CN" sz="1200" dirty="0">
                    <a:latin typeface="楷体" panose="02010609060101010101" pitchFamily="49" charset="-122"/>
                    <a:ea typeface="楷体" panose="02010609060101010101" pitchFamily="49" charset="-122"/>
                  </a:rPr>
                  <a:t>结构</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的不变性</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即数学上的对称性</a:t>
                </a:r>
                <a:r>
                  <a:rPr lang="en-US" altLang="zh-CN" sz="1200" dirty="0">
                    <a:latin typeface="楷体" panose="02010609060101010101" pitchFamily="49" charset="-122"/>
                    <a:ea typeface="楷体" panose="02010609060101010101" pitchFamily="49" charset="-122"/>
                  </a:rPr>
                  <a:t>.</a:t>
                </a:r>
                <a:r>
                  <a:rPr lang="en-US" altLang="zh-CN" sz="1200" dirty="0">
                    <a:latin typeface="Times New Roman" panose="02020603050405020304" pitchFamily="18" charset="0"/>
                    <a:ea typeface="楷体" panose="02010609060101010101" pitchFamily="49" charset="-122"/>
                    <a:cs typeface="Times New Roman" panose="02020603050405020304" pitchFamily="18" charset="0"/>
                  </a:rPr>
                  <a:t>②</a:t>
                </a:r>
                <a:r>
                  <a:rPr lang="en-US" altLang="zh-CN" sz="1200"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1200" b="1"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元置换群</a:t>
                </a:r>
                <a:r>
                  <a:rPr lang="zh-CN" altLang="en-US" sz="1200" dirty="0">
                    <a:latin typeface="楷体" panose="02010609060101010101" pitchFamily="49" charset="-122"/>
                    <a:ea typeface="楷体" panose="02010609060101010101" pitchFamily="49" charset="-122"/>
                  </a:rPr>
                  <a:t>是任意特定置换的集合</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元素的数量可以少于</a:t>
                </a:r>
                <a:r>
                  <a:rPr lang="en-US" altLang="zh-CN" sz="1200" dirty="0">
                    <a:latin typeface="楷体" panose="02010609060101010101" pitchFamily="49" charset="-122"/>
                    <a:ea typeface="楷体" panose="02010609060101010101" pitchFamily="49" charset="-122"/>
                  </a:rPr>
                  <a:t>n!,</a:t>
                </a:r>
                <a:r>
                  <a:rPr lang="en-US" altLang="zh-CN" sz="1200" b="1" i="1" dirty="0">
                    <a:latin typeface="Times New Roman" panose="02020603050405020304" pitchFamily="18" charset="0"/>
                    <a:cs typeface="Times New Roman" panose="02020603050405020304" pitchFamily="18" charset="0"/>
                  </a:rPr>
                  <a:t> S</a:t>
                </a:r>
                <a:r>
                  <a:rPr lang="en-US" altLang="zh-CN" sz="1200" b="1" i="1" baseline="-25000" dirty="0">
                    <a:latin typeface="Times New Roman" panose="02020603050405020304" pitchFamily="18" charset="0"/>
                    <a:cs typeface="Times New Roman" panose="02020603050405020304" pitchFamily="18" charset="0"/>
                  </a:rPr>
                  <a:t>n</a:t>
                </a:r>
                <a:r>
                  <a:rPr lang="zh-CN" altLang="en-US" sz="1200" dirty="0">
                    <a:latin typeface="楷体" panose="02010609060101010101" pitchFamily="49" charset="-122"/>
                    <a:ea typeface="楷体" panose="02010609060101010101" pitchFamily="49" charset="-122"/>
                  </a:rPr>
                  <a:t>是最大的</a:t>
                </a:r>
                <a:r>
                  <a:rPr lang="en-US" altLang="zh-CN" sz="1200"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元置换群</a:t>
                </a:r>
                <a:r>
                  <a:rPr lang="en-US" altLang="zh-CN" sz="12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200" b="1" dirty="0">
                  <a:latin typeface="楷体" panose="02010609060101010101" pitchFamily="49" charset="-122"/>
                  <a:ea typeface="楷体" panose="02010609060101010101" pitchFamily="49" charset="-122"/>
                  <a:cs typeface="Times New Roman" panose="02020603050405020304" pitchFamily="18" charset="0"/>
                </a:endParaRPr>
              </a:p>
              <a:p>
                <a:pPr>
                  <a:buFont typeface="Wingdings" panose="05000000000000000000" pitchFamily="2" charset="2"/>
                  <a:buChar char="Ø"/>
                </a:pPr>
                <a:endParaRPr lang="en-US" altLang="zh-CN" sz="1200" b="1" dirty="0">
                  <a:latin typeface="Times New Roman" panose="02020603050405020304" pitchFamily="18" charset="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102</a:t>
            </a:fld>
            <a:endParaRPr lang="zh-CN" altLang="en-US"/>
          </a:p>
        </p:txBody>
      </p:sp>
    </p:spTree>
    <p:extLst>
      <p:ext uri="{BB962C8B-B14F-4D97-AF65-F5344CB8AC3E}">
        <p14:creationId xmlns:p14="http://schemas.microsoft.com/office/powerpoint/2010/main" val="23499590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nSpc>
                    <a:spcPct val="100000"/>
                  </a:lnSpc>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置换的表示方式有排列表示、轮换</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循环</a:t>
                </a:r>
                <a:r>
                  <a:rPr lang="en-US" altLang="zh-CN" dirty="0">
                    <a:latin typeface="Times New Roman" panose="02020603050405020304" pitchFamily="18" charset="0"/>
                    <a:cs typeface="Times New Roman" panose="02020603050405020304" pitchFamily="18" charset="0"/>
                  </a:rPr>
                  <a:t>Cycle</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表示、矩阵表示和列表表示等方法</a:t>
                </a:r>
                <a:r>
                  <a:rPr lang="en-US" altLang="zh-CN" sz="1200" b="1" dirty="0">
                    <a:latin typeface="Times New Roman" panose="02020603050405020304" pitchFamily="18" charset="0"/>
                    <a:cs typeface="Times New Roman" panose="02020603050405020304" pitchFamily="18" charset="0"/>
                  </a:rPr>
                  <a:t>.</a:t>
                </a:r>
              </a:p>
              <a:p>
                <a:pPr>
                  <a:lnSpc>
                    <a:spcPct val="100000"/>
                  </a:lnSpc>
                  <a:buFont typeface="Wingdings" panose="05000000000000000000" pitchFamily="2" charset="2"/>
                  <a:buChar char="Ø"/>
                </a:pP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6</a:t>
                </a:r>
                <a:r>
                  <a:rPr lang="zh-CN" altLang="en-US" sz="1200" b="1" dirty="0">
                    <a:latin typeface="Times New Roman" panose="02020603050405020304" pitchFamily="18" charset="0"/>
                    <a:cs typeface="Times New Roman" panose="02020603050405020304" pitchFamily="18" charset="0"/>
                  </a:rPr>
                  <a:t>的置换</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可用</a:t>
                </a:r>
                <a:r>
                  <a:rPr lang="zh-CN" altLang="en-US" sz="1200" b="1" dirty="0">
                    <a:latin typeface="Times New Roman" panose="02020603050405020304" pitchFamily="18" charset="0"/>
                    <a:cs typeface="Times New Roman" panose="02020603050405020304" pitchFamily="18" charset="0"/>
                  </a:rPr>
                  <a:t>排列表示法表示为</a:t>
                </a:r>
                <a:r>
                  <a:rPr lang="en-US" altLang="zh-CN" sz="1200" b="1" dirty="0">
                    <a:latin typeface="Times New Roman" panose="02020603050405020304" pitchFamily="18" charset="0"/>
                    <a:cs typeface="Times New Roman" panose="02020603050405020304" pitchFamily="18" charset="0"/>
                  </a:rPr>
                  <a:t>:</a:t>
                </a:r>
                <a14:m>
                  <m:oMath xmlns:m="http://schemas.openxmlformats.org/officeDocument/2006/math">
                    <m:r>
                      <a:rPr lang="zh-CN" altLang="en-US" b="1" i="1">
                        <a:latin typeface="Cambria Math" panose="02040503050406030204" pitchFamily="18" charset="0"/>
                        <a:ea typeface="Cambria Math" panose="02040503050406030204" pitchFamily="18" charset="0"/>
                        <a:cs typeface="Times New Roman" panose="02020603050405020304" pitchFamily="18" charset="0"/>
                      </a:rPr>
                      <m:t>𝝈</m:t>
                    </m:r>
                    <m:r>
                      <a:rPr lang="en-US" altLang="zh-CN" b="1"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b="1" i="1">
                            <a:latin typeface="Cambria Math" panose="02040503050406030204" pitchFamily="18" charset="0"/>
                            <a:ea typeface="Cambria Math" panose="02040503050406030204" pitchFamily="18" charset="0"/>
                            <a:cs typeface="Times New Roman" panose="02020603050405020304" pitchFamily="18" charset="0"/>
                          </a:rPr>
                        </m:ctrlPr>
                      </m:dPr>
                      <m:e>
                        <m:f>
                          <m:fPr>
                            <m:type m:val="noBar"/>
                            <m:ctrlPr>
                              <a:rPr lang="en-US" altLang="zh-CN"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b="1" i="1">
                                <a:latin typeface="Cambria Math" panose="02040503050406030204" pitchFamily="18" charset="0"/>
                                <a:ea typeface="Cambria Math" panose="02040503050406030204" pitchFamily="18" charset="0"/>
                                <a:cs typeface="Times New Roman" panose="02020603050405020304" pitchFamily="18" charset="0"/>
                              </a:rPr>
                              <m:t>𝟏</m:t>
                            </m:r>
                          </m:num>
                          <m:den>
                            <m:r>
                              <a:rPr lang="en-US" altLang="zh-CN" b="1" i="1">
                                <a:latin typeface="Cambria Math" panose="02040503050406030204" pitchFamily="18" charset="0"/>
                                <a:ea typeface="Cambria Math" panose="02040503050406030204" pitchFamily="18" charset="0"/>
                                <a:cs typeface="Times New Roman" panose="02020603050405020304" pitchFamily="18" charset="0"/>
                              </a:rPr>
                              <m:t>𝟏</m:t>
                            </m:r>
                          </m:den>
                        </m:f>
                        <m:f>
                          <m:fPr>
                            <m:type m:val="noBar"/>
                            <m:ctrlPr>
                              <a:rPr lang="en-US" altLang="zh-CN" b="1"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b="1" i="1">
                                <a:latin typeface="Cambria Math" panose="02040503050406030204" pitchFamily="18" charset="0"/>
                                <a:ea typeface="Cambria Math" panose="02040503050406030204" pitchFamily="18" charset="0"/>
                                <a:cs typeface="Times New Roman" panose="02020603050405020304" pitchFamily="18" charset="0"/>
                              </a:rPr>
                              <m:t>𝟐</m:t>
                            </m:r>
                          </m:num>
                          <m:den>
                            <m:r>
                              <a:rPr lang="en-US" altLang="zh-CN" b="1" i="1">
                                <a:latin typeface="Cambria Math" panose="02040503050406030204" pitchFamily="18" charset="0"/>
                                <a:ea typeface="Cambria Math" panose="02040503050406030204" pitchFamily="18" charset="0"/>
                                <a:cs typeface="Times New Roman" panose="02020603050405020304" pitchFamily="18" charset="0"/>
                              </a:rPr>
                              <m:t>𝟓</m:t>
                            </m:r>
                          </m:den>
                        </m:f>
                        <m:f>
                          <m:fPr>
                            <m:type m:val="noBar"/>
                            <m:ctrlPr>
                              <a:rPr lang="en-US" altLang="zh-CN"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b="1" i="1">
                                <a:latin typeface="Cambria Math" panose="02040503050406030204" pitchFamily="18" charset="0"/>
                                <a:ea typeface="Cambria Math" panose="02040503050406030204" pitchFamily="18" charset="0"/>
                                <a:cs typeface="Times New Roman" panose="02020603050405020304" pitchFamily="18" charset="0"/>
                              </a:rPr>
                              <m:t>𝟑</m:t>
                            </m:r>
                          </m:num>
                          <m:den>
                            <m:r>
                              <a:rPr lang="en-US" altLang="zh-CN" b="1" i="1">
                                <a:latin typeface="Cambria Math" panose="02040503050406030204" pitchFamily="18" charset="0"/>
                                <a:ea typeface="Cambria Math" panose="02040503050406030204" pitchFamily="18" charset="0"/>
                                <a:cs typeface="Times New Roman" panose="02020603050405020304" pitchFamily="18" charset="0"/>
                              </a:rPr>
                              <m:t>𝟐</m:t>
                            </m:r>
                          </m:den>
                        </m:f>
                        <m:f>
                          <m:fPr>
                            <m:type m:val="noBar"/>
                            <m:ctrlPr>
                              <a:rPr lang="en-US" altLang="zh-CN"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b="1" i="1">
                                <a:latin typeface="Cambria Math" panose="02040503050406030204" pitchFamily="18" charset="0"/>
                                <a:ea typeface="Cambria Math" panose="02040503050406030204" pitchFamily="18" charset="0"/>
                                <a:cs typeface="Times New Roman" panose="02020603050405020304" pitchFamily="18" charset="0"/>
                              </a:rPr>
                              <m:t>𝟒</m:t>
                            </m:r>
                          </m:num>
                          <m:den>
                            <m:r>
                              <a:rPr lang="en-US" altLang="zh-CN" b="1" i="1">
                                <a:latin typeface="Cambria Math" panose="02040503050406030204" pitchFamily="18" charset="0"/>
                                <a:ea typeface="Cambria Math" panose="02040503050406030204" pitchFamily="18" charset="0"/>
                                <a:cs typeface="Times New Roman" panose="02020603050405020304" pitchFamily="18" charset="0"/>
                              </a:rPr>
                              <m:t>𝟒</m:t>
                            </m:r>
                          </m:den>
                        </m:f>
                        <m:f>
                          <m:fPr>
                            <m:type m:val="noBar"/>
                            <m:ctrlPr>
                              <a:rPr lang="en-US" altLang="zh-CN"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b="1" i="1">
                                <a:latin typeface="Cambria Math" panose="02040503050406030204" pitchFamily="18" charset="0"/>
                                <a:ea typeface="Cambria Math" panose="02040503050406030204" pitchFamily="18" charset="0"/>
                                <a:cs typeface="Times New Roman" panose="02020603050405020304" pitchFamily="18" charset="0"/>
                              </a:rPr>
                              <m:t>𝟓</m:t>
                            </m:r>
                          </m:num>
                          <m:den>
                            <m:r>
                              <a:rPr lang="en-US" altLang="zh-CN" b="1" i="1">
                                <a:latin typeface="Cambria Math" panose="02040503050406030204" pitchFamily="18" charset="0"/>
                                <a:ea typeface="Cambria Math" panose="02040503050406030204" pitchFamily="18" charset="0"/>
                                <a:cs typeface="Times New Roman" panose="02020603050405020304" pitchFamily="18" charset="0"/>
                              </a:rPr>
                              <m:t>𝟑</m:t>
                            </m:r>
                          </m:den>
                        </m:f>
                        <m:f>
                          <m:fPr>
                            <m:type m:val="noBar"/>
                            <m:ctrlPr>
                              <a:rPr lang="en-US" altLang="zh-CN"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b="1" i="1">
                                <a:latin typeface="Cambria Math" panose="02040503050406030204" pitchFamily="18" charset="0"/>
                                <a:ea typeface="Cambria Math" panose="02040503050406030204" pitchFamily="18" charset="0"/>
                                <a:cs typeface="Times New Roman" panose="02020603050405020304" pitchFamily="18" charset="0"/>
                              </a:rPr>
                              <m:t>𝟔</m:t>
                            </m:r>
                          </m:num>
                          <m:den>
                            <m:r>
                              <a:rPr lang="en-US" altLang="zh-CN" b="1" i="1">
                                <a:latin typeface="Cambria Math" panose="02040503050406030204" pitchFamily="18" charset="0"/>
                                <a:ea typeface="Cambria Math" panose="02040503050406030204" pitchFamily="18" charset="0"/>
                                <a:cs typeface="Times New Roman" panose="02020603050405020304" pitchFamily="18" charset="0"/>
                              </a:rPr>
                              <m:t>𝟔</m:t>
                            </m:r>
                          </m:den>
                        </m:f>
                      </m:e>
                    </m:d>
                  </m:oMath>
                </a14:m>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也可以用</a:t>
                </a:r>
                <a:r>
                  <a:rPr lang="zh-CN" altLang="en-US" sz="1200" b="1" dirty="0">
                    <a:latin typeface="Times New Roman" panose="02020603050405020304" pitchFamily="18" charset="0"/>
                    <a:cs typeface="Times New Roman" panose="02020603050405020304" pitchFamily="18" charset="0"/>
                  </a:rPr>
                  <a:t>轮换表示法表示为</a:t>
                </a:r>
                <a:r>
                  <a:rPr lang="en-US" altLang="zh-CN" sz="1200" b="1" dirty="0">
                    <a:latin typeface="Times New Roman" panose="02020603050405020304" pitchFamily="18" charset="0"/>
                    <a:cs typeface="Times New Roman" panose="02020603050405020304" pitchFamily="18" charset="0"/>
                  </a:rPr>
                  <a:t>:</a:t>
                </a:r>
                <a14:m>
                  <m:oMath xmlns:m="http://schemas.openxmlformats.org/officeDocument/2006/math">
                    <m:r>
                      <a:rPr lang="zh-CN" altLang="en-US" sz="1200" b="1" i="1">
                        <a:latin typeface="Cambria Math" panose="02040503050406030204" pitchFamily="18" charset="0"/>
                        <a:ea typeface="Cambria Math" panose="02040503050406030204" pitchFamily="18" charset="0"/>
                        <a:cs typeface="Times New Roman" panose="02020603050405020304" pitchFamily="18" charset="0"/>
                      </a:rPr>
                      <m:t>𝝈</m:t>
                    </m:r>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𝟐𝟓𝟑</m:t>
                        </m:r>
                      </m:e>
                    </m:d>
                    <m:r>
                      <a:rPr lang="en-US" altLang="zh-CN" sz="1200" b="1" i="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即</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2</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映射到</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5,</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 </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5</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映射到</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3,</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 </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3</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映射到</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2. </a:t>
                </a:r>
              </a:p>
              <a:p>
                <a:pPr>
                  <a:lnSpc>
                    <a:spcPct val="100000"/>
                  </a:lnSpc>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循环</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轮换</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置换的长度为</a:t>
                </a:r>
                <a:r>
                  <a:rPr lang="en-US" altLang="zh-CN" sz="1200" b="1" i="1" dirty="0">
                    <a:latin typeface="Times New Roman" panose="02020603050405020304" pitchFamily="18" charset="0"/>
                    <a:cs typeface="Times New Roman" panose="02020603050405020304" pitchFamily="18" charset="0"/>
                  </a:rPr>
                  <a:t>m</a:t>
                </a:r>
                <a:r>
                  <a:rPr lang="zh-CN" altLang="en-US" sz="1200" b="1" dirty="0">
                    <a:latin typeface="Times New Roman" panose="02020603050405020304" pitchFamily="18" charset="0"/>
                    <a:cs typeface="Times New Roman" panose="02020603050405020304" pitchFamily="18" charset="0"/>
                  </a:rPr>
                  <a:t>时</a:t>
                </a:r>
                <a:r>
                  <a:rPr lang="en-US" altLang="zh-CN" sz="1200" b="1" dirty="0">
                    <a:latin typeface="Times New Roman" panose="02020603050405020304" pitchFamily="18" charset="0"/>
                    <a:cs typeface="Times New Roman" panose="02020603050405020304" pitchFamily="18" charset="0"/>
                  </a:rPr>
                  <a:t>,</a:t>
                </a:r>
                <a14:m>
                  <m:oMath xmlns:m="http://schemas.openxmlformats.org/officeDocument/2006/math">
                    <m:r>
                      <a:rPr lang="zh-CN" altLang="en-US" sz="1200" b="1" i="1">
                        <a:latin typeface="Cambria Math" panose="02040503050406030204" pitchFamily="18" charset="0"/>
                        <a:ea typeface="Cambria Math" panose="02040503050406030204" pitchFamily="18" charset="0"/>
                        <a:cs typeface="Times New Roman" panose="02020603050405020304" pitchFamily="18" charset="0"/>
                      </a:rPr>
                      <m:t>𝝈</m:t>
                    </m:r>
                    <m:r>
                      <a:rPr lang="zh-CN" altLang="en-US" sz="1200" b="1" i="1" smtClean="0">
                        <a:latin typeface="Cambria Math" panose="02040503050406030204" pitchFamily="18" charset="0"/>
                        <a:ea typeface="Cambria Math" panose="02040503050406030204" pitchFamily="18" charset="0"/>
                        <a:cs typeface="Times New Roman" panose="02020603050405020304" pitchFamily="18" charset="0"/>
                      </a:rPr>
                      <m:t>称</m:t>
                    </m:r>
                  </m:oMath>
                </a14:m>
                <a:r>
                  <a:rPr lang="zh-CN" altLang="en-US" sz="1200" b="1" dirty="0">
                    <a:latin typeface="Times New Roman" panose="02020603050405020304" pitchFamily="18" charset="0"/>
                    <a:cs typeface="Times New Roman" panose="02020603050405020304" pitchFamily="18" charset="0"/>
                  </a:rPr>
                  <a:t>为</a:t>
                </a:r>
                <a:r>
                  <a:rPr lang="en-US" altLang="zh-CN" sz="1200" b="1" i="1" dirty="0">
                    <a:solidFill>
                      <a:srgbClr val="FF0000"/>
                    </a:solidFill>
                    <a:latin typeface="Times New Roman" panose="02020603050405020304" pitchFamily="18" charset="0"/>
                    <a:cs typeface="Times New Roman" panose="02020603050405020304" pitchFamily="18" charset="0"/>
                  </a:rPr>
                  <a:t>m</a:t>
                </a:r>
                <a:r>
                  <a:rPr lang="zh-CN" altLang="en-US" sz="1200" b="1" dirty="0">
                    <a:solidFill>
                      <a:srgbClr val="FF0000"/>
                    </a:solidFill>
                    <a:latin typeface="Times New Roman" panose="02020603050405020304" pitchFamily="18" charset="0"/>
                    <a:cs typeface="Times New Roman" panose="02020603050405020304" pitchFamily="18" charset="0"/>
                  </a:rPr>
                  <a:t>阶轮换</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时称为</a:t>
                </a:r>
                <a:r>
                  <a:rPr lang="zh-CN" altLang="en-US" sz="1200" b="1" dirty="0">
                    <a:solidFill>
                      <a:srgbClr val="FF0000"/>
                    </a:solidFill>
                    <a:latin typeface="Times New Roman" panose="02020603050405020304" pitchFamily="18" charset="0"/>
                    <a:cs typeface="Times New Roman" panose="02020603050405020304" pitchFamily="18" charset="0"/>
                  </a:rPr>
                  <a:t>对换</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 m</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时称为</a:t>
                </a:r>
                <a:r>
                  <a:rPr lang="zh-CN" altLang="en-US" sz="1200" b="1" dirty="0">
                    <a:solidFill>
                      <a:srgbClr val="FF0000"/>
                    </a:solidFill>
                    <a:latin typeface="Times New Roman" panose="02020603050405020304" pitchFamily="18" charset="0"/>
                    <a:cs typeface="Times New Roman" panose="02020603050405020304" pitchFamily="18" charset="0"/>
                  </a:rPr>
                  <a:t>恒等置换</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 </a:t>
                </a:r>
              </a:p>
              <a:p>
                <a:pPr>
                  <a:lnSpc>
                    <a:spcPct val="100000"/>
                  </a:lnSpc>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任何置换</a:t>
                </a:r>
                <a14:m>
                  <m:oMath xmlns:m="http://schemas.openxmlformats.org/officeDocument/2006/math">
                    <m:r>
                      <a:rPr lang="zh-CN" altLang="en-US" sz="1200" b="1" i="1">
                        <a:latin typeface="Cambria Math" panose="02040503050406030204" pitchFamily="18" charset="0"/>
                        <a:ea typeface="Cambria Math" panose="02040503050406030204" pitchFamily="18" charset="0"/>
                        <a:cs typeface="Times New Roman" panose="02020603050405020304" pitchFamily="18" charset="0"/>
                      </a:rPr>
                      <m:t>𝝈</m:t>
                    </m:r>
                  </m:oMath>
                </a14:m>
                <a:r>
                  <a:rPr lang="zh-CN" altLang="en-US" sz="1200" b="1" dirty="0">
                    <a:latin typeface="Times New Roman" panose="02020603050405020304" pitchFamily="18" charset="0"/>
                    <a:cs typeface="Times New Roman" panose="02020603050405020304" pitchFamily="18" charset="0"/>
                  </a:rPr>
                  <a:t>都可以表示成不相交的轮换之积</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 </a:t>
                </a:r>
                <a:endParaRPr lang="en-US" altLang="zh-CN" sz="1200" b="1" dirty="0">
                  <a:latin typeface="Times New Roman" panose="02020603050405020304" pitchFamily="18" charset="0"/>
                  <a:cs typeface="Times New Roman" panose="02020603050405020304" pitchFamily="18" charset="0"/>
                </a:endParaRPr>
              </a:p>
              <a:p>
                <a:pPr marL="0" indent="0">
                  <a:buNone/>
                </a:pPr>
                <a:r>
                  <a:rPr lang="zh-CN" altLang="en-US" sz="1200" b="1" dirty="0">
                    <a:ea typeface="Cambria Math" panose="02040503050406030204" pitchFamily="18" charset="0"/>
                    <a:cs typeface="Times New Roman" panose="02020603050405020304" pitchFamily="18" charset="0"/>
                  </a:rPr>
                  <a:t>如</a:t>
                </a:r>
                <a14:m>
                  <m:oMath xmlns:m="http://schemas.openxmlformats.org/officeDocument/2006/math">
                    <m:r>
                      <a:rPr lang="en-US" altLang="zh-CN" sz="1200" b="1" i="0" smtClean="0">
                        <a:latin typeface="Cambria Math" panose="02040503050406030204" pitchFamily="18" charset="0"/>
                        <a:ea typeface="Cambria Math" panose="02040503050406030204" pitchFamily="18" charset="0"/>
                        <a:cs typeface="Times New Roman" panose="02020603050405020304" pitchFamily="18" charset="0"/>
                      </a:rPr>
                      <m:t> </m:t>
                    </m:r>
                    <m:r>
                      <a:rPr lang="zh-CN" altLang="en-US" sz="1200" b="1" i="1">
                        <a:latin typeface="Cambria Math" panose="02040503050406030204" pitchFamily="18" charset="0"/>
                        <a:ea typeface="Cambria Math" panose="02040503050406030204" pitchFamily="18" charset="0"/>
                        <a:cs typeface="Times New Roman" panose="02020603050405020304" pitchFamily="18" charset="0"/>
                      </a:rPr>
                      <m:t>𝝈</m:t>
                    </m:r>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dPr>
                      <m:e>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𝟏</m:t>
                            </m:r>
                          </m:num>
                          <m:den>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𝟔</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𝟐</m:t>
                            </m:r>
                          </m:num>
                          <m:den>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𝟓</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𝟑</m:t>
                            </m:r>
                          </m:num>
                          <m:den>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𝟐</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𝟒</m:t>
                            </m:r>
                          </m:num>
                          <m:den>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𝟒</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𝟓</m:t>
                            </m:r>
                          </m:num>
                          <m:den>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𝟑</m:t>
                            </m:r>
                          </m:den>
                        </m:f>
                        <m:f>
                          <m:fPr>
                            <m:type m:val="noBa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𝟔</m:t>
                            </m:r>
                          </m:num>
                          <m:den>
                            <m:r>
                              <a:rPr lang="en-US" altLang="zh-CN" sz="1200" b="1" i="1">
                                <a:latin typeface="Cambria Math" panose="02040503050406030204" pitchFamily="18" charset="0"/>
                                <a:ea typeface="Cambria Math" panose="02040503050406030204" pitchFamily="18" charset="0"/>
                                <a:cs typeface="Times New Roman" panose="02020603050405020304" pitchFamily="18" charset="0"/>
                              </a:rPr>
                              <m:t>𝟏</m:t>
                            </m:r>
                          </m:den>
                        </m:f>
                      </m:e>
                    </m:d>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𝟏𝟔</m:t>
                        </m:r>
                      </m:e>
                    </m:d>
                    <m:d>
                      <m:dPr>
                        <m:ctrlPr>
                          <a:rPr lang="en-US" altLang="zh-CN" sz="1200" b="1"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b="1" i="1" smtClean="0">
                            <a:latin typeface="Cambria Math" panose="02040503050406030204" pitchFamily="18" charset="0"/>
                            <a:ea typeface="Cambria Math" panose="02040503050406030204" pitchFamily="18" charset="0"/>
                            <a:cs typeface="Times New Roman" panose="02020603050405020304" pitchFamily="18" charset="0"/>
                          </a:rPr>
                          <m:t>𝟐𝟓𝟑</m:t>
                        </m:r>
                      </m:e>
                    </m:d>
                  </m:oMath>
                </a14:m>
                <a:endParaRPr lang="en-US" altLang="zh-CN" sz="1200" b="1" i="1" dirty="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a:lnSpc>
                    <a:spcPct val="100000"/>
                  </a:lnSpc>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置换的表示方式有排列表示、轮换</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循环</a:t>
                </a:r>
                <a:r>
                  <a:rPr lang="en-US" altLang="zh-CN" dirty="0">
                    <a:latin typeface="Times New Roman" panose="02020603050405020304" pitchFamily="18" charset="0"/>
                    <a:cs typeface="Times New Roman" panose="02020603050405020304" pitchFamily="18" charset="0"/>
                  </a:rPr>
                  <a:t>Cycle</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表示、矩阵表示和列表表示等方法</a:t>
                </a:r>
                <a:r>
                  <a:rPr lang="en-US" altLang="zh-CN" sz="1200" b="1" dirty="0">
                    <a:latin typeface="Times New Roman" panose="02020603050405020304" pitchFamily="18" charset="0"/>
                    <a:cs typeface="Times New Roman" panose="02020603050405020304" pitchFamily="18" charset="0"/>
                  </a:rPr>
                  <a:t>.</a:t>
                </a:r>
              </a:p>
              <a:p>
                <a:pPr>
                  <a:lnSpc>
                    <a:spcPct val="100000"/>
                  </a:lnSpc>
                  <a:buFont typeface="Wingdings" panose="05000000000000000000" pitchFamily="2" charset="2"/>
                  <a:buChar char="Ø"/>
                </a:pPr>
                <a:r>
                  <a:rPr lang="en-US" altLang="zh-CN" sz="1200" b="1" i="1" dirty="0">
                    <a:latin typeface="Times New Roman" panose="02020603050405020304" pitchFamily="18" charset="0"/>
                    <a:cs typeface="Times New Roman" panose="02020603050405020304" pitchFamily="18" charset="0"/>
                  </a:rPr>
                  <a:t>S</a:t>
                </a:r>
                <a:r>
                  <a:rPr lang="en-US" altLang="zh-CN" sz="1200" b="1" i="1" baseline="-25000" dirty="0">
                    <a:latin typeface="Times New Roman" panose="02020603050405020304" pitchFamily="18" charset="0"/>
                    <a:cs typeface="Times New Roman" panose="02020603050405020304" pitchFamily="18" charset="0"/>
                  </a:rPr>
                  <a:t>6</a:t>
                </a:r>
                <a:r>
                  <a:rPr lang="zh-CN" altLang="en-US" sz="1200" b="1" dirty="0">
                    <a:latin typeface="Times New Roman" panose="02020603050405020304" pitchFamily="18" charset="0"/>
                    <a:cs typeface="Times New Roman" panose="02020603050405020304" pitchFamily="18" charset="0"/>
                  </a:rPr>
                  <a:t>的置换</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可用</a:t>
                </a:r>
                <a:r>
                  <a:rPr lang="zh-CN" altLang="en-US" sz="1200" b="1" dirty="0">
                    <a:latin typeface="Times New Roman" panose="02020603050405020304" pitchFamily="18" charset="0"/>
                    <a:cs typeface="Times New Roman" panose="02020603050405020304" pitchFamily="18" charset="0"/>
                  </a:rPr>
                  <a:t>排列表示法表示为</a:t>
                </a:r>
                <a:r>
                  <a:rPr lang="en-US" altLang="zh-CN" sz="1200" b="1" dirty="0">
                    <a:latin typeface="Times New Roman" panose="02020603050405020304" pitchFamily="18" charset="0"/>
                    <a:cs typeface="Times New Roman" panose="02020603050405020304" pitchFamily="18" charset="0"/>
                  </a:rPr>
                  <a:t>:</a:t>
                </a:r>
                <a:r>
                  <a:rPr lang="zh-CN" altLang="en-US" b="1" i="0">
                    <a:latin typeface="Cambria Math" panose="02040503050406030204" pitchFamily="18" charset="0"/>
                    <a:ea typeface="Cambria Math" panose="02040503050406030204" pitchFamily="18" charset="0"/>
                    <a:cs typeface="Times New Roman" panose="02020603050405020304" pitchFamily="18" charset="0"/>
                  </a:rPr>
                  <a:t>𝝈</a:t>
                </a:r>
                <a:r>
                  <a:rPr lang="en-US" altLang="zh-CN" b="1" i="0">
                    <a:latin typeface="Cambria Math" panose="02040503050406030204" pitchFamily="18" charset="0"/>
                    <a:ea typeface="Cambria Math" panose="02040503050406030204" pitchFamily="18" charset="0"/>
                    <a:cs typeface="Times New Roman" panose="02020603050405020304" pitchFamily="18" charset="0"/>
                  </a:rPr>
                  <a:t>=(𝟏¦𝟏  𝟐¦𝟓  𝟑¦𝟐  𝟒¦𝟒  𝟓¦𝟑  𝟔¦𝟔)</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也可以用</a:t>
                </a:r>
                <a:r>
                  <a:rPr lang="zh-CN" altLang="en-US" sz="1200" b="1" dirty="0">
                    <a:latin typeface="Times New Roman" panose="02020603050405020304" pitchFamily="18" charset="0"/>
                    <a:cs typeface="Times New Roman" panose="02020603050405020304" pitchFamily="18" charset="0"/>
                  </a:rPr>
                  <a:t>轮换表示法表示为</a:t>
                </a:r>
                <a:r>
                  <a:rPr lang="en-US" altLang="zh-CN" sz="1200" b="1" dirty="0">
                    <a:latin typeface="Times New Roman" panose="02020603050405020304" pitchFamily="18" charset="0"/>
                    <a:cs typeface="Times New Roman" panose="02020603050405020304" pitchFamily="18" charset="0"/>
                  </a:rPr>
                  <a:t>:</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𝝈</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=(𝟐𝟓𝟑)  </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即</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2</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映射到</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5,</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 </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5</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映射到</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3,</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 </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3</a:t>
                </a:r>
                <a:r>
                  <a:rPr lang="zh-CN" altLang="en-US" sz="1200" b="1" dirty="0">
                    <a:latin typeface="Times New Roman" panose="02020603050405020304" pitchFamily="18" charset="0"/>
                    <a:ea typeface="Cambria Math" panose="02040503050406030204" pitchFamily="18" charset="0"/>
                    <a:cs typeface="Times New Roman" panose="02020603050405020304" pitchFamily="18" charset="0"/>
                  </a:rPr>
                  <a:t>映射到</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2. </a:t>
                </a:r>
              </a:p>
              <a:p>
                <a:pPr>
                  <a:lnSpc>
                    <a:spcPct val="100000"/>
                  </a:lnSpc>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循环</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轮换</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置换的长度为</a:t>
                </a:r>
                <a:r>
                  <a:rPr lang="en-US" altLang="zh-CN" sz="1200" b="1" i="1" dirty="0">
                    <a:latin typeface="Times New Roman" panose="02020603050405020304" pitchFamily="18" charset="0"/>
                    <a:cs typeface="Times New Roman" panose="02020603050405020304" pitchFamily="18" charset="0"/>
                  </a:rPr>
                  <a:t>m</a:t>
                </a:r>
                <a:r>
                  <a:rPr lang="zh-CN" altLang="en-US" sz="1200" b="1" dirty="0">
                    <a:latin typeface="Times New Roman" panose="02020603050405020304" pitchFamily="18" charset="0"/>
                    <a:cs typeface="Times New Roman" panose="02020603050405020304" pitchFamily="18" charset="0"/>
                  </a:rPr>
                  <a:t>时</a:t>
                </a:r>
                <a:r>
                  <a:rPr lang="en-US" altLang="zh-CN" sz="1200" b="1" dirty="0">
                    <a:latin typeface="Times New Roman" panose="02020603050405020304" pitchFamily="18" charset="0"/>
                    <a:cs typeface="Times New Roman" panose="02020603050405020304" pitchFamily="18" charset="0"/>
                  </a:rPr>
                  <a:t>,</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𝝈称</a:t>
                </a:r>
                <a:r>
                  <a:rPr lang="zh-CN" altLang="en-US" sz="1200" b="1" dirty="0">
                    <a:latin typeface="Times New Roman" panose="02020603050405020304" pitchFamily="18" charset="0"/>
                    <a:cs typeface="Times New Roman" panose="02020603050405020304" pitchFamily="18" charset="0"/>
                  </a:rPr>
                  <a:t>为</a:t>
                </a:r>
                <a:r>
                  <a:rPr lang="en-US" altLang="zh-CN" sz="1200" b="1" i="1" dirty="0">
                    <a:solidFill>
                      <a:srgbClr val="FF0000"/>
                    </a:solidFill>
                    <a:latin typeface="Times New Roman" panose="02020603050405020304" pitchFamily="18" charset="0"/>
                    <a:cs typeface="Times New Roman" panose="02020603050405020304" pitchFamily="18" charset="0"/>
                  </a:rPr>
                  <a:t>m</a:t>
                </a:r>
                <a:r>
                  <a:rPr lang="zh-CN" altLang="en-US" sz="1200" b="1" dirty="0">
                    <a:solidFill>
                      <a:srgbClr val="FF0000"/>
                    </a:solidFill>
                    <a:latin typeface="Times New Roman" panose="02020603050405020304" pitchFamily="18" charset="0"/>
                    <a:cs typeface="Times New Roman" panose="02020603050405020304" pitchFamily="18" charset="0"/>
                  </a:rPr>
                  <a:t>阶轮换</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时称为</a:t>
                </a:r>
                <a:r>
                  <a:rPr lang="zh-CN" altLang="en-US" sz="1200" b="1" dirty="0">
                    <a:solidFill>
                      <a:srgbClr val="FF0000"/>
                    </a:solidFill>
                    <a:latin typeface="Times New Roman" panose="02020603050405020304" pitchFamily="18" charset="0"/>
                    <a:cs typeface="Times New Roman" panose="02020603050405020304" pitchFamily="18" charset="0"/>
                  </a:rPr>
                  <a:t>对换</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 m</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时称为</a:t>
                </a:r>
                <a:r>
                  <a:rPr lang="zh-CN" altLang="en-US" sz="1200" b="1" dirty="0">
                    <a:solidFill>
                      <a:srgbClr val="FF0000"/>
                    </a:solidFill>
                    <a:latin typeface="Times New Roman" panose="02020603050405020304" pitchFamily="18" charset="0"/>
                    <a:cs typeface="Times New Roman" panose="02020603050405020304" pitchFamily="18" charset="0"/>
                  </a:rPr>
                  <a:t>恒等置换</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 </a:t>
                </a:r>
              </a:p>
              <a:p>
                <a:pPr>
                  <a:lnSpc>
                    <a:spcPct val="100000"/>
                  </a:lnSpc>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任何置换</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𝝈</a:t>
                </a:r>
                <a:r>
                  <a:rPr lang="zh-CN" altLang="en-US" sz="1200" b="1" dirty="0">
                    <a:latin typeface="Times New Roman" panose="02020603050405020304" pitchFamily="18" charset="0"/>
                    <a:cs typeface="Times New Roman" panose="02020603050405020304" pitchFamily="18" charset="0"/>
                  </a:rPr>
                  <a:t>都可以表示成不相交的轮换之积</a:t>
                </a:r>
                <a:r>
                  <a:rPr lang="en-US" altLang="zh-CN" sz="1200" b="1" dirty="0">
                    <a:latin typeface="Times New Roman" panose="02020603050405020304" pitchFamily="18" charset="0"/>
                    <a:ea typeface="Cambria Math" panose="02040503050406030204" pitchFamily="18" charset="0"/>
                    <a:cs typeface="Times New Roman" panose="02020603050405020304" pitchFamily="18" charset="0"/>
                  </a:rPr>
                  <a:t>. </a:t>
                </a:r>
                <a:endParaRPr lang="en-US" altLang="zh-CN" sz="1200" b="1" dirty="0">
                  <a:latin typeface="Times New Roman" panose="02020603050405020304" pitchFamily="18" charset="0"/>
                  <a:cs typeface="Times New Roman" panose="02020603050405020304" pitchFamily="18" charset="0"/>
                </a:endParaRPr>
              </a:p>
              <a:p>
                <a:pPr marL="0" indent="0">
                  <a:buNone/>
                </a:pPr>
                <a:r>
                  <a:rPr lang="zh-CN" altLang="en-US" sz="1200" b="1" dirty="0">
                    <a:ea typeface="Cambria Math" panose="02040503050406030204" pitchFamily="18" charset="0"/>
                    <a:cs typeface="Times New Roman" panose="02020603050405020304" pitchFamily="18" charset="0"/>
                  </a:rPr>
                  <a:t>如</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 </a:t>
                </a:r>
                <a:r>
                  <a:rPr lang="zh-CN" altLang="en-US" sz="1200" b="1" i="0">
                    <a:latin typeface="Cambria Math" panose="02040503050406030204" pitchFamily="18" charset="0"/>
                    <a:ea typeface="Cambria Math" panose="02040503050406030204" pitchFamily="18" charset="0"/>
                    <a:cs typeface="Times New Roman" panose="02020603050405020304" pitchFamily="18" charset="0"/>
                  </a:rPr>
                  <a:t>𝝈</a:t>
                </a:r>
                <a:r>
                  <a:rPr lang="en-US" altLang="zh-CN" sz="1200" b="1" i="0">
                    <a:latin typeface="Cambria Math" panose="02040503050406030204" pitchFamily="18" charset="0"/>
                    <a:ea typeface="Cambria Math" panose="02040503050406030204" pitchFamily="18" charset="0"/>
                    <a:cs typeface="Times New Roman" panose="02020603050405020304" pitchFamily="18" charset="0"/>
                  </a:rPr>
                  <a:t>=(𝟏¦𝟔  𝟐¦𝟓  𝟑¦𝟐  𝟒¦𝟒  𝟓¦𝟑  𝟔¦𝟏)=(𝟏𝟔)(𝟐𝟓𝟑)</a:t>
                </a:r>
                <a:endParaRPr lang="en-US" altLang="zh-CN" sz="1200" b="1" i="1" dirty="0">
                  <a:latin typeface="Times New Roman" panose="02020603050405020304" pitchFamily="18" charset="0"/>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103</a:t>
            </a:fld>
            <a:endParaRPr lang="zh-CN" altLang="en-US"/>
          </a:p>
        </p:txBody>
      </p:sp>
    </p:spTree>
    <p:extLst>
      <p:ext uri="{BB962C8B-B14F-4D97-AF65-F5344CB8AC3E}">
        <p14:creationId xmlns:p14="http://schemas.microsoft.com/office/powerpoint/2010/main" val="221911630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恒等置换</a:t>
            </a:r>
            <a:r>
              <a:rPr lang="en-US" altLang="zh-CN" sz="1200" b="1" dirty="0">
                <a:latin typeface="Times New Roman" panose="02020603050405020304" pitchFamily="18" charset="0"/>
                <a:cs typeface="Times New Roman" panose="02020603050405020304" pitchFamily="18" charset="0"/>
              </a:rPr>
              <a:t>(Identity Permutation):</a:t>
            </a:r>
            <a:r>
              <a:rPr lang="zh-CN" altLang="en-US" sz="1200" b="1" dirty="0">
                <a:latin typeface="Times New Roman" panose="02020603050405020304" pitchFamily="18" charset="0"/>
                <a:cs typeface="Times New Roman" panose="02020603050405020304" pitchFamily="18" charset="0"/>
              </a:rPr>
              <a:t>不改变任何元素的位置</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记作 </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或 </a:t>
            </a:r>
            <a:r>
              <a:rPr lang="en-US" altLang="zh-CN" sz="1200" b="1" i="1" dirty="0">
                <a:latin typeface="Times New Roman" panose="02020603050405020304" pitchFamily="18" charset="0"/>
                <a:cs typeface="Times New Roman" panose="02020603050405020304" pitchFamily="18" charset="0"/>
              </a:rPr>
              <a:t>id</a:t>
            </a:r>
            <a:r>
              <a:rPr lang="en-US" altLang="zh-CN" sz="1200" b="1" dirty="0">
                <a:latin typeface="Times New Roman" panose="02020603050405020304" pitchFamily="18" charset="0"/>
                <a:cs typeface="Times New Roman" panose="02020603050405020304" pitchFamily="18" charset="0"/>
              </a:rPr>
              <a:t>. </a:t>
            </a:r>
            <a:r>
              <a:rPr lang="zh-CN" altLang="en-US" sz="11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例</a:t>
            </a:r>
            <a:r>
              <a:rPr lang="en-US" altLang="zh-CN" sz="11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1100" b="1" dirty="0">
                <a:latin typeface="楷体" panose="02010609060101010101" pitchFamily="49" charset="-122"/>
                <a:ea typeface="楷体" panose="02010609060101010101" pitchFamily="49" charset="-122"/>
                <a:cs typeface="Times New Roman" panose="02020603050405020304" pitchFamily="18" charset="0"/>
              </a:rPr>
              <a:t>对于</a:t>
            </a:r>
            <a:r>
              <a:rPr lang="en-US" altLang="zh-CN" sz="1100" b="1" i="1" dirty="0">
                <a:latin typeface="楷体" panose="02010609060101010101" pitchFamily="49" charset="-122"/>
                <a:ea typeface="楷体" panose="02010609060101010101" pitchFamily="49" charset="-122"/>
                <a:cs typeface="Times New Roman" panose="02020603050405020304" pitchFamily="18" charset="0"/>
              </a:rPr>
              <a:t>S</a:t>
            </a:r>
            <a:r>
              <a:rPr lang="en-US" altLang="zh-CN" sz="1100" b="1" baseline="-25000" dirty="0">
                <a:latin typeface="楷体" panose="02010609060101010101" pitchFamily="49" charset="-122"/>
                <a:ea typeface="楷体" panose="02010609060101010101" pitchFamily="49" charset="-122"/>
                <a:cs typeface="Times New Roman" panose="02020603050405020304" pitchFamily="18" charset="0"/>
              </a:rPr>
              <a:t>3</a:t>
            </a:r>
            <a:r>
              <a:rPr lang="en-US" altLang="zh-CN" sz="1100" b="1" dirty="0">
                <a:latin typeface="楷体" panose="02010609060101010101" pitchFamily="49" charset="-122"/>
                <a:ea typeface="楷体" panose="02010609060101010101" pitchFamily="49" charset="-122"/>
                <a:cs typeface="Times New Roman" panose="02020603050405020304" pitchFamily="18" charset="0"/>
              </a:rPr>
              <a:t>,</a:t>
            </a:r>
            <a:r>
              <a:rPr lang="zh-CN" altLang="en-US" sz="1100" b="1" dirty="0">
                <a:latin typeface="楷体" panose="02010609060101010101" pitchFamily="49" charset="-122"/>
                <a:ea typeface="楷体" panose="02010609060101010101" pitchFamily="49" charset="-122"/>
                <a:cs typeface="Times New Roman" panose="02020603050405020304" pitchFamily="18" charset="0"/>
              </a:rPr>
              <a:t>恒等置换是</a:t>
            </a:r>
            <a:r>
              <a:rPr lang="en-US" altLang="zh-CN" sz="1100" b="1" i="1" dirty="0">
                <a:latin typeface="楷体" panose="02010609060101010101" pitchFamily="49" charset="-122"/>
                <a:ea typeface="楷体" panose="02010609060101010101" pitchFamily="49" charset="-122"/>
                <a:cs typeface="Times New Roman" panose="02020603050405020304" pitchFamily="18" charset="0"/>
              </a:rPr>
              <a:t>e</a:t>
            </a:r>
            <a:r>
              <a:rPr lang="en-US" altLang="zh-CN" sz="1100" b="1" dirty="0">
                <a:latin typeface="楷体" panose="02010609060101010101" pitchFamily="49" charset="-122"/>
                <a:ea typeface="楷体" panose="02010609060101010101" pitchFamily="49" charset="-122"/>
                <a:cs typeface="Times New Roman" panose="02020603050405020304" pitchFamily="18" charset="0"/>
              </a:rPr>
              <a:t>=(1)(2)(3).</a:t>
            </a: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交换置换</a:t>
            </a:r>
            <a:r>
              <a:rPr lang="en-US" altLang="zh-CN" sz="1200" b="1" dirty="0">
                <a:latin typeface="Times New Roman" panose="02020603050405020304" pitchFamily="18" charset="0"/>
                <a:cs typeface="Times New Roman" panose="02020603050405020304" pitchFamily="18" charset="0"/>
              </a:rPr>
              <a:t>(Transpositions):</a:t>
            </a:r>
            <a:r>
              <a:rPr lang="zh-CN" altLang="en-US" sz="1200" b="1" dirty="0">
                <a:latin typeface="Times New Roman" panose="02020603050405020304" pitchFamily="18" charset="0"/>
                <a:cs typeface="Times New Roman" panose="02020603050405020304" pitchFamily="18" charset="0"/>
              </a:rPr>
              <a:t>仅交换两个元素，其余元素保持不变</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记作</a:t>
            </a:r>
            <a:r>
              <a:rPr lang="en-US" altLang="zh-CN" sz="1200" b="1" dirty="0">
                <a:latin typeface="Times New Roman" panose="02020603050405020304" pitchFamily="18" charset="0"/>
                <a:cs typeface="Times New Roman" panose="02020603050405020304" pitchFamily="18" charset="0"/>
              </a:rPr>
              <a:t>(ab).</a:t>
            </a: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轮换置换</a:t>
            </a:r>
            <a:r>
              <a:rPr lang="en-US" altLang="zh-CN" sz="1200" b="1" dirty="0">
                <a:latin typeface="Times New Roman" panose="02020603050405020304" pitchFamily="18" charset="0"/>
                <a:cs typeface="Times New Roman" panose="02020603050405020304" pitchFamily="18" charset="0"/>
              </a:rPr>
              <a:t>(Cycles):</a:t>
            </a:r>
            <a:r>
              <a:rPr lang="zh-CN" altLang="en-US" sz="1200" b="1" dirty="0">
                <a:latin typeface="Times New Roman" panose="02020603050405020304" pitchFamily="18" charset="0"/>
                <a:cs typeface="Times New Roman" panose="02020603050405020304" pitchFamily="18" charset="0"/>
              </a:rPr>
              <a:t>将一组元素按特定顺序循环排列</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其余元素保持不变</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记作</a:t>
            </a:r>
            <a:r>
              <a:rPr lang="en-US" altLang="zh-CN" sz="1200" b="1" dirty="0">
                <a:latin typeface="Times New Roman" panose="02020603050405020304" pitchFamily="18" charset="0"/>
                <a:cs typeface="Times New Roman" panose="02020603050405020304" pitchFamily="18" charset="0"/>
              </a:rPr>
              <a:t>(a1a2⋯ak).</a:t>
            </a: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复合置换</a:t>
            </a:r>
            <a:r>
              <a:rPr lang="en-US" altLang="zh-CN" sz="1200" b="1" dirty="0">
                <a:latin typeface="Times New Roman" panose="02020603050405020304" pitchFamily="18" charset="0"/>
                <a:cs typeface="Times New Roman" panose="02020603050405020304" pitchFamily="18" charset="0"/>
              </a:rPr>
              <a:t>(Composition of Permutations):</a:t>
            </a:r>
            <a:r>
              <a:rPr lang="zh-CN" altLang="en-US" sz="1200" b="1" dirty="0">
                <a:latin typeface="Times New Roman" panose="02020603050405020304" pitchFamily="18" charset="0"/>
                <a:cs typeface="Times New Roman" panose="02020603050405020304" pitchFamily="18" charset="0"/>
              </a:rPr>
              <a:t>按顺序应用两个或多个置换</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用 ∘表示</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如</a:t>
            </a:r>
            <a:r>
              <a:rPr lang="el-GR" altLang="zh-CN" sz="1200" b="1" dirty="0">
                <a:latin typeface="Times New Roman" panose="02020603050405020304" pitchFamily="18" charset="0"/>
                <a:cs typeface="Times New Roman" panose="02020603050405020304" pitchFamily="18" charset="0"/>
              </a:rPr>
              <a:t>σ∘τ </a:t>
            </a:r>
            <a:r>
              <a:rPr lang="zh-CN" altLang="en-US" sz="1200" b="1" dirty="0">
                <a:latin typeface="Times New Roman" panose="02020603050405020304" pitchFamily="18" charset="0"/>
                <a:cs typeface="Times New Roman" panose="02020603050405020304" pitchFamily="18" charset="0"/>
              </a:rPr>
              <a:t>表示先应用</a:t>
            </a:r>
            <a:r>
              <a:rPr lang="el-GR" altLang="zh-CN" sz="1200" b="1" dirty="0">
                <a:latin typeface="Times New Roman" panose="02020603050405020304" pitchFamily="18" charset="0"/>
                <a:cs typeface="Times New Roman" panose="02020603050405020304" pitchFamily="18" charset="0"/>
              </a:rPr>
              <a:t>τ </a:t>
            </a:r>
            <a:r>
              <a:rPr lang="zh-CN" altLang="en-US" sz="1200" b="1" dirty="0">
                <a:latin typeface="Times New Roman" panose="02020603050405020304" pitchFamily="18" charset="0"/>
                <a:cs typeface="Times New Roman" panose="02020603050405020304" pitchFamily="18" charset="0"/>
              </a:rPr>
              <a:t>再应用</a:t>
            </a:r>
            <a:r>
              <a:rPr lang="el-GR" altLang="zh-CN" sz="1200" b="1" dirty="0">
                <a:latin typeface="Times New Roman" panose="02020603050405020304" pitchFamily="18" charset="0"/>
                <a:cs typeface="Times New Roman" panose="02020603050405020304" pitchFamily="18" charset="0"/>
              </a:rPr>
              <a:t>σ.</a:t>
            </a:r>
            <a:endParaRPr lang="en-US" altLang="zh-CN" sz="1200" b="1" dirty="0">
              <a:latin typeface="Times New Roman" panose="02020603050405020304" pitchFamily="18" charset="0"/>
              <a:cs typeface="Times New Roman" panose="02020603050405020304" pitchFamily="18" charset="0"/>
            </a:endParaRPr>
          </a:p>
          <a:p>
            <a:pPr marL="0" indent="0" eaLnBrk="1" hangingPunct="1">
              <a:buFontTx/>
              <a:buNone/>
            </a:pPr>
            <a:r>
              <a:rPr lang="zh-CN" altLang="en-US" sz="1050" b="1" dirty="0">
                <a:solidFill>
                  <a:srgbClr val="00B0F0"/>
                </a:solidFill>
                <a:latin typeface="Times New Roman" panose="02020603050405020304" pitchFamily="18" charset="0"/>
                <a:cs typeface="Times New Roman" panose="02020603050405020304" pitchFamily="18" charset="0"/>
              </a:rPr>
              <a:t>例</a:t>
            </a:r>
            <a:r>
              <a:rPr lang="en-US" altLang="zh-CN" sz="1100" dirty="0">
                <a:solidFill>
                  <a:srgbClr val="00B0F0"/>
                </a:solidFill>
                <a:latin typeface="Times New Roman" panose="02020603050405020304" pitchFamily="18" charset="0"/>
                <a:cs typeface="Times New Roman" panose="02020603050405020304" pitchFamily="18" charset="0"/>
              </a:rPr>
              <a:t>:</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对于</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sz="1100" b="1"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11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如果</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σ</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123)</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和</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τ</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23)</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σ</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i="1" kern="100" dirty="0">
                <a:effectLst/>
                <a:latin typeface="Times New Roman" panose="02020603050405020304" pitchFamily="18" charset="0"/>
                <a:ea typeface="楷体" panose="02010609060101010101" pitchFamily="49" charset="-122"/>
                <a:cs typeface="Times New Roman" panose="02020603050405020304" pitchFamily="18" charset="0"/>
              </a:rPr>
              <a:t>τ</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123)</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23)=</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12)</a:t>
            </a:r>
            <a:r>
              <a:rPr lang="zh-CN" altLang="zh-CN" sz="1100" b="1" i="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100" b="1" i="1"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逆置换</a:t>
            </a:r>
            <a:r>
              <a:rPr lang="en-US" altLang="zh-CN" sz="1200" b="1" dirty="0">
                <a:latin typeface="Times New Roman" panose="02020603050405020304" pitchFamily="18" charset="0"/>
                <a:cs typeface="Times New Roman" panose="02020603050405020304" pitchFamily="18" charset="0"/>
              </a:rPr>
              <a:t>(Inverse Permutations):</a:t>
            </a:r>
            <a:r>
              <a:rPr lang="zh-CN" altLang="en-US" sz="1200" b="1" dirty="0">
                <a:latin typeface="Times New Roman" panose="02020603050405020304" pitchFamily="18" charset="0"/>
                <a:cs typeface="Times New Roman" panose="02020603050405020304" pitchFamily="18" charset="0"/>
              </a:rPr>
              <a:t>反转置换的映射关系</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使得</a:t>
            </a:r>
            <a:r>
              <a:rPr lang="el-GR" altLang="zh-CN" sz="1200" b="1" dirty="0">
                <a:latin typeface="Times New Roman" panose="02020603050405020304" pitchFamily="18" charset="0"/>
                <a:cs typeface="Times New Roman" panose="02020603050405020304" pitchFamily="18" charset="0"/>
              </a:rPr>
              <a:t>σ∘σ</a:t>
            </a:r>
            <a:r>
              <a:rPr lang="el-GR" altLang="zh-CN" sz="1200" b="1" baseline="30000" dirty="0">
                <a:latin typeface="Times New Roman" panose="02020603050405020304" pitchFamily="18" charset="0"/>
                <a:cs typeface="Times New Roman" panose="02020603050405020304" pitchFamily="18" charset="0"/>
              </a:rPr>
              <a:t>−1</a:t>
            </a:r>
            <a:r>
              <a:rPr lang="el-GR"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用</a:t>
            </a:r>
            <a:r>
              <a:rPr lang="el-GR" altLang="zh-CN" sz="1200" b="1" dirty="0">
                <a:latin typeface="Times New Roman" panose="02020603050405020304" pitchFamily="18" charset="0"/>
                <a:cs typeface="Times New Roman" panose="02020603050405020304" pitchFamily="18" charset="0"/>
              </a:rPr>
              <a:t>σ</a:t>
            </a:r>
            <a:r>
              <a:rPr lang="el-GR" altLang="zh-CN" sz="1200" b="1" baseline="30000"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表示</a:t>
            </a:r>
            <a:r>
              <a:rPr lang="en-US" altLang="zh-CN" sz="1200" b="1" dirty="0">
                <a:latin typeface="Times New Roman" panose="02020603050405020304" pitchFamily="18" charset="0"/>
                <a:cs typeface="Times New Roman" panose="02020603050405020304" pitchFamily="18" charset="0"/>
              </a:rPr>
              <a:t>.</a:t>
            </a:r>
          </a:p>
          <a:p>
            <a:pPr marL="0" indent="0" eaLnBrk="1" hangingPunct="1">
              <a:buNone/>
            </a:pPr>
            <a:r>
              <a:rPr lang="zh-CN" altLang="en-US" sz="1100" b="1" dirty="0">
                <a:solidFill>
                  <a:srgbClr val="00B0F0"/>
                </a:solidFill>
                <a:latin typeface="Times New Roman" panose="02020603050405020304" pitchFamily="18" charset="0"/>
                <a:cs typeface="Times New Roman" panose="02020603050405020304" pitchFamily="18" charset="0"/>
              </a:rPr>
              <a:t>例</a:t>
            </a:r>
            <a:r>
              <a:rPr lang="en-US" altLang="zh-CN" sz="1200" dirty="0">
                <a:solidFill>
                  <a:srgbClr val="00B0F0"/>
                </a:solidFill>
                <a:latin typeface="Times New Roman" panose="02020603050405020304" pitchFamily="18" charset="0"/>
                <a:cs typeface="Times New Roman" panose="02020603050405020304" pitchFamily="18" charset="0"/>
              </a:rPr>
              <a:t>:</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对于</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sz="1100" b="1"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11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如果</a:t>
            </a:r>
            <a:r>
              <a:rPr lang="el-GR" altLang="zh-CN" sz="1100" b="1" dirty="0">
                <a:latin typeface="Times New Roman" panose="02020603050405020304" pitchFamily="18" charset="0"/>
                <a:ea typeface="楷体" panose="02010609060101010101" pitchFamily="49" charset="-122"/>
                <a:cs typeface="Times New Roman" panose="02020603050405020304" pitchFamily="18" charset="0"/>
              </a:rPr>
              <a:t>σ=(123),</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则</a:t>
            </a:r>
            <a:r>
              <a:rPr lang="el-GR" altLang="zh-CN" sz="1100" b="1" dirty="0">
                <a:latin typeface="Times New Roman" panose="02020603050405020304" pitchFamily="18" charset="0"/>
                <a:ea typeface="楷体" panose="02010609060101010101" pitchFamily="49" charset="-122"/>
                <a:cs typeface="Times New Roman" panose="02020603050405020304" pitchFamily="18" charset="0"/>
              </a:rPr>
              <a:t>σ</a:t>
            </a:r>
            <a:r>
              <a:rPr lang="el-GR" altLang="zh-CN" sz="1100" b="1" baseline="30000" dirty="0">
                <a:latin typeface="Times New Roman" panose="02020603050405020304" pitchFamily="18" charset="0"/>
                <a:ea typeface="楷体" panose="02010609060101010101" pitchFamily="49" charset="-122"/>
                <a:cs typeface="Times New Roman" panose="02020603050405020304" pitchFamily="18" charset="0"/>
              </a:rPr>
              <a:t>−1</a:t>
            </a:r>
            <a:r>
              <a:rPr lang="el-GR" altLang="zh-CN" sz="1100" b="1" dirty="0">
                <a:latin typeface="Times New Roman" panose="02020603050405020304" pitchFamily="18" charset="0"/>
                <a:ea typeface="楷体" panose="02010609060101010101" pitchFamily="49" charset="-122"/>
                <a:cs typeface="Times New Roman" panose="02020603050405020304" pitchFamily="18" charset="0"/>
              </a:rPr>
              <a:t>=(132).</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104</a:t>
            </a:fld>
            <a:endParaRPr lang="zh-CN" altLang="en-US"/>
          </a:p>
        </p:txBody>
      </p:sp>
    </p:spTree>
    <p:extLst>
      <p:ext uri="{BB962C8B-B14F-4D97-AF65-F5344CB8AC3E}">
        <p14:creationId xmlns:p14="http://schemas.microsoft.com/office/powerpoint/2010/main" val="147674571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恒等置换</a:t>
            </a:r>
            <a:r>
              <a:rPr lang="en-US" altLang="zh-CN" sz="1200" b="1" dirty="0">
                <a:latin typeface="Times New Roman" panose="02020603050405020304" pitchFamily="18" charset="0"/>
                <a:cs typeface="Times New Roman" panose="02020603050405020304" pitchFamily="18" charset="0"/>
              </a:rPr>
              <a:t>(Identity Permutation):</a:t>
            </a:r>
            <a:r>
              <a:rPr lang="zh-CN" altLang="en-US" sz="1200" b="1" dirty="0">
                <a:latin typeface="Times New Roman" panose="02020603050405020304" pitchFamily="18" charset="0"/>
                <a:cs typeface="Times New Roman" panose="02020603050405020304" pitchFamily="18" charset="0"/>
              </a:rPr>
              <a:t>不改变任何元素的位置</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记作 </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或 </a:t>
            </a:r>
            <a:r>
              <a:rPr lang="en-US" altLang="zh-CN" sz="1200" b="1" i="1" dirty="0">
                <a:latin typeface="Times New Roman" panose="02020603050405020304" pitchFamily="18" charset="0"/>
                <a:cs typeface="Times New Roman" panose="02020603050405020304" pitchFamily="18" charset="0"/>
              </a:rPr>
              <a:t>id</a:t>
            </a:r>
            <a:r>
              <a:rPr lang="en-US" altLang="zh-CN" sz="1200" b="1" dirty="0">
                <a:latin typeface="Times New Roman" panose="02020603050405020304" pitchFamily="18" charset="0"/>
                <a:cs typeface="Times New Roman" panose="02020603050405020304" pitchFamily="18" charset="0"/>
              </a:rPr>
              <a:t>. </a:t>
            </a:r>
            <a:r>
              <a:rPr lang="zh-CN" altLang="en-US" sz="11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例</a:t>
            </a:r>
            <a:r>
              <a:rPr lang="en-US" altLang="zh-CN" sz="11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1100" b="1" dirty="0">
                <a:latin typeface="楷体" panose="02010609060101010101" pitchFamily="49" charset="-122"/>
                <a:ea typeface="楷体" panose="02010609060101010101" pitchFamily="49" charset="-122"/>
                <a:cs typeface="Times New Roman" panose="02020603050405020304" pitchFamily="18" charset="0"/>
              </a:rPr>
              <a:t>对于</a:t>
            </a:r>
            <a:r>
              <a:rPr lang="en-US" altLang="zh-CN" sz="1100" b="1" i="1" dirty="0">
                <a:latin typeface="楷体" panose="02010609060101010101" pitchFamily="49" charset="-122"/>
                <a:ea typeface="楷体" panose="02010609060101010101" pitchFamily="49" charset="-122"/>
                <a:cs typeface="Times New Roman" panose="02020603050405020304" pitchFamily="18" charset="0"/>
              </a:rPr>
              <a:t>S</a:t>
            </a:r>
            <a:r>
              <a:rPr lang="en-US" altLang="zh-CN" sz="1100" b="1" baseline="-25000" dirty="0">
                <a:latin typeface="楷体" panose="02010609060101010101" pitchFamily="49" charset="-122"/>
                <a:ea typeface="楷体" panose="02010609060101010101" pitchFamily="49" charset="-122"/>
                <a:cs typeface="Times New Roman" panose="02020603050405020304" pitchFamily="18" charset="0"/>
              </a:rPr>
              <a:t>3</a:t>
            </a:r>
            <a:r>
              <a:rPr lang="en-US" altLang="zh-CN" sz="1100" b="1" dirty="0">
                <a:latin typeface="楷体" panose="02010609060101010101" pitchFamily="49" charset="-122"/>
                <a:ea typeface="楷体" panose="02010609060101010101" pitchFamily="49" charset="-122"/>
                <a:cs typeface="Times New Roman" panose="02020603050405020304" pitchFamily="18" charset="0"/>
              </a:rPr>
              <a:t>,</a:t>
            </a:r>
            <a:r>
              <a:rPr lang="zh-CN" altLang="en-US" sz="1100" b="1" dirty="0">
                <a:latin typeface="楷体" panose="02010609060101010101" pitchFamily="49" charset="-122"/>
                <a:ea typeface="楷体" panose="02010609060101010101" pitchFamily="49" charset="-122"/>
                <a:cs typeface="Times New Roman" panose="02020603050405020304" pitchFamily="18" charset="0"/>
              </a:rPr>
              <a:t>恒等置换是</a:t>
            </a:r>
            <a:r>
              <a:rPr lang="en-US" altLang="zh-CN" sz="1100" b="1" i="1" dirty="0">
                <a:latin typeface="楷体" panose="02010609060101010101" pitchFamily="49" charset="-122"/>
                <a:ea typeface="楷体" panose="02010609060101010101" pitchFamily="49" charset="-122"/>
                <a:cs typeface="Times New Roman" panose="02020603050405020304" pitchFamily="18" charset="0"/>
              </a:rPr>
              <a:t>e</a:t>
            </a:r>
            <a:r>
              <a:rPr lang="en-US" altLang="zh-CN" sz="1100" b="1" dirty="0">
                <a:latin typeface="楷体" panose="02010609060101010101" pitchFamily="49" charset="-122"/>
                <a:ea typeface="楷体" panose="02010609060101010101" pitchFamily="49" charset="-122"/>
                <a:cs typeface="Times New Roman" panose="02020603050405020304" pitchFamily="18" charset="0"/>
              </a:rPr>
              <a:t>=(1)(2)(3).</a:t>
            </a: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交换置换</a:t>
            </a:r>
            <a:r>
              <a:rPr lang="en-US" altLang="zh-CN" sz="1200" b="1" dirty="0">
                <a:latin typeface="Times New Roman" panose="02020603050405020304" pitchFamily="18" charset="0"/>
                <a:cs typeface="Times New Roman" panose="02020603050405020304" pitchFamily="18" charset="0"/>
              </a:rPr>
              <a:t>(Transpositions):</a:t>
            </a:r>
            <a:r>
              <a:rPr lang="zh-CN" altLang="en-US" sz="1200" b="1" dirty="0">
                <a:latin typeface="Times New Roman" panose="02020603050405020304" pitchFamily="18" charset="0"/>
                <a:cs typeface="Times New Roman" panose="02020603050405020304" pitchFamily="18" charset="0"/>
              </a:rPr>
              <a:t>仅交换两个元素，其余元素保持不变</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记作</a:t>
            </a:r>
            <a:r>
              <a:rPr lang="en-US" altLang="zh-CN" sz="1200" b="1" dirty="0">
                <a:latin typeface="Times New Roman" panose="02020603050405020304" pitchFamily="18" charset="0"/>
                <a:cs typeface="Times New Roman" panose="02020603050405020304" pitchFamily="18" charset="0"/>
              </a:rPr>
              <a:t>(ab).</a:t>
            </a: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轮换置换</a:t>
            </a:r>
            <a:r>
              <a:rPr lang="en-US" altLang="zh-CN" sz="1200" b="1" dirty="0">
                <a:latin typeface="Times New Roman" panose="02020603050405020304" pitchFamily="18" charset="0"/>
                <a:cs typeface="Times New Roman" panose="02020603050405020304" pitchFamily="18" charset="0"/>
              </a:rPr>
              <a:t>(Cycles):</a:t>
            </a:r>
            <a:r>
              <a:rPr lang="zh-CN" altLang="en-US" sz="1200" b="1" dirty="0">
                <a:latin typeface="Times New Roman" panose="02020603050405020304" pitchFamily="18" charset="0"/>
                <a:cs typeface="Times New Roman" panose="02020603050405020304" pitchFamily="18" charset="0"/>
              </a:rPr>
              <a:t>将一组元素按特定顺序循环排列</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其余元素保持不变</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记作</a:t>
            </a:r>
            <a:r>
              <a:rPr lang="en-US" altLang="zh-CN" sz="1200" b="1" dirty="0">
                <a:latin typeface="Times New Roman" panose="02020603050405020304" pitchFamily="18" charset="0"/>
                <a:cs typeface="Times New Roman" panose="02020603050405020304" pitchFamily="18" charset="0"/>
              </a:rPr>
              <a:t>(a1a2⋯ak).</a:t>
            </a: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复合置换</a:t>
            </a:r>
            <a:r>
              <a:rPr lang="en-US" altLang="zh-CN" sz="1200" b="1" dirty="0">
                <a:latin typeface="Times New Roman" panose="02020603050405020304" pitchFamily="18" charset="0"/>
                <a:cs typeface="Times New Roman" panose="02020603050405020304" pitchFamily="18" charset="0"/>
              </a:rPr>
              <a:t>(Composition of Permutations):</a:t>
            </a:r>
            <a:r>
              <a:rPr lang="zh-CN" altLang="en-US" sz="1200" b="1" dirty="0">
                <a:latin typeface="Times New Roman" panose="02020603050405020304" pitchFamily="18" charset="0"/>
                <a:cs typeface="Times New Roman" panose="02020603050405020304" pitchFamily="18" charset="0"/>
              </a:rPr>
              <a:t>按顺序应用两个或多个置换</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用 ∘表示</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如</a:t>
            </a:r>
            <a:r>
              <a:rPr lang="el-GR" altLang="zh-CN" sz="1200" b="1" dirty="0">
                <a:latin typeface="Times New Roman" panose="02020603050405020304" pitchFamily="18" charset="0"/>
                <a:cs typeface="Times New Roman" panose="02020603050405020304" pitchFamily="18" charset="0"/>
              </a:rPr>
              <a:t>σ∘τ </a:t>
            </a:r>
            <a:r>
              <a:rPr lang="zh-CN" altLang="en-US" sz="1200" b="1" dirty="0">
                <a:latin typeface="Times New Roman" panose="02020603050405020304" pitchFamily="18" charset="0"/>
                <a:cs typeface="Times New Roman" panose="02020603050405020304" pitchFamily="18" charset="0"/>
              </a:rPr>
              <a:t>表示先应用</a:t>
            </a:r>
            <a:r>
              <a:rPr lang="el-GR" altLang="zh-CN" sz="1200" b="1" dirty="0">
                <a:latin typeface="Times New Roman" panose="02020603050405020304" pitchFamily="18" charset="0"/>
                <a:cs typeface="Times New Roman" panose="02020603050405020304" pitchFamily="18" charset="0"/>
              </a:rPr>
              <a:t>τ </a:t>
            </a:r>
            <a:r>
              <a:rPr lang="zh-CN" altLang="en-US" sz="1200" b="1" dirty="0">
                <a:latin typeface="Times New Roman" panose="02020603050405020304" pitchFamily="18" charset="0"/>
                <a:cs typeface="Times New Roman" panose="02020603050405020304" pitchFamily="18" charset="0"/>
              </a:rPr>
              <a:t>再应用</a:t>
            </a:r>
            <a:r>
              <a:rPr lang="el-GR" altLang="zh-CN" sz="1200" b="1" dirty="0">
                <a:latin typeface="Times New Roman" panose="02020603050405020304" pitchFamily="18" charset="0"/>
                <a:cs typeface="Times New Roman" panose="02020603050405020304" pitchFamily="18" charset="0"/>
              </a:rPr>
              <a:t>σ.</a:t>
            </a:r>
            <a:endParaRPr lang="en-US" altLang="zh-CN" sz="1200" b="1" dirty="0">
              <a:latin typeface="Times New Roman" panose="02020603050405020304" pitchFamily="18" charset="0"/>
              <a:cs typeface="Times New Roman" panose="02020603050405020304" pitchFamily="18" charset="0"/>
            </a:endParaRPr>
          </a:p>
          <a:p>
            <a:pPr marL="0" indent="0" eaLnBrk="1" hangingPunct="1">
              <a:buFontTx/>
              <a:buNone/>
            </a:pPr>
            <a:r>
              <a:rPr lang="zh-CN" altLang="en-US" sz="1050" b="1" dirty="0">
                <a:solidFill>
                  <a:srgbClr val="00B0F0"/>
                </a:solidFill>
                <a:latin typeface="Times New Roman" panose="02020603050405020304" pitchFamily="18" charset="0"/>
                <a:cs typeface="Times New Roman" panose="02020603050405020304" pitchFamily="18" charset="0"/>
              </a:rPr>
              <a:t>例</a:t>
            </a:r>
            <a:r>
              <a:rPr lang="en-US" altLang="zh-CN" sz="1100" dirty="0">
                <a:solidFill>
                  <a:srgbClr val="00B0F0"/>
                </a:solidFill>
                <a:latin typeface="Times New Roman" panose="02020603050405020304" pitchFamily="18" charset="0"/>
                <a:cs typeface="Times New Roman" panose="02020603050405020304" pitchFamily="18" charset="0"/>
              </a:rPr>
              <a:t>:</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对于</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sz="1100" b="1"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11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如果</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σ</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123)</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和</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τ</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23)</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σ</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i="1" kern="100" dirty="0">
                <a:effectLst/>
                <a:latin typeface="Times New Roman" panose="02020603050405020304" pitchFamily="18" charset="0"/>
                <a:ea typeface="楷体" panose="02010609060101010101" pitchFamily="49" charset="-122"/>
                <a:cs typeface="Times New Roman" panose="02020603050405020304" pitchFamily="18" charset="0"/>
              </a:rPr>
              <a:t>τ</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123)</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23)=</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12)</a:t>
            </a:r>
            <a:r>
              <a:rPr lang="zh-CN" altLang="zh-CN" sz="1100" b="1" i="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100" b="1" i="1"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逆置换</a:t>
            </a:r>
            <a:r>
              <a:rPr lang="en-US" altLang="zh-CN" sz="1200" b="1" dirty="0">
                <a:latin typeface="Times New Roman" panose="02020603050405020304" pitchFamily="18" charset="0"/>
                <a:cs typeface="Times New Roman" panose="02020603050405020304" pitchFamily="18" charset="0"/>
              </a:rPr>
              <a:t>(Inverse Permutations):</a:t>
            </a:r>
            <a:r>
              <a:rPr lang="zh-CN" altLang="en-US" sz="1200" b="1" dirty="0">
                <a:latin typeface="Times New Roman" panose="02020603050405020304" pitchFamily="18" charset="0"/>
                <a:cs typeface="Times New Roman" panose="02020603050405020304" pitchFamily="18" charset="0"/>
              </a:rPr>
              <a:t>反转置换的映射关系</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使得</a:t>
            </a:r>
            <a:r>
              <a:rPr lang="el-GR" altLang="zh-CN" sz="1200" b="1" dirty="0">
                <a:latin typeface="Times New Roman" panose="02020603050405020304" pitchFamily="18" charset="0"/>
                <a:cs typeface="Times New Roman" panose="02020603050405020304" pitchFamily="18" charset="0"/>
              </a:rPr>
              <a:t>σ∘σ</a:t>
            </a:r>
            <a:r>
              <a:rPr lang="el-GR" altLang="zh-CN" sz="1200" b="1" baseline="30000" dirty="0">
                <a:latin typeface="Times New Roman" panose="02020603050405020304" pitchFamily="18" charset="0"/>
                <a:cs typeface="Times New Roman" panose="02020603050405020304" pitchFamily="18" charset="0"/>
              </a:rPr>
              <a:t>−1</a:t>
            </a:r>
            <a:r>
              <a:rPr lang="el-GR"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用</a:t>
            </a:r>
            <a:r>
              <a:rPr lang="el-GR" altLang="zh-CN" sz="1200" b="1" dirty="0">
                <a:latin typeface="Times New Roman" panose="02020603050405020304" pitchFamily="18" charset="0"/>
                <a:cs typeface="Times New Roman" panose="02020603050405020304" pitchFamily="18" charset="0"/>
              </a:rPr>
              <a:t>σ</a:t>
            </a:r>
            <a:r>
              <a:rPr lang="el-GR" altLang="zh-CN" sz="1200" b="1" baseline="30000"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表示</a:t>
            </a:r>
            <a:r>
              <a:rPr lang="en-US" altLang="zh-CN" sz="1200" b="1" dirty="0">
                <a:latin typeface="Times New Roman" panose="02020603050405020304" pitchFamily="18" charset="0"/>
                <a:cs typeface="Times New Roman" panose="02020603050405020304" pitchFamily="18" charset="0"/>
              </a:rPr>
              <a:t>.</a:t>
            </a:r>
          </a:p>
          <a:p>
            <a:pPr marL="0" indent="0" eaLnBrk="1" hangingPunct="1">
              <a:buNone/>
            </a:pPr>
            <a:r>
              <a:rPr lang="zh-CN" altLang="en-US" sz="1100" b="1" dirty="0">
                <a:solidFill>
                  <a:srgbClr val="00B0F0"/>
                </a:solidFill>
                <a:latin typeface="Times New Roman" panose="02020603050405020304" pitchFamily="18" charset="0"/>
                <a:cs typeface="Times New Roman" panose="02020603050405020304" pitchFamily="18" charset="0"/>
              </a:rPr>
              <a:t>例</a:t>
            </a:r>
            <a:r>
              <a:rPr lang="en-US" altLang="zh-CN" sz="1200" dirty="0">
                <a:solidFill>
                  <a:srgbClr val="00B0F0"/>
                </a:solidFill>
                <a:latin typeface="Times New Roman" panose="02020603050405020304" pitchFamily="18" charset="0"/>
                <a:cs typeface="Times New Roman" panose="02020603050405020304" pitchFamily="18" charset="0"/>
              </a:rPr>
              <a:t>:</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对于</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sz="1100" b="1"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11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如果</a:t>
            </a:r>
            <a:r>
              <a:rPr lang="el-GR" altLang="zh-CN" sz="1100" b="1" dirty="0">
                <a:latin typeface="Times New Roman" panose="02020603050405020304" pitchFamily="18" charset="0"/>
                <a:ea typeface="楷体" panose="02010609060101010101" pitchFamily="49" charset="-122"/>
                <a:cs typeface="Times New Roman" panose="02020603050405020304" pitchFamily="18" charset="0"/>
              </a:rPr>
              <a:t>σ=(123),</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则</a:t>
            </a:r>
            <a:r>
              <a:rPr lang="el-GR" altLang="zh-CN" sz="1100" b="1" dirty="0">
                <a:latin typeface="Times New Roman" panose="02020603050405020304" pitchFamily="18" charset="0"/>
                <a:ea typeface="楷体" panose="02010609060101010101" pitchFamily="49" charset="-122"/>
                <a:cs typeface="Times New Roman" panose="02020603050405020304" pitchFamily="18" charset="0"/>
              </a:rPr>
              <a:t>σ</a:t>
            </a:r>
            <a:r>
              <a:rPr lang="el-GR" altLang="zh-CN" sz="1100" b="1" baseline="30000" dirty="0">
                <a:latin typeface="Times New Roman" panose="02020603050405020304" pitchFamily="18" charset="0"/>
                <a:ea typeface="楷体" panose="02010609060101010101" pitchFamily="49" charset="-122"/>
                <a:cs typeface="Times New Roman" panose="02020603050405020304" pitchFamily="18" charset="0"/>
              </a:rPr>
              <a:t>−1</a:t>
            </a:r>
            <a:r>
              <a:rPr lang="el-GR" altLang="zh-CN" sz="1100" b="1" dirty="0">
                <a:latin typeface="Times New Roman" panose="02020603050405020304" pitchFamily="18" charset="0"/>
                <a:ea typeface="楷体" panose="02010609060101010101" pitchFamily="49" charset="-122"/>
                <a:cs typeface="Times New Roman" panose="02020603050405020304" pitchFamily="18" charset="0"/>
              </a:rPr>
              <a:t>=(132).</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105</a:t>
            </a:fld>
            <a:endParaRPr lang="zh-CN" altLang="en-US"/>
          </a:p>
        </p:txBody>
      </p:sp>
    </p:spTree>
    <p:extLst>
      <p:ext uri="{BB962C8B-B14F-4D97-AF65-F5344CB8AC3E}">
        <p14:creationId xmlns:p14="http://schemas.microsoft.com/office/powerpoint/2010/main" val="192818609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恒等置换</a:t>
            </a:r>
            <a:r>
              <a:rPr lang="en-US" altLang="zh-CN" sz="1200" b="1" dirty="0">
                <a:latin typeface="Times New Roman" panose="02020603050405020304" pitchFamily="18" charset="0"/>
                <a:cs typeface="Times New Roman" panose="02020603050405020304" pitchFamily="18" charset="0"/>
              </a:rPr>
              <a:t>(Identity Permutation):</a:t>
            </a:r>
            <a:r>
              <a:rPr lang="zh-CN" altLang="en-US" sz="1200" b="1" dirty="0">
                <a:latin typeface="Times New Roman" panose="02020603050405020304" pitchFamily="18" charset="0"/>
                <a:cs typeface="Times New Roman" panose="02020603050405020304" pitchFamily="18" charset="0"/>
              </a:rPr>
              <a:t>不改变任何元素的位置</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记作 </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或 </a:t>
            </a:r>
            <a:r>
              <a:rPr lang="en-US" altLang="zh-CN" sz="1200" b="1" i="1" dirty="0">
                <a:latin typeface="Times New Roman" panose="02020603050405020304" pitchFamily="18" charset="0"/>
                <a:cs typeface="Times New Roman" panose="02020603050405020304" pitchFamily="18" charset="0"/>
              </a:rPr>
              <a:t>id</a:t>
            </a:r>
            <a:r>
              <a:rPr lang="en-US" altLang="zh-CN" sz="1200" b="1" dirty="0">
                <a:latin typeface="Times New Roman" panose="02020603050405020304" pitchFamily="18" charset="0"/>
                <a:cs typeface="Times New Roman" panose="02020603050405020304" pitchFamily="18" charset="0"/>
              </a:rPr>
              <a:t>. </a:t>
            </a:r>
            <a:r>
              <a:rPr lang="zh-CN" altLang="en-US" sz="11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例</a:t>
            </a:r>
            <a:r>
              <a:rPr lang="en-US" altLang="zh-CN" sz="1100" b="1"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1100" b="1" dirty="0">
                <a:latin typeface="楷体" panose="02010609060101010101" pitchFamily="49" charset="-122"/>
                <a:ea typeface="楷体" panose="02010609060101010101" pitchFamily="49" charset="-122"/>
                <a:cs typeface="Times New Roman" panose="02020603050405020304" pitchFamily="18" charset="0"/>
              </a:rPr>
              <a:t>对于</a:t>
            </a:r>
            <a:r>
              <a:rPr lang="en-US" altLang="zh-CN" sz="1100" b="1" i="1" dirty="0">
                <a:latin typeface="楷体" panose="02010609060101010101" pitchFamily="49" charset="-122"/>
                <a:ea typeface="楷体" panose="02010609060101010101" pitchFamily="49" charset="-122"/>
                <a:cs typeface="Times New Roman" panose="02020603050405020304" pitchFamily="18" charset="0"/>
              </a:rPr>
              <a:t>S</a:t>
            </a:r>
            <a:r>
              <a:rPr lang="en-US" altLang="zh-CN" sz="1100" b="1" baseline="-25000" dirty="0">
                <a:latin typeface="楷体" panose="02010609060101010101" pitchFamily="49" charset="-122"/>
                <a:ea typeface="楷体" panose="02010609060101010101" pitchFamily="49" charset="-122"/>
                <a:cs typeface="Times New Roman" panose="02020603050405020304" pitchFamily="18" charset="0"/>
              </a:rPr>
              <a:t>3</a:t>
            </a:r>
            <a:r>
              <a:rPr lang="en-US" altLang="zh-CN" sz="1100" b="1" dirty="0">
                <a:latin typeface="楷体" panose="02010609060101010101" pitchFamily="49" charset="-122"/>
                <a:ea typeface="楷体" panose="02010609060101010101" pitchFamily="49" charset="-122"/>
                <a:cs typeface="Times New Roman" panose="02020603050405020304" pitchFamily="18" charset="0"/>
              </a:rPr>
              <a:t>,</a:t>
            </a:r>
            <a:r>
              <a:rPr lang="zh-CN" altLang="en-US" sz="1100" b="1" dirty="0">
                <a:latin typeface="楷体" panose="02010609060101010101" pitchFamily="49" charset="-122"/>
                <a:ea typeface="楷体" panose="02010609060101010101" pitchFamily="49" charset="-122"/>
                <a:cs typeface="Times New Roman" panose="02020603050405020304" pitchFamily="18" charset="0"/>
              </a:rPr>
              <a:t>恒等置换是</a:t>
            </a:r>
            <a:r>
              <a:rPr lang="en-US" altLang="zh-CN" sz="1100" b="1" i="1" dirty="0">
                <a:latin typeface="楷体" panose="02010609060101010101" pitchFamily="49" charset="-122"/>
                <a:ea typeface="楷体" panose="02010609060101010101" pitchFamily="49" charset="-122"/>
                <a:cs typeface="Times New Roman" panose="02020603050405020304" pitchFamily="18" charset="0"/>
              </a:rPr>
              <a:t>e</a:t>
            </a:r>
            <a:r>
              <a:rPr lang="en-US" altLang="zh-CN" sz="1100" b="1" dirty="0">
                <a:latin typeface="楷体" panose="02010609060101010101" pitchFamily="49" charset="-122"/>
                <a:ea typeface="楷体" panose="02010609060101010101" pitchFamily="49" charset="-122"/>
                <a:cs typeface="Times New Roman" panose="02020603050405020304" pitchFamily="18" charset="0"/>
              </a:rPr>
              <a:t>=(1)(2)(3).</a:t>
            </a: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交换置换</a:t>
            </a:r>
            <a:r>
              <a:rPr lang="en-US" altLang="zh-CN" sz="1200" b="1" dirty="0">
                <a:latin typeface="Times New Roman" panose="02020603050405020304" pitchFamily="18" charset="0"/>
                <a:cs typeface="Times New Roman" panose="02020603050405020304" pitchFamily="18" charset="0"/>
              </a:rPr>
              <a:t>(Transpositions):</a:t>
            </a:r>
            <a:r>
              <a:rPr lang="zh-CN" altLang="en-US" sz="1200" b="1" dirty="0">
                <a:latin typeface="Times New Roman" panose="02020603050405020304" pitchFamily="18" charset="0"/>
                <a:cs typeface="Times New Roman" panose="02020603050405020304" pitchFamily="18" charset="0"/>
              </a:rPr>
              <a:t>仅交换两个元素，其余元素保持不变</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记作</a:t>
            </a:r>
            <a:r>
              <a:rPr lang="en-US" altLang="zh-CN" sz="1200" b="1" dirty="0">
                <a:latin typeface="Times New Roman" panose="02020603050405020304" pitchFamily="18" charset="0"/>
                <a:cs typeface="Times New Roman" panose="02020603050405020304" pitchFamily="18" charset="0"/>
              </a:rPr>
              <a:t>(ab).</a:t>
            </a: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轮换置换</a:t>
            </a:r>
            <a:r>
              <a:rPr lang="en-US" altLang="zh-CN" sz="1200" b="1" dirty="0">
                <a:latin typeface="Times New Roman" panose="02020603050405020304" pitchFamily="18" charset="0"/>
                <a:cs typeface="Times New Roman" panose="02020603050405020304" pitchFamily="18" charset="0"/>
              </a:rPr>
              <a:t>(Cycles):</a:t>
            </a:r>
            <a:r>
              <a:rPr lang="zh-CN" altLang="en-US" sz="1200" b="1" dirty="0">
                <a:latin typeface="Times New Roman" panose="02020603050405020304" pitchFamily="18" charset="0"/>
                <a:cs typeface="Times New Roman" panose="02020603050405020304" pitchFamily="18" charset="0"/>
              </a:rPr>
              <a:t>将一组元素按特定顺序循环排列</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其余元素保持不变</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记作</a:t>
            </a:r>
            <a:r>
              <a:rPr lang="en-US" altLang="zh-CN" sz="1200" b="1" dirty="0">
                <a:latin typeface="Times New Roman" panose="02020603050405020304" pitchFamily="18" charset="0"/>
                <a:cs typeface="Times New Roman" panose="02020603050405020304" pitchFamily="18" charset="0"/>
              </a:rPr>
              <a:t>(a1a2⋯ak).</a:t>
            </a: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复合置换</a:t>
            </a:r>
            <a:r>
              <a:rPr lang="en-US" altLang="zh-CN" sz="1200" b="1" dirty="0">
                <a:latin typeface="Times New Roman" panose="02020603050405020304" pitchFamily="18" charset="0"/>
                <a:cs typeface="Times New Roman" panose="02020603050405020304" pitchFamily="18" charset="0"/>
              </a:rPr>
              <a:t>(Composition of Permutations):</a:t>
            </a:r>
            <a:r>
              <a:rPr lang="zh-CN" altLang="en-US" sz="1200" b="1" dirty="0">
                <a:latin typeface="Times New Roman" panose="02020603050405020304" pitchFamily="18" charset="0"/>
                <a:cs typeface="Times New Roman" panose="02020603050405020304" pitchFamily="18" charset="0"/>
              </a:rPr>
              <a:t>按顺序应用两个或多个置换</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用 ∘表示</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如</a:t>
            </a:r>
            <a:r>
              <a:rPr lang="el-GR" altLang="zh-CN" sz="1200" b="1" dirty="0">
                <a:latin typeface="Times New Roman" panose="02020603050405020304" pitchFamily="18" charset="0"/>
                <a:cs typeface="Times New Roman" panose="02020603050405020304" pitchFamily="18" charset="0"/>
              </a:rPr>
              <a:t>σ∘τ </a:t>
            </a:r>
            <a:r>
              <a:rPr lang="zh-CN" altLang="en-US" sz="1200" b="1" dirty="0">
                <a:latin typeface="Times New Roman" panose="02020603050405020304" pitchFamily="18" charset="0"/>
                <a:cs typeface="Times New Roman" panose="02020603050405020304" pitchFamily="18" charset="0"/>
              </a:rPr>
              <a:t>表示先应用</a:t>
            </a:r>
            <a:r>
              <a:rPr lang="el-GR" altLang="zh-CN" sz="1200" b="1" dirty="0">
                <a:latin typeface="Times New Roman" panose="02020603050405020304" pitchFamily="18" charset="0"/>
                <a:cs typeface="Times New Roman" panose="02020603050405020304" pitchFamily="18" charset="0"/>
              </a:rPr>
              <a:t>τ </a:t>
            </a:r>
            <a:r>
              <a:rPr lang="zh-CN" altLang="en-US" sz="1200" b="1" dirty="0">
                <a:latin typeface="Times New Roman" panose="02020603050405020304" pitchFamily="18" charset="0"/>
                <a:cs typeface="Times New Roman" panose="02020603050405020304" pitchFamily="18" charset="0"/>
              </a:rPr>
              <a:t>再应用</a:t>
            </a:r>
            <a:r>
              <a:rPr lang="el-GR" altLang="zh-CN" sz="1200" b="1" dirty="0">
                <a:latin typeface="Times New Roman" panose="02020603050405020304" pitchFamily="18" charset="0"/>
                <a:cs typeface="Times New Roman" panose="02020603050405020304" pitchFamily="18" charset="0"/>
              </a:rPr>
              <a:t>σ.</a:t>
            </a:r>
            <a:endParaRPr lang="en-US" altLang="zh-CN" sz="1200" b="1" dirty="0">
              <a:latin typeface="Times New Roman" panose="02020603050405020304" pitchFamily="18" charset="0"/>
              <a:cs typeface="Times New Roman" panose="02020603050405020304" pitchFamily="18" charset="0"/>
            </a:endParaRPr>
          </a:p>
          <a:p>
            <a:pPr marL="0" indent="0" eaLnBrk="1" hangingPunct="1">
              <a:buFontTx/>
              <a:buNone/>
            </a:pPr>
            <a:r>
              <a:rPr lang="zh-CN" altLang="en-US" sz="1050" b="1" dirty="0">
                <a:solidFill>
                  <a:srgbClr val="00B0F0"/>
                </a:solidFill>
                <a:latin typeface="Times New Roman" panose="02020603050405020304" pitchFamily="18" charset="0"/>
                <a:cs typeface="Times New Roman" panose="02020603050405020304" pitchFamily="18" charset="0"/>
              </a:rPr>
              <a:t>例</a:t>
            </a:r>
            <a:r>
              <a:rPr lang="en-US" altLang="zh-CN" sz="1100" dirty="0">
                <a:solidFill>
                  <a:srgbClr val="00B0F0"/>
                </a:solidFill>
                <a:latin typeface="Times New Roman" panose="02020603050405020304" pitchFamily="18" charset="0"/>
                <a:cs typeface="Times New Roman" panose="02020603050405020304" pitchFamily="18" charset="0"/>
              </a:rPr>
              <a:t>:</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对于</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sz="1100" b="1"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11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如果</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σ</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123)</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和</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τ</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23)</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σ</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i="1" kern="100" dirty="0">
                <a:effectLst/>
                <a:latin typeface="Times New Roman" panose="02020603050405020304" pitchFamily="18" charset="0"/>
                <a:ea typeface="楷体" panose="02010609060101010101" pitchFamily="49" charset="-122"/>
                <a:cs typeface="Times New Roman" panose="02020603050405020304" pitchFamily="18" charset="0"/>
              </a:rPr>
              <a:t>τ</a:t>
            </a:r>
            <a:r>
              <a:rPr lang="en-US" altLang="zh-CN" sz="1100" b="1" i="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123)</a:t>
            </a:r>
            <a:r>
              <a:rPr lang="zh-CN"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23)=</a:t>
            </a:r>
            <a:r>
              <a:rPr lang="zh-CN" altLang="zh-CN" sz="1100" b="1"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100" b="1" kern="10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12)</a:t>
            </a:r>
            <a:r>
              <a:rPr lang="zh-CN" altLang="zh-CN" sz="1100" b="1" i="1"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100" b="1" i="1"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eaLnBrk="1" hangingPunct="1">
              <a:buFont typeface="Wingdings" panose="05000000000000000000" pitchFamily="2" charset="2"/>
              <a:buChar char="Ø"/>
            </a:pPr>
            <a:r>
              <a:rPr lang="zh-CN" altLang="en-US" sz="1200" b="1" dirty="0">
                <a:latin typeface="Times New Roman" panose="02020603050405020304" pitchFamily="18" charset="0"/>
                <a:cs typeface="Times New Roman" panose="02020603050405020304" pitchFamily="18" charset="0"/>
              </a:rPr>
              <a:t>逆置换</a:t>
            </a:r>
            <a:r>
              <a:rPr lang="en-US" altLang="zh-CN" sz="1200" b="1" dirty="0">
                <a:latin typeface="Times New Roman" panose="02020603050405020304" pitchFamily="18" charset="0"/>
                <a:cs typeface="Times New Roman" panose="02020603050405020304" pitchFamily="18" charset="0"/>
              </a:rPr>
              <a:t>(Inverse Permutations):</a:t>
            </a:r>
            <a:r>
              <a:rPr lang="zh-CN" altLang="en-US" sz="1200" b="1" dirty="0">
                <a:latin typeface="Times New Roman" panose="02020603050405020304" pitchFamily="18" charset="0"/>
                <a:cs typeface="Times New Roman" panose="02020603050405020304" pitchFamily="18" charset="0"/>
              </a:rPr>
              <a:t>反转置换的映射关系</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使得</a:t>
            </a:r>
            <a:r>
              <a:rPr lang="el-GR" altLang="zh-CN" sz="1200" b="1" dirty="0">
                <a:latin typeface="Times New Roman" panose="02020603050405020304" pitchFamily="18" charset="0"/>
                <a:cs typeface="Times New Roman" panose="02020603050405020304" pitchFamily="18" charset="0"/>
              </a:rPr>
              <a:t>σ∘σ</a:t>
            </a:r>
            <a:r>
              <a:rPr lang="el-GR" altLang="zh-CN" sz="1200" b="1" baseline="30000" dirty="0">
                <a:latin typeface="Times New Roman" panose="02020603050405020304" pitchFamily="18" charset="0"/>
                <a:cs typeface="Times New Roman" panose="02020603050405020304" pitchFamily="18" charset="0"/>
              </a:rPr>
              <a:t>−1</a:t>
            </a:r>
            <a:r>
              <a:rPr lang="el-GR"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用</a:t>
            </a:r>
            <a:r>
              <a:rPr lang="el-GR" altLang="zh-CN" sz="1200" b="1" dirty="0">
                <a:latin typeface="Times New Roman" panose="02020603050405020304" pitchFamily="18" charset="0"/>
                <a:cs typeface="Times New Roman" panose="02020603050405020304" pitchFamily="18" charset="0"/>
              </a:rPr>
              <a:t>σ</a:t>
            </a:r>
            <a:r>
              <a:rPr lang="el-GR" altLang="zh-CN" sz="1200" b="1" baseline="30000"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表示</a:t>
            </a:r>
            <a:r>
              <a:rPr lang="en-US" altLang="zh-CN" sz="1200" b="1" dirty="0">
                <a:latin typeface="Times New Roman" panose="02020603050405020304" pitchFamily="18" charset="0"/>
                <a:cs typeface="Times New Roman" panose="02020603050405020304" pitchFamily="18" charset="0"/>
              </a:rPr>
              <a:t>.</a:t>
            </a:r>
          </a:p>
          <a:p>
            <a:pPr marL="0" indent="0" eaLnBrk="1" hangingPunct="1">
              <a:buNone/>
            </a:pPr>
            <a:r>
              <a:rPr lang="zh-CN" altLang="en-US" sz="1100" b="1" dirty="0">
                <a:solidFill>
                  <a:srgbClr val="00B0F0"/>
                </a:solidFill>
                <a:latin typeface="Times New Roman" panose="02020603050405020304" pitchFamily="18" charset="0"/>
                <a:cs typeface="Times New Roman" panose="02020603050405020304" pitchFamily="18" charset="0"/>
              </a:rPr>
              <a:t>例</a:t>
            </a:r>
            <a:r>
              <a:rPr lang="en-US" altLang="zh-CN" sz="1200" dirty="0">
                <a:solidFill>
                  <a:srgbClr val="00B0F0"/>
                </a:solidFill>
                <a:latin typeface="Times New Roman" panose="02020603050405020304" pitchFamily="18" charset="0"/>
                <a:cs typeface="Times New Roman" panose="02020603050405020304" pitchFamily="18" charset="0"/>
              </a:rPr>
              <a:t>:</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对于</a:t>
            </a:r>
            <a:r>
              <a:rPr lang="en-US" altLang="zh-CN" sz="1100" b="1" i="1" dirty="0">
                <a:latin typeface="Times New Roman" panose="02020603050405020304" pitchFamily="18" charset="0"/>
                <a:ea typeface="楷体" panose="02010609060101010101" pitchFamily="49" charset="-122"/>
                <a:cs typeface="Times New Roman" panose="02020603050405020304" pitchFamily="18" charset="0"/>
              </a:rPr>
              <a:t>S</a:t>
            </a:r>
            <a:r>
              <a:rPr lang="en-US" altLang="zh-CN" sz="1100" b="1"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sz="11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如果</a:t>
            </a:r>
            <a:r>
              <a:rPr lang="el-GR" altLang="zh-CN" sz="1100" b="1" dirty="0">
                <a:latin typeface="Times New Roman" panose="02020603050405020304" pitchFamily="18" charset="0"/>
                <a:ea typeface="楷体" panose="02010609060101010101" pitchFamily="49" charset="-122"/>
                <a:cs typeface="Times New Roman" panose="02020603050405020304" pitchFamily="18" charset="0"/>
              </a:rPr>
              <a:t>σ=(123),</a:t>
            </a:r>
            <a:r>
              <a:rPr lang="zh-CN" altLang="en-US" sz="1100" b="1" dirty="0">
                <a:latin typeface="Times New Roman" panose="02020603050405020304" pitchFamily="18" charset="0"/>
                <a:ea typeface="楷体" panose="02010609060101010101" pitchFamily="49" charset="-122"/>
                <a:cs typeface="Times New Roman" panose="02020603050405020304" pitchFamily="18" charset="0"/>
              </a:rPr>
              <a:t>则</a:t>
            </a:r>
            <a:r>
              <a:rPr lang="el-GR" altLang="zh-CN" sz="1100" b="1" dirty="0">
                <a:latin typeface="Times New Roman" panose="02020603050405020304" pitchFamily="18" charset="0"/>
                <a:ea typeface="楷体" panose="02010609060101010101" pitchFamily="49" charset="-122"/>
                <a:cs typeface="Times New Roman" panose="02020603050405020304" pitchFamily="18" charset="0"/>
              </a:rPr>
              <a:t>σ</a:t>
            </a:r>
            <a:r>
              <a:rPr lang="el-GR" altLang="zh-CN" sz="1100" b="1" baseline="30000" dirty="0">
                <a:latin typeface="Times New Roman" panose="02020603050405020304" pitchFamily="18" charset="0"/>
                <a:ea typeface="楷体" panose="02010609060101010101" pitchFamily="49" charset="-122"/>
                <a:cs typeface="Times New Roman" panose="02020603050405020304" pitchFamily="18" charset="0"/>
              </a:rPr>
              <a:t>−1</a:t>
            </a:r>
            <a:r>
              <a:rPr lang="el-GR" altLang="zh-CN" sz="1100" b="1" dirty="0">
                <a:latin typeface="Times New Roman" panose="02020603050405020304" pitchFamily="18" charset="0"/>
                <a:ea typeface="楷体" panose="02010609060101010101" pitchFamily="49" charset="-122"/>
                <a:cs typeface="Times New Roman" panose="02020603050405020304" pitchFamily="18" charset="0"/>
              </a:rPr>
              <a:t>=(132).</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106</a:t>
            </a:fld>
            <a:endParaRPr lang="zh-CN" altLang="en-US"/>
          </a:p>
        </p:txBody>
      </p:sp>
    </p:spTree>
    <p:extLst>
      <p:ext uri="{BB962C8B-B14F-4D97-AF65-F5344CB8AC3E}">
        <p14:creationId xmlns:p14="http://schemas.microsoft.com/office/powerpoint/2010/main" val="87767245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107</a:t>
            </a:fld>
            <a:endParaRPr lang="zh-CN" altLang="en-US"/>
          </a:p>
        </p:txBody>
      </p:sp>
    </p:spTree>
    <p:extLst>
      <p:ext uri="{BB962C8B-B14F-4D97-AF65-F5344CB8AC3E}">
        <p14:creationId xmlns:p14="http://schemas.microsoft.com/office/powerpoint/2010/main" val="294346093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50000"/>
              </a:spcBef>
              <a:buNone/>
            </a:pPr>
            <a:r>
              <a:rPr lang="en-US" altLang="zh-CN" b="1" dirty="0"/>
              <a:t>9.3.1 </a:t>
            </a:r>
            <a:r>
              <a:rPr lang="zh-CN" altLang="en-US" b="1" dirty="0"/>
              <a:t>半群与独异点</a:t>
            </a:r>
            <a:endParaRPr lang="en-US" altLang="zh-CN" b="1" dirty="0"/>
          </a:p>
          <a:p>
            <a:pPr marL="0" indent="0">
              <a:spcBef>
                <a:spcPct val="50000"/>
              </a:spcBef>
              <a:buNone/>
            </a:pPr>
            <a:endParaRPr lang="zh-CN" altLang="en-US" b="1" dirty="0"/>
          </a:p>
          <a:p>
            <a:pPr marL="0" indent="0">
              <a:spcBef>
                <a:spcPct val="50000"/>
              </a:spcBef>
              <a:buNone/>
            </a:pPr>
            <a:r>
              <a:rPr lang="en-US" altLang="zh-CN" b="1" dirty="0"/>
              <a:t>9.3.2 </a:t>
            </a:r>
            <a:r>
              <a:rPr lang="zh-CN" altLang="en-US" b="1" dirty="0"/>
              <a:t>群</a:t>
            </a:r>
            <a:endParaRPr lang="en-US" altLang="zh-CN" b="1" dirty="0"/>
          </a:p>
          <a:p>
            <a:pPr marL="0" indent="0">
              <a:spcBef>
                <a:spcPct val="50000"/>
              </a:spcBef>
              <a:buNone/>
            </a:pPr>
            <a:endParaRPr lang="zh-CN" altLang="en-US" b="1" dirty="0"/>
          </a:p>
          <a:p>
            <a:pPr marL="0" indent="0">
              <a:spcBef>
                <a:spcPct val="50000"/>
              </a:spcBef>
              <a:buNone/>
            </a:pPr>
            <a:r>
              <a:rPr lang="en-US" altLang="zh-CN" b="1" dirty="0"/>
              <a:t>9.3.3 </a:t>
            </a:r>
            <a:r>
              <a:rPr lang="zh-CN" altLang="en-US" b="1" dirty="0"/>
              <a:t>环与域</a:t>
            </a:r>
            <a:endParaRPr lang="en-US" altLang="zh-CN" b="1" dirty="0"/>
          </a:p>
          <a:p>
            <a:pPr marL="0" indent="0">
              <a:spcBef>
                <a:spcPct val="50000"/>
              </a:spcBef>
              <a:buNone/>
            </a:pPr>
            <a:endParaRPr lang="zh-CN" altLang="en-US" b="1" dirty="0"/>
          </a:p>
          <a:p>
            <a:pPr marL="0" indent="0">
              <a:spcBef>
                <a:spcPct val="50000"/>
              </a:spcBef>
              <a:buNone/>
            </a:pPr>
            <a:r>
              <a:rPr lang="en-US" altLang="zh-CN" b="1" dirty="0"/>
              <a:t>9.3.4 </a:t>
            </a:r>
            <a:r>
              <a:rPr lang="zh-CN" altLang="en-US" b="1" dirty="0"/>
              <a:t>格与布尔代数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108</a:t>
            </a:fld>
            <a:endParaRPr lang="zh-CN" altLang="en-US"/>
          </a:p>
        </p:txBody>
      </p:sp>
    </p:spTree>
    <p:extLst>
      <p:ext uri="{BB962C8B-B14F-4D97-AF65-F5344CB8AC3E}">
        <p14:creationId xmlns:p14="http://schemas.microsoft.com/office/powerpoint/2010/main" val="309993955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165225" indent="184150" eaLnBrk="1" hangingPunct="1"/>
            <a:r>
              <a:rPr lang="zh-CN" altLang="en-US" b="1" dirty="0"/>
              <a:t>环的定义与实例</a:t>
            </a:r>
            <a:endParaRPr lang="en-US" altLang="zh-CN" b="1" dirty="0"/>
          </a:p>
          <a:p>
            <a:pPr marL="1165225" indent="184150" eaLnBrk="1" hangingPunct="1"/>
            <a:endParaRPr lang="zh-CN" altLang="en-US" b="1" dirty="0"/>
          </a:p>
          <a:p>
            <a:pPr marL="1165225" indent="184150" eaLnBrk="1" hangingPunct="1"/>
            <a:r>
              <a:rPr lang="zh-CN" altLang="en-US" b="1" dirty="0"/>
              <a:t>环的运算性质</a:t>
            </a:r>
            <a:endParaRPr lang="en-US" altLang="zh-CN" b="1" dirty="0"/>
          </a:p>
          <a:p>
            <a:pPr marL="1165225" indent="184150" eaLnBrk="1" hangingPunct="1"/>
            <a:endParaRPr lang="zh-CN" altLang="en-US" b="1" dirty="0"/>
          </a:p>
          <a:p>
            <a:pPr marL="1165225" indent="184150" eaLnBrk="1" hangingPunct="1"/>
            <a:r>
              <a:rPr lang="zh-CN" altLang="en-US" b="1" dirty="0"/>
              <a:t>子环及其判别</a:t>
            </a:r>
            <a:endParaRPr lang="en-US" altLang="zh-CN" b="1" dirty="0"/>
          </a:p>
          <a:p>
            <a:pPr marL="1165225" indent="184150" eaLnBrk="1" hangingPunct="1"/>
            <a:endParaRPr lang="zh-CN" altLang="en-US" b="1" dirty="0"/>
          </a:p>
          <a:p>
            <a:pPr marL="1165225" indent="184150" eaLnBrk="1" hangingPunct="1"/>
            <a:r>
              <a:rPr lang="zh-CN" altLang="en-US" b="1" dirty="0"/>
              <a:t>环的同态</a:t>
            </a:r>
            <a:endParaRPr lang="en-US" altLang="zh-CN" b="1" dirty="0"/>
          </a:p>
          <a:p>
            <a:pPr marL="1165225" indent="184150" eaLnBrk="1" hangingPunct="1"/>
            <a:endParaRPr lang="zh-CN" altLang="en-US" b="1" dirty="0"/>
          </a:p>
          <a:p>
            <a:pPr marL="1165225" indent="184150" eaLnBrk="1" hangingPunct="1"/>
            <a:r>
              <a:rPr lang="zh-CN" altLang="en-US" b="1" dirty="0"/>
              <a:t>整环与域</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109</a:t>
            </a:fld>
            <a:endParaRPr lang="zh-CN" altLang="en-US"/>
          </a:p>
        </p:txBody>
      </p:sp>
    </p:spTree>
    <p:extLst>
      <p:ext uri="{BB962C8B-B14F-4D97-AF65-F5344CB8AC3E}">
        <p14:creationId xmlns:p14="http://schemas.microsoft.com/office/powerpoint/2010/main" val="56371317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eaLnBrk="1" fontAlgn="b" latinLnBrk="0" hangingPunct="1"/>
            <a:r>
              <a:rPr lang="zh-CN" altLang="zh-CN" sz="1200" b="1" i="0" u="none" strike="noStrike" kern="1200" dirty="0">
                <a:solidFill>
                  <a:schemeClr val="tx1"/>
                </a:solidFill>
                <a:effectLst/>
                <a:latin typeface="+mn-lt"/>
                <a:ea typeface="+mn-ea"/>
                <a:cs typeface="+mn-cs"/>
              </a:rPr>
              <a:t>群</a:t>
            </a:r>
            <a:r>
              <a:rPr lang="en-US" altLang="zh-CN" sz="1200" b="1" i="0" u="none" strike="noStrike" kern="1200" dirty="0">
                <a:solidFill>
                  <a:schemeClr val="tx1"/>
                </a:solidFill>
                <a:effectLst/>
                <a:latin typeface="+mn-lt"/>
                <a:ea typeface="+mn-ea"/>
                <a:cs typeface="+mn-cs"/>
              </a:rPr>
              <a:t>(Group)</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1" i="0" u="none" strike="noStrike" kern="1200" dirty="0">
                <a:solidFill>
                  <a:schemeClr val="tx1"/>
                </a:solidFill>
                <a:effectLst/>
                <a:latin typeface="+mn-lt"/>
                <a:ea typeface="+mn-ea"/>
                <a:cs typeface="+mn-cs"/>
              </a:rPr>
              <a:t>环</a:t>
            </a:r>
            <a:r>
              <a:rPr lang="en-US" altLang="zh-CN" sz="1200" b="1" i="0" u="none" strike="noStrike" kern="1200" dirty="0">
                <a:solidFill>
                  <a:schemeClr val="tx1"/>
                </a:solidFill>
                <a:effectLst/>
                <a:latin typeface="+mn-lt"/>
                <a:ea typeface="+mn-ea"/>
                <a:cs typeface="+mn-cs"/>
              </a:rPr>
              <a:t>(Ring)</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1" i="0" u="none" strike="noStrike" kern="1200" dirty="0">
                <a:solidFill>
                  <a:schemeClr val="tx1"/>
                </a:solidFill>
                <a:effectLst/>
                <a:latin typeface="+mn-lt"/>
                <a:ea typeface="+mn-ea"/>
                <a:cs typeface="+mn-cs"/>
              </a:rPr>
              <a:t>一个集合</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具有单一二元运算</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满足封闭性、结合性、单位元和逆元性质。</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一个集合</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具有</a:t>
            </a:r>
            <a:r>
              <a:rPr lang="zh-CN" altLang="zh-CN" sz="1200" b="1" i="0" u="none" strike="noStrike" kern="1200" dirty="0">
                <a:solidFill>
                  <a:schemeClr val="tx1"/>
                </a:solidFill>
                <a:effectLst/>
                <a:latin typeface="+mn-lt"/>
                <a:ea typeface="+mn-ea"/>
                <a:cs typeface="+mn-cs"/>
              </a:rPr>
              <a:t>两个</a:t>
            </a:r>
            <a:r>
              <a:rPr lang="zh-CN" altLang="zh-CN" sz="1200" b="0" i="0" u="none" strike="noStrike" kern="1200" dirty="0">
                <a:solidFill>
                  <a:schemeClr val="tx1"/>
                </a:solidFill>
                <a:effectLst/>
                <a:latin typeface="+mn-lt"/>
                <a:ea typeface="+mn-ea"/>
                <a:cs typeface="+mn-cs"/>
              </a:rPr>
              <a:t>二元运算</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加法和乘法</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满足特定性质。</a:t>
            </a:r>
          </a:p>
          <a:p>
            <a:pPr rtl="0" eaLnBrk="1" fontAlgn="b" latinLnBrk="0" hangingPunct="1"/>
            <a:r>
              <a:rPr lang="zh-CN" altLang="zh-CN" sz="1200" b="1" i="0" u="none" strike="noStrike" kern="1200" dirty="0">
                <a:solidFill>
                  <a:schemeClr val="tx1"/>
                </a:solidFill>
                <a:effectLst/>
                <a:latin typeface="+mn-lt"/>
                <a:ea typeface="+mn-ea"/>
                <a:cs typeface="+mn-cs"/>
              </a:rPr>
              <a:t>单一运算</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通常是加法或乘法</a:t>
            </a:r>
            <a:r>
              <a:rPr lang="en-US" altLang="zh-CN" sz="1200" b="1" i="0" u="none" strike="noStrike" kern="1200" dirty="0">
                <a:solidFill>
                  <a:schemeClr val="tx1"/>
                </a:solidFill>
                <a:effectLst/>
                <a:latin typeface="+mn-lt"/>
                <a:ea typeface="+mn-ea"/>
                <a:cs typeface="+mn-cs"/>
              </a:rPr>
              <a:t>)</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加法</a:t>
            </a:r>
            <a:r>
              <a:rPr lang="zh-CN" altLang="zh-CN" sz="1200" b="1" i="0" u="none" strike="noStrike" kern="1200" dirty="0">
                <a:solidFill>
                  <a:schemeClr val="tx1"/>
                </a:solidFill>
                <a:effectLst/>
                <a:latin typeface="+mn-lt"/>
                <a:ea typeface="+mn-ea"/>
                <a:cs typeface="+mn-cs"/>
              </a:rPr>
              <a:t>和</a:t>
            </a:r>
            <a:r>
              <a:rPr lang="zh-CN" altLang="zh-CN" sz="1200" b="0" i="0" u="none" strike="noStrike" kern="1200" dirty="0">
                <a:solidFill>
                  <a:schemeClr val="tx1"/>
                </a:solidFill>
                <a:effectLst/>
                <a:latin typeface="+mn-lt"/>
                <a:ea typeface="+mn-ea"/>
                <a:cs typeface="+mn-cs"/>
              </a:rPr>
              <a:t>乘法</a:t>
            </a:r>
          </a:p>
          <a:p>
            <a:pPr rtl="0" eaLnBrk="1" fontAlgn="ctr" latinLnBrk="0" hangingPunct="1"/>
            <a:r>
              <a:rPr lang="zh-CN" altLang="zh-CN" sz="1200" b="1" i="0" u="none" strike="noStrike" kern="1200" dirty="0">
                <a:solidFill>
                  <a:schemeClr val="tx1"/>
                </a:solidFill>
                <a:effectLst/>
                <a:latin typeface="+mn-lt"/>
                <a:ea typeface="+mn-ea"/>
                <a:cs typeface="+mn-cs"/>
              </a:rPr>
              <a:t>不考虑</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形成一个阿贝尔群</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交换群</a:t>
            </a:r>
            <a:r>
              <a:rPr lang="en-US" altLang="zh-CN" sz="1200" b="0" i="0" u="none" strike="noStrike" kern="1200" dirty="0">
                <a:solidFill>
                  <a:schemeClr val="tx1"/>
                </a:solidFill>
                <a:effectLst/>
                <a:latin typeface="+mn-lt"/>
                <a:ea typeface="+mn-ea"/>
                <a:cs typeface="+mn-cs"/>
              </a:rPr>
              <a:t>)</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1" i="0" u="none" strike="noStrike" kern="1200" dirty="0">
                <a:solidFill>
                  <a:schemeClr val="tx1"/>
                </a:solidFill>
                <a:effectLst/>
                <a:latin typeface="+mn-lt"/>
                <a:ea typeface="+mn-ea"/>
                <a:cs typeface="+mn-cs"/>
              </a:rPr>
              <a:t>形成一个群</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形成一个</a:t>
            </a:r>
            <a:r>
              <a:rPr lang="zh-CN" altLang="zh-CN" sz="1200" b="1" i="0" u="none" strike="noStrike" kern="1200" dirty="0">
                <a:solidFill>
                  <a:schemeClr val="tx1"/>
                </a:solidFill>
                <a:effectLst/>
                <a:latin typeface="+mn-lt"/>
                <a:ea typeface="+mn-ea"/>
                <a:cs typeface="+mn-cs"/>
              </a:rPr>
              <a:t>半群</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不一定是群</a:t>
            </a:r>
          </a:p>
          <a:p>
            <a:pPr rtl="0" eaLnBrk="1" fontAlgn="b" latinLnBrk="0" hangingPunct="1"/>
            <a:r>
              <a:rPr lang="zh-CN" altLang="zh-CN" sz="1200" b="1" i="0" u="none" strike="noStrike" kern="1200" dirty="0">
                <a:solidFill>
                  <a:schemeClr val="tx1"/>
                </a:solidFill>
                <a:effectLst/>
                <a:latin typeface="+mn-lt"/>
                <a:ea typeface="+mn-ea"/>
                <a:cs typeface="+mn-cs"/>
              </a:rPr>
              <a:t>需要单位元</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需要加法单位元</a:t>
            </a:r>
            <a:r>
              <a:rPr lang="en-US" altLang="zh-CN" sz="1200" b="0" i="0" u="none" strike="noStrike" kern="1200" dirty="0">
                <a:solidFill>
                  <a:schemeClr val="tx1"/>
                </a:solidFill>
                <a:effectLst/>
                <a:latin typeface="+mn-lt"/>
                <a:ea typeface="+mn-ea"/>
                <a:cs typeface="+mn-cs"/>
              </a:rPr>
              <a:t>0,</a:t>
            </a:r>
            <a:r>
              <a:rPr lang="zh-CN" altLang="zh-CN" sz="1200" b="0" i="0" u="none" strike="noStrike" kern="1200" dirty="0">
                <a:solidFill>
                  <a:schemeClr val="tx1"/>
                </a:solidFill>
                <a:effectLst/>
                <a:latin typeface="+mn-lt"/>
                <a:ea typeface="+mn-ea"/>
                <a:cs typeface="+mn-cs"/>
              </a:rPr>
              <a:t>乘法单位元</a:t>
            </a:r>
            <a:r>
              <a:rPr lang="en-US" altLang="zh-CN" sz="1200" b="0" i="0" u="none" strike="noStrike" kern="1200" dirty="0">
                <a:solidFill>
                  <a:schemeClr val="tx1"/>
                </a:solidFill>
                <a:effectLst/>
                <a:latin typeface="+mn-lt"/>
                <a:ea typeface="+mn-ea"/>
                <a:cs typeface="+mn-cs"/>
              </a:rPr>
              <a:t>1</a:t>
            </a:r>
            <a:r>
              <a:rPr lang="zh-CN" altLang="zh-CN" sz="1200" b="0" i="0" u="none" strike="noStrike" kern="1200" dirty="0">
                <a:solidFill>
                  <a:schemeClr val="tx1"/>
                </a:solidFill>
                <a:effectLst/>
                <a:latin typeface="+mn-lt"/>
                <a:ea typeface="+mn-ea"/>
                <a:cs typeface="+mn-cs"/>
              </a:rPr>
              <a:t>是</a:t>
            </a:r>
            <a:r>
              <a:rPr lang="zh-CN" altLang="zh-CN" sz="1200" b="1" i="0" u="none" strike="noStrike" kern="1200" dirty="0">
                <a:solidFill>
                  <a:schemeClr val="tx1"/>
                </a:solidFill>
                <a:effectLst/>
                <a:latin typeface="+mn-lt"/>
                <a:ea typeface="+mn-ea"/>
                <a:cs typeface="+mn-cs"/>
              </a:rPr>
              <a:t>可选</a:t>
            </a:r>
            <a:r>
              <a:rPr lang="zh-CN" altLang="zh-CN" sz="1200" b="0" i="0" u="none" strike="noStrike" kern="1200" dirty="0">
                <a:solidFill>
                  <a:schemeClr val="tx1"/>
                </a:solidFill>
                <a:effectLst/>
                <a:latin typeface="+mn-lt"/>
                <a:ea typeface="+mn-ea"/>
                <a:cs typeface="+mn-cs"/>
              </a:rPr>
              <a:t>的</a:t>
            </a:r>
          </a:p>
          <a:p>
            <a:pPr rtl="0" eaLnBrk="1" fontAlgn="b" latinLnBrk="0" hangingPunct="1"/>
            <a:r>
              <a:rPr lang="zh-CN" altLang="zh-CN" sz="1200" b="1" i="0" u="none" strike="noStrike" kern="1200" dirty="0">
                <a:solidFill>
                  <a:schemeClr val="tx1"/>
                </a:solidFill>
                <a:effectLst/>
                <a:latin typeface="+mn-lt"/>
                <a:ea typeface="+mn-ea"/>
                <a:cs typeface="+mn-cs"/>
              </a:rPr>
              <a:t>不一定是交换的</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如果是交换的则称为阿贝尔群</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加法是交换的</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乘法不一定是交换的</a:t>
            </a:r>
          </a:p>
          <a:p>
            <a:pPr rtl="0" eaLnBrk="1" fontAlgn="b" latinLnBrk="0" hangingPunct="1"/>
            <a:r>
              <a:rPr lang="zh-CN" altLang="zh-CN" sz="1200" b="1" i="0" u="none" strike="noStrike" kern="1200" dirty="0">
                <a:solidFill>
                  <a:schemeClr val="tx1"/>
                </a:solidFill>
                <a:effectLst/>
                <a:latin typeface="+mn-lt"/>
                <a:ea typeface="+mn-ea"/>
                <a:cs typeface="+mn-cs"/>
              </a:rPr>
              <a:t>整数加法群</a:t>
            </a:r>
            <a:r>
              <a:rPr lang="en-US" altLang="zh-CN" sz="1200" b="1" i="0" u="none" strike="noStrike" kern="1200" dirty="0">
                <a:solidFill>
                  <a:schemeClr val="tx1"/>
                </a:solidFill>
                <a:effectLst/>
                <a:latin typeface="+mn-lt"/>
                <a:ea typeface="+mn-ea"/>
                <a:cs typeface="+mn-cs"/>
              </a:rPr>
              <a:t>(Z,+),</a:t>
            </a:r>
            <a:r>
              <a:rPr lang="zh-CN" altLang="zh-CN" sz="1200" b="1" i="0" u="none" strike="noStrike" kern="1200" dirty="0">
                <a:solidFill>
                  <a:schemeClr val="tx1"/>
                </a:solidFill>
                <a:effectLst/>
                <a:latin typeface="+mn-lt"/>
                <a:ea typeface="+mn-ea"/>
                <a:cs typeface="+mn-cs"/>
              </a:rPr>
              <a:t>非零实数乘法群</a:t>
            </a:r>
            <a:r>
              <a:rPr lang="en-US" altLang="zh-CN" sz="1200" b="1" i="0" u="none" strike="noStrike" kern="1200" dirty="0">
                <a:solidFill>
                  <a:schemeClr val="tx1"/>
                </a:solidFill>
                <a:effectLst/>
                <a:latin typeface="+mn-lt"/>
                <a:ea typeface="+mn-ea"/>
                <a:cs typeface="+mn-cs"/>
              </a:rPr>
              <a:t>(R</a:t>
            </a:r>
            <a:r>
              <a:rPr lang="zh-CN" altLang="zh-CN" sz="1200" b="1" i="0" u="none" strike="noStrike" kern="1200" baseline="300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rPr>
              <a:t>)</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整数环</a:t>
            </a:r>
            <a:r>
              <a:rPr lang="en-US" altLang="zh-CN" sz="1200" b="0" i="0" u="none" strike="noStrike" kern="1200" dirty="0">
                <a:solidFill>
                  <a:schemeClr val="tx1"/>
                </a:solidFill>
                <a:effectLst/>
                <a:latin typeface="+mn-lt"/>
                <a:ea typeface="+mn-ea"/>
                <a:cs typeface="+mn-cs"/>
              </a:rPr>
              <a:t>(Z)</a:t>
            </a:r>
            <a:r>
              <a:rPr lang="zh-CN" altLang="zh-CN" sz="1200" b="0" i="0" u="none" strike="noStrike" kern="1200" dirty="0">
                <a:solidFill>
                  <a:schemeClr val="tx1"/>
                </a:solidFill>
                <a:effectLst/>
                <a:latin typeface="+mn-lt"/>
                <a:ea typeface="+mn-ea"/>
                <a:cs typeface="+mn-cs"/>
              </a:rPr>
              <a:t>，多项式环</a:t>
            </a:r>
            <a:r>
              <a:rPr lang="en-US" altLang="zh-CN" sz="1200" b="0" i="0" u="none" strike="noStrike" kern="1200" dirty="0">
                <a:solidFill>
                  <a:schemeClr val="tx1"/>
                </a:solidFill>
                <a:effectLst/>
                <a:latin typeface="+mn-lt"/>
                <a:ea typeface="+mn-ea"/>
                <a:cs typeface="+mn-cs"/>
              </a:rPr>
              <a:t>(R[x] )</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1" i="0" u="none" strike="noStrike" kern="1200" dirty="0">
                <a:solidFill>
                  <a:schemeClr val="tx1"/>
                </a:solidFill>
                <a:effectLst/>
                <a:latin typeface="+mn-lt"/>
                <a:ea typeface="+mn-ea"/>
                <a:cs typeface="+mn-cs"/>
              </a:rPr>
              <a:t>研究对称性和变换</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抽象代数结构</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表示理论</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研究具有两种运算的结构</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多项式理论</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代数数论</a:t>
            </a:r>
          </a:p>
          <a:p>
            <a:pPr rtl="0" eaLnBrk="1" fontAlgn="b" latinLnBrk="0" hangingPunct="1"/>
            <a:r>
              <a:rPr lang="zh-CN" altLang="zh-CN" sz="1200" b="1" i="0" u="none" strike="noStrike" kern="1200" dirty="0">
                <a:solidFill>
                  <a:schemeClr val="tx1"/>
                </a:solidFill>
                <a:effectLst/>
                <a:latin typeface="+mn-lt"/>
                <a:ea typeface="+mn-ea"/>
                <a:cs typeface="+mn-cs"/>
              </a:rPr>
              <a:t>物理学</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对称操作</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化学</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分子对称性</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密码学</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加密算法</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计算机科学</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图论</a:t>
            </a:r>
            <a:r>
              <a:rPr lang="en-US" altLang="zh-CN" sz="1200" b="1" i="0" u="none" strike="noStrike" kern="1200" dirty="0">
                <a:solidFill>
                  <a:schemeClr val="tx1"/>
                </a:solidFill>
                <a:effectLst/>
                <a:latin typeface="+mn-lt"/>
                <a:ea typeface="+mn-ea"/>
                <a:cs typeface="+mn-cs"/>
              </a:rPr>
              <a:t>)</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线性代数</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矩阵环</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编码理论</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计算机代数</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量子力学</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110</a:t>
            </a:fld>
            <a:endParaRPr lang="zh-CN" altLang="en-US"/>
          </a:p>
        </p:txBody>
      </p:sp>
    </p:spTree>
    <p:extLst>
      <p:ext uri="{BB962C8B-B14F-4D97-AF65-F5344CB8AC3E}">
        <p14:creationId xmlns:p14="http://schemas.microsoft.com/office/powerpoint/2010/main" val="352929654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eaLnBrk="1" fontAlgn="b" latinLnBrk="0" hangingPunct="1"/>
            <a:r>
              <a:rPr lang="zh-CN" altLang="zh-CN" sz="1200" b="1" i="0" u="none" strike="noStrike" kern="1200" dirty="0">
                <a:solidFill>
                  <a:schemeClr val="tx1"/>
                </a:solidFill>
                <a:effectLst/>
                <a:latin typeface="+mn-lt"/>
                <a:ea typeface="+mn-ea"/>
                <a:cs typeface="+mn-cs"/>
              </a:rPr>
              <a:t>群</a:t>
            </a:r>
            <a:r>
              <a:rPr lang="en-US" altLang="zh-CN" sz="1200" b="1" i="0" u="none" strike="noStrike" kern="1200" dirty="0">
                <a:solidFill>
                  <a:schemeClr val="tx1"/>
                </a:solidFill>
                <a:effectLst/>
                <a:latin typeface="+mn-lt"/>
                <a:ea typeface="+mn-ea"/>
                <a:cs typeface="+mn-cs"/>
              </a:rPr>
              <a:t>(Group)</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1" i="0" u="none" strike="noStrike" kern="1200" dirty="0">
                <a:solidFill>
                  <a:schemeClr val="tx1"/>
                </a:solidFill>
                <a:effectLst/>
                <a:latin typeface="+mn-lt"/>
                <a:ea typeface="+mn-ea"/>
                <a:cs typeface="+mn-cs"/>
              </a:rPr>
              <a:t>环</a:t>
            </a:r>
            <a:r>
              <a:rPr lang="en-US" altLang="zh-CN" sz="1200" b="1" i="0" u="none" strike="noStrike" kern="1200" dirty="0">
                <a:solidFill>
                  <a:schemeClr val="tx1"/>
                </a:solidFill>
                <a:effectLst/>
                <a:latin typeface="+mn-lt"/>
                <a:ea typeface="+mn-ea"/>
                <a:cs typeface="+mn-cs"/>
              </a:rPr>
              <a:t>(Ring)</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1" i="0" u="none" strike="noStrike" kern="1200" dirty="0">
                <a:solidFill>
                  <a:schemeClr val="tx1"/>
                </a:solidFill>
                <a:effectLst/>
                <a:latin typeface="+mn-lt"/>
                <a:ea typeface="+mn-ea"/>
                <a:cs typeface="+mn-cs"/>
              </a:rPr>
              <a:t>一个集合</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具有单一二元运算</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满足封闭性、结合性、单位元和逆元性质。</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一个集合</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具有</a:t>
            </a:r>
            <a:r>
              <a:rPr lang="zh-CN" altLang="zh-CN" sz="1200" b="1" i="0" u="none" strike="noStrike" kern="1200" dirty="0">
                <a:solidFill>
                  <a:schemeClr val="tx1"/>
                </a:solidFill>
                <a:effectLst/>
                <a:latin typeface="+mn-lt"/>
                <a:ea typeface="+mn-ea"/>
                <a:cs typeface="+mn-cs"/>
              </a:rPr>
              <a:t>两个</a:t>
            </a:r>
            <a:r>
              <a:rPr lang="zh-CN" altLang="zh-CN" sz="1200" b="0" i="0" u="none" strike="noStrike" kern="1200" dirty="0">
                <a:solidFill>
                  <a:schemeClr val="tx1"/>
                </a:solidFill>
                <a:effectLst/>
                <a:latin typeface="+mn-lt"/>
                <a:ea typeface="+mn-ea"/>
                <a:cs typeface="+mn-cs"/>
              </a:rPr>
              <a:t>二元运算</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加法和乘法</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满足特定性质。</a:t>
            </a:r>
          </a:p>
          <a:p>
            <a:pPr rtl="0" eaLnBrk="1" fontAlgn="b" latinLnBrk="0" hangingPunct="1"/>
            <a:r>
              <a:rPr lang="zh-CN" altLang="zh-CN" sz="1200" b="1" i="0" u="none" strike="noStrike" kern="1200" dirty="0">
                <a:solidFill>
                  <a:schemeClr val="tx1"/>
                </a:solidFill>
                <a:effectLst/>
                <a:latin typeface="+mn-lt"/>
                <a:ea typeface="+mn-ea"/>
                <a:cs typeface="+mn-cs"/>
              </a:rPr>
              <a:t>单一运算</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通常是加法或乘法</a:t>
            </a:r>
            <a:r>
              <a:rPr lang="en-US" altLang="zh-CN" sz="1200" b="1" i="0" u="none" strike="noStrike" kern="1200" dirty="0">
                <a:solidFill>
                  <a:schemeClr val="tx1"/>
                </a:solidFill>
                <a:effectLst/>
                <a:latin typeface="+mn-lt"/>
                <a:ea typeface="+mn-ea"/>
                <a:cs typeface="+mn-cs"/>
              </a:rPr>
              <a:t>)</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加法</a:t>
            </a:r>
            <a:r>
              <a:rPr lang="zh-CN" altLang="zh-CN" sz="1200" b="1" i="0" u="none" strike="noStrike" kern="1200" dirty="0">
                <a:solidFill>
                  <a:schemeClr val="tx1"/>
                </a:solidFill>
                <a:effectLst/>
                <a:latin typeface="+mn-lt"/>
                <a:ea typeface="+mn-ea"/>
                <a:cs typeface="+mn-cs"/>
              </a:rPr>
              <a:t>和</a:t>
            </a:r>
            <a:r>
              <a:rPr lang="zh-CN" altLang="zh-CN" sz="1200" b="0" i="0" u="none" strike="noStrike" kern="1200" dirty="0">
                <a:solidFill>
                  <a:schemeClr val="tx1"/>
                </a:solidFill>
                <a:effectLst/>
                <a:latin typeface="+mn-lt"/>
                <a:ea typeface="+mn-ea"/>
                <a:cs typeface="+mn-cs"/>
              </a:rPr>
              <a:t>乘法</a:t>
            </a:r>
          </a:p>
          <a:p>
            <a:pPr rtl="0" eaLnBrk="1" fontAlgn="ctr" latinLnBrk="0" hangingPunct="1"/>
            <a:r>
              <a:rPr lang="zh-CN" altLang="zh-CN" sz="1200" b="1" i="0" u="none" strike="noStrike" kern="1200" dirty="0">
                <a:solidFill>
                  <a:schemeClr val="tx1"/>
                </a:solidFill>
                <a:effectLst/>
                <a:latin typeface="+mn-lt"/>
                <a:ea typeface="+mn-ea"/>
                <a:cs typeface="+mn-cs"/>
              </a:rPr>
              <a:t>不考虑</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形成一个阿贝尔群</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交换群</a:t>
            </a:r>
            <a:r>
              <a:rPr lang="en-US" altLang="zh-CN" sz="1200" b="0" i="0" u="none" strike="noStrike" kern="1200" dirty="0">
                <a:solidFill>
                  <a:schemeClr val="tx1"/>
                </a:solidFill>
                <a:effectLst/>
                <a:latin typeface="+mn-lt"/>
                <a:ea typeface="+mn-ea"/>
                <a:cs typeface="+mn-cs"/>
              </a:rPr>
              <a:t>)</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1" i="0" u="none" strike="noStrike" kern="1200" dirty="0">
                <a:solidFill>
                  <a:schemeClr val="tx1"/>
                </a:solidFill>
                <a:effectLst/>
                <a:latin typeface="+mn-lt"/>
                <a:ea typeface="+mn-ea"/>
                <a:cs typeface="+mn-cs"/>
              </a:rPr>
              <a:t>形成一个群</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形成一个</a:t>
            </a:r>
            <a:r>
              <a:rPr lang="zh-CN" altLang="zh-CN" sz="1200" b="1" i="0" u="none" strike="noStrike" kern="1200" dirty="0">
                <a:solidFill>
                  <a:schemeClr val="tx1"/>
                </a:solidFill>
                <a:effectLst/>
                <a:latin typeface="+mn-lt"/>
                <a:ea typeface="+mn-ea"/>
                <a:cs typeface="+mn-cs"/>
              </a:rPr>
              <a:t>半群</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不一定是群</a:t>
            </a:r>
          </a:p>
          <a:p>
            <a:pPr rtl="0" eaLnBrk="1" fontAlgn="b" latinLnBrk="0" hangingPunct="1"/>
            <a:r>
              <a:rPr lang="zh-CN" altLang="zh-CN" sz="1200" b="1" i="0" u="none" strike="noStrike" kern="1200" dirty="0">
                <a:solidFill>
                  <a:schemeClr val="tx1"/>
                </a:solidFill>
                <a:effectLst/>
                <a:latin typeface="+mn-lt"/>
                <a:ea typeface="+mn-ea"/>
                <a:cs typeface="+mn-cs"/>
              </a:rPr>
              <a:t>需要单位元</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需要加法单位元</a:t>
            </a:r>
            <a:r>
              <a:rPr lang="en-US" altLang="zh-CN" sz="1200" b="0" i="0" u="none" strike="noStrike" kern="1200" dirty="0">
                <a:solidFill>
                  <a:schemeClr val="tx1"/>
                </a:solidFill>
                <a:effectLst/>
                <a:latin typeface="+mn-lt"/>
                <a:ea typeface="+mn-ea"/>
                <a:cs typeface="+mn-cs"/>
              </a:rPr>
              <a:t>0,</a:t>
            </a:r>
            <a:r>
              <a:rPr lang="zh-CN" altLang="zh-CN" sz="1200" b="0" i="0" u="none" strike="noStrike" kern="1200" dirty="0">
                <a:solidFill>
                  <a:schemeClr val="tx1"/>
                </a:solidFill>
                <a:effectLst/>
                <a:latin typeface="+mn-lt"/>
                <a:ea typeface="+mn-ea"/>
                <a:cs typeface="+mn-cs"/>
              </a:rPr>
              <a:t>乘法单位元</a:t>
            </a:r>
            <a:r>
              <a:rPr lang="en-US" altLang="zh-CN" sz="1200" b="0" i="0" u="none" strike="noStrike" kern="1200" dirty="0">
                <a:solidFill>
                  <a:schemeClr val="tx1"/>
                </a:solidFill>
                <a:effectLst/>
                <a:latin typeface="+mn-lt"/>
                <a:ea typeface="+mn-ea"/>
                <a:cs typeface="+mn-cs"/>
              </a:rPr>
              <a:t>1</a:t>
            </a:r>
            <a:r>
              <a:rPr lang="zh-CN" altLang="zh-CN" sz="1200" b="0" i="0" u="none" strike="noStrike" kern="1200" dirty="0">
                <a:solidFill>
                  <a:schemeClr val="tx1"/>
                </a:solidFill>
                <a:effectLst/>
                <a:latin typeface="+mn-lt"/>
                <a:ea typeface="+mn-ea"/>
                <a:cs typeface="+mn-cs"/>
              </a:rPr>
              <a:t>是</a:t>
            </a:r>
            <a:r>
              <a:rPr lang="zh-CN" altLang="zh-CN" sz="1200" b="1" i="0" u="none" strike="noStrike" kern="1200" dirty="0">
                <a:solidFill>
                  <a:schemeClr val="tx1"/>
                </a:solidFill>
                <a:effectLst/>
                <a:latin typeface="+mn-lt"/>
                <a:ea typeface="+mn-ea"/>
                <a:cs typeface="+mn-cs"/>
              </a:rPr>
              <a:t>可选</a:t>
            </a:r>
            <a:r>
              <a:rPr lang="zh-CN" altLang="zh-CN" sz="1200" b="0" i="0" u="none" strike="noStrike" kern="1200" dirty="0">
                <a:solidFill>
                  <a:schemeClr val="tx1"/>
                </a:solidFill>
                <a:effectLst/>
                <a:latin typeface="+mn-lt"/>
                <a:ea typeface="+mn-ea"/>
                <a:cs typeface="+mn-cs"/>
              </a:rPr>
              <a:t>的</a:t>
            </a:r>
          </a:p>
          <a:p>
            <a:pPr rtl="0" eaLnBrk="1" fontAlgn="b" latinLnBrk="0" hangingPunct="1"/>
            <a:r>
              <a:rPr lang="zh-CN" altLang="zh-CN" sz="1200" b="1" i="0" u="none" strike="noStrike" kern="1200" dirty="0">
                <a:solidFill>
                  <a:schemeClr val="tx1"/>
                </a:solidFill>
                <a:effectLst/>
                <a:latin typeface="+mn-lt"/>
                <a:ea typeface="+mn-ea"/>
                <a:cs typeface="+mn-cs"/>
              </a:rPr>
              <a:t>不一定是交换的</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如果是交换的则称为阿贝尔群</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加法是交换的</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乘法不一定是交换的</a:t>
            </a:r>
          </a:p>
          <a:p>
            <a:pPr rtl="0" eaLnBrk="1" fontAlgn="b" latinLnBrk="0" hangingPunct="1"/>
            <a:r>
              <a:rPr lang="zh-CN" altLang="zh-CN" sz="1200" b="1" i="0" u="none" strike="noStrike" kern="1200" dirty="0">
                <a:solidFill>
                  <a:schemeClr val="tx1"/>
                </a:solidFill>
                <a:effectLst/>
                <a:latin typeface="+mn-lt"/>
                <a:ea typeface="+mn-ea"/>
                <a:cs typeface="+mn-cs"/>
              </a:rPr>
              <a:t>整数加法群</a:t>
            </a:r>
            <a:r>
              <a:rPr lang="en-US" altLang="zh-CN" sz="1200" b="1" i="0" u="none" strike="noStrike" kern="1200" dirty="0">
                <a:solidFill>
                  <a:schemeClr val="tx1"/>
                </a:solidFill>
                <a:effectLst/>
                <a:latin typeface="+mn-lt"/>
                <a:ea typeface="+mn-ea"/>
                <a:cs typeface="+mn-cs"/>
              </a:rPr>
              <a:t>(Z,+),</a:t>
            </a:r>
            <a:r>
              <a:rPr lang="zh-CN" altLang="zh-CN" sz="1200" b="1" i="0" u="none" strike="noStrike" kern="1200" dirty="0">
                <a:solidFill>
                  <a:schemeClr val="tx1"/>
                </a:solidFill>
                <a:effectLst/>
                <a:latin typeface="+mn-lt"/>
                <a:ea typeface="+mn-ea"/>
                <a:cs typeface="+mn-cs"/>
              </a:rPr>
              <a:t>非零实数乘法群</a:t>
            </a:r>
            <a:r>
              <a:rPr lang="en-US" altLang="zh-CN" sz="1200" b="1" i="0" u="none" strike="noStrike" kern="1200" dirty="0">
                <a:solidFill>
                  <a:schemeClr val="tx1"/>
                </a:solidFill>
                <a:effectLst/>
                <a:latin typeface="+mn-lt"/>
                <a:ea typeface="+mn-ea"/>
                <a:cs typeface="+mn-cs"/>
              </a:rPr>
              <a:t>(R</a:t>
            </a:r>
            <a:r>
              <a:rPr lang="zh-CN" altLang="zh-CN" sz="1200" b="1" i="0" u="none" strike="noStrike" kern="1200" baseline="300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rPr>
              <a:t>)</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整数环</a:t>
            </a:r>
            <a:r>
              <a:rPr lang="en-US" altLang="zh-CN" sz="1200" b="0" i="0" u="none" strike="noStrike" kern="1200" dirty="0">
                <a:solidFill>
                  <a:schemeClr val="tx1"/>
                </a:solidFill>
                <a:effectLst/>
                <a:latin typeface="+mn-lt"/>
                <a:ea typeface="+mn-ea"/>
                <a:cs typeface="+mn-cs"/>
              </a:rPr>
              <a:t>(Z)</a:t>
            </a:r>
            <a:r>
              <a:rPr lang="zh-CN" altLang="zh-CN" sz="1200" b="0" i="0" u="none" strike="noStrike" kern="1200" dirty="0">
                <a:solidFill>
                  <a:schemeClr val="tx1"/>
                </a:solidFill>
                <a:effectLst/>
                <a:latin typeface="+mn-lt"/>
                <a:ea typeface="+mn-ea"/>
                <a:cs typeface="+mn-cs"/>
              </a:rPr>
              <a:t>，多项式环</a:t>
            </a:r>
            <a:r>
              <a:rPr lang="en-US" altLang="zh-CN" sz="1200" b="0" i="0" u="none" strike="noStrike" kern="1200" dirty="0">
                <a:solidFill>
                  <a:schemeClr val="tx1"/>
                </a:solidFill>
                <a:effectLst/>
                <a:latin typeface="+mn-lt"/>
                <a:ea typeface="+mn-ea"/>
                <a:cs typeface="+mn-cs"/>
              </a:rPr>
              <a:t>(R[x] )</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1" i="0" u="none" strike="noStrike" kern="1200" dirty="0">
                <a:solidFill>
                  <a:schemeClr val="tx1"/>
                </a:solidFill>
                <a:effectLst/>
                <a:latin typeface="+mn-lt"/>
                <a:ea typeface="+mn-ea"/>
                <a:cs typeface="+mn-cs"/>
              </a:rPr>
              <a:t>研究对称性和变换</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抽象代数结构</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表示理论</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研究具有两种运算的结构</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多项式理论</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代数数论</a:t>
            </a:r>
          </a:p>
          <a:p>
            <a:pPr rtl="0" eaLnBrk="1" fontAlgn="b" latinLnBrk="0" hangingPunct="1"/>
            <a:r>
              <a:rPr lang="zh-CN" altLang="zh-CN" sz="1200" b="1" i="0" u="none" strike="noStrike" kern="1200" dirty="0">
                <a:solidFill>
                  <a:schemeClr val="tx1"/>
                </a:solidFill>
                <a:effectLst/>
                <a:latin typeface="+mn-lt"/>
                <a:ea typeface="+mn-ea"/>
                <a:cs typeface="+mn-cs"/>
              </a:rPr>
              <a:t>物理学</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对称操作</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化学</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分子对称性</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密码学</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加密算法</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计算机科学</a:t>
            </a:r>
            <a:r>
              <a:rPr lang="en-US" altLang="zh-CN" sz="1200" b="1" i="0" u="none" strike="noStrike" kern="1200" dirty="0">
                <a:solidFill>
                  <a:schemeClr val="tx1"/>
                </a:solidFill>
                <a:effectLst/>
                <a:latin typeface="+mn-lt"/>
                <a:ea typeface="+mn-ea"/>
                <a:cs typeface="+mn-cs"/>
              </a:rPr>
              <a:t>(</a:t>
            </a:r>
            <a:r>
              <a:rPr lang="zh-CN" altLang="zh-CN" sz="1200" b="1" i="0" u="none" strike="noStrike" kern="1200" dirty="0">
                <a:solidFill>
                  <a:schemeClr val="tx1"/>
                </a:solidFill>
                <a:effectLst/>
                <a:latin typeface="+mn-lt"/>
                <a:ea typeface="+mn-ea"/>
                <a:cs typeface="+mn-cs"/>
              </a:rPr>
              <a:t>图论</a:t>
            </a:r>
            <a:r>
              <a:rPr lang="en-US" altLang="zh-CN" sz="1200" b="1" i="0" u="none" strike="noStrike" kern="1200" dirty="0">
                <a:solidFill>
                  <a:schemeClr val="tx1"/>
                </a:solidFill>
                <a:effectLst/>
                <a:latin typeface="+mn-lt"/>
                <a:ea typeface="+mn-ea"/>
                <a:cs typeface="+mn-cs"/>
              </a:rPr>
              <a:t>)</a:t>
            </a:r>
            <a:endParaRPr lang="zh-CN" altLang="zh-CN" sz="1200" b="0" i="0" u="none" strike="noStrike" kern="1200" dirty="0">
              <a:solidFill>
                <a:schemeClr val="tx1"/>
              </a:solidFill>
              <a:effectLst/>
              <a:latin typeface="+mn-lt"/>
              <a:ea typeface="+mn-ea"/>
              <a:cs typeface="+mn-cs"/>
            </a:endParaRPr>
          </a:p>
          <a:p>
            <a:pPr rtl="0" eaLnBrk="1" fontAlgn="b" latinLnBrk="0" hangingPunct="1"/>
            <a:r>
              <a:rPr lang="zh-CN" altLang="zh-CN" sz="1200" b="0" i="0" u="none" strike="noStrike" kern="1200" dirty="0">
                <a:solidFill>
                  <a:schemeClr val="tx1"/>
                </a:solidFill>
                <a:effectLst/>
                <a:latin typeface="+mn-lt"/>
                <a:ea typeface="+mn-ea"/>
                <a:cs typeface="+mn-cs"/>
              </a:rPr>
              <a:t>线性代数</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矩阵环</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编码理论</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计算机代数</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量子力学</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111</a:t>
            </a:fld>
            <a:endParaRPr lang="zh-CN" altLang="en-US"/>
          </a:p>
        </p:txBody>
      </p:sp>
    </p:spTree>
    <p:extLst>
      <p:ext uri="{BB962C8B-B14F-4D97-AF65-F5344CB8AC3E}">
        <p14:creationId xmlns:p14="http://schemas.microsoft.com/office/powerpoint/2010/main" val="224989803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00000"/>
              </a:lnSpc>
              <a:buNone/>
            </a:pPr>
            <a:r>
              <a:rPr lang="zh-CN" altLang="zh-CN" sz="1400" b="1" dirty="0">
                <a:solidFill>
                  <a:srgbClr val="FF0000"/>
                </a:solidFill>
                <a:latin typeface="+mn-ea"/>
              </a:rPr>
              <a:t>理解群</a:t>
            </a:r>
            <a:r>
              <a:rPr lang="zh-CN" altLang="en-US" sz="1400" b="1" dirty="0">
                <a:solidFill>
                  <a:srgbClr val="FF0000"/>
                </a:solidFill>
                <a:latin typeface="+mn-ea"/>
              </a:rPr>
              <a:t>的</a:t>
            </a:r>
            <a:r>
              <a:rPr lang="zh-CN" altLang="zh-CN" sz="1400" b="1" dirty="0">
                <a:solidFill>
                  <a:srgbClr val="FF0000"/>
                </a:solidFill>
                <a:latin typeface="+mn-ea"/>
              </a:rPr>
              <a:t>对称性</a:t>
            </a:r>
            <a:r>
              <a:rPr lang="en-US" altLang="zh-CN" sz="1400" b="1" dirty="0">
                <a:solidFill>
                  <a:srgbClr val="FF0000"/>
                </a:solidFill>
                <a:latin typeface="+mn-ea"/>
              </a:rPr>
              <a:t>:</a:t>
            </a:r>
            <a:br>
              <a:rPr lang="en-US" altLang="zh-CN" sz="1800" b="1" dirty="0">
                <a:solidFill>
                  <a:schemeClr val="tx1"/>
                </a:solidFill>
                <a:latin typeface="Times New Roman" panose="02020603050405020304" pitchFamily="18" charset="0"/>
                <a:ea typeface="+mn-ea"/>
              </a:rPr>
            </a:br>
            <a:r>
              <a:rPr lang="en-US" altLang="zh-CN" sz="1200" b="1" dirty="0">
                <a:solidFill>
                  <a:schemeClr val="tx1"/>
                </a:solidFill>
                <a:latin typeface="楷体" panose="02010609060101010101" pitchFamily="49" charset="-122"/>
                <a:ea typeface="楷体" panose="02010609060101010101" pitchFamily="49" charset="-122"/>
              </a:rPr>
              <a:t>(1)</a:t>
            </a:r>
            <a:r>
              <a:rPr lang="zh-CN" altLang="zh-CN" sz="1200" b="1" dirty="0">
                <a:solidFill>
                  <a:srgbClr val="0D0D0D"/>
                </a:solidFill>
                <a:effectLst/>
                <a:latin typeface="楷体" panose="02010609060101010101" pitchFamily="49" charset="-122"/>
                <a:ea typeface="楷体" panose="02010609060101010101" pitchFamily="49" charset="-122"/>
                <a:cs typeface="Segoe UI" panose="020B0502040204020203" pitchFamily="34" charset="0"/>
              </a:rPr>
              <a:t>对称性是指在某种操作下</a:t>
            </a:r>
            <a:r>
              <a:rPr lang="en-US" altLang="zh-CN" sz="1200" b="1" dirty="0">
                <a:solidFill>
                  <a:srgbClr val="0D0D0D"/>
                </a:solidFill>
                <a:effectLst/>
                <a:latin typeface="楷体" panose="02010609060101010101" pitchFamily="49" charset="-122"/>
                <a:ea typeface="楷体" panose="02010609060101010101" pitchFamily="49" charset="-122"/>
                <a:cs typeface="Segoe UI" panose="020B0502040204020203" pitchFamily="34" charset="0"/>
              </a:rPr>
              <a:t>,</a:t>
            </a:r>
            <a:r>
              <a:rPr lang="zh-CN" altLang="zh-CN" sz="1200" b="1" dirty="0">
                <a:solidFill>
                  <a:srgbClr val="0D0D0D"/>
                </a:solidFill>
                <a:effectLst/>
                <a:latin typeface="楷体" panose="02010609060101010101" pitchFamily="49" charset="-122"/>
                <a:ea typeface="楷体" panose="02010609060101010101" pitchFamily="49" charset="-122"/>
                <a:cs typeface="Segoe UI" panose="020B0502040204020203" pitchFamily="34" charset="0"/>
              </a:rPr>
              <a:t>一个对象保持不变的性质</a:t>
            </a:r>
            <a:r>
              <a:rPr lang="en-US" altLang="zh-CN" sz="1200" b="1" dirty="0">
                <a:solidFill>
                  <a:srgbClr val="0D0D0D"/>
                </a:solidFill>
                <a:effectLst/>
                <a:latin typeface="楷体" panose="02010609060101010101" pitchFamily="49" charset="-122"/>
                <a:ea typeface="楷体" panose="02010609060101010101" pitchFamily="49" charset="-122"/>
                <a:cs typeface="Segoe UI" panose="020B0502040204020203" pitchFamily="34" charset="0"/>
              </a:rPr>
              <a:t>. </a:t>
            </a:r>
            <a:r>
              <a:rPr lang="zh-CN" altLang="zh-CN" sz="1200" b="1" dirty="0">
                <a:solidFill>
                  <a:srgbClr val="0D0D0D"/>
                </a:solidFill>
                <a:effectLst/>
                <a:latin typeface="楷体" panose="02010609060101010101" pitchFamily="49" charset="-122"/>
                <a:ea typeface="楷体" panose="02010609060101010101" pitchFamily="49" charset="-122"/>
                <a:cs typeface="Segoe UI" panose="020B0502040204020203" pitchFamily="34" charset="0"/>
              </a:rPr>
              <a:t>这些操作可以是旋转、反射、平移等</a:t>
            </a:r>
            <a:r>
              <a:rPr lang="en-US" altLang="zh-CN" sz="1200" b="1" dirty="0">
                <a:solidFill>
                  <a:schemeClr val="tx1"/>
                </a:solidFill>
                <a:latin typeface="楷体" panose="02010609060101010101" pitchFamily="49" charset="-122"/>
                <a:ea typeface="楷体" panose="02010609060101010101" pitchFamily="49" charset="-122"/>
              </a:rPr>
              <a:t>.</a:t>
            </a:r>
            <a:br>
              <a:rPr lang="zh-CN" altLang="en-US" sz="1200" b="1" dirty="0">
                <a:solidFill>
                  <a:schemeClr val="tx1"/>
                </a:solidFill>
                <a:latin typeface="楷体" panose="02010609060101010101" pitchFamily="49" charset="-122"/>
                <a:ea typeface="楷体" panose="02010609060101010101" pitchFamily="49" charset="-122"/>
              </a:rPr>
            </a:br>
            <a:r>
              <a:rPr lang="en-US" altLang="zh-CN" sz="1200" b="1" dirty="0">
                <a:solidFill>
                  <a:schemeClr val="tx1"/>
                </a:solidFill>
                <a:latin typeface="楷体" panose="02010609060101010101" pitchFamily="49" charset="-122"/>
                <a:ea typeface="楷体" panose="02010609060101010101" pitchFamily="49" charset="-122"/>
              </a:rPr>
              <a:t>(2)</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群的对称性是指在某种操作下对象保持不变的性质，这些操作形成的集合在组合时满足群的四个基本性质（封闭性、结合性、单位元存在性、逆元存在性）</a:t>
            </a:r>
            <a:br>
              <a:rPr lang="zh-CN" altLang="en-US"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br>
            <a:r>
              <a:rPr lang="en-US" altLang="zh-CN" sz="1200" b="1" dirty="0">
                <a:solidFill>
                  <a:schemeClr val="tx1"/>
                </a:solidFill>
                <a:latin typeface="楷体" panose="02010609060101010101" pitchFamily="49" charset="-122"/>
                <a:ea typeface="楷体" panose="02010609060101010101" pitchFamily="49" charset="-122"/>
              </a:rPr>
              <a:t>(3)</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循环群</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a:t>
            </a:r>
            <a:r>
              <a:rPr lang="zh-CN" altLang="en-US"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特殊群</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的对称性体现在周期性重复的结构中</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a:t>
            </a:r>
            <a:endPar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endParaRPr>
          </a:p>
          <a:p>
            <a:pPr marL="0" indent="0">
              <a:lnSpc>
                <a:spcPct val="100000"/>
              </a:lnSpc>
              <a:buNone/>
            </a:pPr>
            <a:r>
              <a:rPr lang="en-US" altLang="zh-CN" sz="1200" b="1" dirty="0">
                <a:solidFill>
                  <a:schemeClr val="tx1"/>
                </a:solidFill>
                <a:latin typeface="楷体" panose="02010609060101010101" pitchFamily="49" charset="-122"/>
                <a:ea typeface="楷体" panose="02010609060101010101" pitchFamily="49" charset="-122"/>
              </a:rPr>
              <a:t>(4)</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置换群</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a:t>
            </a:r>
            <a:r>
              <a:rPr lang="zh-CN" altLang="en-US"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特殊群</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 </a:t>
            </a:r>
            <a:r>
              <a:rPr lang="en-US" altLang="zh-CN" sz="1200" b="1" i="1" dirty="0">
                <a:solidFill>
                  <a:srgbClr val="0D0D0D"/>
                </a:solidFill>
                <a:latin typeface="楷体" panose="02010609060101010101" pitchFamily="49" charset="-122"/>
                <a:ea typeface="楷体" panose="02010609060101010101" pitchFamily="49" charset="-122"/>
                <a:cs typeface="Segoe UI" panose="020B0502040204020203" pitchFamily="34" charset="0"/>
              </a:rPr>
              <a:t>S</a:t>
            </a:r>
            <a:r>
              <a:rPr lang="en-US" altLang="zh-CN" sz="1200" b="1" i="1" baseline="-25000" dirty="0">
                <a:solidFill>
                  <a:srgbClr val="0D0D0D"/>
                </a:solidFill>
                <a:latin typeface="楷体" panose="02010609060101010101" pitchFamily="49" charset="-122"/>
                <a:ea typeface="楷体" panose="02010609060101010101" pitchFamily="49" charset="-122"/>
                <a:cs typeface="Segoe UI" panose="020B0502040204020203" pitchFamily="34" charset="0"/>
              </a:rPr>
              <a:t>n</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 </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包含</a:t>
            </a:r>
            <a:r>
              <a:rPr lang="zh-CN" altLang="en-US"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的</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每个置换可以看作是元素位置的对称变换</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a:t>
            </a:r>
            <a:endPar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endParaRPr>
          </a:p>
          <a:p>
            <a:pPr marL="0" indent="0" algn="l">
              <a:buNone/>
            </a:pPr>
            <a:r>
              <a:rPr lang="zh-CN" altLang="en-US" sz="1200" b="1" dirty="0">
                <a:solidFill>
                  <a:srgbClr val="00B0F0"/>
                </a:solidFill>
                <a:latin typeface="+mn-ea"/>
              </a:rPr>
              <a:t>例</a:t>
            </a:r>
            <a:r>
              <a:rPr lang="en-US" altLang="zh-CN" sz="1200" b="1" dirty="0">
                <a:solidFill>
                  <a:srgbClr val="00B0F0"/>
                </a:solidFill>
                <a:latin typeface="+mn-ea"/>
              </a:rPr>
              <a:t>: </a:t>
            </a:r>
            <a:r>
              <a:rPr lang="zh-CN" altLang="zh-CN" sz="1200" b="1" kern="100" dirty="0">
                <a:solidFill>
                  <a:srgbClr val="000000"/>
                </a:solidFill>
                <a:effectLst/>
                <a:latin typeface="Times New Roman" panose="02020603050405020304" pitchFamily="18" charset="0"/>
                <a:ea typeface="+mn-ea"/>
                <a:cs typeface="Times New Roman" panose="02020603050405020304" pitchFamily="18" charset="0"/>
              </a:rPr>
              <a:t>正三角形</a:t>
            </a:r>
            <a:r>
              <a:rPr lang="en-US" altLang="zh-CN" sz="1200" b="1" i="1" kern="100" dirty="0">
                <a:solidFill>
                  <a:srgbClr val="000000"/>
                </a:solidFill>
                <a:effectLst/>
                <a:latin typeface="Times New Roman" panose="02020603050405020304" pitchFamily="18" charset="0"/>
                <a:ea typeface="+mn-ea"/>
                <a:cs typeface="Times New Roman" panose="02020603050405020304" pitchFamily="18" charset="0"/>
              </a:rPr>
              <a:t>A</a:t>
            </a:r>
            <a:r>
              <a:rPr lang="en-US" altLang="zh-CN" sz="1200" b="1" kern="100" dirty="0">
                <a:solidFill>
                  <a:srgbClr val="000000"/>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rgbClr val="000000"/>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rgbClr val="000000"/>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rgbClr val="000000"/>
                </a:solidFill>
                <a:effectLst/>
                <a:latin typeface="Times New Roman" panose="02020603050405020304" pitchFamily="18" charset="0"/>
                <a:ea typeface="+mn-ea"/>
                <a:cs typeface="Times New Roman" panose="02020603050405020304" pitchFamily="18" charset="0"/>
              </a:rPr>
              <a:t>C</a:t>
            </a:r>
            <a:r>
              <a:rPr lang="zh-CN" altLang="zh-CN" sz="1200" b="1" kern="100" dirty="0">
                <a:solidFill>
                  <a:srgbClr val="000000"/>
                </a:solidFill>
                <a:effectLst/>
                <a:latin typeface="Times New Roman" panose="02020603050405020304" pitchFamily="18" charset="0"/>
                <a:ea typeface="+mn-ea"/>
                <a:cs typeface="Times New Roman" panose="02020603050405020304" pitchFamily="18" charset="0"/>
              </a:rPr>
              <a:t>的对称群</a:t>
            </a:r>
            <a:r>
              <a:rPr lang="en-US" altLang="zh-CN" sz="1200" b="1" i="1" kern="100" dirty="0">
                <a:solidFill>
                  <a:srgbClr val="0D0D0D"/>
                </a:solidFill>
                <a:effectLst/>
                <a:latin typeface="KaTeX_Math"/>
                <a:ea typeface="+mn-ea"/>
                <a:cs typeface="Times New Roman" panose="02020603050405020304" pitchFamily="18" charset="0"/>
              </a:rPr>
              <a:t>D</a:t>
            </a:r>
            <a:r>
              <a:rPr lang="en-US" altLang="zh-CN" sz="1200" b="1" kern="100" baseline="-25000" dirty="0">
                <a:solidFill>
                  <a:srgbClr val="0D0D0D"/>
                </a:solidFill>
                <a:effectLst/>
                <a:latin typeface="Times New Roman" panose="02020603050405020304" pitchFamily="18" charset="0"/>
                <a:ea typeface="+mn-ea"/>
                <a:cs typeface="Times New Roman" panose="02020603050405020304" pitchFamily="18" charset="0"/>
              </a:rPr>
              <a:t>3</a:t>
            </a:r>
            <a:r>
              <a:rPr lang="en-US" altLang="zh-CN" sz="1200" b="1" kern="100" dirty="0">
                <a:solidFill>
                  <a:srgbClr val="0D0D0D"/>
                </a:solidFill>
                <a:effectLst/>
                <a:latin typeface="Times New Roman" panose="02020603050405020304" pitchFamily="18" charset="0"/>
                <a:ea typeface="+mn-ea"/>
                <a:cs typeface="Times New Roman" panose="02020603050405020304" pitchFamily="18" charset="0"/>
              </a:rPr>
              <a:t>​</a:t>
            </a:r>
            <a:r>
              <a:rPr lang="zh-CN" altLang="zh-CN" sz="1200" b="1" kern="100" dirty="0">
                <a:effectLst/>
                <a:latin typeface="Times New Roman" panose="02020603050405020304" pitchFamily="18" charset="0"/>
                <a:ea typeface="+mn-ea"/>
                <a:cs typeface="Times New Roman" panose="02020603050405020304" pitchFamily="18" charset="0"/>
              </a:rPr>
              <a:t> </a:t>
            </a:r>
            <a:r>
              <a:rPr lang="zh-CN" altLang="zh-CN" sz="1200" b="1" kern="100" dirty="0">
                <a:solidFill>
                  <a:srgbClr val="000000"/>
                </a:solidFill>
                <a:effectLst/>
                <a:latin typeface="Times New Roman" panose="02020603050405020304" pitchFamily="18" charset="0"/>
                <a:ea typeface="+mn-ea"/>
                <a:cs typeface="Times New Roman" panose="02020603050405020304" pitchFamily="18" charset="0"/>
              </a:rPr>
              <a:t>包括</a:t>
            </a:r>
            <a:r>
              <a:rPr lang="zh-CN" altLang="en-US" sz="1200" b="1" kern="100" dirty="0">
                <a:solidFill>
                  <a:srgbClr val="000000"/>
                </a:solidFill>
                <a:latin typeface="Times New Roman" panose="02020603050405020304" pitchFamily="18" charset="0"/>
                <a:ea typeface="+mn-ea"/>
                <a:cs typeface="Times New Roman" panose="02020603050405020304" pitchFamily="18" charset="0"/>
              </a:rPr>
              <a:t>的</a:t>
            </a:r>
            <a:r>
              <a:rPr lang="zh-CN" altLang="zh-CN" sz="1200" b="1" kern="100" dirty="0">
                <a:solidFill>
                  <a:srgbClr val="000000"/>
                </a:solidFill>
                <a:effectLst/>
                <a:latin typeface="Times New Roman" panose="02020603050405020304" pitchFamily="18" charset="0"/>
                <a:ea typeface="+mn-ea"/>
                <a:cs typeface="Times New Roman" panose="02020603050405020304" pitchFamily="18" charset="0"/>
              </a:rPr>
              <a:t>以下变换</a:t>
            </a:r>
            <a:r>
              <a:rPr lang="zh-CN" altLang="en-US" sz="1200" b="1" kern="100" dirty="0">
                <a:solidFill>
                  <a:srgbClr val="000000"/>
                </a:solidFill>
                <a:effectLst/>
                <a:latin typeface="Times New Roman" panose="02020603050405020304" pitchFamily="18" charset="0"/>
                <a:ea typeface="+mn-ea"/>
                <a:cs typeface="Times New Roman" panose="02020603050405020304" pitchFamily="18" charset="0"/>
              </a:rPr>
              <a:t>体现了</a:t>
            </a:r>
            <a:r>
              <a:rPr lang="zh-CN" altLang="zh-CN" sz="1200" b="1" kern="100" dirty="0">
                <a:solidFill>
                  <a:srgbClr val="000000"/>
                </a:solidFill>
                <a:effectLst/>
                <a:latin typeface="Times New Roman" panose="02020603050405020304" pitchFamily="18" charset="0"/>
                <a:ea typeface="+mn-ea"/>
                <a:cs typeface="Times New Roman" panose="02020603050405020304" pitchFamily="18" charset="0"/>
              </a:rPr>
              <a:t>群</a:t>
            </a:r>
            <a:r>
              <a:rPr lang="zh-CN" altLang="en-US" sz="1200" b="1" kern="100" dirty="0">
                <a:solidFill>
                  <a:srgbClr val="000000"/>
                </a:solidFill>
                <a:effectLst/>
                <a:latin typeface="Times New Roman" panose="02020603050405020304" pitchFamily="18" charset="0"/>
                <a:ea typeface="+mn-ea"/>
                <a:cs typeface="Times New Roman" panose="02020603050405020304" pitchFamily="18" charset="0"/>
              </a:rPr>
              <a:t>的对称性</a:t>
            </a:r>
            <a:r>
              <a:rPr lang="zh-CN" altLang="zh-CN" sz="1200" b="1" kern="100" dirty="0">
                <a:effectLst/>
                <a:latin typeface="Times New Roman" panose="02020603050405020304" pitchFamily="18" charset="0"/>
                <a:ea typeface="+mn-ea"/>
                <a:cs typeface="Times New Roman" panose="02020603050405020304" pitchFamily="18" charset="0"/>
              </a:rPr>
              <a:t>：</a:t>
            </a:r>
          </a:p>
          <a:p>
            <a:pPr marL="514350" indent="-285750">
              <a:buFont typeface="Wingdings" panose="05000000000000000000" pitchFamily="2" charset="2"/>
              <a:buChar char="Ø"/>
            </a:pPr>
            <a:r>
              <a:rPr lang="en-US" altLang="zh-CN" sz="1200" kern="100" dirty="0">
                <a:effectLst/>
                <a:latin typeface="Times New Roman" panose="02020603050405020304" pitchFamily="18" charset="0"/>
                <a:ea typeface="+mn-ea"/>
                <a:cs typeface="Times New Roman" panose="02020603050405020304" pitchFamily="18" charset="0"/>
              </a:rPr>
              <a:t>120</a:t>
            </a:r>
            <a:r>
              <a:rPr lang="zh-CN" altLang="zh-CN" sz="1200" kern="100" dirty="0">
                <a:effectLst/>
                <a:latin typeface="Times New Roman" panose="02020603050405020304" pitchFamily="18" charset="0"/>
                <a:ea typeface="+mn-ea"/>
                <a:cs typeface="Times New Roman" panose="02020603050405020304" pitchFamily="18" charset="0"/>
              </a:rPr>
              <a:t>度顺时针旋转</a:t>
            </a:r>
            <a:r>
              <a:rPr lang="zh-CN" altLang="en-US" sz="1200" kern="100" dirty="0">
                <a:effectLst/>
                <a:latin typeface="Times New Roman" panose="02020603050405020304" pitchFamily="18" charset="0"/>
                <a:ea typeface="+mn-ea"/>
                <a:cs typeface="Times New Roman" panose="02020603050405020304" pitchFamily="18" charset="0"/>
              </a:rPr>
              <a:t>可表示为</a:t>
            </a:r>
            <a:r>
              <a:rPr lang="zh-CN" altLang="zh-CN" sz="1200" kern="100" dirty="0">
                <a:solidFill>
                  <a:srgbClr val="000000"/>
                </a:solidFill>
                <a:effectLst/>
                <a:latin typeface="Times New Roman" panose="02020603050405020304" pitchFamily="18" charset="0"/>
                <a:ea typeface="+mn-ea"/>
                <a:cs typeface="Times New Roman" panose="02020603050405020304" pitchFamily="18" charset="0"/>
              </a:rPr>
              <a:t>群</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D</a:t>
            </a:r>
            <a:r>
              <a:rPr lang="en-US" altLang="zh-CN" sz="1200" kern="100" baseline="-25000" dirty="0">
                <a:solidFill>
                  <a:srgbClr val="0D0D0D"/>
                </a:solidFill>
                <a:effectLst/>
                <a:latin typeface="Times New Roman" panose="02020603050405020304" pitchFamily="18" charset="0"/>
                <a:ea typeface="+mn-ea"/>
                <a:cs typeface="Times New Roman" panose="02020603050405020304" pitchFamily="18" charset="0"/>
              </a:rPr>
              <a:t>3  </a:t>
            </a:r>
            <a:r>
              <a:rPr lang="zh-CN" altLang="en-US" sz="1200" kern="100" dirty="0">
                <a:effectLst/>
                <a:latin typeface="Times New Roman" panose="02020603050405020304" pitchFamily="18" charset="0"/>
                <a:ea typeface="+mn-ea"/>
                <a:cs typeface="Times New Roman" panose="02020603050405020304" pitchFamily="18" charset="0"/>
              </a:rPr>
              <a:t>的轮换</a:t>
            </a:r>
            <a:r>
              <a:rPr lang="zh-CN" altLang="zh-CN" sz="1200" kern="100" dirty="0">
                <a:effectLst/>
                <a:latin typeface="Times New Roman" panose="02020603050405020304" pitchFamily="18" charset="0"/>
                <a:ea typeface="+mn-ea"/>
                <a:cs typeface="Times New Roman" panose="02020603050405020304" pitchFamily="18" charset="0"/>
              </a:rPr>
              <a:t>置换</a:t>
            </a:r>
            <a:r>
              <a:rPr lang="zh-CN" altLang="zh-CN" sz="1200" kern="100" dirty="0">
                <a:solidFill>
                  <a:srgbClr val="0D0D0D"/>
                </a:solidFill>
                <a:effectLst/>
                <a:latin typeface="Times New Roman" panose="02020603050405020304" pitchFamily="18" charset="0"/>
                <a:ea typeface="+mn-ea"/>
                <a:cs typeface="Times New Roman" panose="02020603050405020304" pitchFamily="18" charset="0"/>
              </a:rPr>
              <a:t> </a:t>
            </a:r>
            <a:r>
              <a:rPr lang="en-US" altLang="zh-CN" sz="1200" kern="100" dirty="0">
                <a:solidFill>
                  <a:srgbClr val="0D0D0D"/>
                </a:solidFill>
                <a:effectLst/>
                <a:latin typeface="Times New Roman" panose="02020603050405020304" pitchFamily="18" charset="0"/>
                <a:ea typeface="+mn-ea"/>
                <a:cs typeface="Times New Roman" panose="02020603050405020304" pitchFamily="18" charset="0"/>
              </a:rPr>
              <a:t>(</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A</a:t>
            </a:r>
            <a:r>
              <a:rPr lang="zh-CN" altLang="zh-CN" sz="1200" i="1" kern="100" dirty="0">
                <a:solidFill>
                  <a:srgbClr val="0D0D0D"/>
                </a:solidFill>
                <a:effectLst/>
                <a:latin typeface="Times New Roman" panose="02020603050405020304" pitchFamily="18" charset="0"/>
                <a:ea typeface="+mn-ea"/>
                <a:cs typeface="Times New Roman" panose="02020603050405020304" pitchFamily="18" charset="0"/>
              </a:rPr>
              <a:t>BC</a:t>
            </a:r>
            <a:r>
              <a:rPr lang="en-US" altLang="zh-CN" sz="1200" kern="100" dirty="0">
                <a:solidFill>
                  <a:srgbClr val="0D0D0D"/>
                </a:solidFill>
                <a:effectLst/>
                <a:latin typeface="Times New Roman" panose="02020603050405020304" pitchFamily="18" charset="0"/>
                <a:ea typeface="+mn-ea"/>
                <a:cs typeface="Times New Roman" panose="02020603050405020304" pitchFamily="18" charset="0"/>
              </a:rPr>
              <a:t>)</a:t>
            </a:r>
            <a:r>
              <a:rPr lang="zh-CN" altLang="zh-CN" sz="1200" kern="100" dirty="0">
                <a:effectLst/>
                <a:latin typeface="Times New Roman" panose="02020603050405020304" pitchFamily="18" charset="0"/>
                <a:ea typeface="+mn-ea"/>
                <a:cs typeface="Times New Roman" panose="02020603050405020304" pitchFamily="18" charset="0"/>
              </a:rPr>
              <a:t> </a:t>
            </a:r>
            <a:endParaRPr lang="en-US" altLang="zh-CN" sz="1200" kern="100" dirty="0">
              <a:effectLst/>
              <a:latin typeface="Times New Roman" panose="02020603050405020304" pitchFamily="18" charset="0"/>
              <a:ea typeface="+mn-ea"/>
              <a:cs typeface="Times New Roman" panose="02020603050405020304" pitchFamily="18" charset="0"/>
            </a:endParaRPr>
          </a:p>
          <a:p>
            <a:pPr marL="514350" indent="-285750">
              <a:buFont typeface="Wingdings" panose="05000000000000000000" pitchFamily="2" charset="2"/>
              <a:buChar char="Ø"/>
            </a:pPr>
            <a:r>
              <a:rPr lang="en-US" altLang="zh-CN" sz="1200" kern="100" dirty="0">
                <a:effectLst/>
                <a:latin typeface="Times New Roman" panose="02020603050405020304" pitchFamily="18" charset="0"/>
                <a:ea typeface="+mn-ea"/>
                <a:cs typeface="Times New Roman" panose="02020603050405020304" pitchFamily="18" charset="0"/>
              </a:rPr>
              <a:t>240</a:t>
            </a:r>
            <a:r>
              <a:rPr lang="zh-CN" altLang="zh-CN" sz="1200" kern="100" dirty="0">
                <a:effectLst/>
                <a:latin typeface="Times New Roman" panose="02020603050405020304" pitchFamily="18" charset="0"/>
                <a:ea typeface="+mn-ea"/>
                <a:cs typeface="Times New Roman" panose="02020603050405020304" pitchFamily="18" charset="0"/>
              </a:rPr>
              <a:t>度顺时针旋转</a:t>
            </a:r>
            <a:r>
              <a:rPr lang="zh-CN" altLang="en-US" sz="1200" kern="100" dirty="0">
                <a:effectLst/>
                <a:latin typeface="Times New Roman" panose="02020603050405020304" pitchFamily="18" charset="0"/>
                <a:ea typeface="+mn-ea"/>
                <a:cs typeface="Times New Roman" panose="02020603050405020304" pitchFamily="18" charset="0"/>
              </a:rPr>
              <a:t>可表示为</a:t>
            </a:r>
            <a:r>
              <a:rPr lang="zh-CN" altLang="zh-CN" sz="1200" kern="100" dirty="0">
                <a:solidFill>
                  <a:srgbClr val="000000"/>
                </a:solidFill>
                <a:effectLst/>
                <a:latin typeface="Times New Roman" panose="02020603050405020304" pitchFamily="18" charset="0"/>
                <a:ea typeface="+mn-ea"/>
                <a:cs typeface="Times New Roman" panose="02020603050405020304" pitchFamily="18" charset="0"/>
              </a:rPr>
              <a:t>群</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D</a:t>
            </a:r>
            <a:r>
              <a:rPr lang="en-US" altLang="zh-CN" sz="1200" kern="100" baseline="-25000" dirty="0">
                <a:solidFill>
                  <a:srgbClr val="0D0D0D"/>
                </a:solidFill>
                <a:effectLst/>
                <a:latin typeface="Times New Roman" panose="02020603050405020304" pitchFamily="18" charset="0"/>
                <a:ea typeface="+mn-ea"/>
                <a:cs typeface="Times New Roman" panose="02020603050405020304" pitchFamily="18" charset="0"/>
              </a:rPr>
              <a:t>3  </a:t>
            </a:r>
            <a:r>
              <a:rPr lang="zh-CN" altLang="en-US" sz="1200" kern="100" dirty="0">
                <a:effectLst/>
                <a:latin typeface="Times New Roman" panose="02020603050405020304" pitchFamily="18" charset="0"/>
                <a:ea typeface="+mn-ea"/>
                <a:cs typeface="Times New Roman" panose="02020603050405020304" pitchFamily="18" charset="0"/>
              </a:rPr>
              <a:t>的轮换</a:t>
            </a:r>
            <a:r>
              <a:rPr lang="zh-CN" altLang="zh-CN" sz="1200" kern="100" dirty="0">
                <a:effectLst/>
                <a:latin typeface="Times New Roman" panose="02020603050405020304" pitchFamily="18" charset="0"/>
                <a:ea typeface="+mn-ea"/>
                <a:cs typeface="Times New Roman" panose="02020603050405020304" pitchFamily="18" charset="0"/>
              </a:rPr>
              <a:t>置换</a:t>
            </a:r>
            <a:r>
              <a:rPr lang="zh-CN" altLang="zh-CN" sz="1200" kern="100" dirty="0">
                <a:solidFill>
                  <a:srgbClr val="0D0D0D"/>
                </a:solidFill>
                <a:effectLst/>
                <a:latin typeface="Times New Roman" panose="02020603050405020304" pitchFamily="18" charset="0"/>
                <a:ea typeface="+mn-ea"/>
                <a:cs typeface="Times New Roman" panose="02020603050405020304" pitchFamily="18" charset="0"/>
              </a:rPr>
              <a:t> </a:t>
            </a:r>
            <a:r>
              <a:rPr lang="en-US" altLang="zh-CN" sz="1200" kern="100" dirty="0">
                <a:effectLst/>
                <a:latin typeface="Times New Roman" panose="02020603050405020304" pitchFamily="18" charset="0"/>
                <a:ea typeface="+mn-ea"/>
                <a:cs typeface="Times New Roman" panose="02020603050405020304" pitchFamily="18" charset="0"/>
              </a:rPr>
              <a:t>(</a:t>
            </a:r>
            <a:r>
              <a:rPr lang="en-US" altLang="zh-CN" sz="1200" i="1" kern="100" dirty="0">
                <a:effectLst/>
                <a:latin typeface="Times New Roman" panose="02020603050405020304" pitchFamily="18" charset="0"/>
                <a:ea typeface="+mn-ea"/>
                <a:cs typeface="Times New Roman" panose="02020603050405020304" pitchFamily="18" charset="0"/>
              </a:rPr>
              <a:t>ACB</a:t>
            </a:r>
            <a:r>
              <a:rPr lang="en-US" altLang="zh-CN" sz="1200" kern="100" dirty="0">
                <a:effectLst/>
                <a:latin typeface="Times New Roman" panose="02020603050405020304" pitchFamily="18" charset="0"/>
                <a:ea typeface="+mn-ea"/>
                <a:cs typeface="Times New Roman" panose="02020603050405020304" pitchFamily="18" charset="0"/>
              </a:rPr>
              <a:t>)</a:t>
            </a:r>
          </a:p>
          <a:p>
            <a:pPr marL="514350" indent="-285750" algn="l">
              <a:buFont typeface="Wingdings" panose="05000000000000000000" pitchFamily="2" charset="2"/>
              <a:buChar char="Ø"/>
            </a:pPr>
            <a:r>
              <a:rPr lang="zh-CN" altLang="zh-CN" sz="1200" kern="100" dirty="0">
                <a:effectLst/>
                <a:latin typeface="Times New Roman" panose="02020603050405020304" pitchFamily="18" charset="0"/>
                <a:ea typeface="+mn-ea"/>
                <a:cs typeface="Times New Roman" panose="02020603050405020304" pitchFamily="18" charset="0"/>
              </a:rPr>
              <a:t>沿顶点</a:t>
            </a:r>
            <a:r>
              <a:rPr lang="en-US" altLang="zh-CN" sz="1200" kern="100" dirty="0">
                <a:effectLst/>
                <a:latin typeface="Times New Roman" panose="02020603050405020304" pitchFamily="18" charset="0"/>
                <a:ea typeface="+mn-ea"/>
                <a:cs typeface="Times New Roman" panose="02020603050405020304" pitchFamily="18" charset="0"/>
              </a:rPr>
              <a:t>A</a:t>
            </a:r>
            <a:r>
              <a:rPr lang="zh-CN" altLang="zh-CN" sz="1200" kern="100" dirty="0">
                <a:effectLst/>
                <a:latin typeface="Times New Roman" panose="02020603050405020304" pitchFamily="18" charset="0"/>
                <a:ea typeface="+mn-ea"/>
                <a:cs typeface="Times New Roman" panose="02020603050405020304" pitchFamily="18" charset="0"/>
              </a:rPr>
              <a:t>和对边中点连线的反射</a:t>
            </a:r>
            <a:r>
              <a:rPr lang="zh-CN" altLang="en-US" sz="1200" kern="100" dirty="0">
                <a:effectLst/>
                <a:latin typeface="Times New Roman" panose="02020603050405020304" pitchFamily="18" charset="0"/>
                <a:ea typeface="+mn-ea"/>
                <a:cs typeface="Times New Roman" panose="02020603050405020304" pitchFamily="18" charset="0"/>
              </a:rPr>
              <a:t>可表示为</a:t>
            </a:r>
            <a:r>
              <a:rPr lang="zh-CN" altLang="zh-CN" sz="1200" kern="100" dirty="0">
                <a:solidFill>
                  <a:srgbClr val="000000"/>
                </a:solidFill>
                <a:effectLst/>
                <a:latin typeface="Times New Roman" panose="02020603050405020304" pitchFamily="18" charset="0"/>
                <a:ea typeface="+mn-ea"/>
                <a:cs typeface="Times New Roman" panose="02020603050405020304" pitchFamily="18" charset="0"/>
              </a:rPr>
              <a:t>群</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D</a:t>
            </a:r>
            <a:r>
              <a:rPr lang="en-US" altLang="zh-CN" sz="1200" kern="100" baseline="-25000" dirty="0">
                <a:solidFill>
                  <a:srgbClr val="0D0D0D"/>
                </a:solidFill>
                <a:effectLst/>
                <a:latin typeface="Times New Roman" panose="02020603050405020304" pitchFamily="18" charset="0"/>
                <a:ea typeface="+mn-ea"/>
                <a:cs typeface="Times New Roman" panose="02020603050405020304" pitchFamily="18" charset="0"/>
              </a:rPr>
              <a:t>3  </a:t>
            </a:r>
            <a:r>
              <a:rPr lang="zh-CN" altLang="en-US" sz="1200" kern="100" dirty="0">
                <a:effectLst/>
                <a:latin typeface="Times New Roman" panose="02020603050405020304" pitchFamily="18" charset="0"/>
                <a:ea typeface="+mn-ea"/>
                <a:cs typeface="Times New Roman" panose="02020603050405020304" pitchFamily="18" charset="0"/>
              </a:rPr>
              <a:t>的轮换</a:t>
            </a:r>
            <a:r>
              <a:rPr lang="zh-CN" altLang="zh-CN" sz="1200" kern="100" dirty="0">
                <a:effectLst/>
                <a:latin typeface="Times New Roman" panose="02020603050405020304" pitchFamily="18" charset="0"/>
                <a:ea typeface="+mn-ea"/>
                <a:cs typeface="Times New Roman" panose="02020603050405020304" pitchFamily="18" charset="0"/>
              </a:rPr>
              <a:t>置换</a:t>
            </a:r>
            <a:r>
              <a:rPr lang="zh-CN" altLang="zh-CN" sz="1200" kern="100" dirty="0">
                <a:solidFill>
                  <a:srgbClr val="0D0D0D"/>
                </a:solidFill>
                <a:effectLst/>
                <a:latin typeface="Times New Roman" panose="02020603050405020304" pitchFamily="18" charset="0"/>
                <a:ea typeface="+mn-ea"/>
                <a:cs typeface="Times New Roman" panose="02020603050405020304" pitchFamily="18" charset="0"/>
              </a:rPr>
              <a:t> </a:t>
            </a:r>
            <a:r>
              <a:rPr lang="en-US" altLang="zh-CN" sz="1200" kern="100" dirty="0">
                <a:effectLst/>
                <a:latin typeface="Times New Roman" panose="02020603050405020304" pitchFamily="18" charset="0"/>
                <a:ea typeface="+mn-ea"/>
                <a:cs typeface="Times New Roman" panose="02020603050405020304" pitchFamily="18" charset="0"/>
              </a:rPr>
              <a:t>(</a:t>
            </a:r>
            <a:r>
              <a:rPr lang="en-US" altLang="zh-CN" sz="1200" i="1" kern="100" dirty="0">
                <a:effectLst/>
                <a:latin typeface="Times New Roman" panose="02020603050405020304" pitchFamily="18" charset="0"/>
                <a:ea typeface="+mn-ea"/>
                <a:cs typeface="Times New Roman" panose="02020603050405020304" pitchFamily="18" charset="0"/>
              </a:rPr>
              <a:t>BC</a:t>
            </a:r>
            <a:r>
              <a:rPr lang="en-US" altLang="zh-CN" sz="1200" kern="100" dirty="0">
                <a:effectLst/>
                <a:latin typeface="Times New Roman" panose="02020603050405020304" pitchFamily="18" charset="0"/>
                <a:ea typeface="+mn-ea"/>
                <a:cs typeface="Times New Roman" panose="02020603050405020304" pitchFamily="18" charset="0"/>
              </a:rPr>
              <a:t>)</a:t>
            </a:r>
            <a:r>
              <a:rPr lang="en-US" altLang="zh-CN" sz="1200" i="1" kern="100" dirty="0">
                <a:effectLst/>
                <a:latin typeface="Times New Roman" panose="02020603050405020304" pitchFamily="18" charset="0"/>
                <a:ea typeface="+mn-ea"/>
                <a:cs typeface="Times New Roman" panose="02020603050405020304" pitchFamily="18" charset="0"/>
              </a:rPr>
              <a:t> </a:t>
            </a:r>
          </a:p>
          <a:p>
            <a:pPr marL="514350" indent="-285750" algn="l">
              <a:buFont typeface="Wingdings" panose="05000000000000000000" pitchFamily="2" charset="2"/>
              <a:buChar char="Ø"/>
            </a:pPr>
            <a:r>
              <a:rPr lang="zh-CN" altLang="zh-CN" sz="1200" kern="100" dirty="0">
                <a:effectLst/>
                <a:latin typeface="Times New Roman" panose="02020603050405020304" pitchFamily="18" charset="0"/>
                <a:ea typeface="+mn-ea"/>
                <a:cs typeface="Times New Roman" panose="02020603050405020304" pitchFamily="18" charset="0"/>
              </a:rPr>
              <a:t>沿顶点</a:t>
            </a:r>
            <a:r>
              <a:rPr lang="en-US" altLang="zh-CN" sz="1200" kern="100" dirty="0">
                <a:effectLst/>
                <a:latin typeface="Times New Roman" panose="02020603050405020304" pitchFamily="18" charset="0"/>
                <a:ea typeface="+mn-ea"/>
                <a:cs typeface="Times New Roman" panose="02020603050405020304" pitchFamily="18" charset="0"/>
              </a:rPr>
              <a:t>B</a:t>
            </a:r>
            <a:r>
              <a:rPr lang="zh-CN" altLang="zh-CN" sz="1200" kern="100" dirty="0">
                <a:effectLst/>
                <a:latin typeface="Times New Roman" panose="02020603050405020304" pitchFamily="18" charset="0"/>
                <a:ea typeface="+mn-ea"/>
                <a:cs typeface="Times New Roman" panose="02020603050405020304" pitchFamily="18" charset="0"/>
              </a:rPr>
              <a:t>和对边中点连线的反射</a:t>
            </a:r>
            <a:r>
              <a:rPr lang="zh-CN" altLang="en-US" sz="1200" kern="100" dirty="0">
                <a:effectLst/>
                <a:latin typeface="Times New Roman" panose="02020603050405020304" pitchFamily="18" charset="0"/>
                <a:ea typeface="+mn-ea"/>
                <a:cs typeface="Times New Roman" panose="02020603050405020304" pitchFamily="18" charset="0"/>
              </a:rPr>
              <a:t>可表示为</a:t>
            </a:r>
            <a:r>
              <a:rPr lang="zh-CN" altLang="zh-CN" sz="1200" kern="100" dirty="0">
                <a:solidFill>
                  <a:srgbClr val="000000"/>
                </a:solidFill>
                <a:effectLst/>
                <a:latin typeface="Times New Roman" panose="02020603050405020304" pitchFamily="18" charset="0"/>
                <a:ea typeface="+mn-ea"/>
                <a:cs typeface="Times New Roman" panose="02020603050405020304" pitchFamily="18" charset="0"/>
              </a:rPr>
              <a:t>群</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D</a:t>
            </a:r>
            <a:r>
              <a:rPr lang="en-US" altLang="zh-CN" sz="1200" kern="100" baseline="-25000" dirty="0">
                <a:solidFill>
                  <a:srgbClr val="0D0D0D"/>
                </a:solidFill>
                <a:effectLst/>
                <a:latin typeface="Times New Roman" panose="02020603050405020304" pitchFamily="18" charset="0"/>
                <a:ea typeface="+mn-ea"/>
                <a:cs typeface="Times New Roman" panose="02020603050405020304" pitchFamily="18" charset="0"/>
              </a:rPr>
              <a:t>3  </a:t>
            </a:r>
            <a:r>
              <a:rPr lang="zh-CN" altLang="en-US" sz="1200" kern="100" dirty="0">
                <a:effectLst/>
                <a:latin typeface="Times New Roman" panose="02020603050405020304" pitchFamily="18" charset="0"/>
                <a:ea typeface="+mn-ea"/>
                <a:cs typeface="Times New Roman" panose="02020603050405020304" pitchFamily="18" charset="0"/>
              </a:rPr>
              <a:t>的轮换</a:t>
            </a:r>
            <a:r>
              <a:rPr lang="zh-CN" altLang="zh-CN" sz="1200" kern="100" dirty="0">
                <a:effectLst/>
                <a:latin typeface="Times New Roman" panose="02020603050405020304" pitchFamily="18" charset="0"/>
                <a:ea typeface="+mn-ea"/>
                <a:cs typeface="Times New Roman" panose="02020603050405020304" pitchFamily="18" charset="0"/>
              </a:rPr>
              <a:t>置换</a:t>
            </a:r>
            <a:r>
              <a:rPr lang="zh-CN" altLang="zh-CN" sz="1200" kern="100" dirty="0">
                <a:solidFill>
                  <a:srgbClr val="0D0D0D"/>
                </a:solidFill>
                <a:effectLst/>
                <a:latin typeface="Times New Roman" panose="02020603050405020304" pitchFamily="18" charset="0"/>
                <a:ea typeface="+mn-ea"/>
                <a:cs typeface="Times New Roman" panose="02020603050405020304" pitchFamily="18" charset="0"/>
              </a:rPr>
              <a:t> </a:t>
            </a:r>
            <a:r>
              <a:rPr lang="en-US" altLang="zh-CN" sz="1200" kern="100" dirty="0">
                <a:effectLst/>
                <a:latin typeface="Times New Roman" panose="02020603050405020304" pitchFamily="18" charset="0"/>
                <a:ea typeface="+mn-ea"/>
                <a:cs typeface="Times New Roman" panose="02020603050405020304" pitchFamily="18" charset="0"/>
              </a:rPr>
              <a:t>(</a:t>
            </a:r>
            <a:r>
              <a:rPr lang="en-US" altLang="zh-CN" sz="1200" i="1" kern="100" dirty="0">
                <a:effectLst/>
                <a:latin typeface="Times New Roman" panose="02020603050405020304" pitchFamily="18" charset="0"/>
                <a:ea typeface="+mn-ea"/>
                <a:cs typeface="Times New Roman" panose="02020603050405020304" pitchFamily="18" charset="0"/>
              </a:rPr>
              <a:t>AC</a:t>
            </a:r>
            <a:r>
              <a:rPr lang="en-US" altLang="zh-CN" sz="1200" kern="100" dirty="0">
                <a:effectLst/>
                <a:latin typeface="Times New Roman" panose="02020603050405020304" pitchFamily="18" charset="0"/>
                <a:ea typeface="+mn-ea"/>
                <a:cs typeface="Times New Roman" panose="02020603050405020304" pitchFamily="18" charset="0"/>
              </a:rPr>
              <a:t>)</a:t>
            </a:r>
          </a:p>
          <a:p>
            <a:pPr marL="514350" indent="-285750" algn="l">
              <a:buFont typeface="Wingdings" panose="05000000000000000000" pitchFamily="2" charset="2"/>
              <a:buChar char="Ø"/>
            </a:pPr>
            <a:r>
              <a:rPr lang="zh-CN" altLang="zh-CN" sz="1200" kern="100" dirty="0">
                <a:effectLst/>
                <a:latin typeface="Times New Roman" panose="02020603050405020304" pitchFamily="18" charset="0"/>
                <a:ea typeface="+mn-ea"/>
                <a:cs typeface="Times New Roman" panose="02020603050405020304" pitchFamily="18" charset="0"/>
              </a:rPr>
              <a:t>沿顶点</a:t>
            </a:r>
            <a:r>
              <a:rPr lang="en-US" altLang="zh-CN" sz="1200" kern="100" dirty="0">
                <a:effectLst/>
                <a:latin typeface="Times New Roman" panose="02020603050405020304" pitchFamily="18" charset="0"/>
                <a:ea typeface="+mn-ea"/>
                <a:cs typeface="Times New Roman" panose="02020603050405020304" pitchFamily="18" charset="0"/>
              </a:rPr>
              <a:t>C</a:t>
            </a:r>
            <a:r>
              <a:rPr lang="zh-CN" altLang="zh-CN" sz="1200" kern="100" dirty="0">
                <a:effectLst/>
                <a:latin typeface="Times New Roman" panose="02020603050405020304" pitchFamily="18" charset="0"/>
                <a:ea typeface="+mn-ea"/>
                <a:cs typeface="Times New Roman" panose="02020603050405020304" pitchFamily="18" charset="0"/>
              </a:rPr>
              <a:t>和对边中点连线的反射</a:t>
            </a:r>
            <a:r>
              <a:rPr lang="zh-CN" altLang="en-US" sz="1200" kern="100" dirty="0">
                <a:effectLst/>
                <a:latin typeface="Times New Roman" panose="02020603050405020304" pitchFamily="18" charset="0"/>
                <a:ea typeface="+mn-ea"/>
                <a:cs typeface="Times New Roman" panose="02020603050405020304" pitchFamily="18" charset="0"/>
              </a:rPr>
              <a:t>可表示为</a:t>
            </a:r>
            <a:r>
              <a:rPr lang="zh-CN" altLang="zh-CN" sz="1200" kern="100" dirty="0">
                <a:solidFill>
                  <a:srgbClr val="000000"/>
                </a:solidFill>
                <a:effectLst/>
                <a:latin typeface="Times New Roman" panose="02020603050405020304" pitchFamily="18" charset="0"/>
                <a:ea typeface="+mn-ea"/>
                <a:cs typeface="Times New Roman" panose="02020603050405020304" pitchFamily="18" charset="0"/>
              </a:rPr>
              <a:t>群</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D</a:t>
            </a:r>
            <a:r>
              <a:rPr lang="en-US" altLang="zh-CN" sz="1200" kern="100" baseline="-25000" dirty="0">
                <a:solidFill>
                  <a:srgbClr val="0D0D0D"/>
                </a:solidFill>
                <a:effectLst/>
                <a:latin typeface="Times New Roman" panose="02020603050405020304" pitchFamily="18" charset="0"/>
                <a:ea typeface="+mn-ea"/>
                <a:cs typeface="Times New Roman" panose="02020603050405020304" pitchFamily="18" charset="0"/>
              </a:rPr>
              <a:t>3  </a:t>
            </a:r>
            <a:r>
              <a:rPr lang="zh-CN" altLang="en-US" sz="1200" kern="100" dirty="0">
                <a:effectLst/>
                <a:latin typeface="Times New Roman" panose="02020603050405020304" pitchFamily="18" charset="0"/>
                <a:ea typeface="+mn-ea"/>
                <a:cs typeface="Times New Roman" panose="02020603050405020304" pitchFamily="18" charset="0"/>
              </a:rPr>
              <a:t>的轮换</a:t>
            </a:r>
            <a:r>
              <a:rPr lang="zh-CN" altLang="zh-CN" sz="1200" kern="100" dirty="0">
                <a:effectLst/>
                <a:latin typeface="Times New Roman" panose="02020603050405020304" pitchFamily="18" charset="0"/>
                <a:ea typeface="+mn-ea"/>
                <a:cs typeface="Times New Roman" panose="02020603050405020304" pitchFamily="18" charset="0"/>
              </a:rPr>
              <a:t>置换</a:t>
            </a:r>
            <a:r>
              <a:rPr lang="en-US" altLang="zh-CN" sz="1200" kern="100" dirty="0">
                <a:effectLst/>
                <a:latin typeface="Times New Roman" panose="02020603050405020304" pitchFamily="18" charset="0"/>
                <a:ea typeface="+mn-ea"/>
                <a:cs typeface="Times New Roman" panose="02020603050405020304" pitchFamily="18" charset="0"/>
              </a:rPr>
              <a:t>(</a:t>
            </a:r>
            <a:r>
              <a:rPr lang="en-US" altLang="zh-CN" sz="1200" i="1" kern="100" dirty="0">
                <a:effectLst/>
                <a:latin typeface="Times New Roman" panose="02020603050405020304" pitchFamily="18" charset="0"/>
                <a:ea typeface="+mn-ea"/>
                <a:cs typeface="Times New Roman" panose="02020603050405020304" pitchFamily="18" charset="0"/>
              </a:rPr>
              <a:t>AB</a:t>
            </a:r>
            <a:r>
              <a:rPr lang="en-US" altLang="zh-CN" sz="1200" kern="100" dirty="0">
                <a:effectLst/>
                <a:latin typeface="Times New Roman" panose="02020603050405020304" pitchFamily="18" charset="0"/>
                <a:ea typeface="+mn-ea"/>
                <a:cs typeface="Times New Roman" panose="02020603050405020304" pitchFamily="18" charset="0"/>
              </a:rPr>
              <a:t>)</a:t>
            </a:r>
            <a:endParaRPr lang="zh-CN" altLang="zh-CN" sz="1200" kern="100" dirty="0">
              <a:effectLst/>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112</a:t>
            </a:fld>
            <a:endParaRPr lang="zh-CN" altLang="en-US"/>
          </a:p>
        </p:txBody>
      </p:sp>
    </p:spTree>
    <p:extLst>
      <p:ext uri="{BB962C8B-B14F-4D97-AF65-F5344CB8AC3E}">
        <p14:creationId xmlns:p14="http://schemas.microsoft.com/office/powerpoint/2010/main" val="296066949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l">
              <a:lnSpc>
                <a:spcPct val="100000"/>
              </a:lnSpc>
              <a:buNone/>
            </a:pPr>
            <a:r>
              <a:rPr lang="zh-CN" altLang="zh-CN" sz="1400" b="1" dirty="0">
                <a:solidFill>
                  <a:srgbClr val="FF0000"/>
                </a:solidFill>
                <a:latin typeface="+mn-ea"/>
              </a:rPr>
              <a:t>理解群</a:t>
            </a:r>
            <a:r>
              <a:rPr lang="zh-CN" altLang="en-US" sz="1400" b="1" dirty="0">
                <a:solidFill>
                  <a:srgbClr val="FF0000"/>
                </a:solidFill>
                <a:latin typeface="+mn-ea"/>
              </a:rPr>
              <a:t>的</a:t>
            </a:r>
            <a:r>
              <a:rPr lang="zh-CN" altLang="zh-CN" sz="1400" b="1" dirty="0">
                <a:solidFill>
                  <a:srgbClr val="FF0000"/>
                </a:solidFill>
                <a:latin typeface="+mn-ea"/>
              </a:rPr>
              <a:t>对称性</a:t>
            </a:r>
            <a:r>
              <a:rPr lang="en-US" altLang="zh-CN" sz="1400" b="1" dirty="0">
                <a:solidFill>
                  <a:srgbClr val="FF0000"/>
                </a:solidFill>
                <a:latin typeface="+mn-ea"/>
              </a:rPr>
              <a:t>:</a:t>
            </a:r>
            <a:br>
              <a:rPr lang="en-US" altLang="zh-CN" sz="1800" b="1" dirty="0">
                <a:solidFill>
                  <a:schemeClr val="tx1"/>
                </a:solidFill>
                <a:latin typeface="Times New Roman" panose="02020603050405020304" pitchFamily="18" charset="0"/>
                <a:ea typeface="+mn-ea"/>
              </a:rPr>
            </a:br>
            <a:r>
              <a:rPr lang="en-US" altLang="zh-CN" sz="1200" b="1" dirty="0">
                <a:solidFill>
                  <a:schemeClr val="tx1"/>
                </a:solidFill>
                <a:latin typeface="楷体" panose="02010609060101010101" pitchFamily="49" charset="-122"/>
                <a:ea typeface="楷体" panose="02010609060101010101" pitchFamily="49" charset="-122"/>
              </a:rPr>
              <a:t>(1)</a:t>
            </a:r>
            <a:r>
              <a:rPr lang="zh-CN" altLang="zh-CN" sz="1200" b="1" dirty="0">
                <a:solidFill>
                  <a:srgbClr val="0D0D0D"/>
                </a:solidFill>
                <a:effectLst/>
                <a:latin typeface="楷体" panose="02010609060101010101" pitchFamily="49" charset="-122"/>
                <a:ea typeface="楷体" panose="02010609060101010101" pitchFamily="49" charset="-122"/>
                <a:cs typeface="Segoe UI" panose="020B0502040204020203" pitchFamily="34" charset="0"/>
              </a:rPr>
              <a:t>对称性是指在某种操作下</a:t>
            </a:r>
            <a:r>
              <a:rPr lang="en-US" altLang="zh-CN" sz="1200" b="1" dirty="0">
                <a:solidFill>
                  <a:srgbClr val="0D0D0D"/>
                </a:solidFill>
                <a:effectLst/>
                <a:latin typeface="楷体" panose="02010609060101010101" pitchFamily="49" charset="-122"/>
                <a:ea typeface="楷体" panose="02010609060101010101" pitchFamily="49" charset="-122"/>
                <a:cs typeface="Segoe UI" panose="020B0502040204020203" pitchFamily="34" charset="0"/>
              </a:rPr>
              <a:t>,</a:t>
            </a:r>
            <a:r>
              <a:rPr lang="zh-CN" altLang="zh-CN" sz="1200" b="1" dirty="0">
                <a:solidFill>
                  <a:srgbClr val="0D0D0D"/>
                </a:solidFill>
                <a:effectLst/>
                <a:latin typeface="楷体" panose="02010609060101010101" pitchFamily="49" charset="-122"/>
                <a:ea typeface="楷体" panose="02010609060101010101" pitchFamily="49" charset="-122"/>
                <a:cs typeface="Segoe UI" panose="020B0502040204020203" pitchFamily="34" charset="0"/>
              </a:rPr>
              <a:t>一个对象保持不变的性质</a:t>
            </a:r>
            <a:r>
              <a:rPr lang="en-US" altLang="zh-CN" sz="1200" b="1" dirty="0">
                <a:solidFill>
                  <a:srgbClr val="0D0D0D"/>
                </a:solidFill>
                <a:effectLst/>
                <a:latin typeface="楷体" panose="02010609060101010101" pitchFamily="49" charset="-122"/>
                <a:ea typeface="楷体" panose="02010609060101010101" pitchFamily="49" charset="-122"/>
                <a:cs typeface="Segoe UI" panose="020B0502040204020203" pitchFamily="34" charset="0"/>
              </a:rPr>
              <a:t>. </a:t>
            </a:r>
            <a:r>
              <a:rPr lang="zh-CN" altLang="zh-CN" sz="1200" b="1" dirty="0">
                <a:solidFill>
                  <a:srgbClr val="0D0D0D"/>
                </a:solidFill>
                <a:effectLst/>
                <a:latin typeface="楷体" panose="02010609060101010101" pitchFamily="49" charset="-122"/>
                <a:ea typeface="楷体" panose="02010609060101010101" pitchFamily="49" charset="-122"/>
                <a:cs typeface="Segoe UI" panose="020B0502040204020203" pitchFamily="34" charset="0"/>
              </a:rPr>
              <a:t>这些操作可以是旋转、反射、平移等</a:t>
            </a:r>
            <a:r>
              <a:rPr lang="en-US" altLang="zh-CN" sz="1200" b="1" dirty="0">
                <a:solidFill>
                  <a:schemeClr val="tx1"/>
                </a:solidFill>
                <a:latin typeface="楷体" panose="02010609060101010101" pitchFamily="49" charset="-122"/>
                <a:ea typeface="楷体" panose="02010609060101010101" pitchFamily="49" charset="-122"/>
              </a:rPr>
              <a:t>.</a:t>
            </a:r>
            <a:br>
              <a:rPr lang="zh-CN" altLang="en-US" sz="1200" b="1" dirty="0">
                <a:solidFill>
                  <a:schemeClr val="tx1"/>
                </a:solidFill>
                <a:latin typeface="楷体" panose="02010609060101010101" pitchFamily="49" charset="-122"/>
                <a:ea typeface="楷体" panose="02010609060101010101" pitchFamily="49" charset="-122"/>
              </a:rPr>
            </a:br>
            <a:r>
              <a:rPr lang="en-US" altLang="zh-CN" sz="1200" b="1" dirty="0">
                <a:solidFill>
                  <a:schemeClr val="tx1"/>
                </a:solidFill>
                <a:latin typeface="楷体" panose="02010609060101010101" pitchFamily="49" charset="-122"/>
                <a:ea typeface="楷体" panose="02010609060101010101" pitchFamily="49" charset="-122"/>
              </a:rPr>
              <a:t>(2)</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群的对称性是指在某种操作下对象保持不变的性质，这些操作形成的集合在组合时满足群的四个基本性质（封闭性、结合性、单位元存在性、逆元存在性）</a:t>
            </a:r>
            <a:br>
              <a:rPr lang="zh-CN" altLang="en-US"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br>
            <a:r>
              <a:rPr lang="en-US" altLang="zh-CN" sz="1200" b="1" dirty="0">
                <a:solidFill>
                  <a:schemeClr val="tx1"/>
                </a:solidFill>
                <a:latin typeface="楷体" panose="02010609060101010101" pitchFamily="49" charset="-122"/>
                <a:ea typeface="楷体" panose="02010609060101010101" pitchFamily="49" charset="-122"/>
              </a:rPr>
              <a:t>(3)</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循环群</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a:t>
            </a:r>
            <a:r>
              <a:rPr lang="zh-CN" altLang="en-US"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特殊群</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的对称性体现在周期性重复的结构中</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a:t>
            </a:r>
            <a:endPar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endParaRPr>
          </a:p>
          <a:p>
            <a:pPr marL="0" indent="0">
              <a:lnSpc>
                <a:spcPct val="100000"/>
              </a:lnSpc>
              <a:buNone/>
            </a:pPr>
            <a:r>
              <a:rPr lang="en-US" altLang="zh-CN" sz="1200" b="1" dirty="0">
                <a:solidFill>
                  <a:schemeClr val="tx1"/>
                </a:solidFill>
                <a:latin typeface="楷体" panose="02010609060101010101" pitchFamily="49" charset="-122"/>
                <a:ea typeface="楷体" panose="02010609060101010101" pitchFamily="49" charset="-122"/>
              </a:rPr>
              <a:t>(4)</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置换群</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a:t>
            </a:r>
            <a:r>
              <a:rPr lang="zh-CN" altLang="en-US"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特殊群</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 </a:t>
            </a:r>
            <a:r>
              <a:rPr lang="en-US" altLang="zh-CN" sz="1200" b="1" i="1" dirty="0">
                <a:solidFill>
                  <a:srgbClr val="0D0D0D"/>
                </a:solidFill>
                <a:latin typeface="楷体" panose="02010609060101010101" pitchFamily="49" charset="-122"/>
                <a:ea typeface="楷体" panose="02010609060101010101" pitchFamily="49" charset="-122"/>
                <a:cs typeface="Segoe UI" panose="020B0502040204020203" pitchFamily="34" charset="0"/>
              </a:rPr>
              <a:t>S</a:t>
            </a:r>
            <a:r>
              <a:rPr lang="en-US" altLang="zh-CN" sz="1200" b="1" i="1" baseline="-25000" dirty="0">
                <a:solidFill>
                  <a:srgbClr val="0D0D0D"/>
                </a:solidFill>
                <a:latin typeface="楷体" panose="02010609060101010101" pitchFamily="49" charset="-122"/>
                <a:ea typeface="楷体" panose="02010609060101010101" pitchFamily="49" charset="-122"/>
                <a:cs typeface="Segoe UI" panose="020B0502040204020203" pitchFamily="34" charset="0"/>
              </a:rPr>
              <a:t>n</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 </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包含</a:t>
            </a:r>
            <a:r>
              <a:rPr lang="zh-CN" altLang="en-US"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的</a:t>
            </a:r>
            <a:r>
              <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每个置换可以看作是元素位置的对称变换</a:t>
            </a:r>
            <a:r>
              <a:rPr lang="en-US"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rPr>
              <a:t>.</a:t>
            </a:r>
            <a:endParaRPr lang="zh-CN" altLang="zh-CN" sz="1200" b="1" dirty="0">
              <a:solidFill>
                <a:srgbClr val="0D0D0D"/>
              </a:solidFill>
              <a:latin typeface="楷体" panose="02010609060101010101" pitchFamily="49" charset="-122"/>
              <a:ea typeface="楷体" panose="02010609060101010101" pitchFamily="49" charset="-122"/>
              <a:cs typeface="Segoe UI" panose="020B0502040204020203" pitchFamily="34" charset="0"/>
            </a:endParaRPr>
          </a:p>
          <a:p>
            <a:pPr marL="0" indent="0" algn="l">
              <a:buNone/>
            </a:pPr>
            <a:r>
              <a:rPr lang="zh-CN" altLang="en-US" sz="1200" b="1" dirty="0">
                <a:solidFill>
                  <a:srgbClr val="00B0F0"/>
                </a:solidFill>
                <a:latin typeface="+mn-ea"/>
              </a:rPr>
              <a:t>例</a:t>
            </a:r>
            <a:r>
              <a:rPr lang="en-US" altLang="zh-CN" sz="1200" b="1" dirty="0">
                <a:solidFill>
                  <a:srgbClr val="00B0F0"/>
                </a:solidFill>
                <a:latin typeface="+mn-ea"/>
              </a:rPr>
              <a:t>: </a:t>
            </a:r>
            <a:r>
              <a:rPr lang="zh-CN" altLang="zh-CN" sz="1200" b="1" kern="100" dirty="0">
                <a:solidFill>
                  <a:srgbClr val="000000"/>
                </a:solidFill>
                <a:effectLst/>
                <a:latin typeface="Times New Roman" panose="02020603050405020304" pitchFamily="18" charset="0"/>
                <a:ea typeface="+mn-ea"/>
                <a:cs typeface="Times New Roman" panose="02020603050405020304" pitchFamily="18" charset="0"/>
              </a:rPr>
              <a:t>正三角形</a:t>
            </a:r>
            <a:r>
              <a:rPr lang="en-US" altLang="zh-CN" sz="1200" b="1" i="1" kern="100" dirty="0">
                <a:solidFill>
                  <a:srgbClr val="000000"/>
                </a:solidFill>
                <a:effectLst/>
                <a:latin typeface="Times New Roman" panose="02020603050405020304" pitchFamily="18" charset="0"/>
                <a:ea typeface="+mn-ea"/>
                <a:cs typeface="Times New Roman" panose="02020603050405020304" pitchFamily="18" charset="0"/>
              </a:rPr>
              <a:t>A</a:t>
            </a:r>
            <a:r>
              <a:rPr lang="en-US" altLang="zh-CN" sz="1200" b="1" kern="100" dirty="0">
                <a:solidFill>
                  <a:srgbClr val="000000"/>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rgbClr val="000000"/>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rgbClr val="000000"/>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rgbClr val="000000"/>
                </a:solidFill>
                <a:effectLst/>
                <a:latin typeface="Times New Roman" panose="02020603050405020304" pitchFamily="18" charset="0"/>
                <a:ea typeface="+mn-ea"/>
                <a:cs typeface="Times New Roman" panose="02020603050405020304" pitchFamily="18" charset="0"/>
              </a:rPr>
              <a:t>C</a:t>
            </a:r>
            <a:r>
              <a:rPr lang="zh-CN" altLang="zh-CN" sz="1200" b="1" kern="100" dirty="0">
                <a:solidFill>
                  <a:srgbClr val="000000"/>
                </a:solidFill>
                <a:effectLst/>
                <a:latin typeface="Times New Roman" panose="02020603050405020304" pitchFamily="18" charset="0"/>
                <a:ea typeface="+mn-ea"/>
                <a:cs typeface="Times New Roman" panose="02020603050405020304" pitchFamily="18" charset="0"/>
              </a:rPr>
              <a:t>的对称群</a:t>
            </a:r>
            <a:r>
              <a:rPr lang="en-US" altLang="zh-CN" sz="1200" b="1" i="1" kern="100" dirty="0">
                <a:solidFill>
                  <a:srgbClr val="0D0D0D"/>
                </a:solidFill>
                <a:effectLst/>
                <a:latin typeface="KaTeX_Math"/>
                <a:ea typeface="+mn-ea"/>
                <a:cs typeface="Times New Roman" panose="02020603050405020304" pitchFamily="18" charset="0"/>
              </a:rPr>
              <a:t>D</a:t>
            </a:r>
            <a:r>
              <a:rPr lang="en-US" altLang="zh-CN" sz="1200" b="1" kern="100" baseline="-25000" dirty="0">
                <a:solidFill>
                  <a:srgbClr val="0D0D0D"/>
                </a:solidFill>
                <a:effectLst/>
                <a:latin typeface="Times New Roman" panose="02020603050405020304" pitchFamily="18" charset="0"/>
                <a:ea typeface="+mn-ea"/>
                <a:cs typeface="Times New Roman" panose="02020603050405020304" pitchFamily="18" charset="0"/>
              </a:rPr>
              <a:t>3</a:t>
            </a:r>
            <a:r>
              <a:rPr lang="en-US" altLang="zh-CN" sz="1200" b="1" kern="100" dirty="0">
                <a:solidFill>
                  <a:srgbClr val="0D0D0D"/>
                </a:solidFill>
                <a:effectLst/>
                <a:latin typeface="Times New Roman" panose="02020603050405020304" pitchFamily="18" charset="0"/>
                <a:ea typeface="+mn-ea"/>
                <a:cs typeface="Times New Roman" panose="02020603050405020304" pitchFamily="18" charset="0"/>
              </a:rPr>
              <a:t>​</a:t>
            </a:r>
            <a:r>
              <a:rPr lang="zh-CN" altLang="zh-CN" sz="1200" b="1" kern="100" dirty="0">
                <a:effectLst/>
                <a:latin typeface="Times New Roman" panose="02020603050405020304" pitchFamily="18" charset="0"/>
                <a:ea typeface="+mn-ea"/>
                <a:cs typeface="Times New Roman" panose="02020603050405020304" pitchFamily="18" charset="0"/>
              </a:rPr>
              <a:t> </a:t>
            </a:r>
            <a:r>
              <a:rPr lang="zh-CN" altLang="zh-CN" sz="1200" b="1" kern="100" dirty="0">
                <a:solidFill>
                  <a:srgbClr val="000000"/>
                </a:solidFill>
                <a:effectLst/>
                <a:latin typeface="Times New Roman" panose="02020603050405020304" pitchFamily="18" charset="0"/>
                <a:ea typeface="+mn-ea"/>
                <a:cs typeface="Times New Roman" panose="02020603050405020304" pitchFamily="18" charset="0"/>
              </a:rPr>
              <a:t>包括</a:t>
            </a:r>
            <a:r>
              <a:rPr lang="zh-CN" altLang="en-US" sz="1200" b="1" kern="100" dirty="0">
                <a:solidFill>
                  <a:srgbClr val="000000"/>
                </a:solidFill>
                <a:latin typeface="Times New Roman" panose="02020603050405020304" pitchFamily="18" charset="0"/>
                <a:ea typeface="+mn-ea"/>
                <a:cs typeface="Times New Roman" panose="02020603050405020304" pitchFamily="18" charset="0"/>
              </a:rPr>
              <a:t>的</a:t>
            </a:r>
            <a:r>
              <a:rPr lang="zh-CN" altLang="zh-CN" sz="1200" b="1" kern="100" dirty="0">
                <a:solidFill>
                  <a:srgbClr val="000000"/>
                </a:solidFill>
                <a:effectLst/>
                <a:latin typeface="Times New Roman" panose="02020603050405020304" pitchFamily="18" charset="0"/>
                <a:ea typeface="+mn-ea"/>
                <a:cs typeface="Times New Roman" panose="02020603050405020304" pitchFamily="18" charset="0"/>
              </a:rPr>
              <a:t>以下变换</a:t>
            </a:r>
            <a:r>
              <a:rPr lang="zh-CN" altLang="en-US" sz="1200" b="1" kern="100" dirty="0">
                <a:solidFill>
                  <a:srgbClr val="000000"/>
                </a:solidFill>
                <a:effectLst/>
                <a:latin typeface="Times New Roman" panose="02020603050405020304" pitchFamily="18" charset="0"/>
                <a:ea typeface="+mn-ea"/>
                <a:cs typeface="Times New Roman" panose="02020603050405020304" pitchFamily="18" charset="0"/>
              </a:rPr>
              <a:t>体现了</a:t>
            </a:r>
            <a:r>
              <a:rPr lang="zh-CN" altLang="zh-CN" sz="1200" b="1" kern="100" dirty="0">
                <a:solidFill>
                  <a:srgbClr val="000000"/>
                </a:solidFill>
                <a:effectLst/>
                <a:latin typeface="Times New Roman" panose="02020603050405020304" pitchFamily="18" charset="0"/>
                <a:ea typeface="+mn-ea"/>
                <a:cs typeface="Times New Roman" panose="02020603050405020304" pitchFamily="18" charset="0"/>
              </a:rPr>
              <a:t>群</a:t>
            </a:r>
            <a:r>
              <a:rPr lang="zh-CN" altLang="en-US" sz="1200" b="1" kern="100" dirty="0">
                <a:solidFill>
                  <a:srgbClr val="000000"/>
                </a:solidFill>
                <a:effectLst/>
                <a:latin typeface="Times New Roman" panose="02020603050405020304" pitchFamily="18" charset="0"/>
                <a:ea typeface="+mn-ea"/>
                <a:cs typeface="Times New Roman" panose="02020603050405020304" pitchFamily="18" charset="0"/>
              </a:rPr>
              <a:t>的对称性</a:t>
            </a:r>
            <a:r>
              <a:rPr lang="zh-CN" altLang="zh-CN" sz="1200" b="1" kern="100" dirty="0">
                <a:effectLst/>
                <a:latin typeface="Times New Roman" panose="02020603050405020304" pitchFamily="18" charset="0"/>
                <a:ea typeface="+mn-ea"/>
                <a:cs typeface="Times New Roman" panose="02020603050405020304" pitchFamily="18" charset="0"/>
              </a:rPr>
              <a:t>：</a:t>
            </a:r>
          </a:p>
          <a:p>
            <a:pPr marL="514350" indent="-285750">
              <a:buFont typeface="Wingdings" panose="05000000000000000000" pitchFamily="2" charset="2"/>
              <a:buChar char="Ø"/>
            </a:pPr>
            <a:r>
              <a:rPr lang="en-US" altLang="zh-CN" sz="1200" kern="100" dirty="0">
                <a:effectLst/>
                <a:latin typeface="Times New Roman" panose="02020603050405020304" pitchFamily="18" charset="0"/>
                <a:ea typeface="+mn-ea"/>
                <a:cs typeface="Times New Roman" panose="02020603050405020304" pitchFamily="18" charset="0"/>
              </a:rPr>
              <a:t>120</a:t>
            </a:r>
            <a:r>
              <a:rPr lang="zh-CN" altLang="zh-CN" sz="1200" kern="100" dirty="0">
                <a:effectLst/>
                <a:latin typeface="Times New Roman" panose="02020603050405020304" pitchFamily="18" charset="0"/>
                <a:ea typeface="+mn-ea"/>
                <a:cs typeface="Times New Roman" panose="02020603050405020304" pitchFamily="18" charset="0"/>
              </a:rPr>
              <a:t>度顺时针旋转</a:t>
            </a:r>
            <a:r>
              <a:rPr lang="zh-CN" altLang="en-US" sz="1200" kern="100" dirty="0">
                <a:effectLst/>
                <a:latin typeface="Times New Roman" panose="02020603050405020304" pitchFamily="18" charset="0"/>
                <a:ea typeface="+mn-ea"/>
                <a:cs typeface="Times New Roman" panose="02020603050405020304" pitchFamily="18" charset="0"/>
              </a:rPr>
              <a:t>可表示为</a:t>
            </a:r>
            <a:r>
              <a:rPr lang="zh-CN" altLang="zh-CN" sz="1200" kern="100" dirty="0">
                <a:solidFill>
                  <a:srgbClr val="000000"/>
                </a:solidFill>
                <a:effectLst/>
                <a:latin typeface="Times New Roman" panose="02020603050405020304" pitchFamily="18" charset="0"/>
                <a:ea typeface="+mn-ea"/>
                <a:cs typeface="Times New Roman" panose="02020603050405020304" pitchFamily="18" charset="0"/>
              </a:rPr>
              <a:t>群</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D</a:t>
            </a:r>
            <a:r>
              <a:rPr lang="en-US" altLang="zh-CN" sz="1200" kern="100" baseline="-25000" dirty="0">
                <a:solidFill>
                  <a:srgbClr val="0D0D0D"/>
                </a:solidFill>
                <a:effectLst/>
                <a:latin typeface="Times New Roman" panose="02020603050405020304" pitchFamily="18" charset="0"/>
                <a:ea typeface="+mn-ea"/>
                <a:cs typeface="Times New Roman" panose="02020603050405020304" pitchFamily="18" charset="0"/>
              </a:rPr>
              <a:t>3  </a:t>
            </a:r>
            <a:r>
              <a:rPr lang="zh-CN" altLang="en-US" sz="1200" kern="100" dirty="0">
                <a:effectLst/>
                <a:latin typeface="Times New Roman" panose="02020603050405020304" pitchFamily="18" charset="0"/>
                <a:ea typeface="+mn-ea"/>
                <a:cs typeface="Times New Roman" panose="02020603050405020304" pitchFamily="18" charset="0"/>
              </a:rPr>
              <a:t>的轮换</a:t>
            </a:r>
            <a:r>
              <a:rPr lang="zh-CN" altLang="zh-CN" sz="1200" kern="100" dirty="0">
                <a:effectLst/>
                <a:latin typeface="Times New Roman" panose="02020603050405020304" pitchFamily="18" charset="0"/>
                <a:ea typeface="+mn-ea"/>
                <a:cs typeface="Times New Roman" panose="02020603050405020304" pitchFamily="18" charset="0"/>
              </a:rPr>
              <a:t>置换</a:t>
            </a:r>
            <a:r>
              <a:rPr lang="zh-CN" altLang="zh-CN" sz="1200" kern="100" dirty="0">
                <a:solidFill>
                  <a:srgbClr val="0D0D0D"/>
                </a:solidFill>
                <a:effectLst/>
                <a:latin typeface="Times New Roman" panose="02020603050405020304" pitchFamily="18" charset="0"/>
                <a:ea typeface="+mn-ea"/>
                <a:cs typeface="Times New Roman" panose="02020603050405020304" pitchFamily="18" charset="0"/>
              </a:rPr>
              <a:t> </a:t>
            </a:r>
            <a:r>
              <a:rPr lang="en-US" altLang="zh-CN" sz="1200" kern="100" dirty="0">
                <a:solidFill>
                  <a:srgbClr val="0D0D0D"/>
                </a:solidFill>
                <a:effectLst/>
                <a:latin typeface="Times New Roman" panose="02020603050405020304" pitchFamily="18" charset="0"/>
                <a:ea typeface="+mn-ea"/>
                <a:cs typeface="Times New Roman" panose="02020603050405020304" pitchFamily="18" charset="0"/>
              </a:rPr>
              <a:t>(</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A</a:t>
            </a:r>
            <a:r>
              <a:rPr lang="zh-CN" altLang="zh-CN" sz="1200" i="1" kern="100" dirty="0">
                <a:solidFill>
                  <a:srgbClr val="0D0D0D"/>
                </a:solidFill>
                <a:effectLst/>
                <a:latin typeface="Times New Roman" panose="02020603050405020304" pitchFamily="18" charset="0"/>
                <a:ea typeface="+mn-ea"/>
                <a:cs typeface="Times New Roman" panose="02020603050405020304" pitchFamily="18" charset="0"/>
              </a:rPr>
              <a:t>BC</a:t>
            </a:r>
            <a:r>
              <a:rPr lang="en-US" altLang="zh-CN" sz="1200" kern="100" dirty="0">
                <a:solidFill>
                  <a:srgbClr val="0D0D0D"/>
                </a:solidFill>
                <a:effectLst/>
                <a:latin typeface="Times New Roman" panose="02020603050405020304" pitchFamily="18" charset="0"/>
                <a:ea typeface="+mn-ea"/>
                <a:cs typeface="Times New Roman" panose="02020603050405020304" pitchFamily="18" charset="0"/>
              </a:rPr>
              <a:t>)</a:t>
            </a:r>
            <a:r>
              <a:rPr lang="zh-CN" altLang="zh-CN" sz="1200" kern="100" dirty="0">
                <a:effectLst/>
                <a:latin typeface="Times New Roman" panose="02020603050405020304" pitchFamily="18" charset="0"/>
                <a:ea typeface="+mn-ea"/>
                <a:cs typeface="Times New Roman" panose="02020603050405020304" pitchFamily="18" charset="0"/>
              </a:rPr>
              <a:t> </a:t>
            </a:r>
            <a:endParaRPr lang="en-US" altLang="zh-CN" sz="1200" kern="100" dirty="0">
              <a:effectLst/>
              <a:latin typeface="Times New Roman" panose="02020603050405020304" pitchFamily="18" charset="0"/>
              <a:ea typeface="+mn-ea"/>
              <a:cs typeface="Times New Roman" panose="02020603050405020304" pitchFamily="18" charset="0"/>
            </a:endParaRPr>
          </a:p>
          <a:p>
            <a:pPr marL="514350" indent="-285750">
              <a:buFont typeface="Wingdings" panose="05000000000000000000" pitchFamily="2" charset="2"/>
              <a:buChar char="Ø"/>
            </a:pPr>
            <a:r>
              <a:rPr lang="en-US" altLang="zh-CN" sz="1200" kern="100" dirty="0">
                <a:effectLst/>
                <a:latin typeface="Times New Roman" panose="02020603050405020304" pitchFamily="18" charset="0"/>
                <a:ea typeface="+mn-ea"/>
                <a:cs typeface="Times New Roman" panose="02020603050405020304" pitchFamily="18" charset="0"/>
              </a:rPr>
              <a:t>240</a:t>
            </a:r>
            <a:r>
              <a:rPr lang="zh-CN" altLang="zh-CN" sz="1200" kern="100" dirty="0">
                <a:effectLst/>
                <a:latin typeface="Times New Roman" panose="02020603050405020304" pitchFamily="18" charset="0"/>
                <a:ea typeface="+mn-ea"/>
                <a:cs typeface="Times New Roman" panose="02020603050405020304" pitchFamily="18" charset="0"/>
              </a:rPr>
              <a:t>度顺时针旋转</a:t>
            </a:r>
            <a:r>
              <a:rPr lang="zh-CN" altLang="en-US" sz="1200" kern="100" dirty="0">
                <a:effectLst/>
                <a:latin typeface="Times New Roman" panose="02020603050405020304" pitchFamily="18" charset="0"/>
                <a:ea typeface="+mn-ea"/>
                <a:cs typeface="Times New Roman" panose="02020603050405020304" pitchFamily="18" charset="0"/>
              </a:rPr>
              <a:t>可表示为</a:t>
            </a:r>
            <a:r>
              <a:rPr lang="zh-CN" altLang="zh-CN" sz="1200" kern="100" dirty="0">
                <a:solidFill>
                  <a:srgbClr val="000000"/>
                </a:solidFill>
                <a:effectLst/>
                <a:latin typeface="Times New Roman" panose="02020603050405020304" pitchFamily="18" charset="0"/>
                <a:ea typeface="+mn-ea"/>
                <a:cs typeface="Times New Roman" panose="02020603050405020304" pitchFamily="18" charset="0"/>
              </a:rPr>
              <a:t>群</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D</a:t>
            </a:r>
            <a:r>
              <a:rPr lang="en-US" altLang="zh-CN" sz="1200" kern="100" baseline="-25000" dirty="0">
                <a:solidFill>
                  <a:srgbClr val="0D0D0D"/>
                </a:solidFill>
                <a:effectLst/>
                <a:latin typeface="Times New Roman" panose="02020603050405020304" pitchFamily="18" charset="0"/>
                <a:ea typeface="+mn-ea"/>
                <a:cs typeface="Times New Roman" panose="02020603050405020304" pitchFamily="18" charset="0"/>
              </a:rPr>
              <a:t>3  </a:t>
            </a:r>
            <a:r>
              <a:rPr lang="zh-CN" altLang="en-US" sz="1200" kern="100" dirty="0">
                <a:effectLst/>
                <a:latin typeface="Times New Roman" panose="02020603050405020304" pitchFamily="18" charset="0"/>
                <a:ea typeface="+mn-ea"/>
                <a:cs typeface="Times New Roman" panose="02020603050405020304" pitchFamily="18" charset="0"/>
              </a:rPr>
              <a:t>的轮换</a:t>
            </a:r>
            <a:r>
              <a:rPr lang="zh-CN" altLang="zh-CN" sz="1200" kern="100" dirty="0">
                <a:effectLst/>
                <a:latin typeface="Times New Roman" panose="02020603050405020304" pitchFamily="18" charset="0"/>
                <a:ea typeface="+mn-ea"/>
                <a:cs typeface="Times New Roman" panose="02020603050405020304" pitchFamily="18" charset="0"/>
              </a:rPr>
              <a:t>置换</a:t>
            </a:r>
            <a:r>
              <a:rPr lang="zh-CN" altLang="zh-CN" sz="1200" kern="100" dirty="0">
                <a:solidFill>
                  <a:srgbClr val="0D0D0D"/>
                </a:solidFill>
                <a:effectLst/>
                <a:latin typeface="Times New Roman" panose="02020603050405020304" pitchFamily="18" charset="0"/>
                <a:ea typeface="+mn-ea"/>
                <a:cs typeface="Times New Roman" panose="02020603050405020304" pitchFamily="18" charset="0"/>
              </a:rPr>
              <a:t> </a:t>
            </a:r>
            <a:r>
              <a:rPr lang="en-US" altLang="zh-CN" sz="1200" kern="100" dirty="0">
                <a:effectLst/>
                <a:latin typeface="Times New Roman" panose="02020603050405020304" pitchFamily="18" charset="0"/>
                <a:ea typeface="+mn-ea"/>
                <a:cs typeface="Times New Roman" panose="02020603050405020304" pitchFamily="18" charset="0"/>
              </a:rPr>
              <a:t>(</a:t>
            </a:r>
            <a:r>
              <a:rPr lang="en-US" altLang="zh-CN" sz="1200" i="1" kern="100" dirty="0">
                <a:effectLst/>
                <a:latin typeface="Times New Roman" panose="02020603050405020304" pitchFamily="18" charset="0"/>
                <a:ea typeface="+mn-ea"/>
                <a:cs typeface="Times New Roman" panose="02020603050405020304" pitchFamily="18" charset="0"/>
              </a:rPr>
              <a:t>ACB</a:t>
            </a:r>
            <a:r>
              <a:rPr lang="en-US" altLang="zh-CN" sz="1200" kern="100" dirty="0">
                <a:effectLst/>
                <a:latin typeface="Times New Roman" panose="02020603050405020304" pitchFamily="18" charset="0"/>
                <a:ea typeface="+mn-ea"/>
                <a:cs typeface="Times New Roman" panose="02020603050405020304" pitchFamily="18" charset="0"/>
              </a:rPr>
              <a:t>)</a:t>
            </a:r>
          </a:p>
          <a:p>
            <a:pPr marL="514350" indent="-285750" algn="l">
              <a:buFont typeface="Wingdings" panose="05000000000000000000" pitchFamily="2" charset="2"/>
              <a:buChar char="Ø"/>
            </a:pPr>
            <a:r>
              <a:rPr lang="zh-CN" altLang="zh-CN" sz="1200" kern="100" dirty="0">
                <a:effectLst/>
                <a:latin typeface="Times New Roman" panose="02020603050405020304" pitchFamily="18" charset="0"/>
                <a:ea typeface="+mn-ea"/>
                <a:cs typeface="Times New Roman" panose="02020603050405020304" pitchFamily="18" charset="0"/>
              </a:rPr>
              <a:t>沿顶点</a:t>
            </a:r>
            <a:r>
              <a:rPr lang="en-US" altLang="zh-CN" sz="1200" kern="100" dirty="0">
                <a:effectLst/>
                <a:latin typeface="Times New Roman" panose="02020603050405020304" pitchFamily="18" charset="0"/>
                <a:ea typeface="+mn-ea"/>
                <a:cs typeface="Times New Roman" panose="02020603050405020304" pitchFamily="18" charset="0"/>
              </a:rPr>
              <a:t>A</a:t>
            </a:r>
            <a:r>
              <a:rPr lang="zh-CN" altLang="zh-CN" sz="1200" kern="100" dirty="0">
                <a:effectLst/>
                <a:latin typeface="Times New Roman" panose="02020603050405020304" pitchFamily="18" charset="0"/>
                <a:ea typeface="+mn-ea"/>
                <a:cs typeface="Times New Roman" panose="02020603050405020304" pitchFamily="18" charset="0"/>
              </a:rPr>
              <a:t>和对边中点连线的反射</a:t>
            </a:r>
            <a:r>
              <a:rPr lang="zh-CN" altLang="en-US" sz="1200" kern="100" dirty="0">
                <a:effectLst/>
                <a:latin typeface="Times New Roman" panose="02020603050405020304" pitchFamily="18" charset="0"/>
                <a:ea typeface="+mn-ea"/>
                <a:cs typeface="Times New Roman" panose="02020603050405020304" pitchFamily="18" charset="0"/>
              </a:rPr>
              <a:t>可表示为</a:t>
            </a:r>
            <a:r>
              <a:rPr lang="zh-CN" altLang="zh-CN" sz="1200" kern="100" dirty="0">
                <a:solidFill>
                  <a:srgbClr val="000000"/>
                </a:solidFill>
                <a:effectLst/>
                <a:latin typeface="Times New Roman" panose="02020603050405020304" pitchFamily="18" charset="0"/>
                <a:ea typeface="+mn-ea"/>
                <a:cs typeface="Times New Roman" panose="02020603050405020304" pitchFamily="18" charset="0"/>
              </a:rPr>
              <a:t>群</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D</a:t>
            </a:r>
            <a:r>
              <a:rPr lang="en-US" altLang="zh-CN" sz="1200" kern="100" baseline="-25000" dirty="0">
                <a:solidFill>
                  <a:srgbClr val="0D0D0D"/>
                </a:solidFill>
                <a:effectLst/>
                <a:latin typeface="Times New Roman" panose="02020603050405020304" pitchFamily="18" charset="0"/>
                <a:ea typeface="+mn-ea"/>
                <a:cs typeface="Times New Roman" panose="02020603050405020304" pitchFamily="18" charset="0"/>
              </a:rPr>
              <a:t>3  </a:t>
            </a:r>
            <a:r>
              <a:rPr lang="zh-CN" altLang="en-US" sz="1200" kern="100" dirty="0">
                <a:effectLst/>
                <a:latin typeface="Times New Roman" panose="02020603050405020304" pitchFamily="18" charset="0"/>
                <a:ea typeface="+mn-ea"/>
                <a:cs typeface="Times New Roman" panose="02020603050405020304" pitchFamily="18" charset="0"/>
              </a:rPr>
              <a:t>的轮换</a:t>
            </a:r>
            <a:r>
              <a:rPr lang="zh-CN" altLang="zh-CN" sz="1200" kern="100" dirty="0">
                <a:effectLst/>
                <a:latin typeface="Times New Roman" panose="02020603050405020304" pitchFamily="18" charset="0"/>
                <a:ea typeface="+mn-ea"/>
                <a:cs typeface="Times New Roman" panose="02020603050405020304" pitchFamily="18" charset="0"/>
              </a:rPr>
              <a:t>置换</a:t>
            </a:r>
            <a:r>
              <a:rPr lang="zh-CN" altLang="zh-CN" sz="1200" kern="100" dirty="0">
                <a:solidFill>
                  <a:srgbClr val="0D0D0D"/>
                </a:solidFill>
                <a:effectLst/>
                <a:latin typeface="Times New Roman" panose="02020603050405020304" pitchFamily="18" charset="0"/>
                <a:ea typeface="+mn-ea"/>
                <a:cs typeface="Times New Roman" panose="02020603050405020304" pitchFamily="18" charset="0"/>
              </a:rPr>
              <a:t> </a:t>
            </a:r>
            <a:r>
              <a:rPr lang="en-US" altLang="zh-CN" sz="1200" kern="100" dirty="0">
                <a:effectLst/>
                <a:latin typeface="Times New Roman" panose="02020603050405020304" pitchFamily="18" charset="0"/>
                <a:ea typeface="+mn-ea"/>
                <a:cs typeface="Times New Roman" panose="02020603050405020304" pitchFamily="18" charset="0"/>
              </a:rPr>
              <a:t>(</a:t>
            </a:r>
            <a:r>
              <a:rPr lang="en-US" altLang="zh-CN" sz="1200" i="1" kern="100" dirty="0">
                <a:effectLst/>
                <a:latin typeface="Times New Roman" panose="02020603050405020304" pitchFamily="18" charset="0"/>
                <a:ea typeface="+mn-ea"/>
                <a:cs typeface="Times New Roman" panose="02020603050405020304" pitchFamily="18" charset="0"/>
              </a:rPr>
              <a:t>BC</a:t>
            </a:r>
            <a:r>
              <a:rPr lang="en-US" altLang="zh-CN" sz="1200" kern="100" dirty="0">
                <a:effectLst/>
                <a:latin typeface="Times New Roman" panose="02020603050405020304" pitchFamily="18" charset="0"/>
                <a:ea typeface="+mn-ea"/>
                <a:cs typeface="Times New Roman" panose="02020603050405020304" pitchFamily="18" charset="0"/>
              </a:rPr>
              <a:t>)</a:t>
            </a:r>
            <a:r>
              <a:rPr lang="en-US" altLang="zh-CN" sz="1200" i="1" kern="100" dirty="0">
                <a:effectLst/>
                <a:latin typeface="Times New Roman" panose="02020603050405020304" pitchFamily="18" charset="0"/>
                <a:ea typeface="+mn-ea"/>
                <a:cs typeface="Times New Roman" panose="02020603050405020304" pitchFamily="18" charset="0"/>
              </a:rPr>
              <a:t> </a:t>
            </a:r>
          </a:p>
          <a:p>
            <a:pPr marL="514350" indent="-285750" algn="l">
              <a:buFont typeface="Wingdings" panose="05000000000000000000" pitchFamily="2" charset="2"/>
              <a:buChar char="Ø"/>
            </a:pPr>
            <a:r>
              <a:rPr lang="zh-CN" altLang="zh-CN" sz="1200" kern="100" dirty="0">
                <a:effectLst/>
                <a:latin typeface="Times New Roman" panose="02020603050405020304" pitchFamily="18" charset="0"/>
                <a:ea typeface="+mn-ea"/>
                <a:cs typeface="Times New Roman" panose="02020603050405020304" pitchFamily="18" charset="0"/>
              </a:rPr>
              <a:t>沿顶点</a:t>
            </a:r>
            <a:r>
              <a:rPr lang="en-US" altLang="zh-CN" sz="1200" kern="100" dirty="0">
                <a:effectLst/>
                <a:latin typeface="Times New Roman" panose="02020603050405020304" pitchFamily="18" charset="0"/>
                <a:ea typeface="+mn-ea"/>
                <a:cs typeface="Times New Roman" panose="02020603050405020304" pitchFamily="18" charset="0"/>
              </a:rPr>
              <a:t>B</a:t>
            </a:r>
            <a:r>
              <a:rPr lang="zh-CN" altLang="zh-CN" sz="1200" kern="100" dirty="0">
                <a:effectLst/>
                <a:latin typeface="Times New Roman" panose="02020603050405020304" pitchFamily="18" charset="0"/>
                <a:ea typeface="+mn-ea"/>
                <a:cs typeface="Times New Roman" panose="02020603050405020304" pitchFamily="18" charset="0"/>
              </a:rPr>
              <a:t>和对边中点连线的反射</a:t>
            </a:r>
            <a:r>
              <a:rPr lang="zh-CN" altLang="en-US" sz="1200" kern="100" dirty="0">
                <a:effectLst/>
                <a:latin typeface="Times New Roman" panose="02020603050405020304" pitchFamily="18" charset="0"/>
                <a:ea typeface="+mn-ea"/>
                <a:cs typeface="Times New Roman" panose="02020603050405020304" pitchFamily="18" charset="0"/>
              </a:rPr>
              <a:t>可表示为</a:t>
            </a:r>
            <a:r>
              <a:rPr lang="zh-CN" altLang="zh-CN" sz="1200" kern="100" dirty="0">
                <a:solidFill>
                  <a:srgbClr val="000000"/>
                </a:solidFill>
                <a:effectLst/>
                <a:latin typeface="Times New Roman" panose="02020603050405020304" pitchFamily="18" charset="0"/>
                <a:ea typeface="+mn-ea"/>
                <a:cs typeface="Times New Roman" panose="02020603050405020304" pitchFamily="18" charset="0"/>
              </a:rPr>
              <a:t>群</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D</a:t>
            </a:r>
            <a:r>
              <a:rPr lang="en-US" altLang="zh-CN" sz="1200" kern="100" baseline="-25000" dirty="0">
                <a:solidFill>
                  <a:srgbClr val="0D0D0D"/>
                </a:solidFill>
                <a:effectLst/>
                <a:latin typeface="Times New Roman" panose="02020603050405020304" pitchFamily="18" charset="0"/>
                <a:ea typeface="+mn-ea"/>
                <a:cs typeface="Times New Roman" panose="02020603050405020304" pitchFamily="18" charset="0"/>
              </a:rPr>
              <a:t>3  </a:t>
            </a:r>
            <a:r>
              <a:rPr lang="zh-CN" altLang="en-US" sz="1200" kern="100" dirty="0">
                <a:effectLst/>
                <a:latin typeface="Times New Roman" panose="02020603050405020304" pitchFamily="18" charset="0"/>
                <a:ea typeface="+mn-ea"/>
                <a:cs typeface="Times New Roman" panose="02020603050405020304" pitchFamily="18" charset="0"/>
              </a:rPr>
              <a:t>的轮换</a:t>
            </a:r>
            <a:r>
              <a:rPr lang="zh-CN" altLang="zh-CN" sz="1200" kern="100" dirty="0">
                <a:effectLst/>
                <a:latin typeface="Times New Roman" panose="02020603050405020304" pitchFamily="18" charset="0"/>
                <a:ea typeface="+mn-ea"/>
                <a:cs typeface="Times New Roman" panose="02020603050405020304" pitchFamily="18" charset="0"/>
              </a:rPr>
              <a:t>置换</a:t>
            </a:r>
            <a:r>
              <a:rPr lang="zh-CN" altLang="zh-CN" sz="1200" kern="100" dirty="0">
                <a:solidFill>
                  <a:srgbClr val="0D0D0D"/>
                </a:solidFill>
                <a:effectLst/>
                <a:latin typeface="Times New Roman" panose="02020603050405020304" pitchFamily="18" charset="0"/>
                <a:ea typeface="+mn-ea"/>
                <a:cs typeface="Times New Roman" panose="02020603050405020304" pitchFamily="18" charset="0"/>
              </a:rPr>
              <a:t> </a:t>
            </a:r>
            <a:r>
              <a:rPr lang="en-US" altLang="zh-CN" sz="1200" kern="100" dirty="0">
                <a:effectLst/>
                <a:latin typeface="Times New Roman" panose="02020603050405020304" pitchFamily="18" charset="0"/>
                <a:ea typeface="+mn-ea"/>
                <a:cs typeface="Times New Roman" panose="02020603050405020304" pitchFamily="18" charset="0"/>
              </a:rPr>
              <a:t>(</a:t>
            </a:r>
            <a:r>
              <a:rPr lang="en-US" altLang="zh-CN" sz="1200" i="1" kern="100" dirty="0">
                <a:effectLst/>
                <a:latin typeface="Times New Roman" panose="02020603050405020304" pitchFamily="18" charset="0"/>
                <a:ea typeface="+mn-ea"/>
                <a:cs typeface="Times New Roman" panose="02020603050405020304" pitchFamily="18" charset="0"/>
              </a:rPr>
              <a:t>AC</a:t>
            </a:r>
            <a:r>
              <a:rPr lang="en-US" altLang="zh-CN" sz="1200" kern="100" dirty="0">
                <a:effectLst/>
                <a:latin typeface="Times New Roman" panose="02020603050405020304" pitchFamily="18" charset="0"/>
                <a:ea typeface="+mn-ea"/>
                <a:cs typeface="Times New Roman" panose="02020603050405020304" pitchFamily="18" charset="0"/>
              </a:rPr>
              <a:t>)</a:t>
            </a:r>
          </a:p>
          <a:p>
            <a:pPr marL="514350" indent="-285750" algn="l">
              <a:buFont typeface="Wingdings" panose="05000000000000000000" pitchFamily="2" charset="2"/>
              <a:buChar char="Ø"/>
            </a:pPr>
            <a:r>
              <a:rPr lang="zh-CN" altLang="zh-CN" sz="1200" kern="100" dirty="0">
                <a:effectLst/>
                <a:latin typeface="Times New Roman" panose="02020603050405020304" pitchFamily="18" charset="0"/>
                <a:ea typeface="+mn-ea"/>
                <a:cs typeface="Times New Roman" panose="02020603050405020304" pitchFamily="18" charset="0"/>
              </a:rPr>
              <a:t>沿顶点</a:t>
            </a:r>
            <a:r>
              <a:rPr lang="en-US" altLang="zh-CN" sz="1200" kern="100" dirty="0">
                <a:effectLst/>
                <a:latin typeface="Times New Roman" panose="02020603050405020304" pitchFamily="18" charset="0"/>
                <a:ea typeface="+mn-ea"/>
                <a:cs typeface="Times New Roman" panose="02020603050405020304" pitchFamily="18" charset="0"/>
              </a:rPr>
              <a:t>C</a:t>
            </a:r>
            <a:r>
              <a:rPr lang="zh-CN" altLang="zh-CN" sz="1200" kern="100" dirty="0">
                <a:effectLst/>
                <a:latin typeface="Times New Roman" panose="02020603050405020304" pitchFamily="18" charset="0"/>
                <a:ea typeface="+mn-ea"/>
                <a:cs typeface="Times New Roman" panose="02020603050405020304" pitchFamily="18" charset="0"/>
              </a:rPr>
              <a:t>和对边中点连线的反射</a:t>
            </a:r>
            <a:r>
              <a:rPr lang="zh-CN" altLang="en-US" sz="1200" kern="100" dirty="0">
                <a:effectLst/>
                <a:latin typeface="Times New Roman" panose="02020603050405020304" pitchFamily="18" charset="0"/>
                <a:ea typeface="+mn-ea"/>
                <a:cs typeface="Times New Roman" panose="02020603050405020304" pitchFamily="18" charset="0"/>
              </a:rPr>
              <a:t>可表示为</a:t>
            </a:r>
            <a:r>
              <a:rPr lang="zh-CN" altLang="zh-CN" sz="1200" kern="100" dirty="0">
                <a:solidFill>
                  <a:srgbClr val="000000"/>
                </a:solidFill>
                <a:effectLst/>
                <a:latin typeface="Times New Roman" panose="02020603050405020304" pitchFamily="18" charset="0"/>
                <a:ea typeface="+mn-ea"/>
                <a:cs typeface="Times New Roman" panose="02020603050405020304" pitchFamily="18" charset="0"/>
              </a:rPr>
              <a:t>群</a:t>
            </a:r>
            <a:r>
              <a:rPr lang="en-US" altLang="zh-CN" sz="1200" i="1" kern="100" dirty="0">
                <a:solidFill>
                  <a:srgbClr val="0D0D0D"/>
                </a:solidFill>
                <a:effectLst/>
                <a:latin typeface="Times New Roman" panose="02020603050405020304" pitchFamily="18" charset="0"/>
                <a:ea typeface="+mn-ea"/>
                <a:cs typeface="Times New Roman" panose="02020603050405020304" pitchFamily="18" charset="0"/>
              </a:rPr>
              <a:t>D</a:t>
            </a:r>
            <a:r>
              <a:rPr lang="en-US" altLang="zh-CN" sz="1200" kern="100" baseline="-25000" dirty="0">
                <a:solidFill>
                  <a:srgbClr val="0D0D0D"/>
                </a:solidFill>
                <a:effectLst/>
                <a:latin typeface="Times New Roman" panose="02020603050405020304" pitchFamily="18" charset="0"/>
                <a:ea typeface="+mn-ea"/>
                <a:cs typeface="Times New Roman" panose="02020603050405020304" pitchFamily="18" charset="0"/>
              </a:rPr>
              <a:t>3  </a:t>
            </a:r>
            <a:r>
              <a:rPr lang="zh-CN" altLang="en-US" sz="1200" kern="100" dirty="0">
                <a:effectLst/>
                <a:latin typeface="Times New Roman" panose="02020603050405020304" pitchFamily="18" charset="0"/>
                <a:ea typeface="+mn-ea"/>
                <a:cs typeface="Times New Roman" panose="02020603050405020304" pitchFamily="18" charset="0"/>
              </a:rPr>
              <a:t>的轮换</a:t>
            </a:r>
            <a:r>
              <a:rPr lang="zh-CN" altLang="zh-CN" sz="1200" kern="100" dirty="0">
                <a:effectLst/>
                <a:latin typeface="Times New Roman" panose="02020603050405020304" pitchFamily="18" charset="0"/>
                <a:ea typeface="+mn-ea"/>
                <a:cs typeface="Times New Roman" panose="02020603050405020304" pitchFamily="18" charset="0"/>
              </a:rPr>
              <a:t>置换</a:t>
            </a:r>
            <a:r>
              <a:rPr lang="en-US" altLang="zh-CN" sz="1200" kern="100" dirty="0">
                <a:effectLst/>
                <a:latin typeface="Times New Roman" panose="02020603050405020304" pitchFamily="18" charset="0"/>
                <a:ea typeface="+mn-ea"/>
                <a:cs typeface="Times New Roman" panose="02020603050405020304" pitchFamily="18" charset="0"/>
              </a:rPr>
              <a:t>(</a:t>
            </a:r>
            <a:r>
              <a:rPr lang="en-US" altLang="zh-CN" sz="1200" i="1" kern="100" dirty="0">
                <a:effectLst/>
                <a:latin typeface="Times New Roman" panose="02020603050405020304" pitchFamily="18" charset="0"/>
                <a:ea typeface="+mn-ea"/>
                <a:cs typeface="Times New Roman" panose="02020603050405020304" pitchFamily="18" charset="0"/>
              </a:rPr>
              <a:t>AB</a:t>
            </a:r>
            <a:r>
              <a:rPr lang="en-US" altLang="zh-CN" sz="1200" kern="100" dirty="0">
                <a:effectLst/>
                <a:latin typeface="Times New Roman" panose="02020603050405020304" pitchFamily="18" charset="0"/>
                <a:ea typeface="+mn-ea"/>
                <a:cs typeface="Times New Roman" panose="02020603050405020304" pitchFamily="18" charset="0"/>
              </a:rPr>
              <a:t>)</a:t>
            </a:r>
            <a:endParaRPr lang="zh-CN" altLang="zh-CN" sz="1200" kern="100" dirty="0">
              <a:effectLst/>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113</a:t>
            </a:fld>
            <a:endParaRPr lang="zh-CN" altLang="en-US"/>
          </a:p>
        </p:txBody>
      </p:sp>
    </p:spTree>
    <p:extLst>
      <p:ext uri="{BB962C8B-B14F-4D97-AF65-F5344CB8AC3E}">
        <p14:creationId xmlns:p14="http://schemas.microsoft.com/office/powerpoint/2010/main" val="126894942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Times New Roman" panose="02020603050405020304" pitchFamily="18" charset="0"/>
                <a:ea typeface="+mn-ea"/>
                <a:cs typeface="Times New Roman" panose="02020603050405020304" pitchFamily="18" charset="0"/>
              </a:rPr>
              <a:t>定义</a:t>
            </a:r>
            <a:r>
              <a:rPr lang="en-US" altLang="zh-CN" sz="1200" b="1" dirty="0">
                <a:solidFill>
                  <a:srgbClr val="FF0000"/>
                </a:solidFill>
                <a:latin typeface="Times New Roman" panose="02020603050405020304" pitchFamily="18" charset="0"/>
                <a:ea typeface="+mn-ea"/>
                <a:cs typeface="Times New Roman" panose="02020603050405020304" pitchFamily="18" charset="0"/>
              </a:rPr>
              <a:t>9.8</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设</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是代数系统</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R </a:t>
            </a:r>
            <a:r>
              <a:rPr lang="zh-CN" altLang="en-US" sz="1200" b="1" dirty="0">
                <a:solidFill>
                  <a:schemeClr val="tx1"/>
                </a:solidFill>
                <a:latin typeface="Times New Roman" panose="02020603050405020304" pitchFamily="18" charset="0"/>
                <a:ea typeface="+mn-ea"/>
                <a:cs typeface="Times New Roman" panose="02020603050405020304" pitchFamily="18" charset="0"/>
              </a:rPr>
              <a:t>是集合</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是二元运算</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如果满足以下条件</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br>
              <a:rPr lang="en-US" altLang="zh-CN" sz="1200" b="1" dirty="0">
                <a:solidFill>
                  <a:schemeClr val="tx1"/>
                </a:solidFill>
                <a:latin typeface="Times New Roman" panose="02020603050405020304" pitchFamily="18" charset="0"/>
                <a:ea typeface="+mn-ea"/>
                <a:cs typeface="Times New Roman" panose="02020603050405020304" pitchFamily="18" charset="0"/>
              </a:rPr>
            </a:br>
            <a:r>
              <a:rPr lang="en-US" altLang="zh-CN" sz="1200" b="1" dirty="0">
                <a:solidFill>
                  <a:schemeClr val="tx1"/>
                </a:solidFill>
                <a:latin typeface="Times New Roman" panose="02020603050405020304" pitchFamily="18" charset="0"/>
                <a:ea typeface="+mn-ea"/>
                <a:cs typeface="Times New Roman" panose="02020603050405020304" pitchFamily="18" charset="0"/>
              </a:rPr>
              <a:t>  (1) &lt;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构成阿贝尔群</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交换群</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a:t>
            </a:r>
            <a:br>
              <a:rPr lang="zh-CN" altLang="en-US" sz="1200" b="1" dirty="0">
                <a:solidFill>
                  <a:schemeClr val="tx1"/>
                </a:solidFill>
                <a:latin typeface="Times New Roman" panose="02020603050405020304" pitchFamily="18" charset="0"/>
                <a:ea typeface="+mn-ea"/>
                <a:cs typeface="Times New Roman" panose="02020603050405020304" pitchFamily="18" charset="0"/>
              </a:rPr>
            </a:br>
            <a:r>
              <a:rPr lang="zh-CN" altLang="en-US"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(2) &lt;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构成半群，</a:t>
            </a:r>
            <a:br>
              <a:rPr lang="zh-CN" altLang="en-US" sz="1200" b="1" dirty="0">
                <a:solidFill>
                  <a:schemeClr val="tx1"/>
                </a:solidFill>
                <a:latin typeface="Times New Roman" panose="02020603050405020304" pitchFamily="18" charset="0"/>
                <a:ea typeface="+mn-ea"/>
                <a:cs typeface="Times New Roman" panose="02020603050405020304" pitchFamily="18" charset="0"/>
              </a:rPr>
            </a:br>
            <a:r>
              <a:rPr lang="zh-CN" altLang="en-US"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(3) </a:t>
            </a:r>
            <a:r>
              <a:rPr lang="zh-CN" altLang="en-US" sz="1200" b="1" dirty="0">
                <a:solidFill>
                  <a:schemeClr val="tx1"/>
                </a:solidFill>
                <a:latin typeface="Times New Roman" panose="02020603050405020304" pitchFamily="18" charset="0"/>
                <a:ea typeface="+mn-ea"/>
                <a:cs typeface="Times New Roman" panose="02020603050405020304" pitchFamily="18" charset="0"/>
              </a:rPr>
              <a:t>乘法</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对加法</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 适合分配律，</a:t>
            </a:r>
            <a:br>
              <a:rPr lang="zh-CN" altLang="en-US" sz="1200" b="1" dirty="0">
                <a:solidFill>
                  <a:schemeClr val="tx1"/>
                </a:solidFill>
                <a:latin typeface="Times New Roman" panose="02020603050405020304" pitchFamily="18" charset="0"/>
                <a:ea typeface="+mn-ea"/>
                <a:cs typeface="Times New Roman" panose="02020603050405020304" pitchFamily="18" charset="0"/>
              </a:rPr>
            </a:br>
            <a:r>
              <a:rPr lang="zh-CN" altLang="en-US" sz="1200" b="1" dirty="0">
                <a:solidFill>
                  <a:schemeClr val="tx1"/>
                </a:solidFill>
                <a:latin typeface="Times New Roman" panose="02020603050405020304" pitchFamily="18" charset="0"/>
                <a:ea typeface="+mn-ea"/>
                <a:cs typeface="Times New Roman" panose="02020603050405020304" pitchFamily="18" charset="0"/>
              </a:rPr>
              <a:t>则称</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是一个</a:t>
            </a:r>
            <a:r>
              <a:rPr lang="zh-CN" altLang="en-US" sz="1200" b="1" dirty="0">
                <a:solidFill>
                  <a:srgbClr val="FF0000"/>
                </a:solidFill>
                <a:latin typeface="Times New Roman" panose="02020603050405020304" pitchFamily="18" charset="0"/>
                <a:ea typeface="+mn-ea"/>
                <a:cs typeface="Times New Roman" panose="02020603050405020304" pitchFamily="18" charset="0"/>
              </a:rPr>
              <a:t>环</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latin typeface="Times New Roman" panose="02020603050405020304" pitchFamily="18" charset="0"/>
                <a:ea typeface="+mn-ea"/>
                <a:cs typeface="Times New Roman" panose="02020603050405020304" pitchFamily="18" charset="0"/>
              </a:rPr>
              <a:t>为了叙述的方便，通常称</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运算为环中的</a:t>
            </a:r>
            <a:r>
              <a:rPr lang="zh-CN" altLang="en-US" sz="1200" b="1" dirty="0">
                <a:solidFill>
                  <a:srgbClr val="FF0000"/>
                </a:solidFill>
                <a:latin typeface="Times New Roman" panose="02020603050405020304" pitchFamily="18" charset="0"/>
                <a:ea typeface="+mn-ea"/>
                <a:cs typeface="Times New Roman" panose="02020603050405020304" pitchFamily="18" charset="0"/>
              </a:rPr>
              <a:t>加法</a:t>
            </a:r>
            <a:r>
              <a:rPr lang="zh-CN" altLang="en-US"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运算为环中的</a:t>
            </a:r>
            <a:r>
              <a:rPr lang="zh-CN" altLang="en-US" sz="1200" b="1" dirty="0">
                <a:solidFill>
                  <a:srgbClr val="FF0000"/>
                </a:solidFill>
                <a:latin typeface="Times New Roman" panose="02020603050405020304" pitchFamily="18" charset="0"/>
                <a:ea typeface="+mn-ea"/>
                <a:cs typeface="Times New Roman" panose="02020603050405020304" pitchFamily="18" charset="0"/>
              </a:rPr>
              <a:t>乘法</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环中加法单位元记作</a:t>
            </a:r>
            <a:r>
              <a:rPr lang="en-US" altLang="zh-CN" sz="1200" b="1" dirty="0">
                <a:solidFill>
                  <a:schemeClr val="tx1"/>
                </a:solidFill>
                <a:latin typeface="Times New Roman" panose="02020603050405020304" pitchFamily="18" charset="0"/>
                <a:ea typeface="+mn-ea"/>
                <a:cs typeface="Times New Roman" panose="02020603050405020304" pitchFamily="18" charset="0"/>
              </a:rPr>
              <a:t>0</a:t>
            </a:r>
            <a:r>
              <a:rPr lang="zh-CN" altLang="en-US" sz="1200" b="1" dirty="0">
                <a:solidFill>
                  <a:schemeClr val="tx1"/>
                </a:solidFill>
                <a:latin typeface="Times New Roman" panose="02020603050405020304" pitchFamily="18" charset="0"/>
                <a:ea typeface="+mn-ea"/>
                <a:cs typeface="Times New Roman" panose="02020603050405020304" pitchFamily="18" charset="0"/>
              </a:rPr>
              <a:t>，乘法单位元（如果存在）记作</a:t>
            </a:r>
            <a:r>
              <a:rPr lang="en-US" altLang="zh-CN" sz="1200" b="1" dirty="0">
                <a:solidFill>
                  <a:schemeClr val="tx1"/>
                </a:solidFill>
                <a:latin typeface="Times New Roman" panose="02020603050405020304" pitchFamily="18" charset="0"/>
                <a:ea typeface="+mn-ea"/>
                <a:cs typeface="Times New Roman" panose="02020603050405020304" pitchFamily="18" charset="0"/>
              </a:rPr>
              <a:t>1. </a:t>
            </a:r>
            <a:r>
              <a:rPr lang="zh-CN" altLang="en-US" sz="1200" b="1" dirty="0">
                <a:solidFill>
                  <a:schemeClr val="tx1"/>
                </a:solidFill>
                <a:latin typeface="Times New Roman" panose="02020603050405020304" pitchFamily="18" charset="0"/>
                <a:ea typeface="+mn-ea"/>
                <a:cs typeface="Times New Roman" panose="02020603050405020304" pitchFamily="18" charset="0"/>
              </a:rPr>
              <a:t>对任何元素</a:t>
            </a:r>
            <a:r>
              <a:rPr lang="en-US" altLang="zh-CN" sz="1200" b="1" i="1" dirty="0">
                <a:solidFill>
                  <a:schemeClr val="tx1"/>
                </a:solidFill>
                <a:latin typeface="Times New Roman" panose="02020603050405020304" pitchFamily="18" charset="0"/>
                <a:ea typeface="+mn-ea"/>
                <a:cs typeface="Times New Roman" panose="02020603050405020304" pitchFamily="18" charset="0"/>
              </a:rPr>
              <a:t>x</a:t>
            </a:r>
            <a:r>
              <a:rPr lang="zh-CN" altLang="en-US" sz="1200" b="1" dirty="0">
                <a:solidFill>
                  <a:schemeClr val="tx1"/>
                </a:solidFill>
                <a:latin typeface="Times New Roman" panose="02020603050405020304" pitchFamily="18" charset="0"/>
                <a:ea typeface="+mn-ea"/>
                <a:cs typeface="Times New Roman" panose="02020603050405020304" pitchFamily="18" charset="0"/>
              </a:rPr>
              <a:t>，称</a:t>
            </a:r>
            <a:r>
              <a:rPr lang="en-US" altLang="zh-CN" sz="1200" b="1" i="1" dirty="0">
                <a:solidFill>
                  <a:schemeClr val="tx1"/>
                </a:solidFill>
                <a:latin typeface="Times New Roman" panose="02020603050405020304" pitchFamily="18" charset="0"/>
                <a:ea typeface="+mn-ea"/>
                <a:cs typeface="Times New Roman" panose="02020603050405020304" pitchFamily="18" charset="0"/>
              </a:rPr>
              <a:t>x</a:t>
            </a:r>
            <a:r>
              <a:rPr lang="zh-CN" altLang="en-US" sz="1200" b="1" dirty="0">
                <a:solidFill>
                  <a:schemeClr val="tx1"/>
                </a:solidFill>
                <a:latin typeface="Times New Roman" panose="02020603050405020304" pitchFamily="18" charset="0"/>
                <a:ea typeface="+mn-ea"/>
                <a:cs typeface="Times New Roman" panose="02020603050405020304" pitchFamily="18" charset="0"/>
              </a:rPr>
              <a:t>的加法逆元为</a:t>
            </a:r>
            <a:r>
              <a:rPr lang="zh-CN" altLang="en-US" sz="1200" b="1" dirty="0">
                <a:solidFill>
                  <a:srgbClr val="FF0000"/>
                </a:solidFill>
                <a:latin typeface="Times New Roman" panose="02020603050405020304" pitchFamily="18" charset="0"/>
                <a:ea typeface="+mn-ea"/>
                <a:cs typeface="Times New Roman" panose="02020603050405020304" pitchFamily="18" charset="0"/>
              </a:rPr>
              <a:t>负元</a:t>
            </a:r>
            <a:r>
              <a:rPr lang="zh-CN" altLang="en-US" sz="1200" b="1" dirty="0">
                <a:solidFill>
                  <a:schemeClr val="tx1"/>
                </a:solidFill>
                <a:latin typeface="Times New Roman" panose="02020603050405020304" pitchFamily="18" charset="0"/>
                <a:ea typeface="+mn-ea"/>
                <a:cs typeface="Times New Roman" panose="02020603050405020304" pitchFamily="18" charset="0"/>
              </a:rPr>
              <a:t>，记作</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x</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若</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存在乘法逆元的话，则称之为</a:t>
            </a:r>
            <a:r>
              <a:rPr lang="zh-CN" altLang="en-US" sz="12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逆元</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，记作</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rPr>
              <a:t>1</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因此在环中写</a:t>
            </a:r>
            <a:r>
              <a:rPr lang="en-US" altLang="zh-CN" sz="1200" b="1"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sz="1200" b="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y</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意味着</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y</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ea typeface="+mn-ea"/>
                <a:cs typeface="Times New Roman" panose="02020603050405020304" pitchFamily="18" charset="0"/>
                <a:sym typeface="Symbol" panose="05050102010706020507" pitchFamily="18" charset="2"/>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114</a:t>
            </a:fld>
            <a:endParaRPr lang="zh-CN" altLang="en-US"/>
          </a:p>
        </p:txBody>
      </p:sp>
    </p:spTree>
    <p:extLst>
      <p:ext uri="{BB962C8B-B14F-4D97-AF65-F5344CB8AC3E}">
        <p14:creationId xmlns:p14="http://schemas.microsoft.com/office/powerpoint/2010/main" val="126635384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spcBef>
                <a:spcPct val="0"/>
              </a:spcBef>
              <a:buFontTx/>
              <a:buNone/>
            </a:pPr>
            <a:r>
              <a:rPr lang="zh-CN" altLang="en-US" sz="1200" b="1" dirty="0">
                <a:solidFill>
                  <a:srgbClr val="00B0F0"/>
                </a:solidFill>
              </a:rPr>
              <a:t>例</a:t>
            </a:r>
            <a:r>
              <a:rPr lang="en-US" altLang="zh-CN" sz="1200" b="1" dirty="0">
                <a:solidFill>
                  <a:srgbClr val="00B0F0"/>
                </a:solidFill>
              </a:rPr>
              <a:t>:</a:t>
            </a:r>
          </a:p>
          <a:p>
            <a:pPr eaLnBrk="1" hangingPunct="1">
              <a:lnSpc>
                <a:spcPct val="120000"/>
              </a:lnSpc>
              <a:spcBef>
                <a:spcPct val="0"/>
              </a:spcBef>
              <a:buFontTx/>
              <a:buNone/>
            </a:pPr>
            <a:r>
              <a:rPr lang="en-US" altLang="zh-CN" sz="1200" b="1" dirty="0">
                <a:latin typeface="Times New Roman" panose="02020603050405020304" pitchFamily="18" charset="0"/>
                <a:cs typeface="Times New Roman" panose="02020603050405020304" pitchFamily="18" charset="0"/>
              </a:rPr>
              <a:t>(1) </a:t>
            </a:r>
            <a:r>
              <a:rPr lang="zh-CN" altLang="en-US" sz="1200" b="1" dirty="0">
                <a:latin typeface="Times New Roman" panose="02020603050405020304" pitchFamily="18" charset="0"/>
                <a:cs typeface="Times New Roman" panose="02020603050405020304" pitchFamily="18" charset="0"/>
              </a:rPr>
              <a:t>整数集、有理数集、实数集和复数集关于普通的</a:t>
            </a:r>
          </a:p>
          <a:p>
            <a:pPr eaLnBrk="1" hangingPunct="1">
              <a:lnSpc>
                <a:spcPct val="120000"/>
              </a:lnSpc>
              <a:spcBef>
                <a:spcPct val="0"/>
              </a:spcBef>
              <a:buFontTx/>
              <a:buNone/>
            </a:pPr>
            <a:r>
              <a:rPr lang="zh-CN" altLang="en-US" sz="1200" b="1" dirty="0">
                <a:latin typeface="Times New Roman" panose="02020603050405020304" pitchFamily="18" charset="0"/>
                <a:cs typeface="Times New Roman" panose="02020603050405020304" pitchFamily="18" charset="0"/>
              </a:rPr>
              <a:t>加法</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和乘法</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构成环</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分别称为</a:t>
            </a:r>
            <a:r>
              <a:rPr lang="zh-CN" altLang="en-US" sz="1200" b="1" dirty="0">
                <a:solidFill>
                  <a:srgbClr val="FF0000"/>
                </a:solidFill>
                <a:latin typeface="Times New Roman" panose="02020603050405020304" pitchFamily="18" charset="0"/>
                <a:cs typeface="Times New Roman" panose="02020603050405020304" pitchFamily="18" charset="0"/>
              </a:rPr>
              <a:t>整数环</a:t>
            </a:r>
            <a:r>
              <a:rPr lang="en-US" altLang="zh-CN" sz="1200" b="1" dirty="0">
                <a:solidFill>
                  <a:srgbClr val="FF0000"/>
                </a:solidFill>
                <a:latin typeface="Times New Roman" panose="02020603050405020304" pitchFamily="18" charset="0"/>
                <a:cs typeface="Times New Roman" panose="02020603050405020304" pitchFamily="18" charset="0"/>
              </a:rPr>
              <a:t>Z</a:t>
            </a:r>
            <a:r>
              <a:rPr lang="en-US" altLang="zh-CN" sz="1200" b="1" dirty="0">
                <a:latin typeface="Times New Roman" panose="02020603050405020304" pitchFamily="18" charset="0"/>
                <a:cs typeface="Times New Roman" panose="02020603050405020304" pitchFamily="18" charset="0"/>
              </a:rPr>
              <a:t>,</a:t>
            </a:r>
            <a:r>
              <a:rPr lang="zh-CN" altLang="en-US" sz="1200" b="1" dirty="0">
                <a:solidFill>
                  <a:srgbClr val="FF0000"/>
                </a:solidFill>
                <a:latin typeface="Times New Roman" panose="02020603050405020304" pitchFamily="18" charset="0"/>
                <a:cs typeface="Times New Roman" panose="02020603050405020304" pitchFamily="18" charset="0"/>
              </a:rPr>
              <a:t>有理数环</a:t>
            </a:r>
            <a:r>
              <a:rPr lang="en-US" altLang="zh-CN" sz="1200" b="1" dirty="0">
                <a:solidFill>
                  <a:srgbClr val="FF0000"/>
                </a:solidFill>
                <a:latin typeface="Times New Roman" panose="02020603050405020304" pitchFamily="18" charset="0"/>
                <a:cs typeface="Times New Roman" panose="02020603050405020304" pitchFamily="18" charset="0"/>
              </a:rPr>
              <a:t>Q</a:t>
            </a:r>
            <a:r>
              <a:rPr lang="en-US" altLang="zh-CN" sz="1200" b="1" dirty="0">
                <a:latin typeface="Times New Roman" panose="02020603050405020304" pitchFamily="18" charset="0"/>
                <a:cs typeface="Times New Roman" panose="02020603050405020304" pitchFamily="18" charset="0"/>
              </a:rPr>
              <a:t>,</a:t>
            </a:r>
            <a:r>
              <a:rPr lang="zh-CN" altLang="en-US" sz="1200" b="1" dirty="0">
                <a:solidFill>
                  <a:srgbClr val="FF0000"/>
                </a:solidFill>
                <a:latin typeface="Times New Roman" panose="02020603050405020304" pitchFamily="18" charset="0"/>
                <a:cs typeface="Times New Roman" panose="02020603050405020304" pitchFamily="18" charset="0"/>
              </a:rPr>
              <a:t>实</a:t>
            </a:r>
          </a:p>
          <a:p>
            <a:pPr eaLnBrk="1" hangingPunct="1">
              <a:lnSpc>
                <a:spcPct val="120000"/>
              </a:lnSpc>
              <a:spcBef>
                <a:spcPct val="0"/>
              </a:spcBef>
              <a:buFontTx/>
              <a:buNone/>
            </a:pPr>
            <a:r>
              <a:rPr lang="zh-CN" altLang="en-US" sz="1200" b="1" dirty="0">
                <a:solidFill>
                  <a:srgbClr val="FF0000"/>
                </a:solidFill>
                <a:latin typeface="Times New Roman" panose="02020603050405020304" pitchFamily="18" charset="0"/>
                <a:cs typeface="Times New Roman" panose="02020603050405020304" pitchFamily="18" charset="0"/>
              </a:rPr>
              <a:t>数环</a:t>
            </a:r>
            <a:r>
              <a:rPr lang="en-US" altLang="zh-CN" sz="1200" b="1" dirty="0">
                <a:solidFill>
                  <a:srgbClr val="FF0000"/>
                </a:solidFill>
                <a:latin typeface="Times New Roman" panose="02020603050405020304" pitchFamily="18" charset="0"/>
                <a:cs typeface="Times New Roman" panose="02020603050405020304" pitchFamily="18" charset="0"/>
              </a:rPr>
              <a:t>R</a:t>
            </a:r>
            <a:r>
              <a:rPr lang="zh-CN" altLang="en-US" sz="1200" b="1" dirty="0">
                <a:latin typeface="Times New Roman" panose="02020603050405020304" pitchFamily="18" charset="0"/>
                <a:cs typeface="Times New Roman" panose="02020603050405020304" pitchFamily="18" charset="0"/>
              </a:rPr>
              <a:t>和</a:t>
            </a:r>
            <a:r>
              <a:rPr lang="zh-CN" altLang="en-US" sz="1200" b="1" dirty="0">
                <a:solidFill>
                  <a:srgbClr val="FF0000"/>
                </a:solidFill>
                <a:latin typeface="Times New Roman" panose="02020603050405020304" pitchFamily="18" charset="0"/>
                <a:cs typeface="Times New Roman" panose="02020603050405020304" pitchFamily="18" charset="0"/>
              </a:rPr>
              <a:t>复数环</a:t>
            </a:r>
            <a:r>
              <a:rPr lang="en-US" altLang="zh-CN" sz="1200" b="1" dirty="0">
                <a:solidFill>
                  <a:srgbClr val="FF0000"/>
                </a:solidFill>
                <a:latin typeface="Times New Roman" panose="02020603050405020304" pitchFamily="18" charset="0"/>
                <a:cs typeface="Times New Roman" panose="02020603050405020304" pitchFamily="18" charset="0"/>
              </a:rPr>
              <a:t>C</a:t>
            </a:r>
            <a:r>
              <a:rPr lang="en-US" altLang="zh-CN" sz="1200" b="1" dirty="0">
                <a:latin typeface="Times New Roman" panose="02020603050405020304" pitchFamily="18" charset="0"/>
                <a:cs typeface="Times New Roman" panose="02020603050405020304" pitchFamily="18" charset="0"/>
              </a:rPr>
              <a:t>.</a:t>
            </a:r>
          </a:p>
          <a:p>
            <a:pPr eaLnBrk="1" hangingPunct="1">
              <a:lnSpc>
                <a:spcPct val="120000"/>
              </a:lnSpc>
              <a:spcBef>
                <a:spcPct val="0"/>
              </a:spcBef>
              <a:buFontTx/>
              <a:buNone/>
            </a:pPr>
            <a:r>
              <a:rPr lang="en-US" altLang="zh-CN" sz="1200" b="1" dirty="0">
                <a:latin typeface="Times New Roman" panose="02020603050405020304" pitchFamily="18" charset="0"/>
                <a:cs typeface="Times New Roman" panose="02020603050405020304" pitchFamily="18" charset="0"/>
              </a:rPr>
              <a:t>(2) </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阶实矩阵集合</a:t>
            </a:r>
            <a:r>
              <a:rPr lang="en-US" altLang="zh-CN" sz="1200" b="1" i="1" dirty="0">
                <a:latin typeface="Times New Roman" panose="02020603050405020304" pitchFamily="18" charset="0"/>
                <a:cs typeface="Times New Roman" panose="02020603050405020304" pitchFamily="18" charset="0"/>
              </a:rPr>
              <a:t>M</a:t>
            </a:r>
            <a:r>
              <a:rPr lang="en-US" altLang="zh-CN" sz="1200" b="1" i="1" baseline="-25000"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(R)</a:t>
            </a:r>
            <a:r>
              <a:rPr lang="zh-CN" altLang="en-US" sz="1200" b="1" dirty="0">
                <a:latin typeface="Times New Roman" panose="02020603050405020304" pitchFamily="18" charset="0"/>
                <a:cs typeface="Times New Roman" panose="02020603050405020304" pitchFamily="18" charset="0"/>
              </a:rPr>
              <a:t>关于矩阵的加法和</a:t>
            </a:r>
          </a:p>
          <a:p>
            <a:pPr eaLnBrk="1" hangingPunct="1">
              <a:lnSpc>
                <a:spcPct val="120000"/>
              </a:lnSpc>
              <a:spcBef>
                <a:spcPct val="0"/>
              </a:spcBef>
              <a:buFontTx/>
              <a:buNone/>
            </a:pPr>
            <a:r>
              <a:rPr lang="zh-CN" altLang="en-US" sz="1200" b="1" dirty="0">
                <a:latin typeface="Times New Roman" panose="02020603050405020304" pitchFamily="18" charset="0"/>
                <a:cs typeface="Times New Roman" panose="02020603050405020304" pitchFamily="18" charset="0"/>
              </a:rPr>
              <a:t>乘法构成环</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称为</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zh-CN" altLang="en-US" sz="1200" b="1" dirty="0">
                <a:solidFill>
                  <a:srgbClr val="FF0000"/>
                </a:solidFill>
                <a:latin typeface="Times New Roman" panose="02020603050405020304" pitchFamily="18" charset="0"/>
                <a:cs typeface="Times New Roman" panose="02020603050405020304" pitchFamily="18" charset="0"/>
              </a:rPr>
              <a:t>阶实矩阵环</a:t>
            </a:r>
            <a:r>
              <a:rPr lang="en-US" altLang="zh-CN" sz="1200" b="1" dirty="0">
                <a:latin typeface="Times New Roman" panose="02020603050405020304" pitchFamily="18" charset="0"/>
                <a:cs typeface="Times New Roman" panose="02020603050405020304" pitchFamily="18" charset="0"/>
              </a:rPr>
              <a:t>.</a:t>
            </a:r>
          </a:p>
          <a:p>
            <a:pPr eaLnBrk="1" hangingPunct="1">
              <a:lnSpc>
                <a:spcPct val="120000"/>
              </a:lnSpc>
              <a:spcBef>
                <a:spcPct val="0"/>
              </a:spcBef>
              <a:buFontTx/>
              <a:buNone/>
            </a:pPr>
            <a:r>
              <a:rPr lang="en-US" altLang="zh-CN" sz="1200" b="1" dirty="0">
                <a:latin typeface="Times New Roman" panose="02020603050405020304" pitchFamily="18" charset="0"/>
                <a:cs typeface="Times New Roman" panose="02020603050405020304" pitchFamily="18" charset="0"/>
              </a:rPr>
              <a:t>(3)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Z</a:t>
            </a:r>
            <a:r>
              <a:rPr lang="zh-CN" altLang="en-US"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{0,1,...,</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和</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dirty="0">
                <a:latin typeface="Times New Roman" panose="02020603050405020304" pitchFamily="18" charset="0"/>
                <a:cs typeface="Times New Roman" panose="02020603050405020304" pitchFamily="18" charset="0"/>
              </a:rPr>
              <a:t>分别表示模</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的加法和乘</a:t>
            </a:r>
          </a:p>
          <a:p>
            <a:pPr eaLnBrk="1" hangingPunct="1">
              <a:lnSpc>
                <a:spcPct val="120000"/>
              </a:lnSpc>
              <a:spcBef>
                <a:spcPct val="0"/>
              </a:spcBef>
              <a:buFontTx/>
              <a:buNone/>
            </a:pPr>
            <a:r>
              <a:rPr lang="zh-CN" altLang="en-US" sz="1200" b="1" dirty="0">
                <a:latin typeface="Times New Roman" panose="02020603050405020304" pitchFamily="18" charset="0"/>
                <a:cs typeface="Times New Roman" panose="02020603050405020304" pitchFamily="18" charset="0"/>
              </a:rPr>
              <a:t>法</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则</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Z</a:t>
            </a:r>
            <a:r>
              <a:rPr lang="en-US" altLang="zh-CN" sz="1200" b="1" i="1" baseline="-25000"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&gt;</a:t>
            </a:r>
            <a:r>
              <a:rPr lang="zh-CN" altLang="en-US" sz="1200" b="1" dirty="0">
                <a:latin typeface="Times New Roman" panose="02020603050405020304" pitchFamily="18" charset="0"/>
                <a:cs typeface="Times New Roman" panose="02020603050405020304" pitchFamily="18" charset="0"/>
              </a:rPr>
              <a:t>构成环</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称为</a:t>
            </a:r>
            <a:r>
              <a:rPr lang="zh-CN" altLang="en-US" sz="1200" b="1" dirty="0">
                <a:solidFill>
                  <a:srgbClr val="FF0000"/>
                </a:solidFill>
                <a:latin typeface="Times New Roman" panose="02020603050405020304" pitchFamily="18" charset="0"/>
                <a:cs typeface="Times New Roman" panose="02020603050405020304" pitchFamily="18" charset="0"/>
              </a:rPr>
              <a:t>模</a:t>
            </a:r>
            <a:r>
              <a:rPr lang="en-US" altLang="zh-CN" sz="1200" b="1" i="1" dirty="0">
                <a:solidFill>
                  <a:srgbClr val="FF0000"/>
                </a:solidFill>
                <a:latin typeface="Times New Roman" panose="02020603050405020304" pitchFamily="18" charset="0"/>
                <a:cs typeface="Times New Roman" panose="02020603050405020304" pitchFamily="18" charset="0"/>
              </a:rPr>
              <a:t>n</a:t>
            </a:r>
            <a:r>
              <a:rPr lang="zh-CN" altLang="en-US" sz="1200" b="1" dirty="0">
                <a:solidFill>
                  <a:srgbClr val="FF0000"/>
                </a:solidFill>
                <a:latin typeface="Times New Roman" panose="02020603050405020304" pitchFamily="18" charset="0"/>
                <a:cs typeface="Times New Roman" panose="02020603050405020304" pitchFamily="18" charset="0"/>
              </a:rPr>
              <a:t>的整数环</a:t>
            </a:r>
            <a:r>
              <a:rPr lang="en-US" altLang="zh-CN" sz="1200" b="1" dirty="0">
                <a:latin typeface="Times New Roman" panose="02020603050405020304" pitchFamily="18" charset="0"/>
                <a:cs typeface="Times New Roman" panose="02020603050405020304" pitchFamily="18" charset="0"/>
              </a:rPr>
              <a:t>. </a:t>
            </a:r>
          </a:p>
          <a:p>
            <a:pPr eaLnBrk="1" hangingPunct="1">
              <a:buFont typeface="Wingdings" panose="05000000000000000000" pitchFamily="2" charset="2"/>
              <a:buNone/>
            </a:pPr>
            <a:r>
              <a:rPr lang="en-US" altLang="zh-CN" sz="1200" b="1" dirty="0">
                <a:latin typeface="Times New Roman" panose="02020603050405020304" pitchFamily="18" charset="0"/>
              </a:rPr>
              <a:t>(4) </a:t>
            </a:r>
            <a:r>
              <a:rPr lang="zh-CN" altLang="en-US" sz="1200" b="1" dirty="0">
                <a:latin typeface="Times New Roman" panose="02020603050405020304" pitchFamily="18" charset="0"/>
              </a:rPr>
              <a:t>集合的幂集</a:t>
            </a:r>
            <a:r>
              <a:rPr lang="en-US" altLang="zh-CN" sz="1200" b="1" i="1" dirty="0">
                <a:latin typeface="Times New Roman" panose="02020603050405020304" pitchFamily="18" charset="0"/>
              </a:rPr>
              <a:t>P</a:t>
            </a:r>
            <a:r>
              <a:rPr lang="en-US" altLang="zh-CN" sz="1200" b="1" dirty="0">
                <a:latin typeface="Times New Roman" panose="02020603050405020304" pitchFamily="18" charset="0"/>
              </a:rPr>
              <a:t>(</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a:t>
            </a:r>
            <a:r>
              <a:rPr lang="zh-CN" altLang="en-US" sz="1200" b="1" dirty="0">
                <a:latin typeface="Times New Roman" panose="02020603050405020304" pitchFamily="18" charset="0"/>
              </a:rPr>
              <a:t>关于集合的对称差运算</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latin typeface="Times New Roman" panose="02020603050405020304" pitchFamily="18" charset="0"/>
              </a:rPr>
              <a:t>和交运算</a:t>
            </a:r>
            <a:r>
              <a:rPr lang="en-US" altLang="zh-CN" sz="1200" b="1" dirty="0">
                <a:latin typeface="Times New Roman" panose="02020603050405020304" pitchFamily="18" charset="0"/>
              </a:rPr>
              <a:t>(</a:t>
            </a:r>
            <a:r>
              <a:rPr lang="zh-CN" altLang="en-US" sz="1200" b="1" i="0" dirty="0">
                <a:solidFill>
                  <a:srgbClr val="212529"/>
                </a:solidFill>
                <a:effectLst/>
                <a:latin typeface="system-ui"/>
              </a:rPr>
              <a:t>∩</a:t>
            </a:r>
            <a:r>
              <a:rPr lang="en-US" altLang="zh-CN" sz="1200" b="1" dirty="0">
                <a:latin typeface="Times New Roman" panose="02020603050405020304" pitchFamily="18" charset="0"/>
              </a:rPr>
              <a:t>)</a:t>
            </a:r>
            <a:r>
              <a:rPr lang="zh-CN" altLang="en-US" sz="1200" b="1" dirty="0">
                <a:latin typeface="Times New Roman" panose="02020603050405020304" pitchFamily="18" charset="0"/>
              </a:rPr>
              <a:t>构成环</a:t>
            </a:r>
            <a:r>
              <a:rPr lang="en-US" altLang="zh-CN" sz="1200" b="1" dirty="0">
                <a:latin typeface="Times New Roman" panose="02020603050405020304" pitchFamily="18" charset="0"/>
              </a:rPr>
              <a:t>.</a:t>
            </a:r>
            <a:br>
              <a:rPr lang="en-US" altLang="zh-CN" sz="1200" b="1" dirty="0">
                <a:latin typeface="Times New Roman" panose="02020603050405020304" pitchFamily="18" charset="0"/>
              </a:rPr>
            </a:br>
            <a:endParaRPr lang="zh-CN" altLang="en-US" sz="1200" b="1"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115</a:t>
            </a:fld>
            <a:endParaRPr lang="zh-CN" altLang="en-US"/>
          </a:p>
        </p:txBody>
      </p:sp>
    </p:spTree>
    <p:extLst>
      <p:ext uri="{BB962C8B-B14F-4D97-AF65-F5344CB8AC3E}">
        <p14:creationId xmlns:p14="http://schemas.microsoft.com/office/powerpoint/2010/main" val="191233261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D0D0D"/>
                </a:solidFill>
                <a:effectLst/>
                <a:latin typeface="ui-sans-serif"/>
              </a:rPr>
              <a:t>一个环 </a:t>
            </a:r>
            <a:r>
              <a:rPr lang="en-US" altLang="zh-CN" b="0" i="1" dirty="0">
                <a:solidFill>
                  <a:srgbClr val="0D0D0D"/>
                </a:solidFill>
                <a:effectLst/>
                <a:latin typeface="KaTeX_Math"/>
              </a:rPr>
              <a:t>R</a:t>
            </a:r>
            <a:r>
              <a:rPr lang="zh-CN" altLang="en-US" b="0" i="0" dirty="0">
                <a:solidFill>
                  <a:srgbClr val="0D0D0D"/>
                </a:solidFill>
                <a:effectLst/>
                <a:latin typeface="ui-sans-serif"/>
              </a:rPr>
              <a:t> 被称为无零因子环，如果 </a:t>
            </a:r>
            <a:r>
              <a:rPr lang="en-US" altLang="zh-CN" b="0" i="1" dirty="0">
                <a:solidFill>
                  <a:srgbClr val="0D0D0D"/>
                </a:solidFill>
                <a:effectLst/>
                <a:latin typeface="KaTeX_Math"/>
              </a:rPr>
              <a:t>a</a:t>
            </a:r>
            <a:r>
              <a:rPr lang="zh-CN" altLang="en-US" b="0" i="0" dirty="0">
                <a:solidFill>
                  <a:srgbClr val="0D0D0D"/>
                </a:solidFill>
                <a:effectLst/>
                <a:latin typeface="KaTeX_Main"/>
              </a:rPr>
              <a:t>⋅</a:t>
            </a:r>
            <a:r>
              <a:rPr lang="en-US" altLang="zh-CN" b="0" i="1" dirty="0">
                <a:solidFill>
                  <a:srgbClr val="0D0D0D"/>
                </a:solidFill>
                <a:effectLst/>
                <a:latin typeface="KaTeX_Math"/>
              </a:rPr>
              <a:t>b</a:t>
            </a:r>
            <a:r>
              <a:rPr lang="en-US" altLang="zh-CN" b="0" i="0" dirty="0">
                <a:solidFill>
                  <a:srgbClr val="0D0D0D"/>
                </a:solidFill>
                <a:effectLst/>
                <a:latin typeface="KaTeX_Main"/>
              </a:rPr>
              <a:t>=0</a:t>
            </a:r>
            <a:r>
              <a:rPr lang="zh-CN" altLang="en-US" b="0" i="0" dirty="0">
                <a:solidFill>
                  <a:srgbClr val="0D0D0D"/>
                </a:solidFill>
                <a:effectLst/>
                <a:latin typeface="ui-sans-serif"/>
              </a:rPr>
              <a:t> 或 </a:t>
            </a:r>
            <a:r>
              <a:rPr lang="en-US" altLang="zh-CN" b="0" i="1" dirty="0">
                <a:solidFill>
                  <a:srgbClr val="0D0D0D"/>
                </a:solidFill>
                <a:effectLst/>
                <a:latin typeface="KaTeX_Math"/>
              </a:rPr>
              <a:t>b</a:t>
            </a:r>
            <a:r>
              <a:rPr lang="zh-CN" altLang="en-US" b="0" i="0" dirty="0">
                <a:solidFill>
                  <a:srgbClr val="0D0D0D"/>
                </a:solidFill>
                <a:effectLst/>
                <a:latin typeface="KaTeX_Main"/>
              </a:rPr>
              <a:t>⋅</a:t>
            </a:r>
            <a:r>
              <a:rPr lang="en-US" altLang="zh-CN" b="0" i="1" dirty="0">
                <a:solidFill>
                  <a:srgbClr val="0D0D0D"/>
                </a:solidFill>
                <a:effectLst/>
                <a:latin typeface="KaTeX_Math"/>
              </a:rPr>
              <a:t>a</a:t>
            </a:r>
            <a:r>
              <a:rPr lang="en-US" altLang="zh-CN" b="0" i="0" dirty="0">
                <a:solidFill>
                  <a:srgbClr val="0D0D0D"/>
                </a:solidFill>
                <a:effectLst/>
                <a:latin typeface="KaTeX_Main"/>
              </a:rPr>
              <a:t>=0</a:t>
            </a:r>
            <a:r>
              <a:rPr lang="zh-CN" altLang="en-US" b="0" i="0" dirty="0">
                <a:solidFill>
                  <a:srgbClr val="0D0D0D"/>
                </a:solidFill>
                <a:effectLst/>
                <a:latin typeface="ui-sans-serif"/>
              </a:rPr>
              <a:t> 必须意味着 </a:t>
            </a:r>
            <a:r>
              <a:rPr lang="en-US" altLang="zh-CN" b="0" i="1" dirty="0">
                <a:solidFill>
                  <a:srgbClr val="0D0D0D"/>
                </a:solidFill>
                <a:effectLst/>
                <a:latin typeface="KaTeX_Math"/>
              </a:rPr>
              <a:t>a</a:t>
            </a:r>
            <a:r>
              <a:rPr lang="en-US" altLang="zh-CN" b="0" i="0" dirty="0">
                <a:solidFill>
                  <a:srgbClr val="0D0D0D"/>
                </a:solidFill>
                <a:effectLst/>
                <a:latin typeface="KaTeX_Main"/>
              </a:rPr>
              <a:t>=0</a:t>
            </a:r>
            <a:r>
              <a:rPr lang="zh-CN" altLang="en-US" b="0" i="0" dirty="0">
                <a:solidFill>
                  <a:srgbClr val="0D0D0D"/>
                </a:solidFill>
                <a:effectLst/>
                <a:latin typeface="ui-sans-serif"/>
              </a:rPr>
              <a:t> 或 </a:t>
            </a:r>
            <a:r>
              <a:rPr lang="en-US" altLang="zh-CN" b="0" i="1" dirty="0">
                <a:solidFill>
                  <a:srgbClr val="0D0D0D"/>
                </a:solidFill>
                <a:effectLst/>
                <a:latin typeface="KaTeX_Math"/>
              </a:rPr>
              <a:t>b</a:t>
            </a:r>
            <a:r>
              <a:rPr lang="en-US" altLang="zh-CN" b="0" i="0" dirty="0">
                <a:solidFill>
                  <a:srgbClr val="0D0D0D"/>
                </a:solidFill>
                <a:effectLst/>
                <a:latin typeface="KaTeX_Main"/>
              </a:rPr>
              <a:t>=0</a:t>
            </a:r>
            <a:r>
              <a:rPr lang="zh-CN" altLang="en-US" b="0" i="0" dirty="0">
                <a:solidFill>
                  <a:srgbClr val="0D0D0D"/>
                </a:solidFill>
                <a:effectLst/>
                <a:latin typeface="ui-sans-serif"/>
              </a:rPr>
              <a:t>。</a:t>
            </a:r>
          </a:p>
          <a:p>
            <a:pPr eaLnBrk="1" hangingPunct="1">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在环</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中</a:t>
            </a: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pPr marL="342900" indent="-342900" eaLnBrk="1" hangingPunct="1">
              <a:lnSpc>
                <a:spcPct val="11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mn-ea"/>
                <a:cs typeface="Times New Roman" panose="02020603050405020304" pitchFamily="18" charset="0"/>
              </a:rPr>
              <a:t>如果乘法</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适合交换律</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则称</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为</a:t>
            </a:r>
            <a:r>
              <a:rPr lang="zh-CN" altLang="en-US" sz="1200" b="1" dirty="0">
                <a:solidFill>
                  <a:srgbClr val="FF0000"/>
                </a:solidFill>
                <a:latin typeface="Times New Roman" panose="02020603050405020304" pitchFamily="18" charset="0"/>
                <a:ea typeface="+mn-ea"/>
                <a:cs typeface="Times New Roman" panose="02020603050405020304" pitchFamily="18" charset="0"/>
              </a:rPr>
              <a:t>交换环</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lang="en-US" altLang="zh-CN" sz="1200" b="1" dirty="0">
              <a:solidFill>
                <a:srgbClr val="FF0000"/>
              </a:solidFill>
              <a:latin typeface="Times New Roman" panose="02020603050405020304" pitchFamily="18" charset="0"/>
              <a:ea typeface="+mn-ea"/>
              <a:cs typeface="Times New Roman" panose="02020603050405020304" pitchFamily="18" charset="0"/>
            </a:endParaRPr>
          </a:p>
          <a:p>
            <a:pPr marL="342900" indent="-342900" eaLnBrk="1" hangingPunct="1">
              <a:lnSpc>
                <a:spcPct val="11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mn-ea"/>
                <a:cs typeface="Times New Roman" panose="02020603050405020304" pitchFamily="18" charset="0"/>
              </a:rPr>
              <a:t>如果对乘法</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有幺元</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则称</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为</a:t>
            </a:r>
            <a:r>
              <a:rPr lang="zh-CN" altLang="en-US" sz="1200" b="1" dirty="0">
                <a:solidFill>
                  <a:srgbClr val="FF0000"/>
                </a:solidFill>
                <a:latin typeface="Times New Roman" panose="02020603050405020304" pitchFamily="18" charset="0"/>
                <a:ea typeface="+mn-ea"/>
                <a:cs typeface="Times New Roman" panose="02020603050405020304" pitchFamily="18" charset="0"/>
              </a:rPr>
              <a:t>含幺环</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lang="en-US" altLang="zh-CN" sz="1200" b="1" dirty="0">
              <a:solidFill>
                <a:srgbClr val="FF0000"/>
              </a:solidFill>
              <a:latin typeface="Times New Roman" panose="02020603050405020304" pitchFamily="18" charset="0"/>
              <a:ea typeface="+mn-ea"/>
              <a:cs typeface="Times New Roman" panose="02020603050405020304" pitchFamily="18" charset="0"/>
            </a:endParaRPr>
          </a:p>
          <a:p>
            <a:pPr marL="342900" indent="-342900" eaLnBrk="1" hangingPunct="1">
              <a:lnSpc>
                <a:spcPct val="110000"/>
              </a:lnSpc>
              <a:buFont typeface="Wingdings" panose="05000000000000000000" pitchFamily="2" charset="2"/>
              <a:buChar char="Ø"/>
            </a:pPr>
            <a:r>
              <a:rPr lang="zh-CN" altLang="en-US" sz="1200" b="1" dirty="0">
                <a:solidFill>
                  <a:srgbClr val="000000"/>
                </a:solidFill>
                <a:latin typeface="Times New Roman" panose="02020603050405020304" pitchFamily="18" charset="0"/>
                <a:ea typeface="+mn-ea"/>
              </a:rPr>
              <a:t>如果存在</a:t>
            </a:r>
            <a:r>
              <a:rPr lang="en-US" altLang="zh-CN" sz="1200" b="1" i="1" dirty="0">
                <a:solidFill>
                  <a:srgbClr val="000000"/>
                </a:solidFill>
                <a:latin typeface="Times New Roman" panose="02020603050405020304" pitchFamily="18" charset="0"/>
                <a:ea typeface="+mn-ea"/>
              </a:rPr>
              <a:t>a</a:t>
            </a:r>
            <a:r>
              <a:rPr lang="en-US" altLang="zh-CN" sz="1200" b="1" dirty="0">
                <a:solidFill>
                  <a:srgbClr val="000000"/>
                </a:solidFill>
                <a:latin typeface="Times New Roman" panose="02020603050405020304" pitchFamily="18" charset="0"/>
                <a:ea typeface="+mn-ea"/>
                <a:sym typeface="Symbol" panose="05050102010706020507" pitchFamily="18" charset="2"/>
              </a:rPr>
              <a:t>, </a:t>
            </a:r>
            <a:r>
              <a:rPr lang="en-US" altLang="zh-CN" sz="1200" b="1" i="1" dirty="0" err="1">
                <a:solidFill>
                  <a:srgbClr val="000000"/>
                </a:solidFill>
                <a:latin typeface="Times New Roman" panose="02020603050405020304" pitchFamily="18" charset="0"/>
                <a:ea typeface="+mn-ea"/>
                <a:sym typeface="Symbol" panose="05050102010706020507" pitchFamily="18" charset="2"/>
              </a:rPr>
              <a:t>b</a:t>
            </a:r>
            <a:r>
              <a:rPr lang="en-US" altLang="zh-CN" sz="1200" b="1" dirty="0" err="1">
                <a:solidFill>
                  <a:srgbClr val="000000"/>
                </a:solidFill>
                <a:latin typeface="Times New Roman" panose="02020603050405020304" pitchFamily="18" charset="0"/>
                <a:ea typeface="+mn-ea"/>
                <a:sym typeface="Symbol" panose="05050102010706020507" pitchFamily="18" charset="2"/>
              </a:rPr>
              <a:t>∈</a:t>
            </a:r>
            <a:r>
              <a:rPr lang="en-US" altLang="zh-CN" sz="1200" b="1" i="1" dirty="0" err="1">
                <a:solidFill>
                  <a:srgbClr val="000000"/>
                </a:solidFill>
                <a:latin typeface="Times New Roman" panose="02020603050405020304" pitchFamily="18" charset="0"/>
                <a:ea typeface="+mn-ea"/>
                <a:sym typeface="Symbol" panose="05050102010706020507" pitchFamily="18" charset="2"/>
              </a:rPr>
              <a:t>R</a:t>
            </a:r>
            <a:r>
              <a:rPr lang="en-US" altLang="zh-CN" sz="1200" b="1" i="1" dirty="0">
                <a:solidFill>
                  <a:srgbClr val="000000"/>
                </a:solidFill>
                <a:latin typeface="Times New Roman" panose="02020603050405020304" pitchFamily="18" charset="0"/>
                <a:ea typeface="+mn-ea"/>
                <a:sym typeface="Symbol" panose="05050102010706020507" pitchFamily="18" charset="2"/>
              </a:rPr>
              <a:t>, </a:t>
            </a:r>
            <a:r>
              <a:rPr lang="en-US" altLang="zh-CN" sz="1200" b="1" i="1" dirty="0">
                <a:solidFill>
                  <a:srgbClr val="000000"/>
                </a:solidFill>
                <a:latin typeface="Times New Roman" panose="02020603050405020304" pitchFamily="18" charset="0"/>
                <a:ea typeface="+mn-ea"/>
              </a:rPr>
              <a:t>c</a:t>
            </a:r>
            <a:r>
              <a:rPr lang="en-US" altLang="zh-CN" sz="1200" b="1" dirty="0">
                <a:solidFill>
                  <a:srgbClr val="000000"/>
                </a:solidFill>
                <a:latin typeface="Times New Roman" panose="02020603050405020304" pitchFamily="18" charset="0"/>
                <a:ea typeface="+mn-ea"/>
                <a:sym typeface="Symbol" panose="05050102010706020507" pitchFamily="18" charset="2"/>
              </a:rPr>
              <a:t>, </a:t>
            </a:r>
            <a:r>
              <a:rPr lang="en-US" altLang="zh-CN" sz="1200" b="1" i="1" dirty="0">
                <a:solidFill>
                  <a:srgbClr val="000000"/>
                </a:solidFill>
                <a:latin typeface="Times New Roman" panose="02020603050405020304" pitchFamily="18" charset="0"/>
                <a:ea typeface="+mn-ea"/>
                <a:sym typeface="Symbol" panose="05050102010706020507" pitchFamily="18" charset="2"/>
              </a:rPr>
              <a:t>b</a:t>
            </a:r>
            <a:r>
              <a:rPr lang="zh-CN" altLang="en-US" sz="1200" b="1" dirty="0">
                <a:solidFill>
                  <a:srgbClr val="000000"/>
                </a:solidFill>
                <a:latin typeface="Times New Roman" panose="02020603050405020304" pitchFamily="18" charset="0"/>
                <a:ea typeface="+mn-ea"/>
              </a:rPr>
              <a:t> ≠</a:t>
            </a:r>
            <a:r>
              <a:rPr lang="en-US" altLang="zh-CN" sz="1200" b="1" dirty="0">
                <a:solidFill>
                  <a:srgbClr val="000000"/>
                </a:solidFill>
                <a:latin typeface="Times New Roman" panose="02020603050405020304" pitchFamily="18" charset="0"/>
                <a:ea typeface="+mn-ea"/>
              </a:rPr>
              <a:t>0, </a:t>
            </a:r>
            <a:r>
              <a:rPr lang="zh-CN" altLang="en-US" sz="1200" b="1" dirty="0">
                <a:solidFill>
                  <a:srgbClr val="000000"/>
                </a:solidFill>
                <a:latin typeface="Times New Roman" panose="02020603050405020304" pitchFamily="18" charset="0"/>
                <a:ea typeface="+mn-ea"/>
              </a:rPr>
              <a:t>但</a:t>
            </a:r>
            <a:r>
              <a:rPr lang="en-US" altLang="zh-CN" sz="1200" b="1" i="1" dirty="0" err="1">
                <a:solidFill>
                  <a:srgbClr val="000000"/>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rgbClr val="000000"/>
                </a:solidFill>
                <a:latin typeface="Times New Roman" panose="02020603050405020304" pitchFamily="18" charset="0"/>
                <a:ea typeface="+mn-ea"/>
                <a:sym typeface="Symbol" panose="05050102010706020507" pitchFamily="18" charset="2"/>
              </a:rPr>
              <a:t>b</a:t>
            </a:r>
            <a:r>
              <a:rPr lang="en-US" altLang="zh-CN" sz="1200" b="1" i="1" dirty="0">
                <a:solidFill>
                  <a:srgbClr val="000000"/>
                </a:solidFill>
                <a:latin typeface="Times New Roman" panose="02020603050405020304" pitchFamily="18" charset="0"/>
                <a:ea typeface="+mn-ea"/>
                <a:sym typeface="Symbol" panose="05050102010706020507" pitchFamily="18" charset="2"/>
              </a:rPr>
              <a:t>=</a:t>
            </a:r>
            <a:r>
              <a:rPr lang="en-US" altLang="zh-CN" sz="1200" b="1" dirty="0">
                <a:solidFill>
                  <a:srgbClr val="000000"/>
                </a:solidFill>
                <a:latin typeface="Times New Roman" panose="02020603050405020304" pitchFamily="18" charset="0"/>
                <a:ea typeface="+mn-ea"/>
                <a:sym typeface="Symbol" panose="05050102010706020507" pitchFamily="18" charset="2"/>
              </a:rPr>
              <a:t>0, </a:t>
            </a:r>
            <a:r>
              <a:rPr lang="zh-CN" altLang="en-US" sz="1200" b="1" dirty="0">
                <a:solidFill>
                  <a:srgbClr val="000000"/>
                </a:solidFill>
                <a:latin typeface="Times New Roman" panose="02020603050405020304" pitchFamily="18" charset="0"/>
                <a:ea typeface="+mn-ea"/>
                <a:sym typeface="Symbol" panose="05050102010706020507" pitchFamily="18" charset="2"/>
              </a:rPr>
              <a:t>则称</a:t>
            </a:r>
            <a:r>
              <a:rPr lang="en-US" altLang="zh-CN" sz="1200" b="1" i="1" dirty="0">
                <a:solidFill>
                  <a:srgbClr val="000000"/>
                </a:solidFill>
                <a:latin typeface="Times New Roman" panose="02020603050405020304" pitchFamily="18" charset="0"/>
                <a:ea typeface="+mn-ea"/>
              </a:rPr>
              <a:t>a</a:t>
            </a:r>
            <a:r>
              <a:rPr lang="zh-CN" altLang="en-US" sz="1200" b="1" dirty="0">
                <a:solidFill>
                  <a:srgbClr val="000000"/>
                </a:solidFill>
                <a:latin typeface="Times New Roman" panose="02020603050405020304" pitchFamily="18" charset="0"/>
                <a:ea typeface="+mn-ea"/>
                <a:sym typeface="Symbol" panose="05050102010706020507" pitchFamily="18" charset="2"/>
              </a:rPr>
              <a:t>为</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中的</a:t>
            </a:r>
            <a:r>
              <a:rPr lang="zh-CN" altLang="en-US" sz="1200" b="1" dirty="0">
                <a:solidFill>
                  <a:srgbClr val="FF0000"/>
                </a:solidFill>
                <a:latin typeface="Times New Roman" panose="02020603050405020304" pitchFamily="18" charset="0"/>
                <a:ea typeface="+mn-ea"/>
                <a:sym typeface="Symbol" panose="05050102010706020507" pitchFamily="18" charset="2"/>
              </a:rPr>
              <a:t>左零因子</a:t>
            </a:r>
            <a:r>
              <a:rPr lang="en-US" altLang="zh-CN" sz="1200" b="1" dirty="0">
                <a:solidFill>
                  <a:srgbClr val="000000"/>
                </a:solidFill>
                <a:latin typeface="Times New Roman" panose="02020603050405020304" pitchFamily="18" charset="0"/>
                <a:ea typeface="+mn-ea"/>
                <a:sym typeface="Symbol" panose="05050102010706020507" pitchFamily="18" charset="2"/>
              </a:rPr>
              <a:t>,</a:t>
            </a:r>
            <a:r>
              <a:rPr lang="en-US" altLang="zh-CN" sz="1200" b="1" i="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sym typeface="Symbol" panose="05050102010706020507" pitchFamily="18" charset="2"/>
              </a:rPr>
              <a:t>b</a:t>
            </a:r>
            <a:r>
              <a:rPr lang="zh-CN" altLang="en-US" sz="1200" b="1" dirty="0">
                <a:solidFill>
                  <a:srgbClr val="000000"/>
                </a:solidFill>
                <a:latin typeface="Times New Roman" panose="02020603050405020304" pitchFamily="18" charset="0"/>
                <a:ea typeface="+mn-ea"/>
                <a:sym typeface="Symbol" panose="05050102010706020507" pitchFamily="18" charset="2"/>
              </a:rPr>
              <a:t>为</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中的</a:t>
            </a:r>
            <a:r>
              <a:rPr lang="zh-CN" altLang="en-US" sz="12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右</a:t>
            </a:r>
            <a:r>
              <a:rPr lang="zh-CN" altLang="en-US" sz="1200" b="1" dirty="0">
                <a:solidFill>
                  <a:srgbClr val="FF0000"/>
                </a:solidFill>
                <a:latin typeface="Times New Roman" panose="02020603050405020304" pitchFamily="18" charset="0"/>
                <a:ea typeface="+mn-ea"/>
                <a:sym typeface="Symbol" panose="05050102010706020507" pitchFamily="18" charset="2"/>
              </a:rPr>
              <a:t>零因子</a:t>
            </a:r>
            <a:r>
              <a:rPr lang="en-US" altLang="zh-CN" sz="1200" b="1" dirty="0">
                <a:solidFill>
                  <a:srgbClr val="000000"/>
                </a:solidFill>
                <a:latin typeface="Times New Roman" panose="02020603050405020304" pitchFamily="18" charset="0"/>
                <a:ea typeface="+mn-ea"/>
                <a:sym typeface="Symbol" panose="05050102010706020507" pitchFamily="18" charset="2"/>
              </a:rPr>
              <a:t>. </a:t>
            </a:r>
            <a:r>
              <a:rPr lang="zh-CN" altLang="en-US" sz="1200" b="1" dirty="0">
                <a:solidFill>
                  <a:srgbClr val="000000"/>
                </a:solidFill>
                <a:latin typeface="Times New Roman" panose="02020603050405020304" pitchFamily="18" charset="0"/>
                <a:ea typeface="+mn-ea"/>
                <a:sym typeface="Symbol" panose="05050102010706020507" pitchFamily="18" charset="2"/>
              </a:rPr>
              <a:t>不含</a:t>
            </a:r>
            <a:r>
              <a:rPr lang="zh-CN" altLang="en-US" sz="1200" b="1" dirty="0">
                <a:solidFill>
                  <a:schemeClr val="tx1"/>
                </a:solidFill>
                <a:latin typeface="Times New Roman" panose="02020603050405020304" pitchFamily="18" charset="0"/>
                <a:ea typeface="+mn-ea"/>
                <a:sym typeface="Symbol" panose="05050102010706020507" pitchFamily="18" charset="2"/>
              </a:rPr>
              <a:t>左右零因子的称为</a:t>
            </a:r>
            <a:r>
              <a:rPr lang="zh-CN" altLang="en-US" sz="1200" b="1" dirty="0">
                <a:solidFill>
                  <a:srgbClr val="FF0000"/>
                </a:solidFill>
                <a:latin typeface="Times New Roman" panose="02020603050405020304" pitchFamily="18" charset="0"/>
                <a:ea typeface="+mn-ea"/>
                <a:sym typeface="Symbol" panose="05050102010706020507" pitchFamily="18" charset="2"/>
              </a:rPr>
              <a:t>无零因子环</a:t>
            </a:r>
            <a:r>
              <a:rPr lang="en-US" altLang="zh-CN" sz="1200" b="1" dirty="0">
                <a:solidFill>
                  <a:srgbClr val="FF0000"/>
                </a:solidFill>
                <a:latin typeface="Times New Roman" panose="02020603050405020304" pitchFamily="18" charset="0"/>
                <a:ea typeface="+mn-ea"/>
                <a:sym typeface="Symbol" panose="05050102010706020507" pitchFamily="18" charset="2"/>
              </a:rPr>
              <a:t>.</a:t>
            </a: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116</a:t>
            </a:fld>
            <a:endParaRPr lang="zh-CN" altLang="en-US"/>
          </a:p>
        </p:txBody>
      </p:sp>
    </p:spTree>
    <p:extLst>
      <p:ext uri="{BB962C8B-B14F-4D97-AF65-F5344CB8AC3E}">
        <p14:creationId xmlns:p14="http://schemas.microsoft.com/office/powerpoint/2010/main" val="298200955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D0D0D"/>
                </a:solidFill>
                <a:effectLst/>
                <a:latin typeface="ui-sans-serif"/>
              </a:rPr>
              <a:t>一个环 </a:t>
            </a:r>
            <a:r>
              <a:rPr lang="en-US" altLang="zh-CN" b="0" i="1" dirty="0">
                <a:solidFill>
                  <a:srgbClr val="0D0D0D"/>
                </a:solidFill>
                <a:effectLst/>
                <a:latin typeface="KaTeX_Math"/>
              </a:rPr>
              <a:t>R</a:t>
            </a:r>
            <a:r>
              <a:rPr lang="zh-CN" altLang="en-US" b="0" i="0" dirty="0">
                <a:solidFill>
                  <a:srgbClr val="0D0D0D"/>
                </a:solidFill>
                <a:effectLst/>
                <a:latin typeface="ui-sans-serif"/>
              </a:rPr>
              <a:t> 被称为无零因子环，如果 </a:t>
            </a:r>
            <a:r>
              <a:rPr lang="en-US" altLang="zh-CN" b="0" i="1" dirty="0">
                <a:solidFill>
                  <a:srgbClr val="0D0D0D"/>
                </a:solidFill>
                <a:effectLst/>
                <a:latin typeface="KaTeX_Math"/>
              </a:rPr>
              <a:t>a</a:t>
            </a:r>
            <a:r>
              <a:rPr lang="zh-CN" altLang="en-US" b="0" i="0" dirty="0">
                <a:solidFill>
                  <a:srgbClr val="0D0D0D"/>
                </a:solidFill>
                <a:effectLst/>
                <a:latin typeface="KaTeX_Main"/>
              </a:rPr>
              <a:t>⋅</a:t>
            </a:r>
            <a:r>
              <a:rPr lang="en-US" altLang="zh-CN" b="0" i="1" dirty="0">
                <a:solidFill>
                  <a:srgbClr val="0D0D0D"/>
                </a:solidFill>
                <a:effectLst/>
                <a:latin typeface="KaTeX_Math"/>
              </a:rPr>
              <a:t>b</a:t>
            </a:r>
            <a:r>
              <a:rPr lang="en-US" altLang="zh-CN" b="0" i="0" dirty="0">
                <a:solidFill>
                  <a:srgbClr val="0D0D0D"/>
                </a:solidFill>
                <a:effectLst/>
                <a:latin typeface="KaTeX_Main"/>
              </a:rPr>
              <a:t>=0</a:t>
            </a:r>
            <a:r>
              <a:rPr lang="zh-CN" altLang="en-US" b="0" i="0" dirty="0">
                <a:solidFill>
                  <a:srgbClr val="0D0D0D"/>
                </a:solidFill>
                <a:effectLst/>
                <a:latin typeface="ui-sans-serif"/>
              </a:rPr>
              <a:t> 或 </a:t>
            </a:r>
            <a:r>
              <a:rPr lang="en-US" altLang="zh-CN" b="0" i="1" dirty="0">
                <a:solidFill>
                  <a:srgbClr val="0D0D0D"/>
                </a:solidFill>
                <a:effectLst/>
                <a:latin typeface="KaTeX_Math"/>
              </a:rPr>
              <a:t>b</a:t>
            </a:r>
            <a:r>
              <a:rPr lang="zh-CN" altLang="en-US" b="0" i="0" dirty="0">
                <a:solidFill>
                  <a:srgbClr val="0D0D0D"/>
                </a:solidFill>
                <a:effectLst/>
                <a:latin typeface="KaTeX_Main"/>
              </a:rPr>
              <a:t>⋅</a:t>
            </a:r>
            <a:r>
              <a:rPr lang="en-US" altLang="zh-CN" b="0" i="1" dirty="0">
                <a:solidFill>
                  <a:srgbClr val="0D0D0D"/>
                </a:solidFill>
                <a:effectLst/>
                <a:latin typeface="KaTeX_Math"/>
              </a:rPr>
              <a:t>a</a:t>
            </a:r>
            <a:r>
              <a:rPr lang="en-US" altLang="zh-CN" b="0" i="0" dirty="0">
                <a:solidFill>
                  <a:srgbClr val="0D0D0D"/>
                </a:solidFill>
                <a:effectLst/>
                <a:latin typeface="KaTeX_Main"/>
              </a:rPr>
              <a:t>=0</a:t>
            </a:r>
            <a:r>
              <a:rPr lang="zh-CN" altLang="en-US" b="0" i="0" dirty="0">
                <a:solidFill>
                  <a:srgbClr val="0D0D0D"/>
                </a:solidFill>
                <a:effectLst/>
                <a:latin typeface="ui-sans-serif"/>
              </a:rPr>
              <a:t> 必须意味着 </a:t>
            </a:r>
            <a:r>
              <a:rPr lang="en-US" altLang="zh-CN" b="0" i="1" dirty="0">
                <a:solidFill>
                  <a:srgbClr val="0D0D0D"/>
                </a:solidFill>
                <a:effectLst/>
                <a:latin typeface="KaTeX_Math"/>
              </a:rPr>
              <a:t>a</a:t>
            </a:r>
            <a:r>
              <a:rPr lang="en-US" altLang="zh-CN" b="0" i="0" dirty="0">
                <a:solidFill>
                  <a:srgbClr val="0D0D0D"/>
                </a:solidFill>
                <a:effectLst/>
                <a:latin typeface="KaTeX_Main"/>
              </a:rPr>
              <a:t>=0</a:t>
            </a:r>
            <a:r>
              <a:rPr lang="zh-CN" altLang="en-US" b="0" i="0" dirty="0">
                <a:solidFill>
                  <a:srgbClr val="0D0D0D"/>
                </a:solidFill>
                <a:effectLst/>
                <a:latin typeface="ui-sans-serif"/>
              </a:rPr>
              <a:t> 或 </a:t>
            </a:r>
            <a:r>
              <a:rPr lang="en-US" altLang="zh-CN" b="0" i="1" dirty="0">
                <a:solidFill>
                  <a:srgbClr val="0D0D0D"/>
                </a:solidFill>
                <a:effectLst/>
                <a:latin typeface="KaTeX_Math"/>
              </a:rPr>
              <a:t>b</a:t>
            </a:r>
            <a:r>
              <a:rPr lang="en-US" altLang="zh-CN" b="0" i="0" dirty="0">
                <a:solidFill>
                  <a:srgbClr val="0D0D0D"/>
                </a:solidFill>
                <a:effectLst/>
                <a:latin typeface="KaTeX_Main"/>
              </a:rPr>
              <a:t>=0</a:t>
            </a:r>
            <a:r>
              <a:rPr lang="zh-CN" altLang="en-US" b="0" i="0" dirty="0">
                <a:solidFill>
                  <a:srgbClr val="0D0D0D"/>
                </a:solidFill>
                <a:effectLst/>
                <a:latin typeface="ui-sans-serif"/>
              </a:rPr>
              <a:t>。</a:t>
            </a:r>
          </a:p>
          <a:p>
            <a:pPr eaLnBrk="1" hangingPunct="1">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在环</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中</a:t>
            </a: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pPr marL="342900" indent="-342900" eaLnBrk="1" hangingPunct="1">
              <a:lnSpc>
                <a:spcPct val="11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mn-ea"/>
                <a:cs typeface="Times New Roman" panose="02020603050405020304" pitchFamily="18" charset="0"/>
              </a:rPr>
              <a:t>如果乘法</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适合交换律</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则称</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为</a:t>
            </a:r>
            <a:r>
              <a:rPr lang="zh-CN" altLang="en-US" sz="1200" b="1" dirty="0">
                <a:solidFill>
                  <a:srgbClr val="FF0000"/>
                </a:solidFill>
                <a:latin typeface="Times New Roman" panose="02020603050405020304" pitchFamily="18" charset="0"/>
                <a:ea typeface="+mn-ea"/>
                <a:cs typeface="Times New Roman" panose="02020603050405020304" pitchFamily="18" charset="0"/>
              </a:rPr>
              <a:t>交换环</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lang="en-US" altLang="zh-CN" sz="1200" b="1" dirty="0">
              <a:solidFill>
                <a:srgbClr val="FF0000"/>
              </a:solidFill>
              <a:latin typeface="Times New Roman" panose="02020603050405020304" pitchFamily="18" charset="0"/>
              <a:ea typeface="+mn-ea"/>
              <a:cs typeface="Times New Roman" panose="02020603050405020304" pitchFamily="18" charset="0"/>
            </a:endParaRPr>
          </a:p>
          <a:p>
            <a:pPr marL="342900" indent="-342900" eaLnBrk="1" hangingPunct="1">
              <a:lnSpc>
                <a:spcPct val="11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mn-ea"/>
                <a:cs typeface="Times New Roman" panose="02020603050405020304" pitchFamily="18" charset="0"/>
              </a:rPr>
              <a:t>如果对乘法</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有幺元</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则称</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为</a:t>
            </a:r>
            <a:r>
              <a:rPr lang="zh-CN" altLang="en-US" sz="1200" b="1" dirty="0">
                <a:solidFill>
                  <a:srgbClr val="FF0000"/>
                </a:solidFill>
                <a:latin typeface="Times New Roman" panose="02020603050405020304" pitchFamily="18" charset="0"/>
                <a:ea typeface="+mn-ea"/>
                <a:cs typeface="Times New Roman" panose="02020603050405020304" pitchFamily="18" charset="0"/>
              </a:rPr>
              <a:t>含幺环</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lang="en-US" altLang="zh-CN" sz="1200" b="1" dirty="0">
              <a:solidFill>
                <a:srgbClr val="FF0000"/>
              </a:solidFill>
              <a:latin typeface="Times New Roman" panose="02020603050405020304" pitchFamily="18" charset="0"/>
              <a:ea typeface="+mn-ea"/>
              <a:cs typeface="Times New Roman" panose="02020603050405020304" pitchFamily="18" charset="0"/>
            </a:endParaRPr>
          </a:p>
          <a:p>
            <a:pPr marL="342900" indent="-342900" eaLnBrk="1" hangingPunct="1">
              <a:lnSpc>
                <a:spcPct val="110000"/>
              </a:lnSpc>
              <a:buFont typeface="Wingdings" panose="05000000000000000000" pitchFamily="2" charset="2"/>
              <a:buChar char="Ø"/>
            </a:pPr>
            <a:r>
              <a:rPr lang="zh-CN" altLang="en-US" sz="1200" b="1" dirty="0">
                <a:solidFill>
                  <a:srgbClr val="000000"/>
                </a:solidFill>
                <a:latin typeface="Times New Roman" panose="02020603050405020304" pitchFamily="18" charset="0"/>
                <a:ea typeface="+mn-ea"/>
              </a:rPr>
              <a:t>如果存在</a:t>
            </a:r>
            <a:r>
              <a:rPr lang="en-US" altLang="zh-CN" sz="1200" b="1" i="1" dirty="0">
                <a:solidFill>
                  <a:srgbClr val="000000"/>
                </a:solidFill>
                <a:latin typeface="Times New Roman" panose="02020603050405020304" pitchFamily="18" charset="0"/>
                <a:ea typeface="+mn-ea"/>
              </a:rPr>
              <a:t>a</a:t>
            </a:r>
            <a:r>
              <a:rPr lang="en-US" altLang="zh-CN" sz="1200" b="1" dirty="0">
                <a:solidFill>
                  <a:srgbClr val="000000"/>
                </a:solidFill>
                <a:latin typeface="Times New Roman" panose="02020603050405020304" pitchFamily="18" charset="0"/>
                <a:ea typeface="+mn-ea"/>
                <a:sym typeface="Symbol" panose="05050102010706020507" pitchFamily="18" charset="2"/>
              </a:rPr>
              <a:t>, </a:t>
            </a:r>
            <a:r>
              <a:rPr lang="en-US" altLang="zh-CN" sz="1200" b="1" i="1" dirty="0" err="1">
                <a:solidFill>
                  <a:srgbClr val="000000"/>
                </a:solidFill>
                <a:latin typeface="Times New Roman" panose="02020603050405020304" pitchFamily="18" charset="0"/>
                <a:ea typeface="+mn-ea"/>
                <a:sym typeface="Symbol" panose="05050102010706020507" pitchFamily="18" charset="2"/>
              </a:rPr>
              <a:t>b</a:t>
            </a:r>
            <a:r>
              <a:rPr lang="en-US" altLang="zh-CN" sz="1200" b="1" dirty="0" err="1">
                <a:solidFill>
                  <a:srgbClr val="000000"/>
                </a:solidFill>
                <a:latin typeface="Times New Roman" panose="02020603050405020304" pitchFamily="18" charset="0"/>
                <a:ea typeface="+mn-ea"/>
                <a:sym typeface="Symbol" panose="05050102010706020507" pitchFamily="18" charset="2"/>
              </a:rPr>
              <a:t>∈</a:t>
            </a:r>
            <a:r>
              <a:rPr lang="en-US" altLang="zh-CN" sz="1200" b="1" i="1" dirty="0" err="1">
                <a:solidFill>
                  <a:srgbClr val="000000"/>
                </a:solidFill>
                <a:latin typeface="Times New Roman" panose="02020603050405020304" pitchFamily="18" charset="0"/>
                <a:ea typeface="+mn-ea"/>
                <a:sym typeface="Symbol" panose="05050102010706020507" pitchFamily="18" charset="2"/>
              </a:rPr>
              <a:t>R</a:t>
            </a:r>
            <a:r>
              <a:rPr lang="en-US" altLang="zh-CN" sz="1200" b="1" i="1" dirty="0">
                <a:solidFill>
                  <a:srgbClr val="000000"/>
                </a:solidFill>
                <a:latin typeface="Times New Roman" panose="02020603050405020304" pitchFamily="18" charset="0"/>
                <a:ea typeface="+mn-ea"/>
                <a:sym typeface="Symbol" panose="05050102010706020507" pitchFamily="18" charset="2"/>
              </a:rPr>
              <a:t>, </a:t>
            </a:r>
            <a:r>
              <a:rPr lang="en-US" altLang="zh-CN" sz="1200" b="1" i="1" dirty="0">
                <a:solidFill>
                  <a:srgbClr val="000000"/>
                </a:solidFill>
                <a:latin typeface="Times New Roman" panose="02020603050405020304" pitchFamily="18" charset="0"/>
                <a:ea typeface="+mn-ea"/>
              </a:rPr>
              <a:t>c</a:t>
            </a:r>
            <a:r>
              <a:rPr lang="en-US" altLang="zh-CN" sz="1200" b="1" dirty="0">
                <a:solidFill>
                  <a:srgbClr val="000000"/>
                </a:solidFill>
                <a:latin typeface="Times New Roman" panose="02020603050405020304" pitchFamily="18" charset="0"/>
                <a:ea typeface="+mn-ea"/>
                <a:sym typeface="Symbol" panose="05050102010706020507" pitchFamily="18" charset="2"/>
              </a:rPr>
              <a:t>, </a:t>
            </a:r>
            <a:r>
              <a:rPr lang="en-US" altLang="zh-CN" sz="1200" b="1" i="1" dirty="0">
                <a:solidFill>
                  <a:srgbClr val="000000"/>
                </a:solidFill>
                <a:latin typeface="Times New Roman" panose="02020603050405020304" pitchFamily="18" charset="0"/>
                <a:ea typeface="+mn-ea"/>
                <a:sym typeface="Symbol" panose="05050102010706020507" pitchFamily="18" charset="2"/>
              </a:rPr>
              <a:t>b</a:t>
            </a:r>
            <a:r>
              <a:rPr lang="zh-CN" altLang="en-US" sz="1200" b="1" dirty="0">
                <a:solidFill>
                  <a:srgbClr val="000000"/>
                </a:solidFill>
                <a:latin typeface="Times New Roman" panose="02020603050405020304" pitchFamily="18" charset="0"/>
                <a:ea typeface="+mn-ea"/>
              </a:rPr>
              <a:t> ≠</a:t>
            </a:r>
            <a:r>
              <a:rPr lang="en-US" altLang="zh-CN" sz="1200" b="1" dirty="0">
                <a:solidFill>
                  <a:srgbClr val="000000"/>
                </a:solidFill>
                <a:latin typeface="Times New Roman" panose="02020603050405020304" pitchFamily="18" charset="0"/>
                <a:ea typeface="+mn-ea"/>
              </a:rPr>
              <a:t>0, </a:t>
            </a:r>
            <a:r>
              <a:rPr lang="zh-CN" altLang="en-US" sz="1200" b="1" dirty="0">
                <a:solidFill>
                  <a:srgbClr val="000000"/>
                </a:solidFill>
                <a:latin typeface="Times New Roman" panose="02020603050405020304" pitchFamily="18" charset="0"/>
                <a:ea typeface="+mn-ea"/>
              </a:rPr>
              <a:t>但</a:t>
            </a:r>
            <a:r>
              <a:rPr lang="en-US" altLang="zh-CN" sz="1200" b="1" i="1" dirty="0" err="1">
                <a:solidFill>
                  <a:srgbClr val="000000"/>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rgbClr val="000000"/>
                </a:solidFill>
                <a:latin typeface="Times New Roman" panose="02020603050405020304" pitchFamily="18" charset="0"/>
                <a:ea typeface="+mn-ea"/>
                <a:sym typeface="Symbol" panose="05050102010706020507" pitchFamily="18" charset="2"/>
              </a:rPr>
              <a:t>b</a:t>
            </a:r>
            <a:r>
              <a:rPr lang="en-US" altLang="zh-CN" sz="1200" b="1" i="1" dirty="0">
                <a:solidFill>
                  <a:srgbClr val="000000"/>
                </a:solidFill>
                <a:latin typeface="Times New Roman" panose="02020603050405020304" pitchFamily="18" charset="0"/>
                <a:ea typeface="+mn-ea"/>
                <a:sym typeface="Symbol" panose="05050102010706020507" pitchFamily="18" charset="2"/>
              </a:rPr>
              <a:t>=</a:t>
            </a:r>
            <a:r>
              <a:rPr lang="en-US" altLang="zh-CN" sz="1200" b="1" dirty="0">
                <a:solidFill>
                  <a:srgbClr val="000000"/>
                </a:solidFill>
                <a:latin typeface="Times New Roman" panose="02020603050405020304" pitchFamily="18" charset="0"/>
                <a:ea typeface="+mn-ea"/>
                <a:sym typeface="Symbol" panose="05050102010706020507" pitchFamily="18" charset="2"/>
              </a:rPr>
              <a:t>0, </a:t>
            </a:r>
            <a:r>
              <a:rPr lang="zh-CN" altLang="en-US" sz="1200" b="1" dirty="0">
                <a:solidFill>
                  <a:srgbClr val="000000"/>
                </a:solidFill>
                <a:latin typeface="Times New Roman" panose="02020603050405020304" pitchFamily="18" charset="0"/>
                <a:ea typeface="+mn-ea"/>
                <a:sym typeface="Symbol" panose="05050102010706020507" pitchFamily="18" charset="2"/>
              </a:rPr>
              <a:t>则称</a:t>
            </a:r>
            <a:r>
              <a:rPr lang="en-US" altLang="zh-CN" sz="1200" b="1" i="1" dirty="0">
                <a:solidFill>
                  <a:srgbClr val="000000"/>
                </a:solidFill>
                <a:latin typeface="Times New Roman" panose="02020603050405020304" pitchFamily="18" charset="0"/>
                <a:ea typeface="+mn-ea"/>
              </a:rPr>
              <a:t>a</a:t>
            </a:r>
            <a:r>
              <a:rPr lang="zh-CN" altLang="en-US" sz="1200" b="1" dirty="0">
                <a:solidFill>
                  <a:srgbClr val="000000"/>
                </a:solidFill>
                <a:latin typeface="Times New Roman" panose="02020603050405020304" pitchFamily="18" charset="0"/>
                <a:ea typeface="+mn-ea"/>
                <a:sym typeface="Symbol" panose="05050102010706020507" pitchFamily="18" charset="2"/>
              </a:rPr>
              <a:t>为</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中的</a:t>
            </a:r>
            <a:r>
              <a:rPr lang="zh-CN" altLang="en-US" sz="1200" b="1" dirty="0">
                <a:solidFill>
                  <a:srgbClr val="FF0000"/>
                </a:solidFill>
                <a:latin typeface="Times New Roman" panose="02020603050405020304" pitchFamily="18" charset="0"/>
                <a:ea typeface="+mn-ea"/>
                <a:sym typeface="Symbol" panose="05050102010706020507" pitchFamily="18" charset="2"/>
              </a:rPr>
              <a:t>左零因子</a:t>
            </a:r>
            <a:r>
              <a:rPr lang="en-US" altLang="zh-CN" sz="1200" b="1" dirty="0">
                <a:solidFill>
                  <a:srgbClr val="000000"/>
                </a:solidFill>
                <a:latin typeface="Times New Roman" panose="02020603050405020304" pitchFamily="18" charset="0"/>
                <a:ea typeface="+mn-ea"/>
                <a:sym typeface="Symbol" panose="05050102010706020507" pitchFamily="18" charset="2"/>
              </a:rPr>
              <a:t>,</a:t>
            </a:r>
            <a:r>
              <a:rPr lang="en-US" altLang="zh-CN" sz="1200" b="1" i="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sym typeface="Symbol" panose="05050102010706020507" pitchFamily="18" charset="2"/>
              </a:rPr>
              <a:t>b</a:t>
            </a:r>
            <a:r>
              <a:rPr lang="zh-CN" altLang="en-US" sz="1200" b="1" dirty="0">
                <a:solidFill>
                  <a:srgbClr val="000000"/>
                </a:solidFill>
                <a:latin typeface="Times New Roman" panose="02020603050405020304" pitchFamily="18" charset="0"/>
                <a:ea typeface="+mn-ea"/>
                <a:sym typeface="Symbol" panose="05050102010706020507" pitchFamily="18" charset="2"/>
              </a:rPr>
              <a:t>为</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中的</a:t>
            </a:r>
            <a:r>
              <a:rPr lang="zh-CN" altLang="en-US" sz="12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右</a:t>
            </a:r>
            <a:r>
              <a:rPr lang="zh-CN" altLang="en-US" sz="1200" b="1" dirty="0">
                <a:solidFill>
                  <a:srgbClr val="FF0000"/>
                </a:solidFill>
                <a:latin typeface="Times New Roman" panose="02020603050405020304" pitchFamily="18" charset="0"/>
                <a:ea typeface="+mn-ea"/>
                <a:sym typeface="Symbol" panose="05050102010706020507" pitchFamily="18" charset="2"/>
              </a:rPr>
              <a:t>零因子</a:t>
            </a:r>
            <a:r>
              <a:rPr lang="en-US" altLang="zh-CN" sz="1200" b="1" dirty="0">
                <a:solidFill>
                  <a:srgbClr val="000000"/>
                </a:solidFill>
                <a:latin typeface="Times New Roman" panose="02020603050405020304" pitchFamily="18" charset="0"/>
                <a:ea typeface="+mn-ea"/>
                <a:sym typeface="Symbol" panose="05050102010706020507" pitchFamily="18" charset="2"/>
              </a:rPr>
              <a:t>. </a:t>
            </a:r>
            <a:r>
              <a:rPr lang="zh-CN" altLang="en-US" sz="1200" b="1" dirty="0">
                <a:solidFill>
                  <a:srgbClr val="000000"/>
                </a:solidFill>
                <a:latin typeface="Times New Roman" panose="02020603050405020304" pitchFamily="18" charset="0"/>
                <a:ea typeface="+mn-ea"/>
                <a:sym typeface="Symbol" panose="05050102010706020507" pitchFamily="18" charset="2"/>
              </a:rPr>
              <a:t>不含</a:t>
            </a:r>
            <a:r>
              <a:rPr lang="zh-CN" altLang="en-US" sz="1200" b="1" dirty="0">
                <a:solidFill>
                  <a:schemeClr val="tx1"/>
                </a:solidFill>
                <a:latin typeface="Times New Roman" panose="02020603050405020304" pitchFamily="18" charset="0"/>
                <a:ea typeface="+mn-ea"/>
                <a:sym typeface="Symbol" panose="05050102010706020507" pitchFamily="18" charset="2"/>
              </a:rPr>
              <a:t>左右零因子的称为</a:t>
            </a:r>
            <a:r>
              <a:rPr lang="zh-CN" altLang="en-US" sz="1200" b="1" dirty="0">
                <a:solidFill>
                  <a:srgbClr val="FF0000"/>
                </a:solidFill>
                <a:latin typeface="Times New Roman" panose="02020603050405020304" pitchFamily="18" charset="0"/>
                <a:ea typeface="+mn-ea"/>
                <a:sym typeface="Symbol" panose="05050102010706020507" pitchFamily="18" charset="2"/>
              </a:rPr>
              <a:t>无零因子环</a:t>
            </a:r>
            <a:r>
              <a:rPr lang="en-US" altLang="zh-CN" sz="1200" b="1" dirty="0">
                <a:solidFill>
                  <a:srgbClr val="FF0000"/>
                </a:solidFill>
                <a:latin typeface="Times New Roman" panose="02020603050405020304" pitchFamily="18" charset="0"/>
                <a:ea typeface="+mn-ea"/>
                <a:sym typeface="Symbol" panose="05050102010706020507" pitchFamily="18" charset="2"/>
              </a:rPr>
              <a:t>.</a:t>
            </a: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117</a:t>
            </a:fld>
            <a:endParaRPr lang="zh-CN" altLang="en-US"/>
          </a:p>
        </p:txBody>
      </p:sp>
    </p:spTree>
    <p:extLst>
      <p:ext uri="{BB962C8B-B14F-4D97-AF65-F5344CB8AC3E}">
        <p14:creationId xmlns:p14="http://schemas.microsoft.com/office/powerpoint/2010/main" val="201296254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eaLnBrk="1" hangingPunct="1">
              <a:lnSpc>
                <a:spcPct val="120000"/>
              </a:lnSpc>
            </a:pPr>
            <a:r>
              <a:rPr lang="zh-CN" altLang="en-US" sz="1200" b="1" dirty="0">
                <a:solidFill>
                  <a:srgbClr val="FF0000"/>
                </a:solidFill>
                <a:latin typeface="Times New Roman" panose="02020603050405020304" pitchFamily="18" charset="0"/>
                <a:ea typeface="+mn-ea"/>
              </a:rPr>
              <a:t>定义</a:t>
            </a:r>
            <a:r>
              <a:rPr lang="en-US" altLang="zh-CN" sz="1200" b="1" dirty="0">
                <a:solidFill>
                  <a:srgbClr val="FF0000"/>
                </a:solidFill>
                <a:latin typeface="Times New Roman" panose="02020603050405020304" pitchFamily="18" charset="0"/>
                <a:ea typeface="+mn-ea"/>
              </a:rPr>
              <a:t>9.19  </a:t>
            </a:r>
          </a:p>
          <a:p>
            <a:pPr indent="0" eaLnBrk="1" hangingPunct="1">
              <a:lnSpc>
                <a:spcPct val="120000"/>
              </a:lnSpc>
            </a:pPr>
            <a:r>
              <a:rPr lang="en-US" altLang="zh-CN" sz="1200" b="1" dirty="0">
                <a:solidFill>
                  <a:schemeClr val="tx1"/>
                </a:solidFill>
                <a:latin typeface="Times New Roman" panose="02020603050405020304" pitchFamily="18" charset="0"/>
                <a:ea typeface="+mn-ea"/>
                <a:cs typeface="Times New Roman" panose="02020603050405020304" pitchFamily="18" charset="0"/>
              </a:rPr>
              <a:t>(1)</a:t>
            </a:r>
            <a:r>
              <a:rPr lang="zh-CN" altLang="en-US" sz="1200" b="1" dirty="0">
                <a:solidFill>
                  <a:schemeClr val="tx1"/>
                </a:solidFill>
                <a:latin typeface="Times New Roman" panose="02020603050405020304" pitchFamily="18" charset="0"/>
                <a:ea typeface="+mn-ea"/>
                <a:cs typeface="Times New Roman" panose="02020603050405020304" pitchFamily="18" charset="0"/>
              </a:rPr>
              <a:t>若环</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是交换环、含幺环和无零因子环</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则称</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为</a:t>
            </a:r>
            <a:r>
              <a:rPr lang="zh-CN" altLang="en-US" sz="1200" b="1" dirty="0">
                <a:solidFill>
                  <a:srgbClr val="FF0000"/>
                </a:solidFill>
                <a:latin typeface="Times New Roman" panose="02020603050405020304" pitchFamily="18" charset="0"/>
                <a:ea typeface="+mn-ea"/>
                <a:cs typeface="Times New Roman" panose="02020603050405020304" pitchFamily="18" charset="0"/>
              </a:rPr>
              <a:t>整环</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indent="0" eaLnBrk="1" hangingPunct="1">
              <a:lnSpc>
                <a:spcPct val="120000"/>
              </a:lnSpc>
            </a:pPr>
            <a:r>
              <a:rPr lang="en-US" altLang="zh-CN" sz="1200" b="1" dirty="0">
                <a:solidFill>
                  <a:schemeClr val="tx1"/>
                </a:solidFill>
                <a:latin typeface="Times New Roman" panose="02020603050405020304" pitchFamily="18" charset="0"/>
                <a:ea typeface="+mn-ea"/>
                <a:cs typeface="Times New Roman" panose="02020603050405020304" pitchFamily="18" charset="0"/>
              </a:rPr>
              <a:t>(2)</a:t>
            </a:r>
            <a:r>
              <a:rPr lang="zh-CN" altLang="en-US" sz="1200" b="1" dirty="0">
                <a:solidFill>
                  <a:schemeClr val="tx1"/>
                </a:solidFill>
                <a:latin typeface="Times New Roman" panose="02020603050405020304" pitchFamily="18" charset="0"/>
                <a:ea typeface="+mn-ea"/>
                <a:cs typeface="Times New Roman" panose="02020603050405020304" pitchFamily="18" charset="0"/>
              </a:rPr>
              <a:t>若环</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至少包含两个元素且是含幺和无零因子的</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并且</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R</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en-US"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rPr>
              <a:t>0)</a:t>
            </a:r>
            <a:r>
              <a:rPr lang="zh-CN" altLang="en-US" sz="1200" b="1" dirty="0">
                <a:solidFill>
                  <a:schemeClr val="tx1"/>
                </a:solidFill>
                <a:latin typeface="Times New Roman" panose="02020603050405020304" pitchFamily="18" charset="0"/>
                <a:ea typeface="+mn-ea"/>
                <a:cs typeface="Times New Roman" panose="02020603050405020304" pitchFamily="18" charset="0"/>
              </a:rPr>
              <a:t>有</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rPr>
              <a:t>-1</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则称</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zh-CN" altLang="en-US" sz="1200" b="1" dirty="0">
                <a:solidFill>
                  <a:schemeClr val="tx1"/>
                </a:solidFill>
                <a:latin typeface="Times New Roman" panose="02020603050405020304" pitchFamily="18" charset="0"/>
                <a:ea typeface="+mn-ea"/>
                <a:cs typeface="Times New Roman" panose="02020603050405020304" pitchFamily="18" charset="0"/>
              </a:rPr>
              <a:t>为</a:t>
            </a:r>
            <a:r>
              <a:rPr lang="zh-CN" altLang="en-US" sz="1200" b="1" dirty="0">
                <a:solidFill>
                  <a:srgbClr val="FF0000"/>
                </a:solidFill>
                <a:latin typeface="Times New Roman" panose="02020603050405020304" pitchFamily="18" charset="0"/>
                <a:ea typeface="+mn-ea"/>
                <a:cs typeface="Times New Roman" panose="02020603050405020304" pitchFamily="18" charset="0"/>
              </a:rPr>
              <a:t>除环</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indent="0" eaLnBrk="1" hangingPunct="1">
              <a:lnSpc>
                <a:spcPct val="120000"/>
              </a:lnSpc>
            </a:pPr>
            <a:r>
              <a:rPr lang="en-US" altLang="zh-CN" sz="1200" b="1" dirty="0">
                <a:solidFill>
                  <a:schemeClr val="tx1"/>
                </a:solidFill>
                <a:latin typeface="Times New Roman" panose="02020603050405020304" pitchFamily="18" charset="0"/>
                <a:ea typeface="+mn-ea"/>
                <a:cs typeface="Times New Roman" panose="02020603050405020304" pitchFamily="18" charset="0"/>
              </a:rPr>
              <a:t>(3)</a:t>
            </a:r>
            <a:r>
              <a:rPr lang="zh-CN" altLang="en-US" sz="1200" b="1" dirty="0">
                <a:solidFill>
                  <a:schemeClr val="tx1"/>
                </a:solidFill>
                <a:latin typeface="Times New Roman" panose="02020603050405020304" pitchFamily="18" charset="0"/>
                <a:ea typeface="+mn-ea"/>
                <a:cs typeface="Times New Roman" panose="02020603050405020304" pitchFamily="18" charset="0"/>
              </a:rPr>
              <a:t>若环</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R</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既是整环</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又是除环</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则称</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R</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是</a:t>
            </a:r>
            <a:r>
              <a:rPr lang="zh-CN" altLang="en-US" sz="12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域</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118</a:t>
            </a:fld>
            <a:endParaRPr lang="zh-CN" altLang="en-US"/>
          </a:p>
        </p:txBody>
      </p:sp>
    </p:spTree>
    <p:extLst>
      <p:ext uri="{BB962C8B-B14F-4D97-AF65-F5344CB8AC3E}">
        <p14:creationId xmlns:p14="http://schemas.microsoft.com/office/powerpoint/2010/main" val="242264435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eaLnBrk="1" fontAlgn="ctr" latinLnBrk="0" hangingPunct="1"/>
            <a:r>
              <a:rPr lang="zh-CN" altLang="zh-CN" sz="1200" b="1" i="0" u="none" strike="noStrike" kern="1200" dirty="0">
                <a:solidFill>
                  <a:schemeClr val="tx1"/>
                </a:solidFill>
                <a:effectLst/>
                <a:latin typeface="+mn-lt"/>
                <a:ea typeface="+mn-ea"/>
                <a:cs typeface="+mn-cs"/>
              </a:rPr>
              <a:t>环</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交换环</a:t>
            </a:r>
            <a:endParaRPr lang="zh-CN" altLang="zh-CN" sz="1200" b="0" i="0" u="none" strike="noStrike" kern="1200" dirty="0">
              <a:solidFill>
                <a:schemeClr val="tx1"/>
              </a:solidFill>
              <a:effectLst/>
              <a:latin typeface="+mn-lt"/>
              <a:ea typeface="+mn-ea"/>
              <a:cs typeface="+mn-cs"/>
            </a:endParaRPr>
          </a:p>
          <a:p>
            <a:pPr rtl="0" eaLnBrk="1" fontAlgn="t" latinLnBrk="0" hangingPunct="1"/>
            <a:r>
              <a:rPr lang="zh-CN" altLang="zh-CN" sz="1200" b="1" i="0" u="none" strike="noStrike" kern="1200" dirty="0">
                <a:solidFill>
                  <a:schemeClr val="tx1"/>
                </a:solidFill>
                <a:effectLst/>
                <a:latin typeface="+mn-lt"/>
                <a:ea typeface="+mn-ea"/>
                <a:cs typeface="+mn-cs"/>
              </a:rPr>
              <a:t>含乘法幺环</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无零因子环</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整环</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除环</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域</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整数环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Z</a:t>
            </a:r>
            <a:r>
              <a:rPr lang="en-US" altLang="zh-CN" sz="1200" b="1" i="0" u="none" strike="noStrike" kern="1200" dirty="0">
                <a:solidFill>
                  <a:schemeClr val="tx1"/>
                </a:solidFill>
                <a:effectLst/>
                <a:latin typeface="+mn-lt"/>
                <a:ea typeface="+mn-ea"/>
                <a:cs typeface="+mn-cs"/>
              </a:rPr>
              <a:t>,+, ·&gt;</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a:t>
            </a:r>
          </a:p>
          <a:p>
            <a:pPr rtl="0" eaLnBrk="1" fontAlgn="ctr"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=1</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对于整数</a:t>
            </a:r>
            <a:r>
              <a:rPr lang="en-US" altLang="zh-CN" sz="1200" b="0" i="1" u="none" strike="noStrike" kern="1200" dirty="0">
                <a:solidFill>
                  <a:schemeClr val="tx1"/>
                </a:solidFill>
                <a:effectLst/>
                <a:latin typeface="+mn-lt"/>
                <a:ea typeface="+mn-ea"/>
                <a:cs typeface="+mn-cs"/>
              </a:rPr>
              <a:t>a</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只有当 </a:t>
            </a:r>
            <a:r>
              <a:rPr lang="en-US" altLang="zh-CN" sz="1200" b="0" i="1" u="none" strike="noStrike" kern="1200" dirty="0">
                <a:solidFill>
                  <a:schemeClr val="tx1"/>
                </a:solidFill>
                <a:effectLst/>
                <a:latin typeface="+mn-lt"/>
                <a:ea typeface="+mn-ea"/>
                <a:cs typeface="+mn-cs"/>
              </a:rPr>
              <a:t>a</a:t>
            </a:r>
            <a:r>
              <a:rPr lang="en-US" altLang="zh-CN" sz="1200" b="0" i="0" u="none" strike="noStrike" kern="1200" dirty="0">
                <a:solidFill>
                  <a:schemeClr val="tx1"/>
                </a:solidFill>
                <a:effectLst/>
                <a:latin typeface="+mn-lt"/>
                <a:ea typeface="+mn-ea"/>
                <a:cs typeface="+mn-cs"/>
              </a:rPr>
              <a:t>=±1</a:t>
            </a:r>
            <a:r>
              <a:rPr lang="zh-CN" altLang="zh-CN" sz="1200" b="0" i="0" u="none" strike="noStrike" kern="1200" dirty="0">
                <a:solidFill>
                  <a:schemeClr val="tx1"/>
                </a:solidFill>
                <a:effectLst/>
                <a:latin typeface="+mn-lt"/>
                <a:ea typeface="+mn-ea"/>
                <a:cs typeface="+mn-cs"/>
              </a:rPr>
              <a:t>时</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才有乘法逆元</a:t>
            </a:r>
            <a:r>
              <a:rPr lang="en-US" altLang="zh-CN" sz="1200" b="0" i="1" u="none" strike="noStrike" kern="1200" dirty="0">
                <a:solidFill>
                  <a:schemeClr val="tx1"/>
                </a:solidFill>
                <a:effectLst/>
                <a:latin typeface="+mn-lt"/>
                <a:ea typeface="+mn-ea"/>
                <a:cs typeface="+mn-cs"/>
              </a:rPr>
              <a:t>b</a:t>
            </a:r>
            <a:r>
              <a:rPr lang="en-US" altLang="zh-CN" sz="1200" b="0" i="0" u="none" strike="noStrike" kern="1200" dirty="0">
                <a:solidFill>
                  <a:schemeClr val="tx1"/>
                </a:solidFill>
                <a:effectLst/>
                <a:latin typeface="+mn-lt"/>
                <a:ea typeface="+mn-ea"/>
                <a:cs typeface="+mn-cs"/>
              </a:rPr>
              <a:t>=±1,</a:t>
            </a:r>
            <a:r>
              <a:rPr lang="zh-CN" altLang="zh-CN" sz="1200" b="0" i="0" u="none" strike="noStrike" kern="1200" dirty="0">
                <a:solidFill>
                  <a:schemeClr val="tx1"/>
                </a:solidFill>
                <a:effectLst/>
                <a:latin typeface="+mn-lt"/>
                <a:ea typeface="+mn-ea"/>
                <a:cs typeface="+mn-cs"/>
              </a:rPr>
              <a:t>其它元素没有</a:t>
            </a:r>
            <a:r>
              <a:rPr lang="en-US" altLang="zh-CN" sz="1200" b="0" i="0" u="none" strike="noStrike" kern="1200" dirty="0">
                <a:solidFill>
                  <a:schemeClr val="tx1"/>
                </a:solidFill>
                <a:effectLst/>
                <a:latin typeface="+mn-lt"/>
                <a:ea typeface="+mn-ea"/>
                <a:cs typeface="+mn-cs"/>
              </a:rPr>
              <a:t>.</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不是</a:t>
            </a:r>
          </a:p>
          <a:p>
            <a:pPr rtl="0" eaLnBrk="1" fontAlgn="ctr" latinLnBrk="0" hangingPunct="1"/>
            <a:r>
              <a:rPr lang="zh-CN" altLang="zh-CN" sz="1200" b="1" i="0" u="none" strike="noStrike" kern="1200" dirty="0">
                <a:solidFill>
                  <a:schemeClr val="tx1"/>
                </a:solidFill>
                <a:effectLst/>
                <a:latin typeface="+mn-lt"/>
                <a:ea typeface="+mn-ea"/>
                <a:cs typeface="+mn-cs"/>
              </a:rPr>
              <a:t>有理数环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Q</a:t>
            </a:r>
            <a:r>
              <a:rPr lang="en-US" altLang="zh-CN" sz="1200" b="1" i="0" u="none" strike="noStrike" kern="1200" dirty="0">
                <a:solidFill>
                  <a:schemeClr val="tx1"/>
                </a:solidFill>
                <a:effectLst/>
                <a:latin typeface="+mn-lt"/>
                <a:ea typeface="+mn-ea"/>
                <a:cs typeface="+mn-cs"/>
              </a:rPr>
              <a:t>, +, ·&gt;</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=1</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ctr" latinLnBrk="0" hangingPunct="1"/>
            <a:r>
              <a:rPr lang="zh-CN" altLang="zh-CN" sz="1200" b="0" i="0" u="none" strike="noStrike" kern="1200" dirty="0">
                <a:solidFill>
                  <a:schemeClr val="tx1"/>
                </a:solidFill>
                <a:effectLst/>
                <a:latin typeface="+mn-lt"/>
                <a:ea typeface="+mn-ea"/>
                <a:cs typeface="+mn-cs"/>
              </a:rPr>
              <a:t>每个非零有理数都有乘法逆元</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是除环</a:t>
            </a:r>
          </a:p>
          <a:p>
            <a:pPr rtl="0" eaLnBrk="1" fontAlgn="ctr" latinLnBrk="0" hangingPunct="1"/>
            <a:r>
              <a:rPr lang="zh-CN" altLang="zh-CN" sz="1200" b="0" i="0" u="none" strike="noStrike" kern="1200" dirty="0">
                <a:solidFill>
                  <a:schemeClr val="tx1"/>
                </a:solidFill>
                <a:effectLst/>
                <a:latin typeface="+mn-lt"/>
                <a:ea typeface="+mn-ea"/>
                <a:cs typeface="+mn-cs"/>
              </a:rPr>
              <a:t>是</a:t>
            </a:r>
          </a:p>
          <a:p>
            <a:pPr rtl="0" eaLnBrk="1" fontAlgn="ctr" latinLnBrk="0" hangingPunct="1"/>
            <a:r>
              <a:rPr lang="zh-CN" altLang="zh-CN" sz="1200" b="1" i="0" u="none" strike="noStrike" kern="1200" dirty="0">
                <a:solidFill>
                  <a:schemeClr val="tx1"/>
                </a:solidFill>
                <a:effectLst/>
                <a:latin typeface="+mn-lt"/>
                <a:ea typeface="+mn-ea"/>
                <a:cs typeface="+mn-cs"/>
              </a:rPr>
              <a:t>实数环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R</a:t>
            </a:r>
            <a:r>
              <a:rPr lang="en-US" altLang="zh-CN" sz="1200" b="1" i="0" u="none" strike="noStrike" kern="1200" dirty="0">
                <a:solidFill>
                  <a:schemeClr val="tx1"/>
                </a:solidFill>
                <a:effectLst/>
                <a:latin typeface="+mn-lt"/>
                <a:ea typeface="+mn-ea"/>
                <a:cs typeface="+mn-cs"/>
              </a:rPr>
              <a:t>,+, ·&gt;</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=1</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ctr" latinLnBrk="0" hangingPunct="1"/>
            <a:r>
              <a:rPr lang="zh-CN" altLang="zh-CN" sz="1200" b="0" i="0" u="none" strike="noStrike" kern="1200" dirty="0">
                <a:solidFill>
                  <a:schemeClr val="tx1"/>
                </a:solidFill>
                <a:effectLst/>
                <a:latin typeface="+mn-lt"/>
                <a:ea typeface="+mn-ea"/>
                <a:cs typeface="+mn-cs"/>
              </a:rPr>
              <a:t>每个非零实数都存在乘法逆元</a:t>
            </a:r>
          </a:p>
          <a:p>
            <a:pPr rtl="0" eaLnBrk="1" fontAlgn="auto" latinLnBrk="0" hangingPunct="1"/>
            <a:r>
              <a:rPr lang="zh-CN" altLang="zh-CN" sz="1200" b="0" i="0" u="none" strike="noStrike" kern="1200" dirty="0">
                <a:solidFill>
                  <a:schemeClr val="tx1"/>
                </a:solidFill>
                <a:effectLst/>
                <a:latin typeface="+mn-lt"/>
                <a:ea typeface="+mn-ea"/>
                <a:cs typeface="+mn-cs"/>
              </a:rPr>
              <a:t>是</a:t>
            </a:r>
          </a:p>
          <a:p>
            <a:pPr rtl="0" eaLnBrk="1" fontAlgn="ctr" latinLnBrk="0" hangingPunct="1"/>
            <a:r>
              <a:rPr lang="zh-CN" altLang="zh-CN" sz="1200" b="1" i="0" u="none" strike="noStrike" kern="1200" dirty="0">
                <a:solidFill>
                  <a:schemeClr val="tx1"/>
                </a:solidFill>
                <a:effectLst/>
                <a:latin typeface="+mn-lt"/>
                <a:ea typeface="+mn-ea"/>
                <a:cs typeface="+mn-cs"/>
              </a:rPr>
              <a:t>复数环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C</a:t>
            </a:r>
            <a:r>
              <a:rPr lang="en-US" altLang="zh-CN" sz="1200" b="1" i="0" u="none" strike="noStrike" kern="1200" dirty="0">
                <a:solidFill>
                  <a:schemeClr val="tx1"/>
                </a:solidFill>
                <a:effectLst/>
                <a:latin typeface="+mn-lt"/>
                <a:ea typeface="+mn-ea"/>
                <a:cs typeface="+mn-cs"/>
              </a:rPr>
              <a:t>,+, ·&gt;</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=1</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每个非零元素都存在乘法逆元</a:t>
            </a:r>
          </a:p>
          <a:p>
            <a:pPr rtl="0" eaLnBrk="1" fontAlgn="auto" latinLnBrk="0" hangingPunct="1"/>
            <a:r>
              <a:rPr lang="zh-CN" altLang="zh-CN" sz="1200" b="0" i="0" u="none" strike="noStrike" kern="1200" dirty="0">
                <a:solidFill>
                  <a:schemeClr val="tx1"/>
                </a:solidFill>
                <a:effectLst/>
                <a:latin typeface="+mn-lt"/>
                <a:ea typeface="+mn-ea"/>
                <a:cs typeface="+mn-cs"/>
              </a:rPr>
              <a:t>是</a:t>
            </a:r>
          </a:p>
          <a:p>
            <a:pPr rtl="0" eaLnBrk="1" fontAlgn="ctr" latinLnBrk="0" hangingPunct="1"/>
            <a:r>
              <a:rPr lang="en-US" altLang="zh-CN" sz="1200" b="1" i="1" u="none" strike="noStrike" kern="1200" dirty="0">
                <a:solidFill>
                  <a:schemeClr val="tx1"/>
                </a:solidFill>
                <a:effectLst/>
                <a:latin typeface="+mn-lt"/>
                <a:ea typeface="+mn-ea"/>
                <a:cs typeface="+mn-cs"/>
              </a:rPr>
              <a:t>n</a:t>
            </a:r>
            <a:r>
              <a:rPr lang="zh-CN" altLang="zh-CN" sz="1200" b="1" i="0" u="none" strike="noStrike" kern="1200" dirty="0">
                <a:solidFill>
                  <a:schemeClr val="tx1"/>
                </a:solidFill>
                <a:effectLst/>
                <a:latin typeface="+mn-lt"/>
                <a:ea typeface="+mn-ea"/>
                <a:cs typeface="+mn-cs"/>
              </a:rPr>
              <a:t>阶实矩阵环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M</a:t>
            </a:r>
            <a:r>
              <a:rPr lang="en-US" altLang="zh-CN" sz="1200" b="1" i="1" u="none" strike="noStrike" kern="1200" baseline="-25000" dirty="0">
                <a:solidFill>
                  <a:schemeClr val="tx1"/>
                </a:solidFill>
                <a:effectLst/>
                <a:latin typeface="+mn-lt"/>
                <a:ea typeface="+mn-ea"/>
                <a:cs typeface="+mn-cs"/>
              </a:rPr>
              <a:t>n</a:t>
            </a:r>
            <a:r>
              <a:rPr lang="en-US" altLang="zh-CN" sz="1200" b="1" i="0" u="none" strike="noStrike" kern="1200" dirty="0">
                <a:solidFill>
                  <a:schemeClr val="tx1"/>
                </a:solidFill>
                <a:effectLst/>
                <a:latin typeface="+mn-lt"/>
                <a:ea typeface="+mn-ea"/>
                <a:cs typeface="+mn-cs"/>
              </a:rPr>
              <a:t>(R) ,+, ·&gt;</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en-US" altLang="zh-CN" sz="1200" b="1"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不可交换</a:t>
            </a:r>
          </a:p>
          <a:p>
            <a:pPr rtl="0" eaLnBrk="1" fontAlgn="ctr"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单位矩阵</a:t>
            </a:r>
          </a:p>
          <a:p>
            <a:pPr rtl="0" eaLnBrk="1" fontAlgn="ctr" latinLnBrk="0" hangingPunct="1"/>
            <a:r>
              <a:rPr lang="zh-CN" altLang="zh-CN" sz="1200" b="0" i="0" u="none" strike="noStrike" kern="1200" dirty="0">
                <a:solidFill>
                  <a:schemeClr val="tx1"/>
                </a:solidFill>
                <a:effectLst/>
                <a:latin typeface="+mn-lt"/>
                <a:ea typeface="+mn-ea"/>
                <a:cs typeface="+mn-cs"/>
              </a:rPr>
              <a:t>有非零矩阵</a:t>
            </a:r>
            <a:r>
              <a:rPr lang="en-US" altLang="zh-CN" sz="1200" b="0" i="1" u="none" strike="noStrike" kern="1200" dirty="0">
                <a:solidFill>
                  <a:schemeClr val="tx1"/>
                </a:solidFill>
                <a:effectLst/>
                <a:latin typeface="+mn-lt"/>
                <a:ea typeface="+mn-ea"/>
                <a:cs typeface="+mn-cs"/>
              </a:rPr>
              <a:t>A</a:t>
            </a:r>
            <a:r>
              <a:rPr lang="zh-CN" altLang="zh-CN" sz="1200" b="0" i="0" u="none" strike="noStrike" kern="1200" dirty="0">
                <a:solidFill>
                  <a:schemeClr val="tx1"/>
                </a:solidFill>
                <a:effectLst/>
                <a:latin typeface="+mn-lt"/>
                <a:ea typeface="+mn-ea"/>
                <a:cs typeface="+mn-cs"/>
              </a:rPr>
              <a:t>和 </a:t>
            </a:r>
            <a:r>
              <a:rPr lang="en-US" altLang="zh-CN" sz="1200" b="0" i="1" u="none" strike="noStrike" kern="1200" dirty="0">
                <a:solidFill>
                  <a:schemeClr val="tx1"/>
                </a:solidFill>
                <a:effectLst/>
                <a:latin typeface="+mn-lt"/>
                <a:ea typeface="+mn-ea"/>
                <a:cs typeface="+mn-cs"/>
              </a:rPr>
              <a:t>B</a:t>
            </a:r>
            <a:r>
              <a:rPr lang="zh-CN" altLang="zh-CN" sz="1200" b="0" i="0" u="none" strike="noStrike" kern="1200" dirty="0">
                <a:solidFill>
                  <a:schemeClr val="tx1"/>
                </a:solidFill>
                <a:effectLst/>
                <a:latin typeface="+mn-lt"/>
                <a:ea typeface="+mn-ea"/>
                <a:cs typeface="+mn-cs"/>
              </a:rPr>
              <a:t>使得</a:t>
            </a:r>
            <a:r>
              <a:rPr lang="en-US" altLang="zh-CN" sz="1200" b="0" i="1" u="none" strike="noStrike" kern="1200" dirty="0">
                <a:solidFill>
                  <a:schemeClr val="tx1"/>
                </a:solidFill>
                <a:effectLst/>
                <a:latin typeface="+mn-lt"/>
                <a:ea typeface="+mn-ea"/>
                <a:cs typeface="+mn-cs"/>
              </a:rPr>
              <a:t>A</a:t>
            </a:r>
            <a:r>
              <a:rPr lang="zh-CN" altLang="zh-CN" sz="1200" b="0" i="0" u="none" strike="noStrike" kern="1200" dirty="0">
                <a:solidFill>
                  <a:schemeClr val="tx1"/>
                </a:solidFill>
                <a:effectLst/>
                <a:latin typeface="+mn-lt"/>
                <a:ea typeface="+mn-ea"/>
                <a:cs typeface="+mn-cs"/>
              </a:rPr>
              <a:t>⋅</a:t>
            </a:r>
            <a:r>
              <a:rPr lang="en-US" altLang="zh-CN" sz="1200" b="0" i="1" u="none" strike="noStrike" kern="1200" dirty="0">
                <a:solidFill>
                  <a:schemeClr val="tx1"/>
                </a:solidFill>
                <a:effectLst/>
                <a:latin typeface="+mn-lt"/>
                <a:ea typeface="+mn-ea"/>
                <a:cs typeface="+mn-cs"/>
              </a:rPr>
              <a:t>B</a:t>
            </a:r>
            <a:r>
              <a:rPr lang="en-US" altLang="zh-CN" sz="1200" b="0" i="0" u="none" strike="noStrike" kern="1200" dirty="0">
                <a:solidFill>
                  <a:schemeClr val="tx1"/>
                </a:solidFill>
                <a:effectLst/>
                <a:latin typeface="+mn-lt"/>
                <a:ea typeface="+mn-ea"/>
                <a:cs typeface="+mn-cs"/>
              </a:rPr>
              <a:t>=0</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不是</a:t>
            </a:r>
          </a:p>
          <a:p>
            <a:pPr rtl="0" eaLnBrk="1" fontAlgn="ctr" latinLnBrk="0" hangingPunct="1"/>
            <a:r>
              <a:rPr lang="zh-CN" altLang="zh-CN" sz="1200" b="0" i="0" u="none" strike="noStrike" kern="1200" dirty="0">
                <a:solidFill>
                  <a:schemeClr val="tx1"/>
                </a:solidFill>
                <a:effectLst/>
                <a:latin typeface="+mn-lt"/>
                <a:ea typeface="+mn-ea"/>
                <a:cs typeface="+mn-cs"/>
              </a:rPr>
              <a:t>非零矩阵没有乘法逆元</a:t>
            </a:r>
          </a:p>
          <a:p>
            <a:pPr rtl="0" eaLnBrk="1" fontAlgn="auto" latinLnBrk="0" hangingPunct="1"/>
            <a:r>
              <a:rPr lang="zh-CN" altLang="zh-CN" sz="1200" b="0" i="0" u="none" strike="noStrike" kern="1200" dirty="0">
                <a:solidFill>
                  <a:schemeClr val="tx1"/>
                </a:solidFill>
                <a:effectLst/>
                <a:latin typeface="+mn-lt"/>
                <a:ea typeface="+mn-ea"/>
                <a:cs typeface="+mn-cs"/>
              </a:rPr>
              <a:t>不是</a:t>
            </a:r>
          </a:p>
          <a:p>
            <a:pPr rtl="0" eaLnBrk="1" fontAlgn="ctr" latinLnBrk="0" hangingPunct="1"/>
            <a:r>
              <a:rPr lang="zh-CN" altLang="zh-CN" sz="1200" b="1" i="0" u="none" strike="noStrike" kern="1200" dirty="0">
                <a:solidFill>
                  <a:schemeClr val="tx1"/>
                </a:solidFill>
                <a:effectLst/>
                <a:latin typeface="+mn-lt"/>
                <a:ea typeface="+mn-ea"/>
                <a:cs typeface="+mn-cs"/>
              </a:rPr>
              <a:t>模</a:t>
            </a:r>
            <a:r>
              <a:rPr lang="en-US" altLang="zh-CN" sz="1200" b="1" i="0" u="none" strike="noStrike" kern="1200" dirty="0">
                <a:solidFill>
                  <a:schemeClr val="tx1"/>
                </a:solidFill>
                <a:effectLst/>
                <a:latin typeface="+mn-lt"/>
                <a:ea typeface="+mn-ea"/>
                <a:cs typeface="+mn-cs"/>
              </a:rPr>
              <a:t>n</a:t>
            </a:r>
            <a:r>
              <a:rPr lang="zh-CN" altLang="zh-CN" sz="1200" b="1" i="0" u="none" strike="noStrike" kern="1200" dirty="0">
                <a:solidFill>
                  <a:schemeClr val="tx1"/>
                </a:solidFill>
                <a:effectLst/>
                <a:latin typeface="+mn-lt"/>
                <a:ea typeface="+mn-ea"/>
                <a:cs typeface="+mn-cs"/>
              </a:rPr>
              <a:t>整数环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Z</a:t>
            </a:r>
            <a:r>
              <a:rPr lang="en-US" altLang="zh-CN" sz="1200" b="1" i="1" u="none" strike="noStrike" kern="1200" baseline="-25000" dirty="0">
                <a:solidFill>
                  <a:schemeClr val="tx1"/>
                </a:solidFill>
                <a:effectLst/>
                <a:latin typeface="+mn-lt"/>
                <a:ea typeface="+mn-ea"/>
                <a:cs typeface="+mn-cs"/>
              </a:rPr>
              <a:t>n</a:t>
            </a:r>
            <a:r>
              <a:rPr lang="en-US" altLang="zh-CN" sz="1200" b="1" i="0" u="none" strike="noStrike"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sym typeface="Symbol" panose="05050102010706020507" pitchFamily="18" charset="2"/>
              </a:rPr>
              <a:t></a:t>
            </a:r>
            <a:r>
              <a:rPr lang="en-US" altLang="zh-CN" sz="1200" b="1" i="0" u="none" strike="noStrike"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sym typeface="Symbol" panose="05050102010706020507" pitchFamily="18" charset="2"/>
              </a:rPr>
              <a:t></a:t>
            </a:r>
            <a:r>
              <a:rPr lang="en-US" altLang="zh-CN" sz="1200" b="1" i="0" u="none" strike="noStrike" kern="1200" dirty="0">
                <a:solidFill>
                  <a:schemeClr val="tx1"/>
                </a:solidFill>
                <a:effectLst/>
                <a:latin typeface="+mn-lt"/>
                <a:ea typeface="+mn-ea"/>
                <a:cs typeface="+mn-cs"/>
              </a:rPr>
              <a:t>&gt;</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=1</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en-US" altLang="zh-CN" sz="1200" b="1" i="1" u="none" strike="noStrike" kern="1200" dirty="0">
                <a:solidFill>
                  <a:schemeClr val="tx1"/>
                </a:solidFill>
                <a:effectLst/>
                <a:latin typeface="+mn-lt"/>
                <a:ea typeface="+mn-ea"/>
                <a:cs typeface="+mn-cs"/>
              </a:rPr>
              <a:t>Z</a:t>
            </a:r>
            <a:r>
              <a:rPr lang="en-US" altLang="zh-CN" sz="1200" b="1" i="1" u="none" strike="noStrike" kern="1200" baseline="-25000" dirty="0">
                <a:solidFill>
                  <a:schemeClr val="tx1"/>
                </a:solidFill>
                <a:effectLst/>
                <a:latin typeface="+mn-lt"/>
                <a:ea typeface="+mn-ea"/>
                <a:cs typeface="+mn-cs"/>
              </a:rPr>
              <a:t>6</a:t>
            </a:r>
            <a:r>
              <a:rPr lang="zh-CN" altLang="zh-CN" sz="1200" b="0" i="0" u="none" strike="noStrike" kern="1200" dirty="0">
                <a:solidFill>
                  <a:schemeClr val="tx1"/>
                </a:solidFill>
                <a:effectLst/>
                <a:latin typeface="+mn-lt"/>
                <a:ea typeface="+mn-ea"/>
                <a:cs typeface="+mn-cs"/>
              </a:rPr>
              <a:t>有零因子</a:t>
            </a:r>
            <a:r>
              <a:rPr lang="en-US" altLang="zh-CN" sz="1200" b="0" i="0" u="none" strike="noStrike" kern="1200" dirty="0">
                <a:solidFill>
                  <a:schemeClr val="tx1"/>
                </a:solidFill>
                <a:effectLst/>
                <a:latin typeface="+mn-lt"/>
                <a:ea typeface="+mn-ea"/>
                <a:cs typeface="+mn-cs"/>
              </a:rPr>
              <a:t>,2</a:t>
            </a:r>
            <a:r>
              <a:rPr lang="en-US" altLang="zh-CN" sz="1200" b="1" i="0" u="none" strike="noStrike" kern="1200" dirty="0">
                <a:solidFill>
                  <a:schemeClr val="tx1"/>
                </a:solidFill>
                <a:effectLst/>
                <a:latin typeface="+mn-lt"/>
                <a:ea typeface="+mn-ea"/>
                <a:cs typeface="+mn-cs"/>
                <a:sym typeface="Symbol" panose="05050102010706020507" pitchFamily="18" charset="2"/>
              </a:rPr>
              <a:t></a:t>
            </a:r>
            <a:r>
              <a:rPr lang="en-US" altLang="zh-CN" sz="1200" b="1" i="0" u="none" strike="noStrike" kern="1200" dirty="0">
                <a:solidFill>
                  <a:schemeClr val="tx1"/>
                </a:solidFill>
                <a:effectLst/>
                <a:latin typeface="+mn-lt"/>
                <a:ea typeface="+mn-ea"/>
                <a:cs typeface="+mn-cs"/>
              </a:rPr>
              <a:t>3=0</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en-US" altLang="zh-CN" sz="1200" b="0" i="1" u="none" strike="noStrike" kern="1200" dirty="0">
                <a:solidFill>
                  <a:schemeClr val="tx1"/>
                </a:solidFill>
                <a:effectLst/>
                <a:latin typeface="+mn-lt"/>
                <a:ea typeface="+mn-ea"/>
                <a:cs typeface="+mn-cs"/>
              </a:rPr>
              <a:t>n</a:t>
            </a:r>
            <a:r>
              <a:rPr lang="zh-CN" altLang="zh-CN" sz="1200" b="0" i="0" u="none" strike="noStrike" kern="1200" dirty="0">
                <a:solidFill>
                  <a:schemeClr val="tx1"/>
                </a:solidFill>
                <a:effectLst/>
                <a:latin typeface="+mn-lt"/>
                <a:ea typeface="+mn-ea"/>
                <a:cs typeface="+mn-cs"/>
              </a:rPr>
              <a:t> 是素数时是整环</a:t>
            </a:r>
          </a:p>
          <a:p>
            <a:pPr rtl="0" eaLnBrk="1" fontAlgn="auto" latinLnBrk="0" hangingPunct="1"/>
            <a:r>
              <a:rPr lang="en-US" altLang="zh-CN" sz="1200" b="0" i="1" u="none" strike="noStrike" kern="1200" dirty="0">
                <a:solidFill>
                  <a:schemeClr val="tx1"/>
                </a:solidFill>
                <a:effectLst/>
                <a:latin typeface="+mn-lt"/>
                <a:ea typeface="+mn-ea"/>
                <a:cs typeface="+mn-cs"/>
              </a:rPr>
              <a:t>n</a:t>
            </a:r>
            <a:r>
              <a:rPr lang="zh-CN" altLang="zh-CN" sz="1200" b="0" i="0" u="none" strike="noStrike" kern="1200" dirty="0">
                <a:solidFill>
                  <a:schemeClr val="tx1"/>
                </a:solidFill>
                <a:effectLst/>
                <a:latin typeface="+mn-lt"/>
                <a:ea typeface="+mn-ea"/>
                <a:cs typeface="+mn-cs"/>
              </a:rPr>
              <a:t> 是素数时是除环</a:t>
            </a:r>
          </a:p>
          <a:p>
            <a:pPr rtl="0" eaLnBrk="1" fontAlgn="auto" latinLnBrk="0" hangingPunct="1"/>
            <a:r>
              <a:rPr lang="en-US" altLang="zh-CN" sz="1200" b="0" i="1" u="none" strike="noStrike" kern="1200" dirty="0">
                <a:solidFill>
                  <a:schemeClr val="tx1"/>
                </a:solidFill>
                <a:effectLst/>
                <a:latin typeface="+mn-lt"/>
                <a:ea typeface="+mn-ea"/>
                <a:cs typeface="+mn-cs"/>
              </a:rPr>
              <a:t>n</a:t>
            </a:r>
            <a:r>
              <a:rPr lang="zh-CN" altLang="zh-CN" sz="1200" b="0" i="0" u="none" strike="noStrike" kern="1200" dirty="0">
                <a:solidFill>
                  <a:schemeClr val="tx1"/>
                </a:solidFill>
                <a:effectLst/>
                <a:latin typeface="+mn-lt"/>
                <a:ea typeface="+mn-ea"/>
                <a:cs typeface="+mn-cs"/>
              </a:rPr>
              <a:t> 是素数时是域</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119</a:t>
            </a:fld>
            <a:endParaRPr lang="zh-CN" altLang="en-US"/>
          </a:p>
        </p:txBody>
      </p:sp>
    </p:spTree>
    <p:extLst>
      <p:ext uri="{BB962C8B-B14F-4D97-AF65-F5344CB8AC3E}">
        <p14:creationId xmlns:p14="http://schemas.microsoft.com/office/powerpoint/2010/main" val="355092764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eaLnBrk="1" fontAlgn="ctr" latinLnBrk="0" hangingPunct="1"/>
            <a:r>
              <a:rPr lang="zh-CN" altLang="zh-CN" sz="1200" b="1" i="0" u="none" strike="noStrike" kern="1200" dirty="0">
                <a:solidFill>
                  <a:schemeClr val="tx1"/>
                </a:solidFill>
                <a:effectLst/>
                <a:latin typeface="+mn-lt"/>
                <a:ea typeface="+mn-ea"/>
                <a:cs typeface="+mn-cs"/>
              </a:rPr>
              <a:t>环</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交换环</a:t>
            </a:r>
            <a:endParaRPr lang="zh-CN" altLang="zh-CN" sz="1200" b="0" i="0" u="none" strike="noStrike" kern="1200" dirty="0">
              <a:solidFill>
                <a:schemeClr val="tx1"/>
              </a:solidFill>
              <a:effectLst/>
              <a:latin typeface="+mn-lt"/>
              <a:ea typeface="+mn-ea"/>
              <a:cs typeface="+mn-cs"/>
            </a:endParaRPr>
          </a:p>
          <a:p>
            <a:pPr rtl="0" eaLnBrk="1" fontAlgn="t" latinLnBrk="0" hangingPunct="1"/>
            <a:r>
              <a:rPr lang="zh-CN" altLang="zh-CN" sz="1200" b="1" i="0" u="none" strike="noStrike" kern="1200" dirty="0">
                <a:solidFill>
                  <a:schemeClr val="tx1"/>
                </a:solidFill>
                <a:effectLst/>
                <a:latin typeface="+mn-lt"/>
                <a:ea typeface="+mn-ea"/>
                <a:cs typeface="+mn-cs"/>
              </a:rPr>
              <a:t>含乘法幺环</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无零因子环</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整环</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除环</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域</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1" i="0" u="none" strike="noStrike" kern="1200" dirty="0">
                <a:solidFill>
                  <a:schemeClr val="tx1"/>
                </a:solidFill>
                <a:effectLst/>
                <a:latin typeface="+mn-lt"/>
                <a:ea typeface="+mn-ea"/>
                <a:cs typeface="+mn-cs"/>
              </a:rPr>
              <a:t>整数环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Z</a:t>
            </a:r>
            <a:r>
              <a:rPr lang="en-US" altLang="zh-CN" sz="1200" b="1" i="0" u="none" strike="noStrike" kern="1200" dirty="0">
                <a:solidFill>
                  <a:schemeClr val="tx1"/>
                </a:solidFill>
                <a:effectLst/>
                <a:latin typeface="+mn-lt"/>
                <a:ea typeface="+mn-ea"/>
                <a:cs typeface="+mn-cs"/>
              </a:rPr>
              <a:t>,+, ·&gt;</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a:t>
            </a:r>
          </a:p>
          <a:p>
            <a:pPr rtl="0" eaLnBrk="1" fontAlgn="ctr"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=1</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对于整数</a:t>
            </a:r>
            <a:r>
              <a:rPr lang="en-US" altLang="zh-CN" sz="1200" b="0" i="1" u="none" strike="noStrike" kern="1200" dirty="0">
                <a:solidFill>
                  <a:schemeClr val="tx1"/>
                </a:solidFill>
                <a:effectLst/>
                <a:latin typeface="+mn-lt"/>
                <a:ea typeface="+mn-ea"/>
                <a:cs typeface="+mn-cs"/>
              </a:rPr>
              <a:t>a</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只有当 </a:t>
            </a:r>
            <a:r>
              <a:rPr lang="en-US" altLang="zh-CN" sz="1200" b="0" i="1" u="none" strike="noStrike" kern="1200" dirty="0">
                <a:solidFill>
                  <a:schemeClr val="tx1"/>
                </a:solidFill>
                <a:effectLst/>
                <a:latin typeface="+mn-lt"/>
                <a:ea typeface="+mn-ea"/>
                <a:cs typeface="+mn-cs"/>
              </a:rPr>
              <a:t>a</a:t>
            </a:r>
            <a:r>
              <a:rPr lang="en-US" altLang="zh-CN" sz="1200" b="0" i="0" u="none" strike="noStrike" kern="1200" dirty="0">
                <a:solidFill>
                  <a:schemeClr val="tx1"/>
                </a:solidFill>
                <a:effectLst/>
                <a:latin typeface="+mn-lt"/>
                <a:ea typeface="+mn-ea"/>
                <a:cs typeface="+mn-cs"/>
              </a:rPr>
              <a:t>=±1</a:t>
            </a:r>
            <a:r>
              <a:rPr lang="zh-CN" altLang="zh-CN" sz="1200" b="0" i="0" u="none" strike="noStrike" kern="1200" dirty="0">
                <a:solidFill>
                  <a:schemeClr val="tx1"/>
                </a:solidFill>
                <a:effectLst/>
                <a:latin typeface="+mn-lt"/>
                <a:ea typeface="+mn-ea"/>
                <a:cs typeface="+mn-cs"/>
              </a:rPr>
              <a:t>时</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才有乘法逆元</a:t>
            </a:r>
            <a:r>
              <a:rPr lang="en-US" altLang="zh-CN" sz="1200" b="0" i="1" u="none" strike="noStrike" kern="1200" dirty="0">
                <a:solidFill>
                  <a:schemeClr val="tx1"/>
                </a:solidFill>
                <a:effectLst/>
                <a:latin typeface="+mn-lt"/>
                <a:ea typeface="+mn-ea"/>
                <a:cs typeface="+mn-cs"/>
              </a:rPr>
              <a:t>b</a:t>
            </a:r>
            <a:r>
              <a:rPr lang="en-US" altLang="zh-CN" sz="1200" b="0" i="0" u="none" strike="noStrike" kern="1200" dirty="0">
                <a:solidFill>
                  <a:schemeClr val="tx1"/>
                </a:solidFill>
                <a:effectLst/>
                <a:latin typeface="+mn-lt"/>
                <a:ea typeface="+mn-ea"/>
                <a:cs typeface="+mn-cs"/>
              </a:rPr>
              <a:t>=±1,</a:t>
            </a:r>
            <a:r>
              <a:rPr lang="zh-CN" altLang="zh-CN" sz="1200" b="0" i="0" u="none" strike="noStrike" kern="1200" dirty="0">
                <a:solidFill>
                  <a:schemeClr val="tx1"/>
                </a:solidFill>
                <a:effectLst/>
                <a:latin typeface="+mn-lt"/>
                <a:ea typeface="+mn-ea"/>
                <a:cs typeface="+mn-cs"/>
              </a:rPr>
              <a:t>其它元素没有</a:t>
            </a:r>
            <a:r>
              <a:rPr lang="en-US" altLang="zh-CN" sz="1200" b="0" i="0" u="none" strike="noStrike" kern="1200" dirty="0">
                <a:solidFill>
                  <a:schemeClr val="tx1"/>
                </a:solidFill>
                <a:effectLst/>
                <a:latin typeface="+mn-lt"/>
                <a:ea typeface="+mn-ea"/>
                <a:cs typeface="+mn-cs"/>
              </a:rPr>
              <a:t>.</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不是</a:t>
            </a:r>
          </a:p>
          <a:p>
            <a:pPr rtl="0" eaLnBrk="1" fontAlgn="ctr" latinLnBrk="0" hangingPunct="1"/>
            <a:r>
              <a:rPr lang="zh-CN" altLang="zh-CN" sz="1200" b="1" i="0" u="none" strike="noStrike" kern="1200" dirty="0">
                <a:solidFill>
                  <a:schemeClr val="tx1"/>
                </a:solidFill>
                <a:effectLst/>
                <a:latin typeface="+mn-lt"/>
                <a:ea typeface="+mn-ea"/>
                <a:cs typeface="+mn-cs"/>
              </a:rPr>
              <a:t>有理数环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Q</a:t>
            </a:r>
            <a:r>
              <a:rPr lang="en-US" altLang="zh-CN" sz="1200" b="1" i="0" u="none" strike="noStrike" kern="1200" dirty="0">
                <a:solidFill>
                  <a:schemeClr val="tx1"/>
                </a:solidFill>
                <a:effectLst/>
                <a:latin typeface="+mn-lt"/>
                <a:ea typeface="+mn-ea"/>
                <a:cs typeface="+mn-cs"/>
              </a:rPr>
              <a:t>, +, ·&gt;</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=1</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ctr" latinLnBrk="0" hangingPunct="1"/>
            <a:r>
              <a:rPr lang="zh-CN" altLang="zh-CN" sz="1200" b="0" i="0" u="none" strike="noStrike" kern="1200" dirty="0">
                <a:solidFill>
                  <a:schemeClr val="tx1"/>
                </a:solidFill>
                <a:effectLst/>
                <a:latin typeface="+mn-lt"/>
                <a:ea typeface="+mn-ea"/>
                <a:cs typeface="+mn-cs"/>
              </a:rPr>
              <a:t>每个非零有理数都有乘法逆元</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是除环</a:t>
            </a:r>
          </a:p>
          <a:p>
            <a:pPr rtl="0" eaLnBrk="1" fontAlgn="ctr" latinLnBrk="0" hangingPunct="1"/>
            <a:r>
              <a:rPr lang="zh-CN" altLang="zh-CN" sz="1200" b="0" i="0" u="none" strike="noStrike" kern="1200" dirty="0">
                <a:solidFill>
                  <a:schemeClr val="tx1"/>
                </a:solidFill>
                <a:effectLst/>
                <a:latin typeface="+mn-lt"/>
                <a:ea typeface="+mn-ea"/>
                <a:cs typeface="+mn-cs"/>
              </a:rPr>
              <a:t>是</a:t>
            </a:r>
          </a:p>
          <a:p>
            <a:pPr rtl="0" eaLnBrk="1" fontAlgn="ctr" latinLnBrk="0" hangingPunct="1"/>
            <a:r>
              <a:rPr lang="zh-CN" altLang="zh-CN" sz="1200" b="1" i="0" u="none" strike="noStrike" kern="1200" dirty="0">
                <a:solidFill>
                  <a:schemeClr val="tx1"/>
                </a:solidFill>
                <a:effectLst/>
                <a:latin typeface="+mn-lt"/>
                <a:ea typeface="+mn-ea"/>
                <a:cs typeface="+mn-cs"/>
              </a:rPr>
              <a:t>实数环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R</a:t>
            </a:r>
            <a:r>
              <a:rPr lang="en-US" altLang="zh-CN" sz="1200" b="1" i="0" u="none" strike="noStrike" kern="1200" dirty="0">
                <a:solidFill>
                  <a:schemeClr val="tx1"/>
                </a:solidFill>
                <a:effectLst/>
                <a:latin typeface="+mn-lt"/>
                <a:ea typeface="+mn-ea"/>
                <a:cs typeface="+mn-cs"/>
              </a:rPr>
              <a:t>,+, ·&gt;</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=1</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ctr" latinLnBrk="0" hangingPunct="1"/>
            <a:r>
              <a:rPr lang="zh-CN" altLang="zh-CN" sz="1200" b="0" i="0" u="none" strike="noStrike" kern="1200" dirty="0">
                <a:solidFill>
                  <a:schemeClr val="tx1"/>
                </a:solidFill>
                <a:effectLst/>
                <a:latin typeface="+mn-lt"/>
                <a:ea typeface="+mn-ea"/>
                <a:cs typeface="+mn-cs"/>
              </a:rPr>
              <a:t>每个非零实数都存在乘法逆元</a:t>
            </a:r>
          </a:p>
          <a:p>
            <a:pPr rtl="0" eaLnBrk="1" fontAlgn="auto" latinLnBrk="0" hangingPunct="1"/>
            <a:r>
              <a:rPr lang="zh-CN" altLang="zh-CN" sz="1200" b="0" i="0" u="none" strike="noStrike" kern="1200" dirty="0">
                <a:solidFill>
                  <a:schemeClr val="tx1"/>
                </a:solidFill>
                <a:effectLst/>
                <a:latin typeface="+mn-lt"/>
                <a:ea typeface="+mn-ea"/>
                <a:cs typeface="+mn-cs"/>
              </a:rPr>
              <a:t>是</a:t>
            </a:r>
          </a:p>
          <a:p>
            <a:pPr rtl="0" eaLnBrk="1" fontAlgn="ctr" latinLnBrk="0" hangingPunct="1"/>
            <a:r>
              <a:rPr lang="zh-CN" altLang="zh-CN" sz="1200" b="1" i="0" u="none" strike="noStrike" kern="1200" dirty="0">
                <a:solidFill>
                  <a:schemeClr val="tx1"/>
                </a:solidFill>
                <a:effectLst/>
                <a:latin typeface="+mn-lt"/>
                <a:ea typeface="+mn-ea"/>
                <a:cs typeface="+mn-cs"/>
              </a:rPr>
              <a:t>复数环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C</a:t>
            </a:r>
            <a:r>
              <a:rPr lang="en-US" altLang="zh-CN" sz="1200" b="1" i="0" u="none" strike="noStrike" kern="1200" dirty="0">
                <a:solidFill>
                  <a:schemeClr val="tx1"/>
                </a:solidFill>
                <a:effectLst/>
                <a:latin typeface="+mn-lt"/>
                <a:ea typeface="+mn-ea"/>
                <a:cs typeface="+mn-cs"/>
              </a:rPr>
              <a:t>,+, ·&gt;</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=1</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每个非零元素都存在乘法逆元</a:t>
            </a:r>
          </a:p>
          <a:p>
            <a:pPr rtl="0" eaLnBrk="1" fontAlgn="auto" latinLnBrk="0" hangingPunct="1"/>
            <a:r>
              <a:rPr lang="zh-CN" altLang="zh-CN" sz="1200" b="0" i="0" u="none" strike="noStrike" kern="1200" dirty="0">
                <a:solidFill>
                  <a:schemeClr val="tx1"/>
                </a:solidFill>
                <a:effectLst/>
                <a:latin typeface="+mn-lt"/>
                <a:ea typeface="+mn-ea"/>
                <a:cs typeface="+mn-cs"/>
              </a:rPr>
              <a:t>是</a:t>
            </a:r>
          </a:p>
          <a:p>
            <a:pPr rtl="0" eaLnBrk="1" fontAlgn="ctr" latinLnBrk="0" hangingPunct="1"/>
            <a:r>
              <a:rPr lang="en-US" altLang="zh-CN" sz="1200" b="1" i="1" u="none" strike="noStrike" kern="1200" dirty="0">
                <a:solidFill>
                  <a:schemeClr val="tx1"/>
                </a:solidFill>
                <a:effectLst/>
                <a:latin typeface="+mn-lt"/>
                <a:ea typeface="+mn-ea"/>
                <a:cs typeface="+mn-cs"/>
              </a:rPr>
              <a:t>n</a:t>
            </a:r>
            <a:r>
              <a:rPr lang="zh-CN" altLang="zh-CN" sz="1200" b="1" i="0" u="none" strike="noStrike" kern="1200" dirty="0">
                <a:solidFill>
                  <a:schemeClr val="tx1"/>
                </a:solidFill>
                <a:effectLst/>
                <a:latin typeface="+mn-lt"/>
                <a:ea typeface="+mn-ea"/>
                <a:cs typeface="+mn-cs"/>
              </a:rPr>
              <a:t>阶实矩阵环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M</a:t>
            </a:r>
            <a:r>
              <a:rPr lang="en-US" altLang="zh-CN" sz="1200" b="1" i="1" u="none" strike="noStrike" kern="1200" baseline="-25000" dirty="0">
                <a:solidFill>
                  <a:schemeClr val="tx1"/>
                </a:solidFill>
                <a:effectLst/>
                <a:latin typeface="+mn-lt"/>
                <a:ea typeface="+mn-ea"/>
                <a:cs typeface="+mn-cs"/>
              </a:rPr>
              <a:t>n</a:t>
            </a:r>
            <a:r>
              <a:rPr lang="en-US" altLang="zh-CN" sz="1200" b="1" i="0" u="none" strike="noStrike" kern="1200" dirty="0">
                <a:solidFill>
                  <a:schemeClr val="tx1"/>
                </a:solidFill>
                <a:effectLst/>
                <a:latin typeface="+mn-lt"/>
                <a:ea typeface="+mn-ea"/>
                <a:cs typeface="+mn-cs"/>
              </a:rPr>
              <a:t>(R) ,+, ·&gt;</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en-US" altLang="zh-CN" sz="1200" b="1"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不可交换</a:t>
            </a:r>
          </a:p>
          <a:p>
            <a:pPr rtl="0" eaLnBrk="1" fontAlgn="ctr"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a:t>
            </a:r>
            <a:r>
              <a:rPr lang="zh-CN" altLang="zh-CN" sz="1200" b="0" i="0" u="none" strike="noStrike" kern="1200" dirty="0">
                <a:solidFill>
                  <a:schemeClr val="tx1"/>
                </a:solidFill>
                <a:effectLst/>
                <a:latin typeface="+mn-lt"/>
                <a:ea typeface="+mn-ea"/>
                <a:cs typeface="+mn-cs"/>
              </a:rPr>
              <a:t>单位矩阵</a:t>
            </a:r>
          </a:p>
          <a:p>
            <a:pPr rtl="0" eaLnBrk="1" fontAlgn="ctr" latinLnBrk="0" hangingPunct="1"/>
            <a:r>
              <a:rPr lang="zh-CN" altLang="zh-CN" sz="1200" b="0" i="0" u="none" strike="noStrike" kern="1200" dirty="0">
                <a:solidFill>
                  <a:schemeClr val="tx1"/>
                </a:solidFill>
                <a:effectLst/>
                <a:latin typeface="+mn-lt"/>
                <a:ea typeface="+mn-ea"/>
                <a:cs typeface="+mn-cs"/>
              </a:rPr>
              <a:t>有非零矩阵</a:t>
            </a:r>
            <a:r>
              <a:rPr lang="en-US" altLang="zh-CN" sz="1200" b="0" i="1" u="none" strike="noStrike" kern="1200" dirty="0">
                <a:solidFill>
                  <a:schemeClr val="tx1"/>
                </a:solidFill>
                <a:effectLst/>
                <a:latin typeface="+mn-lt"/>
                <a:ea typeface="+mn-ea"/>
                <a:cs typeface="+mn-cs"/>
              </a:rPr>
              <a:t>A</a:t>
            </a:r>
            <a:r>
              <a:rPr lang="zh-CN" altLang="zh-CN" sz="1200" b="0" i="0" u="none" strike="noStrike" kern="1200" dirty="0">
                <a:solidFill>
                  <a:schemeClr val="tx1"/>
                </a:solidFill>
                <a:effectLst/>
                <a:latin typeface="+mn-lt"/>
                <a:ea typeface="+mn-ea"/>
                <a:cs typeface="+mn-cs"/>
              </a:rPr>
              <a:t>和 </a:t>
            </a:r>
            <a:r>
              <a:rPr lang="en-US" altLang="zh-CN" sz="1200" b="0" i="1" u="none" strike="noStrike" kern="1200" dirty="0">
                <a:solidFill>
                  <a:schemeClr val="tx1"/>
                </a:solidFill>
                <a:effectLst/>
                <a:latin typeface="+mn-lt"/>
                <a:ea typeface="+mn-ea"/>
                <a:cs typeface="+mn-cs"/>
              </a:rPr>
              <a:t>B</a:t>
            </a:r>
            <a:r>
              <a:rPr lang="zh-CN" altLang="zh-CN" sz="1200" b="0" i="0" u="none" strike="noStrike" kern="1200" dirty="0">
                <a:solidFill>
                  <a:schemeClr val="tx1"/>
                </a:solidFill>
                <a:effectLst/>
                <a:latin typeface="+mn-lt"/>
                <a:ea typeface="+mn-ea"/>
                <a:cs typeface="+mn-cs"/>
              </a:rPr>
              <a:t>使得</a:t>
            </a:r>
            <a:r>
              <a:rPr lang="en-US" altLang="zh-CN" sz="1200" b="0" i="1" u="none" strike="noStrike" kern="1200" dirty="0">
                <a:solidFill>
                  <a:schemeClr val="tx1"/>
                </a:solidFill>
                <a:effectLst/>
                <a:latin typeface="+mn-lt"/>
                <a:ea typeface="+mn-ea"/>
                <a:cs typeface="+mn-cs"/>
              </a:rPr>
              <a:t>A</a:t>
            </a:r>
            <a:r>
              <a:rPr lang="zh-CN" altLang="zh-CN" sz="1200" b="0" i="0" u="none" strike="noStrike" kern="1200" dirty="0">
                <a:solidFill>
                  <a:schemeClr val="tx1"/>
                </a:solidFill>
                <a:effectLst/>
                <a:latin typeface="+mn-lt"/>
                <a:ea typeface="+mn-ea"/>
                <a:cs typeface="+mn-cs"/>
              </a:rPr>
              <a:t>⋅</a:t>
            </a:r>
            <a:r>
              <a:rPr lang="en-US" altLang="zh-CN" sz="1200" b="0" i="1" u="none" strike="noStrike" kern="1200" dirty="0">
                <a:solidFill>
                  <a:schemeClr val="tx1"/>
                </a:solidFill>
                <a:effectLst/>
                <a:latin typeface="+mn-lt"/>
                <a:ea typeface="+mn-ea"/>
                <a:cs typeface="+mn-cs"/>
              </a:rPr>
              <a:t>B</a:t>
            </a:r>
            <a:r>
              <a:rPr lang="en-US" altLang="zh-CN" sz="1200" b="0" i="0" u="none" strike="noStrike" kern="1200" dirty="0">
                <a:solidFill>
                  <a:schemeClr val="tx1"/>
                </a:solidFill>
                <a:effectLst/>
                <a:latin typeface="+mn-lt"/>
                <a:ea typeface="+mn-ea"/>
                <a:cs typeface="+mn-cs"/>
              </a:rPr>
              <a:t>=0</a:t>
            </a:r>
            <a:endParaRPr lang="zh-CN" altLang="zh-CN" sz="1200" b="0" i="0" u="none" strike="noStrike" kern="1200" dirty="0">
              <a:solidFill>
                <a:schemeClr val="tx1"/>
              </a:solidFill>
              <a:effectLst/>
              <a:latin typeface="+mn-lt"/>
              <a:ea typeface="+mn-ea"/>
              <a:cs typeface="+mn-cs"/>
            </a:endParaRPr>
          </a:p>
          <a:p>
            <a:pPr rtl="0" eaLnBrk="1" fontAlgn="ctr" latinLnBrk="0" hangingPunct="1"/>
            <a:r>
              <a:rPr lang="zh-CN" altLang="zh-CN" sz="1200" b="0" i="0" u="none" strike="noStrike" kern="1200" dirty="0">
                <a:solidFill>
                  <a:schemeClr val="tx1"/>
                </a:solidFill>
                <a:effectLst/>
                <a:latin typeface="+mn-lt"/>
                <a:ea typeface="+mn-ea"/>
                <a:cs typeface="+mn-cs"/>
              </a:rPr>
              <a:t>不是</a:t>
            </a:r>
          </a:p>
          <a:p>
            <a:pPr rtl="0" eaLnBrk="1" fontAlgn="ctr" latinLnBrk="0" hangingPunct="1"/>
            <a:r>
              <a:rPr lang="zh-CN" altLang="zh-CN" sz="1200" b="0" i="0" u="none" strike="noStrike" kern="1200" dirty="0">
                <a:solidFill>
                  <a:schemeClr val="tx1"/>
                </a:solidFill>
                <a:effectLst/>
                <a:latin typeface="+mn-lt"/>
                <a:ea typeface="+mn-ea"/>
                <a:cs typeface="+mn-cs"/>
              </a:rPr>
              <a:t>非零矩阵没有乘法逆元</a:t>
            </a:r>
          </a:p>
          <a:p>
            <a:pPr rtl="0" eaLnBrk="1" fontAlgn="auto" latinLnBrk="0" hangingPunct="1"/>
            <a:r>
              <a:rPr lang="zh-CN" altLang="zh-CN" sz="1200" b="0" i="0" u="none" strike="noStrike" kern="1200" dirty="0">
                <a:solidFill>
                  <a:schemeClr val="tx1"/>
                </a:solidFill>
                <a:effectLst/>
                <a:latin typeface="+mn-lt"/>
                <a:ea typeface="+mn-ea"/>
                <a:cs typeface="+mn-cs"/>
              </a:rPr>
              <a:t>不是</a:t>
            </a:r>
          </a:p>
          <a:p>
            <a:pPr rtl="0" eaLnBrk="1" fontAlgn="ctr" latinLnBrk="0" hangingPunct="1"/>
            <a:r>
              <a:rPr lang="zh-CN" altLang="zh-CN" sz="1200" b="1" i="0" u="none" strike="noStrike" kern="1200" dirty="0">
                <a:solidFill>
                  <a:schemeClr val="tx1"/>
                </a:solidFill>
                <a:effectLst/>
                <a:latin typeface="+mn-lt"/>
                <a:ea typeface="+mn-ea"/>
                <a:cs typeface="+mn-cs"/>
              </a:rPr>
              <a:t>模</a:t>
            </a:r>
            <a:r>
              <a:rPr lang="en-US" altLang="zh-CN" sz="1200" b="1" i="0" u="none" strike="noStrike" kern="1200" dirty="0">
                <a:solidFill>
                  <a:schemeClr val="tx1"/>
                </a:solidFill>
                <a:effectLst/>
                <a:latin typeface="+mn-lt"/>
                <a:ea typeface="+mn-ea"/>
                <a:cs typeface="+mn-cs"/>
              </a:rPr>
              <a:t>n</a:t>
            </a:r>
            <a:r>
              <a:rPr lang="zh-CN" altLang="zh-CN" sz="1200" b="1" i="0" u="none" strike="noStrike" kern="1200" dirty="0">
                <a:solidFill>
                  <a:schemeClr val="tx1"/>
                </a:solidFill>
                <a:effectLst/>
                <a:latin typeface="+mn-lt"/>
                <a:ea typeface="+mn-ea"/>
                <a:cs typeface="+mn-cs"/>
              </a:rPr>
              <a:t>整数环</a:t>
            </a:r>
            <a:r>
              <a:rPr lang="en-US" altLang="zh-CN" sz="1200" b="1" i="0" u="none" strike="noStrike" kern="1200" dirty="0">
                <a:solidFill>
                  <a:schemeClr val="tx1"/>
                </a:solidFill>
                <a:effectLst/>
                <a:latin typeface="+mn-lt"/>
                <a:ea typeface="+mn-ea"/>
                <a:cs typeface="+mn-cs"/>
              </a:rPr>
              <a:t>&lt;</a:t>
            </a:r>
            <a:r>
              <a:rPr lang="en-US" altLang="zh-CN" sz="1200" b="1" i="1" u="none" strike="noStrike" kern="1200" dirty="0">
                <a:solidFill>
                  <a:schemeClr val="tx1"/>
                </a:solidFill>
                <a:effectLst/>
                <a:latin typeface="+mn-lt"/>
                <a:ea typeface="+mn-ea"/>
                <a:cs typeface="+mn-cs"/>
              </a:rPr>
              <a:t>Z</a:t>
            </a:r>
            <a:r>
              <a:rPr lang="en-US" altLang="zh-CN" sz="1200" b="1" i="1" u="none" strike="noStrike" kern="1200" baseline="-25000" dirty="0">
                <a:solidFill>
                  <a:schemeClr val="tx1"/>
                </a:solidFill>
                <a:effectLst/>
                <a:latin typeface="+mn-lt"/>
                <a:ea typeface="+mn-ea"/>
                <a:cs typeface="+mn-cs"/>
              </a:rPr>
              <a:t>n</a:t>
            </a:r>
            <a:r>
              <a:rPr lang="en-US" altLang="zh-CN" sz="1200" b="1" i="0" u="none" strike="noStrike"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sym typeface="Symbol" panose="05050102010706020507" pitchFamily="18" charset="2"/>
              </a:rPr>
              <a:t></a:t>
            </a:r>
            <a:r>
              <a:rPr lang="en-US" altLang="zh-CN" sz="1200" b="1" i="0" u="none" strike="noStrike"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sym typeface="Symbol" panose="05050102010706020507" pitchFamily="18" charset="2"/>
              </a:rPr>
              <a:t></a:t>
            </a:r>
            <a:r>
              <a:rPr lang="en-US" altLang="zh-CN" sz="1200" b="1" i="0" u="none" strike="noStrike" kern="1200" dirty="0">
                <a:solidFill>
                  <a:schemeClr val="tx1"/>
                </a:solidFill>
                <a:effectLst/>
                <a:latin typeface="+mn-lt"/>
                <a:ea typeface="+mn-ea"/>
                <a:cs typeface="+mn-cs"/>
              </a:rPr>
              <a:t>&gt;</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zh-CN" altLang="zh-CN" sz="1200" b="0" i="0" u="none" strike="noStrike" kern="1200" dirty="0">
                <a:solidFill>
                  <a:schemeClr val="tx1"/>
                </a:solidFill>
                <a:effectLst/>
                <a:latin typeface="+mn-lt"/>
                <a:ea typeface="+mn-ea"/>
                <a:cs typeface="+mn-cs"/>
              </a:rPr>
              <a:t>√</a:t>
            </a:r>
          </a:p>
          <a:p>
            <a:pPr rtl="0" eaLnBrk="1" fontAlgn="auto" latinLnBrk="0" hangingPunct="1"/>
            <a:r>
              <a:rPr lang="zh-CN" altLang="zh-CN" sz="1200" b="0" i="0" u="none" strike="noStrike" kern="1200" dirty="0">
                <a:solidFill>
                  <a:schemeClr val="tx1"/>
                </a:solidFill>
                <a:effectLst/>
                <a:latin typeface="+mn-lt"/>
                <a:ea typeface="+mn-ea"/>
                <a:cs typeface="+mn-cs"/>
              </a:rPr>
              <a:t>幺元</a:t>
            </a:r>
            <a:r>
              <a:rPr lang="en-US" altLang="zh-CN" sz="1200" b="0" i="0" u="none" strike="noStrike" kern="1200" dirty="0">
                <a:solidFill>
                  <a:schemeClr val="tx1"/>
                </a:solidFill>
                <a:effectLst/>
                <a:latin typeface="+mn-lt"/>
                <a:ea typeface="+mn-ea"/>
                <a:cs typeface="+mn-cs"/>
              </a:rPr>
              <a:t>=1</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en-US" altLang="zh-CN" sz="1200" b="1" i="1" u="none" strike="noStrike" kern="1200" dirty="0">
                <a:solidFill>
                  <a:schemeClr val="tx1"/>
                </a:solidFill>
                <a:effectLst/>
                <a:latin typeface="+mn-lt"/>
                <a:ea typeface="+mn-ea"/>
                <a:cs typeface="+mn-cs"/>
              </a:rPr>
              <a:t>Z</a:t>
            </a:r>
            <a:r>
              <a:rPr lang="en-US" altLang="zh-CN" sz="1200" b="1" i="1" u="none" strike="noStrike" kern="1200" baseline="-25000" dirty="0">
                <a:solidFill>
                  <a:schemeClr val="tx1"/>
                </a:solidFill>
                <a:effectLst/>
                <a:latin typeface="+mn-lt"/>
                <a:ea typeface="+mn-ea"/>
                <a:cs typeface="+mn-cs"/>
              </a:rPr>
              <a:t>6</a:t>
            </a:r>
            <a:r>
              <a:rPr lang="zh-CN" altLang="zh-CN" sz="1200" b="0" i="0" u="none" strike="noStrike" kern="1200" dirty="0">
                <a:solidFill>
                  <a:schemeClr val="tx1"/>
                </a:solidFill>
                <a:effectLst/>
                <a:latin typeface="+mn-lt"/>
                <a:ea typeface="+mn-ea"/>
                <a:cs typeface="+mn-cs"/>
              </a:rPr>
              <a:t>有零因子</a:t>
            </a:r>
            <a:r>
              <a:rPr lang="en-US" altLang="zh-CN" sz="1200" b="0" i="0" u="none" strike="noStrike" kern="1200" dirty="0">
                <a:solidFill>
                  <a:schemeClr val="tx1"/>
                </a:solidFill>
                <a:effectLst/>
                <a:latin typeface="+mn-lt"/>
                <a:ea typeface="+mn-ea"/>
                <a:cs typeface="+mn-cs"/>
              </a:rPr>
              <a:t>,2</a:t>
            </a:r>
            <a:r>
              <a:rPr lang="en-US" altLang="zh-CN" sz="1200" b="1" i="0" u="none" strike="noStrike" kern="1200" dirty="0">
                <a:solidFill>
                  <a:schemeClr val="tx1"/>
                </a:solidFill>
                <a:effectLst/>
                <a:latin typeface="+mn-lt"/>
                <a:ea typeface="+mn-ea"/>
                <a:cs typeface="+mn-cs"/>
                <a:sym typeface="Symbol" panose="05050102010706020507" pitchFamily="18" charset="2"/>
              </a:rPr>
              <a:t></a:t>
            </a:r>
            <a:r>
              <a:rPr lang="en-US" altLang="zh-CN" sz="1200" b="1" i="0" u="none" strike="noStrike" kern="1200" dirty="0">
                <a:solidFill>
                  <a:schemeClr val="tx1"/>
                </a:solidFill>
                <a:effectLst/>
                <a:latin typeface="+mn-lt"/>
                <a:ea typeface="+mn-ea"/>
                <a:cs typeface="+mn-cs"/>
              </a:rPr>
              <a:t>3=0</a:t>
            </a:r>
            <a:endParaRPr lang="zh-CN" altLang="zh-CN" sz="1200" b="0" i="0" u="none" strike="noStrike" kern="1200" dirty="0">
              <a:solidFill>
                <a:schemeClr val="tx1"/>
              </a:solidFill>
              <a:effectLst/>
              <a:latin typeface="+mn-lt"/>
              <a:ea typeface="+mn-ea"/>
              <a:cs typeface="+mn-cs"/>
            </a:endParaRPr>
          </a:p>
          <a:p>
            <a:pPr rtl="0" eaLnBrk="1" fontAlgn="auto" latinLnBrk="0" hangingPunct="1"/>
            <a:r>
              <a:rPr lang="en-US" altLang="zh-CN" sz="1200" b="0" i="1" u="none" strike="noStrike" kern="1200" dirty="0">
                <a:solidFill>
                  <a:schemeClr val="tx1"/>
                </a:solidFill>
                <a:effectLst/>
                <a:latin typeface="+mn-lt"/>
                <a:ea typeface="+mn-ea"/>
                <a:cs typeface="+mn-cs"/>
              </a:rPr>
              <a:t>n</a:t>
            </a:r>
            <a:r>
              <a:rPr lang="zh-CN" altLang="zh-CN" sz="1200" b="0" i="0" u="none" strike="noStrike" kern="1200" dirty="0">
                <a:solidFill>
                  <a:schemeClr val="tx1"/>
                </a:solidFill>
                <a:effectLst/>
                <a:latin typeface="+mn-lt"/>
                <a:ea typeface="+mn-ea"/>
                <a:cs typeface="+mn-cs"/>
              </a:rPr>
              <a:t> 是素数时是整环</a:t>
            </a:r>
          </a:p>
          <a:p>
            <a:pPr rtl="0" eaLnBrk="1" fontAlgn="auto" latinLnBrk="0" hangingPunct="1"/>
            <a:r>
              <a:rPr lang="en-US" altLang="zh-CN" sz="1200" b="0" i="1" u="none" strike="noStrike" kern="1200" dirty="0">
                <a:solidFill>
                  <a:schemeClr val="tx1"/>
                </a:solidFill>
                <a:effectLst/>
                <a:latin typeface="+mn-lt"/>
                <a:ea typeface="+mn-ea"/>
                <a:cs typeface="+mn-cs"/>
              </a:rPr>
              <a:t>n</a:t>
            </a:r>
            <a:r>
              <a:rPr lang="zh-CN" altLang="zh-CN" sz="1200" b="0" i="0" u="none" strike="noStrike" kern="1200" dirty="0">
                <a:solidFill>
                  <a:schemeClr val="tx1"/>
                </a:solidFill>
                <a:effectLst/>
                <a:latin typeface="+mn-lt"/>
                <a:ea typeface="+mn-ea"/>
                <a:cs typeface="+mn-cs"/>
              </a:rPr>
              <a:t> 是素数时是除环</a:t>
            </a:r>
          </a:p>
          <a:p>
            <a:pPr rtl="0" eaLnBrk="1" fontAlgn="auto" latinLnBrk="0" hangingPunct="1"/>
            <a:r>
              <a:rPr lang="en-US" altLang="zh-CN" sz="1200" b="0" i="1" u="none" strike="noStrike" kern="1200" dirty="0">
                <a:solidFill>
                  <a:schemeClr val="tx1"/>
                </a:solidFill>
                <a:effectLst/>
                <a:latin typeface="+mn-lt"/>
                <a:ea typeface="+mn-ea"/>
                <a:cs typeface="+mn-cs"/>
              </a:rPr>
              <a:t>n</a:t>
            </a:r>
            <a:r>
              <a:rPr lang="zh-CN" altLang="zh-CN" sz="1200" b="0" i="0" u="none" strike="noStrike" kern="1200" dirty="0">
                <a:solidFill>
                  <a:schemeClr val="tx1"/>
                </a:solidFill>
                <a:effectLst/>
                <a:latin typeface="+mn-lt"/>
                <a:ea typeface="+mn-ea"/>
                <a:cs typeface="+mn-cs"/>
              </a:rPr>
              <a:t> 是素数时是域</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120</a:t>
            </a:fld>
            <a:endParaRPr lang="zh-CN" altLang="en-US"/>
          </a:p>
        </p:txBody>
      </p:sp>
    </p:spTree>
    <p:extLst>
      <p:ext uri="{BB962C8B-B14F-4D97-AF65-F5344CB8AC3E}">
        <p14:creationId xmlns:p14="http://schemas.microsoft.com/office/powerpoint/2010/main" val="375729556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solidFill>
                  <a:srgbClr val="FF0000"/>
                </a:solidFill>
                <a:latin typeface="Times New Roman" panose="02020603050405020304" pitchFamily="18" charset="0"/>
                <a:ea typeface="+mn-ea"/>
              </a:rPr>
              <a:t>定理</a:t>
            </a:r>
            <a:r>
              <a:rPr lang="en-US" altLang="zh-CN" sz="1200" b="1" dirty="0">
                <a:solidFill>
                  <a:srgbClr val="FF0000"/>
                </a:solidFill>
                <a:latin typeface="Times New Roman" panose="02020603050405020304" pitchFamily="18" charset="0"/>
                <a:ea typeface="+mn-ea"/>
              </a:rPr>
              <a:t>9.9</a:t>
            </a:r>
            <a:r>
              <a:rPr lang="en-US" altLang="zh-CN" sz="1200" b="1" dirty="0">
                <a:solidFill>
                  <a:srgbClr val="000000"/>
                </a:solidFill>
                <a:latin typeface="Times New Roman" panose="02020603050405020304" pitchFamily="18" charset="0"/>
                <a:ea typeface="+mn-ea"/>
              </a:rPr>
              <a:t> </a:t>
            </a:r>
            <a:r>
              <a:rPr lang="zh-CN" altLang="en-US" sz="1200" b="1" dirty="0">
                <a:solidFill>
                  <a:srgbClr val="000000"/>
                </a:solidFill>
                <a:latin typeface="Times New Roman" panose="02020603050405020304" pitchFamily="18" charset="0"/>
                <a:ea typeface="+mn-ea"/>
              </a:rPr>
              <a:t>设</a:t>
            </a:r>
            <a:r>
              <a:rPr lang="en-US" altLang="zh-CN" sz="1200" b="1" dirty="0">
                <a:solidFill>
                  <a:srgbClr val="000000"/>
                </a:solidFill>
                <a:latin typeface="Times New Roman" panose="02020603050405020304" pitchFamily="18" charset="0"/>
                <a:ea typeface="+mn-ea"/>
              </a:rPr>
              <a:t>&lt;</a:t>
            </a:r>
            <a:r>
              <a:rPr lang="en-US" altLang="zh-CN" sz="1200" b="1" i="1" dirty="0">
                <a:solidFill>
                  <a:srgbClr val="000000"/>
                </a:solidFill>
                <a:latin typeface="Times New Roman" panose="02020603050405020304" pitchFamily="18" charset="0"/>
                <a:ea typeface="+mn-ea"/>
              </a:rPr>
              <a:t>R</a:t>
            </a:r>
            <a:r>
              <a:rPr lang="en-US" altLang="zh-CN" sz="1200" b="1" dirty="0">
                <a:solidFill>
                  <a:srgbClr val="000000"/>
                </a:solidFill>
                <a:latin typeface="Times New Roman" panose="02020603050405020304" pitchFamily="18" charset="0"/>
                <a:ea typeface="+mn-ea"/>
              </a:rPr>
              <a:t>,+,·&gt;</a:t>
            </a:r>
            <a:r>
              <a:rPr lang="zh-CN" altLang="en-US" sz="1200" b="1" dirty="0">
                <a:solidFill>
                  <a:srgbClr val="000000"/>
                </a:solidFill>
                <a:latin typeface="Times New Roman" panose="02020603050405020304" pitchFamily="18" charset="0"/>
                <a:ea typeface="+mn-ea"/>
              </a:rPr>
              <a:t>是环</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则 </a:t>
            </a:r>
            <a:endParaRPr lang="en-US" altLang="zh-CN" sz="1200" b="1" dirty="0">
              <a:solidFill>
                <a:srgbClr val="000000"/>
              </a:solidFill>
              <a:latin typeface="Times New Roman" panose="02020603050405020304" pitchFamily="18" charset="0"/>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设</a:t>
            </a:r>
            <a:r>
              <a:rPr lang="en-US" altLang="zh-CN" sz="1200" b="1" dirty="0">
                <a:solidFill>
                  <a:srgbClr val="000000"/>
                </a:solidFill>
                <a:latin typeface="Times New Roman" panose="02020603050405020304" pitchFamily="18" charset="0"/>
                <a:ea typeface="+mn-ea"/>
              </a:rPr>
              <a:t>&lt;</a:t>
            </a:r>
            <a:r>
              <a:rPr lang="en-US" altLang="zh-CN" sz="1200" b="1" i="1" dirty="0">
                <a:solidFill>
                  <a:srgbClr val="000000"/>
                </a:solidFill>
                <a:latin typeface="Times New Roman" panose="02020603050405020304" pitchFamily="18" charset="0"/>
                <a:ea typeface="+mn-ea"/>
              </a:rPr>
              <a:t>R</a:t>
            </a:r>
            <a:r>
              <a:rPr lang="en-US" altLang="zh-CN" sz="1200" b="1" dirty="0">
                <a:solidFill>
                  <a:srgbClr val="000000"/>
                </a:solidFill>
                <a:latin typeface="Times New Roman" panose="02020603050405020304" pitchFamily="18" charset="0"/>
                <a:ea typeface="+mn-ea"/>
              </a:rPr>
              <a:t>,+,·&gt;</a:t>
            </a:r>
            <a:r>
              <a:rPr lang="zh-CN" altLang="en-US" sz="1200" b="1" dirty="0">
                <a:solidFill>
                  <a:srgbClr val="000000"/>
                </a:solidFill>
                <a:latin typeface="Times New Roman" panose="02020603050405020304" pitchFamily="18" charset="0"/>
                <a:ea typeface="+mn-ea"/>
              </a:rPr>
              <a:t>是环</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sym typeface="Symbol" panose="05050102010706020507" pitchFamily="18" charset="2"/>
              </a:rPr>
              <a:t> </a:t>
            </a:r>
            <a:r>
              <a:rPr lang="en-US" altLang="zh-CN" sz="1200" b="1" i="1" dirty="0">
                <a:solidFill>
                  <a:srgbClr val="000000"/>
                </a:solidFill>
                <a:latin typeface="Times New Roman" panose="02020603050405020304" pitchFamily="18" charset="0"/>
                <a:ea typeface="+mn-ea"/>
              </a:rPr>
              <a:t>a</a:t>
            </a:r>
            <a:r>
              <a:rPr lang="en-US" altLang="zh-CN" sz="1200" b="1" dirty="0">
                <a:solidFill>
                  <a:srgbClr val="000000"/>
                </a:solidFill>
                <a:latin typeface="Times New Roman" panose="02020603050405020304" pitchFamily="18" charset="0"/>
                <a:ea typeface="+mn-ea"/>
                <a:sym typeface="Symbol" panose="05050102010706020507" pitchFamily="18" charset="2"/>
              </a:rPr>
              <a:t>, </a:t>
            </a:r>
            <a:r>
              <a:rPr lang="en-US" altLang="zh-CN" sz="1200" b="1" i="1" dirty="0" err="1">
                <a:solidFill>
                  <a:srgbClr val="000000"/>
                </a:solidFill>
                <a:latin typeface="Times New Roman" panose="02020603050405020304" pitchFamily="18" charset="0"/>
                <a:ea typeface="+mn-ea"/>
                <a:sym typeface="Symbol" panose="05050102010706020507" pitchFamily="18" charset="2"/>
              </a:rPr>
              <a:t>b</a:t>
            </a:r>
            <a:r>
              <a:rPr lang="en-US" altLang="zh-CN" sz="1200" b="1" dirty="0" err="1">
                <a:solidFill>
                  <a:srgbClr val="000000"/>
                </a:solidFill>
                <a:latin typeface="Times New Roman" panose="02020603050405020304" pitchFamily="18" charset="0"/>
                <a:ea typeface="+mn-ea"/>
                <a:sym typeface="Symbol" panose="05050102010706020507" pitchFamily="18" charset="2"/>
              </a:rPr>
              <a:t>∈</a:t>
            </a:r>
            <a:r>
              <a:rPr lang="en-US" altLang="zh-CN" sz="1200" b="1" i="1" dirty="0" err="1">
                <a:solidFill>
                  <a:srgbClr val="000000"/>
                </a:solidFill>
                <a:latin typeface="Times New Roman" panose="02020603050405020304" pitchFamily="18" charset="0"/>
                <a:ea typeface="+mn-ea"/>
                <a:sym typeface="Symbol" panose="05050102010706020507" pitchFamily="18" charset="2"/>
              </a:rPr>
              <a:t>R</a:t>
            </a:r>
            <a:r>
              <a:rPr lang="en-US" altLang="zh-CN" sz="1200" b="1" dirty="0">
                <a:solidFill>
                  <a:srgbClr val="000000"/>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rPr>
              <a:t>计算</a:t>
            </a:r>
            <a:r>
              <a:rPr lang="en-US" altLang="zh-CN" sz="1200" b="1" dirty="0">
                <a:solidFill>
                  <a:schemeClr val="tx1"/>
                </a:solidFill>
                <a:latin typeface="Times New Roman" panose="02020603050405020304" pitchFamily="18" charset="0"/>
                <a:ea typeface="+mn-ea"/>
              </a:rPr>
              <a:t>(</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rPr>
              <a:t>+</a:t>
            </a:r>
            <a:r>
              <a:rPr lang="en-US" altLang="zh-CN" sz="1200" b="1" i="1" dirty="0" err="1">
                <a:solidFill>
                  <a:schemeClr val="tx1"/>
                </a:solidFill>
                <a:latin typeface="Times New Roman" panose="02020603050405020304" pitchFamily="18" charset="0"/>
                <a:ea typeface="+mn-ea"/>
              </a:rPr>
              <a:t>b</a:t>
            </a:r>
            <a:r>
              <a:rPr lang="en-US" altLang="zh-CN" sz="1200" b="1" dirty="0">
                <a:solidFill>
                  <a:schemeClr val="tx1"/>
                </a:solidFill>
                <a:latin typeface="Times New Roman" panose="02020603050405020304" pitchFamily="18" charset="0"/>
                <a:ea typeface="+mn-ea"/>
              </a:rPr>
              <a:t>)</a:t>
            </a:r>
            <a:r>
              <a:rPr lang="en-US" altLang="zh-CN" sz="1200" b="1" baseline="30000" dirty="0">
                <a:solidFill>
                  <a:schemeClr val="tx1"/>
                </a:solidFill>
                <a:latin typeface="Times New Roman" panose="02020603050405020304" pitchFamily="18" charset="0"/>
                <a:ea typeface="+mn-ea"/>
              </a:rPr>
              <a:t>3</a:t>
            </a:r>
            <a:r>
              <a:rPr lang="en-US" altLang="zh-CN" sz="1200" b="1" dirty="0">
                <a:solidFill>
                  <a:schemeClr val="tx1"/>
                </a:solidFill>
                <a:latin typeface="Times New Roman" panose="02020603050405020304" pitchFamily="18" charset="0"/>
                <a:ea typeface="+mn-ea"/>
              </a:rPr>
              <a:t>, (</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baseline="30000" dirty="0">
                <a:solidFill>
                  <a:schemeClr val="tx1"/>
                </a:solidFill>
                <a:latin typeface="Times New Roman" panose="02020603050405020304" pitchFamily="18" charset="0"/>
                <a:ea typeface="+mn-ea"/>
                <a:sym typeface="Symbol" panose="05050102010706020507" pitchFamily="18" charset="2"/>
              </a:rPr>
              <a:t>2</a:t>
            </a:r>
            <a:endParaRPr lang="en-US" altLang="zh-CN" sz="1200" b="1" dirty="0">
              <a:solidFill>
                <a:schemeClr val="tx1"/>
              </a:solidFill>
              <a:latin typeface="Times New Roman" panose="02020603050405020304" pitchFamily="18" charset="0"/>
              <a:ea typeface="+mn-ea"/>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121</a:t>
            </a:fld>
            <a:endParaRPr lang="zh-CN" altLang="en-US"/>
          </a:p>
        </p:txBody>
      </p:sp>
    </p:spTree>
    <p:extLst>
      <p:ext uri="{BB962C8B-B14F-4D97-AF65-F5344CB8AC3E}">
        <p14:creationId xmlns:p14="http://schemas.microsoft.com/office/powerpoint/2010/main" val="399340291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spcBef>
                <a:spcPct val="50000"/>
              </a:spcBef>
              <a:buNone/>
            </a:pPr>
            <a:r>
              <a:rPr lang="en-US" altLang="zh-CN" b="1" dirty="0"/>
              <a:t>9.3.1 </a:t>
            </a:r>
            <a:r>
              <a:rPr lang="zh-CN" altLang="en-US" b="1" dirty="0"/>
              <a:t>半群与独异点</a:t>
            </a:r>
            <a:endParaRPr lang="en-US" altLang="zh-CN" b="1" dirty="0"/>
          </a:p>
          <a:p>
            <a:pPr marL="0" indent="0">
              <a:spcBef>
                <a:spcPct val="50000"/>
              </a:spcBef>
              <a:buNone/>
            </a:pPr>
            <a:endParaRPr lang="zh-CN" altLang="en-US" b="1" dirty="0"/>
          </a:p>
          <a:p>
            <a:pPr marL="0" indent="0">
              <a:spcBef>
                <a:spcPct val="50000"/>
              </a:spcBef>
              <a:buNone/>
            </a:pPr>
            <a:r>
              <a:rPr lang="en-US" altLang="zh-CN" b="1" dirty="0"/>
              <a:t>9.3.2 </a:t>
            </a:r>
            <a:r>
              <a:rPr lang="zh-CN" altLang="en-US" b="1" dirty="0"/>
              <a:t>群</a:t>
            </a:r>
            <a:endParaRPr lang="en-US" altLang="zh-CN" b="1" dirty="0"/>
          </a:p>
          <a:p>
            <a:pPr marL="0" indent="0">
              <a:spcBef>
                <a:spcPct val="50000"/>
              </a:spcBef>
              <a:buNone/>
            </a:pPr>
            <a:endParaRPr lang="zh-CN" altLang="en-US" b="1" dirty="0"/>
          </a:p>
          <a:p>
            <a:pPr marL="0" indent="0">
              <a:spcBef>
                <a:spcPct val="50000"/>
              </a:spcBef>
              <a:buNone/>
            </a:pPr>
            <a:r>
              <a:rPr lang="en-US" altLang="zh-CN" b="1" dirty="0"/>
              <a:t>9.3.3 </a:t>
            </a:r>
            <a:r>
              <a:rPr lang="zh-CN" altLang="en-US" b="1" dirty="0"/>
              <a:t>环与域</a:t>
            </a:r>
            <a:endParaRPr lang="en-US" altLang="zh-CN" b="1" dirty="0"/>
          </a:p>
          <a:p>
            <a:pPr marL="0" indent="0">
              <a:spcBef>
                <a:spcPct val="50000"/>
              </a:spcBef>
              <a:buNone/>
            </a:pPr>
            <a:endParaRPr lang="zh-CN" altLang="en-US" b="1" dirty="0"/>
          </a:p>
          <a:p>
            <a:pPr marL="0" indent="0">
              <a:spcBef>
                <a:spcPct val="50000"/>
              </a:spcBef>
              <a:buNone/>
            </a:pPr>
            <a:r>
              <a:rPr lang="en-US" altLang="zh-CN" b="1" dirty="0"/>
              <a:t>9.3.4 </a:t>
            </a:r>
            <a:r>
              <a:rPr lang="zh-CN" altLang="en-US" b="1" dirty="0"/>
              <a:t>格与布尔代数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122</a:t>
            </a:fld>
            <a:endParaRPr lang="zh-CN" altLang="en-US"/>
          </a:p>
        </p:txBody>
      </p:sp>
    </p:spTree>
    <p:extLst>
      <p:ext uri="{BB962C8B-B14F-4D97-AF65-F5344CB8AC3E}">
        <p14:creationId xmlns:p14="http://schemas.microsoft.com/office/powerpoint/2010/main" val="237205824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31825" indent="358775" eaLnBrk="1" hangingPunct="1"/>
            <a:r>
              <a:rPr lang="zh-CN" altLang="en-US" b="1" dirty="0"/>
              <a:t>格的定义与构造</a:t>
            </a:r>
          </a:p>
          <a:p>
            <a:pPr marL="631825" indent="358775" eaLnBrk="1" hangingPunct="1"/>
            <a:r>
              <a:rPr lang="zh-CN" altLang="en-US" b="1" dirty="0"/>
              <a:t>格的性质</a:t>
            </a:r>
            <a:r>
              <a:rPr lang="en-US" altLang="zh-CN" b="1" dirty="0"/>
              <a:t>-</a:t>
            </a:r>
            <a:r>
              <a:rPr lang="zh-CN" altLang="en-US" b="1" dirty="0"/>
              <a:t>对偶原理</a:t>
            </a:r>
          </a:p>
          <a:p>
            <a:pPr marL="631825" indent="358775" eaLnBrk="1" hangingPunct="1"/>
            <a:r>
              <a:rPr lang="zh-CN" altLang="en-US" b="1" dirty="0"/>
              <a:t>分配格、有界格、有补格</a:t>
            </a:r>
          </a:p>
          <a:p>
            <a:pPr marL="631825" indent="358775" eaLnBrk="1" hangingPunct="1"/>
            <a:r>
              <a:rPr lang="zh-CN" altLang="en-US" b="1" dirty="0"/>
              <a:t>布尔格（布尔代数）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123</a:t>
            </a:fld>
            <a:endParaRPr lang="zh-CN" altLang="en-US"/>
          </a:p>
        </p:txBody>
      </p:sp>
    </p:spTree>
    <p:extLst>
      <p:ext uri="{BB962C8B-B14F-4D97-AF65-F5344CB8AC3E}">
        <p14:creationId xmlns:p14="http://schemas.microsoft.com/office/powerpoint/2010/main" val="99654079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合</a:t>
            </a:r>
            <a:r>
              <a:rPr lang="en-US" altLang="zh-CN" dirty="0"/>
              <a:t>S</a:t>
            </a:r>
            <a:r>
              <a:rPr lang="zh-CN" altLang="en-US" dirty="0"/>
              <a:t>配备一个自反、反对称、传递的二元关系</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124</a:t>
            </a:fld>
            <a:endParaRPr lang="zh-CN" altLang="en-US"/>
          </a:p>
        </p:txBody>
      </p:sp>
    </p:spTree>
    <p:extLst>
      <p:ext uri="{BB962C8B-B14F-4D97-AF65-F5344CB8AC3E}">
        <p14:creationId xmlns:p14="http://schemas.microsoft.com/office/powerpoint/2010/main" val="406972423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格中的集合</a:t>
            </a:r>
            <a:r>
              <a:rPr lang="en-US" altLang="zh-CN" sz="1800" b="1" dirty="0">
                <a:effectLst/>
                <a:latin typeface="Times New Roman" panose="02020603050405020304" pitchFamily="18" charset="0"/>
                <a:ea typeface="宋体" panose="02010600030101010101" pitchFamily="2" charset="-122"/>
              </a:rPr>
              <a:t>L</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是普通偏序集</a:t>
            </a:r>
            <a:r>
              <a:rPr lang="en-US" altLang="zh-CN" sz="1800" b="1" dirty="0">
                <a:effectLst/>
                <a:latin typeface="Times New Roman" panose="02020603050405020304" pitchFamily="18" charset="0"/>
                <a:ea typeface="宋体" panose="02010600030101010101" pitchFamily="2" charset="-122"/>
              </a:rPr>
              <a:t>&lt;S,</a:t>
            </a:r>
            <a:r>
              <a:rPr lang="zh-CN" altLang="zh-CN" sz="1800" b="1" dirty="0">
                <a:effectLst/>
                <a:ea typeface="MS Gothic" panose="020B0609070205080204" pitchFamily="49" charset="-128"/>
                <a:cs typeface="MS Gothic" panose="020B0609070205080204" pitchFamily="49" charset="-128"/>
              </a:rPr>
              <a:t>≼</a:t>
            </a:r>
            <a:r>
              <a:rPr lang="en-US" altLang="zh-CN" sz="1800" b="1" dirty="0">
                <a:effectLst/>
                <a:latin typeface="Times New Roman" panose="02020603050405020304" pitchFamily="18" charset="0"/>
                <a:ea typeface="宋体" panose="02010600030101010101" pitchFamily="2" charset="-122"/>
              </a:rPr>
              <a:t>&gt;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中的所有元素加上保证</a:t>
            </a:r>
            <a:r>
              <a:rPr lang="en-US" altLang="zh-CN" sz="1800" b="1" dirty="0">
                <a:effectLst/>
                <a:latin typeface="Times New Roman" panose="02020603050405020304" pitchFamily="18" charset="0"/>
                <a:ea typeface="宋体" panose="02010600030101010101" pitchFamily="2" charset="-122"/>
              </a:rPr>
              <a:t>S</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中所有元素有最小上</a:t>
            </a:r>
            <a:endPar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界和最大下界的附加元素</a:t>
            </a:r>
            <a:endPar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25000"/>
              </a:lnSpc>
            </a:pPr>
            <a:r>
              <a:rPr lang="zh-CN" altLang="en-US" sz="1200" b="1" dirty="0">
                <a:solidFill>
                  <a:srgbClr val="FF0000"/>
                </a:solidFill>
                <a:latin typeface="Times New Roman" panose="02020603050405020304" pitchFamily="18" charset="0"/>
                <a:ea typeface="+mn-ea"/>
              </a:rPr>
              <a:t>定义</a:t>
            </a:r>
            <a:r>
              <a:rPr lang="en-US" altLang="zh-CN" sz="1200" b="1" dirty="0">
                <a:solidFill>
                  <a:srgbClr val="FF0000"/>
                </a:solidFill>
                <a:latin typeface="Times New Roman" panose="02020603050405020304" pitchFamily="18" charset="0"/>
                <a:ea typeface="+mn-ea"/>
              </a:rPr>
              <a:t>9.20  </a:t>
            </a:r>
            <a:r>
              <a:rPr lang="zh-CN" altLang="en-US" sz="1200" b="1" dirty="0">
                <a:solidFill>
                  <a:schemeClr val="tx1"/>
                </a:solidFill>
                <a:latin typeface="Times New Roman" panose="02020603050405020304" pitchFamily="18" charset="0"/>
                <a:ea typeface="+mn-ea"/>
              </a:rPr>
              <a:t>设</a:t>
            </a:r>
            <a:r>
              <a:rPr lang="en-US" altLang="zh-CN" sz="1200" b="1" dirty="0">
                <a:solidFill>
                  <a:schemeClr val="tx1"/>
                </a:solidFill>
                <a:latin typeface="Times New Roman" panose="02020603050405020304" pitchFamily="18" charset="0"/>
                <a:ea typeface="+mn-ea"/>
              </a:rPr>
              <a:t>&lt;S,≼&gt;</a:t>
            </a:r>
            <a:r>
              <a:rPr lang="zh-CN" altLang="en-US" sz="1200" b="1" dirty="0">
                <a:solidFill>
                  <a:schemeClr val="tx1"/>
                </a:solidFill>
                <a:latin typeface="Times New Roman" panose="02020603050405020304" pitchFamily="18" charset="0"/>
                <a:ea typeface="+mn-ea"/>
              </a:rPr>
              <a:t>是偏序集</a:t>
            </a:r>
            <a:r>
              <a:rPr lang="en-US" altLang="zh-CN"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rPr>
              <a:t>如果</a:t>
            </a:r>
            <a:r>
              <a:rPr lang="zh-CN" altLang="en-US"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rPr>
              <a:t>x</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S</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都有</a:t>
            </a:r>
          </a:p>
          <a:p>
            <a:pPr eaLnBrk="1" hangingPunct="1">
              <a:lnSpc>
                <a:spcPct val="125000"/>
              </a:lnSpc>
            </a:pPr>
            <a:r>
              <a:rPr lang="zh-CN" altLang="en-US" sz="1200" b="1" dirty="0">
                <a:solidFill>
                  <a:schemeClr val="tx1"/>
                </a:solidFill>
                <a:latin typeface="Times New Roman" panose="02020603050405020304" pitchFamily="18" charset="0"/>
                <a:ea typeface="+mn-ea"/>
                <a:sym typeface="Symbol" panose="05050102010706020507" pitchFamily="18" charset="2"/>
              </a:rPr>
              <a:t>最小上界和最大下界</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则称</a:t>
            </a:r>
            <a:r>
              <a:rPr lang="en-US" altLang="zh-CN" sz="1200" b="1" i="1" dirty="0">
                <a:solidFill>
                  <a:schemeClr val="tx1"/>
                </a:solidFill>
                <a:latin typeface="Times New Roman" panose="02020603050405020304" pitchFamily="18" charset="0"/>
                <a:ea typeface="+mn-ea"/>
                <a:sym typeface="Symbol" panose="05050102010706020507" pitchFamily="18" charset="2"/>
              </a:rPr>
              <a:t>S</a:t>
            </a:r>
            <a:r>
              <a:rPr lang="zh-CN" altLang="en-US" sz="1200" b="1" dirty="0">
                <a:solidFill>
                  <a:schemeClr val="tx1"/>
                </a:solidFill>
                <a:latin typeface="Times New Roman" panose="02020603050405020304" pitchFamily="18" charset="0"/>
                <a:ea typeface="+mn-ea"/>
                <a:sym typeface="Symbol" panose="05050102010706020507" pitchFamily="18" charset="2"/>
              </a:rPr>
              <a:t>关于偏序≼构成一个</a:t>
            </a:r>
            <a:r>
              <a:rPr lang="zh-CN" altLang="en-US" sz="1200" b="1" dirty="0">
                <a:solidFill>
                  <a:srgbClr val="FF0000"/>
                </a:solidFill>
                <a:latin typeface="Times New Roman" panose="02020603050405020304" pitchFamily="18" charset="0"/>
                <a:ea typeface="+mn-ea"/>
                <a:sym typeface="Symbol" panose="05050102010706020507" pitchFamily="18" charset="2"/>
              </a:rPr>
              <a:t>格</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pPr marL="342900" indent="-342900" eaLnBrk="1" hangingPunct="1">
              <a:lnSpc>
                <a:spcPct val="125000"/>
              </a:lnSpc>
              <a:buFont typeface="Wingdings" panose="05000000000000000000" pitchFamily="2" charset="2"/>
              <a:buChar char="u"/>
            </a:pP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由于最小上界和最大下界的唯一性</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可以把求</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的最</a:t>
            </a:r>
          </a:p>
          <a:p>
            <a:pPr eaLnBrk="1" hangingPunct="1">
              <a:lnSpc>
                <a:spcPct val="125000"/>
              </a:lnSpc>
            </a:pPr>
            <a:r>
              <a:rPr lang="zh-CN" altLang="en-US" sz="1200" b="1" dirty="0">
                <a:solidFill>
                  <a:schemeClr val="tx1"/>
                </a:solidFill>
                <a:latin typeface="Times New Roman" panose="02020603050405020304" pitchFamily="18" charset="0"/>
                <a:ea typeface="+mn-ea"/>
                <a:sym typeface="Symbol" panose="05050102010706020507" pitchFamily="18" charset="2"/>
              </a:rPr>
              <a:t>小上界和最大下界看成 </a:t>
            </a:r>
            <a:r>
              <a:rPr lang="en-US" altLang="zh-CN" sz="1200" b="1" i="1" dirty="0">
                <a:solidFill>
                  <a:schemeClr val="tx1"/>
                </a:solidFill>
                <a:latin typeface="Times New Roman" panose="02020603050405020304" pitchFamily="18" charset="0"/>
                <a:ea typeface="+mn-ea"/>
                <a:sym typeface="Symbol" panose="05050102010706020507" pitchFamily="18" charset="2"/>
              </a:rPr>
              <a:t>x</a:t>
            </a:r>
            <a:r>
              <a:rPr lang="zh-CN" altLang="en-US" sz="1200" b="1" dirty="0">
                <a:solidFill>
                  <a:schemeClr val="tx1"/>
                </a:solidFill>
                <a:latin typeface="Times New Roman" panose="02020603050405020304" pitchFamily="18" charset="0"/>
                <a:ea typeface="+mn-ea"/>
                <a:sym typeface="Symbol" panose="05050102010706020507" pitchFamily="18" charset="2"/>
              </a:rPr>
              <a:t>与</a:t>
            </a:r>
            <a:r>
              <a:rPr lang="en-US" altLang="zh-CN" sz="1200" b="1" i="1" dirty="0">
                <a:solidFill>
                  <a:schemeClr val="tx1"/>
                </a:solidFill>
                <a:latin typeface="Times New Roman" panose="02020603050405020304" pitchFamily="18" charset="0"/>
                <a:ea typeface="+mn-ea"/>
                <a:sym typeface="Symbol" panose="05050102010706020507" pitchFamily="18" charset="2"/>
              </a:rPr>
              <a:t>y </a:t>
            </a:r>
            <a:r>
              <a:rPr lang="zh-CN" altLang="en-US" sz="1200" b="1" dirty="0">
                <a:solidFill>
                  <a:schemeClr val="tx1"/>
                </a:solidFill>
                <a:latin typeface="Times New Roman" panose="02020603050405020304" pitchFamily="18" charset="0"/>
                <a:ea typeface="+mn-ea"/>
                <a:sym typeface="Symbol" panose="05050102010706020507" pitchFamily="18" charset="2"/>
              </a:rPr>
              <a:t>的二元运算∨和∧，即</a:t>
            </a:r>
          </a:p>
          <a:p>
            <a:pPr eaLnBrk="1" hangingPunct="1">
              <a:lnSpc>
                <a:spcPct val="125000"/>
              </a:lnSpc>
            </a:pP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i="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和 </a:t>
            </a: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i="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分别表示</a:t>
            </a:r>
            <a:r>
              <a:rPr lang="en-US" altLang="zh-CN" sz="1200" b="1" i="1" dirty="0">
                <a:solidFill>
                  <a:schemeClr val="tx1"/>
                </a:solidFill>
                <a:latin typeface="Times New Roman" panose="02020603050405020304" pitchFamily="18" charset="0"/>
                <a:ea typeface="+mn-ea"/>
                <a:sym typeface="Symbol" panose="05050102010706020507" pitchFamily="18" charset="2"/>
              </a:rPr>
              <a:t>x</a:t>
            </a:r>
            <a:r>
              <a:rPr lang="zh-CN" altLang="en-US" sz="1200" b="1" dirty="0">
                <a:solidFill>
                  <a:schemeClr val="tx1"/>
                </a:solidFill>
                <a:latin typeface="Times New Roman" panose="02020603050405020304" pitchFamily="18" charset="0"/>
                <a:ea typeface="+mn-ea"/>
                <a:sym typeface="Symbol" panose="05050102010706020507" pitchFamily="18" charset="2"/>
              </a:rPr>
              <a:t>与</a:t>
            </a:r>
            <a:r>
              <a:rPr lang="en-US" altLang="zh-CN" sz="1200" b="1" i="1" dirty="0">
                <a:solidFill>
                  <a:schemeClr val="tx1"/>
                </a:solidFill>
                <a:latin typeface="Times New Roman" panose="02020603050405020304" pitchFamily="18" charset="0"/>
                <a:ea typeface="+mn-ea"/>
                <a:sym typeface="Symbol" panose="05050102010706020507" pitchFamily="18" charset="2"/>
              </a:rPr>
              <a:t>y</a:t>
            </a:r>
            <a:r>
              <a:rPr lang="zh-CN" altLang="en-US" sz="1200" b="1" dirty="0">
                <a:solidFill>
                  <a:schemeClr val="tx1"/>
                </a:solidFill>
                <a:latin typeface="Times New Roman" panose="02020603050405020304" pitchFamily="18" charset="0"/>
                <a:ea typeface="+mn-ea"/>
                <a:sym typeface="Symbol" panose="05050102010706020507" pitchFamily="18" charset="2"/>
              </a:rPr>
              <a:t>的最小上界和最大下界</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pPr eaLnBrk="1" hangingPunct="1">
              <a:lnSpc>
                <a:spcPct val="125000"/>
              </a:lnSpc>
            </a:pPr>
            <a:endParaRPr lang="en-US" altLang="zh-CN" sz="1200" b="1" dirty="0">
              <a:solidFill>
                <a:schemeClr val="tx1"/>
              </a:solidFill>
              <a:latin typeface="Times New Roman" panose="02020603050405020304" pitchFamily="18" charset="0"/>
              <a:ea typeface="+mn-ea"/>
              <a:sym typeface="Symbol" panose="05050102010706020507" pitchFamily="18" charset="2"/>
            </a:endParaRPr>
          </a:p>
          <a:p>
            <a:pPr indent="0" eaLnBrk="1" hangingPunct="1">
              <a:lnSpc>
                <a:spcPct val="125000"/>
              </a:lnSpc>
            </a:pPr>
            <a:r>
              <a:rPr lang="zh-CN" altLang="en-US" sz="1400" b="1" dirty="0">
                <a:solidFill>
                  <a:srgbClr val="00B0F0"/>
                </a:solidFill>
                <a:latin typeface="Times New Roman" panose="02020603050405020304" pitchFamily="18" charset="0"/>
                <a:ea typeface="+mn-ea"/>
                <a:sym typeface="Symbol" panose="05050102010706020507" pitchFamily="18" charset="2"/>
              </a:rPr>
              <a:t>注</a:t>
            </a:r>
            <a:r>
              <a:rPr lang="en-US" altLang="zh-CN" sz="1400" b="1" dirty="0">
                <a:solidFill>
                  <a:srgbClr val="00B0F0"/>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①</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最小上界和</a:t>
            </a:r>
            <a:r>
              <a:rPr lang="zh-CN" altLang="en-US" sz="1200" b="1" dirty="0">
                <a:solidFill>
                  <a:schemeClr val="tx1"/>
                </a:solidFill>
                <a:latin typeface="Times New Roman" panose="02020603050405020304" pitchFamily="18" charset="0"/>
                <a:ea typeface="+mn-ea"/>
                <a:cs typeface="Times New Roman" panose="02020603050405020304" pitchFamily="18" charset="0"/>
              </a:rPr>
              <a:t>最大</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下确界</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的二元</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运算</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仅代表格中的运算</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不再有其它含义</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p>
          <a:p>
            <a:pPr indent="0" eaLnBrk="1" hangingPunct="1">
              <a:lnSpc>
                <a:spcPct val="125000"/>
              </a:lnSpc>
            </a:pP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②</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有</a:t>
            </a:r>
            <a:r>
              <a:rPr lang="zh-CN" altLang="en-US" sz="1200" b="1" dirty="0">
                <a:solidFill>
                  <a:schemeClr val="tx1"/>
                </a:solidFill>
                <a:latin typeface="Times New Roman" panose="02020603050405020304" pitchFamily="18" charset="0"/>
                <a:ea typeface="+mn-ea"/>
              </a:rPr>
              <a:t>偏序集</a:t>
            </a:r>
            <a:r>
              <a:rPr lang="en-US" altLang="zh-CN" sz="1200" b="1" dirty="0">
                <a:solidFill>
                  <a:schemeClr val="tx1"/>
                </a:solidFill>
                <a:latin typeface="Times New Roman" panose="02020603050405020304" pitchFamily="18" charset="0"/>
                <a:ea typeface="+mn-ea"/>
              </a:rPr>
              <a:t>&lt;S,≼&gt;</a:t>
            </a:r>
            <a:r>
              <a:rPr lang="zh-CN" altLang="en-US" sz="1200" b="1" dirty="0">
                <a:solidFill>
                  <a:schemeClr val="tx1"/>
                </a:solidFill>
                <a:latin typeface="Times New Roman" panose="02020603050405020304" pitchFamily="18" charset="0"/>
                <a:ea typeface="+mn-ea"/>
              </a:rPr>
              <a:t>构造的格</a:t>
            </a:r>
            <a:r>
              <a:rPr lang="en-US" altLang="zh-CN" sz="1200" b="1" dirty="0">
                <a:solidFill>
                  <a:schemeClr val="tx1"/>
                </a:solidFill>
                <a:latin typeface="Times New Roman" panose="02020603050405020304" pitchFamily="18" charset="0"/>
                <a:cs typeface="Times New Roman" panose="02020603050405020304" pitchFamily="18" charset="0"/>
              </a:rPr>
              <a:t>&lt;</a:t>
            </a:r>
            <a:r>
              <a:rPr lang="zh-CN" altLang="zh-CN" sz="1200" b="1" i="1" dirty="0">
                <a:solidFill>
                  <a:schemeClr val="tx1"/>
                </a:solidFill>
                <a:latin typeface="Times New Roman" panose="02020603050405020304" pitchFamily="18" charset="0"/>
                <a:cs typeface="Times New Roman" panose="02020603050405020304" pitchFamily="18" charset="0"/>
              </a:rPr>
              <a:t>L</a:t>
            </a:r>
            <a:r>
              <a:rPr lang="en-US" altLang="zh-CN" sz="1200" b="1" i="1" dirty="0">
                <a:solidFill>
                  <a:schemeClr val="tx1"/>
                </a:solidFill>
                <a:latin typeface="Times New Roman" panose="02020603050405020304" pitchFamily="18" charset="0"/>
                <a:cs typeface="Times New Roman" panose="02020603050405020304" pitchFamily="18" charset="0"/>
              </a:rPr>
              <a:t>,</a:t>
            </a:r>
            <a:r>
              <a:rPr lang="zh-CN"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cs typeface="Times New Roman" panose="02020603050405020304" pitchFamily="18" charset="0"/>
              </a:rPr>
              <a:t>,</a:t>
            </a:r>
            <a:r>
              <a:rPr lang="zh-CN"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cs typeface="Times New Roman" panose="02020603050405020304" pitchFamily="18" charset="0"/>
              </a:rPr>
              <a:t>&gt;,</a:t>
            </a:r>
            <a:r>
              <a:rPr lang="zh-CN" altLang="zh-CN" sz="1200" b="1" i="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mn-ea"/>
                <a:ea typeface="+mn-ea"/>
                <a:cs typeface="Times New Roman" panose="02020603050405020304" pitchFamily="18" charset="0"/>
              </a:rPr>
              <a:t>集合</a:t>
            </a:r>
            <a:r>
              <a:rPr lang="zh-CN" altLang="zh-CN" sz="1200" b="1" i="1" dirty="0">
                <a:solidFill>
                  <a:schemeClr val="tx1"/>
                </a:solidFill>
                <a:latin typeface="Times New Roman" panose="02020603050405020304" pitchFamily="18" charset="0"/>
                <a:cs typeface="Times New Roman" panose="02020603050405020304" pitchFamily="18" charset="0"/>
              </a:rPr>
              <a:t>L</a:t>
            </a:r>
            <a:r>
              <a:rPr lang="zh-CN" altLang="en-US" sz="1200" b="1" dirty="0">
                <a:solidFill>
                  <a:schemeClr val="tx1"/>
                </a:solidFill>
                <a:latin typeface="+mn-ea"/>
                <a:ea typeface="+mn-ea"/>
                <a:cs typeface="Times New Roman" panose="02020603050405020304" pitchFamily="18" charset="0"/>
              </a:rPr>
              <a:t>中不但包含了</a:t>
            </a:r>
            <a:r>
              <a:rPr lang="en-US" altLang="zh-CN" sz="1200" b="1" dirty="0">
                <a:solidFill>
                  <a:schemeClr val="tx1"/>
                </a:solidFill>
                <a:latin typeface="Times New Roman" panose="02020603050405020304" pitchFamily="18" charset="0"/>
                <a:ea typeface="+mn-ea"/>
              </a:rPr>
              <a:t>S</a:t>
            </a:r>
            <a:r>
              <a:rPr lang="zh-CN" altLang="en-US" sz="1200" b="1" dirty="0">
                <a:solidFill>
                  <a:schemeClr val="tx1"/>
                </a:solidFill>
                <a:latin typeface="Times New Roman" panose="02020603050405020304" pitchFamily="18" charset="0"/>
                <a:ea typeface="+mn-ea"/>
              </a:rPr>
              <a:t>中全部元素</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还有保证所有</a:t>
            </a:r>
            <a:r>
              <a:rPr lang="en-US" altLang="zh-CN" sz="1200" b="1" i="1" dirty="0">
                <a:solidFill>
                  <a:schemeClr val="tx1"/>
                </a:solidFill>
                <a:latin typeface="Times New Roman" panose="02020603050405020304" pitchFamily="18" charset="0"/>
                <a:ea typeface="+mn-ea"/>
              </a:rPr>
              <a:t>x</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y</a:t>
            </a:r>
            <a:r>
              <a:rPr lang="zh-CN" altLang="en-US" sz="1200" b="1" dirty="0">
                <a:solidFill>
                  <a:schemeClr val="tx1"/>
                </a:solidFill>
                <a:latin typeface="Times New Roman" panose="02020603050405020304" pitchFamily="18" charset="0"/>
                <a:ea typeface="+mn-ea"/>
                <a:sym typeface="Symbol" panose="05050102010706020507" pitchFamily="18" charset="2"/>
              </a:rPr>
              <a:t>都有最小上界和最大下界的附加元素。</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marL="269875" indent="-269875"/>
            <a:r>
              <a:rPr lang="zh-CN" altLang="en-US" sz="1200" b="1" dirty="0">
                <a:solidFill>
                  <a:schemeClr val="tx1"/>
                </a:solidFill>
                <a:latin typeface="Calibri" panose="020F0502020204030204" pitchFamily="34" charset="0"/>
                <a:ea typeface="+mn-ea"/>
                <a:cs typeface="Calibri" panose="020F0502020204030204" pitchFamily="34" charset="0"/>
              </a:rPr>
              <a:t>③</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对于任意两个元素</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其</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最小上界</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上确界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是所有同时包含</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的元素</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中</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最小的那个</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p>
          <a:p>
            <a:pPr marL="269875" indent="-269875"/>
            <a:r>
              <a:rPr lang="en-US" altLang="zh-CN" sz="1200" b="1" kern="100" dirty="0">
                <a:solidFill>
                  <a:schemeClr val="tx1"/>
                </a:solidFill>
                <a:latin typeface="Times New Roman" panose="02020603050405020304" pitchFamily="18" charset="0"/>
                <a:ea typeface="+mn-ea"/>
                <a:cs typeface="Times New Roman" panose="02020603050405020304" pitchFamily="18" charset="0"/>
              </a:rPr>
              <a:t>④</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任意两个元素</a:t>
            </a:r>
            <a:r>
              <a:rPr lang="zh-CN" altLang="zh-CN"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 </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其</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最</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大下</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界</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下</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确界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 ∧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是所有同时</a:t>
            </a:r>
            <a:r>
              <a:rPr lang="zh-CN" altLang="zh-CN" sz="1200" b="1" kern="100" dirty="0">
                <a:solidFill>
                  <a:schemeClr val="tx1"/>
                </a:solidFill>
                <a:latin typeface="Times New Roman" panose="02020603050405020304" pitchFamily="18" charset="0"/>
                <a:ea typeface="+mn-ea"/>
                <a:cs typeface="Times New Roman" panose="02020603050405020304" pitchFamily="18" charset="0"/>
              </a:rPr>
              <a:t>被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包含</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的元素</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中</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最</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大</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的那个</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endParaRPr lang="en-US" altLang="zh-CN" sz="1200" b="1" dirty="0">
              <a:solidFill>
                <a:schemeClr val="tx1"/>
              </a:solidFill>
              <a:latin typeface="Times New Roman" panose="02020603050405020304" pitchFamily="18" charset="0"/>
              <a:ea typeface="+mn-ea"/>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125</a:t>
            </a:fld>
            <a:endParaRPr lang="zh-CN" altLang="en-US"/>
          </a:p>
        </p:txBody>
      </p:sp>
    </p:spTree>
    <p:extLst>
      <p:ext uri="{BB962C8B-B14F-4D97-AF65-F5344CB8AC3E}">
        <p14:creationId xmlns:p14="http://schemas.microsoft.com/office/powerpoint/2010/main" val="92728069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格中的集合</a:t>
            </a:r>
            <a:r>
              <a:rPr lang="en-US" altLang="zh-CN" sz="1800" b="1" dirty="0">
                <a:effectLst/>
                <a:latin typeface="Times New Roman" panose="02020603050405020304" pitchFamily="18" charset="0"/>
                <a:ea typeface="宋体" panose="02010600030101010101" pitchFamily="2" charset="-122"/>
              </a:rPr>
              <a:t>L</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是普通偏序集</a:t>
            </a:r>
            <a:r>
              <a:rPr lang="en-US" altLang="zh-CN" sz="1800" b="1" dirty="0">
                <a:effectLst/>
                <a:latin typeface="Times New Roman" panose="02020603050405020304" pitchFamily="18" charset="0"/>
                <a:ea typeface="宋体" panose="02010600030101010101" pitchFamily="2" charset="-122"/>
              </a:rPr>
              <a:t>&lt;S,</a:t>
            </a:r>
            <a:r>
              <a:rPr lang="zh-CN" altLang="zh-CN" sz="1800" b="1" dirty="0">
                <a:effectLst/>
                <a:ea typeface="MS Gothic" panose="020B0609070205080204" pitchFamily="49" charset="-128"/>
                <a:cs typeface="MS Gothic" panose="020B0609070205080204" pitchFamily="49" charset="-128"/>
              </a:rPr>
              <a:t>≼</a:t>
            </a:r>
            <a:r>
              <a:rPr lang="en-US" altLang="zh-CN" sz="1800" b="1" dirty="0">
                <a:effectLst/>
                <a:latin typeface="Times New Roman" panose="02020603050405020304" pitchFamily="18" charset="0"/>
                <a:ea typeface="宋体" panose="02010600030101010101" pitchFamily="2" charset="-122"/>
              </a:rPr>
              <a:t>&gt;</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中的所有元素加上保证</a:t>
            </a:r>
            <a:r>
              <a:rPr lang="en-US" altLang="zh-CN" sz="1800" b="1" dirty="0">
                <a:effectLst/>
                <a:latin typeface="Times New Roman" panose="02020603050405020304" pitchFamily="18" charset="0"/>
                <a:ea typeface="宋体" panose="02010600030101010101" pitchFamily="2" charset="-122"/>
              </a:rPr>
              <a:t>S</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中所有元素有最小上</a:t>
            </a:r>
            <a:endPar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界和最大下界的附加元素</a:t>
            </a:r>
            <a:endPar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25000"/>
              </a:lnSpc>
            </a:pPr>
            <a:r>
              <a:rPr lang="zh-CN" altLang="en-US" sz="1200" b="1" dirty="0">
                <a:solidFill>
                  <a:srgbClr val="FF0000"/>
                </a:solidFill>
                <a:latin typeface="Times New Roman" panose="02020603050405020304" pitchFamily="18" charset="0"/>
                <a:ea typeface="+mn-ea"/>
              </a:rPr>
              <a:t>定义</a:t>
            </a:r>
            <a:r>
              <a:rPr lang="en-US" altLang="zh-CN" sz="1200" b="1" dirty="0">
                <a:solidFill>
                  <a:srgbClr val="FF0000"/>
                </a:solidFill>
                <a:latin typeface="Times New Roman" panose="02020603050405020304" pitchFamily="18" charset="0"/>
                <a:ea typeface="+mn-ea"/>
              </a:rPr>
              <a:t>9.20  </a:t>
            </a:r>
            <a:r>
              <a:rPr lang="zh-CN" altLang="en-US" sz="1200" b="1" dirty="0">
                <a:solidFill>
                  <a:schemeClr val="tx1"/>
                </a:solidFill>
                <a:latin typeface="Times New Roman" panose="02020603050405020304" pitchFamily="18" charset="0"/>
                <a:ea typeface="+mn-ea"/>
              </a:rPr>
              <a:t>设</a:t>
            </a:r>
            <a:r>
              <a:rPr lang="en-US" altLang="zh-CN" sz="1200" b="1" dirty="0">
                <a:solidFill>
                  <a:schemeClr val="tx1"/>
                </a:solidFill>
                <a:latin typeface="Times New Roman" panose="02020603050405020304" pitchFamily="18" charset="0"/>
                <a:ea typeface="+mn-ea"/>
              </a:rPr>
              <a:t>&lt;S,≼&gt;</a:t>
            </a:r>
            <a:r>
              <a:rPr lang="zh-CN" altLang="en-US" sz="1200" b="1" dirty="0">
                <a:solidFill>
                  <a:schemeClr val="tx1"/>
                </a:solidFill>
                <a:latin typeface="Times New Roman" panose="02020603050405020304" pitchFamily="18" charset="0"/>
                <a:ea typeface="+mn-ea"/>
              </a:rPr>
              <a:t>是偏序集</a:t>
            </a:r>
            <a:r>
              <a:rPr lang="en-US" altLang="zh-CN"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rPr>
              <a:t>如果</a:t>
            </a:r>
            <a:r>
              <a:rPr lang="zh-CN" altLang="en-US"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rPr>
              <a:t>x</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S</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都有</a:t>
            </a:r>
          </a:p>
          <a:p>
            <a:pPr eaLnBrk="1" hangingPunct="1">
              <a:lnSpc>
                <a:spcPct val="125000"/>
              </a:lnSpc>
            </a:pPr>
            <a:r>
              <a:rPr lang="zh-CN" altLang="en-US" sz="1200" b="1" dirty="0">
                <a:solidFill>
                  <a:schemeClr val="tx1"/>
                </a:solidFill>
                <a:latin typeface="Times New Roman" panose="02020603050405020304" pitchFamily="18" charset="0"/>
                <a:ea typeface="+mn-ea"/>
                <a:sym typeface="Symbol" panose="05050102010706020507" pitchFamily="18" charset="2"/>
              </a:rPr>
              <a:t>最小上界和最大下界</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则称</a:t>
            </a:r>
            <a:r>
              <a:rPr lang="en-US" altLang="zh-CN" sz="1200" b="1" i="1" dirty="0">
                <a:solidFill>
                  <a:schemeClr val="tx1"/>
                </a:solidFill>
                <a:latin typeface="Times New Roman" panose="02020603050405020304" pitchFamily="18" charset="0"/>
                <a:ea typeface="+mn-ea"/>
                <a:sym typeface="Symbol" panose="05050102010706020507" pitchFamily="18" charset="2"/>
              </a:rPr>
              <a:t>S</a:t>
            </a:r>
            <a:r>
              <a:rPr lang="zh-CN" altLang="en-US" sz="1200" b="1" dirty="0">
                <a:solidFill>
                  <a:schemeClr val="tx1"/>
                </a:solidFill>
                <a:latin typeface="Times New Roman" panose="02020603050405020304" pitchFamily="18" charset="0"/>
                <a:ea typeface="+mn-ea"/>
                <a:sym typeface="Symbol" panose="05050102010706020507" pitchFamily="18" charset="2"/>
              </a:rPr>
              <a:t>关于偏序≼构成一个</a:t>
            </a:r>
            <a:r>
              <a:rPr lang="zh-CN" altLang="en-US" sz="1200" b="1" dirty="0">
                <a:solidFill>
                  <a:srgbClr val="FF0000"/>
                </a:solidFill>
                <a:latin typeface="Times New Roman" panose="02020603050405020304" pitchFamily="18" charset="0"/>
                <a:ea typeface="+mn-ea"/>
                <a:sym typeface="Symbol" panose="05050102010706020507" pitchFamily="18" charset="2"/>
              </a:rPr>
              <a:t>格</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pPr marL="342900" indent="-342900" eaLnBrk="1" hangingPunct="1">
              <a:lnSpc>
                <a:spcPct val="125000"/>
              </a:lnSpc>
              <a:buFont typeface="Wingdings" panose="05000000000000000000" pitchFamily="2" charset="2"/>
              <a:buChar char="u"/>
            </a:pP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由于最小上界和最大下界的唯一性</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可以把求</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的最</a:t>
            </a:r>
          </a:p>
          <a:p>
            <a:pPr eaLnBrk="1" hangingPunct="1">
              <a:lnSpc>
                <a:spcPct val="125000"/>
              </a:lnSpc>
            </a:pPr>
            <a:r>
              <a:rPr lang="zh-CN" altLang="en-US" sz="1200" b="1" dirty="0">
                <a:solidFill>
                  <a:schemeClr val="tx1"/>
                </a:solidFill>
                <a:latin typeface="Times New Roman" panose="02020603050405020304" pitchFamily="18" charset="0"/>
                <a:ea typeface="+mn-ea"/>
                <a:sym typeface="Symbol" panose="05050102010706020507" pitchFamily="18" charset="2"/>
              </a:rPr>
              <a:t>小上界和最大下界看成 </a:t>
            </a:r>
            <a:r>
              <a:rPr lang="en-US" altLang="zh-CN" sz="1200" b="1" i="1" dirty="0">
                <a:solidFill>
                  <a:schemeClr val="tx1"/>
                </a:solidFill>
                <a:latin typeface="Times New Roman" panose="02020603050405020304" pitchFamily="18" charset="0"/>
                <a:ea typeface="+mn-ea"/>
                <a:sym typeface="Symbol" panose="05050102010706020507" pitchFamily="18" charset="2"/>
              </a:rPr>
              <a:t>x</a:t>
            </a:r>
            <a:r>
              <a:rPr lang="zh-CN" altLang="en-US" sz="1200" b="1" dirty="0">
                <a:solidFill>
                  <a:schemeClr val="tx1"/>
                </a:solidFill>
                <a:latin typeface="Times New Roman" panose="02020603050405020304" pitchFamily="18" charset="0"/>
                <a:ea typeface="+mn-ea"/>
                <a:sym typeface="Symbol" panose="05050102010706020507" pitchFamily="18" charset="2"/>
              </a:rPr>
              <a:t>与</a:t>
            </a:r>
            <a:r>
              <a:rPr lang="en-US" altLang="zh-CN" sz="1200" b="1" i="1" dirty="0">
                <a:solidFill>
                  <a:schemeClr val="tx1"/>
                </a:solidFill>
                <a:latin typeface="Times New Roman" panose="02020603050405020304" pitchFamily="18" charset="0"/>
                <a:ea typeface="+mn-ea"/>
                <a:sym typeface="Symbol" panose="05050102010706020507" pitchFamily="18" charset="2"/>
              </a:rPr>
              <a:t>y </a:t>
            </a:r>
            <a:r>
              <a:rPr lang="zh-CN" altLang="en-US" sz="1200" b="1" dirty="0">
                <a:solidFill>
                  <a:schemeClr val="tx1"/>
                </a:solidFill>
                <a:latin typeface="Times New Roman" panose="02020603050405020304" pitchFamily="18" charset="0"/>
                <a:ea typeface="+mn-ea"/>
                <a:sym typeface="Symbol" panose="05050102010706020507" pitchFamily="18" charset="2"/>
              </a:rPr>
              <a:t>的二元运算∨和∧，即</a:t>
            </a:r>
          </a:p>
          <a:p>
            <a:pPr eaLnBrk="1" hangingPunct="1">
              <a:lnSpc>
                <a:spcPct val="125000"/>
              </a:lnSpc>
            </a:pP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i="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和 </a:t>
            </a: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i="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分别表示</a:t>
            </a:r>
            <a:r>
              <a:rPr lang="en-US" altLang="zh-CN" sz="1200" b="1" i="1" dirty="0">
                <a:solidFill>
                  <a:schemeClr val="tx1"/>
                </a:solidFill>
                <a:latin typeface="Times New Roman" panose="02020603050405020304" pitchFamily="18" charset="0"/>
                <a:ea typeface="+mn-ea"/>
                <a:sym typeface="Symbol" panose="05050102010706020507" pitchFamily="18" charset="2"/>
              </a:rPr>
              <a:t>x</a:t>
            </a:r>
            <a:r>
              <a:rPr lang="zh-CN" altLang="en-US" sz="1200" b="1" dirty="0">
                <a:solidFill>
                  <a:schemeClr val="tx1"/>
                </a:solidFill>
                <a:latin typeface="Times New Roman" panose="02020603050405020304" pitchFamily="18" charset="0"/>
                <a:ea typeface="+mn-ea"/>
                <a:sym typeface="Symbol" panose="05050102010706020507" pitchFamily="18" charset="2"/>
              </a:rPr>
              <a:t>与</a:t>
            </a:r>
            <a:r>
              <a:rPr lang="en-US" altLang="zh-CN" sz="1200" b="1" i="1" dirty="0">
                <a:solidFill>
                  <a:schemeClr val="tx1"/>
                </a:solidFill>
                <a:latin typeface="Times New Roman" panose="02020603050405020304" pitchFamily="18" charset="0"/>
                <a:ea typeface="+mn-ea"/>
                <a:sym typeface="Symbol" panose="05050102010706020507" pitchFamily="18" charset="2"/>
              </a:rPr>
              <a:t>y</a:t>
            </a:r>
            <a:r>
              <a:rPr lang="zh-CN" altLang="en-US" sz="1200" b="1" dirty="0">
                <a:solidFill>
                  <a:schemeClr val="tx1"/>
                </a:solidFill>
                <a:latin typeface="Times New Roman" panose="02020603050405020304" pitchFamily="18" charset="0"/>
                <a:ea typeface="+mn-ea"/>
                <a:sym typeface="Symbol" panose="05050102010706020507" pitchFamily="18" charset="2"/>
              </a:rPr>
              <a:t>的最小上界和最大下界</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pPr eaLnBrk="1" hangingPunct="1">
              <a:lnSpc>
                <a:spcPct val="125000"/>
              </a:lnSpc>
            </a:pPr>
            <a:endParaRPr lang="en-US" altLang="zh-CN" sz="1200" b="1" dirty="0">
              <a:solidFill>
                <a:schemeClr val="tx1"/>
              </a:solidFill>
              <a:latin typeface="Times New Roman" panose="02020603050405020304" pitchFamily="18" charset="0"/>
              <a:ea typeface="+mn-ea"/>
              <a:sym typeface="Symbol" panose="05050102010706020507" pitchFamily="18" charset="2"/>
            </a:endParaRPr>
          </a:p>
          <a:p>
            <a:pPr indent="0" eaLnBrk="1" hangingPunct="1">
              <a:lnSpc>
                <a:spcPct val="125000"/>
              </a:lnSpc>
            </a:pPr>
            <a:r>
              <a:rPr lang="zh-CN" altLang="en-US" sz="1400" b="1" dirty="0">
                <a:solidFill>
                  <a:srgbClr val="00B0F0"/>
                </a:solidFill>
                <a:latin typeface="Times New Roman" panose="02020603050405020304" pitchFamily="18" charset="0"/>
                <a:ea typeface="+mn-ea"/>
                <a:sym typeface="Symbol" panose="05050102010706020507" pitchFamily="18" charset="2"/>
              </a:rPr>
              <a:t>注</a:t>
            </a:r>
            <a:r>
              <a:rPr lang="en-US" altLang="zh-CN" sz="1400" b="1" dirty="0">
                <a:solidFill>
                  <a:srgbClr val="00B0F0"/>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①</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最小上界和</a:t>
            </a:r>
            <a:r>
              <a:rPr lang="zh-CN" altLang="en-US" sz="1200" b="1" dirty="0">
                <a:solidFill>
                  <a:schemeClr val="tx1"/>
                </a:solidFill>
                <a:latin typeface="Times New Roman" panose="02020603050405020304" pitchFamily="18" charset="0"/>
                <a:ea typeface="+mn-ea"/>
                <a:cs typeface="Times New Roman" panose="02020603050405020304" pitchFamily="18" charset="0"/>
              </a:rPr>
              <a:t>最大</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下确界</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的二元</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运算</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仅代表格中的运算</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不再有其它含义</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p>
          <a:p>
            <a:pPr indent="0" eaLnBrk="1" hangingPunct="1">
              <a:lnSpc>
                <a:spcPct val="125000"/>
              </a:lnSpc>
            </a:pP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②</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有</a:t>
            </a:r>
            <a:r>
              <a:rPr lang="zh-CN" altLang="en-US" sz="1200" b="1" dirty="0">
                <a:solidFill>
                  <a:schemeClr val="tx1"/>
                </a:solidFill>
                <a:latin typeface="Times New Roman" panose="02020603050405020304" pitchFamily="18" charset="0"/>
                <a:ea typeface="+mn-ea"/>
              </a:rPr>
              <a:t>偏序集</a:t>
            </a:r>
            <a:r>
              <a:rPr lang="en-US" altLang="zh-CN" sz="1200" b="1" dirty="0">
                <a:solidFill>
                  <a:schemeClr val="tx1"/>
                </a:solidFill>
                <a:latin typeface="Times New Roman" panose="02020603050405020304" pitchFamily="18" charset="0"/>
                <a:ea typeface="+mn-ea"/>
              </a:rPr>
              <a:t>&lt;S,≼&gt;</a:t>
            </a:r>
            <a:r>
              <a:rPr lang="zh-CN" altLang="en-US" sz="1200" b="1" dirty="0">
                <a:solidFill>
                  <a:schemeClr val="tx1"/>
                </a:solidFill>
                <a:latin typeface="Times New Roman" panose="02020603050405020304" pitchFamily="18" charset="0"/>
                <a:ea typeface="+mn-ea"/>
              </a:rPr>
              <a:t>构造的格</a:t>
            </a:r>
            <a:r>
              <a:rPr lang="en-US" altLang="zh-CN" sz="1200" b="1" dirty="0">
                <a:solidFill>
                  <a:schemeClr val="tx1"/>
                </a:solidFill>
                <a:latin typeface="Times New Roman" panose="02020603050405020304" pitchFamily="18" charset="0"/>
                <a:cs typeface="Times New Roman" panose="02020603050405020304" pitchFamily="18" charset="0"/>
              </a:rPr>
              <a:t>&lt;</a:t>
            </a:r>
            <a:r>
              <a:rPr lang="zh-CN" altLang="zh-CN" sz="1200" b="1" i="1" dirty="0">
                <a:solidFill>
                  <a:schemeClr val="tx1"/>
                </a:solidFill>
                <a:latin typeface="Times New Roman" panose="02020603050405020304" pitchFamily="18" charset="0"/>
                <a:cs typeface="Times New Roman" panose="02020603050405020304" pitchFamily="18" charset="0"/>
              </a:rPr>
              <a:t>L</a:t>
            </a:r>
            <a:r>
              <a:rPr lang="en-US" altLang="zh-CN" sz="1200" b="1" i="1" dirty="0">
                <a:solidFill>
                  <a:schemeClr val="tx1"/>
                </a:solidFill>
                <a:latin typeface="Times New Roman" panose="02020603050405020304" pitchFamily="18" charset="0"/>
                <a:cs typeface="Times New Roman" panose="02020603050405020304" pitchFamily="18" charset="0"/>
              </a:rPr>
              <a:t>,</a:t>
            </a:r>
            <a:r>
              <a:rPr lang="zh-CN"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cs typeface="Times New Roman" panose="02020603050405020304" pitchFamily="18" charset="0"/>
              </a:rPr>
              <a:t>,</a:t>
            </a:r>
            <a:r>
              <a:rPr lang="zh-CN"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i="1" dirty="0">
                <a:solidFill>
                  <a:schemeClr val="tx1"/>
                </a:solidFill>
                <a:latin typeface="Times New Roman" panose="02020603050405020304" pitchFamily="18" charset="0"/>
                <a:cs typeface="Times New Roman" panose="02020603050405020304" pitchFamily="18" charset="0"/>
              </a:rPr>
              <a:t>&gt;,</a:t>
            </a:r>
            <a:r>
              <a:rPr lang="zh-CN" altLang="zh-CN" sz="1200" b="1" i="1" dirty="0">
                <a:solidFill>
                  <a:schemeClr val="tx1"/>
                </a:solidFill>
                <a:latin typeface="Times New Roman" panose="02020603050405020304" pitchFamily="18" charset="0"/>
                <a:cs typeface="Times New Roman" panose="02020603050405020304" pitchFamily="18" charset="0"/>
              </a:rPr>
              <a:t> </a:t>
            </a:r>
            <a:r>
              <a:rPr lang="zh-CN" altLang="en-US" sz="1200" b="1" dirty="0">
                <a:solidFill>
                  <a:schemeClr val="tx1"/>
                </a:solidFill>
                <a:latin typeface="+mn-ea"/>
                <a:ea typeface="+mn-ea"/>
                <a:cs typeface="Times New Roman" panose="02020603050405020304" pitchFamily="18" charset="0"/>
              </a:rPr>
              <a:t>集合</a:t>
            </a:r>
            <a:r>
              <a:rPr lang="zh-CN" altLang="zh-CN" sz="1200" b="1" i="1" dirty="0">
                <a:solidFill>
                  <a:schemeClr val="tx1"/>
                </a:solidFill>
                <a:latin typeface="Times New Roman" panose="02020603050405020304" pitchFamily="18" charset="0"/>
                <a:cs typeface="Times New Roman" panose="02020603050405020304" pitchFamily="18" charset="0"/>
              </a:rPr>
              <a:t>L</a:t>
            </a:r>
            <a:r>
              <a:rPr lang="zh-CN" altLang="en-US" sz="1200" b="1" dirty="0">
                <a:solidFill>
                  <a:schemeClr val="tx1"/>
                </a:solidFill>
                <a:latin typeface="+mn-ea"/>
                <a:ea typeface="+mn-ea"/>
                <a:cs typeface="Times New Roman" panose="02020603050405020304" pitchFamily="18" charset="0"/>
              </a:rPr>
              <a:t>中不但包含了</a:t>
            </a:r>
            <a:r>
              <a:rPr lang="en-US" altLang="zh-CN" sz="1200" b="1" dirty="0">
                <a:solidFill>
                  <a:schemeClr val="tx1"/>
                </a:solidFill>
                <a:latin typeface="Times New Roman" panose="02020603050405020304" pitchFamily="18" charset="0"/>
                <a:ea typeface="+mn-ea"/>
              </a:rPr>
              <a:t>S</a:t>
            </a:r>
            <a:r>
              <a:rPr lang="zh-CN" altLang="en-US" sz="1200" b="1" dirty="0">
                <a:solidFill>
                  <a:schemeClr val="tx1"/>
                </a:solidFill>
                <a:latin typeface="Times New Roman" panose="02020603050405020304" pitchFamily="18" charset="0"/>
                <a:ea typeface="+mn-ea"/>
              </a:rPr>
              <a:t>中全部元素</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还有保证所有</a:t>
            </a:r>
            <a:r>
              <a:rPr lang="en-US" altLang="zh-CN" sz="1200" b="1" i="1" dirty="0">
                <a:solidFill>
                  <a:schemeClr val="tx1"/>
                </a:solidFill>
                <a:latin typeface="Times New Roman" panose="02020603050405020304" pitchFamily="18" charset="0"/>
                <a:ea typeface="+mn-ea"/>
              </a:rPr>
              <a:t>x</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y</a:t>
            </a:r>
            <a:r>
              <a:rPr lang="zh-CN" altLang="en-US" sz="1200" b="1" dirty="0">
                <a:solidFill>
                  <a:schemeClr val="tx1"/>
                </a:solidFill>
                <a:latin typeface="Times New Roman" panose="02020603050405020304" pitchFamily="18" charset="0"/>
                <a:ea typeface="+mn-ea"/>
                <a:sym typeface="Symbol" panose="05050102010706020507" pitchFamily="18" charset="2"/>
              </a:rPr>
              <a:t>都有最小上界和最大下界的附加元素。</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marL="269875" indent="-269875"/>
            <a:r>
              <a:rPr lang="zh-CN" altLang="en-US" sz="1200" b="1" dirty="0">
                <a:solidFill>
                  <a:schemeClr val="tx1"/>
                </a:solidFill>
                <a:latin typeface="Calibri" panose="020F0502020204030204" pitchFamily="34" charset="0"/>
                <a:ea typeface="+mn-ea"/>
                <a:cs typeface="Calibri" panose="020F0502020204030204" pitchFamily="34" charset="0"/>
              </a:rPr>
              <a:t>③</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对于任意两个元素</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其</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最小上界</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上确界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是所有同时包含</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的元素</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中</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最小的那个</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p>
          <a:p>
            <a:pPr marL="269875" indent="-269875"/>
            <a:r>
              <a:rPr lang="en-US" altLang="zh-CN" sz="1200" b="1" kern="100" dirty="0">
                <a:solidFill>
                  <a:schemeClr val="tx1"/>
                </a:solidFill>
                <a:latin typeface="Times New Roman" panose="02020603050405020304" pitchFamily="18" charset="0"/>
                <a:ea typeface="+mn-ea"/>
                <a:cs typeface="Times New Roman" panose="02020603050405020304" pitchFamily="18" charset="0"/>
              </a:rPr>
              <a:t>④</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任意两个元素</a:t>
            </a:r>
            <a:r>
              <a:rPr lang="zh-CN" altLang="zh-CN"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 </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其</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最</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大下</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界</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下</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确界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 ∧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是所有同时</a:t>
            </a:r>
            <a:r>
              <a:rPr lang="zh-CN" altLang="zh-CN" sz="1200" b="1" kern="100" dirty="0">
                <a:solidFill>
                  <a:schemeClr val="tx1"/>
                </a:solidFill>
                <a:latin typeface="Times New Roman" panose="02020603050405020304" pitchFamily="18" charset="0"/>
                <a:ea typeface="+mn-ea"/>
                <a:cs typeface="Times New Roman" panose="02020603050405020304" pitchFamily="18" charset="0"/>
              </a:rPr>
              <a:t>被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x</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y</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包含</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的元素</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中</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最</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大</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的那个</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endParaRPr lang="en-US" altLang="zh-CN" sz="1200" b="1" dirty="0">
              <a:solidFill>
                <a:schemeClr val="tx1"/>
              </a:solidFill>
              <a:latin typeface="Times New Roman" panose="02020603050405020304" pitchFamily="18" charset="0"/>
              <a:ea typeface="+mn-ea"/>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126</a:t>
            </a:fld>
            <a:endParaRPr lang="zh-CN" altLang="en-US"/>
          </a:p>
        </p:txBody>
      </p:sp>
    </p:spTree>
    <p:extLst>
      <p:ext uri="{BB962C8B-B14F-4D97-AF65-F5344CB8AC3E}">
        <p14:creationId xmlns:p14="http://schemas.microsoft.com/office/powerpoint/2010/main" val="188360833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1200" b="1" dirty="0">
                <a:solidFill>
                  <a:srgbClr val="00B0F0"/>
                </a:solidFill>
                <a:latin typeface="Times New Roman" panose="02020603050405020304" pitchFamily="18" charset="0"/>
                <a:ea typeface="+mn-ea"/>
                <a:sym typeface="Symbol" panose="05050102010706020507" pitchFamily="18" charset="2"/>
              </a:rPr>
              <a:t>例</a:t>
            </a:r>
            <a:r>
              <a:rPr lang="en-US" altLang="zh-CN" sz="1200" b="1" dirty="0">
                <a:solidFill>
                  <a:srgbClr val="00B0F0"/>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设</a:t>
            </a:r>
            <a:r>
              <a:rPr lang="en-US" altLang="zh-CN" sz="1200" b="1" i="1" dirty="0">
                <a:solidFill>
                  <a:schemeClr val="tx1"/>
                </a:solidFill>
                <a:latin typeface="Times New Roman" panose="02020603050405020304" pitchFamily="18" charset="0"/>
                <a:ea typeface="+mn-ea"/>
                <a:sym typeface="Symbol" panose="05050102010706020507" pitchFamily="18" charset="2"/>
              </a:rPr>
              <a:t>n</a:t>
            </a:r>
            <a:r>
              <a:rPr lang="zh-CN" altLang="en-US" sz="1200" b="1" dirty="0">
                <a:solidFill>
                  <a:schemeClr val="tx1"/>
                </a:solidFill>
                <a:latin typeface="Times New Roman" panose="02020603050405020304" pitchFamily="18" charset="0"/>
                <a:ea typeface="+mn-ea"/>
                <a:sym typeface="Symbol" panose="05050102010706020507" pitchFamily="18" charset="2"/>
              </a:rPr>
              <a:t>是正整数</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S</a:t>
            </a:r>
            <a:r>
              <a:rPr lang="en-US" altLang="zh-CN" sz="1200" b="1" i="1" baseline="-25000" dirty="0">
                <a:solidFill>
                  <a:schemeClr val="tx1"/>
                </a:solidFill>
                <a:latin typeface="Times New Roman" panose="02020603050405020304" pitchFamily="18" charset="0"/>
                <a:ea typeface="+mn-ea"/>
                <a:sym typeface="Symbol" panose="05050102010706020507" pitchFamily="18" charset="2"/>
              </a:rPr>
              <a:t>n</a:t>
            </a:r>
            <a:r>
              <a:rPr lang="zh-CN" altLang="en-US" sz="1200" b="1" dirty="0">
                <a:solidFill>
                  <a:schemeClr val="tx1"/>
                </a:solidFill>
                <a:latin typeface="Times New Roman" panose="02020603050405020304" pitchFamily="18" charset="0"/>
                <a:ea typeface="+mn-ea"/>
                <a:sym typeface="Symbol" panose="05050102010706020507" pitchFamily="18" charset="2"/>
              </a:rPr>
              <a:t>是</a:t>
            </a:r>
            <a:r>
              <a:rPr lang="en-US" altLang="zh-CN" sz="1200" b="1" i="1" dirty="0">
                <a:solidFill>
                  <a:schemeClr val="tx1"/>
                </a:solidFill>
                <a:latin typeface="Times New Roman" panose="02020603050405020304" pitchFamily="18" charset="0"/>
                <a:ea typeface="+mn-ea"/>
                <a:sym typeface="Symbol" panose="05050102010706020507" pitchFamily="18" charset="2"/>
              </a:rPr>
              <a:t>n</a:t>
            </a:r>
            <a:r>
              <a:rPr lang="zh-CN" altLang="en-US" sz="1200" b="1" dirty="0">
                <a:solidFill>
                  <a:schemeClr val="tx1"/>
                </a:solidFill>
                <a:latin typeface="Times New Roman" panose="02020603050405020304" pitchFamily="18" charset="0"/>
                <a:ea typeface="+mn-ea"/>
                <a:sym typeface="Symbol" panose="05050102010706020507" pitchFamily="18" charset="2"/>
              </a:rPr>
              <a:t>的正因子的集合</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D</a:t>
            </a:r>
            <a:r>
              <a:rPr lang="zh-CN" altLang="en-US" sz="1200" b="1" dirty="0">
                <a:solidFill>
                  <a:schemeClr val="tx1"/>
                </a:solidFill>
                <a:latin typeface="Times New Roman" panose="02020603050405020304" pitchFamily="18" charset="0"/>
                <a:ea typeface="+mn-ea"/>
                <a:sym typeface="Symbol" panose="05050102010706020507" pitchFamily="18" charset="2"/>
              </a:rPr>
              <a:t>为整除关系</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则偏序集</a:t>
            </a:r>
            <a:r>
              <a:rPr lang="en-US" altLang="zh-CN" sz="1200" b="1" dirty="0">
                <a:solidFill>
                  <a:schemeClr val="tx1"/>
                </a:solidFill>
                <a:latin typeface="Times New Roman" panose="02020603050405020304" pitchFamily="18" charset="0"/>
                <a:ea typeface="+mn-ea"/>
                <a:sym typeface="Symbol" panose="05050102010706020507" pitchFamily="18" charset="2"/>
              </a:rPr>
              <a:t>&lt;</a:t>
            </a:r>
            <a:r>
              <a:rPr lang="en-US" altLang="zh-CN" sz="1200" b="1" i="1" dirty="0" err="1">
                <a:solidFill>
                  <a:schemeClr val="tx1"/>
                </a:solidFill>
                <a:latin typeface="Times New Roman" panose="02020603050405020304" pitchFamily="18" charset="0"/>
                <a:ea typeface="+mn-ea"/>
                <a:sym typeface="Symbol" panose="05050102010706020507" pitchFamily="18" charset="2"/>
              </a:rPr>
              <a:t>S</a:t>
            </a:r>
            <a:r>
              <a:rPr lang="en-US" altLang="zh-CN" sz="1200" b="1" i="1" baseline="-25000" dirty="0" err="1">
                <a:solidFill>
                  <a:schemeClr val="tx1"/>
                </a:solidFill>
                <a:latin typeface="Times New Roman" panose="02020603050405020304" pitchFamily="18" charset="0"/>
                <a:ea typeface="+mn-ea"/>
                <a:sym typeface="Symbol" panose="05050102010706020507" pitchFamily="18" charset="2"/>
              </a:rPr>
              <a:t>n</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D</a:t>
            </a:r>
            <a:r>
              <a:rPr lang="en-US" altLang="zh-CN" sz="1200" b="1" dirty="0">
                <a:solidFill>
                  <a:schemeClr val="tx1"/>
                </a:solidFill>
                <a:latin typeface="Times New Roman" panose="02020603050405020304" pitchFamily="18" charset="0"/>
                <a:ea typeface="+mn-ea"/>
                <a:sym typeface="Symbol" panose="05050102010706020507" pitchFamily="18" charset="2"/>
              </a:rPr>
              <a:t>&gt;</a:t>
            </a:r>
            <a:r>
              <a:rPr lang="zh-CN" altLang="en-US" sz="1200" b="1" dirty="0">
                <a:solidFill>
                  <a:schemeClr val="tx1"/>
                </a:solidFill>
                <a:latin typeface="Times New Roman" panose="02020603050405020304" pitchFamily="18" charset="0"/>
                <a:ea typeface="+mn-ea"/>
                <a:sym typeface="Symbol" panose="05050102010706020507" pitchFamily="18" charset="2"/>
              </a:rPr>
              <a:t>构成格</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S</a:t>
            </a:r>
            <a:r>
              <a:rPr lang="en-US" altLang="zh-CN" sz="1200" b="1" i="1" baseline="-25000" dirty="0" err="1">
                <a:solidFill>
                  <a:schemeClr val="tx1"/>
                </a:solidFill>
                <a:latin typeface="Times New Roman" panose="02020603050405020304" pitchFamily="18" charset="0"/>
                <a:ea typeface="+mn-ea"/>
                <a:sym typeface="Symbol" panose="05050102010706020507" pitchFamily="18" charset="2"/>
              </a:rPr>
              <a:t>n</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zh-CN" altLang="en-US" sz="1200" b="1" dirty="0">
                <a:solidFill>
                  <a:schemeClr val="tx1"/>
                </a:solidFill>
                <a:latin typeface="Times New Roman" panose="02020603050405020304" pitchFamily="18" charset="0"/>
                <a:ea typeface="+mn-ea"/>
                <a:sym typeface="Symbol" panose="05050102010706020507" pitchFamily="18" charset="2"/>
              </a:rPr>
              <a:t>是 </a:t>
            </a:r>
            <a:r>
              <a:rPr lang="en-US" altLang="zh-CN" sz="1200" b="1" dirty="0">
                <a:solidFill>
                  <a:schemeClr val="tx1"/>
                </a:solidFill>
                <a:latin typeface="Times New Roman" panose="02020603050405020304" pitchFamily="18" charset="0"/>
                <a:ea typeface="+mn-ea"/>
                <a:sym typeface="Symbol" panose="05050102010706020507" pitchFamily="18" charset="2"/>
              </a:rPr>
              <a:t>lcm(</a:t>
            </a: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即</a:t>
            </a:r>
            <a:r>
              <a:rPr lang="en-US" altLang="zh-CN" sz="1200" b="1" i="1" dirty="0">
                <a:solidFill>
                  <a:schemeClr val="tx1"/>
                </a:solidFill>
                <a:latin typeface="Times New Roman" panose="02020603050405020304" pitchFamily="18" charset="0"/>
                <a:ea typeface="+mn-ea"/>
                <a:sym typeface="Symbol" panose="05050102010706020507" pitchFamily="18" charset="2"/>
              </a:rPr>
              <a:t>x</a:t>
            </a:r>
            <a:r>
              <a:rPr lang="zh-CN" altLang="en-US" sz="1200" b="1" dirty="0">
                <a:solidFill>
                  <a:schemeClr val="tx1"/>
                </a:solidFill>
                <a:latin typeface="Times New Roman" panose="02020603050405020304" pitchFamily="18" charset="0"/>
                <a:ea typeface="+mn-ea"/>
                <a:sym typeface="Symbol" panose="05050102010706020507" pitchFamily="18" charset="2"/>
              </a:rPr>
              <a:t>与</a:t>
            </a:r>
            <a:r>
              <a:rPr lang="en-US" altLang="zh-CN" sz="1200" b="1" i="1" dirty="0">
                <a:solidFill>
                  <a:schemeClr val="tx1"/>
                </a:solidFill>
                <a:latin typeface="Times New Roman" panose="02020603050405020304" pitchFamily="18" charset="0"/>
                <a:ea typeface="+mn-ea"/>
                <a:sym typeface="Symbol" panose="05050102010706020507" pitchFamily="18" charset="2"/>
              </a:rPr>
              <a:t>y</a:t>
            </a:r>
            <a:r>
              <a:rPr lang="zh-CN" altLang="en-US" sz="1200" b="1" dirty="0">
                <a:solidFill>
                  <a:schemeClr val="tx1"/>
                </a:solidFill>
                <a:latin typeface="Times New Roman" panose="02020603050405020304" pitchFamily="18" charset="0"/>
                <a:ea typeface="+mn-ea"/>
                <a:sym typeface="Symbol" panose="05050102010706020507" pitchFamily="18" charset="2"/>
              </a:rPr>
              <a:t>的最小公倍数</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zh-CN" altLang="en-US" sz="1200" b="1" dirty="0">
                <a:solidFill>
                  <a:schemeClr val="tx1"/>
                </a:solidFill>
                <a:latin typeface="Times New Roman" panose="02020603050405020304" pitchFamily="18" charset="0"/>
                <a:ea typeface="+mn-ea"/>
                <a:sym typeface="Symbol" panose="05050102010706020507" pitchFamily="18" charset="2"/>
              </a:rPr>
              <a:t>是 </a:t>
            </a:r>
            <a:r>
              <a:rPr lang="en-US" altLang="zh-CN" sz="1200" b="1" dirty="0" err="1">
                <a:solidFill>
                  <a:schemeClr val="tx1"/>
                </a:solidFill>
                <a:latin typeface="Times New Roman" panose="02020603050405020304" pitchFamily="18" charset="0"/>
                <a:ea typeface="+mn-ea"/>
                <a:sym typeface="Symbol" panose="05050102010706020507" pitchFamily="18" charset="2"/>
              </a:rPr>
              <a:t>gcd</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x</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y</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即 </a:t>
            </a:r>
            <a:r>
              <a:rPr lang="en-US" altLang="zh-CN" sz="1200" b="1" i="1" dirty="0">
                <a:solidFill>
                  <a:schemeClr val="tx1"/>
                </a:solidFill>
                <a:latin typeface="Times New Roman" panose="02020603050405020304" pitchFamily="18" charset="0"/>
                <a:ea typeface="+mn-ea"/>
                <a:sym typeface="Symbol" panose="05050102010706020507" pitchFamily="18" charset="2"/>
              </a:rPr>
              <a:t>x</a:t>
            </a:r>
            <a:r>
              <a:rPr lang="zh-CN" altLang="en-US" sz="1200" b="1" dirty="0">
                <a:solidFill>
                  <a:schemeClr val="tx1"/>
                </a:solidFill>
                <a:latin typeface="Times New Roman" panose="02020603050405020304" pitchFamily="18" charset="0"/>
                <a:ea typeface="+mn-ea"/>
                <a:sym typeface="Symbol" panose="05050102010706020507" pitchFamily="18" charset="2"/>
              </a:rPr>
              <a:t>与</a:t>
            </a:r>
            <a:r>
              <a:rPr lang="en-US" altLang="zh-CN" sz="1200" b="1" i="1" dirty="0">
                <a:solidFill>
                  <a:schemeClr val="tx1"/>
                </a:solidFill>
                <a:latin typeface="Times New Roman" panose="02020603050405020304" pitchFamily="18" charset="0"/>
                <a:ea typeface="+mn-ea"/>
                <a:sym typeface="Symbol" panose="05050102010706020507" pitchFamily="18" charset="2"/>
              </a:rPr>
              <a:t>y </a:t>
            </a:r>
            <a:r>
              <a:rPr lang="zh-CN" altLang="en-US" sz="1200" b="1" dirty="0">
                <a:solidFill>
                  <a:schemeClr val="tx1"/>
                </a:solidFill>
                <a:latin typeface="Times New Roman" panose="02020603050405020304" pitchFamily="18" charset="0"/>
                <a:ea typeface="+mn-ea"/>
                <a:sym typeface="Symbol" panose="05050102010706020507" pitchFamily="18" charset="2"/>
              </a:rPr>
              <a:t>的最大公约数</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pPr eaLnBrk="1" hangingPunct="1"/>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pPr eaLnBrk="1" hangingPunct="1"/>
            <a:r>
              <a:rPr lang="zh-CN" altLang="en-US" sz="1200" b="1" dirty="0">
                <a:solidFill>
                  <a:schemeClr val="tx1"/>
                </a:solidFill>
                <a:latin typeface="Times New Roman" panose="02020603050405020304" pitchFamily="18" charset="0"/>
                <a:ea typeface="+mn-ea"/>
                <a:cs typeface="Times New Roman" panose="02020603050405020304" pitchFamily="18" charset="0"/>
              </a:rPr>
              <a:t>下面是格</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8</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D</a:t>
            </a:r>
            <a:r>
              <a:rPr lang="en-US" altLang="zh-CN" sz="1200" b="1" dirty="0">
                <a:solidFill>
                  <a:schemeClr val="tx1"/>
                </a:solidFill>
                <a:latin typeface="Times New Roman" panose="02020603050405020304" pitchFamily="18" charset="0"/>
                <a:ea typeface="+mn-ea"/>
                <a:cs typeface="Times New Roman" panose="02020603050405020304" pitchFamily="18" charset="0"/>
              </a:rPr>
              <a:t>&gt;,&lt;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6</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D</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和</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30</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D</a:t>
            </a:r>
            <a:r>
              <a:rPr lang="en-US" altLang="zh-CN" sz="1200" b="1" dirty="0">
                <a:solidFill>
                  <a:schemeClr val="tx1"/>
                </a:solidFill>
                <a:latin typeface="Times New Roman" panose="02020603050405020304" pitchFamily="18" charset="0"/>
                <a:ea typeface="+mn-ea"/>
                <a:cs typeface="Times New Roman" panose="02020603050405020304" pitchFamily="18" charset="0"/>
              </a:rPr>
              <a:t>&gt;</a:t>
            </a:r>
            <a:r>
              <a:rPr lang="zh-CN" altLang="en-US" sz="1200" b="1" dirty="0">
                <a:solidFill>
                  <a:schemeClr val="tx1"/>
                </a:solidFill>
                <a:latin typeface="Times New Roman" panose="02020603050405020304" pitchFamily="18" charset="0"/>
                <a:ea typeface="+mn-ea"/>
                <a:cs typeface="Times New Roman" panose="02020603050405020304" pitchFamily="18" charset="0"/>
              </a:rPr>
              <a:t>的哈斯图</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127</a:t>
            </a:fld>
            <a:endParaRPr lang="zh-CN" altLang="en-US"/>
          </a:p>
        </p:txBody>
      </p:sp>
    </p:spTree>
    <p:extLst>
      <p:ext uri="{BB962C8B-B14F-4D97-AF65-F5344CB8AC3E}">
        <p14:creationId xmlns:p14="http://schemas.microsoft.com/office/powerpoint/2010/main" val="115752320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1400" b="1" dirty="0">
                <a:solidFill>
                  <a:srgbClr val="00B0F0"/>
                </a:solidFill>
                <a:latin typeface="Times New Roman" panose="02020603050405020304" pitchFamily="18" charset="0"/>
                <a:ea typeface="+mn-ea"/>
                <a:sym typeface="Symbol" panose="05050102010706020507" pitchFamily="18" charset="2"/>
              </a:rPr>
              <a:t>注</a:t>
            </a:r>
            <a:r>
              <a:rPr lang="en-US" altLang="zh-CN" sz="1400" b="1" dirty="0">
                <a:solidFill>
                  <a:srgbClr val="00B0F0"/>
                </a:solidFill>
                <a:latin typeface="Times New Roman" panose="02020603050405020304" pitchFamily="18" charset="0"/>
                <a:ea typeface="+mn-ea"/>
                <a:sym typeface="Symbol" panose="05050102010706020507" pitchFamily="18" charset="2"/>
              </a:rPr>
              <a:t>:  </a:t>
            </a:r>
          </a:p>
          <a:p>
            <a:pPr algn="l">
              <a:lnSpc>
                <a:spcPct val="110000"/>
              </a:lnSpc>
            </a:pPr>
            <a:r>
              <a:rPr lang="zh-CN" altLang="en-US" sz="1200" b="1" dirty="0">
                <a:solidFill>
                  <a:schemeClr val="tx1"/>
                </a:solidFill>
                <a:latin typeface="Calibri" panose="020F0502020204030204" pitchFamily="34" charset="0"/>
                <a:ea typeface="+mn-ea"/>
                <a:cs typeface="Calibri" panose="020F0502020204030204" pitchFamily="34" charset="0"/>
                <a:sym typeface="Symbol" panose="05050102010706020507" pitchFamily="18" charset="2"/>
              </a:rPr>
              <a:t>①</a:t>
            </a: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对格</a:t>
            </a:r>
            <a:r>
              <a:rPr lang="en-US" altLang="zh-CN"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8</a:t>
            </a:r>
            <a:r>
              <a:rPr lang="en-US" altLang="zh-CN"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a:t>
            </a:r>
            <a:r>
              <a:rPr lang="en-US" altLang="zh-CN"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&gt;, </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集合</a:t>
            </a:r>
            <a:r>
              <a:rPr lang="en-US" altLang="zh-CN" sz="1200" b="1" i="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S</a:t>
            </a:r>
            <a:r>
              <a:rPr lang="en-US" altLang="zh-CN" sz="1200" b="1" kern="100" baseline="-25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a:t>
            </a:r>
            <a:r>
              <a:rPr lang="en-US"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1,2,4,8}</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上的整除关系</a:t>
            </a:r>
            <a:r>
              <a:rPr lang="en-US" altLang="zh-CN" sz="1200" b="1" i="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r>
              <a:rPr lang="zh-CN" altLang="en-US"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构成</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一个链</a:t>
            </a:r>
            <a:r>
              <a:rPr lang="en-US"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每个元素都整除其上方的元素</a:t>
            </a:r>
            <a:r>
              <a:rPr lang="en-US"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1≤2≤4≤81≤2≤4≤8.</a:t>
            </a:r>
            <a:endPar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10000"/>
              </a:lnSpc>
            </a:pPr>
            <a:r>
              <a:rPr lang="zh-CN" altLang="en-US" sz="1200" b="1" dirty="0">
                <a:solidFill>
                  <a:schemeClr val="tx1"/>
                </a:solidFill>
                <a:latin typeface="Calibri" panose="020F0502020204030204" pitchFamily="34" charset="0"/>
                <a:ea typeface="+mn-ea"/>
                <a:cs typeface="Calibri" panose="020F0502020204030204" pitchFamily="34" charset="0"/>
                <a:sym typeface="Symbol" panose="05050102010706020507" pitchFamily="18" charset="2"/>
              </a:rPr>
              <a:t>②</a:t>
            </a: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对格</a:t>
            </a:r>
            <a:r>
              <a:rPr lang="en-US" altLang="zh-CN"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6</a:t>
            </a:r>
            <a:r>
              <a:rPr lang="en-US" altLang="zh-CN"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a:t>
            </a:r>
            <a:r>
              <a:rPr lang="en-US" altLang="zh-CN"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&gt;, </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集合</a:t>
            </a:r>
            <a:r>
              <a:rPr lang="en-US" altLang="zh-CN" sz="1200" b="1" i="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S</a:t>
            </a:r>
            <a:r>
              <a:rPr lang="en-US" altLang="zh-CN" sz="1200" b="1" kern="100" baseline="-25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a:t>
            </a:r>
            <a:r>
              <a:rPr lang="en-US"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1,2,3,6}</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上的整除关系</a:t>
            </a:r>
            <a:r>
              <a:rPr lang="en-US" altLang="zh-CN" sz="1200" b="1" i="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r>
              <a:rPr lang="zh-CN" altLang="en-US"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构成</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一个菱形结构，</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和 </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是 </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 </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的直接倍数</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而 </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6 </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是 </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和 </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的公倍数</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10000"/>
              </a:lnSpc>
            </a:pPr>
            <a:r>
              <a:rPr lang="zh-CN" altLang="en-US" sz="1200" b="1" dirty="0">
                <a:solidFill>
                  <a:schemeClr val="tx1"/>
                </a:solidFill>
                <a:latin typeface="Calibri" panose="020F0502020204030204" pitchFamily="34" charset="0"/>
                <a:ea typeface="+mn-ea"/>
                <a:cs typeface="Calibri" panose="020F0502020204030204" pitchFamily="34" charset="0"/>
                <a:sym typeface="Symbol" panose="05050102010706020507" pitchFamily="18" charset="2"/>
              </a:rPr>
              <a:t>③</a:t>
            </a: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对格</a:t>
            </a:r>
            <a:r>
              <a:rPr lang="en-US" altLang="zh-CN"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&lt;</a:t>
            </a:r>
            <a:r>
              <a:rPr lang="en-US" altLang="zh-CN" sz="12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S</a:t>
            </a:r>
            <a:r>
              <a:rPr lang="en-US" altLang="zh-CN" sz="1200" b="1"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30</a:t>
            </a:r>
            <a:r>
              <a:rPr lang="en-US" altLang="zh-CN"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D</a:t>
            </a:r>
            <a:r>
              <a:rPr lang="en-US" altLang="zh-CN"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&gt;, </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集合</a:t>
            </a:r>
            <a:r>
              <a:rPr lang="en-US" altLang="zh-CN" sz="1200" b="1" i="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S</a:t>
            </a:r>
            <a:r>
              <a:rPr lang="en-US" altLang="zh-CN" sz="1200" b="1" kern="100" baseline="-25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30</a:t>
            </a:r>
            <a:r>
              <a:rPr lang="en-US"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1200" b="1" i="0" dirty="0">
                <a:solidFill>
                  <a:srgbClr val="0D0D0D"/>
                </a:solidFill>
                <a:effectLst/>
                <a:latin typeface="Times New Roman" panose="02020603050405020304" pitchFamily="18" charset="0"/>
                <a:cs typeface="Times New Roman" panose="02020603050405020304" pitchFamily="18" charset="0"/>
              </a:rPr>
              <a:t>1,2,3,5,6,10,15,30</a:t>
            </a:r>
            <a:r>
              <a:rPr lang="en-US"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上的整除关系</a:t>
            </a:r>
            <a:r>
              <a:rPr lang="en-US" altLang="zh-CN" sz="1200" b="1" i="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a:t>
            </a:r>
            <a:r>
              <a:rPr lang="zh-CN" altLang="en-US" sz="12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构成</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一个</a:t>
            </a:r>
            <a:r>
              <a:rPr lang="zh-CN" altLang="en-US" sz="1200" b="1" dirty="0">
                <a:solidFill>
                  <a:srgbClr val="0D0D0D"/>
                </a:solidFill>
                <a:latin typeface="Times New Roman" panose="02020603050405020304" pitchFamily="18" charset="0"/>
                <a:ea typeface="楷体" panose="02010609060101010101" pitchFamily="49" charset="-122"/>
                <a:cs typeface="Times New Roman" panose="02020603050405020304" pitchFamily="18" charset="0"/>
              </a:rPr>
              <a:t>立方体</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结构</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顶点之间的边表示整除关系</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如</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2</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和</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3</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都整除 </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6, 2</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和</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5</a:t>
            </a:r>
            <a:r>
              <a:rPr lang="zh-CN" altLang="en-US"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都整除</a:t>
            </a:r>
            <a:r>
              <a:rPr lang="en-US" altLang="zh-CN" sz="1200" b="1" i="0" dirty="0">
                <a:solidFill>
                  <a:srgbClr val="0D0D0D"/>
                </a:solidFill>
                <a:effectLst/>
                <a:latin typeface="Times New Roman" panose="02020603050405020304" pitchFamily="18" charset="0"/>
                <a:ea typeface="楷体" panose="02010609060101010101" pitchFamily="49" charset="-122"/>
                <a:cs typeface="Times New Roman" panose="02020603050405020304" pitchFamily="18" charset="0"/>
              </a:rPr>
              <a:t>10.</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128</a:t>
            </a:fld>
            <a:endParaRPr lang="zh-CN" altLang="en-US"/>
          </a:p>
        </p:txBody>
      </p:sp>
    </p:spTree>
    <p:extLst>
      <p:ext uri="{BB962C8B-B14F-4D97-AF65-F5344CB8AC3E}">
        <p14:creationId xmlns:p14="http://schemas.microsoft.com/office/powerpoint/2010/main" val="225476830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1:  </a:t>
            </a:r>
            <a:r>
              <a:rPr lang="zh-CN" altLang="en-US" sz="1200" b="1" dirty="0">
                <a:solidFill>
                  <a:srgbClr val="000000"/>
                </a:solidFill>
                <a:latin typeface="Times New Roman" panose="02020603050405020304" pitchFamily="18" charset="0"/>
                <a:ea typeface="+mn-ea"/>
              </a:rPr>
              <a:t>判断偏序集</a:t>
            </a:r>
            <a:r>
              <a:rPr lang="en-US" altLang="zh-CN" sz="1200" b="1" dirty="0">
                <a:solidFill>
                  <a:srgbClr val="000000"/>
                </a:solidFill>
                <a:latin typeface="Times New Roman" panose="02020603050405020304" pitchFamily="18" charset="0"/>
                <a:ea typeface="+mn-ea"/>
              </a:rPr>
              <a:t>&lt;</a:t>
            </a:r>
            <a:r>
              <a:rPr lang="en-US" altLang="zh-CN" sz="1200" b="1" i="1" dirty="0">
                <a:solidFill>
                  <a:srgbClr val="000000"/>
                </a:solidFill>
                <a:latin typeface="Times New Roman" panose="02020603050405020304" pitchFamily="18" charset="0"/>
                <a:ea typeface="+mn-ea"/>
              </a:rPr>
              <a:t>P</a:t>
            </a:r>
            <a:r>
              <a:rPr lang="en-US" altLang="zh-CN" sz="1200" b="1" dirty="0">
                <a:solidFill>
                  <a:srgbClr val="000000"/>
                </a:solidFill>
                <a:latin typeface="Times New Roman" panose="02020603050405020304" pitchFamily="18" charset="0"/>
                <a:ea typeface="+mn-ea"/>
              </a:rPr>
              <a:t>(</a:t>
            </a:r>
            <a:r>
              <a:rPr lang="en-US" altLang="zh-CN" sz="1200" b="1" i="1" dirty="0">
                <a:solidFill>
                  <a:srgbClr val="000000"/>
                </a:solidFill>
                <a:latin typeface="Times New Roman" panose="02020603050405020304" pitchFamily="18" charset="0"/>
                <a:ea typeface="+mn-ea"/>
              </a:rPr>
              <a:t>B</a:t>
            </a:r>
            <a:r>
              <a:rPr lang="en-US" altLang="zh-CN" sz="1200" b="1" dirty="0">
                <a:solidFill>
                  <a:srgbClr val="000000"/>
                </a:solidFill>
                <a:latin typeface="Times New Roman" panose="02020603050405020304" pitchFamily="18" charset="0"/>
                <a:ea typeface="+mn-ea"/>
              </a:rPr>
              <a:t>),</a:t>
            </a:r>
            <a:r>
              <a:rPr lang="en-US" altLang="zh-CN" sz="1200" b="1" dirty="0">
                <a:solidFill>
                  <a:srgbClr val="000000"/>
                </a:solidFill>
                <a:latin typeface="Times New Roman" panose="02020603050405020304" pitchFamily="18" charset="0"/>
                <a:ea typeface="+mn-ea"/>
                <a:sym typeface="Symbol" panose="05050102010706020507" pitchFamily="18" charset="2"/>
              </a:rPr>
              <a:t></a:t>
            </a:r>
            <a:r>
              <a:rPr lang="en-US" altLang="zh-CN" sz="1200" b="1" dirty="0">
                <a:solidFill>
                  <a:srgbClr val="000000"/>
                </a:solidFill>
                <a:latin typeface="Times New Roman" panose="02020603050405020304" pitchFamily="18" charset="0"/>
                <a:ea typeface="+mn-ea"/>
              </a:rPr>
              <a:t> &gt;</a:t>
            </a:r>
            <a:r>
              <a:rPr lang="zh-CN" altLang="en-US" sz="1200" b="1" dirty="0">
                <a:solidFill>
                  <a:srgbClr val="000000"/>
                </a:solidFill>
                <a:latin typeface="Times New Roman" panose="02020603050405020304" pitchFamily="18" charset="0"/>
                <a:ea typeface="+mn-ea"/>
              </a:rPr>
              <a:t>是否构成格</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sym typeface="Symbol" panose="05050102010706020507" pitchFamily="18" charset="2"/>
              </a:rPr>
              <a:t>其中</a:t>
            </a:r>
            <a:r>
              <a:rPr lang="en-US" altLang="zh-CN" sz="1200" b="1" i="1" dirty="0">
                <a:solidFill>
                  <a:srgbClr val="000000"/>
                </a:solidFill>
                <a:latin typeface="Times New Roman" panose="02020603050405020304" pitchFamily="18" charset="0"/>
                <a:ea typeface="+mn-ea"/>
                <a:sym typeface="Symbol" panose="05050102010706020507" pitchFamily="18" charset="2"/>
              </a:rPr>
              <a:t>P</a:t>
            </a:r>
            <a:r>
              <a:rPr lang="en-US" altLang="zh-CN" sz="1200" b="1" dirty="0">
                <a:solidFill>
                  <a:srgbClr val="000000"/>
                </a:solidFill>
                <a:latin typeface="Times New Roman" panose="02020603050405020304" pitchFamily="18" charset="0"/>
                <a:ea typeface="+mn-ea"/>
                <a:sym typeface="Symbol" panose="05050102010706020507" pitchFamily="18" charset="2"/>
              </a:rPr>
              <a:t>(</a:t>
            </a:r>
            <a:r>
              <a:rPr lang="en-US" altLang="zh-CN" sz="1200" b="1" i="1" dirty="0">
                <a:solidFill>
                  <a:srgbClr val="000000"/>
                </a:solidFill>
                <a:latin typeface="Times New Roman" panose="02020603050405020304" pitchFamily="18" charset="0"/>
                <a:ea typeface="+mn-ea"/>
                <a:sym typeface="Symbol" panose="05050102010706020507" pitchFamily="18" charset="2"/>
              </a:rPr>
              <a:t>B</a:t>
            </a:r>
            <a:r>
              <a:rPr lang="en-US" altLang="zh-CN" sz="1200" b="1" dirty="0">
                <a:solidFill>
                  <a:srgbClr val="000000"/>
                </a:solidFill>
                <a:latin typeface="Times New Roman" panose="02020603050405020304" pitchFamily="18" charset="0"/>
                <a:ea typeface="+mn-ea"/>
                <a:sym typeface="Symbol" panose="05050102010706020507" pitchFamily="18" charset="2"/>
              </a:rPr>
              <a:t>)</a:t>
            </a:r>
            <a:r>
              <a:rPr lang="zh-CN" altLang="en-US" sz="1200" b="1" dirty="0">
                <a:solidFill>
                  <a:srgbClr val="000000"/>
                </a:solidFill>
                <a:latin typeface="Times New Roman" panose="02020603050405020304" pitchFamily="18" charset="0"/>
                <a:ea typeface="+mn-ea"/>
                <a:sym typeface="Symbol" panose="05050102010706020507" pitchFamily="18" charset="2"/>
              </a:rPr>
              <a:t>是集合</a:t>
            </a:r>
            <a:r>
              <a:rPr lang="en-US" altLang="zh-CN" sz="1200" b="1" i="1" dirty="0">
                <a:solidFill>
                  <a:srgbClr val="000000"/>
                </a:solidFill>
                <a:latin typeface="Times New Roman" panose="02020603050405020304" pitchFamily="18" charset="0"/>
                <a:ea typeface="+mn-ea"/>
                <a:sym typeface="Symbol" panose="05050102010706020507" pitchFamily="18" charset="2"/>
              </a:rPr>
              <a:t>B</a:t>
            </a:r>
            <a:r>
              <a:rPr lang="zh-CN" altLang="en-US" sz="1200" b="1" dirty="0">
                <a:solidFill>
                  <a:srgbClr val="000000"/>
                </a:solidFill>
                <a:latin typeface="Times New Roman" panose="02020603050405020304" pitchFamily="18" charset="0"/>
                <a:ea typeface="+mn-ea"/>
                <a:sym typeface="Symbol" panose="05050102010706020507" pitchFamily="18" charset="2"/>
              </a:rPr>
              <a:t>的幂集</a:t>
            </a:r>
            <a:r>
              <a:rPr lang="en-US" altLang="zh-CN" sz="1200" b="1" dirty="0">
                <a:solidFill>
                  <a:srgbClr val="000000"/>
                </a:solidFill>
                <a:latin typeface="Times New Roman" panose="02020603050405020304" pitchFamily="18" charset="0"/>
                <a:ea typeface="+mn-ea"/>
                <a:sym typeface="Symbol" panose="05050102010706020507" pitchFamily="18" charset="2"/>
              </a:rPr>
              <a:t>.</a:t>
            </a:r>
          </a:p>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解</a:t>
            </a:r>
            <a:r>
              <a:rPr lang="en-US" altLang="zh-CN" sz="1200" b="1" dirty="0">
                <a:solidFill>
                  <a:srgbClr val="00B0F0"/>
                </a:solidFill>
                <a:latin typeface="Times New Roman" panose="02020603050405020304" pitchFamily="18" charset="0"/>
                <a:ea typeface="+mn-ea"/>
                <a:sym typeface="Symbol" panose="05050102010706020507" pitchFamily="18" charset="2"/>
              </a:rPr>
              <a:t>:</a:t>
            </a:r>
            <a:br>
              <a:rPr lang="en-US" altLang="zh-CN" sz="1400" b="1" dirty="0">
                <a:solidFill>
                  <a:srgbClr val="000000"/>
                </a:solidFill>
                <a:latin typeface="Times New Roman" panose="02020603050405020304" pitchFamily="18" charset="0"/>
                <a:ea typeface="+mn-ea"/>
                <a:sym typeface="Symbol" panose="05050102010706020507" pitchFamily="18" charset="2"/>
              </a:rPr>
            </a:br>
            <a:r>
              <a:rPr lang="en-US" altLang="zh-CN" sz="1400" b="1" dirty="0">
                <a:solidFill>
                  <a:srgbClr val="000000"/>
                </a:solidFill>
                <a:latin typeface="Times New Roman" panose="02020603050405020304" pitchFamily="18" charset="0"/>
                <a:ea typeface="+mn-ea"/>
              </a:rPr>
              <a:t>(1)</a:t>
            </a:r>
            <a:r>
              <a:rPr lang="zh-CN" altLang="zh-CN" sz="1200" b="1" dirty="0">
                <a:solidFill>
                  <a:srgbClr val="000000"/>
                </a:solidFill>
                <a:latin typeface="Times New Roman" panose="02020603050405020304" pitchFamily="18" charset="0"/>
                <a:ea typeface="+mn-ea"/>
              </a:rPr>
              <a:t>检查</a:t>
            </a:r>
            <a:r>
              <a:rPr lang="zh-CN" altLang="zh-CN" sz="1200" b="1" dirty="0">
                <a:solidFill>
                  <a:schemeClr val="tx1"/>
                </a:solidFill>
                <a:latin typeface="Times New Roman" panose="02020603050405020304" pitchFamily="18" charset="0"/>
                <a:ea typeface="+mn-ea"/>
                <a:cs typeface="Times New Roman" panose="02020603050405020304" pitchFamily="18" charset="0"/>
              </a:rPr>
              <a:t>最小上界</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对于任意两个子集</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P</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dirty="0">
                <a:solidFill>
                  <a:schemeClr val="tx1"/>
                </a:solidFill>
                <a:latin typeface="Times New Roman" panose="02020603050405020304" pitchFamily="18" charset="0"/>
                <a:ea typeface="+mn-ea"/>
                <a:cs typeface="Times New Roman" panose="02020603050405020304" pitchFamily="18" charset="0"/>
              </a:rPr>
              <a:t> 定义最小上界为</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cs typeface="Times New Roman" panose="02020603050405020304" pitchFamily="18" charset="0"/>
              </a:rPr>
              <a:t>,</a:t>
            </a:r>
            <a:endParaRPr lang="zh-CN" altLang="zh-CN" sz="1200" b="1" dirty="0">
              <a:solidFill>
                <a:schemeClr val="tx1"/>
              </a:solidFill>
              <a:latin typeface="Times New Roman" panose="02020603050405020304" pitchFamily="18" charset="0"/>
              <a:ea typeface="+mn-ea"/>
              <a:cs typeface="Times New Roman" panose="02020603050405020304" pitchFamily="18" charset="0"/>
            </a:endParaRPr>
          </a:p>
          <a:p>
            <a:pPr>
              <a:lnSpc>
                <a:spcPct val="120000"/>
              </a:lnSpc>
            </a:pPr>
            <a:r>
              <a:rPr lang="zh-CN" altLang="zh-CN" sz="1200" b="1" dirty="0">
                <a:solidFill>
                  <a:schemeClr val="tx1"/>
                </a:solidFill>
                <a:latin typeface="Times New Roman" panose="02020603050405020304" pitchFamily="18" charset="0"/>
                <a:ea typeface="+mn-ea"/>
                <a:cs typeface="Times New Roman" panose="02020603050405020304" pitchFamily="18" charset="0"/>
              </a:rPr>
              <a:t>在子集关系下</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dirty="0">
                <a:solidFill>
                  <a:schemeClr val="tx1"/>
                </a:solidFill>
                <a:latin typeface="Times New Roman" panose="02020603050405020304" pitchFamily="18" charset="0"/>
                <a:ea typeface="+mn-ea"/>
                <a:cs typeface="Times New Roman" panose="02020603050405020304" pitchFamily="18" charset="0"/>
              </a:rPr>
              <a:t> 任何包含</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的子集</a:t>
            </a:r>
            <a:r>
              <a:rPr lang="en-US" altLang="zh-CN" sz="1200" b="1" i="1" dirty="0">
                <a:solidFill>
                  <a:schemeClr val="tx1"/>
                </a:solidFill>
                <a:latin typeface="Times New Roman" panose="02020603050405020304" pitchFamily="18" charset="0"/>
                <a:ea typeface="+mn-ea"/>
                <a:cs typeface="Times New Roman" panose="02020603050405020304" pitchFamily="18" charset="0"/>
              </a:rPr>
              <a:t>D,</a:t>
            </a:r>
            <a:r>
              <a:rPr lang="zh-CN" altLang="zh-CN" sz="1200" b="1" dirty="0">
                <a:solidFill>
                  <a:schemeClr val="tx1"/>
                </a:solidFill>
                <a:latin typeface="Times New Roman" panose="02020603050405020304" pitchFamily="18" charset="0"/>
                <a:ea typeface="+mn-ea"/>
                <a:cs typeface="Times New Roman" panose="02020603050405020304" pitchFamily="18" charset="0"/>
              </a:rPr>
              <a:t>必然有</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D</a:t>
            </a:r>
            <a:r>
              <a:rPr lang="en-US" altLang="zh-CN" sz="1200" b="1" i="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则</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是</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和</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的最小上界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eaLnBrk="1" hangingPunct="1">
              <a:lnSpc>
                <a:spcPct val="120000"/>
              </a:lnSpc>
            </a:pPr>
            <a:r>
              <a:rPr lang="en-US" altLang="zh-CN" sz="1400" b="1" dirty="0">
                <a:solidFill>
                  <a:srgbClr val="000000"/>
                </a:solidFill>
                <a:latin typeface="Times New Roman" panose="02020603050405020304" pitchFamily="18" charset="0"/>
                <a:ea typeface="+mn-ea"/>
              </a:rPr>
              <a:t>(2)</a:t>
            </a:r>
            <a:r>
              <a:rPr lang="zh-CN" altLang="zh-CN" sz="1200" b="1" dirty="0">
                <a:solidFill>
                  <a:srgbClr val="000000"/>
                </a:solidFill>
                <a:latin typeface="Times New Roman" panose="02020603050405020304" pitchFamily="18" charset="0"/>
                <a:ea typeface="+mn-ea"/>
              </a:rPr>
              <a:t>检查</a:t>
            </a:r>
            <a:r>
              <a:rPr lang="zh-CN" altLang="en-US" sz="1200" b="1" dirty="0">
                <a:solidFill>
                  <a:schemeClr val="tx1"/>
                </a:solidFill>
                <a:latin typeface="Times New Roman" panose="02020603050405020304" pitchFamily="18" charset="0"/>
                <a:ea typeface="+mn-ea"/>
                <a:cs typeface="Times New Roman" panose="02020603050405020304" pitchFamily="18" charset="0"/>
              </a:rPr>
              <a:t>最大</a:t>
            </a:r>
            <a:r>
              <a:rPr lang="zh-CN" altLang="zh-CN" sz="1200" b="1" dirty="0">
                <a:solidFill>
                  <a:schemeClr val="tx1"/>
                </a:solidFill>
                <a:latin typeface="Times New Roman" panose="02020603050405020304" pitchFamily="18" charset="0"/>
                <a:ea typeface="+mn-ea"/>
                <a:cs typeface="Times New Roman" panose="02020603050405020304" pitchFamily="18" charset="0"/>
              </a:rPr>
              <a:t>下界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dirty="0">
                <a:solidFill>
                  <a:schemeClr val="tx1"/>
                </a:solidFill>
                <a:latin typeface="Times New Roman" panose="02020603050405020304" pitchFamily="18" charset="0"/>
                <a:ea typeface="+mn-ea"/>
                <a:cs typeface="Times New Roman" panose="02020603050405020304" pitchFamily="18" charset="0"/>
              </a:rPr>
              <a:t>对于任意两个子集</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P</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dirty="0">
                <a:solidFill>
                  <a:schemeClr val="tx1"/>
                </a:solidFill>
                <a:latin typeface="Times New Roman" panose="02020603050405020304" pitchFamily="18" charset="0"/>
                <a:ea typeface="+mn-ea"/>
                <a:cs typeface="Times New Roman" panose="02020603050405020304" pitchFamily="18" charset="0"/>
              </a:rPr>
              <a:t> 定义</a:t>
            </a:r>
            <a:r>
              <a:rPr lang="zh-CN" altLang="en-US" sz="1200" b="1" dirty="0">
                <a:solidFill>
                  <a:schemeClr val="tx1"/>
                </a:solidFill>
                <a:latin typeface="Times New Roman" panose="02020603050405020304" pitchFamily="18" charset="0"/>
                <a:ea typeface="+mn-ea"/>
                <a:cs typeface="Times New Roman" panose="02020603050405020304" pitchFamily="18" charset="0"/>
              </a:rPr>
              <a:t>最大</a:t>
            </a:r>
            <a:r>
              <a:rPr lang="zh-CN" altLang="zh-CN" sz="1200" b="1" dirty="0">
                <a:solidFill>
                  <a:schemeClr val="tx1"/>
                </a:solidFill>
                <a:latin typeface="Times New Roman" panose="02020603050405020304" pitchFamily="18" charset="0"/>
                <a:ea typeface="+mn-ea"/>
                <a:cs typeface="Times New Roman" panose="02020603050405020304" pitchFamily="18" charset="0"/>
              </a:rPr>
              <a:t>下确界为</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dirty="0">
                <a:solidFill>
                  <a:schemeClr val="tx1"/>
                </a:solidFill>
                <a:latin typeface="Times New Roman" panose="02020603050405020304" pitchFamily="18" charset="0"/>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endParaRPr lang="zh-CN" altLang="zh-CN" sz="1200" b="1" dirty="0">
              <a:solidFill>
                <a:schemeClr val="tx1"/>
              </a:solidFill>
              <a:latin typeface="Times New Roman" panose="02020603050405020304" pitchFamily="18" charset="0"/>
              <a:ea typeface="+mn-ea"/>
              <a:cs typeface="Times New Roman" panose="02020603050405020304" pitchFamily="18" charset="0"/>
            </a:endParaRPr>
          </a:p>
          <a:p>
            <a:pPr>
              <a:lnSpc>
                <a:spcPct val="120000"/>
              </a:lnSpc>
            </a:pPr>
            <a:r>
              <a:rPr lang="zh-CN" altLang="zh-CN" sz="1200" b="1" dirty="0">
                <a:solidFill>
                  <a:schemeClr val="tx1"/>
                </a:solidFill>
                <a:latin typeface="Times New Roman" panose="02020603050405020304" pitchFamily="18" charset="0"/>
                <a:ea typeface="+mn-ea"/>
                <a:cs typeface="Times New Roman" panose="02020603050405020304" pitchFamily="18" charset="0"/>
              </a:rPr>
              <a:t>在子集关系下</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dirty="0">
                <a:solidFill>
                  <a:schemeClr val="tx1"/>
                </a:solidFill>
                <a:latin typeface="Times New Roman" panose="02020603050405020304" pitchFamily="18" charset="0"/>
                <a:ea typeface="+mn-ea"/>
                <a:cs typeface="Times New Roman" panose="02020603050405020304" pitchFamily="18" charset="0"/>
              </a:rPr>
              <a:t>任何被</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包含的子集 </a:t>
            </a:r>
            <a:r>
              <a:rPr lang="en-US" altLang="zh-CN" sz="1200" b="1" i="1" dirty="0">
                <a:solidFill>
                  <a:schemeClr val="tx1"/>
                </a:solidFill>
                <a:latin typeface="Times New Roman" panose="02020603050405020304" pitchFamily="18" charset="0"/>
                <a:ea typeface="+mn-ea"/>
                <a:cs typeface="Times New Roman" panose="02020603050405020304" pitchFamily="18" charset="0"/>
              </a:rPr>
              <a:t>E</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dirty="0">
                <a:solidFill>
                  <a:schemeClr val="tx1"/>
                </a:solidFill>
                <a:latin typeface="Times New Roman" panose="02020603050405020304" pitchFamily="18" charset="0"/>
                <a:ea typeface="+mn-ea"/>
                <a:cs typeface="Times New Roman" panose="02020603050405020304" pitchFamily="18" charset="0"/>
              </a:rPr>
              <a:t>必然有</a:t>
            </a:r>
            <a:r>
              <a:rPr lang="en-US" altLang="zh-CN" sz="1200" b="1" i="1" dirty="0">
                <a:solidFill>
                  <a:schemeClr val="tx1"/>
                </a:solidFill>
                <a:latin typeface="Times New Roman" panose="02020603050405020304" pitchFamily="18" charset="0"/>
                <a:ea typeface="+mn-ea"/>
                <a:cs typeface="Times New Roman" panose="02020603050405020304" pitchFamily="18" charset="0"/>
              </a:rPr>
              <a:t>E</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i="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en-US" altLang="zh-CN" sz="1200" b="1" i="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则</a:t>
            </a:r>
            <a:r>
              <a:rPr lang="en-US" altLang="zh-CN" sz="1200" b="1" i="1" dirty="0">
                <a:solidFill>
                  <a:schemeClr val="tx1"/>
                </a:solidFill>
                <a:latin typeface="Times New Roman" panose="02020603050405020304" pitchFamily="18" charset="0"/>
                <a:cs typeface="Times New Roman" panose="02020603050405020304" pitchFamily="18" charset="0"/>
              </a:rPr>
              <a:t>A</a:t>
            </a:r>
            <a:r>
              <a:rPr lang="en-US" altLang="zh-CN" sz="1200" dirty="0">
                <a:solidFill>
                  <a:schemeClr val="tx1"/>
                </a:solidFill>
                <a:latin typeface="Times New Roman" panose="02020603050405020304" pitchFamily="18" charset="0"/>
                <a:cs typeface="Times New Roman" panose="02020603050405020304" pitchFamily="18" charset="0"/>
              </a:rPr>
              <a:t>∩</a:t>
            </a:r>
            <a:r>
              <a:rPr lang="zh-CN" altLang="zh-CN" sz="1200" b="1" i="1" dirty="0">
                <a:solidFill>
                  <a:schemeClr val="tx1"/>
                </a:solidFill>
                <a:latin typeface="Times New Roman" panose="02020603050405020304" pitchFamily="18" charset="0"/>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是</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和</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的最</a:t>
            </a:r>
            <a:r>
              <a:rPr lang="zh-CN" altLang="en-US" sz="1200" b="1" dirty="0">
                <a:solidFill>
                  <a:schemeClr val="tx1"/>
                </a:solidFill>
                <a:latin typeface="Times New Roman" panose="02020603050405020304" pitchFamily="18" charset="0"/>
                <a:ea typeface="+mn-ea"/>
                <a:cs typeface="Times New Roman" panose="02020603050405020304" pitchFamily="18" charset="0"/>
              </a:rPr>
              <a:t>大下</a:t>
            </a:r>
            <a:r>
              <a:rPr lang="zh-CN" altLang="zh-CN" sz="1200" b="1" dirty="0">
                <a:solidFill>
                  <a:schemeClr val="tx1"/>
                </a:solidFill>
                <a:latin typeface="Times New Roman" panose="02020603050405020304" pitchFamily="18" charset="0"/>
                <a:ea typeface="+mn-ea"/>
                <a:cs typeface="Times New Roman" panose="02020603050405020304" pitchFamily="18" charset="0"/>
              </a:rPr>
              <a:t>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20000"/>
              </a:lnSpc>
            </a:pPr>
            <a:r>
              <a:rPr lang="en-US" altLang="zh-CN" sz="1200" b="1" dirty="0">
                <a:solidFill>
                  <a:srgbClr val="000000"/>
                </a:solidFill>
                <a:latin typeface="Times New Roman" panose="02020603050405020304" pitchFamily="18" charset="0"/>
                <a:ea typeface="+mn-ea"/>
                <a:cs typeface="Times New Roman" panose="02020603050405020304" pitchFamily="18" charset="0"/>
              </a:rPr>
              <a:t>(3)</a:t>
            </a:r>
            <a:r>
              <a:rPr lang="zh-CN" altLang="en-US" sz="1200" b="1"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 幂集</a:t>
            </a:r>
            <a:r>
              <a:rPr lang="en-US" altLang="zh-CN" sz="1200" b="1" i="1"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中的任何元素</a:t>
            </a:r>
            <a:r>
              <a:rPr lang="zh-CN" altLang="zh-CN" sz="1200" b="1" dirty="0">
                <a:solidFill>
                  <a:schemeClr val="tx1"/>
                </a:solidFill>
                <a:latin typeface="Times New Roman" panose="02020603050405020304" pitchFamily="18" charset="0"/>
                <a:ea typeface="+mn-ea"/>
                <a:cs typeface="Times New Roman" panose="02020603050405020304" pitchFamily="18" charset="0"/>
              </a:rPr>
              <a:t>的最小上界</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 和</a:t>
            </a:r>
            <a:r>
              <a:rPr lang="zh-CN" altLang="en-US" sz="1200" b="1" dirty="0">
                <a:solidFill>
                  <a:schemeClr val="tx1"/>
                </a:solidFill>
                <a:latin typeface="Times New Roman" panose="02020603050405020304" pitchFamily="18" charset="0"/>
                <a:ea typeface="+mn-ea"/>
                <a:cs typeface="Times New Roman" panose="02020603050405020304" pitchFamily="18" charset="0"/>
              </a:rPr>
              <a:t>最大</a:t>
            </a:r>
            <a:r>
              <a:rPr lang="zh-CN" altLang="zh-CN" sz="1200" b="1" dirty="0">
                <a:solidFill>
                  <a:schemeClr val="tx1"/>
                </a:solidFill>
                <a:latin typeface="Times New Roman" panose="02020603050405020304" pitchFamily="18" charset="0"/>
                <a:ea typeface="+mn-ea"/>
                <a:cs typeface="Times New Roman" panose="02020603050405020304" pitchFamily="18" charset="0"/>
              </a:rPr>
              <a:t>下界</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 都存在</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因此 </a:t>
            </a:r>
            <a:r>
              <a:rPr lang="en-US" altLang="zh-CN" sz="1200" b="1" dirty="0">
                <a:solidFill>
                  <a:srgbClr val="000000"/>
                </a:solidFill>
                <a:latin typeface="Times New Roman" panose="02020603050405020304" pitchFamily="18" charset="0"/>
                <a:ea typeface="+mn-ea"/>
                <a:cs typeface="Times New Roman" panose="02020603050405020304" pitchFamily="18" charset="0"/>
              </a:rPr>
              <a:t>&lt;</a:t>
            </a:r>
            <a:r>
              <a:rPr lang="en-US" altLang="zh-CN" sz="1200" b="1" i="1" dirty="0">
                <a:solidFill>
                  <a:srgbClr val="000000"/>
                </a:solidFill>
                <a:latin typeface="Times New Roman" panose="02020603050405020304" pitchFamily="18" charset="0"/>
                <a:ea typeface="+mn-ea"/>
                <a:cs typeface="Times New Roman" panose="02020603050405020304" pitchFamily="18" charset="0"/>
              </a:rPr>
              <a:t>P</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en-US" altLang="zh-CN" sz="1200" b="1" i="1" dirty="0">
                <a:solidFill>
                  <a:srgbClr val="000000"/>
                </a:solidFill>
                <a:latin typeface="Times New Roman" panose="02020603050405020304" pitchFamily="18" charset="0"/>
                <a:ea typeface="+mn-ea"/>
                <a:cs typeface="Times New Roman" panose="02020603050405020304" pitchFamily="18" charset="0"/>
              </a:rPr>
              <a:t>B</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en-US" altLang="zh-CN" sz="1200" b="1" dirty="0">
                <a:solidFill>
                  <a:srgbClr val="000000"/>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dirty="0">
                <a:solidFill>
                  <a:srgbClr val="000000"/>
                </a:solidFill>
                <a:latin typeface="Times New Roman" panose="02020603050405020304" pitchFamily="18" charset="0"/>
                <a:ea typeface="+mn-ea"/>
                <a:cs typeface="Times New Roman" panose="02020603050405020304" pitchFamily="18" charset="0"/>
              </a:rPr>
              <a:t> &gt;</a:t>
            </a:r>
            <a:r>
              <a:rPr lang="zh-CN" altLang="zh-CN" sz="1200" b="1" dirty="0">
                <a:solidFill>
                  <a:schemeClr val="tx1"/>
                </a:solidFill>
                <a:latin typeface="Times New Roman" panose="02020603050405020304" pitchFamily="18" charset="0"/>
                <a:ea typeface="+mn-ea"/>
                <a:cs typeface="Times New Roman" panose="02020603050405020304" pitchFamily="18" charset="0"/>
              </a:rPr>
              <a:t>构成一个格</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129</a:t>
            </a:fld>
            <a:endParaRPr lang="zh-CN" altLang="en-US"/>
          </a:p>
        </p:txBody>
      </p:sp>
    </p:spTree>
    <p:extLst>
      <p:ext uri="{BB962C8B-B14F-4D97-AF65-F5344CB8AC3E}">
        <p14:creationId xmlns:p14="http://schemas.microsoft.com/office/powerpoint/2010/main" val="3775970504"/>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2:  </a:t>
            </a:r>
            <a:r>
              <a:rPr lang="zh-CN" altLang="en-US" sz="1200" b="1" dirty="0">
                <a:solidFill>
                  <a:srgbClr val="000000"/>
                </a:solidFill>
                <a:latin typeface="Times New Roman" panose="02020603050405020304" pitchFamily="18" charset="0"/>
                <a:ea typeface="+mn-ea"/>
              </a:rPr>
              <a:t>判断偏序集</a:t>
            </a:r>
            <a:r>
              <a:rPr lang="en-US" altLang="zh-CN" sz="1200" b="1" dirty="0">
                <a:solidFill>
                  <a:srgbClr val="000000"/>
                </a:solidFill>
                <a:latin typeface="Times New Roman" panose="02020603050405020304" pitchFamily="18" charset="0"/>
                <a:ea typeface="+mn-ea"/>
                <a:sym typeface="Symbol" panose="05050102010706020507" pitchFamily="18" charset="2"/>
              </a:rPr>
              <a:t>&lt;Z, ≤ &gt;</a:t>
            </a:r>
            <a:r>
              <a:rPr lang="zh-CN" altLang="en-US" sz="1200" b="1" dirty="0">
                <a:solidFill>
                  <a:srgbClr val="000000"/>
                </a:solidFill>
                <a:latin typeface="Times New Roman" panose="02020603050405020304" pitchFamily="18" charset="0"/>
                <a:ea typeface="+mn-ea"/>
              </a:rPr>
              <a:t>是否构成格</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sym typeface="Symbol" panose="05050102010706020507" pitchFamily="18" charset="2"/>
              </a:rPr>
              <a:t>其中</a:t>
            </a:r>
            <a:r>
              <a:rPr lang="en-US" altLang="zh-CN" sz="1200" b="1" dirty="0">
                <a:solidFill>
                  <a:srgbClr val="000000"/>
                </a:solidFill>
                <a:latin typeface="Times New Roman" panose="02020603050405020304" pitchFamily="18" charset="0"/>
                <a:ea typeface="+mn-ea"/>
                <a:sym typeface="Symbol" panose="05050102010706020507" pitchFamily="18" charset="2"/>
              </a:rPr>
              <a:t>Z</a:t>
            </a:r>
            <a:r>
              <a:rPr lang="zh-CN" altLang="en-US" sz="1200" b="1" dirty="0">
                <a:solidFill>
                  <a:srgbClr val="000000"/>
                </a:solidFill>
                <a:latin typeface="Times New Roman" panose="02020603050405020304" pitchFamily="18" charset="0"/>
                <a:ea typeface="+mn-ea"/>
                <a:sym typeface="Symbol" panose="05050102010706020507" pitchFamily="18" charset="2"/>
              </a:rPr>
              <a:t>是整数集</a:t>
            </a:r>
            <a:r>
              <a:rPr lang="en-US" altLang="zh-CN" sz="1200" b="1" dirty="0">
                <a:solidFill>
                  <a:srgbClr val="000000"/>
                </a:solidFill>
                <a:latin typeface="Times New Roman" panose="02020603050405020304" pitchFamily="18" charset="0"/>
                <a:ea typeface="+mn-ea"/>
                <a:sym typeface="Symbol" panose="05050102010706020507" pitchFamily="18" charset="2"/>
              </a:rPr>
              <a:t>, </a:t>
            </a:r>
            <a:r>
              <a:rPr lang="zh-CN" altLang="en-US" sz="1200" b="1" dirty="0">
                <a:solidFill>
                  <a:srgbClr val="000000"/>
                </a:solidFill>
                <a:latin typeface="Times New Roman" panose="02020603050405020304" pitchFamily="18" charset="0"/>
                <a:ea typeface="+mn-ea"/>
                <a:sym typeface="Symbol" panose="05050102010706020507" pitchFamily="18" charset="2"/>
              </a:rPr>
              <a:t>≤为小于或等于关系</a:t>
            </a:r>
            <a:r>
              <a:rPr lang="en-US" altLang="zh-CN" sz="1200" b="1" dirty="0">
                <a:solidFill>
                  <a:srgbClr val="000000"/>
                </a:solidFill>
                <a:latin typeface="Times New Roman" panose="02020603050405020304" pitchFamily="18" charset="0"/>
                <a:ea typeface="+mn-ea"/>
                <a:sym typeface="Symbol" panose="05050102010706020507" pitchFamily="18" charset="2"/>
              </a:rPr>
              <a:t>.</a:t>
            </a:r>
          </a:p>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解</a:t>
            </a:r>
            <a:r>
              <a:rPr lang="en-US" altLang="zh-CN" sz="1200" b="1" dirty="0">
                <a:solidFill>
                  <a:srgbClr val="00B0F0"/>
                </a:solidFill>
                <a:latin typeface="Times New Roman" panose="02020603050405020304" pitchFamily="18" charset="0"/>
                <a:ea typeface="+mn-ea"/>
                <a:sym typeface="Symbol" panose="05050102010706020507" pitchFamily="18" charset="2"/>
              </a:rPr>
              <a:t>:</a:t>
            </a:r>
            <a:r>
              <a:rPr lang="en-US" altLang="zh-CN" sz="1200" b="1" dirty="0">
                <a:solidFill>
                  <a:srgbClr val="000000"/>
                </a:solidFill>
                <a:latin typeface="Times New Roman" panose="02020603050405020304" pitchFamily="18" charset="0"/>
                <a:ea typeface="+mn-ea"/>
              </a:rPr>
              <a:t>(1)</a:t>
            </a:r>
            <a:r>
              <a:rPr lang="zh-CN" altLang="zh-CN" sz="1200" b="1" dirty="0">
                <a:solidFill>
                  <a:schemeClr val="tx1"/>
                </a:solidFill>
                <a:latin typeface="Times New Roman" panose="02020603050405020304" pitchFamily="18" charset="0"/>
                <a:ea typeface="+mn-ea"/>
                <a:cs typeface="Times New Roman" panose="02020603050405020304" pitchFamily="18" charset="0"/>
              </a:rPr>
              <a:t>对于</a:t>
            </a:r>
            <a:r>
              <a:rPr lang="en-US" altLang="zh-CN" sz="1200" b="1" dirty="0">
                <a:solidFill>
                  <a:srgbClr val="000000"/>
                </a:solidFill>
                <a:latin typeface="Times New Roman" panose="02020603050405020304" pitchFamily="18" charset="0"/>
                <a:ea typeface="+mn-ea"/>
                <a:sym typeface="Symbol" panose="05050102010706020507" pitchFamily="18" charset="2"/>
              </a:rPr>
              <a:t>Z</a:t>
            </a:r>
            <a:r>
              <a:rPr lang="zh-CN" altLang="en-US" sz="1200" b="1" dirty="0">
                <a:solidFill>
                  <a:srgbClr val="000000"/>
                </a:solidFill>
                <a:latin typeface="Times New Roman" panose="02020603050405020304" pitchFamily="18" charset="0"/>
                <a:ea typeface="+mn-ea"/>
                <a:sym typeface="Symbol" panose="05050102010706020507" pitchFamily="18" charset="2"/>
              </a:rPr>
              <a:t>中</a:t>
            </a:r>
            <a:r>
              <a:rPr lang="zh-CN" altLang="zh-CN" sz="1200" b="1" dirty="0">
                <a:solidFill>
                  <a:schemeClr val="tx1"/>
                </a:solidFill>
                <a:latin typeface="Times New Roman" panose="02020603050405020304" pitchFamily="18" charset="0"/>
                <a:ea typeface="+mn-ea"/>
                <a:cs typeface="Times New Roman" panose="02020603050405020304" pitchFamily="18" charset="0"/>
              </a:rPr>
              <a:t>任意两个</a:t>
            </a:r>
            <a:r>
              <a:rPr lang="zh-CN" altLang="en-US" sz="1200" b="1" dirty="0">
                <a:solidFill>
                  <a:schemeClr val="tx1"/>
                </a:solidFill>
                <a:latin typeface="Times New Roman" panose="02020603050405020304" pitchFamily="18" charset="0"/>
                <a:ea typeface="+mn-ea"/>
                <a:cs typeface="Times New Roman" panose="02020603050405020304" pitchFamily="18" charset="0"/>
              </a:rPr>
              <a:t>元素</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a</a:t>
            </a:r>
            <a:r>
              <a:rPr lang="zh-CN" altLang="en-US" sz="1200" b="1" i="0" dirty="0">
                <a:solidFill>
                  <a:srgbClr val="0D0D0D"/>
                </a:solidFill>
                <a:effectLst/>
                <a:latin typeface="Times New Roman" panose="02020603050405020304" pitchFamily="18" charset="0"/>
                <a:ea typeface="+mn-ea"/>
                <a:cs typeface="Times New Roman" panose="02020603050405020304" pitchFamily="18" charset="0"/>
              </a:rPr>
              <a:t>和</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b</a:t>
            </a:r>
            <a:r>
              <a:rPr lang="en-US" altLang="zh-CN" sz="1200" b="1" i="0" dirty="0">
                <a:solidFill>
                  <a:srgbClr val="0D0D0D"/>
                </a:solidFill>
                <a:effectLst/>
                <a:latin typeface="Times New Roman" panose="02020603050405020304" pitchFamily="18" charset="0"/>
                <a:ea typeface="+mn-ea"/>
                <a:cs typeface="Times New Roman" panose="02020603050405020304" pitchFamily="18" charset="0"/>
              </a:rPr>
              <a:t>,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最小上界是它们中的较大者</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=max(</a:t>
            </a:r>
            <a:r>
              <a:rPr lang="en-US" altLang="zh-CN" sz="1200" b="1" i="1" kern="100" dirty="0" err="1">
                <a:solidFill>
                  <a:schemeClr val="tx1"/>
                </a:solidFill>
                <a:effectLst/>
                <a:latin typeface="Times New Roman" panose="02020603050405020304" pitchFamily="18" charset="0"/>
                <a:ea typeface="+mn-ea"/>
                <a:cs typeface="Times New Roman" panose="02020603050405020304" pitchFamily="18" charset="0"/>
              </a:rPr>
              <a:t>a</a:t>
            </a:r>
            <a:r>
              <a:rPr lang="en-US" altLang="zh-CN" sz="1200" b="1" kern="100" dirty="0" err="1">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err="1">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p>
          <a:p>
            <a:pPr eaLnBrk="1" hangingPunct="1">
              <a:lnSpc>
                <a:spcPct val="120000"/>
              </a:lnSpc>
            </a:pPr>
            <a:r>
              <a:rPr lang="en-US" altLang="zh-CN" sz="1200" b="1" dirty="0">
                <a:solidFill>
                  <a:srgbClr val="000000"/>
                </a:solidFill>
                <a:latin typeface="Times New Roman" panose="02020603050405020304" pitchFamily="18" charset="0"/>
                <a:ea typeface="+mn-ea"/>
              </a:rPr>
              <a:t>(2)</a:t>
            </a:r>
            <a:r>
              <a:rPr lang="zh-CN" altLang="zh-CN" sz="1200" b="1" dirty="0">
                <a:solidFill>
                  <a:schemeClr val="tx1"/>
                </a:solidFill>
                <a:latin typeface="Times New Roman" panose="02020603050405020304" pitchFamily="18" charset="0"/>
                <a:ea typeface="+mn-ea"/>
                <a:cs typeface="Times New Roman" panose="02020603050405020304" pitchFamily="18" charset="0"/>
              </a:rPr>
              <a:t>对于</a:t>
            </a:r>
            <a:r>
              <a:rPr lang="en-US" altLang="zh-CN" sz="1200" b="1" dirty="0">
                <a:solidFill>
                  <a:srgbClr val="000000"/>
                </a:solidFill>
                <a:latin typeface="Times New Roman" panose="02020603050405020304" pitchFamily="18" charset="0"/>
                <a:ea typeface="+mn-ea"/>
                <a:sym typeface="Symbol" panose="05050102010706020507" pitchFamily="18" charset="2"/>
              </a:rPr>
              <a:t>Z</a:t>
            </a:r>
            <a:r>
              <a:rPr lang="zh-CN" altLang="en-US" sz="1200" b="1" dirty="0">
                <a:solidFill>
                  <a:srgbClr val="000000"/>
                </a:solidFill>
                <a:latin typeface="Times New Roman" panose="02020603050405020304" pitchFamily="18" charset="0"/>
                <a:ea typeface="+mn-ea"/>
                <a:sym typeface="Symbol" panose="05050102010706020507" pitchFamily="18" charset="2"/>
              </a:rPr>
              <a:t>中</a:t>
            </a:r>
            <a:r>
              <a:rPr lang="zh-CN" altLang="zh-CN" sz="1200" b="1" dirty="0">
                <a:solidFill>
                  <a:schemeClr val="tx1"/>
                </a:solidFill>
                <a:latin typeface="Times New Roman" panose="02020603050405020304" pitchFamily="18" charset="0"/>
                <a:ea typeface="+mn-ea"/>
                <a:cs typeface="Times New Roman" panose="02020603050405020304" pitchFamily="18" charset="0"/>
              </a:rPr>
              <a:t>任意两个</a:t>
            </a:r>
            <a:r>
              <a:rPr lang="zh-CN" altLang="en-US" sz="1200" b="1" dirty="0">
                <a:solidFill>
                  <a:schemeClr val="tx1"/>
                </a:solidFill>
                <a:latin typeface="Times New Roman" panose="02020603050405020304" pitchFamily="18" charset="0"/>
                <a:ea typeface="+mn-ea"/>
                <a:cs typeface="Times New Roman" panose="02020603050405020304" pitchFamily="18" charset="0"/>
              </a:rPr>
              <a:t>元素</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a</a:t>
            </a:r>
            <a:r>
              <a:rPr lang="zh-CN" altLang="en-US" sz="1200" b="1" i="0" dirty="0">
                <a:solidFill>
                  <a:srgbClr val="0D0D0D"/>
                </a:solidFill>
                <a:effectLst/>
                <a:latin typeface="Times New Roman" panose="02020603050405020304" pitchFamily="18" charset="0"/>
                <a:ea typeface="+mn-ea"/>
                <a:cs typeface="Times New Roman" panose="02020603050405020304" pitchFamily="18" charset="0"/>
              </a:rPr>
              <a:t>和</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b</a:t>
            </a:r>
            <a:r>
              <a:rPr lang="en-US" altLang="zh-CN" sz="1200" b="1" i="0" dirty="0">
                <a:solidFill>
                  <a:srgbClr val="0D0D0D"/>
                </a:solidFill>
                <a:effectLst/>
                <a:latin typeface="Times New Roman" panose="02020603050405020304" pitchFamily="18" charset="0"/>
                <a:ea typeface="+mn-ea"/>
                <a:cs typeface="Times New Roman" panose="02020603050405020304" pitchFamily="18" charset="0"/>
              </a:rPr>
              <a:t>, </a:t>
            </a:r>
            <a:r>
              <a:rPr lang="zh-CN" altLang="zh-CN" sz="1200" b="1" dirty="0">
                <a:solidFill>
                  <a:srgbClr val="000000"/>
                </a:solidFill>
                <a:effectLst/>
                <a:latin typeface="Times New Roman" panose="02020603050405020304" pitchFamily="18" charset="0"/>
                <a:ea typeface="+mn-ea"/>
                <a:cs typeface="Times New Roman" panose="02020603050405020304" pitchFamily="18" charset="0"/>
              </a:rPr>
              <a:t>最大下界是它们中的较小者</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effectLst/>
                <a:latin typeface="Times New Roman" panose="02020603050405020304" pitchFamily="18" charset="0"/>
                <a:cs typeface="Times New Roman" panose="02020603050405020304" pitchFamily="18" charset="0"/>
              </a:rPr>
              <a:t>b</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effectLst/>
                <a:latin typeface="Times New Roman" panose="02020603050405020304" pitchFamily="18" charset="0"/>
                <a:cs typeface="Times New Roman" panose="02020603050405020304" pitchFamily="18" charset="0"/>
              </a:rPr>
              <a:t>min</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effectLst/>
                <a:latin typeface="Times New Roman" panose="02020603050405020304" pitchFamily="18" charset="0"/>
                <a:ea typeface="+mn-ea"/>
                <a:cs typeface="Times New Roman" panose="02020603050405020304" pitchFamily="18" charset="0"/>
              </a:rPr>
              <a:t>a,b</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20000"/>
              </a:lnSpc>
            </a:pPr>
            <a:r>
              <a:rPr lang="en-US" altLang="zh-CN" sz="1200" b="1" dirty="0">
                <a:solidFill>
                  <a:srgbClr val="000000"/>
                </a:solidFill>
                <a:latin typeface="Times New Roman" panose="02020603050405020304" pitchFamily="18" charset="0"/>
                <a:ea typeface="+mn-ea"/>
                <a:cs typeface="Times New Roman" panose="02020603050405020304" pitchFamily="18" charset="0"/>
              </a:rPr>
              <a:t>(3)</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上述条件对于所有整数对</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都成立</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因此</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⟨Z,≤⟩</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rgbClr val="FF0000"/>
                </a:solidFill>
                <a:effectLst/>
                <a:latin typeface="Times New Roman" panose="02020603050405020304" pitchFamily="18" charset="0"/>
                <a:ea typeface="+mn-ea"/>
                <a:cs typeface="Times New Roman" panose="02020603050405020304" pitchFamily="18" charset="0"/>
              </a:rPr>
              <a:t>满足格的定义</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eaLnBrk="1" hangingPunct="1">
              <a:lnSpc>
                <a:spcPct val="120000"/>
              </a:lnSpc>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3:  </a:t>
            </a:r>
            <a:r>
              <a:rPr lang="zh-CN" altLang="en-US" sz="1200" b="1" dirty="0">
                <a:solidFill>
                  <a:schemeClr val="tx1"/>
                </a:solidFill>
                <a:latin typeface="Times New Roman" panose="02020603050405020304" pitchFamily="18" charset="0"/>
                <a:ea typeface="+mn-ea"/>
              </a:rPr>
              <a:t>根据偏序集</a:t>
            </a:r>
            <a:r>
              <a:rPr lang="zh-CN" altLang="en-US" sz="1200" b="1" dirty="0">
                <a:solidFill>
                  <a:srgbClr val="000000"/>
                </a:solidFill>
                <a:latin typeface="Times New Roman" panose="02020603050405020304" pitchFamily="18" charset="0"/>
                <a:ea typeface="+mn-ea"/>
              </a:rPr>
              <a:t>的哈斯图判断是否构成格</a:t>
            </a:r>
            <a:r>
              <a:rPr lang="en-US" altLang="zh-CN" sz="1200" b="1" dirty="0">
                <a:solidFill>
                  <a:srgbClr val="000000"/>
                </a:solidFill>
                <a:latin typeface="Times New Roman" panose="02020603050405020304" pitchFamily="18" charset="0"/>
                <a:ea typeface="+mn-ea"/>
                <a:sym typeface="Symbol" panose="05050102010706020507" pitchFamily="18" charset="2"/>
              </a:rPr>
              <a:t>.</a:t>
            </a:r>
          </a:p>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解</a:t>
            </a:r>
            <a:r>
              <a:rPr lang="en-US" altLang="zh-CN" sz="1200" b="1" dirty="0">
                <a:solidFill>
                  <a:srgbClr val="00B0F0"/>
                </a:solidFill>
                <a:latin typeface="Times New Roman" panose="02020603050405020304" pitchFamily="18" charset="0"/>
                <a:ea typeface="+mn-ea"/>
                <a:sym typeface="Symbol" panose="05050102010706020507" pitchFamily="18" charset="2"/>
              </a:rPr>
              <a:t>:</a:t>
            </a:r>
            <a:r>
              <a:rPr lang="en-US" altLang="zh-CN" sz="1200" b="1" dirty="0">
                <a:solidFill>
                  <a:srgbClr val="000000"/>
                </a:solidFill>
                <a:latin typeface="Times New Roman" panose="02020603050405020304" pitchFamily="18" charset="0"/>
                <a:ea typeface="+mn-ea"/>
              </a:rPr>
              <a:t>(1)</a:t>
            </a:r>
            <a:r>
              <a:rPr lang="zh-CN" altLang="en-US" sz="1200" b="1" dirty="0">
                <a:solidFill>
                  <a:srgbClr val="000000"/>
                </a:solidFill>
                <a:latin typeface="Times New Roman" panose="02020603050405020304" pitchFamily="18" charset="0"/>
                <a:ea typeface="+mn-ea"/>
              </a:rPr>
              <a:t>图</a:t>
            </a:r>
            <a:r>
              <a:rPr lang="en-US" altLang="zh-CN" sz="1200" b="1" dirty="0">
                <a:solidFill>
                  <a:srgbClr val="000000"/>
                </a:solidFill>
                <a:latin typeface="Times New Roman" panose="02020603050405020304" pitchFamily="18" charset="0"/>
                <a:ea typeface="+mn-ea"/>
              </a:rPr>
              <a:t>(</a:t>
            </a:r>
            <a:r>
              <a:rPr lang="en-US" altLang="zh-CN" sz="1200" b="1" i="1" dirty="0">
                <a:solidFill>
                  <a:srgbClr val="000000"/>
                </a:solidFill>
                <a:latin typeface="Times New Roman" panose="02020603050405020304" pitchFamily="18" charset="0"/>
                <a:ea typeface="+mn-ea"/>
              </a:rPr>
              <a:t>a</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中</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f</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没有共同上界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当然无法确定最小上界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没有共同下界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无法确定最大下界</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故</a:t>
            </a:r>
            <a:r>
              <a:rPr lang="zh-CN" altLang="en-US" sz="1200" b="1" kern="100" dirty="0">
                <a:solidFill>
                  <a:srgbClr val="FF0000"/>
                </a:solidFill>
                <a:latin typeface="Times New Roman" panose="02020603050405020304" pitchFamily="18" charset="0"/>
                <a:ea typeface="+mn-ea"/>
                <a:cs typeface="Times New Roman" panose="02020603050405020304" pitchFamily="18" charset="0"/>
              </a:rPr>
              <a:t>不</a:t>
            </a:r>
            <a:r>
              <a:rPr lang="zh-CN" altLang="en-US" sz="1200" b="1" dirty="0">
                <a:solidFill>
                  <a:srgbClr val="FF0000"/>
                </a:solidFill>
                <a:latin typeface="Times New Roman" panose="02020603050405020304" pitchFamily="18" charset="0"/>
                <a:ea typeface="+mn-ea"/>
              </a:rPr>
              <a:t>构成格</a:t>
            </a:r>
            <a:r>
              <a:rPr lang="en-US" altLang="zh-CN" sz="1200" b="1" dirty="0">
                <a:solidFill>
                  <a:srgbClr val="000000"/>
                </a:solidFill>
                <a:latin typeface="Times New Roman" panose="02020603050405020304" pitchFamily="18" charset="0"/>
                <a:ea typeface="+mn-ea"/>
              </a:rPr>
              <a:t>.</a:t>
            </a:r>
          </a:p>
          <a:p>
            <a:pPr marL="0" marR="0" lvl="0" indent="0" algn="l" defTabSz="914400" rtl="0" eaLnBrk="1" fontAlgn="auto" latinLnBrk="0" hangingPunct="1">
              <a:lnSpc>
                <a:spcPct val="120000"/>
              </a:lnSpc>
              <a:spcBef>
                <a:spcPts val="0"/>
              </a:spcBef>
              <a:spcAft>
                <a:spcPts val="0"/>
              </a:spcAft>
              <a:buClrTx/>
              <a:buSzTx/>
              <a:buFontTx/>
              <a:buNone/>
              <a:tabLst/>
              <a:defRPr/>
            </a:pPr>
            <a:r>
              <a:rPr lang="en-US" altLang="zh-CN" sz="1200" b="1" dirty="0">
                <a:solidFill>
                  <a:srgbClr val="000000"/>
                </a:solidFill>
                <a:latin typeface="Times New Roman" panose="02020603050405020304" pitchFamily="18" charset="0"/>
                <a:ea typeface="+mn-ea"/>
              </a:rPr>
              <a:t>(2)</a:t>
            </a:r>
            <a:r>
              <a:rPr lang="zh-CN" altLang="en-US" sz="1200" b="1" dirty="0">
                <a:solidFill>
                  <a:srgbClr val="000000"/>
                </a:solidFill>
                <a:latin typeface="Times New Roman" panose="02020603050405020304" pitchFamily="18" charset="0"/>
                <a:ea typeface="+mn-ea"/>
              </a:rPr>
              <a:t>图</a:t>
            </a:r>
            <a:r>
              <a:rPr lang="en-US" altLang="zh-CN" sz="1200" b="1" dirty="0">
                <a:solidFill>
                  <a:srgbClr val="000000"/>
                </a:solidFill>
                <a:latin typeface="Times New Roman" panose="02020603050405020304" pitchFamily="18" charset="0"/>
                <a:ea typeface="+mn-ea"/>
              </a:rPr>
              <a:t>(</a:t>
            </a:r>
            <a:r>
              <a:rPr lang="en-US" altLang="zh-CN" sz="1200" b="1" i="1" dirty="0">
                <a:solidFill>
                  <a:srgbClr val="000000"/>
                </a:solidFill>
                <a:latin typeface="Times New Roman" panose="02020603050405020304" pitchFamily="18" charset="0"/>
                <a:ea typeface="+mn-ea"/>
              </a:rPr>
              <a:t>b</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中</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都没有上界</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之间也没有直接的关系</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zh-CN" altLang="en-US" sz="1200" b="1" dirty="0">
                <a:solidFill>
                  <a:srgbClr val="000000"/>
                </a:solidFill>
                <a:latin typeface="Times New Roman" panose="02020603050405020304" pitchFamily="18" charset="0"/>
                <a:ea typeface="+mn-ea"/>
                <a:cs typeface="Times New Roman" panose="02020603050405020304" pitchFamily="18" charset="0"/>
              </a:rPr>
              <a:t>因此不能找到比</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都大的最小</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公共</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上界</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的公共下界是</a:t>
            </a:r>
            <a:r>
              <a:rPr lang="en-US" altLang="zh-CN" sz="1200" b="1" i="1" dirty="0" err="1">
                <a:solidFill>
                  <a:srgbClr val="000000"/>
                </a:solidFill>
                <a:latin typeface="Times New Roman" panose="02020603050405020304" pitchFamily="18" charset="0"/>
                <a:ea typeface="+mn-ea"/>
                <a:cs typeface="Times New Roman" panose="02020603050405020304" pitchFamily="18" charset="0"/>
              </a:rPr>
              <a:t>b</a:t>
            </a:r>
            <a:r>
              <a:rPr lang="en-US" altLang="zh-CN" sz="1200" b="1" dirty="0" err="1">
                <a:solidFill>
                  <a:srgbClr val="000000"/>
                </a:solidFill>
                <a:latin typeface="Times New Roman" panose="02020603050405020304" pitchFamily="18" charset="0"/>
                <a:ea typeface="+mn-ea"/>
                <a:cs typeface="Times New Roman" panose="02020603050405020304" pitchFamily="18" charset="0"/>
              </a:rPr>
              <a:t>,</a:t>
            </a:r>
            <a:r>
              <a:rPr lang="en-US" altLang="zh-CN" sz="1200" b="1" i="1" dirty="0" err="1">
                <a:solidFill>
                  <a:srgbClr val="000000"/>
                </a:solidFill>
                <a:latin typeface="Times New Roman" panose="02020603050405020304" pitchFamily="18" charset="0"/>
                <a:ea typeface="+mn-ea"/>
                <a:cs typeface="Times New Roman" panose="02020603050405020304" pitchFamily="18" charset="0"/>
              </a:rPr>
              <a:t>d</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a</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en-US" altLang="zh-CN" sz="1200" b="1" i="1" dirty="0">
                <a:solidFill>
                  <a:srgbClr val="000000"/>
                </a:solidFill>
                <a:latin typeface="Times New Roman" panose="02020603050405020304" pitchFamily="18" charset="0"/>
                <a:ea typeface="+mn-ea"/>
                <a:cs typeface="Times New Roman" panose="02020603050405020304" pitchFamily="18" charset="0"/>
              </a:rPr>
              <a:t>b</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d</a:t>
            </a:r>
            <a:r>
              <a:rPr lang="zh-CN" altLang="en-US" sz="1200" b="1" dirty="0">
                <a:solidFill>
                  <a:srgbClr val="000000"/>
                </a:solidFill>
                <a:latin typeface="Times New Roman" panose="02020603050405020304" pitchFamily="18" charset="0"/>
                <a:ea typeface="+mn-ea"/>
                <a:cs typeface="Times New Roman" panose="02020603050405020304" pitchFamily="18" charset="0"/>
              </a:rPr>
              <a:t>都比</a:t>
            </a:r>
            <a:r>
              <a:rPr lang="en-US" altLang="zh-CN" sz="1200" b="1" i="1" dirty="0">
                <a:solidFill>
                  <a:srgbClr val="000000"/>
                </a:solidFill>
                <a:latin typeface="Times New Roman" panose="02020603050405020304" pitchFamily="18" charset="0"/>
                <a:ea typeface="+mn-ea"/>
                <a:cs typeface="Times New Roman" panose="02020603050405020304" pitchFamily="18" charset="0"/>
              </a:rPr>
              <a:t>a</a:t>
            </a:r>
            <a:r>
              <a:rPr lang="zh-CN" altLang="en-US" sz="1200" b="1" dirty="0">
                <a:solidFill>
                  <a:srgbClr val="000000"/>
                </a:solidFill>
                <a:latin typeface="Times New Roman" panose="02020603050405020304" pitchFamily="18" charset="0"/>
                <a:ea typeface="+mn-ea"/>
                <a:cs typeface="Times New Roman" panose="02020603050405020304" pitchFamily="18" charset="0"/>
              </a:rPr>
              <a:t>大</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且</a:t>
            </a:r>
            <a:r>
              <a:rPr lang="en-US" altLang="zh-CN" sz="1200" b="1" i="1" dirty="0">
                <a:solidFill>
                  <a:srgbClr val="000000"/>
                </a:solidFill>
                <a:latin typeface="Times New Roman" panose="02020603050405020304" pitchFamily="18" charset="0"/>
                <a:ea typeface="+mn-ea"/>
                <a:cs typeface="Times New Roman" panose="02020603050405020304" pitchFamily="18" charset="0"/>
              </a:rPr>
              <a:t>b</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d</a:t>
            </a:r>
            <a:r>
              <a:rPr lang="zh-CN" altLang="en-US" sz="1200" b="1" dirty="0">
                <a:solidFill>
                  <a:srgbClr val="000000"/>
                </a:solidFill>
                <a:latin typeface="Times New Roman" panose="02020603050405020304" pitchFamily="18" charset="0"/>
                <a:ea typeface="+mn-ea"/>
                <a:cs typeface="Times New Roman" panose="02020603050405020304" pitchFamily="18" charset="0"/>
              </a:rPr>
              <a:t>之间没有直接的偏序关系</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不存在唯一的最大公共下界</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故</a:t>
            </a:r>
            <a:r>
              <a:rPr lang="zh-CN" altLang="en-US" sz="1200" b="1" kern="100" dirty="0">
                <a:solidFill>
                  <a:srgbClr val="FF0000"/>
                </a:solidFill>
                <a:latin typeface="Times New Roman" panose="02020603050405020304" pitchFamily="18" charset="0"/>
                <a:ea typeface="+mn-ea"/>
                <a:cs typeface="Times New Roman" panose="02020603050405020304" pitchFamily="18" charset="0"/>
              </a:rPr>
              <a:t>不</a:t>
            </a:r>
            <a:r>
              <a:rPr lang="zh-CN" altLang="en-US" sz="1200" b="1" dirty="0">
                <a:solidFill>
                  <a:srgbClr val="FF0000"/>
                </a:solidFill>
                <a:latin typeface="Times New Roman" panose="02020603050405020304" pitchFamily="18" charset="0"/>
                <a:ea typeface="+mn-ea"/>
              </a:rPr>
              <a:t>构成格</a:t>
            </a:r>
            <a:r>
              <a:rPr lang="en-US" altLang="zh-CN" sz="1200" b="1" dirty="0">
                <a:solidFill>
                  <a:srgbClr val="000000"/>
                </a:solidFill>
                <a:latin typeface="Times New Roman" panose="02020603050405020304" pitchFamily="18" charset="0"/>
                <a:ea typeface="+mn-ea"/>
              </a:rPr>
              <a:t>.</a:t>
            </a:r>
          </a:p>
          <a:p>
            <a:pPr marL="0" marR="0" lvl="0" indent="0" algn="l" defTabSz="914400" rtl="0" eaLnBrk="1" fontAlgn="auto" latinLnBrk="0" hangingPunct="1">
              <a:lnSpc>
                <a:spcPct val="120000"/>
              </a:lnSpc>
              <a:spcBef>
                <a:spcPts val="0"/>
              </a:spcBef>
              <a:spcAft>
                <a:spcPts val="0"/>
              </a:spcAft>
              <a:buClrTx/>
              <a:buSzTx/>
              <a:buFontTx/>
              <a:buNone/>
              <a:tabLst/>
              <a:defRPr/>
            </a:pPr>
            <a:r>
              <a:rPr lang="en-US" altLang="zh-CN" sz="1200" b="1" dirty="0">
                <a:solidFill>
                  <a:srgbClr val="000000"/>
                </a:solidFill>
                <a:latin typeface="Times New Roman" panose="02020603050405020304" pitchFamily="18" charset="0"/>
                <a:ea typeface="+mn-ea"/>
                <a:cs typeface="Times New Roman" panose="02020603050405020304" pitchFamily="18" charset="0"/>
              </a:rPr>
              <a:t>(3)</a:t>
            </a:r>
            <a:r>
              <a:rPr lang="zh-CN" altLang="en-US" sz="1200" b="1" dirty="0">
                <a:solidFill>
                  <a:srgbClr val="000000"/>
                </a:solidFill>
                <a:latin typeface="Times New Roman" panose="02020603050405020304" pitchFamily="18" charset="0"/>
                <a:ea typeface="+mn-ea"/>
              </a:rPr>
              <a:t>图</a:t>
            </a:r>
            <a:r>
              <a:rPr lang="en-US" altLang="zh-CN" sz="1200" b="1" dirty="0">
                <a:solidFill>
                  <a:srgbClr val="000000"/>
                </a:solidFill>
                <a:latin typeface="Times New Roman" panose="02020603050405020304" pitchFamily="18" charset="0"/>
                <a:ea typeface="+mn-ea"/>
              </a:rPr>
              <a:t>(</a:t>
            </a:r>
            <a:r>
              <a:rPr lang="en-US" altLang="zh-CN" sz="1200" b="1" i="1" dirty="0">
                <a:solidFill>
                  <a:srgbClr val="000000"/>
                </a:solidFill>
                <a:latin typeface="Times New Roman" panose="02020603050405020304" pitchFamily="18" charset="0"/>
                <a:ea typeface="+mn-ea"/>
              </a:rPr>
              <a:t>c</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rPr>
              <a:t>d</a:t>
            </a:r>
            <a:r>
              <a:rPr lang="zh-CN" altLang="en-US" sz="1200" b="1" dirty="0">
                <a:solidFill>
                  <a:srgbClr val="000000"/>
                </a:solidFill>
                <a:latin typeface="Times New Roman" panose="02020603050405020304" pitchFamily="18" charset="0"/>
                <a:ea typeface="+mn-ea"/>
              </a:rPr>
              <a:t>和</a:t>
            </a:r>
            <a:r>
              <a:rPr lang="en-US" altLang="zh-CN" sz="1200" b="1" i="1" dirty="0">
                <a:solidFill>
                  <a:srgbClr val="000000"/>
                </a:solidFill>
                <a:latin typeface="Times New Roman" panose="02020603050405020304" pitchFamily="18" charset="0"/>
                <a:ea typeface="+mn-ea"/>
              </a:rPr>
              <a:t>e</a:t>
            </a:r>
            <a:r>
              <a:rPr lang="zh-CN" altLang="en-US" sz="1200" b="1" dirty="0">
                <a:solidFill>
                  <a:srgbClr val="000000"/>
                </a:solidFill>
                <a:latin typeface="Times New Roman" panose="02020603050405020304" pitchFamily="18" charset="0"/>
                <a:ea typeface="+mn-ea"/>
              </a:rPr>
              <a:t>的共同下界为</a:t>
            </a:r>
            <a:r>
              <a:rPr lang="en-US" altLang="zh-CN" sz="1200" b="1" i="1" dirty="0" err="1">
                <a:solidFill>
                  <a:srgbClr val="000000"/>
                </a:solidFill>
                <a:latin typeface="Times New Roman" panose="02020603050405020304" pitchFamily="18" charset="0"/>
                <a:ea typeface="+mn-ea"/>
              </a:rPr>
              <a:t>a</a:t>
            </a:r>
            <a:r>
              <a:rPr lang="en-US" altLang="zh-CN" sz="1200" b="1" dirty="0" err="1">
                <a:solidFill>
                  <a:srgbClr val="000000"/>
                </a:solidFill>
                <a:latin typeface="Times New Roman" panose="02020603050405020304" pitchFamily="18" charset="0"/>
                <a:ea typeface="+mn-ea"/>
              </a:rPr>
              <a:t>,</a:t>
            </a:r>
            <a:r>
              <a:rPr lang="en-US" altLang="zh-CN" sz="1200" b="1" i="1" dirty="0" err="1">
                <a:solidFill>
                  <a:srgbClr val="000000"/>
                </a:solidFill>
                <a:latin typeface="Times New Roman" panose="02020603050405020304" pitchFamily="18" charset="0"/>
                <a:ea typeface="+mn-ea"/>
              </a:rPr>
              <a:t>b</a:t>
            </a:r>
            <a:r>
              <a:rPr lang="en-US" altLang="zh-CN" sz="1200" b="1" dirty="0" err="1">
                <a:solidFill>
                  <a:srgbClr val="000000"/>
                </a:solidFill>
                <a:latin typeface="Times New Roman" panose="02020603050405020304" pitchFamily="18" charset="0"/>
                <a:ea typeface="+mn-ea"/>
              </a:rPr>
              <a:t>,</a:t>
            </a:r>
            <a:r>
              <a:rPr lang="en-US" altLang="zh-CN" sz="1200" b="1" i="1" dirty="0" err="1">
                <a:solidFill>
                  <a:srgbClr val="000000"/>
                </a:solidFill>
                <a:latin typeface="Times New Roman" panose="02020603050405020304" pitchFamily="18" charset="0"/>
                <a:ea typeface="+mn-ea"/>
              </a:rPr>
              <a:t>c</a:t>
            </a:r>
            <a:r>
              <a:rPr lang="en-US" altLang="zh-CN" sz="1200" b="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rPr>
              <a:t>b</a:t>
            </a:r>
            <a:r>
              <a:rPr lang="zh-CN" altLang="en-US" sz="1200" b="1" dirty="0">
                <a:solidFill>
                  <a:srgbClr val="000000"/>
                </a:solidFill>
                <a:latin typeface="Times New Roman" panose="02020603050405020304" pitchFamily="18" charset="0"/>
                <a:ea typeface="+mn-ea"/>
              </a:rPr>
              <a:t>和</a:t>
            </a:r>
            <a:r>
              <a:rPr lang="en-US" altLang="zh-CN" sz="1200" b="1" i="1" dirty="0">
                <a:solidFill>
                  <a:srgbClr val="000000"/>
                </a:solidFill>
                <a:latin typeface="Times New Roman" panose="02020603050405020304" pitchFamily="18" charset="0"/>
                <a:ea typeface="+mn-ea"/>
              </a:rPr>
              <a:t>c</a:t>
            </a:r>
            <a:r>
              <a:rPr lang="zh-CN" altLang="en-US" sz="1200" b="1" dirty="0">
                <a:solidFill>
                  <a:srgbClr val="000000"/>
                </a:solidFill>
                <a:latin typeface="Times New Roman" panose="02020603050405020304" pitchFamily="18" charset="0"/>
                <a:ea typeface="+mn-ea"/>
              </a:rPr>
              <a:t>都比</a:t>
            </a:r>
            <a:r>
              <a:rPr lang="en-US" altLang="zh-CN" sz="1200" b="1" i="1" dirty="0">
                <a:solidFill>
                  <a:srgbClr val="000000"/>
                </a:solidFill>
                <a:latin typeface="Times New Roman" panose="02020603050405020304" pitchFamily="18" charset="0"/>
                <a:ea typeface="+mn-ea"/>
              </a:rPr>
              <a:t>a</a:t>
            </a:r>
            <a:r>
              <a:rPr lang="zh-CN" altLang="en-US" sz="1200" b="1" dirty="0">
                <a:solidFill>
                  <a:srgbClr val="000000"/>
                </a:solidFill>
                <a:latin typeface="Times New Roman" panose="02020603050405020304" pitchFamily="18" charset="0"/>
                <a:ea typeface="+mn-ea"/>
              </a:rPr>
              <a:t>大</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rPr>
              <a:t>b</a:t>
            </a:r>
            <a:r>
              <a:rPr lang="zh-CN" altLang="en-US" sz="1200" b="1" dirty="0">
                <a:solidFill>
                  <a:srgbClr val="000000"/>
                </a:solidFill>
                <a:latin typeface="Times New Roman" panose="02020603050405020304" pitchFamily="18" charset="0"/>
                <a:ea typeface="+mn-ea"/>
              </a:rPr>
              <a:t>和</a:t>
            </a:r>
            <a:r>
              <a:rPr lang="en-US" altLang="zh-CN" sz="1200" b="1" i="1" dirty="0">
                <a:solidFill>
                  <a:srgbClr val="000000"/>
                </a:solidFill>
                <a:latin typeface="Times New Roman" panose="02020603050405020304" pitchFamily="18" charset="0"/>
                <a:ea typeface="+mn-ea"/>
              </a:rPr>
              <a:t>c</a:t>
            </a:r>
            <a:r>
              <a:rPr lang="zh-CN" altLang="en-US" sz="1200" b="1" dirty="0">
                <a:solidFill>
                  <a:srgbClr val="000000"/>
                </a:solidFill>
                <a:latin typeface="Times New Roman" panose="02020603050405020304" pitchFamily="18" charset="0"/>
                <a:ea typeface="+mn-ea"/>
              </a:rPr>
              <a:t>之间也没有偏序关系</a:t>
            </a:r>
            <a:r>
              <a:rPr lang="en-US" altLang="zh-CN" sz="1200" b="1" dirty="0">
                <a:solidFill>
                  <a:srgbClr val="000000"/>
                </a:solidFill>
                <a:latin typeface="Times New Roman" panose="02020603050405020304" pitchFamily="18" charset="0"/>
                <a:ea typeface="+mn-ea"/>
              </a:rPr>
              <a:t>, </a:t>
            </a:r>
            <a:r>
              <a:rPr lang="zh-CN" altLang="en-US" sz="1200" b="1" dirty="0">
                <a:solidFill>
                  <a:srgbClr val="000000"/>
                </a:solidFill>
                <a:latin typeface="Times New Roman" panose="02020603050405020304" pitchFamily="18" charset="0"/>
                <a:ea typeface="+mn-ea"/>
              </a:rPr>
              <a:t>因而无法确定唯一的最大下界</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故</a:t>
            </a:r>
            <a:r>
              <a:rPr lang="zh-CN" altLang="en-US" sz="1200" b="1" kern="100" dirty="0">
                <a:solidFill>
                  <a:srgbClr val="FF0000"/>
                </a:solidFill>
                <a:latin typeface="Times New Roman" panose="02020603050405020304" pitchFamily="18" charset="0"/>
                <a:ea typeface="+mn-ea"/>
                <a:cs typeface="Times New Roman" panose="02020603050405020304" pitchFamily="18" charset="0"/>
              </a:rPr>
              <a:t>不</a:t>
            </a:r>
            <a:r>
              <a:rPr lang="zh-CN" altLang="en-US" sz="1200" b="1" dirty="0">
                <a:solidFill>
                  <a:srgbClr val="FF0000"/>
                </a:solidFill>
                <a:latin typeface="Times New Roman" panose="02020603050405020304" pitchFamily="18" charset="0"/>
                <a:ea typeface="+mn-ea"/>
              </a:rPr>
              <a:t>构成格</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pPr eaLnBrk="1" hangingPunct="1">
              <a:lnSpc>
                <a:spcPct val="120000"/>
              </a:lnSpc>
            </a:pPr>
            <a:endParaRPr lang="zh-CN" altLang="zh-CN" sz="1200" b="1" kern="100" dirty="0">
              <a:solidFill>
                <a:schemeClr val="tx1"/>
              </a:solidFill>
              <a:effectLst/>
              <a:latin typeface="Times New Roman" panose="02020603050405020304" pitchFamily="18" charset="0"/>
              <a:ea typeface="+mn-ea"/>
              <a:cs typeface="Times New Roman" panose="02020603050405020304" pitchFamily="18" charset="0"/>
            </a:endParaRPr>
          </a:p>
          <a:p>
            <a:pPr>
              <a:lnSpc>
                <a:spcPct val="120000"/>
              </a:lnSpc>
            </a:pP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130</a:t>
            </a:fld>
            <a:endParaRPr lang="zh-CN" altLang="en-US"/>
          </a:p>
        </p:txBody>
      </p:sp>
    </p:spTree>
    <p:extLst>
      <p:ext uri="{BB962C8B-B14F-4D97-AF65-F5344CB8AC3E}">
        <p14:creationId xmlns:p14="http://schemas.microsoft.com/office/powerpoint/2010/main" val="324382960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3C5B8-CBD1-7C6D-5CF6-EE2604F218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2209B7-9010-2285-10D8-1EAA49D647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146309-68FB-3E63-D1BB-DF22796DC157}"/>
              </a:ext>
            </a:extLst>
          </p:cNvPr>
          <p:cNvSpPr>
            <a:spLocks noGrp="1"/>
          </p:cNvSpPr>
          <p:nvPr>
            <p:ph type="body" idx="1"/>
          </p:nvPr>
        </p:nvSpPr>
        <p:spPr/>
        <p:txBody>
          <a:bodyPr/>
          <a:lstStyle/>
          <a:p>
            <a:pPr eaLnBrk="1" hangingPunct="1">
              <a:lnSpc>
                <a:spcPct val="120000"/>
              </a:lnSpc>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2:  </a:t>
            </a:r>
            <a:r>
              <a:rPr lang="zh-CN" altLang="en-US" sz="1200" b="1" dirty="0">
                <a:solidFill>
                  <a:srgbClr val="000000"/>
                </a:solidFill>
                <a:latin typeface="Times New Roman" panose="02020603050405020304" pitchFamily="18" charset="0"/>
                <a:ea typeface="+mn-ea"/>
              </a:rPr>
              <a:t>判断偏序集</a:t>
            </a:r>
            <a:r>
              <a:rPr lang="en-US" altLang="zh-CN" sz="1200" b="1" dirty="0">
                <a:solidFill>
                  <a:srgbClr val="000000"/>
                </a:solidFill>
                <a:latin typeface="Times New Roman" panose="02020603050405020304" pitchFamily="18" charset="0"/>
                <a:ea typeface="+mn-ea"/>
                <a:sym typeface="Symbol" panose="05050102010706020507" pitchFamily="18" charset="2"/>
              </a:rPr>
              <a:t>&lt;Z, ≤ &gt;</a:t>
            </a:r>
            <a:r>
              <a:rPr lang="zh-CN" altLang="en-US" sz="1200" b="1" dirty="0">
                <a:solidFill>
                  <a:srgbClr val="000000"/>
                </a:solidFill>
                <a:latin typeface="Times New Roman" panose="02020603050405020304" pitchFamily="18" charset="0"/>
                <a:ea typeface="+mn-ea"/>
              </a:rPr>
              <a:t>是否构成格</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sym typeface="Symbol" panose="05050102010706020507" pitchFamily="18" charset="2"/>
              </a:rPr>
              <a:t>其中</a:t>
            </a:r>
            <a:r>
              <a:rPr lang="en-US" altLang="zh-CN" sz="1200" b="1" dirty="0">
                <a:solidFill>
                  <a:srgbClr val="000000"/>
                </a:solidFill>
                <a:latin typeface="Times New Roman" panose="02020603050405020304" pitchFamily="18" charset="0"/>
                <a:ea typeface="+mn-ea"/>
                <a:sym typeface="Symbol" panose="05050102010706020507" pitchFamily="18" charset="2"/>
              </a:rPr>
              <a:t>Z</a:t>
            </a:r>
            <a:r>
              <a:rPr lang="zh-CN" altLang="en-US" sz="1200" b="1" dirty="0">
                <a:solidFill>
                  <a:srgbClr val="000000"/>
                </a:solidFill>
                <a:latin typeface="Times New Roman" panose="02020603050405020304" pitchFamily="18" charset="0"/>
                <a:ea typeface="+mn-ea"/>
                <a:sym typeface="Symbol" panose="05050102010706020507" pitchFamily="18" charset="2"/>
              </a:rPr>
              <a:t>是整数集</a:t>
            </a:r>
            <a:r>
              <a:rPr lang="en-US" altLang="zh-CN" sz="1200" b="1" dirty="0">
                <a:solidFill>
                  <a:srgbClr val="000000"/>
                </a:solidFill>
                <a:latin typeface="Times New Roman" panose="02020603050405020304" pitchFamily="18" charset="0"/>
                <a:ea typeface="+mn-ea"/>
                <a:sym typeface="Symbol" panose="05050102010706020507" pitchFamily="18" charset="2"/>
              </a:rPr>
              <a:t>, </a:t>
            </a:r>
            <a:r>
              <a:rPr lang="zh-CN" altLang="en-US" sz="1200" b="1" dirty="0">
                <a:solidFill>
                  <a:srgbClr val="000000"/>
                </a:solidFill>
                <a:latin typeface="Times New Roman" panose="02020603050405020304" pitchFamily="18" charset="0"/>
                <a:ea typeface="+mn-ea"/>
                <a:sym typeface="Symbol" panose="05050102010706020507" pitchFamily="18" charset="2"/>
              </a:rPr>
              <a:t>≤为小于或等于关系</a:t>
            </a:r>
            <a:r>
              <a:rPr lang="en-US" altLang="zh-CN" sz="1200" b="1" dirty="0">
                <a:solidFill>
                  <a:srgbClr val="000000"/>
                </a:solidFill>
                <a:latin typeface="Times New Roman" panose="02020603050405020304" pitchFamily="18" charset="0"/>
                <a:ea typeface="+mn-ea"/>
                <a:sym typeface="Symbol" panose="05050102010706020507" pitchFamily="18" charset="2"/>
              </a:rPr>
              <a:t>.</a:t>
            </a:r>
          </a:p>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解</a:t>
            </a:r>
            <a:r>
              <a:rPr lang="en-US" altLang="zh-CN" sz="1200" b="1" dirty="0">
                <a:solidFill>
                  <a:srgbClr val="00B0F0"/>
                </a:solidFill>
                <a:latin typeface="Times New Roman" panose="02020603050405020304" pitchFamily="18" charset="0"/>
                <a:ea typeface="+mn-ea"/>
                <a:sym typeface="Symbol" panose="05050102010706020507" pitchFamily="18" charset="2"/>
              </a:rPr>
              <a:t>:</a:t>
            </a:r>
            <a:r>
              <a:rPr lang="en-US" altLang="zh-CN" sz="1200" b="1" dirty="0">
                <a:solidFill>
                  <a:srgbClr val="000000"/>
                </a:solidFill>
                <a:latin typeface="Times New Roman" panose="02020603050405020304" pitchFamily="18" charset="0"/>
                <a:ea typeface="+mn-ea"/>
              </a:rPr>
              <a:t>(1)</a:t>
            </a:r>
            <a:r>
              <a:rPr lang="zh-CN" altLang="zh-CN" sz="1200" b="1" dirty="0">
                <a:solidFill>
                  <a:schemeClr val="tx1"/>
                </a:solidFill>
                <a:latin typeface="Times New Roman" panose="02020603050405020304" pitchFamily="18" charset="0"/>
                <a:ea typeface="+mn-ea"/>
                <a:cs typeface="Times New Roman" panose="02020603050405020304" pitchFamily="18" charset="0"/>
              </a:rPr>
              <a:t>对于</a:t>
            </a:r>
            <a:r>
              <a:rPr lang="en-US" altLang="zh-CN" sz="1200" b="1" dirty="0">
                <a:solidFill>
                  <a:srgbClr val="000000"/>
                </a:solidFill>
                <a:latin typeface="Times New Roman" panose="02020603050405020304" pitchFamily="18" charset="0"/>
                <a:ea typeface="+mn-ea"/>
                <a:sym typeface="Symbol" panose="05050102010706020507" pitchFamily="18" charset="2"/>
              </a:rPr>
              <a:t>Z</a:t>
            </a:r>
            <a:r>
              <a:rPr lang="zh-CN" altLang="en-US" sz="1200" b="1" dirty="0">
                <a:solidFill>
                  <a:srgbClr val="000000"/>
                </a:solidFill>
                <a:latin typeface="Times New Roman" panose="02020603050405020304" pitchFamily="18" charset="0"/>
                <a:ea typeface="+mn-ea"/>
                <a:sym typeface="Symbol" panose="05050102010706020507" pitchFamily="18" charset="2"/>
              </a:rPr>
              <a:t>中</a:t>
            </a:r>
            <a:r>
              <a:rPr lang="zh-CN" altLang="zh-CN" sz="1200" b="1" dirty="0">
                <a:solidFill>
                  <a:schemeClr val="tx1"/>
                </a:solidFill>
                <a:latin typeface="Times New Roman" panose="02020603050405020304" pitchFamily="18" charset="0"/>
                <a:ea typeface="+mn-ea"/>
                <a:cs typeface="Times New Roman" panose="02020603050405020304" pitchFamily="18" charset="0"/>
              </a:rPr>
              <a:t>任意两个</a:t>
            </a:r>
            <a:r>
              <a:rPr lang="zh-CN" altLang="en-US" sz="1200" b="1" dirty="0">
                <a:solidFill>
                  <a:schemeClr val="tx1"/>
                </a:solidFill>
                <a:latin typeface="Times New Roman" panose="02020603050405020304" pitchFamily="18" charset="0"/>
                <a:ea typeface="+mn-ea"/>
                <a:cs typeface="Times New Roman" panose="02020603050405020304" pitchFamily="18" charset="0"/>
              </a:rPr>
              <a:t>元素</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a</a:t>
            </a:r>
            <a:r>
              <a:rPr lang="zh-CN" altLang="en-US" sz="1200" b="1" i="0" dirty="0">
                <a:solidFill>
                  <a:srgbClr val="0D0D0D"/>
                </a:solidFill>
                <a:effectLst/>
                <a:latin typeface="Times New Roman" panose="02020603050405020304" pitchFamily="18" charset="0"/>
                <a:ea typeface="+mn-ea"/>
                <a:cs typeface="Times New Roman" panose="02020603050405020304" pitchFamily="18" charset="0"/>
              </a:rPr>
              <a:t>和</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b</a:t>
            </a:r>
            <a:r>
              <a:rPr lang="en-US" altLang="zh-CN" sz="1200" b="1" i="0" dirty="0">
                <a:solidFill>
                  <a:srgbClr val="0D0D0D"/>
                </a:solidFill>
                <a:effectLst/>
                <a:latin typeface="Times New Roman" panose="02020603050405020304" pitchFamily="18" charset="0"/>
                <a:ea typeface="+mn-ea"/>
                <a:cs typeface="Times New Roman" panose="02020603050405020304" pitchFamily="18" charset="0"/>
              </a:rPr>
              <a:t>,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最小上界是它们中的较大者</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=max(</a:t>
            </a:r>
            <a:r>
              <a:rPr lang="en-US" altLang="zh-CN" sz="1200" b="1" i="1" kern="100" dirty="0" err="1">
                <a:solidFill>
                  <a:schemeClr val="tx1"/>
                </a:solidFill>
                <a:effectLst/>
                <a:latin typeface="Times New Roman" panose="02020603050405020304" pitchFamily="18" charset="0"/>
                <a:ea typeface="+mn-ea"/>
                <a:cs typeface="Times New Roman" panose="02020603050405020304" pitchFamily="18" charset="0"/>
              </a:rPr>
              <a:t>a</a:t>
            </a:r>
            <a:r>
              <a:rPr lang="en-US" altLang="zh-CN" sz="1200" b="1" kern="100" dirty="0" err="1">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err="1">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p>
          <a:p>
            <a:pPr eaLnBrk="1" hangingPunct="1">
              <a:lnSpc>
                <a:spcPct val="120000"/>
              </a:lnSpc>
            </a:pPr>
            <a:r>
              <a:rPr lang="en-US" altLang="zh-CN" sz="1200" b="1" dirty="0">
                <a:solidFill>
                  <a:srgbClr val="000000"/>
                </a:solidFill>
                <a:latin typeface="Times New Roman" panose="02020603050405020304" pitchFamily="18" charset="0"/>
                <a:ea typeface="+mn-ea"/>
              </a:rPr>
              <a:t>(2)</a:t>
            </a:r>
            <a:r>
              <a:rPr lang="zh-CN" altLang="zh-CN" sz="1200" b="1" dirty="0">
                <a:solidFill>
                  <a:schemeClr val="tx1"/>
                </a:solidFill>
                <a:latin typeface="Times New Roman" panose="02020603050405020304" pitchFamily="18" charset="0"/>
                <a:ea typeface="+mn-ea"/>
                <a:cs typeface="Times New Roman" panose="02020603050405020304" pitchFamily="18" charset="0"/>
              </a:rPr>
              <a:t>对于</a:t>
            </a:r>
            <a:r>
              <a:rPr lang="en-US" altLang="zh-CN" sz="1200" b="1" dirty="0">
                <a:solidFill>
                  <a:srgbClr val="000000"/>
                </a:solidFill>
                <a:latin typeface="Times New Roman" panose="02020603050405020304" pitchFamily="18" charset="0"/>
                <a:ea typeface="+mn-ea"/>
                <a:sym typeface="Symbol" panose="05050102010706020507" pitchFamily="18" charset="2"/>
              </a:rPr>
              <a:t>Z</a:t>
            </a:r>
            <a:r>
              <a:rPr lang="zh-CN" altLang="en-US" sz="1200" b="1" dirty="0">
                <a:solidFill>
                  <a:srgbClr val="000000"/>
                </a:solidFill>
                <a:latin typeface="Times New Roman" panose="02020603050405020304" pitchFamily="18" charset="0"/>
                <a:ea typeface="+mn-ea"/>
                <a:sym typeface="Symbol" panose="05050102010706020507" pitchFamily="18" charset="2"/>
              </a:rPr>
              <a:t>中</a:t>
            </a:r>
            <a:r>
              <a:rPr lang="zh-CN" altLang="zh-CN" sz="1200" b="1" dirty="0">
                <a:solidFill>
                  <a:schemeClr val="tx1"/>
                </a:solidFill>
                <a:latin typeface="Times New Roman" panose="02020603050405020304" pitchFamily="18" charset="0"/>
                <a:ea typeface="+mn-ea"/>
                <a:cs typeface="Times New Roman" panose="02020603050405020304" pitchFamily="18" charset="0"/>
              </a:rPr>
              <a:t>任意两个</a:t>
            </a:r>
            <a:r>
              <a:rPr lang="zh-CN" altLang="en-US" sz="1200" b="1" dirty="0">
                <a:solidFill>
                  <a:schemeClr val="tx1"/>
                </a:solidFill>
                <a:latin typeface="Times New Roman" panose="02020603050405020304" pitchFamily="18" charset="0"/>
                <a:ea typeface="+mn-ea"/>
                <a:cs typeface="Times New Roman" panose="02020603050405020304" pitchFamily="18" charset="0"/>
              </a:rPr>
              <a:t>元素</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a</a:t>
            </a:r>
            <a:r>
              <a:rPr lang="zh-CN" altLang="en-US" sz="1200" b="1" i="0" dirty="0">
                <a:solidFill>
                  <a:srgbClr val="0D0D0D"/>
                </a:solidFill>
                <a:effectLst/>
                <a:latin typeface="Times New Roman" panose="02020603050405020304" pitchFamily="18" charset="0"/>
                <a:ea typeface="+mn-ea"/>
                <a:cs typeface="Times New Roman" panose="02020603050405020304" pitchFamily="18" charset="0"/>
              </a:rPr>
              <a:t>和</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b</a:t>
            </a:r>
            <a:r>
              <a:rPr lang="en-US" altLang="zh-CN" sz="1200" b="1" i="0" dirty="0">
                <a:solidFill>
                  <a:srgbClr val="0D0D0D"/>
                </a:solidFill>
                <a:effectLst/>
                <a:latin typeface="Times New Roman" panose="02020603050405020304" pitchFamily="18" charset="0"/>
                <a:ea typeface="+mn-ea"/>
                <a:cs typeface="Times New Roman" panose="02020603050405020304" pitchFamily="18" charset="0"/>
              </a:rPr>
              <a:t>, </a:t>
            </a:r>
            <a:r>
              <a:rPr lang="zh-CN" altLang="zh-CN" sz="1200" b="1" dirty="0">
                <a:solidFill>
                  <a:srgbClr val="000000"/>
                </a:solidFill>
                <a:effectLst/>
                <a:latin typeface="Times New Roman" panose="02020603050405020304" pitchFamily="18" charset="0"/>
                <a:ea typeface="+mn-ea"/>
                <a:cs typeface="Times New Roman" panose="02020603050405020304" pitchFamily="18" charset="0"/>
              </a:rPr>
              <a:t>最大下界是它们中的较小者</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effectLst/>
                <a:latin typeface="Times New Roman" panose="02020603050405020304" pitchFamily="18" charset="0"/>
                <a:cs typeface="Times New Roman" panose="02020603050405020304" pitchFamily="18" charset="0"/>
              </a:rPr>
              <a:t>b</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effectLst/>
                <a:latin typeface="Times New Roman" panose="02020603050405020304" pitchFamily="18" charset="0"/>
                <a:cs typeface="Times New Roman" panose="02020603050405020304" pitchFamily="18" charset="0"/>
              </a:rPr>
              <a:t>min</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effectLst/>
                <a:latin typeface="Times New Roman" panose="02020603050405020304" pitchFamily="18" charset="0"/>
                <a:ea typeface="+mn-ea"/>
                <a:cs typeface="Times New Roman" panose="02020603050405020304" pitchFamily="18" charset="0"/>
              </a:rPr>
              <a:t>a,b</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20000"/>
              </a:lnSpc>
            </a:pPr>
            <a:r>
              <a:rPr lang="en-US" altLang="zh-CN" sz="1200" b="1" dirty="0">
                <a:solidFill>
                  <a:srgbClr val="000000"/>
                </a:solidFill>
                <a:latin typeface="Times New Roman" panose="02020603050405020304" pitchFamily="18" charset="0"/>
                <a:ea typeface="+mn-ea"/>
                <a:cs typeface="Times New Roman" panose="02020603050405020304" pitchFamily="18" charset="0"/>
              </a:rPr>
              <a:t>(3)</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上述条件对于所有整数对</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都成立</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因此</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⟨Z,≤⟩</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rgbClr val="FF0000"/>
                </a:solidFill>
                <a:effectLst/>
                <a:latin typeface="Times New Roman" panose="02020603050405020304" pitchFamily="18" charset="0"/>
                <a:ea typeface="+mn-ea"/>
                <a:cs typeface="Times New Roman" panose="02020603050405020304" pitchFamily="18" charset="0"/>
              </a:rPr>
              <a:t>满足格的定义</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eaLnBrk="1" hangingPunct="1">
              <a:lnSpc>
                <a:spcPct val="120000"/>
              </a:lnSpc>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3:  </a:t>
            </a:r>
            <a:r>
              <a:rPr lang="zh-CN" altLang="en-US" sz="1200" b="1" dirty="0">
                <a:solidFill>
                  <a:schemeClr val="tx1"/>
                </a:solidFill>
                <a:latin typeface="Times New Roman" panose="02020603050405020304" pitchFamily="18" charset="0"/>
                <a:ea typeface="+mn-ea"/>
              </a:rPr>
              <a:t>根据偏序集</a:t>
            </a:r>
            <a:r>
              <a:rPr lang="zh-CN" altLang="en-US" sz="1200" b="1" dirty="0">
                <a:solidFill>
                  <a:srgbClr val="000000"/>
                </a:solidFill>
                <a:latin typeface="Times New Roman" panose="02020603050405020304" pitchFamily="18" charset="0"/>
                <a:ea typeface="+mn-ea"/>
              </a:rPr>
              <a:t>的哈斯图判断是否构成格</a:t>
            </a:r>
            <a:r>
              <a:rPr lang="en-US" altLang="zh-CN" sz="1200" b="1" dirty="0">
                <a:solidFill>
                  <a:srgbClr val="000000"/>
                </a:solidFill>
                <a:latin typeface="Times New Roman" panose="02020603050405020304" pitchFamily="18" charset="0"/>
                <a:ea typeface="+mn-ea"/>
                <a:sym typeface="Symbol" panose="05050102010706020507" pitchFamily="18" charset="2"/>
              </a:rPr>
              <a:t>.</a:t>
            </a:r>
          </a:p>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解</a:t>
            </a:r>
            <a:r>
              <a:rPr lang="en-US" altLang="zh-CN" sz="1200" b="1" dirty="0">
                <a:solidFill>
                  <a:srgbClr val="00B0F0"/>
                </a:solidFill>
                <a:latin typeface="Times New Roman" panose="02020603050405020304" pitchFamily="18" charset="0"/>
                <a:ea typeface="+mn-ea"/>
                <a:sym typeface="Symbol" panose="05050102010706020507" pitchFamily="18" charset="2"/>
              </a:rPr>
              <a:t>:</a:t>
            </a:r>
            <a:r>
              <a:rPr lang="en-US" altLang="zh-CN" sz="1200" b="1" dirty="0">
                <a:solidFill>
                  <a:srgbClr val="000000"/>
                </a:solidFill>
                <a:latin typeface="Times New Roman" panose="02020603050405020304" pitchFamily="18" charset="0"/>
                <a:ea typeface="+mn-ea"/>
              </a:rPr>
              <a:t>(1)</a:t>
            </a:r>
            <a:r>
              <a:rPr lang="zh-CN" altLang="en-US" sz="1200" b="1" dirty="0">
                <a:solidFill>
                  <a:srgbClr val="000000"/>
                </a:solidFill>
                <a:latin typeface="Times New Roman" panose="02020603050405020304" pitchFamily="18" charset="0"/>
                <a:ea typeface="+mn-ea"/>
              </a:rPr>
              <a:t>图</a:t>
            </a:r>
            <a:r>
              <a:rPr lang="en-US" altLang="zh-CN" sz="1200" b="1" dirty="0">
                <a:solidFill>
                  <a:srgbClr val="000000"/>
                </a:solidFill>
                <a:latin typeface="Times New Roman" panose="02020603050405020304" pitchFamily="18" charset="0"/>
                <a:ea typeface="+mn-ea"/>
              </a:rPr>
              <a:t>(</a:t>
            </a:r>
            <a:r>
              <a:rPr lang="en-US" altLang="zh-CN" sz="1200" b="1" i="1" dirty="0">
                <a:solidFill>
                  <a:srgbClr val="000000"/>
                </a:solidFill>
                <a:latin typeface="Times New Roman" panose="02020603050405020304" pitchFamily="18" charset="0"/>
                <a:ea typeface="+mn-ea"/>
              </a:rPr>
              <a:t>a</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中</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f</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没有共同上界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当然无法确定最小上界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没有共同下界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无法确定最大下界</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故</a:t>
            </a:r>
            <a:r>
              <a:rPr lang="zh-CN" altLang="en-US" sz="1200" b="1" kern="100" dirty="0">
                <a:solidFill>
                  <a:srgbClr val="FF0000"/>
                </a:solidFill>
                <a:latin typeface="Times New Roman" panose="02020603050405020304" pitchFamily="18" charset="0"/>
                <a:ea typeface="+mn-ea"/>
                <a:cs typeface="Times New Roman" panose="02020603050405020304" pitchFamily="18" charset="0"/>
              </a:rPr>
              <a:t>不</a:t>
            </a:r>
            <a:r>
              <a:rPr lang="zh-CN" altLang="en-US" sz="1200" b="1" dirty="0">
                <a:solidFill>
                  <a:srgbClr val="FF0000"/>
                </a:solidFill>
                <a:latin typeface="Times New Roman" panose="02020603050405020304" pitchFamily="18" charset="0"/>
                <a:ea typeface="+mn-ea"/>
              </a:rPr>
              <a:t>构成格</a:t>
            </a:r>
            <a:r>
              <a:rPr lang="en-US" altLang="zh-CN" sz="1200" b="1" dirty="0">
                <a:solidFill>
                  <a:srgbClr val="000000"/>
                </a:solidFill>
                <a:latin typeface="Times New Roman" panose="02020603050405020304" pitchFamily="18" charset="0"/>
                <a:ea typeface="+mn-ea"/>
              </a:rPr>
              <a:t>.</a:t>
            </a:r>
          </a:p>
          <a:p>
            <a:pPr marL="0" marR="0" lvl="0" indent="0" algn="l" defTabSz="914400" rtl="0" eaLnBrk="1" fontAlgn="auto" latinLnBrk="0" hangingPunct="1">
              <a:lnSpc>
                <a:spcPct val="120000"/>
              </a:lnSpc>
              <a:spcBef>
                <a:spcPts val="0"/>
              </a:spcBef>
              <a:spcAft>
                <a:spcPts val="0"/>
              </a:spcAft>
              <a:buClrTx/>
              <a:buSzTx/>
              <a:buFontTx/>
              <a:buNone/>
              <a:tabLst/>
              <a:defRPr/>
            </a:pPr>
            <a:r>
              <a:rPr lang="en-US" altLang="zh-CN" sz="1200" b="1" dirty="0">
                <a:solidFill>
                  <a:srgbClr val="000000"/>
                </a:solidFill>
                <a:latin typeface="Times New Roman" panose="02020603050405020304" pitchFamily="18" charset="0"/>
                <a:ea typeface="+mn-ea"/>
              </a:rPr>
              <a:t>(2)</a:t>
            </a:r>
            <a:r>
              <a:rPr lang="zh-CN" altLang="en-US" sz="1200" b="1" dirty="0">
                <a:solidFill>
                  <a:srgbClr val="000000"/>
                </a:solidFill>
                <a:latin typeface="Times New Roman" panose="02020603050405020304" pitchFamily="18" charset="0"/>
                <a:ea typeface="+mn-ea"/>
              </a:rPr>
              <a:t>图</a:t>
            </a:r>
            <a:r>
              <a:rPr lang="en-US" altLang="zh-CN" sz="1200" b="1" dirty="0">
                <a:solidFill>
                  <a:srgbClr val="000000"/>
                </a:solidFill>
                <a:latin typeface="Times New Roman" panose="02020603050405020304" pitchFamily="18" charset="0"/>
                <a:ea typeface="+mn-ea"/>
              </a:rPr>
              <a:t>(</a:t>
            </a:r>
            <a:r>
              <a:rPr lang="en-US" altLang="zh-CN" sz="1200" b="1" i="1" dirty="0">
                <a:solidFill>
                  <a:srgbClr val="000000"/>
                </a:solidFill>
                <a:latin typeface="Times New Roman" panose="02020603050405020304" pitchFamily="18" charset="0"/>
                <a:ea typeface="+mn-ea"/>
              </a:rPr>
              <a:t>b</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中</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都没有上界</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之间也没有直接的关系</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zh-CN" altLang="en-US" sz="1200" b="1" dirty="0">
                <a:solidFill>
                  <a:srgbClr val="000000"/>
                </a:solidFill>
                <a:latin typeface="Times New Roman" panose="02020603050405020304" pitchFamily="18" charset="0"/>
                <a:ea typeface="+mn-ea"/>
                <a:cs typeface="Times New Roman" panose="02020603050405020304" pitchFamily="18" charset="0"/>
              </a:rPr>
              <a:t>因此不能找到比</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都大的最小</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公共</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上界</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的公共下界是</a:t>
            </a:r>
            <a:r>
              <a:rPr lang="en-US" altLang="zh-CN" sz="1200" b="1" i="1" dirty="0" err="1">
                <a:solidFill>
                  <a:srgbClr val="000000"/>
                </a:solidFill>
                <a:latin typeface="Times New Roman" panose="02020603050405020304" pitchFamily="18" charset="0"/>
                <a:ea typeface="+mn-ea"/>
                <a:cs typeface="Times New Roman" panose="02020603050405020304" pitchFamily="18" charset="0"/>
              </a:rPr>
              <a:t>b</a:t>
            </a:r>
            <a:r>
              <a:rPr lang="en-US" altLang="zh-CN" sz="1200" b="1" dirty="0" err="1">
                <a:solidFill>
                  <a:srgbClr val="000000"/>
                </a:solidFill>
                <a:latin typeface="Times New Roman" panose="02020603050405020304" pitchFamily="18" charset="0"/>
                <a:ea typeface="+mn-ea"/>
                <a:cs typeface="Times New Roman" panose="02020603050405020304" pitchFamily="18" charset="0"/>
              </a:rPr>
              <a:t>,</a:t>
            </a:r>
            <a:r>
              <a:rPr lang="en-US" altLang="zh-CN" sz="1200" b="1" i="1" dirty="0" err="1">
                <a:solidFill>
                  <a:srgbClr val="000000"/>
                </a:solidFill>
                <a:latin typeface="Times New Roman" panose="02020603050405020304" pitchFamily="18" charset="0"/>
                <a:ea typeface="+mn-ea"/>
                <a:cs typeface="Times New Roman" panose="02020603050405020304" pitchFamily="18" charset="0"/>
              </a:rPr>
              <a:t>d</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a</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en-US" altLang="zh-CN" sz="1200" b="1" i="1" dirty="0">
                <a:solidFill>
                  <a:srgbClr val="000000"/>
                </a:solidFill>
                <a:latin typeface="Times New Roman" panose="02020603050405020304" pitchFamily="18" charset="0"/>
                <a:ea typeface="+mn-ea"/>
                <a:cs typeface="Times New Roman" panose="02020603050405020304" pitchFamily="18" charset="0"/>
              </a:rPr>
              <a:t>b</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d</a:t>
            </a:r>
            <a:r>
              <a:rPr lang="zh-CN" altLang="en-US" sz="1200" b="1" dirty="0">
                <a:solidFill>
                  <a:srgbClr val="000000"/>
                </a:solidFill>
                <a:latin typeface="Times New Roman" panose="02020603050405020304" pitchFamily="18" charset="0"/>
                <a:ea typeface="+mn-ea"/>
                <a:cs typeface="Times New Roman" panose="02020603050405020304" pitchFamily="18" charset="0"/>
              </a:rPr>
              <a:t>都比</a:t>
            </a:r>
            <a:r>
              <a:rPr lang="en-US" altLang="zh-CN" sz="1200" b="1" i="1" dirty="0">
                <a:solidFill>
                  <a:srgbClr val="000000"/>
                </a:solidFill>
                <a:latin typeface="Times New Roman" panose="02020603050405020304" pitchFamily="18" charset="0"/>
                <a:ea typeface="+mn-ea"/>
                <a:cs typeface="Times New Roman" panose="02020603050405020304" pitchFamily="18" charset="0"/>
              </a:rPr>
              <a:t>a</a:t>
            </a:r>
            <a:r>
              <a:rPr lang="zh-CN" altLang="en-US" sz="1200" b="1" dirty="0">
                <a:solidFill>
                  <a:srgbClr val="000000"/>
                </a:solidFill>
                <a:latin typeface="Times New Roman" panose="02020603050405020304" pitchFamily="18" charset="0"/>
                <a:ea typeface="+mn-ea"/>
                <a:cs typeface="Times New Roman" panose="02020603050405020304" pitchFamily="18" charset="0"/>
              </a:rPr>
              <a:t>大</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且</a:t>
            </a:r>
            <a:r>
              <a:rPr lang="en-US" altLang="zh-CN" sz="1200" b="1" i="1" dirty="0">
                <a:solidFill>
                  <a:srgbClr val="000000"/>
                </a:solidFill>
                <a:latin typeface="Times New Roman" panose="02020603050405020304" pitchFamily="18" charset="0"/>
                <a:ea typeface="+mn-ea"/>
                <a:cs typeface="Times New Roman" panose="02020603050405020304" pitchFamily="18" charset="0"/>
              </a:rPr>
              <a:t>b</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d</a:t>
            </a:r>
            <a:r>
              <a:rPr lang="zh-CN" altLang="en-US" sz="1200" b="1" dirty="0">
                <a:solidFill>
                  <a:srgbClr val="000000"/>
                </a:solidFill>
                <a:latin typeface="Times New Roman" panose="02020603050405020304" pitchFamily="18" charset="0"/>
                <a:ea typeface="+mn-ea"/>
                <a:cs typeface="Times New Roman" panose="02020603050405020304" pitchFamily="18" charset="0"/>
              </a:rPr>
              <a:t>之间没有直接的偏序关系</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不存在唯一的最大公共下界</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故</a:t>
            </a:r>
            <a:r>
              <a:rPr lang="zh-CN" altLang="en-US" sz="1200" b="1" kern="100" dirty="0">
                <a:solidFill>
                  <a:srgbClr val="FF0000"/>
                </a:solidFill>
                <a:latin typeface="Times New Roman" panose="02020603050405020304" pitchFamily="18" charset="0"/>
                <a:ea typeface="+mn-ea"/>
                <a:cs typeface="Times New Roman" panose="02020603050405020304" pitchFamily="18" charset="0"/>
              </a:rPr>
              <a:t>不</a:t>
            </a:r>
            <a:r>
              <a:rPr lang="zh-CN" altLang="en-US" sz="1200" b="1" dirty="0">
                <a:solidFill>
                  <a:srgbClr val="FF0000"/>
                </a:solidFill>
                <a:latin typeface="Times New Roman" panose="02020603050405020304" pitchFamily="18" charset="0"/>
                <a:ea typeface="+mn-ea"/>
              </a:rPr>
              <a:t>构成格</a:t>
            </a:r>
            <a:r>
              <a:rPr lang="en-US" altLang="zh-CN" sz="1200" b="1" dirty="0">
                <a:solidFill>
                  <a:srgbClr val="000000"/>
                </a:solidFill>
                <a:latin typeface="Times New Roman" panose="02020603050405020304" pitchFamily="18" charset="0"/>
                <a:ea typeface="+mn-ea"/>
              </a:rPr>
              <a:t>.</a:t>
            </a:r>
          </a:p>
          <a:p>
            <a:pPr marL="0" marR="0" lvl="0" indent="0" algn="l" defTabSz="914400" rtl="0" eaLnBrk="1" fontAlgn="auto" latinLnBrk="0" hangingPunct="1">
              <a:lnSpc>
                <a:spcPct val="120000"/>
              </a:lnSpc>
              <a:spcBef>
                <a:spcPts val="0"/>
              </a:spcBef>
              <a:spcAft>
                <a:spcPts val="0"/>
              </a:spcAft>
              <a:buClrTx/>
              <a:buSzTx/>
              <a:buFontTx/>
              <a:buNone/>
              <a:tabLst/>
              <a:defRPr/>
            </a:pPr>
            <a:r>
              <a:rPr lang="en-US" altLang="zh-CN" sz="1200" b="1" dirty="0">
                <a:solidFill>
                  <a:srgbClr val="000000"/>
                </a:solidFill>
                <a:latin typeface="Times New Roman" panose="02020603050405020304" pitchFamily="18" charset="0"/>
                <a:ea typeface="+mn-ea"/>
                <a:cs typeface="Times New Roman" panose="02020603050405020304" pitchFamily="18" charset="0"/>
              </a:rPr>
              <a:t>(3)</a:t>
            </a:r>
            <a:r>
              <a:rPr lang="zh-CN" altLang="en-US" sz="1200" b="1" dirty="0">
                <a:solidFill>
                  <a:srgbClr val="000000"/>
                </a:solidFill>
                <a:latin typeface="Times New Roman" panose="02020603050405020304" pitchFamily="18" charset="0"/>
                <a:ea typeface="+mn-ea"/>
              </a:rPr>
              <a:t>图</a:t>
            </a:r>
            <a:r>
              <a:rPr lang="en-US" altLang="zh-CN" sz="1200" b="1" dirty="0">
                <a:solidFill>
                  <a:srgbClr val="000000"/>
                </a:solidFill>
                <a:latin typeface="Times New Roman" panose="02020603050405020304" pitchFamily="18" charset="0"/>
                <a:ea typeface="+mn-ea"/>
              </a:rPr>
              <a:t>(</a:t>
            </a:r>
            <a:r>
              <a:rPr lang="en-US" altLang="zh-CN" sz="1200" b="1" i="1" dirty="0">
                <a:solidFill>
                  <a:srgbClr val="000000"/>
                </a:solidFill>
                <a:latin typeface="Times New Roman" panose="02020603050405020304" pitchFamily="18" charset="0"/>
                <a:ea typeface="+mn-ea"/>
              </a:rPr>
              <a:t>c</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rPr>
              <a:t>d</a:t>
            </a:r>
            <a:r>
              <a:rPr lang="zh-CN" altLang="en-US" sz="1200" b="1" dirty="0">
                <a:solidFill>
                  <a:srgbClr val="000000"/>
                </a:solidFill>
                <a:latin typeface="Times New Roman" panose="02020603050405020304" pitchFamily="18" charset="0"/>
                <a:ea typeface="+mn-ea"/>
              </a:rPr>
              <a:t>和</a:t>
            </a:r>
            <a:r>
              <a:rPr lang="en-US" altLang="zh-CN" sz="1200" b="1" i="1" dirty="0">
                <a:solidFill>
                  <a:srgbClr val="000000"/>
                </a:solidFill>
                <a:latin typeface="Times New Roman" panose="02020603050405020304" pitchFamily="18" charset="0"/>
                <a:ea typeface="+mn-ea"/>
              </a:rPr>
              <a:t>e</a:t>
            </a:r>
            <a:r>
              <a:rPr lang="zh-CN" altLang="en-US" sz="1200" b="1" dirty="0">
                <a:solidFill>
                  <a:srgbClr val="000000"/>
                </a:solidFill>
                <a:latin typeface="Times New Roman" panose="02020603050405020304" pitchFamily="18" charset="0"/>
                <a:ea typeface="+mn-ea"/>
              </a:rPr>
              <a:t>的共同下界为</a:t>
            </a:r>
            <a:r>
              <a:rPr lang="en-US" altLang="zh-CN" sz="1200" b="1" i="1" dirty="0" err="1">
                <a:solidFill>
                  <a:srgbClr val="000000"/>
                </a:solidFill>
                <a:latin typeface="Times New Roman" panose="02020603050405020304" pitchFamily="18" charset="0"/>
                <a:ea typeface="+mn-ea"/>
              </a:rPr>
              <a:t>a</a:t>
            </a:r>
            <a:r>
              <a:rPr lang="en-US" altLang="zh-CN" sz="1200" b="1" dirty="0" err="1">
                <a:solidFill>
                  <a:srgbClr val="000000"/>
                </a:solidFill>
                <a:latin typeface="Times New Roman" panose="02020603050405020304" pitchFamily="18" charset="0"/>
                <a:ea typeface="+mn-ea"/>
              </a:rPr>
              <a:t>,</a:t>
            </a:r>
            <a:r>
              <a:rPr lang="en-US" altLang="zh-CN" sz="1200" b="1" i="1" dirty="0" err="1">
                <a:solidFill>
                  <a:srgbClr val="000000"/>
                </a:solidFill>
                <a:latin typeface="Times New Roman" panose="02020603050405020304" pitchFamily="18" charset="0"/>
                <a:ea typeface="+mn-ea"/>
              </a:rPr>
              <a:t>b</a:t>
            </a:r>
            <a:r>
              <a:rPr lang="en-US" altLang="zh-CN" sz="1200" b="1" dirty="0" err="1">
                <a:solidFill>
                  <a:srgbClr val="000000"/>
                </a:solidFill>
                <a:latin typeface="Times New Roman" panose="02020603050405020304" pitchFamily="18" charset="0"/>
                <a:ea typeface="+mn-ea"/>
              </a:rPr>
              <a:t>,</a:t>
            </a:r>
            <a:r>
              <a:rPr lang="en-US" altLang="zh-CN" sz="1200" b="1" i="1" dirty="0" err="1">
                <a:solidFill>
                  <a:srgbClr val="000000"/>
                </a:solidFill>
                <a:latin typeface="Times New Roman" panose="02020603050405020304" pitchFamily="18" charset="0"/>
                <a:ea typeface="+mn-ea"/>
              </a:rPr>
              <a:t>c</a:t>
            </a:r>
            <a:r>
              <a:rPr lang="en-US" altLang="zh-CN" sz="1200" b="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rPr>
              <a:t>b</a:t>
            </a:r>
            <a:r>
              <a:rPr lang="zh-CN" altLang="en-US" sz="1200" b="1" dirty="0">
                <a:solidFill>
                  <a:srgbClr val="000000"/>
                </a:solidFill>
                <a:latin typeface="Times New Roman" panose="02020603050405020304" pitchFamily="18" charset="0"/>
                <a:ea typeface="+mn-ea"/>
              </a:rPr>
              <a:t>和</a:t>
            </a:r>
            <a:r>
              <a:rPr lang="en-US" altLang="zh-CN" sz="1200" b="1" i="1" dirty="0">
                <a:solidFill>
                  <a:srgbClr val="000000"/>
                </a:solidFill>
                <a:latin typeface="Times New Roman" panose="02020603050405020304" pitchFamily="18" charset="0"/>
                <a:ea typeface="+mn-ea"/>
              </a:rPr>
              <a:t>c</a:t>
            </a:r>
            <a:r>
              <a:rPr lang="zh-CN" altLang="en-US" sz="1200" b="1" dirty="0">
                <a:solidFill>
                  <a:srgbClr val="000000"/>
                </a:solidFill>
                <a:latin typeface="Times New Roman" panose="02020603050405020304" pitchFamily="18" charset="0"/>
                <a:ea typeface="+mn-ea"/>
              </a:rPr>
              <a:t>都比</a:t>
            </a:r>
            <a:r>
              <a:rPr lang="en-US" altLang="zh-CN" sz="1200" b="1" i="1" dirty="0">
                <a:solidFill>
                  <a:srgbClr val="000000"/>
                </a:solidFill>
                <a:latin typeface="Times New Roman" panose="02020603050405020304" pitchFamily="18" charset="0"/>
                <a:ea typeface="+mn-ea"/>
              </a:rPr>
              <a:t>a</a:t>
            </a:r>
            <a:r>
              <a:rPr lang="zh-CN" altLang="en-US" sz="1200" b="1" dirty="0">
                <a:solidFill>
                  <a:srgbClr val="000000"/>
                </a:solidFill>
                <a:latin typeface="Times New Roman" panose="02020603050405020304" pitchFamily="18" charset="0"/>
                <a:ea typeface="+mn-ea"/>
              </a:rPr>
              <a:t>大</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rPr>
              <a:t>b</a:t>
            </a:r>
            <a:r>
              <a:rPr lang="zh-CN" altLang="en-US" sz="1200" b="1" dirty="0">
                <a:solidFill>
                  <a:srgbClr val="000000"/>
                </a:solidFill>
                <a:latin typeface="Times New Roman" panose="02020603050405020304" pitchFamily="18" charset="0"/>
                <a:ea typeface="+mn-ea"/>
              </a:rPr>
              <a:t>和</a:t>
            </a:r>
            <a:r>
              <a:rPr lang="en-US" altLang="zh-CN" sz="1200" b="1" i="1" dirty="0">
                <a:solidFill>
                  <a:srgbClr val="000000"/>
                </a:solidFill>
                <a:latin typeface="Times New Roman" panose="02020603050405020304" pitchFamily="18" charset="0"/>
                <a:ea typeface="+mn-ea"/>
              </a:rPr>
              <a:t>c</a:t>
            </a:r>
            <a:r>
              <a:rPr lang="zh-CN" altLang="en-US" sz="1200" b="1" dirty="0">
                <a:solidFill>
                  <a:srgbClr val="000000"/>
                </a:solidFill>
                <a:latin typeface="Times New Roman" panose="02020603050405020304" pitchFamily="18" charset="0"/>
                <a:ea typeface="+mn-ea"/>
              </a:rPr>
              <a:t>之间也没有偏序关系</a:t>
            </a:r>
            <a:r>
              <a:rPr lang="en-US" altLang="zh-CN" sz="1200" b="1" dirty="0">
                <a:solidFill>
                  <a:srgbClr val="000000"/>
                </a:solidFill>
                <a:latin typeface="Times New Roman" panose="02020603050405020304" pitchFamily="18" charset="0"/>
                <a:ea typeface="+mn-ea"/>
              </a:rPr>
              <a:t>, </a:t>
            </a:r>
            <a:r>
              <a:rPr lang="zh-CN" altLang="en-US" sz="1200" b="1" dirty="0">
                <a:solidFill>
                  <a:srgbClr val="000000"/>
                </a:solidFill>
                <a:latin typeface="Times New Roman" panose="02020603050405020304" pitchFamily="18" charset="0"/>
                <a:ea typeface="+mn-ea"/>
              </a:rPr>
              <a:t>因而无法确定唯一的最大下界</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故</a:t>
            </a:r>
            <a:r>
              <a:rPr lang="zh-CN" altLang="en-US" sz="1200" b="1" kern="100" dirty="0">
                <a:solidFill>
                  <a:srgbClr val="FF0000"/>
                </a:solidFill>
                <a:latin typeface="Times New Roman" panose="02020603050405020304" pitchFamily="18" charset="0"/>
                <a:ea typeface="+mn-ea"/>
                <a:cs typeface="Times New Roman" panose="02020603050405020304" pitchFamily="18" charset="0"/>
              </a:rPr>
              <a:t>不</a:t>
            </a:r>
            <a:r>
              <a:rPr lang="zh-CN" altLang="en-US" sz="1200" b="1" dirty="0">
                <a:solidFill>
                  <a:srgbClr val="FF0000"/>
                </a:solidFill>
                <a:latin typeface="Times New Roman" panose="02020603050405020304" pitchFamily="18" charset="0"/>
                <a:ea typeface="+mn-ea"/>
              </a:rPr>
              <a:t>构成格</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pPr eaLnBrk="1" hangingPunct="1">
              <a:lnSpc>
                <a:spcPct val="120000"/>
              </a:lnSpc>
            </a:pPr>
            <a:endParaRPr lang="zh-CN" altLang="zh-CN" sz="1200" b="1" kern="100" dirty="0">
              <a:solidFill>
                <a:schemeClr val="tx1"/>
              </a:solidFill>
              <a:effectLst/>
              <a:latin typeface="Times New Roman" panose="02020603050405020304" pitchFamily="18" charset="0"/>
              <a:ea typeface="+mn-ea"/>
              <a:cs typeface="Times New Roman" panose="02020603050405020304" pitchFamily="18" charset="0"/>
            </a:endParaRPr>
          </a:p>
          <a:p>
            <a:pPr>
              <a:lnSpc>
                <a:spcPct val="120000"/>
              </a:lnSpc>
            </a:pP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a:extLst>
              <a:ext uri="{FF2B5EF4-FFF2-40B4-BE49-F238E27FC236}">
                <a16:creationId xmlns:a16="http://schemas.microsoft.com/office/drawing/2014/main" id="{782B0689-FF64-83A2-3DD4-3F5F6573AF31}"/>
              </a:ext>
            </a:extLst>
          </p:cNvPr>
          <p:cNvSpPr>
            <a:spLocks noGrp="1"/>
          </p:cNvSpPr>
          <p:nvPr>
            <p:ph type="sldNum" sz="quarter" idx="10"/>
          </p:nvPr>
        </p:nvSpPr>
        <p:spPr/>
        <p:txBody>
          <a:bodyPr/>
          <a:lstStyle/>
          <a:p>
            <a:fld id="{CAFE74B6-F93C-4D90-BE1A-7EFEDB35C0D4}" type="slidenum">
              <a:rPr lang="zh-CN" altLang="en-US" smtClean="0"/>
              <a:t>131</a:t>
            </a:fld>
            <a:endParaRPr lang="zh-CN" altLang="en-US"/>
          </a:p>
        </p:txBody>
      </p:sp>
    </p:spTree>
    <p:extLst>
      <p:ext uri="{BB962C8B-B14F-4D97-AF65-F5344CB8AC3E}">
        <p14:creationId xmlns:p14="http://schemas.microsoft.com/office/powerpoint/2010/main" val="374441964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3C5B8-CBD1-7C6D-5CF6-EE2604F218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2209B7-9010-2285-10D8-1EAA49D647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146309-68FB-3E63-D1BB-DF22796DC157}"/>
              </a:ext>
            </a:extLst>
          </p:cNvPr>
          <p:cNvSpPr>
            <a:spLocks noGrp="1"/>
          </p:cNvSpPr>
          <p:nvPr>
            <p:ph type="body" idx="1"/>
          </p:nvPr>
        </p:nvSpPr>
        <p:spPr/>
        <p:txBody>
          <a:bodyPr/>
          <a:lstStyle/>
          <a:p>
            <a:pPr eaLnBrk="1" hangingPunct="1">
              <a:lnSpc>
                <a:spcPct val="120000"/>
              </a:lnSpc>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2:  </a:t>
            </a:r>
            <a:r>
              <a:rPr lang="zh-CN" altLang="en-US" sz="1200" b="1" dirty="0">
                <a:solidFill>
                  <a:srgbClr val="000000"/>
                </a:solidFill>
                <a:latin typeface="Times New Roman" panose="02020603050405020304" pitchFamily="18" charset="0"/>
                <a:ea typeface="+mn-ea"/>
              </a:rPr>
              <a:t>判断偏序集</a:t>
            </a:r>
            <a:r>
              <a:rPr lang="en-US" altLang="zh-CN" sz="1200" b="1" dirty="0">
                <a:solidFill>
                  <a:srgbClr val="000000"/>
                </a:solidFill>
                <a:latin typeface="Times New Roman" panose="02020603050405020304" pitchFamily="18" charset="0"/>
                <a:ea typeface="+mn-ea"/>
                <a:sym typeface="Symbol" panose="05050102010706020507" pitchFamily="18" charset="2"/>
              </a:rPr>
              <a:t>&lt;Z, ≤ &gt;</a:t>
            </a:r>
            <a:r>
              <a:rPr lang="zh-CN" altLang="en-US" sz="1200" b="1" dirty="0">
                <a:solidFill>
                  <a:srgbClr val="000000"/>
                </a:solidFill>
                <a:latin typeface="Times New Roman" panose="02020603050405020304" pitchFamily="18" charset="0"/>
                <a:ea typeface="+mn-ea"/>
              </a:rPr>
              <a:t>是否构成格</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sym typeface="Symbol" panose="05050102010706020507" pitchFamily="18" charset="2"/>
              </a:rPr>
              <a:t>其中</a:t>
            </a:r>
            <a:r>
              <a:rPr lang="en-US" altLang="zh-CN" sz="1200" b="1" dirty="0">
                <a:solidFill>
                  <a:srgbClr val="000000"/>
                </a:solidFill>
                <a:latin typeface="Times New Roman" panose="02020603050405020304" pitchFamily="18" charset="0"/>
                <a:ea typeface="+mn-ea"/>
                <a:sym typeface="Symbol" panose="05050102010706020507" pitchFamily="18" charset="2"/>
              </a:rPr>
              <a:t>Z</a:t>
            </a:r>
            <a:r>
              <a:rPr lang="zh-CN" altLang="en-US" sz="1200" b="1" dirty="0">
                <a:solidFill>
                  <a:srgbClr val="000000"/>
                </a:solidFill>
                <a:latin typeface="Times New Roman" panose="02020603050405020304" pitchFamily="18" charset="0"/>
                <a:ea typeface="+mn-ea"/>
                <a:sym typeface="Symbol" panose="05050102010706020507" pitchFamily="18" charset="2"/>
              </a:rPr>
              <a:t>是整数集</a:t>
            </a:r>
            <a:r>
              <a:rPr lang="en-US" altLang="zh-CN" sz="1200" b="1" dirty="0">
                <a:solidFill>
                  <a:srgbClr val="000000"/>
                </a:solidFill>
                <a:latin typeface="Times New Roman" panose="02020603050405020304" pitchFamily="18" charset="0"/>
                <a:ea typeface="+mn-ea"/>
                <a:sym typeface="Symbol" panose="05050102010706020507" pitchFamily="18" charset="2"/>
              </a:rPr>
              <a:t>, </a:t>
            </a:r>
            <a:r>
              <a:rPr lang="zh-CN" altLang="en-US" sz="1200" b="1" dirty="0">
                <a:solidFill>
                  <a:srgbClr val="000000"/>
                </a:solidFill>
                <a:latin typeface="Times New Roman" panose="02020603050405020304" pitchFamily="18" charset="0"/>
                <a:ea typeface="+mn-ea"/>
                <a:sym typeface="Symbol" panose="05050102010706020507" pitchFamily="18" charset="2"/>
              </a:rPr>
              <a:t>≤为小于或等于关系</a:t>
            </a:r>
            <a:r>
              <a:rPr lang="en-US" altLang="zh-CN" sz="1200" b="1" dirty="0">
                <a:solidFill>
                  <a:srgbClr val="000000"/>
                </a:solidFill>
                <a:latin typeface="Times New Roman" panose="02020603050405020304" pitchFamily="18" charset="0"/>
                <a:ea typeface="+mn-ea"/>
                <a:sym typeface="Symbol" panose="05050102010706020507" pitchFamily="18" charset="2"/>
              </a:rPr>
              <a:t>.</a:t>
            </a:r>
          </a:p>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解</a:t>
            </a:r>
            <a:r>
              <a:rPr lang="en-US" altLang="zh-CN" sz="1200" b="1" dirty="0">
                <a:solidFill>
                  <a:srgbClr val="00B0F0"/>
                </a:solidFill>
                <a:latin typeface="Times New Roman" panose="02020603050405020304" pitchFamily="18" charset="0"/>
                <a:ea typeface="+mn-ea"/>
                <a:sym typeface="Symbol" panose="05050102010706020507" pitchFamily="18" charset="2"/>
              </a:rPr>
              <a:t>:</a:t>
            </a:r>
            <a:r>
              <a:rPr lang="en-US" altLang="zh-CN" sz="1200" b="1" dirty="0">
                <a:solidFill>
                  <a:srgbClr val="000000"/>
                </a:solidFill>
                <a:latin typeface="Times New Roman" panose="02020603050405020304" pitchFamily="18" charset="0"/>
                <a:ea typeface="+mn-ea"/>
              </a:rPr>
              <a:t>(1)</a:t>
            </a:r>
            <a:r>
              <a:rPr lang="zh-CN" altLang="zh-CN" sz="1200" b="1" dirty="0">
                <a:solidFill>
                  <a:schemeClr val="tx1"/>
                </a:solidFill>
                <a:latin typeface="Times New Roman" panose="02020603050405020304" pitchFamily="18" charset="0"/>
                <a:ea typeface="+mn-ea"/>
                <a:cs typeface="Times New Roman" panose="02020603050405020304" pitchFamily="18" charset="0"/>
              </a:rPr>
              <a:t>对于</a:t>
            </a:r>
            <a:r>
              <a:rPr lang="en-US" altLang="zh-CN" sz="1200" b="1" dirty="0">
                <a:solidFill>
                  <a:srgbClr val="000000"/>
                </a:solidFill>
                <a:latin typeface="Times New Roman" panose="02020603050405020304" pitchFamily="18" charset="0"/>
                <a:ea typeface="+mn-ea"/>
                <a:sym typeface="Symbol" panose="05050102010706020507" pitchFamily="18" charset="2"/>
              </a:rPr>
              <a:t>Z</a:t>
            </a:r>
            <a:r>
              <a:rPr lang="zh-CN" altLang="en-US" sz="1200" b="1" dirty="0">
                <a:solidFill>
                  <a:srgbClr val="000000"/>
                </a:solidFill>
                <a:latin typeface="Times New Roman" panose="02020603050405020304" pitchFamily="18" charset="0"/>
                <a:ea typeface="+mn-ea"/>
                <a:sym typeface="Symbol" panose="05050102010706020507" pitchFamily="18" charset="2"/>
              </a:rPr>
              <a:t>中</a:t>
            </a:r>
            <a:r>
              <a:rPr lang="zh-CN" altLang="zh-CN" sz="1200" b="1" dirty="0">
                <a:solidFill>
                  <a:schemeClr val="tx1"/>
                </a:solidFill>
                <a:latin typeface="Times New Roman" panose="02020603050405020304" pitchFamily="18" charset="0"/>
                <a:ea typeface="+mn-ea"/>
                <a:cs typeface="Times New Roman" panose="02020603050405020304" pitchFamily="18" charset="0"/>
              </a:rPr>
              <a:t>任意两个</a:t>
            </a:r>
            <a:r>
              <a:rPr lang="zh-CN" altLang="en-US" sz="1200" b="1" dirty="0">
                <a:solidFill>
                  <a:schemeClr val="tx1"/>
                </a:solidFill>
                <a:latin typeface="Times New Roman" panose="02020603050405020304" pitchFamily="18" charset="0"/>
                <a:ea typeface="+mn-ea"/>
                <a:cs typeface="Times New Roman" panose="02020603050405020304" pitchFamily="18" charset="0"/>
              </a:rPr>
              <a:t>元素</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a</a:t>
            </a:r>
            <a:r>
              <a:rPr lang="zh-CN" altLang="en-US" sz="1200" b="1" i="0" dirty="0">
                <a:solidFill>
                  <a:srgbClr val="0D0D0D"/>
                </a:solidFill>
                <a:effectLst/>
                <a:latin typeface="Times New Roman" panose="02020603050405020304" pitchFamily="18" charset="0"/>
                <a:ea typeface="+mn-ea"/>
                <a:cs typeface="Times New Roman" panose="02020603050405020304" pitchFamily="18" charset="0"/>
              </a:rPr>
              <a:t>和</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b</a:t>
            </a:r>
            <a:r>
              <a:rPr lang="en-US" altLang="zh-CN" sz="1200" b="1" i="0" dirty="0">
                <a:solidFill>
                  <a:srgbClr val="0D0D0D"/>
                </a:solidFill>
                <a:effectLst/>
                <a:latin typeface="Times New Roman" panose="02020603050405020304" pitchFamily="18" charset="0"/>
                <a:ea typeface="+mn-ea"/>
                <a:cs typeface="Times New Roman" panose="02020603050405020304" pitchFamily="18" charset="0"/>
              </a:rPr>
              <a:t>,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最小上界是它们中的较大者</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=max(</a:t>
            </a:r>
            <a:r>
              <a:rPr lang="en-US" altLang="zh-CN" sz="1200" b="1" i="1" kern="100" dirty="0" err="1">
                <a:solidFill>
                  <a:schemeClr val="tx1"/>
                </a:solidFill>
                <a:effectLst/>
                <a:latin typeface="Times New Roman" panose="02020603050405020304" pitchFamily="18" charset="0"/>
                <a:ea typeface="+mn-ea"/>
                <a:cs typeface="Times New Roman" panose="02020603050405020304" pitchFamily="18" charset="0"/>
              </a:rPr>
              <a:t>a</a:t>
            </a:r>
            <a:r>
              <a:rPr lang="en-US" altLang="zh-CN" sz="1200" b="1" kern="100" dirty="0" err="1">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err="1">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p>
          <a:p>
            <a:pPr eaLnBrk="1" hangingPunct="1">
              <a:lnSpc>
                <a:spcPct val="120000"/>
              </a:lnSpc>
            </a:pPr>
            <a:r>
              <a:rPr lang="en-US" altLang="zh-CN" sz="1200" b="1" dirty="0">
                <a:solidFill>
                  <a:srgbClr val="000000"/>
                </a:solidFill>
                <a:latin typeface="Times New Roman" panose="02020603050405020304" pitchFamily="18" charset="0"/>
                <a:ea typeface="+mn-ea"/>
              </a:rPr>
              <a:t>(2)</a:t>
            </a:r>
            <a:r>
              <a:rPr lang="zh-CN" altLang="zh-CN" sz="1200" b="1" dirty="0">
                <a:solidFill>
                  <a:schemeClr val="tx1"/>
                </a:solidFill>
                <a:latin typeface="Times New Roman" panose="02020603050405020304" pitchFamily="18" charset="0"/>
                <a:ea typeface="+mn-ea"/>
                <a:cs typeface="Times New Roman" panose="02020603050405020304" pitchFamily="18" charset="0"/>
              </a:rPr>
              <a:t>对于</a:t>
            </a:r>
            <a:r>
              <a:rPr lang="en-US" altLang="zh-CN" sz="1200" b="1" dirty="0">
                <a:solidFill>
                  <a:srgbClr val="000000"/>
                </a:solidFill>
                <a:latin typeface="Times New Roman" panose="02020603050405020304" pitchFamily="18" charset="0"/>
                <a:ea typeface="+mn-ea"/>
                <a:sym typeface="Symbol" panose="05050102010706020507" pitchFamily="18" charset="2"/>
              </a:rPr>
              <a:t>Z</a:t>
            </a:r>
            <a:r>
              <a:rPr lang="zh-CN" altLang="en-US" sz="1200" b="1" dirty="0">
                <a:solidFill>
                  <a:srgbClr val="000000"/>
                </a:solidFill>
                <a:latin typeface="Times New Roman" panose="02020603050405020304" pitchFamily="18" charset="0"/>
                <a:ea typeface="+mn-ea"/>
                <a:sym typeface="Symbol" panose="05050102010706020507" pitchFamily="18" charset="2"/>
              </a:rPr>
              <a:t>中</a:t>
            </a:r>
            <a:r>
              <a:rPr lang="zh-CN" altLang="zh-CN" sz="1200" b="1" dirty="0">
                <a:solidFill>
                  <a:schemeClr val="tx1"/>
                </a:solidFill>
                <a:latin typeface="Times New Roman" panose="02020603050405020304" pitchFamily="18" charset="0"/>
                <a:ea typeface="+mn-ea"/>
                <a:cs typeface="Times New Roman" panose="02020603050405020304" pitchFamily="18" charset="0"/>
              </a:rPr>
              <a:t>任意两个</a:t>
            </a:r>
            <a:r>
              <a:rPr lang="zh-CN" altLang="en-US" sz="1200" b="1" dirty="0">
                <a:solidFill>
                  <a:schemeClr val="tx1"/>
                </a:solidFill>
                <a:latin typeface="Times New Roman" panose="02020603050405020304" pitchFamily="18" charset="0"/>
                <a:ea typeface="+mn-ea"/>
                <a:cs typeface="Times New Roman" panose="02020603050405020304" pitchFamily="18" charset="0"/>
              </a:rPr>
              <a:t>元素</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a</a:t>
            </a:r>
            <a:r>
              <a:rPr lang="zh-CN" altLang="en-US" sz="1200" b="1" i="0" dirty="0">
                <a:solidFill>
                  <a:srgbClr val="0D0D0D"/>
                </a:solidFill>
                <a:effectLst/>
                <a:latin typeface="Times New Roman" panose="02020603050405020304" pitchFamily="18" charset="0"/>
                <a:ea typeface="+mn-ea"/>
                <a:cs typeface="Times New Roman" panose="02020603050405020304" pitchFamily="18" charset="0"/>
              </a:rPr>
              <a:t>和</a:t>
            </a:r>
            <a:r>
              <a:rPr lang="en-US" altLang="zh-CN" sz="1200" b="1" i="1" dirty="0">
                <a:solidFill>
                  <a:srgbClr val="0D0D0D"/>
                </a:solidFill>
                <a:effectLst/>
                <a:latin typeface="Times New Roman" panose="02020603050405020304" pitchFamily="18" charset="0"/>
                <a:ea typeface="+mn-ea"/>
                <a:cs typeface="Times New Roman" panose="02020603050405020304" pitchFamily="18" charset="0"/>
              </a:rPr>
              <a:t>b</a:t>
            </a:r>
            <a:r>
              <a:rPr lang="en-US" altLang="zh-CN" sz="1200" b="1" i="0" dirty="0">
                <a:solidFill>
                  <a:srgbClr val="0D0D0D"/>
                </a:solidFill>
                <a:effectLst/>
                <a:latin typeface="Times New Roman" panose="02020603050405020304" pitchFamily="18" charset="0"/>
                <a:ea typeface="+mn-ea"/>
                <a:cs typeface="Times New Roman" panose="02020603050405020304" pitchFamily="18" charset="0"/>
              </a:rPr>
              <a:t>, </a:t>
            </a:r>
            <a:r>
              <a:rPr lang="zh-CN" altLang="zh-CN" sz="1200" b="1" dirty="0">
                <a:solidFill>
                  <a:srgbClr val="000000"/>
                </a:solidFill>
                <a:effectLst/>
                <a:latin typeface="Times New Roman" panose="02020603050405020304" pitchFamily="18" charset="0"/>
                <a:ea typeface="+mn-ea"/>
                <a:cs typeface="Times New Roman" panose="02020603050405020304" pitchFamily="18" charset="0"/>
              </a:rPr>
              <a:t>最大下界是它们中的较小者</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effectLst/>
                <a:latin typeface="Times New Roman" panose="02020603050405020304" pitchFamily="18" charset="0"/>
                <a:cs typeface="Times New Roman" panose="02020603050405020304" pitchFamily="18" charset="0"/>
              </a:rPr>
              <a:t>b</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effectLst/>
                <a:latin typeface="Times New Roman" panose="02020603050405020304" pitchFamily="18" charset="0"/>
                <a:cs typeface="Times New Roman" panose="02020603050405020304" pitchFamily="18" charset="0"/>
              </a:rPr>
              <a:t>min</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effectLst/>
                <a:latin typeface="Times New Roman" panose="02020603050405020304" pitchFamily="18" charset="0"/>
                <a:ea typeface="+mn-ea"/>
                <a:cs typeface="Times New Roman" panose="02020603050405020304" pitchFamily="18" charset="0"/>
              </a:rPr>
              <a:t>a,b</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20000"/>
              </a:lnSpc>
            </a:pPr>
            <a:r>
              <a:rPr lang="en-US" altLang="zh-CN" sz="1200" b="1" dirty="0">
                <a:solidFill>
                  <a:srgbClr val="000000"/>
                </a:solidFill>
                <a:latin typeface="Times New Roman" panose="02020603050405020304" pitchFamily="18" charset="0"/>
                <a:ea typeface="+mn-ea"/>
                <a:cs typeface="Times New Roman" panose="02020603050405020304" pitchFamily="18" charset="0"/>
              </a:rPr>
              <a:t>(3)</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上述条件对于所有整数对</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都成立</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因此</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⟨Z,≤⟩</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rgbClr val="FF0000"/>
                </a:solidFill>
                <a:effectLst/>
                <a:latin typeface="Times New Roman" panose="02020603050405020304" pitchFamily="18" charset="0"/>
                <a:ea typeface="+mn-ea"/>
                <a:cs typeface="Times New Roman" panose="02020603050405020304" pitchFamily="18" charset="0"/>
              </a:rPr>
              <a:t>满足格的定义</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eaLnBrk="1" hangingPunct="1">
              <a:lnSpc>
                <a:spcPct val="120000"/>
              </a:lnSpc>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3:  </a:t>
            </a:r>
            <a:r>
              <a:rPr lang="zh-CN" altLang="en-US" sz="1200" b="1" dirty="0">
                <a:solidFill>
                  <a:schemeClr val="tx1"/>
                </a:solidFill>
                <a:latin typeface="Times New Roman" panose="02020603050405020304" pitchFamily="18" charset="0"/>
                <a:ea typeface="+mn-ea"/>
              </a:rPr>
              <a:t>根据偏序集</a:t>
            </a:r>
            <a:r>
              <a:rPr lang="zh-CN" altLang="en-US" sz="1200" b="1" dirty="0">
                <a:solidFill>
                  <a:srgbClr val="000000"/>
                </a:solidFill>
                <a:latin typeface="Times New Roman" panose="02020603050405020304" pitchFamily="18" charset="0"/>
                <a:ea typeface="+mn-ea"/>
              </a:rPr>
              <a:t>的哈斯图判断是否构成格</a:t>
            </a:r>
            <a:r>
              <a:rPr lang="en-US" altLang="zh-CN" sz="1200" b="1" dirty="0">
                <a:solidFill>
                  <a:srgbClr val="000000"/>
                </a:solidFill>
                <a:latin typeface="Times New Roman" panose="02020603050405020304" pitchFamily="18" charset="0"/>
                <a:ea typeface="+mn-ea"/>
                <a:sym typeface="Symbol" panose="05050102010706020507" pitchFamily="18" charset="2"/>
              </a:rPr>
              <a:t>.</a:t>
            </a:r>
          </a:p>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解</a:t>
            </a:r>
            <a:r>
              <a:rPr lang="en-US" altLang="zh-CN" sz="1200" b="1" dirty="0">
                <a:solidFill>
                  <a:srgbClr val="00B0F0"/>
                </a:solidFill>
                <a:latin typeface="Times New Roman" panose="02020603050405020304" pitchFamily="18" charset="0"/>
                <a:ea typeface="+mn-ea"/>
                <a:sym typeface="Symbol" panose="05050102010706020507" pitchFamily="18" charset="2"/>
              </a:rPr>
              <a:t>:</a:t>
            </a:r>
            <a:r>
              <a:rPr lang="en-US" altLang="zh-CN" sz="1200" b="1" dirty="0">
                <a:solidFill>
                  <a:srgbClr val="000000"/>
                </a:solidFill>
                <a:latin typeface="Times New Roman" panose="02020603050405020304" pitchFamily="18" charset="0"/>
                <a:ea typeface="+mn-ea"/>
              </a:rPr>
              <a:t>(1)</a:t>
            </a:r>
            <a:r>
              <a:rPr lang="zh-CN" altLang="en-US" sz="1200" b="1" dirty="0">
                <a:solidFill>
                  <a:srgbClr val="000000"/>
                </a:solidFill>
                <a:latin typeface="Times New Roman" panose="02020603050405020304" pitchFamily="18" charset="0"/>
                <a:ea typeface="+mn-ea"/>
              </a:rPr>
              <a:t>图</a:t>
            </a:r>
            <a:r>
              <a:rPr lang="en-US" altLang="zh-CN" sz="1200" b="1" dirty="0">
                <a:solidFill>
                  <a:srgbClr val="000000"/>
                </a:solidFill>
                <a:latin typeface="Times New Roman" panose="02020603050405020304" pitchFamily="18" charset="0"/>
                <a:ea typeface="+mn-ea"/>
              </a:rPr>
              <a:t>(</a:t>
            </a:r>
            <a:r>
              <a:rPr lang="en-US" altLang="zh-CN" sz="1200" b="1" i="1" dirty="0">
                <a:solidFill>
                  <a:srgbClr val="000000"/>
                </a:solidFill>
                <a:latin typeface="Times New Roman" panose="02020603050405020304" pitchFamily="18" charset="0"/>
                <a:ea typeface="+mn-ea"/>
              </a:rPr>
              <a:t>a</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中</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f</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没有共同上界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当然无法确定最小上界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没有共同下界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无法确定最大下界</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故</a:t>
            </a:r>
            <a:r>
              <a:rPr lang="zh-CN" altLang="en-US" sz="1200" b="1" kern="100" dirty="0">
                <a:solidFill>
                  <a:srgbClr val="FF0000"/>
                </a:solidFill>
                <a:latin typeface="Times New Roman" panose="02020603050405020304" pitchFamily="18" charset="0"/>
                <a:ea typeface="+mn-ea"/>
                <a:cs typeface="Times New Roman" panose="02020603050405020304" pitchFamily="18" charset="0"/>
              </a:rPr>
              <a:t>不</a:t>
            </a:r>
            <a:r>
              <a:rPr lang="zh-CN" altLang="en-US" sz="1200" b="1" dirty="0">
                <a:solidFill>
                  <a:srgbClr val="FF0000"/>
                </a:solidFill>
                <a:latin typeface="Times New Roman" panose="02020603050405020304" pitchFamily="18" charset="0"/>
                <a:ea typeface="+mn-ea"/>
              </a:rPr>
              <a:t>构成格</a:t>
            </a:r>
            <a:r>
              <a:rPr lang="en-US" altLang="zh-CN" sz="1200" b="1" dirty="0">
                <a:solidFill>
                  <a:srgbClr val="000000"/>
                </a:solidFill>
                <a:latin typeface="Times New Roman" panose="02020603050405020304" pitchFamily="18" charset="0"/>
                <a:ea typeface="+mn-ea"/>
              </a:rPr>
              <a:t>.</a:t>
            </a:r>
          </a:p>
          <a:p>
            <a:pPr marL="0" marR="0" lvl="0" indent="0" algn="l" defTabSz="914400" rtl="0" eaLnBrk="1" fontAlgn="auto" latinLnBrk="0" hangingPunct="1">
              <a:lnSpc>
                <a:spcPct val="120000"/>
              </a:lnSpc>
              <a:spcBef>
                <a:spcPts val="0"/>
              </a:spcBef>
              <a:spcAft>
                <a:spcPts val="0"/>
              </a:spcAft>
              <a:buClrTx/>
              <a:buSzTx/>
              <a:buFontTx/>
              <a:buNone/>
              <a:tabLst/>
              <a:defRPr/>
            </a:pPr>
            <a:r>
              <a:rPr lang="en-US" altLang="zh-CN" sz="1200" b="1" dirty="0">
                <a:solidFill>
                  <a:srgbClr val="000000"/>
                </a:solidFill>
                <a:latin typeface="Times New Roman" panose="02020603050405020304" pitchFamily="18" charset="0"/>
                <a:ea typeface="+mn-ea"/>
              </a:rPr>
              <a:t>(2)</a:t>
            </a:r>
            <a:r>
              <a:rPr lang="zh-CN" altLang="en-US" sz="1200" b="1" dirty="0">
                <a:solidFill>
                  <a:srgbClr val="000000"/>
                </a:solidFill>
                <a:latin typeface="Times New Roman" panose="02020603050405020304" pitchFamily="18" charset="0"/>
                <a:ea typeface="+mn-ea"/>
              </a:rPr>
              <a:t>图</a:t>
            </a:r>
            <a:r>
              <a:rPr lang="en-US" altLang="zh-CN" sz="1200" b="1" dirty="0">
                <a:solidFill>
                  <a:srgbClr val="000000"/>
                </a:solidFill>
                <a:latin typeface="Times New Roman" panose="02020603050405020304" pitchFamily="18" charset="0"/>
                <a:ea typeface="+mn-ea"/>
              </a:rPr>
              <a:t>(</a:t>
            </a:r>
            <a:r>
              <a:rPr lang="en-US" altLang="zh-CN" sz="1200" b="1" i="1" dirty="0">
                <a:solidFill>
                  <a:srgbClr val="000000"/>
                </a:solidFill>
                <a:latin typeface="Times New Roman" panose="02020603050405020304" pitchFamily="18" charset="0"/>
                <a:ea typeface="+mn-ea"/>
              </a:rPr>
              <a:t>b</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中</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都没有上界</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之间也没有直接的关系</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zh-CN" altLang="en-US" sz="1200" b="1" dirty="0">
                <a:solidFill>
                  <a:srgbClr val="000000"/>
                </a:solidFill>
                <a:latin typeface="Times New Roman" panose="02020603050405020304" pitchFamily="18" charset="0"/>
                <a:ea typeface="+mn-ea"/>
                <a:cs typeface="Times New Roman" panose="02020603050405020304" pitchFamily="18" charset="0"/>
              </a:rPr>
              <a:t>因此不能找到比</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都大的最小</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公共</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上界</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en-US" altLang="zh-CN" sz="1200" b="1" i="1" dirty="0">
                <a:solidFill>
                  <a:srgbClr val="000000"/>
                </a:solidFill>
                <a:latin typeface="Times New Roman" panose="02020603050405020304" pitchFamily="18" charset="0"/>
                <a:ea typeface="+mn-ea"/>
                <a:cs typeface="Times New Roman" panose="02020603050405020304" pitchFamily="18" charset="0"/>
              </a:rPr>
              <a:t>c</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e</a:t>
            </a:r>
            <a:r>
              <a:rPr lang="zh-CN" altLang="en-US" sz="1200" b="1" dirty="0">
                <a:solidFill>
                  <a:srgbClr val="000000"/>
                </a:solidFill>
                <a:latin typeface="Times New Roman" panose="02020603050405020304" pitchFamily="18" charset="0"/>
                <a:ea typeface="+mn-ea"/>
                <a:cs typeface="Times New Roman" panose="02020603050405020304" pitchFamily="18" charset="0"/>
              </a:rPr>
              <a:t>的公共下界是</a:t>
            </a:r>
            <a:r>
              <a:rPr lang="en-US" altLang="zh-CN" sz="1200" b="1" i="1" dirty="0" err="1">
                <a:solidFill>
                  <a:srgbClr val="000000"/>
                </a:solidFill>
                <a:latin typeface="Times New Roman" panose="02020603050405020304" pitchFamily="18" charset="0"/>
                <a:ea typeface="+mn-ea"/>
                <a:cs typeface="Times New Roman" panose="02020603050405020304" pitchFamily="18" charset="0"/>
              </a:rPr>
              <a:t>b</a:t>
            </a:r>
            <a:r>
              <a:rPr lang="en-US" altLang="zh-CN" sz="1200" b="1" dirty="0" err="1">
                <a:solidFill>
                  <a:srgbClr val="000000"/>
                </a:solidFill>
                <a:latin typeface="Times New Roman" panose="02020603050405020304" pitchFamily="18" charset="0"/>
                <a:ea typeface="+mn-ea"/>
                <a:cs typeface="Times New Roman" panose="02020603050405020304" pitchFamily="18" charset="0"/>
              </a:rPr>
              <a:t>,</a:t>
            </a:r>
            <a:r>
              <a:rPr lang="en-US" altLang="zh-CN" sz="1200" b="1" i="1" dirty="0" err="1">
                <a:solidFill>
                  <a:srgbClr val="000000"/>
                </a:solidFill>
                <a:latin typeface="Times New Roman" panose="02020603050405020304" pitchFamily="18" charset="0"/>
                <a:ea typeface="+mn-ea"/>
                <a:cs typeface="Times New Roman" panose="02020603050405020304" pitchFamily="18" charset="0"/>
              </a:rPr>
              <a:t>d</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a</a:t>
            </a:r>
            <a:r>
              <a:rPr lang="en-US" altLang="zh-CN" sz="1200" b="1" dirty="0">
                <a:solidFill>
                  <a:srgbClr val="000000"/>
                </a:solidFill>
                <a:latin typeface="Times New Roman" panose="02020603050405020304" pitchFamily="18" charset="0"/>
                <a:ea typeface="+mn-ea"/>
                <a:cs typeface="Times New Roman" panose="02020603050405020304" pitchFamily="18" charset="0"/>
              </a:rPr>
              <a:t>,  </a:t>
            </a:r>
            <a:r>
              <a:rPr lang="en-US" altLang="zh-CN" sz="1200" b="1" i="1" dirty="0">
                <a:solidFill>
                  <a:srgbClr val="000000"/>
                </a:solidFill>
                <a:latin typeface="Times New Roman" panose="02020603050405020304" pitchFamily="18" charset="0"/>
                <a:ea typeface="+mn-ea"/>
                <a:cs typeface="Times New Roman" panose="02020603050405020304" pitchFamily="18" charset="0"/>
              </a:rPr>
              <a:t>b</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d</a:t>
            </a:r>
            <a:r>
              <a:rPr lang="zh-CN" altLang="en-US" sz="1200" b="1" dirty="0">
                <a:solidFill>
                  <a:srgbClr val="000000"/>
                </a:solidFill>
                <a:latin typeface="Times New Roman" panose="02020603050405020304" pitchFamily="18" charset="0"/>
                <a:ea typeface="+mn-ea"/>
                <a:cs typeface="Times New Roman" panose="02020603050405020304" pitchFamily="18" charset="0"/>
              </a:rPr>
              <a:t>都比</a:t>
            </a:r>
            <a:r>
              <a:rPr lang="en-US" altLang="zh-CN" sz="1200" b="1" i="1" dirty="0">
                <a:solidFill>
                  <a:srgbClr val="000000"/>
                </a:solidFill>
                <a:latin typeface="Times New Roman" panose="02020603050405020304" pitchFamily="18" charset="0"/>
                <a:ea typeface="+mn-ea"/>
                <a:cs typeface="Times New Roman" panose="02020603050405020304" pitchFamily="18" charset="0"/>
              </a:rPr>
              <a:t>a</a:t>
            </a:r>
            <a:r>
              <a:rPr lang="zh-CN" altLang="en-US" sz="1200" b="1" dirty="0">
                <a:solidFill>
                  <a:srgbClr val="000000"/>
                </a:solidFill>
                <a:latin typeface="Times New Roman" panose="02020603050405020304" pitchFamily="18" charset="0"/>
                <a:ea typeface="+mn-ea"/>
                <a:cs typeface="Times New Roman" panose="02020603050405020304" pitchFamily="18" charset="0"/>
              </a:rPr>
              <a:t>大</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且</a:t>
            </a:r>
            <a:r>
              <a:rPr lang="en-US" altLang="zh-CN" sz="1200" b="1" i="1" dirty="0">
                <a:solidFill>
                  <a:srgbClr val="000000"/>
                </a:solidFill>
                <a:latin typeface="Times New Roman" panose="02020603050405020304" pitchFamily="18" charset="0"/>
                <a:ea typeface="+mn-ea"/>
                <a:cs typeface="Times New Roman" panose="02020603050405020304" pitchFamily="18" charset="0"/>
              </a:rPr>
              <a:t>b</a:t>
            </a:r>
            <a:r>
              <a:rPr lang="zh-CN" altLang="en-US" sz="1200" b="1" dirty="0">
                <a:solidFill>
                  <a:srgbClr val="000000"/>
                </a:solidFill>
                <a:latin typeface="Times New Roman" panose="02020603050405020304" pitchFamily="18" charset="0"/>
                <a:ea typeface="+mn-ea"/>
                <a:cs typeface="Times New Roman" panose="02020603050405020304" pitchFamily="18" charset="0"/>
              </a:rPr>
              <a:t>和</a:t>
            </a:r>
            <a:r>
              <a:rPr lang="en-US" altLang="zh-CN" sz="1200" b="1" i="1" dirty="0">
                <a:solidFill>
                  <a:srgbClr val="000000"/>
                </a:solidFill>
                <a:latin typeface="Times New Roman" panose="02020603050405020304" pitchFamily="18" charset="0"/>
                <a:ea typeface="+mn-ea"/>
                <a:cs typeface="Times New Roman" panose="02020603050405020304" pitchFamily="18" charset="0"/>
              </a:rPr>
              <a:t>d</a:t>
            </a:r>
            <a:r>
              <a:rPr lang="zh-CN" altLang="en-US" sz="1200" b="1" dirty="0">
                <a:solidFill>
                  <a:srgbClr val="000000"/>
                </a:solidFill>
                <a:latin typeface="Times New Roman" panose="02020603050405020304" pitchFamily="18" charset="0"/>
                <a:ea typeface="+mn-ea"/>
                <a:cs typeface="Times New Roman" panose="02020603050405020304" pitchFamily="18" charset="0"/>
              </a:rPr>
              <a:t>之间没有直接的偏序关系</a:t>
            </a:r>
            <a:r>
              <a:rPr lang="en-US" altLang="zh-CN" sz="1200" b="1" dirty="0">
                <a:solidFill>
                  <a:srgbClr val="000000"/>
                </a:solidFill>
                <a:latin typeface="Times New Roman" panose="02020603050405020304" pitchFamily="18" charset="0"/>
                <a:ea typeface="+mn-ea"/>
                <a:cs typeface="Times New Roman" panose="02020603050405020304" pitchFamily="18" charset="0"/>
              </a:rPr>
              <a:t>,</a:t>
            </a:r>
            <a:r>
              <a:rPr lang="zh-CN" altLang="en-US" sz="1200" b="1" dirty="0">
                <a:solidFill>
                  <a:srgbClr val="000000"/>
                </a:solidFill>
                <a:latin typeface="Times New Roman" panose="02020603050405020304" pitchFamily="18" charset="0"/>
                <a:ea typeface="+mn-ea"/>
                <a:cs typeface="Times New Roman" panose="02020603050405020304" pitchFamily="18" charset="0"/>
              </a:rPr>
              <a:t>不存在唯一的最大公共下界</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故</a:t>
            </a:r>
            <a:r>
              <a:rPr lang="zh-CN" altLang="en-US" sz="1200" b="1" kern="100" dirty="0">
                <a:solidFill>
                  <a:srgbClr val="FF0000"/>
                </a:solidFill>
                <a:latin typeface="Times New Roman" panose="02020603050405020304" pitchFamily="18" charset="0"/>
                <a:ea typeface="+mn-ea"/>
                <a:cs typeface="Times New Roman" panose="02020603050405020304" pitchFamily="18" charset="0"/>
              </a:rPr>
              <a:t>不</a:t>
            </a:r>
            <a:r>
              <a:rPr lang="zh-CN" altLang="en-US" sz="1200" b="1" dirty="0">
                <a:solidFill>
                  <a:srgbClr val="FF0000"/>
                </a:solidFill>
                <a:latin typeface="Times New Roman" panose="02020603050405020304" pitchFamily="18" charset="0"/>
                <a:ea typeface="+mn-ea"/>
              </a:rPr>
              <a:t>构成格</a:t>
            </a:r>
            <a:r>
              <a:rPr lang="en-US" altLang="zh-CN" sz="1200" b="1" dirty="0">
                <a:solidFill>
                  <a:srgbClr val="000000"/>
                </a:solidFill>
                <a:latin typeface="Times New Roman" panose="02020603050405020304" pitchFamily="18" charset="0"/>
                <a:ea typeface="+mn-ea"/>
              </a:rPr>
              <a:t>.</a:t>
            </a:r>
          </a:p>
          <a:p>
            <a:pPr marL="0" marR="0" lvl="0" indent="0" algn="l" defTabSz="914400" rtl="0" eaLnBrk="1" fontAlgn="auto" latinLnBrk="0" hangingPunct="1">
              <a:lnSpc>
                <a:spcPct val="120000"/>
              </a:lnSpc>
              <a:spcBef>
                <a:spcPts val="0"/>
              </a:spcBef>
              <a:spcAft>
                <a:spcPts val="0"/>
              </a:spcAft>
              <a:buClrTx/>
              <a:buSzTx/>
              <a:buFontTx/>
              <a:buNone/>
              <a:tabLst/>
              <a:defRPr/>
            </a:pPr>
            <a:r>
              <a:rPr lang="en-US" altLang="zh-CN" sz="1200" b="1" dirty="0">
                <a:solidFill>
                  <a:srgbClr val="000000"/>
                </a:solidFill>
                <a:latin typeface="Times New Roman" panose="02020603050405020304" pitchFamily="18" charset="0"/>
                <a:ea typeface="+mn-ea"/>
                <a:cs typeface="Times New Roman" panose="02020603050405020304" pitchFamily="18" charset="0"/>
              </a:rPr>
              <a:t>(3)</a:t>
            </a:r>
            <a:r>
              <a:rPr lang="zh-CN" altLang="en-US" sz="1200" b="1" dirty="0">
                <a:solidFill>
                  <a:srgbClr val="000000"/>
                </a:solidFill>
                <a:latin typeface="Times New Roman" panose="02020603050405020304" pitchFamily="18" charset="0"/>
                <a:ea typeface="+mn-ea"/>
              </a:rPr>
              <a:t>图</a:t>
            </a:r>
            <a:r>
              <a:rPr lang="en-US" altLang="zh-CN" sz="1200" b="1" dirty="0">
                <a:solidFill>
                  <a:srgbClr val="000000"/>
                </a:solidFill>
                <a:latin typeface="Times New Roman" panose="02020603050405020304" pitchFamily="18" charset="0"/>
                <a:ea typeface="+mn-ea"/>
              </a:rPr>
              <a:t>(</a:t>
            </a:r>
            <a:r>
              <a:rPr lang="en-US" altLang="zh-CN" sz="1200" b="1" i="1" dirty="0">
                <a:solidFill>
                  <a:srgbClr val="000000"/>
                </a:solidFill>
                <a:latin typeface="Times New Roman" panose="02020603050405020304" pitchFamily="18" charset="0"/>
                <a:ea typeface="+mn-ea"/>
              </a:rPr>
              <a:t>c</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rPr>
              <a:t>d</a:t>
            </a:r>
            <a:r>
              <a:rPr lang="zh-CN" altLang="en-US" sz="1200" b="1" dirty="0">
                <a:solidFill>
                  <a:srgbClr val="000000"/>
                </a:solidFill>
                <a:latin typeface="Times New Roman" panose="02020603050405020304" pitchFamily="18" charset="0"/>
                <a:ea typeface="+mn-ea"/>
              </a:rPr>
              <a:t>和</a:t>
            </a:r>
            <a:r>
              <a:rPr lang="en-US" altLang="zh-CN" sz="1200" b="1" i="1" dirty="0">
                <a:solidFill>
                  <a:srgbClr val="000000"/>
                </a:solidFill>
                <a:latin typeface="Times New Roman" panose="02020603050405020304" pitchFamily="18" charset="0"/>
                <a:ea typeface="+mn-ea"/>
              </a:rPr>
              <a:t>e</a:t>
            </a:r>
            <a:r>
              <a:rPr lang="zh-CN" altLang="en-US" sz="1200" b="1" dirty="0">
                <a:solidFill>
                  <a:srgbClr val="000000"/>
                </a:solidFill>
                <a:latin typeface="Times New Roman" panose="02020603050405020304" pitchFamily="18" charset="0"/>
                <a:ea typeface="+mn-ea"/>
              </a:rPr>
              <a:t>的共同下界为</a:t>
            </a:r>
            <a:r>
              <a:rPr lang="en-US" altLang="zh-CN" sz="1200" b="1" i="1" dirty="0" err="1">
                <a:solidFill>
                  <a:srgbClr val="000000"/>
                </a:solidFill>
                <a:latin typeface="Times New Roman" panose="02020603050405020304" pitchFamily="18" charset="0"/>
                <a:ea typeface="+mn-ea"/>
              </a:rPr>
              <a:t>a</a:t>
            </a:r>
            <a:r>
              <a:rPr lang="en-US" altLang="zh-CN" sz="1200" b="1" dirty="0" err="1">
                <a:solidFill>
                  <a:srgbClr val="000000"/>
                </a:solidFill>
                <a:latin typeface="Times New Roman" panose="02020603050405020304" pitchFamily="18" charset="0"/>
                <a:ea typeface="+mn-ea"/>
              </a:rPr>
              <a:t>,</a:t>
            </a:r>
            <a:r>
              <a:rPr lang="en-US" altLang="zh-CN" sz="1200" b="1" i="1" dirty="0" err="1">
                <a:solidFill>
                  <a:srgbClr val="000000"/>
                </a:solidFill>
                <a:latin typeface="Times New Roman" panose="02020603050405020304" pitchFamily="18" charset="0"/>
                <a:ea typeface="+mn-ea"/>
              </a:rPr>
              <a:t>b</a:t>
            </a:r>
            <a:r>
              <a:rPr lang="en-US" altLang="zh-CN" sz="1200" b="1" dirty="0" err="1">
                <a:solidFill>
                  <a:srgbClr val="000000"/>
                </a:solidFill>
                <a:latin typeface="Times New Roman" panose="02020603050405020304" pitchFamily="18" charset="0"/>
                <a:ea typeface="+mn-ea"/>
              </a:rPr>
              <a:t>,</a:t>
            </a:r>
            <a:r>
              <a:rPr lang="en-US" altLang="zh-CN" sz="1200" b="1" i="1" dirty="0" err="1">
                <a:solidFill>
                  <a:srgbClr val="000000"/>
                </a:solidFill>
                <a:latin typeface="Times New Roman" panose="02020603050405020304" pitchFamily="18" charset="0"/>
                <a:ea typeface="+mn-ea"/>
              </a:rPr>
              <a:t>c</a:t>
            </a:r>
            <a:r>
              <a:rPr lang="en-US" altLang="zh-CN" sz="1200" b="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rPr>
              <a:t>b</a:t>
            </a:r>
            <a:r>
              <a:rPr lang="zh-CN" altLang="en-US" sz="1200" b="1" dirty="0">
                <a:solidFill>
                  <a:srgbClr val="000000"/>
                </a:solidFill>
                <a:latin typeface="Times New Roman" panose="02020603050405020304" pitchFamily="18" charset="0"/>
                <a:ea typeface="+mn-ea"/>
              </a:rPr>
              <a:t>和</a:t>
            </a:r>
            <a:r>
              <a:rPr lang="en-US" altLang="zh-CN" sz="1200" b="1" i="1" dirty="0">
                <a:solidFill>
                  <a:srgbClr val="000000"/>
                </a:solidFill>
                <a:latin typeface="Times New Roman" panose="02020603050405020304" pitchFamily="18" charset="0"/>
                <a:ea typeface="+mn-ea"/>
              </a:rPr>
              <a:t>c</a:t>
            </a:r>
            <a:r>
              <a:rPr lang="zh-CN" altLang="en-US" sz="1200" b="1" dirty="0">
                <a:solidFill>
                  <a:srgbClr val="000000"/>
                </a:solidFill>
                <a:latin typeface="Times New Roman" panose="02020603050405020304" pitchFamily="18" charset="0"/>
                <a:ea typeface="+mn-ea"/>
              </a:rPr>
              <a:t>都比</a:t>
            </a:r>
            <a:r>
              <a:rPr lang="en-US" altLang="zh-CN" sz="1200" b="1" i="1" dirty="0">
                <a:solidFill>
                  <a:srgbClr val="000000"/>
                </a:solidFill>
                <a:latin typeface="Times New Roman" panose="02020603050405020304" pitchFamily="18" charset="0"/>
                <a:ea typeface="+mn-ea"/>
              </a:rPr>
              <a:t>a</a:t>
            </a:r>
            <a:r>
              <a:rPr lang="zh-CN" altLang="en-US" sz="1200" b="1" dirty="0">
                <a:solidFill>
                  <a:srgbClr val="000000"/>
                </a:solidFill>
                <a:latin typeface="Times New Roman" panose="02020603050405020304" pitchFamily="18" charset="0"/>
                <a:ea typeface="+mn-ea"/>
              </a:rPr>
              <a:t>大</a:t>
            </a:r>
            <a:r>
              <a:rPr lang="en-US" altLang="zh-CN" sz="1200" b="1" dirty="0">
                <a:solidFill>
                  <a:srgbClr val="000000"/>
                </a:solidFill>
                <a:latin typeface="Times New Roman" panose="02020603050405020304" pitchFamily="18" charset="0"/>
                <a:ea typeface="+mn-ea"/>
              </a:rPr>
              <a:t>,</a:t>
            </a:r>
            <a:r>
              <a:rPr lang="zh-CN" altLang="en-US" sz="1200" b="1" dirty="0">
                <a:solidFill>
                  <a:srgbClr val="000000"/>
                </a:solidFill>
                <a:latin typeface="Times New Roman" panose="02020603050405020304" pitchFamily="18" charset="0"/>
                <a:ea typeface="+mn-ea"/>
              </a:rPr>
              <a:t> </a:t>
            </a:r>
            <a:r>
              <a:rPr lang="en-US" altLang="zh-CN" sz="1200" b="1" i="1" dirty="0">
                <a:solidFill>
                  <a:srgbClr val="000000"/>
                </a:solidFill>
                <a:latin typeface="Times New Roman" panose="02020603050405020304" pitchFamily="18" charset="0"/>
                <a:ea typeface="+mn-ea"/>
              </a:rPr>
              <a:t>b</a:t>
            </a:r>
            <a:r>
              <a:rPr lang="zh-CN" altLang="en-US" sz="1200" b="1" dirty="0">
                <a:solidFill>
                  <a:srgbClr val="000000"/>
                </a:solidFill>
                <a:latin typeface="Times New Roman" panose="02020603050405020304" pitchFamily="18" charset="0"/>
                <a:ea typeface="+mn-ea"/>
              </a:rPr>
              <a:t>和</a:t>
            </a:r>
            <a:r>
              <a:rPr lang="en-US" altLang="zh-CN" sz="1200" b="1" i="1" dirty="0">
                <a:solidFill>
                  <a:srgbClr val="000000"/>
                </a:solidFill>
                <a:latin typeface="Times New Roman" panose="02020603050405020304" pitchFamily="18" charset="0"/>
                <a:ea typeface="+mn-ea"/>
              </a:rPr>
              <a:t>c</a:t>
            </a:r>
            <a:r>
              <a:rPr lang="zh-CN" altLang="en-US" sz="1200" b="1" dirty="0">
                <a:solidFill>
                  <a:srgbClr val="000000"/>
                </a:solidFill>
                <a:latin typeface="Times New Roman" panose="02020603050405020304" pitchFamily="18" charset="0"/>
                <a:ea typeface="+mn-ea"/>
              </a:rPr>
              <a:t>之间也没有偏序关系</a:t>
            </a:r>
            <a:r>
              <a:rPr lang="en-US" altLang="zh-CN" sz="1200" b="1" dirty="0">
                <a:solidFill>
                  <a:srgbClr val="000000"/>
                </a:solidFill>
                <a:latin typeface="Times New Roman" panose="02020603050405020304" pitchFamily="18" charset="0"/>
                <a:ea typeface="+mn-ea"/>
              </a:rPr>
              <a:t>, </a:t>
            </a:r>
            <a:r>
              <a:rPr lang="zh-CN" altLang="en-US" sz="1200" b="1" dirty="0">
                <a:solidFill>
                  <a:srgbClr val="000000"/>
                </a:solidFill>
                <a:latin typeface="Times New Roman" panose="02020603050405020304" pitchFamily="18" charset="0"/>
                <a:ea typeface="+mn-ea"/>
              </a:rPr>
              <a:t>因而无法确定唯一的最大下界</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latin typeface="Times New Roman" panose="02020603050405020304" pitchFamily="18" charset="0"/>
                <a:ea typeface="+mn-ea"/>
                <a:cs typeface="Times New Roman" panose="02020603050405020304" pitchFamily="18" charset="0"/>
              </a:rPr>
              <a:t>故</a:t>
            </a:r>
            <a:r>
              <a:rPr lang="zh-CN" altLang="en-US" sz="1200" b="1" kern="100" dirty="0">
                <a:solidFill>
                  <a:srgbClr val="FF0000"/>
                </a:solidFill>
                <a:latin typeface="Times New Roman" panose="02020603050405020304" pitchFamily="18" charset="0"/>
                <a:ea typeface="+mn-ea"/>
                <a:cs typeface="Times New Roman" panose="02020603050405020304" pitchFamily="18" charset="0"/>
              </a:rPr>
              <a:t>不</a:t>
            </a:r>
            <a:r>
              <a:rPr lang="zh-CN" altLang="en-US" sz="1200" b="1" dirty="0">
                <a:solidFill>
                  <a:srgbClr val="FF0000"/>
                </a:solidFill>
                <a:latin typeface="Times New Roman" panose="02020603050405020304" pitchFamily="18" charset="0"/>
                <a:ea typeface="+mn-ea"/>
              </a:rPr>
              <a:t>构成格</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pPr eaLnBrk="1" hangingPunct="1">
              <a:lnSpc>
                <a:spcPct val="120000"/>
              </a:lnSpc>
            </a:pPr>
            <a:endParaRPr lang="zh-CN" altLang="zh-CN" sz="1200" b="1" kern="100" dirty="0">
              <a:solidFill>
                <a:schemeClr val="tx1"/>
              </a:solidFill>
              <a:effectLst/>
              <a:latin typeface="Times New Roman" panose="02020603050405020304" pitchFamily="18" charset="0"/>
              <a:ea typeface="+mn-ea"/>
              <a:cs typeface="Times New Roman" panose="02020603050405020304" pitchFamily="18" charset="0"/>
            </a:endParaRPr>
          </a:p>
          <a:p>
            <a:pPr>
              <a:lnSpc>
                <a:spcPct val="120000"/>
              </a:lnSpc>
            </a:pP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a:extLst>
              <a:ext uri="{FF2B5EF4-FFF2-40B4-BE49-F238E27FC236}">
                <a16:creationId xmlns:a16="http://schemas.microsoft.com/office/drawing/2014/main" id="{782B0689-FF64-83A2-3DD4-3F5F6573AF31}"/>
              </a:ext>
            </a:extLst>
          </p:cNvPr>
          <p:cNvSpPr>
            <a:spLocks noGrp="1"/>
          </p:cNvSpPr>
          <p:nvPr>
            <p:ph type="sldNum" sz="quarter" idx="10"/>
          </p:nvPr>
        </p:nvSpPr>
        <p:spPr/>
        <p:txBody>
          <a:bodyPr/>
          <a:lstStyle/>
          <a:p>
            <a:fld id="{CAFE74B6-F93C-4D90-BE1A-7EFEDB35C0D4}" type="slidenum">
              <a:rPr lang="zh-CN" altLang="en-US" smtClean="0"/>
              <a:t>132</a:t>
            </a:fld>
            <a:endParaRPr lang="zh-CN" altLang="en-US"/>
          </a:p>
        </p:txBody>
      </p:sp>
    </p:spTree>
    <p:extLst>
      <p:ext uri="{BB962C8B-B14F-4D97-AF65-F5344CB8AC3E}">
        <p14:creationId xmlns:p14="http://schemas.microsoft.com/office/powerpoint/2010/main" val="3900688893"/>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格的对偶原理主要解决了以下问题：</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简化证明过程：通过对偶性，可以简化关于格性质的证明，只需证明一种情形即可得到对偶情形的结论。</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理解上下确界的对称性：通过对偶原理，可以更好地理解和处理格中上确界和下确界的对称关系。</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zh-CN" altLang="en-US" sz="1800" b="1" dirty="0">
                <a:solidFill>
                  <a:schemeClr val="tx1"/>
                </a:solidFill>
                <a:latin typeface="Times New Roman" panose="02020603050405020304" pitchFamily="18" charset="0"/>
                <a:ea typeface="+mn-ea"/>
                <a:cs typeface="Times New Roman" panose="02020603050405020304" pitchFamily="18" charset="0"/>
              </a:rPr>
              <a:t>设 </a:t>
            </a:r>
            <a:r>
              <a:rPr lang="en-US" altLang="zh-CN" sz="1800" b="1" i="1" dirty="0">
                <a:solidFill>
                  <a:schemeClr val="tx1"/>
                </a:solidFill>
                <a:latin typeface="Times New Roman" panose="02020603050405020304" pitchFamily="18" charset="0"/>
                <a:ea typeface="+mn-ea"/>
                <a:cs typeface="Times New Roman" panose="02020603050405020304" pitchFamily="18" charset="0"/>
              </a:rPr>
              <a:t>f </a:t>
            </a:r>
            <a:r>
              <a:rPr lang="zh-CN" altLang="en-US" sz="1800" b="1" dirty="0">
                <a:solidFill>
                  <a:schemeClr val="tx1"/>
                </a:solidFill>
                <a:latin typeface="Times New Roman" panose="02020603050405020304" pitchFamily="18" charset="0"/>
                <a:ea typeface="+mn-ea"/>
                <a:cs typeface="Times New Roman" panose="02020603050405020304" pitchFamily="18" charset="0"/>
              </a:rPr>
              <a:t>是含有格中元素以及符号</a:t>
            </a:r>
            <a:r>
              <a:rPr lang="en-US" altLang="zh-CN" sz="1800" b="1" dirty="0">
                <a:solidFill>
                  <a:schemeClr val="tx1"/>
                </a:solidFill>
                <a:latin typeface="Times New Roman" panose="02020603050405020304" pitchFamily="18" charset="0"/>
                <a:ea typeface="+mn-ea"/>
                <a:cs typeface="Times New Roman" panose="02020603050405020304" pitchFamily="18" charset="0"/>
              </a:rPr>
              <a:t>=,≼ ,≽ ,∨</a:t>
            </a:r>
            <a:r>
              <a:rPr lang="zh-CN" altLang="en-US" sz="1800" b="1" dirty="0">
                <a:solidFill>
                  <a:schemeClr val="tx1"/>
                </a:solidFill>
                <a:latin typeface="Times New Roman" panose="02020603050405020304" pitchFamily="18" charset="0"/>
                <a:ea typeface="+mn-ea"/>
                <a:cs typeface="Times New Roman" panose="02020603050405020304" pitchFamily="18" charset="0"/>
              </a:rPr>
              <a:t>和∧的命题</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r>
              <a:rPr lang="zh-CN" altLang="en-US" sz="1800" b="1" dirty="0">
                <a:solidFill>
                  <a:schemeClr val="tx1"/>
                </a:solidFill>
                <a:latin typeface="Times New Roman" panose="02020603050405020304" pitchFamily="18" charset="0"/>
                <a:ea typeface="+mn-ea"/>
                <a:cs typeface="Times New Roman" panose="02020603050405020304" pitchFamily="18" charset="0"/>
              </a:rPr>
              <a:t>令</a:t>
            </a:r>
            <a:r>
              <a:rPr lang="en-US" altLang="zh-CN" sz="1800" b="1" i="1" dirty="0">
                <a:solidFill>
                  <a:schemeClr val="tx1"/>
                </a:solidFill>
                <a:latin typeface="Times New Roman" panose="02020603050405020304" pitchFamily="18" charset="0"/>
                <a:ea typeface="+mn-ea"/>
                <a:cs typeface="Times New Roman" panose="02020603050405020304" pitchFamily="18" charset="0"/>
              </a:rPr>
              <a:t>f</a:t>
            </a:r>
            <a:r>
              <a:rPr lang="en-US" altLang="zh-CN" sz="1800" b="1" dirty="0">
                <a:solidFill>
                  <a:schemeClr val="tx1"/>
                </a:solidFill>
                <a:latin typeface="Times New Roman" panose="02020603050405020304" pitchFamily="18" charset="0"/>
                <a:ea typeface="+mn-ea"/>
                <a:cs typeface="Times New Roman" panose="02020603050405020304" pitchFamily="18" charset="0"/>
              </a:rPr>
              <a:t>*</a:t>
            </a:r>
            <a:r>
              <a:rPr lang="zh-CN" altLang="en-US" sz="1800" b="1" dirty="0">
                <a:solidFill>
                  <a:schemeClr val="tx1"/>
                </a:solidFill>
                <a:latin typeface="Times New Roman" panose="02020603050405020304" pitchFamily="18" charset="0"/>
                <a:ea typeface="+mn-ea"/>
                <a:cs typeface="Times New Roman" panose="02020603050405020304" pitchFamily="18" charset="0"/>
              </a:rPr>
              <a:t>是将 </a:t>
            </a:r>
            <a:r>
              <a:rPr lang="en-US" altLang="zh-CN" sz="1800" b="1" i="1" dirty="0">
                <a:solidFill>
                  <a:schemeClr val="tx1"/>
                </a:solidFill>
                <a:latin typeface="Times New Roman" panose="02020603050405020304" pitchFamily="18" charset="0"/>
                <a:ea typeface="+mn-ea"/>
                <a:cs typeface="Times New Roman" panose="02020603050405020304" pitchFamily="18" charset="0"/>
              </a:rPr>
              <a:t>f </a:t>
            </a:r>
            <a:r>
              <a:rPr lang="zh-CN" altLang="en-US" sz="1800" b="1" dirty="0">
                <a:solidFill>
                  <a:schemeClr val="tx1"/>
                </a:solidFill>
                <a:latin typeface="Times New Roman" panose="02020603050405020304" pitchFamily="18" charset="0"/>
                <a:ea typeface="+mn-ea"/>
                <a:cs typeface="Times New Roman" panose="02020603050405020304" pitchFamily="18" charset="0"/>
              </a:rPr>
              <a:t>中的≼替换成≽、≽替换成≼、∨替换成∧、∧替换成∨所得到的命题</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r>
              <a:rPr lang="zh-CN" altLang="en-US" sz="1800" b="1" dirty="0">
                <a:solidFill>
                  <a:schemeClr val="tx1"/>
                </a:solidFill>
                <a:latin typeface="Times New Roman" panose="02020603050405020304" pitchFamily="18" charset="0"/>
                <a:ea typeface="+mn-ea"/>
                <a:cs typeface="Times New Roman" panose="02020603050405020304" pitchFamily="18" charset="0"/>
              </a:rPr>
              <a:t>称 </a:t>
            </a:r>
            <a:r>
              <a:rPr lang="en-US" altLang="zh-CN" sz="1800" b="1" i="1" dirty="0">
                <a:solidFill>
                  <a:schemeClr val="tx1"/>
                </a:solidFill>
                <a:latin typeface="Times New Roman" panose="02020603050405020304" pitchFamily="18" charset="0"/>
                <a:ea typeface="+mn-ea"/>
                <a:cs typeface="Times New Roman" panose="02020603050405020304" pitchFamily="18" charset="0"/>
              </a:rPr>
              <a:t>f</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r>
              <a:rPr lang="zh-CN" altLang="en-US" sz="1800" b="1" dirty="0">
                <a:solidFill>
                  <a:schemeClr val="tx1"/>
                </a:solidFill>
                <a:latin typeface="Times New Roman" panose="02020603050405020304" pitchFamily="18" charset="0"/>
                <a:ea typeface="+mn-ea"/>
                <a:cs typeface="Times New Roman" panose="02020603050405020304" pitchFamily="18" charset="0"/>
              </a:rPr>
              <a:t>为 </a:t>
            </a:r>
            <a:r>
              <a:rPr lang="en-US" altLang="zh-CN" sz="1800" b="1" i="1" dirty="0">
                <a:solidFill>
                  <a:schemeClr val="tx1"/>
                </a:solidFill>
                <a:latin typeface="Times New Roman" panose="02020603050405020304" pitchFamily="18" charset="0"/>
                <a:ea typeface="+mn-ea"/>
                <a:cs typeface="Times New Roman" panose="02020603050405020304" pitchFamily="18" charset="0"/>
              </a:rPr>
              <a:t>f </a:t>
            </a:r>
            <a:r>
              <a:rPr lang="zh-CN" altLang="en-US" sz="1800" b="1" dirty="0">
                <a:solidFill>
                  <a:schemeClr val="tx1"/>
                </a:solidFill>
                <a:latin typeface="Times New Roman" panose="02020603050405020304" pitchFamily="18" charset="0"/>
                <a:ea typeface="+mn-ea"/>
                <a:cs typeface="Times New Roman" panose="02020603050405020304" pitchFamily="18" charset="0"/>
              </a:rPr>
              <a:t>的</a:t>
            </a:r>
            <a:r>
              <a:rPr lang="zh-CN" altLang="en-US" sz="1800" b="1" dirty="0">
                <a:solidFill>
                  <a:srgbClr val="FF0000"/>
                </a:solidFill>
                <a:latin typeface="Times New Roman" panose="02020603050405020304" pitchFamily="18" charset="0"/>
                <a:ea typeface="+mn-ea"/>
                <a:cs typeface="Times New Roman" panose="02020603050405020304" pitchFamily="18" charset="0"/>
              </a:rPr>
              <a:t>对偶命题</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p>
          <a:p>
            <a:pPr eaLnBrk="1" hangingPunct="1"/>
            <a:br>
              <a:rPr lang="en-US" altLang="zh-CN" sz="1800" b="1" dirty="0">
                <a:solidFill>
                  <a:schemeClr val="tx1"/>
                </a:solidFill>
                <a:latin typeface="Times New Roman" panose="02020603050405020304" pitchFamily="18" charset="0"/>
                <a:ea typeface="+mn-ea"/>
                <a:cs typeface="Times New Roman" panose="02020603050405020304" pitchFamily="18" charset="0"/>
              </a:rPr>
            </a:br>
            <a:r>
              <a:rPr lang="zh-CN" altLang="en-US" sz="1800" b="1" dirty="0">
                <a:solidFill>
                  <a:srgbClr val="FF0000"/>
                </a:solidFill>
                <a:latin typeface="Times New Roman" panose="02020603050405020304" pitchFamily="18" charset="0"/>
                <a:ea typeface="+mn-ea"/>
                <a:cs typeface="Times New Roman" panose="02020603050405020304" pitchFamily="18" charset="0"/>
              </a:rPr>
              <a:t>格的对偶原理</a:t>
            </a:r>
            <a:r>
              <a:rPr lang="en-US" altLang="zh-CN" sz="1800" b="1" dirty="0">
                <a:solidFill>
                  <a:srgbClr val="FF0000"/>
                </a:solidFill>
                <a:latin typeface="Times New Roman" panose="02020603050405020304" pitchFamily="18" charset="0"/>
                <a:ea typeface="+mn-ea"/>
                <a:cs typeface="Times New Roman" panose="02020603050405020304" pitchFamily="18" charset="0"/>
              </a:rPr>
              <a:t>:</a:t>
            </a:r>
            <a:r>
              <a:rPr lang="zh-CN" altLang="en-US" sz="1800" b="1" dirty="0">
                <a:solidFill>
                  <a:schemeClr val="tx1"/>
                </a:solidFill>
                <a:latin typeface="Times New Roman" panose="02020603050405020304" pitchFamily="18" charset="0"/>
                <a:ea typeface="+mn-ea"/>
                <a:cs typeface="Times New Roman" panose="02020603050405020304" pitchFamily="18" charset="0"/>
              </a:rPr>
              <a:t> 若 </a:t>
            </a:r>
            <a:r>
              <a:rPr lang="en-US" altLang="zh-CN" sz="1800" b="1" i="1" dirty="0">
                <a:solidFill>
                  <a:schemeClr val="tx1"/>
                </a:solidFill>
                <a:latin typeface="Times New Roman" panose="02020603050405020304" pitchFamily="18" charset="0"/>
                <a:ea typeface="+mn-ea"/>
                <a:cs typeface="Times New Roman" panose="02020603050405020304" pitchFamily="18" charset="0"/>
              </a:rPr>
              <a:t>f </a:t>
            </a:r>
            <a:r>
              <a:rPr lang="zh-CN" altLang="en-US" sz="1800" b="1" dirty="0">
                <a:solidFill>
                  <a:schemeClr val="tx1"/>
                </a:solidFill>
                <a:latin typeface="Times New Roman" panose="02020603050405020304" pitchFamily="18" charset="0"/>
                <a:ea typeface="+mn-ea"/>
                <a:cs typeface="Times New Roman" panose="02020603050405020304" pitchFamily="18" charset="0"/>
              </a:rPr>
              <a:t>对一切格为真</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r>
              <a:rPr lang="zh-CN" altLang="en-US" sz="1800" b="1" dirty="0">
                <a:solidFill>
                  <a:schemeClr val="tx1"/>
                </a:solidFill>
                <a:latin typeface="Times New Roman" panose="02020603050405020304" pitchFamily="18" charset="0"/>
                <a:ea typeface="+mn-ea"/>
                <a:cs typeface="Times New Roman" panose="02020603050405020304" pitchFamily="18" charset="0"/>
              </a:rPr>
              <a:t>则 </a:t>
            </a:r>
            <a:r>
              <a:rPr lang="en-US" altLang="zh-CN" sz="1800" b="1" i="1" dirty="0">
                <a:solidFill>
                  <a:schemeClr val="tx1"/>
                </a:solidFill>
                <a:latin typeface="Times New Roman" panose="02020603050405020304" pitchFamily="18" charset="0"/>
                <a:ea typeface="+mn-ea"/>
                <a:cs typeface="Times New Roman" panose="02020603050405020304" pitchFamily="18" charset="0"/>
              </a:rPr>
              <a:t>f </a:t>
            </a:r>
            <a:r>
              <a:rPr lang="zh-CN" altLang="en-US" sz="1800" b="1" dirty="0">
                <a:solidFill>
                  <a:schemeClr val="tx1"/>
                </a:solidFill>
                <a:latin typeface="Times New Roman" panose="02020603050405020304" pitchFamily="18" charset="0"/>
                <a:ea typeface="+mn-ea"/>
                <a:cs typeface="Times New Roman" panose="02020603050405020304" pitchFamily="18" charset="0"/>
              </a:rPr>
              <a:t>的对偶命题 </a:t>
            </a:r>
            <a:r>
              <a:rPr lang="en-US" altLang="zh-CN" sz="1800" b="1" i="1" dirty="0">
                <a:solidFill>
                  <a:schemeClr val="tx1"/>
                </a:solidFill>
                <a:latin typeface="Times New Roman" panose="02020603050405020304" pitchFamily="18" charset="0"/>
                <a:ea typeface="+mn-ea"/>
                <a:cs typeface="Times New Roman" panose="02020603050405020304" pitchFamily="18" charset="0"/>
              </a:rPr>
              <a:t>f</a:t>
            </a:r>
            <a:r>
              <a:rPr lang="en-US" altLang="zh-CN" sz="1800" b="1" dirty="0">
                <a:solidFill>
                  <a:schemeClr val="tx1"/>
                </a:solidFill>
                <a:latin typeface="Times New Roman" panose="02020603050405020304" pitchFamily="18" charset="0"/>
                <a:ea typeface="+mn-ea"/>
                <a:cs typeface="Times New Roman" panose="02020603050405020304" pitchFamily="18" charset="0"/>
              </a:rPr>
              <a:t>*</a:t>
            </a:r>
            <a:r>
              <a:rPr lang="zh-CN" altLang="en-US" sz="1800" b="1" dirty="0">
                <a:solidFill>
                  <a:schemeClr val="tx1"/>
                </a:solidFill>
                <a:latin typeface="Times New Roman" panose="02020603050405020304" pitchFamily="18" charset="0"/>
                <a:ea typeface="+mn-ea"/>
                <a:cs typeface="Times New Roman" panose="02020603050405020304" pitchFamily="18" charset="0"/>
              </a:rPr>
              <a:t>也对一切格为真</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B0F0"/>
                </a:solidFill>
                <a:latin typeface="Times New Roman" panose="02020603050405020304" pitchFamily="18" charset="0"/>
                <a:ea typeface="+mn-ea"/>
                <a:cs typeface="Times New Roman" panose="02020603050405020304" pitchFamily="18" charset="0"/>
              </a:rPr>
              <a:t>例</a:t>
            </a:r>
            <a:r>
              <a:rPr lang="en-US" altLang="zh-CN" sz="1800" b="1" dirty="0">
                <a:solidFill>
                  <a:srgbClr val="00B0F0"/>
                </a:solidFill>
                <a:latin typeface="Times New Roman" panose="02020603050405020304" pitchFamily="18" charset="0"/>
                <a:ea typeface="+mn-ea"/>
                <a:cs typeface="Times New Roman" panose="02020603050405020304" pitchFamily="18" charset="0"/>
              </a:rPr>
              <a:t>:</a:t>
            </a:r>
            <a:r>
              <a:rPr lang="zh-CN" altLang="en-US" sz="1800" b="1" dirty="0">
                <a:solidFill>
                  <a:schemeClr val="tx1"/>
                </a:solidFill>
                <a:latin typeface="Times New Roman" panose="02020603050405020304" pitchFamily="18" charset="0"/>
                <a:ea typeface="+mn-ea"/>
                <a:cs typeface="Times New Roman" panose="02020603050405020304" pitchFamily="18" charset="0"/>
              </a:rPr>
              <a:t>在格中有命题</a:t>
            </a:r>
            <a:r>
              <a:rPr lang="en-US" altLang="zh-CN" sz="1800" b="1" i="1" dirty="0">
                <a:solidFill>
                  <a:schemeClr val="tx1"/>
                </a:solidFill>
                <a:latin typeface="Times New Roman" panose="02020603050405020304" pitchFamily="18" charset="0"/>
                <a:ea typeface="+mn-ea"/>
                <a:cs typeface="Times New Roman" panose="02020603050405020304" pitchFamily="18" charset="0"/>
              </a:rPr>
              <a:t>f </a:t>
            </a:r>
            <a:r>
              <a:rPr lang="zh-CN" altLang="en-US" sz="1800" b="1" dirty="0">
                <a:solidFill>
                  <a:schemeClr val="tx1"/>
                </a:solidFill>
                <a:latin typeface="Times New Roman" panose="02020603050405020304" pitchFamily="18" charset="0"/>
                <a:ea typeface="+mn-ea"/>
                <a:cs typeface="Times New Roman" panose="02020603050405020304" pitchFamily="18" charset="0"/>
              </a:rPr>
              <a:t>：</a:t>
            </a:r>
            <a:r>
              <a:rPr lang="en-US" altLang="zh-CN" sz="1800" b="1" dirty="0">
                <a:solidFill>
                  <a:schemeClr val="tx1"/>
                </a:solidFill>
                <a:latin typeface="Times New Roman" panose="02020603050405020304" pitchFamily="18" charset="0"/>
                <a:ea typeface="+mn-ea"/>
                <a:cs typeface="Times New Roman" panose="02020603050405020304" pitchFamily="18" charset="0"/>
              </a:rPr>
              <a:t>(</a:t>
            </a:r>
            <a:r>
              <a:rPr lang="en-US" altLang="zh-CN" sz="18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800" b="1" dirty="0" err="1">
                <a:solidFill>
                  <a:schemeClr val="tx1"/>
                </a:solidFill>
                <a:latin typeface="Times New Roman" panose="02020603050405020304" pitchFamily="18" charset="0"/>
                <a:ea typeface="+mn-ea"/>
                <a:cs typeface="Times New Roman" panose="02020603050405020304" pitchFamily="18" charset="0"/>
              </a:rPr>
              <a:t>∨</a:t>
            </a:r>
            <a:r>
              <a:rPr lang="en-US" altLang="zh-CN" sz="18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800" b="1" dirty="0">
                <a:solidFill>
                  <a:schemeClr val="tx1"/>
                </a:solidFill>
                <a:latin typeface="Times New Roman" panose="02020603050405020304" pitchFamily="18" charset="0"/>
                <a:ea typeface="+mn-ea"/>
                <a:cs typeface="Times New Roman" panose="02020603050405020304" pitchFamily="18" charset="0"/>
              </a:rPr>
              <a:t>)∧</a:t>
            </a:r>
            <a:r>
              <a:rPr lang="en-US" altLang="zh-CN" sz="18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800" b="1" dirty="0" err="1">
                <a:solidFill>
                  <a:schemeClr val="tx1"/>
                </a:solidFill>
                <a:latin typeface="Times New Roman" panose="02020603050405020304" pitchFamily="18" charset="0"/>
                <a:ea typeface="+mn-ea"/>
                <a:cs typeface="Times New Roman" panose="02020603050405020304" pitchFamily="18" charset="0"/>
              </a:rPr>
              <a:t>≼</a:t>
            </a:r>
            <a:r>
              <a:rPr lang="en-US" altLang="zh-CN" sz="1800" b="1" i="1" dirty="0" err="1">
                <a:solidFill>
                  <a:schemeClr val="tx1"/>
                </a:solidFill>
                <a:latin typeface="Times New Roman" panose="02020603050405020304" pitchFamily="18" charset="0"/>
                <a:ea typeface="+mn-ea"/>
                <a:cs typeface="Times New Roman" panose="02020603050405020304" pitchFamily="18" charset="0"/>
              </a:rPr>
              <a:t>c</a:t>
            </a:r>
            <a:r>
              <a:rPr lang="zh-CN" altLang="en-US" sz="1800" b="1" dirty="0">
                <a:solidFill>
                  <a:schemeClr val="tx1"/>
                </a:solidFill>
                <a:latin typeface="Times New Roman" panose="02020603050405020304" pitchFamily="18" charset="0"/>
                <a:ea typeface="+mn-ea"/>
                <a:cs typeface="Times New Roman" panose="02020603050405020304" pitchFamily="18" charset="0"/>
              </a:rPr>
              <a:t>成立</a:t>
            </a:r>
            <a:r>
              <a:rPr lang="en-US" altLang="zh-CN" sz="1800" b="1" dirty="0">
                <a:solidFill>
                  <a:schemeClr val="tx1"/>
                </a:solidFill>
                <a:latin typeface="Times New Roman" panose="02020603050405020304" pitchFamily="18" charset="0"/>
                <a:ea typeface="+mn-ea"/>
                <a:cs typeface="Times New Roman" panose="02020603050405020304" pitchFamily="18" charset="0"/>
              </a:rPr>
              <a:t>,</a:t>
            </a:r>
            <a:r>
              <a:rPr lang="zh-CN" altLang="en-US" sz="1800" b="1" dirty="0">
                <a:solidFill>
                  <a:schemeClr val="tx1"/>
                </a:solidFill>
                <a:latin typeface="Times New Roman" panose="02020603050405020304" pitchFamily="18" charset="0"/>
                <a:ea typeface="+mn-ea"/>
                <a:cs typeface="Times New Roman" panose="02020603050405020304" pitchFamily="18" charset="0"/>
              </a:rPr>
              <a:t>则其对偶命题 </a:t>
            </a:r>
            <a:r>
              <a:rPr lang="en-US" altLang="zh-CN" sz="1800" b="1" i="1" dirty="0">
                <a:solidFill>
                  <a:schemeClr val="tx1"/>
                </a:solidFill>
                <a:latin typeface="Times New Roman" panose="02020603050405020304" pitchFamily="18" charset="0"/>
                <a:ea typeface="+mn-ea"/>
                <a:cs typeface="Times New Roman" panose="02020603050405020304" pitchFamily="18" charset="0"/>
              </a:rPr>
              <a:t>f</a:t>
            </a:r>
            <a:r>
              <a:rPr lang="en-US" altLang="zh-CN" sz="1800" b="1" dirty="0">
                <a:solidFill>
                  <a:schemeClr val="tx1"/>
                </a:solidFill>
                <a:latin typeface="Times New Roman" panose="02020603050405020304" pitchFamily="18" charset="0"/>
                <a:ea typeface="+mn-ea"/>
                <a:cs typeface="Times New Roman" panose="02020603050405020304" pitchFamily="18" charset="0"/>
              </a:rPr>
              <a:t>*</a:t>
            </a:r>
            <a:r>
              <a:rPr lang="zh-CN" altLang="en-US" sz="1800" b="1" dirty="0">
                <a:solidFill>
                  <a:schemeClr val="tx1"/>
                </a:solidFill>
                <a:latin typeface="Times New Roman" panose="02020603050405020304" pitchFamily="18" charset="0"/>
                <a:ea typeface="+mn-ea"/>
                <a:cs typeface="Times New Roman" panose="02020603050405020304" pitchFamily="18" charset="0"/>
              </a:rPr>
              <a:t>：</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r>
              <a:rPr lang="en-US" altLang="zh-CN" sz="1800" b="1" i="1" dirty="0">
                <a:solidFill>
                  <a:schemeClr val="tx1"/>
                </a:solidFill>
                <a:latin typeface="Times New Roman" panose="02020603050405020304" pitchFamily="18" charset="0"/>
                <a:ea typeface="+mn-ea"/>
                <a:cs typeface="Times New Roman" panose="02020603050405020304" pitchFamily="18" charset="0"/>
              </a:rPr>
              <a:t>a</a:t>
            </a:r>
            <a:r>
              <a:rPr lang="en-US" altLang="zh-CN" sz="1800" b="1" dirty="0">
                <a:solidFill>
                  <a:schemeClr val="tx1"/>
                </a:solidFill>
                <a:latin typeface="Times New Roman" panose="02020603050405020304" pitchFamily="18" charset="0"/>
                <a:ea typeface="+mn-ea"/>
                <a:cs typeface="Times New Roman" panose="02020603050405020304" pitchFamily="18" charset="0"/>
              </a:rPr>
              <a:t> ∧ </a:t>
            </a:r>
            <a:r>
              <a:rPr lang="en-US" altLang="zh-CN" sz="1800" b="1" i="1" dirty="0">
                <a:solidFill>
                  <a:schemeClr val="tx1"/>
                </a:solidFill>
                <a:latin typeface="Times New Roman" panose="02020603050405020304" pitchFamily="18" charset="0"/>
                <a:ea typeface="+mn-ea"/>
                <a:cs typeface="Times New Roman" panose="02020603050405020304" pitchFamily="18" charset="0"/>
              </a:rPr>
              <a:t>b</a:t>
            </a:r>
            <a:r>
              <a:rPr lang="en-US" altLang="zh-CN" sz="1800" b="1" dirty="0">
                <a:solidFill>
                  <a:schemeClr val="tx1"/>
                </a:solidFill>
                <a:latin typeface="Times New Roman" panose="02020603050405020304" pitchFamily="18" charset="0"/>
                <a:ea typeface="+mn-ea"/>
                <a:cs typeface="Times New Roman" panose="02020603050405020304" pitchFamily="18" charset="0"/>
              </a:rPr>
              <a:t>) ∨ </a:t>
            </a:r>
            <a:r>
              <a:rPr lang="en-US" altLang="zh-CN" sz="18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800" b="1" dirty="0" err="1">
                <a:solidFill>
                  <a:schemeClr val="tx1"/>
                </a:solidFill>
                <a:latin typeface="Times New Roman" panose="02020603050405020304" pitchFamily="18" charset="0"/>
                <a:ea typeface="+mn-ea"/>
                <a:cs typeface="Times New Roman" panose="02020603050405020304" pitchFamily="18" charset="0"/>
              </a:rPr>
              <a:t>≼</a:t>
            </a:r>
            <a:r>
              <a:rPr lang="en-US" altLang="zh-CN" sz="18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800" b="1" i="1" dirty="0">
                <a:solidFill>
                  <a:schemeClr val="tx1"/>
                </a:solidFill>
                <a:latin typeface="Times New Roman" panose="02020603050405020304" pitchFamily="18" charset="0"/>
                <a:ea typeface="+mn-ea"/>
                <a:cs typeface="Times New Roman" panose="02020603050405020304" pitchFamily="18" charset="0"/>
              </a:rPr>
              <a:t> </a:t>
            </a:r>
            <a:r>
              <a:rPr lang="zh-CN" altLang="en-US" sz="1800" b="1" dirty="0">
                <a:solidFill>
                  <a:schemeClr val="tx1"/>
                </a:solidFill>
                <a:latin typeface="Times New Roman" panose="02020603050405020304" pitchFamily="18" charset="0"/>
                <a:ea typeface="+mn-ea"/>
                <a:cs typeface="Times New Roman" panose="02020603050405020304" pitchFamily="18" charset="0"/>
              </a:rPr>
              <a:t>也成立</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endParaRPr lang="zh-CN" altLang="en-US" sz="1800" b="1" dirty="0">
              <a:solidFill>
                <a:schemeClr val="tx1"/>
              </a:solidFill>
              <a:latin typeface="Times New Roman" panose="02020603050405020304" pitchFamily="18" charset="0"/>
              <a:ea typeface="+mn-ea"/>
            </a:endParaRPr>
          </a:p>
          <a:p>
            <a:pPr eaLnBrk="1" hangingPunct="1"/>
            <a:endParaRPr lang="en-US" altLang="zh-CN" sz="1800" b="1" dirty="0">
              <a:solidFill>
                <a:schemeClr val="tx1"/>
              </a:solidFill>
              <a:latin typeface="Times New Roman" panose="02020603050405020304" pitchFamily="18" charset="0"/>
              <a:ea typeface="+mn-ea"/>
              <a:cs typeface="Times New Roman" panose="02020603050405020304" pitchFamily="18" charset="0"/>
            </a:endParaRPr>
          </a:p>
          <a:p>
            <a:pPr indent="266700" algn="l"/>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133</a:t>
            </a:fld>
            <a:endParaRPr lang="zh-CN" altLang="en-US"/>
          </a:p>
        </p:txBody>
      </p:sp>
    </p:spTree>
    <p:extLst>
      <p:ext uri="{BB962C8B-B14F-4D97-AF65-F5344CB8AC3E}">
        <p14:creationId xmlns:p14="http://schemas.microsoft.com/office/powerpoint/2010/main" val="1211644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pPr>
            <a:r>
              <a:rPr lang="zh-CN" altLang="en-US" sz="1200" b="1" dirty="0">
                <a:solidFill>
                  <a:srgbClr val="FF0000"/>
                </a:solidFill>
                <a:latin typeface="Times New Roman" panose="02020603050405020304" pitchFamily="18" charset="0"/>
                <a:ea typeface="+mn-ea"/>
              </a:rPr>
              <a:t>定理</a:t>
            </a:r>
            <a:r>
              <a:rPr lang="en-US" altLang="zh-CN" sz="1200" b="1" dirty="0">
                <a:solidFill>
                  <a:srgbClr val="FF0000"/>
                </a:solidFill>
                <a:latin typeface="Times New Roman" panose="02020603050405020304" pitchFamily="18" charset="0"/>
                <a:ea typeface="+mn-ea"/>
              </a:rPr>
              <a:t>9.10</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设</a:t>
            </a:r>
            <a:r>
              <a:rPr lang="en-US" altLang="zh-CN" sz="1200" b="1" dirty="0">
                <a:solidFill>
                  <a:schemeClr val="tx1"/>
                </a:solidFill>
                <a:latin typeface="Times New Roman" panose="02020603050405020304" pitchFamily="18" charset="0"/>
                <a:ea typeface="+mn-ea"/>
              </a:rPr>
              <a:t>&lt;</a:t>
            </a:r>
            <a:r>
              <a:rPr lang="en-US" altLang="zh-CN" sz="1200" b="1" i="1" dirty="0">
                <a:solidFill>
                  <a:schemeClr val="tx1"/>
                </a:solidFill>
                <a:latin typeface="Times New Roman" panose="02020603050405020304" pitchFamily="18" charset="0"/>
                <a:ea typeface="+mn-ea"/>
              </a:rPr>
              <a:t>L</a:t>
            </a:r>
            <a:r>
              <a:rPr lang="en-US" altLang="zh-CN" sz="1200" b="1" dirty="0">
                <a:solidFill>
                  <a:schemeClr val="tx1"/>
                </a:solidFill>
                <a:latin typeface="Times New Roman" panose="02020603050405020304" pitchFamily="18" charset="0"/>
                <a:ea typeface="+mn-ea"/>
              </a:rPr>
              <a:t>,≼&gt;</a:t>
            </a:r>
            <a:r>
              <a:rPr lang="zh-CN" altLang="en-US" sz="1200" b="1" dirty="0">
                <a:solidFill>
                  <a:schemeClr val="tx1"/>
                </a:solidFill>
                <a:latin typeface="Times New Roman" panose="02020603050405020304" pitchFamily="18" charset="0"/>
                <a:ea typeface="+mn-ea"/>
              </a:rPr>
              <a:t>是格</a:t>
            </a:r>
            <a:r>
              <a:rPr lang="en-US" altLang="zh-CN" sz="1200" b="1" dirty="0">
                <a:solidFill>
                  <a:schemeClr val="tx1"/>
                </a:solidFill>
                <a:latin typeface="Times New Roman" panose="02020603050405020304" pitchFamily="18" charset="0"/>
                <a:ea typeface="+mn-ea"/>
              </a:rPr>
              <a:t>,</a:t>
            </a:r>
            <a:r>
              <a:rPr lang="en-US" altLang="zh-CN" sz="1200" b="1" dirty="0">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则运算∨和∧适合交换律、结</a:t>
            </a:r>
          </a:p>
          <a:p>
            <a:pPr eaLnBrk="1" hangingPunct="1">
              <a:lnSpc>
                <a:spcPct val="130000"/>
              </a:lnSpc>
            </a:pPr>
            <a:r>
              <a:rPr lang="zh-CN" altLang="en-US" sz="1200" b="1" dirty="0">
                <a:solidFill>
                  <a:schemeClr val="tx1"/>
                </a:solidFill>
                <a:latin typeface="Times New Roman" panose="02020603050405020304" pitchFamily="18" charset="0"/>
                <a:ea typeface="+mn-ea"/>
              </a:rPr>
              <a:t>合律、幂等律和吸收律，即</a:t>
            </a:r>
            <a:br>
              <a:rPr lang="zh-CN" altLang="en-US" sz="1200" b="1" dirty="0">
                <a:solidFill>
                  <a:schemeClr val="tx1"/>
                </a:solidFill>
                <a:latin typeface="Times New Roman" panose="02020603050405020304" pitchFamily="18" charset="0"/>
                <a:ea typeface="+mn-ea"/>
              </a:rPr>
            </a:br>
            <a:r>
              <a:rPr lang="zh-CN" altLang="en-US" sz="1200" b="1" dirty="0">
                <a:solidFill>
                  <a:schemeClr val="tx1"/>
                </a:solidFill>
                <a:latin typeface="Times New Roman" panose="02020603050405020304" pitchFamily="18" charset="0"/>
                <a:ea typeface="+mn-ea"/>
              </a:rPr>
              <a:t>      </a:t>
            </a:r>
            <a:r>
              <a:rPr lang="en-US" altLang="zh-CN" sz="1200" b="1" dirty="0">
                <a:solidFill>
                  <a:schemeClr val="tx1"/>
                </a:solidFill>
                <a:latin typeface="Times New Roman" panose="02020603050405020304" pitchFamily="18" charset="0"/>
                <a:ea typeface="+mn-ea"/>
              </a:rPr>
              <a:t>(1) </a:t>
            </a:r>
            <a:r>
              <a:rPr lang="zh-CN" altLang="en-US"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L</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有  </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i="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和 </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br>
              <a:rPr lang="en-US" altLang="zh-CN" sz="1200" b="1" dirty="0">
                <a:solidFill>
                  <a:schemeClr val="tx1"/>
                </a:solidFill>
                <a:latin typeface="Times New Roman" panose="02020603050405020304" pitchFamily="18" charset="0"/>
                <a:ea typeface="+mn-ea"/>
                <a:sym typeface="Symbol" panose="05050102010706020507" pitchFamily="18" charset="2"/>
              </a:rPr>
            </a:br>
            <a:r>
              <a:rPr lang="en-US" altLang="zh-CN" sz="1200" b="1" dirty="0">
                <a:solidFill>
                  <a:schemeClr val="tx1"/>
                </a:solidFill>
                <a:latin typeface="Times New Roman" panose="02020603050405020304" pitchFamily="18" charset="0"/>
                <a:ea typeface="+mn-ea"/>
                <a:sym typeface="Symbol" panose="05050102010706020507" pitchFamily="18" charset="2"/>
              </a:rPr>
              <a:t>      (2) </a:t>
            </a:r>
            <a:r>
              <a:rPr lang="zh-CN" altLang="en-US"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L</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有  </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和    </a:t>
            </a:r>
          </a:p>
          <a:p>
            <a:pPr eaLnBrk="1" hangingPunct="1">
              <a:lnSpc>
                <a:spcPct val="130000"/>
              </a:lnSpc>
            </a:pP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a:t>
            </a:r>
            <a:br>
              <a:rPr lang="en-US" altLang="zh-CN" sz="1200" b="1" dirty="0">
                <a:solidFill>
                  <a:schemeClr val="tx1"/>
                </a:solidFill>
                <a:latin typeface="Times New Roman" panose="02020603050405020304" pitchFamily="18" charset="0"/>
                <a:ea typeface="+mn-ea"/>
                <a:sym typeface="Symbol" panose="05050102010706020507" pitchFamily="18" charset="2"/>
              </a:rPr>
            </a:br>
            <a:r>
              <a:rPr lang="en-US" altLang="zh-CN" sz="1200" b="1" dirty="0">
                <a:solidFill>
                  <a:schemeClr val="tx1"/>
                </a:solidFill>
                <a:latin typeface="Times New Roman" panose="02020603050405020304" pitchFamily="18" charset="0"/>
                <a:ea typeface="+mn-ea"/>
                <a:sym typeface="Symbol" panose="05050102010706020507" pitchFamily="18" charset="2"/>
              </a:rPr>
              <a:t>      (3) </a:t>
            </a:r>
            <a:r>
              <a:rPr lang="zh-CN" altLang="en-US"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L</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有  </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和 </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  </a:t>
            </a:r>
            <a:br>
              <a:rPr lang="en-US" altLang="zh-CN" sz="1200" b="1" dirty="0">
                <a:solidFill>
                  <a:schemeClr val="tx1"/>
                </a:solidFill>
                <a:latin typeface="Times New Roman" panose="02020603050405020304" pitchFamily="18" charset="0"/>
                <a:ea typeface="+mn-ea"/>
                <a:sym typeface="Symbol" panose="05050102010706020507" pitchFamily="18" charset="2"/>
              </a:rPr>
            </a:br>
            <a:r>
              <a:rPr lang="en-US" altLang="zh-CN" sz="1200" b="1" dirty="0">
                <a:solidFill>
                  <a:schemeClr val="tx1"/>
                </a:solidFill>
                <a:latin typeface="Times New Roman" panose="02020603050405020304" pitchFamily="18" charset="0"/>
                <a:ea typeface="+mn-ea"/>
                <a:sym typeface="Symbol" panose="05050102010706020507" pitchFamily="18" charset="2"/>
              </a:rPr>
              <a:t>      (4) </a:t>
            </a:r>
            <a:r>
              <a:rPr lang="zh-CN" altLang="en-US"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L</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有  </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 </a:t>
            </a:r>
            <a:r>
              <a:rPr lang="zh-CN" altLang="en-US" sz="1200" b="1" dirty="0">
                <a:solidFill>
                  <a:schemeClr val="tx1"/>
                </a:solidFill>
                <a:latin typeface="Times New Roman" panose="02020603050405020304" pitchFamily="18" charset="0"/>
                <a:ea typeface="+mn-ea"/>
                <a:sym typeface="Symbol" panose="05050102010706020507" pitchFamily="18" charset="2"/>
              </a:rPr>
              <a:t>和 </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134</a:t>
            </a:fld>
            <a:endParaRPr lang="zh-CN" altLang="en-US"/>
          </a:p>
        </p:txBody>
      </p:sp>
    </p:spTree>
    <p:extLst>
      <p:ext uri="{BB962C8B-B14F-4D97-AF65-F5344CB8AC3E}">
        <p14:creationId xmlns:p14="http://schemas.microsoft.com/office/powerpoint/2010/main" val="428064820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 typeface="Wingdings" panose="05000000000000000000" pitchFamily="2" charset="2"/>
              <a:buNone/>
            </a:pPr>
            <a:r>
              <a:rPr lang="zh-CN" altLang="en-US" sz="1200" b="1" dirty="0">
                <a:solidFill>
                  <a:srgbClr val="00B0F0"/>
                </a:solidFill>
                <a:latin typeface="Times New Roman" panose="02020603050405020304" pitchFamily="18" charset="0"/>
                <a:ea typeface="+mn-ea"/>
                <a:cs typeface="Times New Roman" panose="02020603050405020304" pitchFamily="18" charset="0"/>
              </a:rPr>
              <a:t>证</a:t>
            </a:r>
            <a:r>
              <a:rPr lang="en-US" altLang="zh-CN" sz="1200" b="1" dirty="0">
                <a:solidFill>
                  <a:srgbClr val="00B0F0"/>
                </a:solidFill>
                <a:latin typeface="Times New Roman" panose="02020603050405020304" pitchFamily="18" charset="0"/>
                <a:ea typeface="+mn-ea"/>
                <a:cs typeface="Times New Roman" panose="02020603050405020304" pitchFamily="18" charset="0"/>
              </a:rPr>
              <a:t>:</a:t>
            </a:r>
            <a:r>
              <a:rPr lang="zh-CN" altLang="en-US" sz="1200" b="1" dirty="0">
                <a:solidFill>
                  <a:srgbClr val="00B0F0"/>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(1) </a:t>
            </a:r>
            <a:r>
              <a:rPr lang="zh-CN" altLang="en-US" sz="1200" b="1" dirty="0">
                <a:solidFill>
                  <a:schemeClr val="tx1"/>
                </a:solidFill>
                <a:latin typeface="Times New Roman" panose="02020603050405020304" pitchFamily="18" charset="0"/>
                <a:ea typeface="+mn-ea"/>
                <a:cs typeface="Times New Roman" panose="02020603050405020304" pitchFamily="18" charset="0"/>
              </a:rPr>
              <a:t>交换律</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p>
          <a:p>
            <a:pPr marL="0" indent="365125" eaLnBrk="1" hangingPunct="1">
              <a:buFont typeface="Wingdings" panose="05000000000000000000" pitchFamily="2" charset="2"/>
              <a:buNone/>
            </a:pP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是 </a:t>
            </a:r>
            <a:r>
              <a:rPr lang="en-US" altLang="zh-CN" sz="1200" b="1" dirty="0">
                <a:solidFill>
                  <a:schemeClr val="tx1"/>
                </a:solidFill>
                <a:latin typeface="Times New Roman" panose="02020603050405020304" pitchFamily="18" charset="0"/>
                <a:ea typeface="+mn-ea"/>
                <a:cs typeface="Times New Roman" panose="02020603050405020304" pitchFamily="18" charset="0"/>
              </a:rPr>
              <a:t>c</a:t>
            </a:r>
            <a:r>
              <a:rPr lang="zh-CN" altLang="en-US" sz="1200" b="1" dirty="0">
                <a:solidFill>
                  <a:schemeClr val="tx1"/>
                </a:solidFill>
                <a:latin typeface="Times New Roman" panose="02020603050405020304" pitchFamily="18" charset="0"/>
                <a:ea typeface="+mn-ea"/>
                <a:cs typeface="Times New Roman" panose="02020603050405020304" pitchFamily="18" charset="0"/>
              </a:rPr>
              <a:t>的最小上界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是 </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的最小上界</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因为 </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b </a:t>
            </a:r>
            <a:r>
              <a:rPr lang="en-US" altLang="zh-CN" sz="1200" b="1" dirty="0">
                <a:solidFill>
                  <a:schemeClr val="tx1"/>
                </a:solidFill>
                <a:latin typeface="Times New Roman" panose="02020603050405020304" pitchFamily="18" charset="0"/>
                <a:ea typeface="+mn-ea"/>
                <a:cs typeface="Times New Roman" panose="02020603050405020304" pitchFamily="18" charset="0"/>
              </a:rPr>
              <a:t>} = { </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a </a:t>
            </a:r>
            <a:r>
              <a:rPr lang="en-US" altLang="zh-CN" sz="1200" b="1" dirty="0">
                <a:solidFill>
                  <a:schemeClr val="tx1"/>
                </a:solidFill>
                <a:latin typeface="Times New Roman" panose="02020603050405020304" pitchFamily="18" charset="0"/>
                <a:ea typeface="+mn-ea"/>
                <a:cs typeface="Times New Roman" panose="02020603050405020304" pitchFamily="18" charset="0"/>
              </a:rPr>
              <a:t>} , </a:t>
            </a:r>
            <a:r>
              <a:rPr lang="zh-CN" altLang="en-US" sz="1200" b="1" dirty="0">
                <a:solidFill>
                  <a:schemeClr val="tx1"/>
                </a:solidFill>
                <a:latin typeface="Times New Roman" panose="02020603050405020304" pitchFamily="18" charset="0"/>
                <a:ea typeface="+mn-ea"/>
                <a:cs typeface="Times New Roman" panose="02020603050405020304" pitchFamily="18" charset="0"/>
              </a:rPr>
              <a:t>所以有</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p>
          <a:p>
            <a:pPr eaLnBrk="1" hangingPunct="1">
              <a:buFont typeface="Wingdings" panose="05000000000000000000" pitchFamily="2" charset="2"/>
              <a:buNone/>
            </a:pPr>
            <a:r>
              <a:rPr lang="zh-CN" altLang="en-US" sz="1200" b="1" dirty="0">
                <a:solidFill>
                  <a:schemeClr val="tx1"/>
                </a:solidFill>
                <a:latin typeface="Times New Roman" panose="02020603050405020304" pitchFamily="18" charset="0"/>
                <a:ea typeface="+mn-ea"/>
                <a:cs typeface="Times New Roman" panose="02020603050405020304" pitchFamily="18" charset="0"/>
              </a:rPr>
              <a:t>由对偶原理</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得证</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rgbClr val="FF0000"/>
                </a:solidFill>
                <a:latin typeface="Times New Roman" panose="02020603050405020304" pitchFamily="18" charset="0"/>
                <a:ea typeface="+mn-ea"/>
                <a:cs typeface="Times New Roman" panose="02020603050405020304" pitchFamily="18" charset="0"/>
              </a:rPr>
              <a:t>即交换律成立</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p>
          <a:p>
            <a:pPr marL="0" indent="0" eaLnBrk="1" hangingPunct="1"/>
            <a:r>
              <a:rPr lang="zh-CN" altLang="en-US" sz="1200" b="1" dirty="0">
                <a:solidFill>
                  <a:srgbClr val="00B0F0"/>
                </a:solidFill>
                <a:latin typeface="Times New Roman" panose="02020603050405020304" pitchFamily="18" charset="0"/>
                <a:ea typeface="+mn-ea"/>
                <a:cs typeface="Times New Roman" panose="02020603050405020304" pitchFamily="18" charset="0"/>
              </a:rPr>
              <a:t>证</a:t>
            </a:r>
            <a:r>
              <a:rPr lang="en-US" altLang="zh-CN" sz="1200" b="1" dirty="0">
                <a:solidFill>
                  <a:srgbClr val="00B0F0"/>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(2) </a:t>
            </a:r>
            <a:r>
              <a:rPr lang="zh-CN" altLang="en-US" sz="1200" b="1" dirty="0">
                <a:solidFill>
                  <a:schemeClr val="tx1"/>
                </a:solidFill>
                <a:latin typeface="Times New Roman" panose="02020603050405020304" pitchFamily="18" charset="0"/>
                <a:ea typeface="+mn-ea"/>
                <a:cs typeface="Times New Roman" panose="02020603050405020304" pitchFamily="18" charset="0"/>
              </a:rPr>
              <a:t>结合律</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由最小上界的定义有</a:t>
            </a:r>
            <a:r>
              <a:rPr lang="zh-CN" altLang="en-US" sz="1200" b="1" dirty="0">
                <a:solidFill>
                  <a:schemeClr val="tx1"/>
                </a:solidFill>
                <a:latin typeface="Times New Roman" panose="02020603050405020304" pitchFamily="18" charset="0"/>
                <a:ea typeface="+mn-ea"/>
                <a:sym typeface="Symbol" panose="05050102010706020507" pitchFamily="18" charset="2"/>
              </a:rPr>
              <a:t>下述不等式：</a:t>
            </a:r>
            <a:br>
              <a:rPr lang="zh-CN" altLang="en-US" sz="1200" b="1" dirty="0">
                <a:solidFill>
                  <a:schemeClr val="tx1"/>
                </a:solidFill>
                <a:latin typeface="Times New Roman" panose="02020603050405020304" pitchFamily="18" charset="0"/>
                <a:ea typeface="+mn-ea"/>
                <a:cs typeface="Times New Roman" panose="02020603050405020304" pitchFamily="18" charset="0"/>
              </a:rPr>
            </a:br>
            <a:r>
              <a:rPr lang="zh-CN" altLang="en-US" sz="1200" b="1" dirty="0">
                <a:solidFill>
                  <a:schemeClr val="tx1"/>
                </a:solidFill>
                <a:latin typeface="Times New Roman" panose="02020603050405020304" pitchFamily="18" charset="0"/>
                <a:ea typeface="+mn-ea"/>
                <a:sym typeface="Symbol" panose="05050102010706020507" pitchFamily="18" charset="2"/>
              </a:rPr>
              <a:t>由最小上界定义有下述不等式：</a:t>
            </a:r>
          </a:p>
          <a:p>
            <a:pPr eaLnBrk="1" hangingPunct="1"/>
            <a:r>
              <a:rPr lang="zh-CN" altLang="en-US"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ea typeface="+mn-ea"/>
                <a:sym typeface="Symbol" panose="05050102010706020507" pitchFamily="18" charset="2"/>
              </a:rPr>
              <a:t>①</a:t>
            </a:r>
            <a:br>
              <a:rPr lang="en-US" altLang="zh-CN" sz="1200" b="1" dirty="0">
                <a:solidFill>
                  <a:schemeClr val="tx1"/>
                </a:solidFill>
                <a:latin typeface="Times New Roman" panose="02020603050405020304" pitchFamily="18" charset="0"/>
                <a:ea typeface="+mn-ea"/>
                <a:sym typeface="Symbol" panose="05050102010706020507" pitchFamily="18" charset="2"/>
              </a:rPr>
            </a:b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ea typeface="+mn-ea"/>
                <a:sym typeface="Symbol" panose="05050102010706020507" pitchFamily="18" charset="2"/>
              </a:rPr>
              <a:t>②</a:t>
            </a:r>
            <a:br>
              <a:rPr lang="en-US" altLang="zh-CN" sz="1200" b="1" dirty="0">
                <a:solidFill>
                  <a:schemeClr val="tx1"/>
                </a:solidFill>
                <a:latin typeface="Times New Roman" panose="02020603050405020304" pitchFamily="18" charset="0"/>
                <a:ea typeface="+mn-ea"/>
                <a:sym typeface="Symbol" panose="05050102010706020507" pitchFamily="18" charset="2"/>
              </a:rPr>
            </a:b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ea typeface="+mn-ea"/>
                <a:sym typeface="Symbol" panose="05050102010706020507" pitchFamily="18" charset="2"/>
              </a:rPr>
              <a:t>③</a:t>
            </a:r>
            <a:br>
              <a:rPr lang="en-US" altLang="zh-CN" sz="1200" b="1" dirty="0">
                <a:solidFill>
                  <a:schemeClr val="tx1"/>
                </a:solidFill>
                <a:latin typeface="Times New Roman" panose="02020603050405020304" pitchFamily="18" charset="0"/>
                <a:ea typeface="+mn-ea"/>
                <a:sym typeface="Symbol" panose="05050102010706020507" pitchFamily="18" charset="2"/>
              </a:rPr>
            </a:br>
            <a:r>
              <a:rPr lang="zh-CN" altLang="en-US" sz="1200" b="1" dirty="0">
                <a:solidFill>
                  <a:schemeClr val="tx1"/>
                </a:solidFill>
                <a:latin typeface="Times New Roman" panose="02020603050405020304" pitchFamily="18" charset="0"/>
                <a:ea typeface="+mn-ea"/>
                <a:sym typeface="Symbol" panose="05050102010706020507" pitchFamily="18" charset="2"/>
              </a:rPr>
              <a:t>由式 </a:t>
            </a:r>
            <a:r>
              <a:rPr lang="en-US" altLang="zh-CN" sz="1200" b="1" dirty="0">
                <a:solidFill>
                  <a:schemeClr val="tx1"/>
                </a:solidFill>
                <a:latin typeface="宋体" panose="02010600030101010101" pitchFamily="2" charset="-122"/>
                <a:ea typeface="+mn-ea"/>
                <a:sym typeface="Symbol" panose="05050102010706020507" pitchFamily="18" charset="2"/>
              </a:rPr>
              <a:t>②</a:t>
            </a:r>
            <a:r>
              <a:rPr lang="zh-CN" altLang="en-US" sz="1200" b="1" dirty="0">
                <a:solidFill>
                  <a:schemeClr val="tx1"/>
                </a:solidFill>
                <a:latin typeface="宋体" panose="02010600030101010101" pitchFamily="2" charset="-122"/>
                <a:ea typeface="+mn-ea"/>
                <a:sym typeface="Symbol" panose="05050102010706020507" pitchFamily="18" charset="2"/>
              </a:rPr>
              <a:t>和</a:t>
            </a:r>
            <a:r>
              <a:rPr lang="en-US" altLang="zh-CN" sz="1200" b="1" dirty="0">
                <a:solidFill>
                  <a:schemeClr val="tx1"/>
                </a:solidFill>
                <a:ea typeface="+mn-ea"/>
                <a:sym typeface="Symbol" panose="05050102010706020507" pitchFamily="18" charset="2"/>
              </a:rPr>
              <a:t>③</a:t>
            </a:r>
            <a:endParaRPr lang="zh-CN" altLang="en-US" sz="1200" b="1" dirty="0">
              <a:solidFill>
                <a:schemeClr val="tx1"/>
              </a:solidFill>
              <a:latin typeface="Times New Roman" panose="02020603050405020304" pitchFamily="18" charset="0"/>
              <a:ea typeface="+mn-ea"/>
              <a:sym typeface="Symbol" panose="05050102010706020507" pitchFamily="18" charset="2"/>
            </a:endParaRPr>
          </a:p>
          <a:p>
            <a:pPr eaLnBrk="1" hangingPunct="1"/>
            <a:r>
              <a:rPr lang="zh-CN" altLang="en-US"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ea typeface="+mn-ea"/>
                <a:sym typeface="Symbol" panose="05050102010706020507" pitchFamily="18" charset="2"/>
              </a:rPr>
              <a:t>④</a:t>
            </a:r>
            <a:endParaRPr lang="en-US" altLang="zh-CN" sz="1200" b="1" dirty="0">
              <a:solidFill>
                <a:schemeClr val="tx1"/>
              </a:solidFill>
              <a:latin typeface="Times New Roman" panose="02020603050405020304" pitchFamily="18" charset="0"/>
              <a:ea typeface="+mn-ea"/>
              <a:sym typeface="Symbol" panose="05050102010706020507" pitchFamily="18" charset="2"/>
            </a:endParaRPr>
          </a:p>
          <a:p>
            <a:pPr eaLnBrk="1" hangingPunct="1"/>
            <a:r>
              <a:rPr lang="zh-CN" altLang="en-US" sz="1200" b="1" dirty="0">
                <a:solidFill>
                  <a:schemeClr val="tx1"/>
                </a:solidFill>
                <a:latin typeface="Times New Roman" panose="02020603050405020304" pitchFamily="18" charset="0"/>
                <a:ea typeface="+mn-ea"/>
                <a:sym typeface="Symbol" panose="05050102010706020507" pitchFamily="18" charset="2"/>
              </a:rPr>
              <a:t>由式</a:t>
            </a:r>
            <a:r>
              <a:rPr lang="en-US" altLang="zh-CN" sz="1200" b="1" dirty="0">
                <a:solidFill>
                  <a:schemeClr val="tx1"/>
                </a:solidFill>
                <a:ea typeface="+mn-ea"/>
                <a:sym typeface="Symbol" panose="05050102010706020507" pitchFamily="18" charset="2"/>
              </a:rPr>
              <a:t>①</a:t>
            </a:r>
            <a:r>
              <a:rPr lang="zh-CN" altLang="en-US" sz="1200" b="1" dirty="0">
                <a:solidFill>
                  <a:schemeClr val="tx1"/>
                </a:solidFill>
                <a:latin typeface="Times New Roman" panose="02020603050405020304" pitchFamily="18" charset="0"/>
                <a:ea typeface="+mn-ea"/>
                <a:sym typeface="Symbol" panose="05050102010706020507" pitchFamily="18" charset="2"/>
              </a:rPr>
              <a:t>和</a:t>
            </a:r>
            <a:r>
              <a:rPr lang="en-US" altLang="zh-CN" sz="1200" b="1" dirty="0">
                <a:solidFill>
                  <a:schemeClr val="tx1"/>
                </a:solidFill>
                <a:ea typeface="+mn-ea"/>
                <a:sym typeface="Symbol" panose="05050102010706020507" pitchFamily="18" charset="2"/>
              </a:rPr>
              <a:t>④</a:t>
            </a:r>
            <a:r>
              <a:rPr lang="zh-CN" altLang="en-US" sz="1200" b="1" dirty="0">
                <a:solidFill>
                  <a:schemeClr val="tx1"/>
                </a:solidFill>
                <a:latin typeface="Times New Roman" panose="02020603050405020304" pitchFamily="18" charset="0"/>
                <a:ea typeface="+mn-ea"/>
                <a:sym typeface="Symbol" panose="05050102010706020507" pitchFamily="18" charset="2"/>
              </a:rPr>
              <a:t>有  </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pPr eaLnBrk="1" hangingPunct="1"/>
            <a:r>
              <a:rPr lang="zh-CN" altLang="en-US" sz="1200" b="1" dirty="0">
                <a:solidFill>
                  <a:schemeClr val="tx1"/>
                </a:solidFill>
                <a:latin typeface="Times New Roman" panose="02020603050405020304" pitchFamily="18" charset="0"/>
                <a:ea typeface="+mn-ea"/>
                <a:sym typeface="Symbol" panose="05050102010706020507" pitchFamily="18" charset="2"/>
              </a:rPr>
              <a:t>同理可证          </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135</a:t>
            </a:fld>
            <a:endParaRPr lang="zh-CN" altLang="en-US"/>
          </a:p>
        </p:txBody>
      </p:sp>
    </p:spTree>
    <p:extLst>
      <p:ext uri="{BB962C8B-B14F-4D97-AF65-F5344CB8AC3E}">
        <p14:creationId xmlns:p14="http://schemas.microsoft.com/office/powerpoint/2010/main" val="60147520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 typeface="Wingdings" panose="05000000000000000000" pitchFamily="2" charset="2"/>
              <a:buNone/>
            </a:pPr>
            <a:r>
              <a:rPr lang="zh-CN" altLang="en-US" sz="1200" b="1" dirty="0">
                <a:solidFill>
                  <a:srgbClr val="00B0F0"/>
                </a:solidFill>
                <a:latin typeface="Times New Roman" panose="02020603050405020304" pitchFamily="18" charset="0"/>
                <a:ea typeface="+mn-ea"/>
                <a:cs typeface="Times New Roman" panose="02020603050405020304" pitchFamily="18" charset="0"/>
              </a:rPr>
              <a:t>证</a:t>
            </a:r>
            <a:r>
              <a:rPr lang="en-US" altLang="zh-CN" sz="1200" b="1" dirty="0">
                <a:solidFill>
                  <a:srgbClr val="00B0F0"/>
                </a:solidFill>
                <a:latin typeface="Times New Roman" panose="02020603050405020304" pitchFamily="18" charset="0"/>
                <a:ea typeface="+mn-ea"/>
                <a:cs typeface="Times New Roman" panose="02020603050405020304" pitchFamily="18" charset="0"/>
              </a:rPr>
              <a:t>:</a:t>
            </a:r>
            <a:r>
              <a:rPr lang="zh-CN" altLang="en-US" sz="1200" b="1" dirty="0">
                <a:solidFill>
                  <a:srgbClr val="00B0F0"/>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(1) </a:t>
            </a:r>
            <a:r>
              <a:rPr lang="zh-CN" altLang="en-US" sz="1200" b="1" dirty="0">
                <a:solidFill>
                  <a:schemeClr val="tx1"/>
                </a:solidFill>
                <a:latin typeface="Times New Roman" panose="02020603050405020304" pitchFamily="18" charset="0"/>
                <a:ea typeface="+mn-ea"/>
                <a:cs typeface="Times New Roman" panose="02020603050405020304" pitchFamily="18" charset="0"/>
              </a:rPr>
              <a:t>交换律</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p>
          <a:p>
            <a:pPr marL="0" indent="365125" eaLnBrk="1" hangingPunct="1">
              <a:buFont typeface="Wingdings" panose="05000000000000000000" pitchFamily="2" charset="2"/>
              <a:buNone/>
            </a:pP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是 </a:t>
            </a:r>
            <a:r>
              <a:rPr lang="en-US" altLang="zh-CN" sz="1200" b="1" dirty="0">
                <a:solidFill>
                  <a:schemeClr val="tx1"/>
                </a:solidFill>
                <a:latin typeface="Times New Roman" panose="02020603050405020304" pitchFamily="18" charset="0"/>
                <a:ea typeface="+mn-ea"/>
                <a:cs typeface="Times New Roman" panose="02020603050405020304" pitchFamily="18" charset="0"/>
              </a:rPr>
              <a:t>c</a:t>
            </a:r>
            <a:r>
              <a:rPr lang="zh-CN" altLang="en-US" sz="1200" b="1" dirty="0">
                <a:solidFill>
                  <a:schemeClr val="tx1"/>
                </a:solidFill>
                <a:latin typeface="Times New Roman" panose="02020603050405020304" pitchFamily="18" charset="0"/>
                <a:ea typeface="+mn-ea"/>
                <a:cs typeface="Times New Roman" panose="02020603050405020304" pitchFamily="18" charset="0"/>
              </a:rPr>
              <a:t>的最小上界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是 </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的最小上界</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因为 </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b </a:t>
            </a:r>
            <a:r>
              <a:rPr lang="en-US" altLang="zh-CN" sz="1200" b="1" dirty="0">
                <a:solidFill>
                  <a:schemeClr val="tx1"/>
                </a:solidFill>
                <a:latin typeface="Times New Roman" panose="02020603050405020304" pitchFamily="18" charset="0"/>
                <a:ea typeface="+mn-ea"/>
                <a:cs typeface="Times New Roman" panose="02020603050405020304" pitchFamily="18" charset="0"/>
              </a:rPr>
              <a:t>} = { </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a </a:t>
            </a:r>
            <a:r>
              <a:rPr lang="en-US" altLang="zh-CN" sz="1200" b="1" dirty="0">
                <a:solidFill>
                  <a:schemeClr val="tx1"/>
                </a:solidFill>
                <a:latin typeface="Times New Roman" panose="02020603050405020304" pitchFamily="18" charset="0"/>
                <a:ea typeface="+mn-ea"/>
                <a:cs typeface="Times New Roman" panose="02020603050405020304" pitchFamily="18" charset="0"/>
              </a:rPr>
              <a:t>} , </a:t>
            </a:r>
            <a:r>
              <a:rPr lang="zh-CN" altLang="en-US" sz="1200" b="1" dirty="0">
                <a:solidFill>
                  <a:schemeClr val="tx1"/>
                </a:solidFill>
                <a:latin typeface="Times New Roman" panose="02020603050405020304" pitchFamily="18" charset="0"/>
                <a:ea typeface="+mn-ea"/>
                <a:cs typeface="Times New Roman" panose="02020603050405020304" pitchFamily="18" charset="0"/>
              </a:rPr>
              <a:t>所以有</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p>
          <a:p>
            <a:pPr eaLnBrk="1" hangingPunct="1">
              <a:buFont typeface="Wingdings" panose="05000000000000000000" pitchFamily="2" charset="2"/>
              <a:buNone/>
            </a:pPr>
            <a:r>
              <a:rPr lang="zh-CN" altLang="en-US" sz="1200" b="1" dirty="0">
                <a:solidFill>
                  <a:schemeClr val="tx1"/>
                </a:solidFill>
                <a:latin typeface="Times New Roman" panose="02020603050405020304" pitchFamily="18" charset="0"/>
                <a:ea typeface="+mn-ea"/>
                <a:cs typeface="Times New Roman" panose="02020603050405020304" pitchFamily="18" charset="0"/>
              </a:rPr>
              <a:t>由对偶原理</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得证</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rgbClr val="FF0000"/>
                </a:solidFill>
                <a:latin typeface="Times New Roman" panose="02020603050405020304" pitchFamily="18" charset="0"/>
                <a:ea typeface="+mn-ea"/>
                <a:cs typeface="Times New Roman" panose="02020603050405020304" pitchFamily="18" charset="0"/>
              </a:rPr>
              <a:t>即交换律成立</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p>
          <a:p>
            <a:pPr marL="0" indent="0" eaLnBrk="1" hangingPunct="1"/>
            <a:r>
              <a:rPr lang="zh-CN" altLang="en-US" sz="1200" b="1" dirty="0">
                <a:solidFill>
                  <a:srgbClr val="00B0F0"/>
                </a:solidFill>
                <a:latin typeface="Times New Roman" panose="02020603050405020304" pitchFamily="18" charset="0"/>
                <a:ea typeface="+mn-ea"/>
                <a:cs typeface="Times New Roman" panose="02020603050405020304" pitchFamily="18" charset="0"/>
              </a:rPr>
              <a:t>证</a:t>
            </a:r>
            <a:r>
              <a:rPr lang="en-US" altLang="zh-CN" sz="1200" b="1" dirty="0">
                <a:solidFill>
                  <a:srgbClr val="00B0F0"/>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(2) </a:t>
            </a:r>
            <a:r>
              <a:rPr lang="zh-CN" altLang="en-US" sz="1200" b="1" dirty="0">
                <a:solidFill>
                  <a:schemeClr val="tx1"/>
                </a:solidFill>
                <a:latin typeface="Times New Roman" panose="02020603050405020304" pitchFamily="18" charset="0"/>
                <a:ea typeface="+mn-ea"/>
                <a:cs typeface="Times New Roman" panose="02020603050405020304" pitchFamily="18" charset="0"/>
              </a:rPr>
              <a:t>结合律</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由最小上界的定义有</a:t>
            </a:r>
            <a:r>
              <a:rPr lang="zh-CN" altLang="en-US" sz="1200" b="1" dirty="0">
                <a:solidFill>
                  <a:schemeClr val="tx1"/>
                </a:solidFill>
                <a:latin typeface="Times New Roman" panose="02020603050405020304" pitchFamily="18" charset="0"/>
                <a:ea typeface="+mn-ea"/>
                <a:sym typeface="Symbol" panose="05050102010706020507" pitchFamily="18" charset="2"/>
              </a:rPr>
              <a:t>下述不等式：</a:t>
            </a:r>
            <a:br>
              <a:rPr lang="zh-CN" altLang="en-US" sz="1200" b="1" dirty="0">
                <a:solidFill>
                  <a:schemeClr val="tx1"/>
                </a:solidFill>
                <a:latin typeface="Times New Roman" panose="02020603050405020304" pitchFamily="18" charset="0"/>
                <a:ea typeface="+mn-ea"/>
                <a:cs typeface="Times New Roman" panose="02020603050405020304" pitchFamily="18" charset="0"/>
              </a:rPr>
            </a:br>
            <a:r>
              <a:rPr lang="zh-CN" altLang="en-US" sz="1200" b="1" dirty="0">
                <a:solidFill>
                  <a:schemeClr val="tx1"/>
                </a:solidFill>
                <a:latin typeface="Times New Roman" panose="02020603050405020304" pitchFamily="18" charset="0"/>
                <a:ea typeface="+mn-ea"/>
                <a:sym typeface="Symbol" panose="05050102010706020507" pitchFamily="18" charset="2"/>
              </a:rPr>
              <a:t>由最小上界定义有下述不等式：</a:t>
            </a:r>
          </a:p>
          <a:p>
            <a:pPr eaLnBrk="1" hangingPunct="1"/>
            <a:r>
              <a:rPr lang="zh-CN" altLang="en-US"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ea typeface="+mn-ea"/>
                <a:sym typeface="Symbol" panose="05050102010706020507" pitchFamily="18" charset="2"/>
              </a:rPr>
              <a:t>①</a:t>
            </a:r>
            <a:br>
              <a:rPr lang="en-US" altLang="zh-CN" sz="1200" b="1" dirty="0">
                <a:solidFill>
                  <a:schemeClr val="tx1"/>
                </a:solidFill>
                <a:latin typeface="Times New Roman" panose="02020603050405020304" pitchFamily="18" charset="0"/>
                <a:ea typeface="+mn-ea"/>
                <a:sym typeface="Symbol" panose="05050102010706020507" pitchFamily="18" charset="2"/>
              </a:rPr>
            </a:b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ea typeface="+mn-ea"/>
                <a:sym typeface="Symbol" panose="05050102010706020507" pitchFamily="18" charset="2"/>
              </a:rPr>
              <a:t>②</a:t>
            </a:r>
            <a:br>
              <a:rPr lang="en-US" altLang="zh-CN" sz="1200" b="1" dirty="0">
                <a:solidFill>
                  <a:schemeClr val="tx1"/>
                </a:solidFill>
                <a:latin typeface="Times New Roman" panose="02020603050405020304" pitchFamily="18" charset="0"/>
                <a:ea typeface="+mn-ea"/>
                <a:sym typeface="Symbol" panose="05050102010706020507" pitchFamily="18" charset="2"/>
              </a:rPr>
            </a:b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ea typeface="+mn-ea"/>
                <a:sym typeface="Symbol" panose="05050102010706020507" pitchFamily="18" charset="2"/>
              </a:rPr>
              <a:t>③</a:t>
            </a:r>
            <a:br>
              <a:rPr lang="en-US" altLang="zh-CN" sz="1200" b="1" dirty="0">
                <a:solidFill>
                  <a:schemeClr val="tx1"/>
                </a:solidFill>
                <a:latin typeface="Times New Roman" panose="02020603050405020304" pitchFamily="18" charset="0"/>
                <a:ea typeface="+mn-ea"/>
                <a:sym typeface="Symbol" panose="05050102010706020507" pitchFamily="18" charset="2"/>
              </a:rPr>
            </a:br>
            <a:r>
              <a:rPr lang="zh-CN" altLang="en-US" sz="1200" b="1" dirty="0">
                <a:solidFill>
                  <a:schemeClr val="tx1"/>
                </a:solidFill>
                <a:latin typeface="Times New Roman" panose="02020603050405020304" pitchFamily="18" charset="0"/>
                <a:ea typeface="+mn-ea"/>
                <a:sym typeface="Symbol" panose="05050102010706020507" pitchFamily="18" charset="2"/>
              </a:rPr>
              <a:t>由式 </a:t>
            </a:r>
            <a:r>
              <a:rPr lang="en-US" altLang="zh-CN" sz="1200" b="1" dirty="0">
                <a:solidFill>
                  <a:schemeClr val="tx1"/>
                </a:solidFill>
                <a:latin typeface="宋体" panose="02010600030101010101" pitchFamily="2" charset="-122"/>
                <a:ea typeface="+mn-ea"/>
                <a:sym typeface="Symbol" panose="05050102010706020507" pitchFamily="18" charset="2"/>
              </a:rPr>
              <a:t>②</a:t>
            </a:r>
            <a:r>
              <a:rPr lang="zh-CN" altLang="en-US" sz="1200" b="1" dirty="0">
                <a:solidFill>
                  <a:schemeClr val="tx1"/>
                </a:solidFill>
                <a:latin typeface="宋体" panose="02010600030101010101" pitchFamily="2" charset="-122"/>
                <a:ea typeface="+mn-ea"/>
                <a:sym typeface="Symbol" panose="05050102010706020507" pitchFamily="18" charset="2"/>
              </a:rPr>
              <a:t>和</a:t>
            </a:r>
            <a:r>
              <a:rPr lang="en-US" altLang="zh-CN" sz="1200" b="1" dirty="0">
                <a:solidFill>
                  <a:schemeClr val="tx1"/>
                </a:solidFill>
                <a:ea typeface="+mn-ea"/>
                <a:sym typeface="Symbol" panose="05050102010706020507" pitchFamily="18" charset="2"/>
              </a:rPr>
              <a:t>③</a:t>
            </a:r>
            <a:endParaRPr lang="zh-CN" altLang="en-US" sz="1200" b="1" dirty="0">
              <a:solidFill>
                <a:schemeClr val="tx1"/>
              </a:solidFill>
              <a:latin typeface="Times New Roman" panose="02020603050405020304" pitchFamily="18" charset="0"/>
              <a:ea typeface="+mn-ea"/>
              <a:sym typeface="Symbol" panose="05050102010706020507" pitchFamily="18" charset="2"/>
            </a:endParaRPr>
          </a:p>
          <a:p>
            <a:pPr eaLnBrk="1" hangingPunct="1"/>
            <a:r>
              <a:rPr lang="zh-CN" altLang="en-US"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dirty="0">
                <a:solidFill>
                  <a:schemeClr val="tx1"/>
                </a:solidFill>
                <a:ea typeface="+mn-ea"/>
                <a:sym typeface="Symbol" panose="05050102010706020507" pitchFamily="18" charset="2"/>
              </a:rPr>
              <a:t>④</a:t>
            </a:r>
            <a:endParaRPr lang="en-US" altLang="zh-CN" sz="1200" b="1" dirty="0">
              <a:solidFill>
                <a:schemeClr val="tx1"/>
              </a:solidFill>
              <a:latin typeface="Times New Roman" panose="02020603050405020304" pitchFamily="18" charset="0"/>
              <a:ea typeface="+mn-ea"/>
              <a:sym typeface="Symbol" panose="05050102010706020507" pitchFamily="18" charset="2"/>
            </a:endParaRPr>
          </a:p>
          <a:p>
            <a:pPr eaLnBrk="1" hangingPunct="1"/>
            <a:r>
              <a:rPr lang="zh-CN" altLang="en-US" sz="1200" b="1" dirty="0">
                <a:solidFill>
                  <a:schemeClr val="tx1"/>
                </a:solidFill>
                <a:latin typeface="Times New Roman" panose="02020603050405020304" pitchFamily="18" charset="0"/>
                <a:ea typeface="+mn-ea"/>
                <a:sym typeface="Symbol" panose="05050102010706020507" pitchFamily="18" charset="2"/>
              </a:rPr>
              <a:t>由式</a:t>
            </a:r>
            <a:r>
              <a:rPr lang="en-US" altLang="zh-CN" sz="1200" b="1" dirty="0">
                <a:solidFill>
                  <a:schemeClr val="tx1"/>
                </a:solidFill>
                <a:ea typeface="+mn-ea"/>
                <a:sym typeface="Symbol" panose="05050102010706020507" pitchFamily="18" charset="2"/>
              </a:rPr>
              <a:t>①</a:t>
            </a:r>
            <a:r>
              <a:rPr lang="zh-CN" altLang="en-US" sz="1200" b="1" dirty="0">
                <a:solidFill>
                  <a:schemeClr val="tx1"/>
                </a:solidFill>
                <a:latin typeface="Times New Roman" panose="02020603050405020304" pitchFamily="18" charset="0"/>
                <a:ea typeface="+mn-ea"/>
                <a:sym typeface="Symbol" panose="05050102010706020507" pitchFamily="18" charset="2"/>
              </a:rPr>
              <a:t>和</a:t>
            </a:r>
            <a:r>
              <a:rPr lang="en-US" altLang="zh-CN" sz="1200" b="1" dirty="0">
                <a:solidFill>
                  <a:schemeClr val="tx1"/>
                </a:solidFill>
                <a:ea typeface="+mn-ea"/>
                <a:sym typeface="Symbol" panose="05050102010706020507" pitchFamily="18" charset="2"/>
              </a:rPr>
              <a:t>④</a:t>
            </a:r>
            <a:r>
              <a:rPr lang="zh-CN" altLang="en-US" sz="1200" b="1" dirty="0">
                <a:solidFill>
                  <a:schemeClr val="tx1"/>
                </a:solidFill>
                <a:latin typeface="Times New Roman" panose="02020603050405020304" pitchFamily="18" charset="0"/>
                <a:ea typeface="+mn-ea"/>
                <a:sym typeface="Symbol" panose="05050102010706020507" pitchFamily="18" charset="2"/>
              </a:rPr>
              <a:t>有  </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pPr eaLnBrk="1" hangingPunct="1"/>
            <a:r>
              <a:rPr lang="zh-CN" altLang="en-US" sz="1200" b="1" dirty="0">
                <a:solidFill>
                  <a:schemeClr val="tx1"/>
                </a:solidFill>
                <a:latin typeface="Times New Roman" panose="02020603050405020304" pitchFamily="18" charset="0"/>
                <a:ea typeface="+mn-ea"/>
                <a:sym typeface="Symbol" panose="05050102010706020507" pitchFamily="18" charset="2"/>
              </a:rPr>
              <a:t>同理可证          </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c</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136</a:t>
            </a:fld>
            <a:endParaRPr lang="zh-CN" altLang="en-US"/>
          </a:p>
        </p:txBody>
      </p:sp>
    </p:spTree>
    <p:extLst>
      <p:ext uri="{BB962C8B-B14F-4D97-AF65-F5344CB8AC3E}">
        <p14:creationId xmlns:p14="http://schemas.microsoft.com/office/powerpoint/2010/main" val="271748599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b="1" kern="2200" dirty="0">
                <a:solidFill>
                  <a:srgbClr val="000000"/>
                </a:solidFill>
                <a:effectLst/>
                <a:latin typeface="Times New Roman" panose="02020603050405020304" pitchFamily="18" charset="0"/>
                <a:ea typeface="宋体" panose="02010600030101010101" pitchFamily="2" charset="-122"/>
                <a:cs typeface="Segoe UI" panose="020B0502040204020203" pitchFamily="34" charset="0"/>
              </a:rPr>
              <a:t>代数系统 </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2200" dirty="0">
                <a:solidFill>
                  <a:srgbClr val="0D0D0D"/>
                </a:solidFill>
                <a:effectLst/>
                <a:latin typeface="KaTeX_Math"/>
                <a:ea typeface="宋体" panose="02010600030101010101" pitchFamily="2" charset="-122"/>
                <a:cs typeface="Times New Roman" panose="02020603050405020304" pitchFamily="18" charset="0"/>
              </a:rPr>
              <a:t>S</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2200" dirty="0">
                <a:solidFill>
                  <a:srgbClr val="0D0D0D"/>
                </a:solidFill>
                <a:effectLst/>
                <a:latin typeface="Times New Roman" panose="02020603050405020304" pitchFamily="18" charset="0"/>
                <a:ea typeface="MS Gothic" panose="020B0609070205080204" pitchFamily="49" charset="-128"/>
                <a:cs typeface="MS Gothic" panose="020B0609070205080204" pitchFamily="49" charset="-128"/>
              </a:rPr>
              <a:t>∗</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2200" dirty="0">
                <a:solidFill>
                  <a:srgbClr val="0D0D0D"/>
                </a:solidFill>
                <a:effectLst/>
                <a:latin typeface="Times New Roman" panose="02020603050405020304" pitchFamily="18" charset="0"/>
                <a:ea typeface="MS Gothic" panose="020B0609070205080204" pitchFamily="49" charset="-128"/>
                <a:cs typeface="MS Gothic" panose="020B0609070205080204" pitchFamily="49" charset="-128"/>
              </a:rPr>
              <a:t>∘</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22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2200" dirty="0">
                <a:solidFill>
                  <a:srgbClr val="000000"/>
                </a:solidFill>
                <a:effectLst/>
                <a:latin typeface="Times New Roman" panose="02020603050405020304" pitchFamily="18" charset="0"/>
                <a:ea typeface="宋体" panose="02010600030101010101" pitchFamily="2" charset="-122"/>
                <a:cs typeface="Segoe UI" panose="020B0502040204020203" pitchFamily="34" charset="0"/>
              </a:rPr>
              <a:t>转化为一个格结构</a:t>
            </a:r>
            <a:r>
              <a:rPr lang="zh-CN"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2200" dirty="0">
                <a:solidFill>
                  <a:srgbClr val="0D0D0D"/>
                </a:solidFill>
                <a:effectLst/>
                <a:latin typeface="KaTeX_Math"/>
                <a:ea typeface="宋体" panose="02010600030101010101" pitchFamily="2" charset="-122"/>
                <a:cs typeface="Times New Roman" panose="02020603050405020304" pitchFamily="18" charset="0"/>
              </a:rPr>
              <a:t>S</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2200" dirty="0">
                <a:solidFill>
                  <a:srgbClr val="0D0D0D"/>
                </a:solidFill>
                <a:effectLst/>
                <a:latin typeface="Cambria Math" panose="02040503050406030204" pitchFamily="18" charset="0"/>
                <a:ea typeface="宋体" panose="02010600030101010101" pitchFamily="2" charset="-122"/>
                <a:cs typeface="Cambria Math" panose="02040503050406030204" pitchFamily="18" charset="0"/>
              </a:rPr>
              <a:t>⪯</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的用途：</a:t>
            </a:r>
            <a:endPar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可以将代数系统的运算属性（交换律、结合律和吸收律）与格的序属性联系起来，从而在一个统一的框架下研究代数系统。</a:t>
            </a:r>
            <a:endPar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研究元素的上确界和下确界通常比直接处理代数运算要简单得多。</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通过偏序关系，可以更方便地进行推理和计算</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在计算机科学中，格结构被广泛应用于数据流分析、类型推断、形式化验证等方面。</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翻译英文：定义 设</a:t>
            </a:r>
            <a:r>
              <a:rPr lang="en-US" altLang="zh-CN" sz="1800" dirty="0"/>
              <a:t>c</a:t>
            </a:r>
            <a:r>
              <a:rPr lang="zh-CN" altLang="en-US" sz="1800" dirty="0"/>
              <a:t>是具有两个二元运算的代数系统</a:t>
            </a:r>
            <a:r>
              <a:rPr lang="en-US" altLang="zh-CN" sz="1800" dirty="0"/>
              <a:t>, </a:t>
            </a:r>
            <a:r>
              <a:rPr lang="zh-CN" altLang="en-US" sz="1800" dirty="0"/>
              <a:t>若对于∗和运算适合交换律、结合律、吸收律</a:t>
            </a:r>
            <a:r>
              <a:rPr lang="en-US" altLang="zh-CN" sz="1800" dirty="0"/>
              <a:t>, </a:t>
            </a:r>
            <a:r>
              <a:rPr lang="zh-CN" altLang="en-US" sz="1800" dirty="0"/>
              <a:t>则可以适当定义</a:t>
            </a:r>
            <a:r>
              <a:rPr lang="en-US" altLang="zh-CN" sz="1800" dirty="0"/>
              <a:t>S</a:t>
            </a:r>
            <a:r>
              <a:rPr lang="zh-CN" altLang="en-US" sz="1800" dirty="0"/>
              <a:t>中的偏序≼</a:t>
            </a:r>
            <a:r>
              <a:rPr lang="en-US" altLang="zh-CN" sz="1800" dirty="0"/>
              <a:t>,</a:t>
            </a:r>
            <a:r>
              <a:rPr lang="zh-CN" altLang="en-US" sz="1800" dirty="0"/>
              <a:t>使得</a:t>
            </a:r>
            <a:r>
              <a:rPr lang="en-US" altLang="zh-CN" sz="1800" dirty="0"/>
              <a:t>&lt;S, ≼&gt;</a:t>
            </a:r>
            <a:r>
              <a:rPr lang="zh-CN" altLang="en-US" sz="1800" dirty="0"/>
              <a:t>构成格</a:t>
            </a:r>
            <a:r>
              <a:rPr lang="en-US" altLang="zh-CN" sz="1800" dirty="0"/>
              <a:t>, </a:t>
            </a:r>
            <a:r>
              <a:rPr lang="zh-CN" altLang="en-US" sz="1800" dirty="0"/>
              <a:t>且</a:t>
            </a:r>
            <a:r>
              <a:rPr lang="en-US" altLang="zh-CN" sz="1800" dirty="0" err="1"/>
              <a:t>a,b∈S</a:t>
            </a:r>
            <a:r>
              <a:rPr lang="zh-CN" altLang="en-US" sz="1800" dirty="0"/>
              <a:t>有 </a:t>
            </a:r>
            <a:r>
              <a:rPr lang="en-US" altLang="zh-CN" sz="1800" dirty="0" err="1"/>
              <a:t>a∧b</a:t>
            </a:r>
            <a:r>
              <a:rPr lang="en-US" altLang="zh-CN" sz="1800" dirty="0"/>
              <a:t> = </a:t>
            </a:r>
            <a:r>
              <a:rPr lang="en-US" altLang="zh-CN" sz="1800" dirty="0" err="1"/>
              <a:t>a∗b</a:t>
            </a:r>
            <a:r>
              <a:rPr lang="zh-CN" altLang="en-US" sz="1800" dirty="0"/>
              <a:t>和</a:t>
            </a:r>
            <a:r>
              <a:rPr lang="en-US" altLang="zh-CN" sz="1800" dirty="0" err="1"/>
              <a:t>a∨b</a:t>
            </a:r>
            <a:r>
              <a:rPr lang="en-US" altLang="zh-CN" sz="1800" dirty="0"/>
              <a:t> = </a:t>
            </a:r>
            <a:r>
              <a:rPr lang="en-US" altLang="zh-CN" sz="1800" dirty="0" err="1"/>
              <a:t>ab</a:t>
            </a:r>
            <a:r>
              <a:rPr lang="en-US" altLang="zh-CN" sz="1800" dirty="0"/>
              <a:t>.</a:t>
            </a:r>
          </a:p>
          <a:p>
            <a:pPr eaLnBrk="1" hangingPunct="1">
              <a:lnSpc>
                <a:spcPct val="130000"/>
              </a:lnSpc>
              <a:buFont typeface="Wingdings" panose="05000000000000000000" pitchFamily="2" charset="2"/>
              <a:buNone/>
            </a:pPr>
            <a:r>
              <a:rPr lang="zh-CN" altLang="en-US" sz="1800" b="1" dirty="0">
                <a:solidFill>
                  <a:srgbClr val="FF0000"/>
                </a:solidFill>
                <a:latin typeface="Times New Roman" panose="02020603050405020304" pitchFamily="18" charset="0"/>
                <a:ea typeface="+mn-ea"/>
                <a:cs typeface="Times New Roman" panose="02020603050405020304" pitchFamily="18" charset="0"/>
              </a:rPr>
              <a:t>反对称性成立</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p>
          <a:p>
            <a:pPr eaLnBrk="1" hangingPunct="1">
              <a:lnSpc>
                <a:spcPct val="130000"/>
              </a:lnSpc>
              <a:buFont typeface="Wingdings" panose="05000000000000000000" pitchFamily="2" charset="2"/>
              <a:buNone/>
            </a:pPr>
            <a:r>
              <a:rPr lang="en-US" altLang="zh-CN" sz="1800" b="1" dirty="0">
                <a:solidFill>
                  <a:srgbClr val="0D0D0D"/>
                </a:solidFill>
                <a:latin typeface="Times New Roman" panose="02020603050405020304" pitchFamily="18" charset="0"/>
                <a:ea typeface="+mn-ea"/>
                <a:cs typeface="Times New Roman" panose="02020603050405020304" pitchFamily="18" charset="0"/>
              </a:rPr>
              <a:t>⑤</a:t>
            </a:r>
            <a:r>
              <a:rPr lang="zh-CN" altLang="en-US" sz="1800" b="1" dirty="0">
                <a:solidFill>
                  <a:srgbClr val="0D0D0D"/>
                </a:solidFill>
                <a:latin typeface="Times New Roman" panose="02020603050405020304" pitchFamily="18" charset="0"/>
                <a:ea typeface="+mn-ea"/>
                <a:cs typeface="Times New Roman" panose="02020603050405020304" pitchFamily="18" charset="0"/>
              </a:rPr>
              <a:t>验证偏序的传递性</a:t>
            </a:r>
            <a:r>
              <a:rPr lang="en-US" altLang="zh-CN" sz="1800" b="1" dirty="0">
                <a:solidFill>
                  <a:srgbClr val="0D0D0D"/>
                </a:solidFill>
                <a:latin typeface="Times New Roman" panose="02020603050405020304" pitchFamily="18" charset="0"/>
                <a:ea typeface="+mn-ea"/>
                <a:cs typeface="Times New Roman" panose="02020603050405020304" pitchFamily="18" charset="0"/>
              </a:rPr>
              <a:t>: </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a</a:t>
            </a:r>
            <a:r>
              <a:rPr lang="en-US" altLang="zh-CN" sz="1800" b="1" dirty="0">
                <a:solidFill>
                  <a:srgbClr val="0D0D0D"/>
                </a:solidFill>
                <a:latin typeface="Times New Roman" panose="02020603050405020304" pitchFamily="18" charset="0"/>
                <a:ea typeface="+mn-ea"/>
                <a:cs typeface="Times New Roman" panose="02020603050405020304" pitchFamily="18" charset="0"/>
              </a:rPr>
              <a:t>), </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 </a:t>
            </a:r>
            <a:r>
              <a:rPr lang="zh-CN" altLang="en-US" sz="1800" b="1" dirty="0">
                <a:solidFill>
                  <a:srgbClr val="0D0D0D"/>
                </a:solidFill>
                <a:latin typeface="Times New Roman" panose="02020603050405020304" pitchFamily="18" charset="0"/>
                <a:ea typeface="+mn-ea"/>
                <a:cs typeface="Times New Roman" panose="02020603050405020304" pitchFamily="18" charset="0"/>
              </a:rPr>
              <a:t>由于∗满足结合律</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有</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a</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a:t>
            </a:r>
            <a:r>
              <a:rPr lang="zh-CN" altLang="en-US" sz="1800" b="1" dirty="0">
                <a:solidFill>
                  <a:srgbClr val="FF0000"/>
                </a:solidFill>
                <a:latin typeface="Times New Roman" panose="02020603050405020304" pitchFamily="18" charset="0"/>
                <a:ea typeface="+mn-ea"/>
                <a:cs typeface="Times New Roman" panose="02020603050405020304" pitchFamily="18" charset="0"/>
              </a:rPr>
              <a:t>传递性成立</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p>
          <a:p>
            <a:pPr eaLnBrk="1" hangingPunct="1">
              <a:lnSpc>
                <a:spcPct val="130000"/>
              </a:lnSpc>
              <a:buFont typeface="Wingdings" panose="05000000000000000000" pitchFamily="2" charset="2"/>
              <a:buNone/>
            </a:pPr>
            <a:r>
              <a:rPr lang="en-US" altLang="zh-CN" sz="1800" b="1" dirty="0">
                <a:solidFill>
                  <a:srgbClr val="0D0D0D"/>
                </a:solidFill>
                <a:latin typeface="Times New Roman" panose="02020603050405020304" pitchFamily="18" charset="0"/>
                <a:ea typeface="+mn-ea"/>
                <a:cs typeface="Times New Roman" panose="02020603050405020304" pitchFamily="18" charset="0"/>
              </a:rPr>
              <a:t>⑥</a:t>
            </a:r>
            <a:r>
              <a:rPr lang="zh-CN" altLang="en-US" sz="1800" b="1" dirty="0">
                <a:solidFill>
                  <a:srgbClr val="0D0D0D"/>
                </a:solidFill>
                <a:latin typeface="Times New Roman" panose="02020603050405020304" pitchFamily="18" charset="0"/>
                <a:ea typeface="+mn-ea"/>
                <a:cs typeface="Times New Roman" panose="02020603050405020304" pitchFamily="18" charset="0"/>
              </a:rPr>
              <a:t>定义最大公共下界</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min</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对任意</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S</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如果</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zh-CN" altLang="en-US" sz="1800" b="1" dirty="0">
                <a:solidFill>
                  <a:srgbClr val="0D0D0D"/>
                </a:solidFill>
                <a:latin typeface="Times New Roman" panose="02020603050405020304" pitchFamily="18" charset="0"/>
                <a:ea typeface="+mn-ea"/>
                <a:cs typeface="Times New Roman" panose="02020603050405020304" pitchFamily="18" charset="0"/>
              </a:rPr>
              <a:t>且</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zh-CN" altLang="en-US" sz="1800" b="1" dirty="0">
                <a:solidFill>
                  <a:srgbClr val="0D0D0D"/>
                </a:solidFill>
                <a:latin typeface="Times New Roman" panose="02020603050405020304" pitchFamily="18" charset="0"/>
                <a:ea typeface="+mn-ea"/>
                <a:cs typeface="Times New Roman" panose="02020603050405020304" pitchFamily="18" charset="0"/>
              </a:rPr>
              <a:t>且</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有</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即</a:t>
            </a:r>
            <a:r>
              <a:rPr lang="en-US" altLang="zh-CN" sz="1800" b="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即任意</a:t>
            </a:r>
            <a:r>
              <a:rPr lang="en-US" altLang="zh-CN" sz="1800" b="1" dirty="0">
                <a:solidFill>
                  <a:srgbClr val="0D0D0D"/>
                </a:solidFill>
                <a:latin typeface="Times New Roman" panose="02020603050405020304" pitchFamily="18" charset="0"/>
                <a:ea typeface="+mn-ea"/>
                <a:cs typeface="Times New Roman" panose="02020603050405020304" pitchFamily="18" charset="0"/>
              </a:rPr>
              <a:t>a</a:t>
            </a:r>
            <a:r>
              <a:rPr lang="zh-CN" altLang="en-US" sz="1800" b="1" dirty="0">
                <a:solidFill>
                  <a:srgbClr val="0D0D0D"/>
                </a:solidFill>
                <a:latin typeface="Times New Roman" panose="02020603050405020304" pitchFamily="18" charset="0"/>
                <a:ea typeface="+mn-ea"/>
                <a:cs typeface="Times New Roman" panose="02020603050405020304" pitchFamily="18" charset="0"/>
              </a:rPr>
              <a:t>和</a:t>
            </a:r>
            <a:r>
              <a:rPr lang="en-US" altLang="zh-CN" sz="1800" b="1" dirty="0">
                <a:solidFill>
                  <a:srgbClr val="0D0D0D"/>
                </a:solidFill>
                <a:latin typeface="Times New Roman" panose="02020603050405020304" pitchFamily="18" charset="0"/>
                <a:ea typeface="+mn-ea"/>
                <a:cs typeface="Times New Roman" panose="02020603050405020304" pitchFamily="18" charset="0"/>
              </a:rPr>
              <a:t>b</a:t>
            </a:r>
            <a:r>
              <a:rPr lang="zh-CN" altLang="en-US" sz="1800" b="1" dirty="0">
                <a:solidFill>
                  <a:srgbClr val="0D0D0D"/>
                </a:solidFill>
                <a:latin typeface="Times New Roman" panose="02020603050405020304" pitchFamily="18" charset="0"/>
                <a:ea typeface="+mn-ea"/>
                <a:cs typeface="Times New Roman" panose="02020603050405020304" pitchFamily="18" charset="0"/>
              </a:rPr>
              <a:t>都</a:t>
            </a:r>
            <a:r>
              <a:rPr lang="zh-CN" altLang="en-US" sz="1800" b="1" dirty="0">
                <a:solidFill>
                  <a:srgbClr val="FF0000"/>
                </a:solidFill>
                <a:latin typeface="Times New Roman" panose="02020603050405020304" pitchFamily="18" charset="0"/>
                <a:ea typeface="+mn-ea"/>
                <a:cs typeface="Times New Roman" panose="02020603050405020304" pitchFamily="18" charset="0"/>
              </a:rPr>
              <a:t>存在最大公共下界</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p>
          <a:p>
            <a:pPr eaLnBrk="1" hangingPunct="1">
              <a:lnSpc>
                <a:spcPct val="130000"/>
              </a:lnSpc>
              <a:buFont typeface="Wingdings" panose="05000000000000000000" pitchFamily="2" charset="2"/>
              <a:buNone/>
            </a:pPr>
            <a:r>
              <a:rPr lang="zh-CN" altLang="en-US" sz="1800" b="1" dirty="0">
                <a:solidFill>
                  <a:srgbClr val="0D0D0D"/>
                </a:solidFill>
                <a:latin typeface="Times New Roman" panose="02020603050405020304" pitchFamily="18" charset="0"/>
                <a:ea typeface="+mn-ea"/>
                <a:cs typeface="Times New Roman" panose="02020603050405020304" pitchFamily="18" charset="0"/>
              </a:rPr>
              <a:t>⑦定义最小公共上界</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max</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对任意</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S</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如果</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zh-CN" altLang="en-US" sz="1800" b="1" dirty="0">
                <a:solidFill>
                  <a:srgbClr val="0D0D0D"/>
                </a:solidFill>
                <a:latin typeface="Times New Roman" panose="02020603050405020304" pitchFamily="18" charset="0"/>
                <a:ea typeface="+mn-ea"/>
                <a:cs typeface="Times New Roman" panose="02020603050405020304" pitchFamily="18" charset="0"/>
              </a:rPr>
              <a:t>且</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zh-CN" altLang="en-US" sz="1800" b="1" dirty="0">
                <a:solidFill>
                  <a:srgbClr val="0D0D0D"/>
                </a:solidFill>
                <a:latin typeface="Times New Roman" panose="02020603050405020304" pitchFamily="18" charset="0"/>
                <a:ea typeface="+mn-ea"/>
                <a:cs typeface="Times New Roman" panose="02020603050405020304" pitchFamily="18" charset="0"/>
              </a:rPr>
              <a:t>且</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有</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即 </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即任意</a:t>
            </a:r>
            <a:r>
              <a:rPr lang="en-US" altLang="zh-CN" sz="1800" b="1" i="1" dirty="0">
                <a:solidFill>
                  <a:srgbClr val="0D0D0D"/>
                </a:solidFill>
                <a:latin typeface="Times New Roman" panose="02020603050405020304" pitchFamily="18" charset="0"/>
                <a:ea typeface="+mn-ea"/>
                <a:cs typeface="Times New Roman" panose="02020603050405020304" pitchFamily="18" charset="0"/>
              </a:rPr>
              <a:t>a</a:t>
            </a:r>
            <a:r>
              <a:rPr lang="zh-CN" altLang="en-US" sz="1800" b="1" dirty="0">
                <a:solidFill>
                  <a:srgbClr val="0D0D0D"/>
                </a:solidFill>
                <a:latin typeface="Times New Roman" panose="02020603050405020304" pitchFamily="18" charset="0"/>
                <a:ea typeface="+mn-ea"/>
                <a:cs typeface="Times New Roman" panose="02020603050405020304" pitchFamily="18" charset="0"/>
              </a:rPr>
              <a:t>和</a:t>
            </a:r>
            <a:r>
              <a:rPr lang="en-US" altLang="zh-CN" sz="1800" b="1" i="1" dirty="0">
                <a:solidFill>
                  <a:srgbClr val="0D0D0D"/>
                </a:solidFill>
                <a:latin typeface="Times New Roman" panose="02020603050405020304" pitchFamily="18" charset="0"/>
                <a:ea typeface="+mn-ea"/>
                <a:cs typeface="Times New Roman" panose="02020603050405020304" pitchFamily="18" charset="0"/>
              </a:rPr>
              <a:t>b</a:t>
            </a:r>
            <a:r>
              <a:rPr lang="zh-CN" altLang="en-US" sz="1800" b="1" dirty="0">
                <a:solidFill>
                  <a:srgbClr val="0D0D0D"/>
                </a:solidFill>
                <a:latin typeface="Times New Roman" panose="02020603050405020304" pitchFamily="18" charset="0"/>
                <a:ea typeface="+mn-ea"/>
                <a:cs typeface="Times New Roman" panose="02020603050405020304" pitchFamily="18" charset="0"/>
              </a:rPr>
              <a:t>都</a:t>
            </a:r>
            <a:r>
              <a:rPr lang="zh-CN" altLang="en-US" sz="1800" b="1" dirty="0">
                <a:solidFill>
                  <a:srgbClr val="FF0000"/>
                </a:solidFill>
                <a:latin typeface="Times New Roman" panose="02020603050405020304" pitchFamily="18" charset="0"/>
                <a:ea typeface="+mn-ea"/>
                <a:cs typeface="Times New Roman" panose="02020603050405020304" pitchFamily="18" charset="0"/>
              </a:rPr>
              <a:t>存在最小公共上界</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endParaRPr lang="en-US" altLang="zh-CN" sz="2000" b="1" i="1" dirty="0">
              <a:solidFill>
                <a:srgbClr val="0D0D0D"/>
              </a:solidFill>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b="1" kern="22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137</a:t>
            </a:fld>
            <a:endParaRPr lang="zh-CN" altLang="en-US"/>
          </a:p>
        </p:txBody>
      </p:sp>
    </p:spTree>
    <p:extLst>
      <p:ext uri="{BB962C8B-B14F-4D97-AF65-F5344CB8AC3E}">
        <p14:creationId xmlns:p14="http://schemas.microsoft.com/office/powerpoint/2010/main" val="876857486"/>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b="1" kern="2200" dirty="0">
                <a:solidFill>
                  <a:srgbClr val="000000"/>
                </a:solidFill>
                <a:effectLst/>
                <a:latin typeface="Times New Roman" panose="02020603050405020304" pitchFamily="18" charset="0"/>
                <a:ea typeface="宋体" panose="02010600030101010101" pitchFamily="2" charset="-122"/>
                <a:cs typeface="Segoe UI" panose="020B0502040204020203" pitchFamily="34" charset="0"/>
              </a:rPr>
              <a:t>代数系统 </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2200" dirty="0">
                <a:solidFill>
                  <a:srgbClr val="0D0D0D"/>
                </a:solidFill>
                <a:effectLst/>
                <a:latin typeface="KaTeX_Math"/>
                <a:ea typeface="宋体" panose="02010600030101010101" pitchFamily="2" charset="-122"/>
                <a:cs typeface="Times New Roman" panose="02020603050405020304" pitchFamily="18" charset="0"/>
              </a:rPr>
              <a:t>S</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2200" dirty="0">
                <a:solidFill>
                  <a:srgbClr val="0D0D0D"/>
                </a:solidFill>
                <a:effectLst/>
                <a:latin typeface="Times New Roman" panose="02020603050405020304" pitchFamily="18" charset="0"/>
                <a:ea typeface="MS Gothic" panose="020B0609070205080204" pitchFamily="49" charset="-128"/>
                <a:cs typeface="MS Gothic" panose="020B0609070205080204" pitchFamily="49" charset="-128"/>
              </a:rPr>
              <a:t>∗</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2200" dirty="0">
                <a:solidFill>
                  <a:srgbClr val="0D0D0D"/>
                </a:solidFill>
                <a:effectLst/>
                <a:latin typeface="Times New Roman" panose="02020603050405020304" pitchFamily="18" charset="0"/>
                <a:ea typeface="MS Gothic" panose="020B0609070205080204" pitchFamily="49" charset="-128"/>
                <a:cs typeface="MS Gothic" panose="020B0609070205080204" pitchFamily="49" charset="-128"/>
              </a:rPr>
              <a:t>∘</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22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2200" dirty="0">
                <a:solidFill>
                  <a:srgbClr val="000000"/>
                </a:solidFill>
                <a:effectLst/>
                <a:latin typeface="Times New Roman" panose="02020603050405020304" pitchFamily="18" charset="0"/>
                <a:ea typeface="宋体" panose="02010600030101010101" pitchFamily="2" charset="-122"/>
                <a:cs typeface="Segoe UI" panose="020B0502040204020203" pitchFamily="34" charset="0"/>
              </a:rPr>
              <a:t>转化为一个格结构</a:t>
            </a:r>
            <a:r>
              <a:rPr lang="zh-CN"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i="1" kern="2200" dirty="0">
                <a:solidFill>
                  <a:srgbClr val="0D0D0D"/>
                </a:solidFill>
                <a:effectLst/>
                <a:latin typeface="KaTeX_Math"/>
                <a:ea typeface="宋体" panose="02010600030101010101" pitchFamily="2" charset="-122"/>
                <a:cs typeface="Times New Roman" panose="02020603050405020304" pitchFamily="18" charset="0"/>
              </a:rPr>
              <a:t>S</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2200" dirty="0">
                <a:solidFill>
                  <a:srgbClr val="0D0D0D"/>
                </a:solidFill>
                <a:effectLst/>
                <a:latin typeface="Cambria Math" panose="02040503050406030204" pitchFamily="18" charset="0"/>
                <a:ea typeface="宋体" panose="02010600030101010101" pitchFamily="2" charset="-122"/>
                <a:cs typeface="Cambria Math" panose="02040503050406030204" pitchFamily="18" charset="0"/>
              </a:rPr>
              <a:t>⪯</a:t>
            </a:r>
            <a:r>
              <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rPr>
              <a:t>的用途：</a:t>
            </a:r>
            <a:endPar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可以将代数系统的运算属性（交换律、结合律和吸收律）与格的序属性联系起来，从而在一个统一的框架下研究代数系统。</a:t>
            </a:r>
            <a:endPar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研究元素的上确界和下确界通常比直接处理代数运算要简单得多。</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通过偏序关系，可以更方便地进行推理和计算</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kern="2200" dirty="0">
              <a:solidFill>
                <a:srgbClr val="0D0D0D"/>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在计算机科学中，格结构被广泛应用于数据流分析、类型推断、形式化验证等方面。</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t>翻译英文：定义 设</a:t>
            </a:r>
            <a:r>
              <a:rPr lang="en-US" altLang="zh-CN" sz="1800" dirty="0"/>
              <a:t>c</a:t>
            </a:r>
            <a:r>
              <a:rPr lang="zh-CN" altLang="en-US" sz="1800" dirty="0"/>
              <a:t>是具有两个二元运算的代数系统</a:t>
            </a:r>
            <a:r>
              <a:rPr lang="en-US" altLang="zh-CN" sz="1800" dirty="0"/>
              <a:t>, </a:t>
            </a:r>
            <a:r>
              <a:rPr lang="zh-CN" altLang="en-US" sz="1800" dirty="0"/>
              <a:t>若对于∗和运算适合交换律、结合律、吸收律</a:t>
            </a:r>
            <a:r>
              <a:rPr lang="en-US" altLang="zh-CN" sz="1800" dirty="0"/>
              <a:t>, </a:t>
            </a:r>
            <a:r>
              <a:rPr lang="zh-CN" altLang="en-US" sz="1800" dirty="0"/>
              <a:t>则可以适当定义</a:t>
            </a:r>
            <a:r>
              <a:rPr lang="en-US" altLang="zh-CN" sz="1800" dirty="0"/>
              <a:t>S</a:t>
            </a:r>
            <a:r>
              <a:rPr lang="zh-CN" altLang="en-US" sz="1800" dirty="0"/>
              <a:t>中的偏序≼</a:t>
            </a:r>
            <a:r>
              <a:rPr lang="en-US" altLang="zh-CN" sz="1800" dirty="0"/>
              <a:t>,</a:t>
            </a:r>
            <a:r>
              <a:rPr lang="zh-CN" altLang="en-US" sz="1800" dirty="0"/>
              <a:t>使得</a:t>
            </a:r>
            <a:r>
              <a:rPr lang="en-US" altLang="zh-CN" sz="1800" dirty="0"/>
              <a:t>&lt;S, ≼&gt;</a:t>
            </a:r>
            <a:r>
              <a:rPr lang="zh-CN" altLang="en-US" sz="1800" dirty="0"/>
              <a:t>构成格</a:t>
            </a:r>
            <a:r>
              <a:rPr lang="en-US" altLang="zh-CN" sz="1800" dirty="0"/>
              <a:t>, </a:t>
            </a:r>
            <a:r>
              <a:rPr lang="zh-CN" altLang="en-US" sz="1800" dirty="0"/>
              <a:t>且</a:t>
            </a:r>
            <a:r>
              <a:rPr lang="en-US" altLang="zh-CN" sz="1800" dirty="0" err="1"/>
              <a:t>a,b∈S</a:t>
            </a:r>
            <a:r>
              <a:rPr lang="zh-CN" altLang="en-US" sz="1800" dirty="0"/>
              <a:t>有 </a:t>
            </a:r>
            <a:r>
              <a:rPr lang="en-US" altLang="zh-CN" sz="1800" dirty="0" err="1"/>
              <a:t>a∧b</a:t>
            </a:r>
            <a:r>
              <a:rPr lang="en-US" altLang="zh-CN" sz="1800" dirty="0"/>
              <a:t> = </a:t>
            </a:r>
            <a:r>
              <a:rPr lang="en-US" altLang="zh-CN" sz="1800" dirty="0" err="1"/>
              <a:t>a∗b</a:t>
            </a:r>
            <a:r>
              <a:rPr lang="zh-CN" altLang="en-US" sz="1800" dirty="0"/>
              <a:t>和</a:t>
            </a:r>
            <a:r>
              <a:rPr lang="en-US" altLang="zh-CN" sz="1800" dirty="0" err="1"/>
              <a:t>a∨b</a:t>
            </a:r>
            <a:r>
              <a:rPr lang="en-US" altLang="zh-CN" sz="1800" dirty="0"/>
              <a:t> = </a:t>
            </a:r>
            <a:r>
              <a:rPr lang="en-US" altLang="zh-CN" sz="1800" dirty="0" err="1"/>
              <a:t>ab</a:t>
            </a:r>
            <a:r>
              <a:rPr lang="en-US" altLang="zh-CN" sz="1800" dirty="0"/>
              <a:t>.</a:t>
            </a:r>
          </a:p>
          <a:p>
            <a:pPr eaLnBrk="1" hangingPunct="1">
              <a:lnSpc>
                <a:spcPct val="130000"/>
              </a:lnSpc>
              <a:buFont typeface="Wingdings" panose="05000000000000000000" pitchFamily="2" charset="2"/>
              <a:buNone/>
            </a:pPr>
            <a:r>
              <a:rPr lang="zh-CN" altLang="en-US" sz="1800" b="1" dirty="0">
                <a:solidFill>
                  <a:srgbClr val="FF0000"/>
                </a:solidFill>
                <a:latin typeface="Times New Roman" panose="02020603050405020304" pitchFamily="18" charset="0"/>
                <a:ea typeface="+mn-ea"/>
                <a:cs typeface="Times New Roman" panose="02020603050405020304" pitchFamily="18" charset="0"/>
              </a:rPr>
              <a:t>反对称性成立</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p>
          <a:p>
            <a:pPr eaLnBrk="1" hangingPunct="1">
              <a:lnSpc>
                <a:spcPct val="130000"/>
              </a:lnSpc>
              <a:buFont typeface="Wingdings" panose="05000000000000000000" pitchFamily="2" charset="2"/>
              <a:buNone/>
            </a:pPr>
            <a:r>
              <a:rPr lang="en-US" altLang="zh-CN" sz="1800" b="1" dirty="0">
                <a:solidFill>
                  <a:srgbClr val="0D0D0D"/>
                </a:solidFill>
                <a:latin typeface="Times New Roman" panose="02020603050405020304" pitchFamily="18" charset="0"/>
                <a:ea typeface="+mn-ea"/>
                <a:cs typeface="Times New Roman" panose="02020603050405020304" pitchFamily="18" charset="0"/>
              </a:rPr>
              <a:t>⑤</a:t>
            </a:r>
            <a:r>
              <a:rPr lang="zh-CN" altLang="en-US" sz="1800" b="1" dirty="0">
                <a:solidFill>
                  <a:srgbClr val="0D0D0D"/>
                </a:solidFill>
                <a:latin typeface="Times New Roman" panose="02020603050405020304" pitchFamily="18" charset="0"/>
                <a:ea typeface="+mn-ea"/>
                <a:cs typeface="Times New Roman" panose="02020603050405020304" pitchFamily="18" charset="0"/>
              </a:rPr>
              <a:t>验证偏序的传递性</a:t>
            </a:r>
            <a:r>
              <a:rPr lang="en-US" altLang="zh-CN" sz="1800" b="1" dirty="0">
                <a:solidFill>
                  <a:srgbClr val="0D0D0D"/>
                </a:solidFill>
                <a:latin typeface="Times New Roman" panose="02020603050405020304" pitchFamily="18" charset="0"/>
                <a:ea typeface="+mn-ea"/>
                <a:cs typeface="Times New Roman" panose="02020603050405020304" pitchFamily="18" charset="0"/>
              </a:rPr>
              <a:t>: </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a</a:t>
            </a:r>
            <a:r>
              <a:rPr lang="en-US" altLang="zh-CN" sz="1800" b="1" dirty="0">
                <a:solidFill>
                  <a:srgbClr val="0D0D0D"/>
                </a:solidFill>
                <a:latin typeface="Times New Roman" panose="02020603050405020304" pitchFamily="18" charset="0"/>
                <a:ea typeface="+mn-ea"/>
                <a:cs typeface="Times New Roman" panose="02020603050405020304" pitchFamily="18" charset="0"/>
              </a:rPr>
              <a:t>), </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 </a:t>
            </a:r>
            <a:r>
              <a:rPr lang="zh-CN" altLang="en-US" sz="1800" b="1" dirty="0">
                <a:solidFill>
                  <a:srgbClr val="0D0D0D"/>
                </a:solidFill>
                <a:latin typeface="Times New Roman" panose="02020603050405020304" pitchFamily="18" charset="0"/>
                <a:ea typeface="+mn-ea"/>
                <a:cs typeface="Times New Roman" panose="02020603050405020304" pitchFamily="18" charset="0"/>
              </a:rPr>
              <a:t>由于∗满足结合律</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有</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a</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a:t>
            </a:r>
            <a:r>
              <a:rPr lang="zh-CN" altLang="en-US" sz="1800" b="1" dirty="0">
                <a:solidFill>
                  <a:srgbClr val="FF0000"/>
                </a:solidFill>
                <a:latin typeface="Times New Roman" panose="02020603050405020304" pitchFamily="18" charset="0"/>
                <a:ea typeface="+mn-ea"/>
                <a:cs typeface="Times New Roman" panose="02020603050405020304" pitchFamily="18" charset="0"/>
              </a:rPr>
              <a:t>传递性成立</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p>
          <a:p>
            <a:pPr eaLnBrk="1" hangingPunct="1">
              <a:lnSpc>
                <a:spcPct val="130000"/>
              </a:lnSpc>
              <a:buFont typeface="Wingdings" panose="05000000000000000000" pitchFamily="2" charset="2"/>
              <a:buNone/>
            </a:pPr>
            <a:r>
              <a:rPr lang="en-US" altLang="zh-CN" sz="1800" b="1" dirty="0">
                <a:solidFill>
                  <a:srgbClr val="0D0D0D"/>
                </a:solidFill>
                <a:latin typeface="Times New Roman" panose="02020603050405020304" pitchFamily="18" charset="0"/>
                <a:ea typeface="+mn-ea"/>
                <a:cs typeface="Times New Roman" panose="02020603050405020304" pitchFamily="18" charset="0"/>
              </a:rPr>
              <a:t>⑥</a:t>
            </a:r>
            <a:r>
              <a:rPr lang="zh-CN" altLang="en-US" sz="1800" b="1" dirty="0">
                <a:solidFill>
                  <a:srgbClr val="0D0D0D"/>
                </a:solidFill>
                <a:latin typeface="Times New Roman" panose="02020603050405020304" pitchFamily="18" charset="0"/>
                <a:ea typeface="+mn-ea"/>
                <a:cs typeface="Times New Roman" panose="02020603050405020304" pitchFamily="18" charset="0"/>
              </a:rPr>
              <a:t>定义最大公共下界</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min</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对任意</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S</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如果</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zh-CN" altLang="en-US" sz="1800" b="1" dirty="0">
                <a:solidFill>
                  <a:srgbClr val="0D0D0D"/>
                </a:solidFill>
                <a:latin typeface="Times New Roman" panose="02020603050405020304" pitchFamily="18" charset="0"/>
                <a:ea typeface="+mn-ea"/>
                <a:cs typeface="Times New Roman" panose="02020603050405020304" pitchFamily="18" charset="0"/>
              </a:rPr>
              <a:t>且</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zh-CN" altLang="en-US" sz="1800" b="1" dirty="0">
                <a:solidFill>
                  <a:srgbClr val="0D0D0D"/>
                </a:solidFill>
                <a:latin typeface="Times New Roman" panose="02020603050405020304" pitchFamily="18" charset="0"/>
                <a:ea typeface="+mn-ea"/>
                <a:cs typeface="Times New Roman" panose="02020603050405020304" pitchFamily="18" charset="0"/>
              </a:rPr>
              <a:t>且</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有</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即</a:t>
            </a:r>
            <a:r>
              <a:rPr lang="en-US" altLang="zh-CN" sz="1800" b="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即任意</a:t>
            </a:r>
            <a:r>
              <a:rPr lang="en-US" altLang="zh-CN" sz="1800" b="1" dirty="0">
                <a:solidFill>
                  <a:srgbClr val="0D0D0D"/>
                </a:solidFill>
                <a:latin typeface="Times New Roman" panose="02020603050405020304" pitchFamily="18" charset="0"/>
                <a:ea typeface="+mn-ea"/>
                <a:cs typeface="Times New Roman" panose="02020603050405020304" pitchFamily="18" charset="0"/>
              </a:rPr>
              <a:t>a</a:t>
            </a:r>
            <a:r>
              <a:rPr lang="zh-CN" altLang="en-US" sz="1800" b="1" dirty="0">
                <a:solidFill>
                  <a:srgbClr val="0D0D0D"/>
                </a:solidFill>
                <a:latin typeface="Times New Roman" panose="02020603050405020304" pitchFamily="18" charset="0"/>
                <a:ea typeface="+mn-ea"/>
                <a:cs typeface="Times New Roman" panose="02020603050405020304" pitchFamily="18" charset="0"/>
              </a:rPr>
              <a:t>和</a:t>
            </a:r>
            <a:r>
              <a:rPr lang="en-US" altLang="zh-CN" sz="1800" b="1" dirty="0">
                <a:solidFill>
                  <a:srgbClr val="0D0D0D"/>
                </a:solidFill>
                <a:latin typeface="Times New Roman" panose="02020603050405020304" pitchFamily="18" charset="0"/>
                <a:ea typeface="+mn-ea"/>
                <a:cs typeface="Times New Roman" panose="02020603050405020304" pitchFamily="18" charset="0"/>
              </a:rPr>
              <a:t>b</a:t>
            </a:r>
            <a:r>
              <a:rPr lang="zh-CN" altLang="en-US" sz="1800" b="1" dirty="0">
                <a:solidFill>
                  <a:srgbClr val="0D0D0D"/>
                </a:solidFill>
                <a:latin typeface="Times New Roman" panose="02020603050405020304" pitchFamily="18" charset="0"/>
                <a:ea typeface="+mn-ea"/>
                <a:cs typeface="Times New Roman" panose="02020603050405020304" pitchFamily="18" charset="0"/>
              </a:rPr>
              <a:t>都</a:t>
            </a:r>
            <a:r>
              <a:rPr lang="zh-CN" altLang="en-US" sz="1800" b="1" dirty="0">
                <a:solidFill>
                  <a:srgbClr val="FF0000"/>
                </a:solidFill>
                <a:latin typeface="Times New Roman" panose="02020603050405020304" pitchFamily="18" charset="0"/>
                <a:ea typeface="+mn-ea"/>
                <a:cs typeface="Times New Roman" panose="02020603050405020304" pitchFamily="18" charset="0"/>
              </a:rPr>
              <a:t>存在最大公共下界</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p>
          <a:p>
            <a:pPr eaLnBrk="1" hangingPunct="1">
              <a:lnSpc>
                <a:spcPct val="130000"/>
              </a:lnSpc>
              <a:buFont typeface="Wingdings" panose="05000000000000000000" pitchFamily="2" charset="2"/>
              <a:buNone/>
            </a:pPr>
            <a:r>
              <a:rPr lang="zh-CN" altLang="en-US" sz="1800" b="1" dirty="0">
                <a:solidFill>
                  <a:srgbClr val="0D0D0D"/>
                </a:solidFill>
                <a:latin typeface="Times New Roman" panose="02020603050405020304" pitchFamily="18" charset="0"/>
                <a:ea typeface="+mn-ea"/>
                <a:cs typeface="Times New Roman" panose="02020603050405020304" pitchFamily="18" charset="0"/>
              </a:rPr>
              <a:t>⑦定义最小公共上界</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max</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对任意</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S</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如果</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zh-CN" altLang="en-US" sz="1800" b="1" dirty="0">
                <a:solidFill>
                  <a:srgbClr val="0D0D0D"/>
                </a:solidFill>
                <a:latin typeface="Times New Roman" panose="02020603050405020304" pitchFamily="18" charset="0"/>
                <a:ea typeface="+mn-ea"/>
                <a:cs typeface="Times New Roman" panose="02020603050405020304" pitchFamily="18" charset="0"/>
              </a:rPr>
              <a:t>且</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zh-CN" altLang="en-US" sz="1800" b="1" dirty="0">
                <a:solidFill>
                  <a:srgbClr val="0D0D0D"/>
                </a:solidFill>
                <a:latin typeface="Times New Roman" panose="02020603050405020304" pitchFamily="18" charset="0"/>
                <a:ea typeface="+mn-ea"/>
                <a:cs typeface="Times New Roman" panose="02020603050405020304" pitchFamily="18" charset="0"/>
              </a:rPr>
              <a:t>且</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有</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即 </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a</a:t>
            </a:r>
            <a:r>
              <a:rPr lang="en-US" altLang="zh-CN" sz="1800" b="1" dirty="0" err="1">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err="1">
                <a:solidFill>
                  <a:srgbClr val="0D0D0D"/>
                </a:solidFill>
                <a:latin typeface="Times New Roman" panose="02020603050405020304" pitchFamily="18" charset="0"/>
                <a:ea typeface="+mn-ea"/>
                <a:cs typeface="Times New Roman" panose="02020603050405020304" pitchFamily="18" charset="0"/>
              </a:rPr>
              <a:t>b</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r>
              <a:rPr lang="zh-CN" altLang="en-US" sz="1800" b="1" dirty="0">
                <a:solidFill>
                  <a:srgbClr val="0D0D0D"/>
                </a:solidFill>
                <a:latin typeface="Times New Roman" panose="02020603050405020304" pitchFamily="18" charset="0"/>
                <a:ea typeface="+mn-ea"/>
                <a:cs typeface="Times New Roman" panose="02020603050405020304" pitchFamily="18" charset="0"/>
              </a:rPr>
              <a:t>即任意</a:t>
            </a:r>
            <a:r>
              <a:rPr lang="en-US" altLang="zh-CN" sz="1800" b="1" i="1" dirty="0">
                <a:solidFill>
                  <a:srgbClr val="0D0D0D"/>
                </a:solidFill>
                <a:latin typeface="Times New Roman" panose="02020603050405020304" pitchFamily="18" charset="0"/>
                <a:ea typeface="+mn-ea"/>
                <a:cs typeface="Times New Roman" panose="02020603050405020304" pitchFamily="18" charset="0"/>
              </a:rPr>
              <a:t>a</a:t>
            </a:r>
            <a:r>
              <a:rPr lang="zh-CN" altLang="en-US" sz="1800" b="1" dirty="0">
                <a:solidFill>
                  <a:srgbClr val="0D0D0D"/>
                </a:solidFill>
                <a:latin typeface="Times New Roman" panose="02020603050405020304" pitchFamily="18" charset="0"/>
                <a:ea typeface="+mn-ea"/>
                <a:cs typeface="Times New Roman" panose="02020603050405020304" pitchFamily="18" charset="0"/>
              </a:rPr>
              <a:t>和</a:t>
            </a:r>
            <a:r>
              <a:rPr lang="en-US" altLang="zh-CN" sz="1800" b="1" i="1" dirty="0">
                <a:solidFill>
                  <a:srgbClr val="0D0D0D"/>
                </a:solidFill>
                <a:latin typeface="Times New Roman" panose="02020603050405020304" pitchFamily="18" charset="0"/>
                <a:ea typeface="+mn-ea"/>
                <a:cs typeface="Times New Roman" panose="02020603050405020304" pitchFamily="18" charset="0"/>
              </a:rPr>
              <a:t>b</a:t>
            </a:r>
            <a:r>
              <a:rPr lang="zh-CN" altLang="en-US" sz="1800" b="1" dirty="0">
                <a:solidFill>
                  <a:srgbClr val="0D0D0D"/>
                </a:solidFill>
                <a:latin typeface="Times New Roman" panose="02020603050405020304" pitchFamily="18" charset="0"/>
                <a:ea typeface="+mn-ea"/>
                <a:cs typeface="Times New Roman" panose="02020603050405020304" pitchFamily="18" charset="0"/>
              </a:rPr>
              <a:t>都</a:t>
            </a:r>
            <a:r>
              <a:rPr lang="zh-CN" altLang="en-US" sz="1800" b="1" dirty="0">
                <a:solidFill>
                  <a:srgbClr val="FF0000"/>
                </a:solidFill>
                <a:latin typeface="Times New Roman" panose="02020603050405020304" pitchFamily="18" charset="0"/>
                <a:ea typeface="+mn-ea"/>
                <a:cs typeface="Times New Roman" panose="02020603050405020304" pitchFamily="18" charset="0"/>
              </a:rPr>
              <a:t>存在最小公共上界</a:t>
            </a:r>
            <a:r>
              <a:rPr lang="en-US" altLang="zh-CN" sz="1800" b="1" i="1" dirty="0">
                <a:solidFill>
                  <a:srgbClr val="0D0D0D"/>
                </a:solidFill>
                <a:latin typeface="Times New Roman" panose="02020603050405020304" pitchFamily="18" charset="0"/>
                <a:ea typeface="+mn-ea"/>
                <a:cs typeface="Times New Roman" panose="02020603050405020304" pitchFamily="18" charset="0"/>
              </a:rPr>
              <a:t>c</a:t>
            </a:r>
            <a:r>
              <a:rPr lang="en-US" altLang="zh-CN" sz="1800" b="1" dirty="0">
                <a:solidFill>
                  <a:srgbClr val="0D0D0D"/>
                </a:solidFill>
                <a:latin typeface="Times New Roman" panose="02020603050405020304" pitchFamily="18" charset="0"/>
                <a:ea typeface="+mn-ea"/>
                <a:cs typeface="Times New Roman" panose="02020603050405020304" pitchFamily="18" charset="0"/>
              </a:rPr>
              <a:t>.</a:t>
            </a:r>
            <a:endParaRPr lang="en-US" altLang="zh-CN" sz="2000" b="1" i="1" dirty="0">
              <a:solidFill>
                <a:srgbClr val="0D0D0D"/>
              </a:solidFill>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b="1" kern="22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138</a:t>
            </a:fld>
            <a:endParaRPr lang="zh-CN" altLang="en-US"/>
          </a:p>
        </p:txBody>
      </p:sp>
    </p:spTree>
    <p:extLst>
      <p:ext uri="{BB962C8B-B14F-4D97-AF65-F5344CB8AC3E}">
        <p14:creationId xmlns:p14="http://schemas.microsoft.com/office/powerpoint/2010/main" val="31666515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eaLnBrk="1" hangingPunct="1"/>
            <a:r>
              <a:rPr lang="zh-CN" altLang="en-US" sz="1200" b="1" dirty="0">
                <a:solidFill>
                  <a:srgbClr val="FF0000"/>
                </a:solidFill>
                <a:latin typeface="Times New Roman" panose="02020603050405020304" pitchFamily="18" charset="0"/>
                <a:ea typeface="+mn-ea"/>
              </a:rPr>
              <a:t>定义</a:t>
            </a:r>
            <a:r>
              <a:rPr lang="en-US" altLang="zh-CN" sz="1200" b="1" dirty="0">
                <a:solidFill>
                  <a:srgbClr val="FF0000"/>
                </a:solidFill>
                <a:latin typeface="Times New Roman" panose="02020603050405020304" pitchFamily="18" charset="0"/>
                <a:ea typeface="+mn-ea"/>
              </a:rPr>
              <a:t>9.21</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设</a:t>
            </a:r>
            <a:r>
              <a:rPr lang="en-US" altLang="zh-CN" sz="1200" b="1" dirty="0">
                <a:solidFill>
                  <a:schemeClr val="tx1"/>
                </a:solidFill>
                <a:latin typeface="Times New Roman" panose="02020603050405020304" pitchFamily="18" charset="0"/>
              </a:rPr>
              <a:t>&lt;</a:t>
            </a:r>
            <a:r>
              <a:rPr lang="en-US" altLang="zh-CN" sz="1200" b="1" i="1" dirty="0">
                <a:solidFill>
                  <a:schemeClr val="tx1"/>
                </a:solidFill>
                <a:latin typeface="Times New Roman" panose="02020603050405020304" pitchFamily="18" charset="0"/>
              </a:rPr>
              <a:t>L</a:t>
            </a:r>
            <a:r>
              <a:rPr lang="en-US" altLang="zh-CN" sz="1200" b="1" dirty="0">
                <a:solidFill>
                  <a:schemeClr val="tx1"/>
                </a:solidFill>
                <a:latin typeface="Times New Roman" panose="02020603050405020304" pitchFamily="18" charset="0"/>
              </a:rPr>
              <a:t>,∧,∨&gt;</a:t>
            </a:r>
            <a:r>
              <a:rPr lang="zh-CN" altLang="en-US" sz="1200" b="1" dirty="0">
                <a:solidFill>
                  <a:schemeClr val="tx1"/>
                </a:solidFill>
                <a:latin typeface="Times New Roman" panose="02020603050405020304" pitchFamily="18" charset="0"/>
                <a:ea typeface="+mn-ea"/>
              </a:rPr>
              <a:t>为格</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若</a:t>
            </a:r>
            <a:r>
              <a:rPr lang="zh-CN" altLang="en-US"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rPr>
              <a:t>a, b, </a:t>
            </a:r>
            <a:r>
              <a:rPr lang="en-US" altLang="zh-CN" sz="1200" b="1" i="1" dirty="0" err="1">
                <a:solidFill>
                  <a:schemeClr val="tx1"/>
                </a:solidFill>
                <a:latin typeface="Times New Roman" panose="02020603050405020304" pitchFamily="18" charset="0"/>
                <a:ea typeface="+mn-ea"/>
              </a:rPr>
              <a:t>c</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L</a:t>
            </a:r>
            <a:r>
              <a:rPr lang="zh-CN" altLang="en-US" sz="1200" b="1" dirty="0">
                <a:solidFill>
                  <a:schemeClr val="tx1"/>
                </a:solidFill>
                <a:latin typeface="Times New Roman" panose="02020603050405020304" pitchFamily="18" charset="0"/>
                <a:ea typeface="+mn-ea"/>
                <a:sym typeface="Symbol" panose="05050102010706020507" pitchFamily="18" charset="2"/>
              </a:rPr>
              <a:t>有</a:t>
            </a:r>
            <a:endParaRPr lang="zh-CN" altLang="en-US" sz="1200" dirty="0">
              <a:solidFill>
                <a:schemeClr val="tx1"/>
              </a:solidFill>
              <a:latin typeface="Times New Roman" panose="02020603050405020304" pitchFamily="18" charset="0"/>
              <a:ea typeface="+mn-ea"/>
              <a:sym typeface="Symbol" panose="05050102010706020507" pitchFamily="18" charset="2"/>
            </a:endParaRPr>
          </a:p>
          <a:p>
            <a:pPr indent="0" eaLnBrk="1" hangingPunct="1"/>
            <a:r>
              <a:rPr lang="zh-CN" altLang="en-US"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dirty="0">
                <a:solidFill>
                  <a:schemeClr val="tx1"/>
                </a:solidFill>
                <a:latin typeface="Times New Roman" panose="02020603050405020304" pitchFamily="18" charset="0"/>
                <a:ea typeface="+mn-ea"/>
              </a:rPr>
              <a:t>(</a:t>
            </a:r>
            <a:r>
              <a:rPr lang="en-US" altLang="zh-CN" sz="1200" b="1" i="1" dirty="0" err="1">
                <a:solidFill>
                  <a:schemeClr val="tx1"/>
                </a:solidFill>
                <a:latin typeface="Times New Roman" panose="02020603050405020304" pitchFamily="18" charset="0"/>
                <a:ea typeface="+mn-ea"/>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c</a:t>
            </a:r>
            <a:r>
              <a:rPr lang="en-US" altLang="zh-CN" sz="1200" b="1" dirty="0">
                <a:solidFill>
                  <a:schemeClr val="tx1"/>
                </a:solidFill>
                <a:latin typeface="Times New Roman" panose="02020603050405020304" pitchFamily="18" charset="0"/>
                <a:ea typeface="+mn-ea"/>
              </a:rPr>
              <a:t>) = (</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b</a:t>
            </a:r>
            <a:r>
              <a:rPr lang="en-US" altLang="zh-CN" sz="1200" b="1" dirty="0">
                <a:solidFill>
                  <a:schemeClr val="tx1"/>
                </a:solidFill>
                <a:latin typeface="Times New Roman" panose="02020603050405020304" pitchFamily="18" charset="0"/>
                <a:ea typeface="+mn-ea"/>
              </a:rPr>
              <a:t>)</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dirty="0">
                <a:solidFill>
                  <a:schemeClr val="tx1"/>
                </a:solidFill>
                <a:latin typeface="Times New Roman" panose="02020603050405020304" pitchFamily="18" charset="0"/>
                <a:ea typeface="+mn-ea"/>
              </a:rPr>
              <a:t>(</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c</a:t>
            </a:r>
            <a:r>
              <a:rPr lang="en-US" altLang="zh-CN" sz="1200" b="1" dirty="0">
                <a:solidFill>
                  <a:schemeClr val="tx1"/>
                </a:solidFill>
                <a:latin typeface="Times New Roman" panose="02020603050405020304" pitchFamily="18" charset="0"/>
                <a:ea typeface="+mn-ea"/>
              </a:rPr>
              <a:t>) </a:t>
            </a:r>
          </a:p>
          <a:p>
            <a:pPr indent="0" eaLnBrk="1" hangingPunct="1"/>
            <a:r>
              <a:rPr lang="zh-CN" altLang="en-US"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dirty="0">
                <a:solidFill>
                  <a:schemeClr val="tx1"/>
                </a:solidFill>
                <a:latin typeface="Times New Roman" panose="02020603050405020304" pitchFamily="18" charset="0"/>
                <a:ea typeface="+mn-ea"/>
              </a:rPr>
              <a:t>(</a:t>
            </a:r>
            <a:r>
              <a:rPr lang="en-US" altLang="zh-CN" sz="1200" b="1" i="1" dirty="0" err="1">
                <a:solidFill>
                  <a:schemeClr val="tx1"/>
                </a:solidFill>
                <a:latin typeface="Times New Roman" panose="02020603050405020304" pitchFamily="18" charset="0"/>
                <a:ea typeface="+mn-ea"/>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c</a:t>
            </a:r>
            <a:r>
              <a:rPr lang="en-US" altLang="zh-CN" sz="1200" b="1" dirty="0">
                <a:solidFill>
                  <a:schemeClr val="tx1"/>
                </a:solidFill>
                <a:latin typeface="Times New Roman" panose="02020603050405020304" pitchFamily="18" charset="0"/>
                <a:ea typeface="+mn-ea"/>
              </a:rPr>
              <a:t>) = (</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b</a:t>
            </a:r>
            <a:r>
              <a:rPr lang="en-US" altLang="zh-CN" sz="1200" b="1" dirty="0">
                <a:solidFill>
                  <a:schemeClr val="tx1"/>
                </a:solidFill>
                <a:latin typeface="Times New Roman" panose="02020603050405020304" pitchFamily="18" charset="0"/>
                <a:ea typeface="+mn-ea"/>
              </a:rPr>
              <a:t>)</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dirty="0">
                <a:solidFill>
                  <a:schemeClr val="tx1"/>
                </a:solidFill>
                <a:latin typeface="Times New Roman" panose="02020603050405020304" pitchFamily="18" charset="0"/>
                <a:ea typeface="+mn-ea"/>
              </a:rPr>
              <a:t>(</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rPr>
              <a:t>c</a:t>
            </a:r>
            <a:r>
              <a:rPr lang="en-US" altLang="zh-CN" sz="1200" b="1" dirty="0">
                <a:solidFill>
                  <a:schemeClr val="tx1"/>
                </a:solidFill>
                <a:latin typeface="Times New Roman" panose="02020603050405020304" pitchFamily="18" charset="0"/>
                <a:ea typeface="+mn-ea"/>
              </a:rPr>
              <a:t>) </a:t>
            </a:r>
            <a:endParaRPr lang="en-US" altLang="zh-CN" sz="1200" dirty="0">
              <a:solidFill>
                <a:schemeClr val="tx1"/>
              </a:solidFill>
              <a:latin typeface="Times New Roman" panose="02020603050405020304" pitchFamily="18" charset="0"/>
              <a:ea typeface="+mn-ea"/>
              <a:sym typeface="Symbol" panose="05050102010706020507" pitchFamily="18" charset="2"/>
            </a:endParaRPr>
          </a:p>
          <a:p>
            <a:pPr indent="0" eaLnBrk="1" hangingPunct="1"/>
            <a:r>
              <a:rPr lang="zh-CN" altLang="en-US" sz="1200" b="1" dirty="0">
                <a:solidFill>
                  <a:schemeClr val="tx1"/>
                </a:solidFill>
                <a:latin typeface="Times New Roman" panose="02020603050405020304" pitchFamily="18" charset="0"/>
                <a:ea typeface="+mn-ea"/>
                <a:sym typeface="Symbol" panose="05050102010706020507" pitchFamily="18" charset="2"/>
              </a:rPr>
              <a:t>则称 </a:t>
            </a:r>
            <a:r>
              <a:rPr lang="en-US" altLang="zh-CN" sz="1200" b="1" i="1" dirty="0">
                <a:solidFill>
                  <a:schemeClr val="tx1"/>
                </a:solidFill>
                <a:latin typeface="Times New Roman" panose="02020603050405020304" pitchFamily="18" charset="0"/>
                <a:ea typeface="+mn-ea"/>
                <a:sym typeface="Symbol" panose="05050102010706020507" pitchFamily="18" charset="2"/>
              </a:rPr>
              <a:t>L </a:t>
            </a:r>
            <a:r>
              <a:rPr lang="zh-CN" altLang="en-US" sz="1200" b="1" dirty="0">
                <a:solidFill>
                  <a:schemeClr val="tx1"/>
                </a:solidFill>
                <a:latin typeface="Times New Roman" panose="02020603050405020304" pitchFamily="18" charset="0"/>
                <a:ea typeface="+mn-ea"/>
                <a:sym typeface="Symbol" panose="05050102010706020507" pitchFamily="18" charset="2"/>
              </a:rPr>
              <a:t>为</a:t>
            </a:r>
            <a:r>
              <a:rPr lang="zh-CN" altLang="en-US" sz="1200" b="1" dirty="0">
                <a:solidFill>
                  <a:srgbClr val="FF0000"/>
                </a:solidFill>
                <a:latin typeface="Times New Roman" panose="02020603050405020304" pitchFamily="18" charset="0"/>
                <a:ea typeface="+mn-ea"/>
                <a:sym typeface="Symbol" panose="05050102010706020507" pitchFamily="18" charset="2"/>
              </a:rPr>
              <a:t>分配格</a:t>
            </a:r>
            <a:r>
              <a:rPr lang="en-US" altLang="zh-CN" sz="1200" b="1" dirty="0">
                <a:solidFill>
                  <a:schemeClr val="tx1"/>
                </a:solidFill>
                <a:latin typeface="Times New Roman" panose="02020603050405020304" pitchFamily="18" charset="0"/>
                <a:ea typeface="+mn-ea"/>
                <a:sym typeface="Symbol" panose="05050102010706020507" pitchFamily="18" charset="2"/>
              </a:rPr>
              <a:t>.</a:t>
            </a:r>
            <a:endParaRPr lang="zh-CN" altLang="en-US" sz="1200" b="1" dirty="0">
              <a:solidFill>
                <a:schemeClr val="tx1"/>
              </a:solidFill>
              <a:latin typeface="Times New Roman" panose="02020603050405020304" pitchFamily="18" charset="0"/>
              <a:ea typeface="+mn-ea"/>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指出图中哪些格是分配格？</a:t>
            </a:r>
            <a:endParaRPr lang="en-US" altLang="zh-CN" sz="1200" b="1" dirty="0">
              <a:solidFill>
                <a:schemeClr val="tx1"/>
              </a:solidFill>
              <a:latin typeface="Times New Roman" panose="02020603050405020304" pitchFamily="18" charset="0"/>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mn-ea"/>
              </a:rPr>
              <a:t> 解</a:t>
            </a:r>
            <a:r>
              <a:rPr lang="en-US" altLang="zh-CN" sz="1200" b="1" dirty="0">
                <a:solidFill>
                  <a:srgbClr val="00B0F0"/>
                </a:solidFill>
                <a:latin typeface="Times New Roman" panose="02020603050405020304" pitchFamily="18" charset="0"/>
                <a:ea typeface="+mn-ea"/>
              </a:rPr>
              <a:t>: </a:t>
            </a:r>
            <a:r>
              <a:rPr lang="en-US" altLang="zh-CN" sz="1200" b="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和</a:t>
            </a:r>
            <a:r>
              <a:rPr lang="en-US" altLang="zh-CN" sz="1200" b="1" dirty="0">
                <a:solidFill>
                  <a:schemeClr val="tx1"/>
                </a:solidFill>
                <a:latin typeface="Times New Roman" panose="02020603050405020304" pitchFamily="18" charset="0"/>
                <a:ea typeface="+mn-ea"/>
                <a:cs typeface="Times New Roman" panose="02020603050405020304" pitchFamily="18" charset="0"/>
              </a:rPr>
              <a:t>(b)</a:t>
            </a:r>
            <a:r>
              <a:rPr lang="zh-CN" altLang="zh-CN" sz="1200" b="1" dirty="0">
                <a:solidFill>
                  <a:schemeClr val="tx1"/>
                </a:solidFill>
                <a:latin typeface="Times New Roman" panose="02020603050405020304" pitchFamily="18" charset="0"/>
                <a:ea typeface="+mn-ea"/>
                <a:cs typeface="Times New Roman" panose="02020603050405020304" pitchFamily="18" charset="0"/>
              </a:rPr>
              <a:t>是分配格</a:t>
            </a:r>
            <a:r>
              <a:rPr lang="en-US" altLang="zh-CN" sz="1200" b="1" dirty="0">
                <a:solidFill>
                  <a:schemeClr val="tx1"/>
                </a:solidFill>
                <a:latin typeface="Times New Roman" panose="02020603050405020304" pitchFamily="18" charset="0"/>
                <a:ea typeface="+mn-ea"/>
                <a:cs typeface="Times New Roman" panose="02020603050405020304" pitchFamily="18" charset="0"/>
              </a:rPr>
              <a:t>, (c)</a:t>
            </a:r>
            <a:r>
              <a:rPr lang="zh-CN" altLang="zh-CN" sz="1200" b="1" dirty="0">
                <a:solidFill>
                  <a:schemeClr val="tx1"/>
                </a:solidFill>
                <a:latin typeface="Times New Roman" panose="02020603050405020304" pitchFamily="18" charset="0"/>
                <a:ea typeface="+mn-ea"/>
                <a:cs typeface="Times New Roman" panose="02020603050405020304" pitchFamily="18" charset="0"/>
              </a:rPr>
              <a:t>和</a:t>
            </a:r>
            <a:r>
              <a:rPr lang="en-US" altLang="zh-CN" sz="1200" b="1" dirty="0">
                <a:solidFill>
                  <a:schemeClr val="tx1"/>
                </a:solidFill>
                <a:latin typeface="Times New Roman" panose="02020603050405020304" pitchFamily="18" charset="0"/>
                <a:ea typeface="+mn-ea"/>
                <a:cs typeface="Times New Roman" panose="02020603050405020304" pitchFamily="18" charset="0"/>
              </a:rPr>
              <a:t>(d)</a:t>
            </a:r>
            <a:r>
              <a:rPr lang="zh-CN" altLang="zh-CN" sz="1200" b="1" dirty="0">
                <a:solidFill>
                  <a:schemeClr val="tx1"/>
                </a:solidFill>
                <a:latin typeface="Times New Roman" panose="02020603050405020304" pitchFamily="18" charset="0"/>
                <a:ea typeface="+mn-ea"/>
                <a:cs typeface="Times New Roman" panose="02020603050405020304" pitchFamily="18" charset="0"/>
              </a:rPr>
              <a:t>不是分配格</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mn-ea"/>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139</a:t>
            </a:fld>
            <a:endParaRPr lang="zh-CN" altLang="en-US"/>
          </a:p>
        </p:txBody>
      </p:sp>
    </p:spTree>
    <p:extLst>
      <p:ext uri="{BB962C8B-B14F-4D97-AF65-F5344CB8AC3E}">
        <p14:creationId xmlns:p14="http://schemas.microsoft.com/office/powerpoint/2010/main" val="2478565145"/>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pPr>
            <a:r>
              <a:rPr lang="zh-CN" altLang="en-US" sz="1200" b="1" dirty="0">
                <a:solidFill>
                  <a:srgbClr val="00B0F0"/>
                </a:solidFill>
                <a:latin typeface="Times New Roman" panose="02020603050405020304" pitchFamily="18" charset="0"/>
                <a:ea typeface="+mn-ea"/>
              </a:rPr>
              <a:t>解</a:t>
            </a:r>
            <a:r>
              <a:rPr lang="en-US" altLang="zh-CN" sz="1200" b="1" dirty="0">
                <a:solidFill>
                  <a:srgbClr val="00B0F0"/>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判定</a:t>
            </a:r>
            <a:r>
              <a:rPr lang="en-US" altLang="zh-CN" sz="1200" b="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 是</a:t>
            </a:r>
            <a:r>
              <a:rPr lang="zh-CN" altLang="en-US" sz="1200" b="1" dirty="0">
                <a:solidFill>
                  <a:schemeClr val="tx1"/>
                </a:solidFill>
                <a:latin typeface="Times New Roman" panose="02020603050405020304" pitchFamily="18" charset="0"/>
                <a:ea typeface="+mn-ea"/>
                <a:cs typeface="Times New Roman" panose="02020603050405020304" pitchFamily="18" charset="0"/>
              </a:rPr>
              <a:t>否</a:t>
            </a:r>
            <a:r>
              <a:rPr lang="zh-CN" altLang="zh-CN" sz="1200" b="1" dirty="0">
                <a:solidFill>
                  <a:schemeClr val="tx1"/>
                </a:solidFill>
                <a:latin typeface="Times New Roman" panose="02020603050405020304" pitchFamily="18" charset="0"/>
                <a:ea typeface="+mn-ea"/>
                <a:cs typeface="Times New Roman" panose="02020603050405020304" pitchFamily="18" charset="0"/>
              </a:rPr>
              <a:t>分配格</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en-US" altLang="zh-CN" sz="1200" b="1" dirty="0">
                <a:solidFill>
                  <a:schemeClr val="tx1"/>
                </a:solidFill>
                <a:latin typeface="Calibri" panose="020F0502020204030204" pitchFamily="34" charset="0"/>
                <a:ea typeface="+mn-ea"/>
                <a:cs typeface="Calibri" panose="020F0502020204030204" pitchFamily="34" charset="0"/>
              </a:rPr>
              <a:t>①</a:t>
            </a:r>
            <a:r>
              <a:rPr lang="zh-CN" altLang="zh-CN" sz="1200" b="1" dirty="0">
                <a:solidFill>
                  <a:schemeClr val="tx1"/>
                </a:solidFill>
                <a:latin typeface="Times New Roman" panose="02020603050405020304" pitchFamily="18" charset="0"/>
                <a:ea typeface="+mn-ea"/>
                <a:cs typeface="Times New Roman" panose="02020603050405020304" pitchFamily="18" charset="0"/>
              </a:rPr>
              <a:t>图中</a:t>
            </a:r>
            <a:r>
              <a:rPr lang="zh-CN" altLang="en-US" sz="1200" b="1" dirty="0">
                <a:solidFill>
                  <a:schemeClr val="tx1"/>
                </a:solidFill>
                <a:latin typeface="Times New Roman" panose="02020603050405020304" pitchFamily="18" charset="0"/>
                <a:ea typeface="+mn-ea"/>
                <a:cs typeface="Times New Roman" panose="02020603050405020304" pitchFamily="18" charset="0"/>
              </a:rPr>
              <a:t>三个</a:t>
            </a:r>
            <a:r>
              <a:rPr lang="zh-CN" altLang="zh-CN" sz="1200" b="1" dirty="0">
                <a:solidFill>
                  <a:schemeClr val="tx1"/>
                </a:solidFill>
                <a:latin typeface="Times New Roman" panose="02020603050405020304" pitchFamily="18" charset="0"/>
                <a:ea typeface="+mn-ea"/>
                <a:cs typeface="Times New Roman" panose="02020603050405020304" pitchFamily="18" charset="0"/>
              </a:rPr>
              <a:t>元素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形成一个简单链</a:t>
            </a:r>
            <a:r>
              <a:rPr lang="zh-CN" altLang="zh-CN" sz="1200" b="1" i="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每个元素之间都有明确的</a:t>
            </a:r>
            <a:r>
              <a:rPr lang="zh-CN" altLang="en-US" sz="1200" b="1" dirty="0">
                <a:solidFill>
                  <a:schemeClr val="tx1"/>
                </a:solidFill>
                <a:latin typeface="Times New Roman" panose="02020603050405020304" pitchFamily="18" charset="0"/>
                <a:ea typeface="+mn-ea"/>
                <a:cs typeface="Times New Roman" panose="02020603050405020304" pitchFamily="18" charset="0"/>
              </a:rPr>
              <a:t>最小</a:t>
            </a:r>
            <a:r>
              <a:rPr lang="zh-CN" altLang="zh-CN" sz="1200" b="1" dirty="0">
                <a:solidFill>
                  <a:schemeClr val="tx1"/>
                </a:solidFill>
                <a:latin typeface="Times New Roman" panose="02020603050405020304" pitchFamily="18" charset="0"/>
                <a:ea typeface="+mn-ea"/>
                <a:cs typeface="Times New Roman" panose="02020603050405020304" pitchFamily="18" charset="0"/>
              </a:rPr>
              <a:t>上界和</a:t>
            </a:r>
            <a:r>
              <a:rPr lang="zh-CN" altLang="en-US" sz="1200" b="1" dirty="0">
                <a:solidFill>
                  <a:schemeClr val="tx1"/>
                </a:solidFill>
                <a:latin typeface="Times New Roman" panose="02020603050405020304" pitchFamily="18" charset="0"/>
                <a:ea typeface="+mn-ea"/>
                <a:cs typeface="Times New Roman" panose="02020603050405020304" pitchFamily="18" charset="0"/>
              </a:rPr>
              <a:t>最大</a:t>
            </a:r>
            <a:r>
              <a:rPr lang="zh-CN" altLang="zh-CN" sz="1200" b="1" dirty="0">
                <a:solidFill>
                  <a:schemeClr val="tx1"/>
                </a:solidFill>
                <a:latin typeface="Times New Roman" panose="02020603050405020304" pitchFamily="18" charset="0"/>
                <a:ea typeface="+mn-ea"/>
                <a:cs typeface="Times New Roman" panose="02020603050405020304" pitchFamily="18" charset="0"/>
              </a:rPr>
              <a:t>下界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zh-CN" altLang="en-US" sz="1200" b="1" dirty="0">
                <a:solidFill>
                  <a:schemeClr val="tx1"/>
                </a:solidFill>
                <a:latin typeface="Calibri" panose="020F0502020204030204" pitchFamily="34" charset="0"/>
                <a:ea typeface="+mn-ea"/>
                <a:cs typeface="Calibri" panose="020F0502020204030204" pitchFamily="34" charset="0"/>
              </a:rPr>
              <a:t>②</a:t>
            </a:r>
            <a:r>
              <a:rPr lang="zh-CN" altLang="en-US" sz="1200" b="1" dirty="0">
                <a:solidFill>
                  <a:schemeClr val="tx1"/>
                </a:solidFill>
                <a:latin typeface="Times New Roman" panose="02020603050405020304" pitchFamily="18" charset="0"/>
                <a:ea typeface="+mn-ea"/>
                <a:cs typeface="Times New Roman" panose="02020603050405020304" pitchFamily="18" charset="0"/>
              </a:rPr>
              <a:t>验证分配律</a:t>
            </a:r>
            <a:r>
              <a:rPr lang="en-US" altLang="zh-CN" sz="1200" b="1" dirty="0">
                <a:solidFill>
                  <a:schemeClr val="tx1"/>
                </a:solidFill>
                <a:latin typeface="Times New Roman" panose="02020603050405020304" pitchFamily="18" charset="0"/>
                <a:ea typeface="+mn-ea"/>
                <a:cs typeface="Times New Roman" panose="02020603050405020304" pitchFamily="18" charset="0"/>
              </a:rPr>
              <a:t>1</a:t>
            </a:r>
            <a:r>
              <a:rPr lang="zh-CN" altLang="en-US"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因</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有</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得到</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因</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有</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得到</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满足分配律</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zh-CN" altLang="en-US" sz="1200" b="1" dirty="0">
                <a:solidFill>
                  <a:schemeClr val="tx1"/>
                </a:solidFill>
                <a:latin typeface="Calibri" panose="020F0502020204030204" pitchFamily="34" charset="0"/>
                <a:ea typeface="+mn-ea"/>
                <a:cs typeface="Calibri" panose="020F0502020204030204" pitchFamily="34" charset="0"/>
              </a:rPr>
              <a:t>③</a:t>
            </a:r>
            <a:r>
              <a:rPr lang="zh-CN" altLang="en-US" sz="1200" b="1" dirty="0">
                <a:solidFill>
                  <a:schemeClr val="tx1"/>
                </a:solidFill>
                <a:latin typeface="Times New Roman" panose="02020603050405020304" pitchFamily="18" charset="0"/>
                <a:ea typeface="+mn-ea"/>
                <a:cs typeface="Times New Roman" panose="02020603050405020304" pitchFamily="18" charset="0"/>
              </a:rPr>
              <a:t>验证分配律</a:t>
            </a:r>
            <a:r>
              <a:rPr lang="en-US" altLang="zh-CN" sz="1200" b="1" dirty="0">
                <a:solidFill>
                  <a:schemeClr val="tx1"/>
                </a:solidFill>
                <a:latin typeface="Times New Roman" panose="02020603050405020304" pitchFamily="18" charset="0"/>
                <a:ea typeface="+mn-ea"/>
                <a:cs typeface="Times New Roman" panose="02020603050405020304" pitchFamily="18" charset="0"/>
              </a:rPr>
              <a:t>2</a:t>
            </a:r>
            <a:r>
              <a:rPr lang="zh-CN" altLang="en-US"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因为</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所以</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得到</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因</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有</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chemeClr val="tx1"/>
                </a:solidFill>
                <a:latin typeface="Times New Roman" panose="02020603050405020304" pitchFamily="18" charset="0"/>
                <a:ea typeface="+mn-ea"/>
                <a:cs typeface="Times New Roman" panose="02020603050405020304" pitchFamily="18" charset="0"/>
              </a:rPr>
              <a:t>得到</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满足分配律</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140</a:t>
            </a:fld>
            <a:endParaRPr lang="zh-CN" altLang="en-US"/>
          </a:p>
        </p:txBody>
      </p:sp>
    </p:spTree>
    <p:extLst>
      <p:ext uri="{BB962C8B-B14F-4D97-AF65-F5344CB8AC3E}">
        <p14:creationId xmlns:p14="http://schemas.microsoft.com/office/powerpoint/2010/main" val="129421283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pPr>
            <a:r>
              <a:rPr lang="en-US" altLang="zh-CN" sz="1200" b="1" dirty="0">
                <a:solidFill>
                  <a:srgbClr val="00B0F0"/>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判定</a:t>
            </a:r>
            <a:r>
              <a:rPr lang="en-US" altLang="zh-CN" sz="1200" b="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 是</a:t>
            </a:r>
            <a:r>
              <a:rPr lang="zh-CN" altLang="en-US" sz="1200" b="1" dirty="0">
                <a:solidFill>
                  <a:schemeClr val="tx1"/>
                </a:solidFill>
                <a:latin typeface="Times New Roman" panose="02020603050405020304" pitchFamily="18" charset="0"/>
                <a:ea typeface="+mn-ea"/>
                <a:cs typeface="Times New Roman" panose="02020603050405020304" pitchFamily="18" charset="0"/>
              </a:rPr>
              <a:t>否</a:t>
            </a:r>
            <a:r>
              <a:rPr lang="zh-CN" altLang="zh-CN" sz="1200" b="1" dirty="0">
                <a:solidFill>
                  <a:schemeClr val="tx1"/>
                </a:solidFill>
                <a:latin typeface="Times New Roman" panose="02020603050405020304" pitchFamily="18" charset="0"/>
                <a:ea typeface="+mn-ea"/>
                <a:cs typeface="Times New Roman" panose="02020603050405020304" pitchFamily="18" charset="0"/>
              </a:rPr>
              <a:t>分配格</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en-US" altLang="zh-CN" sz="1200" b="1" dirty="0">
                <a:solidFill>
                  <a:schemeClr val="tx1"/>
                </a:solidFill>
                <a:latin typeface="Calibri" panose="020F0502020204030204" pitchFamily="34" charset="0"/>
                <a:ea typeface="+mn-ea"/>
                <a:cs typeface="Calibri" panose="020F0502020204030204" pitchFamily="34" charset="0"/>
              </a:rPr>
              <a:t>①</a:t>
            </a:r>
            <a:r>
              <a:rPr lang="zh-CN" altLang="zh-CN" sz="1200" b="1" dirty="0">
                <a:solidFill>
                  <a:schemeClr val="tx1"/>
                </a:solidFill>
                <a:latin typeface="Times New Roman" panose="02020603050405020304" pitchFamily="18" charset="0"/>
                <a:ea typeface="+mn-ea"/>
                <a:cs typeface="Times New Roman" panose="02020603050405020304" pitchFamily="18" charset="0"/>
              </a:rPr>
              <a:t>元素 </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a</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d</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e</a:t>
            </a:r>
            <a:r>
              <a:rPr lang="zh-CN" altLang="zh-CN" sz="1200" b="1" dirty="0">
                <a:solidFill>
                  <a:schemeClr val="tx1"/>
                </a:solidFill>
                <a:latin typeface="Times New Roman" panose="02020603050405020304" pitchFamily="18" charset="0"/>
                <a:ea typeface="+mn-ea"/>
                <a:cs typeface="Times New Roman" panose="02020603050405020304" pitchFamily="18" charset="0"/>
              </a:rPr>
              <a:t>形</a:t>
            </a:r>
            <a:r>
              <a:rPr lang="zh-CN" altLang="en-US" sz="1200" b="1" dirty="0">
                <a:solidFill>
                  <a:schemeClr val="tx1"/>
                </a:solidFill>
                <a:latin typeface="Times New Roman" panose="02020603050405020304" pitchFamily="18" charset="0"/>
                <a:ea typeface="+mn-ea"/>
                <a:cs typeface="Times New Roman" panose="02020603050405020304" pitchFamily="18" charset="0"/>
              </a:rPr>
              <a:t>成关系</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d</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d</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d</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每个元素之间都有明确的</a:t>
            </a:r>
            <a:r>
              <a:rPr lang="zh-CN" altLang="en-US" sz="1200" b="1" dirty="0">
                <a:solidFill>
                  <a:schemeClr val="tx1"/>
                </a:solidFill>
                <a:latin typeface="Times New Roman" panose="02020603050405020304" pitchFamily="18" charset="0"/>
                <a:ea typeface="+mn-ea"/>
                <a:cs typeface="Times New Roman" panose="02020603050405020304" pitchFamily="18" charset="0"/>
              </a:rPr>
              <a:t>最小</a:t>
            </a:r>
            <a:r>
              <a:rPr lang="zh-CN" altLang="zh-CN" sz="1200" b="1" dirty="0">
                <a:solidFill>
                  <a:schemeClr val="tx1"/>
                </a:solidFill>
                <a:latin typeface="Times New Roman" panose="02020603050405020304" pitchFamily="18" charset="0"/>
                <a:ea typeface="+mn-ea"/>
                <a:cs typeface="Times New Roman" panose="02020603050405020304" pitchFamily="18" charset="0"/>
              </a:rPr>
              <a:t>上界和</a:t>
            </a:r>
            <a:r>
              <a:rPr lang="zh-CN" altLang="en-US" sz="1200" b="1" dirty="0">
                <a:solidFill>
                  <a:schemeClr val="tx1"/>
                </a:solidFill>
                <a:latin typeface="Times New Roman" panose="02020603050405020304" pitchFamily="18" charset="0"/>
                <a:ea typeface="+mn-ea"/>
                <a:cs typeface="Times New Roman" panose="02020603050405020304" pitchFamily="18" charset="0"/>
              </a:rPr>
              <a:t>最大</a:t>
            </a:r>
            <a:r>
              <a:rPr lang="zh-CN" altLang="zh-CN" sz="1200" b="1" dirty="0">
                <a:solidFill>
                  <a:schemeClr val="tx1"/>
                </a:solidFill>
                <a:latin typeface="Times New Roman" panose="02020603050405020304" pitchFamily="18" charset="0"/>
                <a:ea typeface="+mn-ea"/>
                <a:cs typeface="Times New Roman" panose="02020603050405020304" pitchFamily="18" charset="0"/>
              </a:rPr>
              <a:t>下界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zh-CN" altLang="en-US" sz="1200" b="1" dirty="0">
                <a:solidFill>
                  <a:schemeClr val="tx1"/>
                </a:solidFill>
                <a:latin typeface="Calibri" panose="020F0502020204030204" pitchFamily="34" charset="0"/>
                <a:ea typeface="+mn-ea"/>
                <a:cs typeface="Calibri" panose="020F0502020204030204" pitchFamily="34" charset="0"/>
              </a:rPr>
              <a:t>②</a:t>
            </a:r>
            <a:r>
              <a:rPr lang="zh-CN" altLang="en-US" sz="1200" b="1" dirty="0">
                <a:solidFill>
                  <a:schemeClr val="tx1"/>
                </a:solidFill>
                <a:latin typeface="Times New Roman" panose="02020603050405020304" pitchFamily="18" charset="0"/>
                <a:ea typeface="+mn-ea"/>
                <a:cs typeface="Times New Roman" panose="02020603050405020304" pitchFamily="18" charset="0"/>
              </a:rPr>
              <a:t>验证分配律</a:t>
            </a:r>
            <a:r>
              <a:rPr lang="en-US" altLang="zh-CN" sz="1200" b="1" dirty="0">
                <a:solidFill>
                  <a:schemeClr val="tx1"/>
                </a:solidFill>
                <a:latin typeface="Times New Roman" panose="02020603050405020304" pitchFamily="18" charset="0"/>
                <a:ea typeface="+mn-ea"/>
                <a:cs typeface="Times New Roman" panose="02020603050405020304" pitchFamily="18" charset="0"/>
              </a:rPr>
              <a:t>1</a:t>
            </a:r>
            <a:r>
              <a:rPr lang="zh-CN" altLang="en-US" sz="1200" b="1" dirty="0">
                <a:solidFill>
                  <a:schemeClr val="tx1"/>
                </a:solidFill>
                <a:latin typeface="Times New Roman" panose="02020603050405020304" pitchFamily="18" charset="0"/>
                <a:ea typeface="+mn-ea"/>
                <a:cs typeface="Times New Roman" panose="02020603050405020304" pitchFamily="18" charset="0"/>
              </a:rPr>
              <a:t>：</a:t>
            </a:r>
          </a:p>
          <a:p>
            <a:pPr>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因</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100" i="1" kern="100" dirty="0">
                <a:solidFill>
                  <a:srgbClr val="0D0D0D"/>
                </a:solidFill>
                <a:effectLst/>
                <a:latin typeface="Times New Roman" panose="02020603050405020304" pitchFamily="18" charset="0"/>
                <a:ea typeface="+mn-ea"/>
                <a:cs typeface="Times New Roman" panose="02020603050405020304" pitchFamily="18" charset="0"/>
              </a:rPr>
              <a:t> </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宋体" panose="02010600030101010101" pitchFamily="2" charset="-122"/>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有</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cs typeface="Times New Roman" panose="02020603050405020304" pitchFamily="18" charset="0"/>
              </a:rPr>
              <a:t>(</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effectLst/>
                <a:latin typeface="Times New Roman" panose="02020603050405020304" pitchFamily="18" charset="0"/>
                <a:cs typeface="Times New Roman" panose="02020603050405020304" pitchFamily="18" charset="0"/>
              </a:rPr>
              <a:t>c</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effectLst/>
                <a:latin typeface="Times New Roman" panose="02020603050405020304" pitchFamily="18" charset="0"/>
                <a:cs typeface="Times New Roman" panose="02020603050405020304" pitchFamily="18" charset="0"/>
              </a:rPr>
              <a:t>a</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effectLst/>
                <a:latin typeface="Times New Roman" panose="02020603050405020304" pitchFamily="18" charset="0"/>
                <a:cs typeface="Times New Roman" panose="02020603050405020304" pitchFamily="18" charset="0"/>
              </a:rPr>
              <a:t>e</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rgbClr val="FF0000"/>
                </a:solidFill>
                <a:effectLst/>
                <a:latin typeface="Times New Roman" panose="02020603050405020304" pitchFamily="18" charset="0"/>
                <a:cs typeface="Times New Roman" panose="02020603050405020304" pitchFamily="18" charset="0"/>
              </a:rPr>
              <a:t>a</a:t>
            </a:r>
            <a:endParaRPr lang="en-US" altLang="zh-CN" sz="1200" b="1" i="1" kern="100" dirty="0">
              <a:solidFill>
                <a:srgbClr val="FF0000"/>
              </a:solidFill>
              <a:effectLst/>
              <a:latin typeface="Times New Roman" panose="02020603050405020304" pitchFamily="18" charset="0"/>
              <a:ea typeface="+mn-ea"/>
              <a:cs typeface="Times New Roman" panose="02020603050405020304" pitchFamily="18" charset="0"/>
            </a:endParaRPr>
          </a:p>
          <a:p>
            <a:pPr>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因</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d</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d</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 , </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有</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d</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d</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rgbClr val="FF0000"/>
                </a:solidFill>
                <a:effectLst/>
                <a:latin typeface="Times New Roman" panose="02020603050405020304" pitchFamily="18" charset="0"/>
                <a:ea typeface="+mn-ea"/>
                <a:cs typeface="Times New Roman" panose="02020603050405020304" pitchFamily="18" charset="0"/>
              </a:rPr>
              <a:t>d </a:t>
            </a:r>
            <a:endParaRPr lang="en-US" altLang="zh-CN" sz="1200" b="1" i="1" kern="100" dirty="0">
              <a:solidFill>
                <a:srgbClr val="FF0000"/>
              </a:solidFill>
              <a:latin typeface="Times New Roman" panose="02020603050405020304" pitchFamily="18" charset="0"/>
              <a:ea typeface="+mn-ea"/>
              <a:cs typeface="Times New Roman" panose="02020603050405020304" pitchFamily="18" charset="0"/>
            </a:endParaRPr>
          </a:p>
          <a:p>
            <a:pPr>
              <a:lnSpc>
                <a:spcPct val="110000"/>
              </a:lnSpc>
            </a:pP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结果</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cs typeface="Times New Roman" panose="02020603050405020304" pitchFamily="18" charset="0"/>
              </a:rPr>
              <a:t>(</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effectLst/>
                <a:latin typeface="Times New Roman" panose="02020603050405020304" pitchFamily="18" charset="0"/>
                <a:cs typeface="Times New Roman" panose="02020603050405020304" pitchFamily="18" charset="0"/>
              </a:rPr>
              <a:t>c</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 </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latin typeface="Times New Roman" panose="02020603050405020304" pitchFamily="18" charset="0"/>
                <a:ea typeface="+mn-ea"/>
                <a:cs typeface="Times New Roman" panose="02020603050405020304" pitchFamily="18" charset="0"/>
              </a:rPr>
              <a:t>,</a:t>
            </a:r>
            <a:r>
              <a:rPr lang="zh-CN" altLang="en-US" sz="1200" b="1" kern="100" dirty="0">
                <a:solidFill>
                  <a:srgbClr val="FF0000"/>
                </a:solidFill>
                <a:latin typeface="Times New Roman" panose="02020603050405020304" pitchFamily="18" charset="0"/>
                <a:ea typeface="+mn-ea"/>
                <a:cs typeface="Times New Roman" panose="02020603050405020304" pitchFamily="18" charset="0"/>
              </a:rPr>
              <a:t>不</a:t>
            </a:r>
            <a:r>
              <a:rPr lang="zh-CN" altLang="en-US" sz="1200" b="1" dirty="0">
                <a:solidFill>
                  <a:srgbClr val="FF0000"/>
                </a:solidFill>
                <a:latin typeface="Times New Roman" panose="02020603050405020304" pitchFamily="18" charset="0"/>
                <a:ea typeface="+mn-ea"/>
                <a:cs typeface="Times New Roman" panose="02020603050405020304" pitchFamily="18" charset="0"/>
              </a:rPr>
              <a:t>满足分配律</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endParaRPr lang="en-US" altLang="zh-CN" sz="1200" b="1" kern="100" dirty="0">
              <a:solidFill>
                <a:schemeClr val="tx1"/>
              </a:solidFill>
              <a:latin typeface="Times New Roman" panose="02020603050405020304" pitchFamily="18" charset="0"/>
              <a:ea typeface="+mn-ea"/>
              <a:cs typeface="Times New Roman" panose="02020603050405020304" pitchFamily="18" charset="0"/>
            </a:endParaRPr>
          </a:p>
          <a:p>
            <a:pPr>
              <a:lnSpc>
                <a:spcPct val="110000"/>
              </a:lnSpc>
            </a:pPr>
            <a:r>
              <a:rPr lang="zh-CN" altLang="en-US" sz="1200" b="1" dirty="0">
                <a:solidFill>
                  <a:schemeClr val="tx1"/>
                </a:solidFill>
                <a:latin typeface="Calibri" panose="020F0502020204030204" pitchFamily="34" charset="0"/>
                <a:ea typeface="+mn-ea"/>
                <a:cs typeface="Calibri" panose="020F0502020204030204" pitchFamily="34" charset="0"/>
              </a:rPr>
              <a:t>③</a:t>
            </a:r>
            <a:r>
              <a:rPr lang="zh-CN" altLang="en-US" sz="1200" b="1" dirty="0">
                <a:solidFill>
                  <a:schemeClr val="tx1"/>
                </a:solidFill>
                <a:latin typeface="Times New Roman" panose="02020603050405020304" pitchFamily="18" charset="0"/>
                <a:ea typeface="+mn-ea"/>
                <a:cs typeface="Times New Roman" panose="02020603050405020304" pitchFamily="18" charset="0"/>
              </a:rPr>
              <a:t>验证分配律</a:t>
            </a:r>
            <a:r>
              <a:rPr lang="en-US" altLang="zh-CN" sz="1200" b="1" dirty="0">
                <a:solidFill>
                  <a:schemeClr val="tx1"/>
                </a:solidFill>
                <a:latin typeface="Times New Roman" panose="02020603050405020304" pitchFamily="18" charset="0"/>
                <a:ea typeface="+mn-ea"/>
                <a:cs typeface="Times New Roman" panose="02020603050405020304" pitchFamily="18" charset="0"/>
              </a:rPr>
              <a:t>2</a:t>
            </a:r>
            <a:r>
              <a:rPr lang="zh-CN" altLang="en-US" sz="1200" b="1" dirty="0">
                <a:solidFill>
                  <a:schemeClr val="tx1"/>
                </a:solidFill>
                <a:latin typeface="Times New Roman" panose="02020603050405020304" pitchFamily="18" charset="0"/>
                <a:ea typeface="+mn-ea"/>
                <a:cs typeface="Times New Roman" panose="02020603050405020304" pitchFamily="18" charset="0"/>
              </a:rPr>
              <a:t>：</a:t>
            </a:r>
          </a:p>
          <a:p>
            <a:pPr algn="l"/>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因</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d, 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d</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有</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d</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rgbClr val="FF0000"/>
                </a:solidFill>
                <a:effectLst/>
                <a:latin typeface="Times New Roman" panose="02020603050405020304" pitchFamily="18" charset="0"/>
                <a:ea typeface="+mn-ea"/>
                <a:cs typeface="Times New Roman" panose="02020603050405020304" pitchFamily="18" charset="0"/>
              </a:rPr>
              <a:t>a</a:t>
            </a:r>
          </a:p>
          <a:p>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因</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e, 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有</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e</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rgbClr val="FF0000"/>
                </a:solidFill>
                <a:effectLst/>
                <a:latin typeface="Times New Roman" panose="02020603050405020304" pitchFamily="18" charset="0"/>
                <a:ea typeface="+mn-ea"/>
                <a:cs typeface="Times New Roman" panose="02020603050405020304" pitchFamily="18" charset="0"/>
              </a:rPr>
              <a:t>e</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 </a:t>
            </a:r>
            <a:endPar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endParaRPr>
          </a:p>
          <a:p>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结果</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c</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kern="100" dirty="0">
                <a:solidFill>
                  <a:srgbClr val="FF0000"/>
                </a:solidFill>
                <a:effectLst/>
                <a:latin typeface="Times New Roman" panose="02020603050405020304" pitchFamily="18" charset="0"/>
                <a:ea typeface="+mn-ea"/>
                <a:cs typeface="Times New Roman" panose="02020603050405020304" pitchFamily="18" charset="0"/>
              </a:rPr>
              <a:t>不满足分配律</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t>
            </a:r>
          </a:p>
          <a:p>
            <a:pPr>
              <a:lnSpc>
                <a:spcPct val="110000"/>
              </a:lnSpc>
            </a:pP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pPr>
              <a:lnSpc>
                <a:spcPct val="110000"/>
              </a:lnSpc>
            </a:pPr>
            <a:r>
              <a:rPr lang="zh-CN" altLang="en-US" sz="1200" b="1" dirty="0">
                <a:solidFill>
                  <a:schemeClr val="tx1"/>
                </a:solidFill>
                <a:latin typeface="Times New Roman" panose="02020603050405020304" pitchFamily="18" charset="0"/>
                <a:ea typeface="+mn-ea"/>
                <a:cs typeface="Times New Roman" panose="02020603050405020304" pitchFamily="18" charset="0"/>
              </a:rPr>
              <a:t>两个分配律都不成立</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en-US" sz="1200" b="1" dirty="0">
                <a:solidFill>
                  <a:srgbClr val="FF0000"/>
                </a:solidFill>
                <a:latin typeface="Times New Roman" panose="02020603050405020304" pitchFamily="18" charset="0"/>
                <a:ea typeface="+mn-ea"/>
                <a:cs typeface="Times New Roman" panose="02020603050405020304" pitchFamily="18" charset="0"/>
              </a:rPr>
              <a:t>图</a:t>
            </a:r>
            <a:r>
              <a:rPr lang="en-US" altLang="zh-CN" sz="1200" b="1" dirty="0">
                <a:solidFill>
                  <a:srgbClr val="FF0000"/>
                </a:solidFill>
                <a:latin typeface="Times New Roman" panose="02020603050405020304" pitchFamily="18" charset="0"/>
                <a:ea typeface="+mn-ea"/>
                <a:cs typeface="Times New Roman" panose="02020603050405020304" pitchFamily="18" charset="0"/>
              </a:rPr>
              <a:t>(c)</a:t>
            </a:r>
            <a:r>
              <a:rPr lang="zh-CN" altLang="en-US" sz="1200" b="1" dirty="0">
                <a:solidFill>
                  <a:srgbClr val="FF0000"/>
                </a:solidFill>
                <a:latin typeface="Times New Roman" panose="02020603050405020304" pitchFamily="18" charset="0"/>
                <a:ea typeface="+mn-ea"/>
                <a:cs typeface="Times New Roman" panose="02020603050405020304" pitchFamily="18" charset="0"/>
              </a:rPr>
              <a:t>不是一个分配格</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141</a:t>
            </a:fld>
            <a:endParaRPr lang="zh-CN" altLang="en-US"/>
          </a:p>
        </p:txBody>
      </p:sp>
    </p:spTree>
    <p:extLst>
      <p:ext uri="{BB962C8B-B14F-4D97-AF65-F5344CB8AC3E}">
        <p14:creationId xmlns:p14="http://schemas.microsoft.com/office/powerpoint/2010/main" val="384279320"/>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pPr>
            <a:r>
              <a:rPr lang="zh-CN" altLang="en-US" sz="1200" b="1" dirty="0">
                <a:solidFill>
                  <a:srgbClr val="FF0000"/>
                </a:solidFill>
                <a:ea typeface="+mn-ea"/>
              </a:rPr>
              <a:t>定义</a:t>
            </a:r>
            <a:r>
              <a:rPr lang="en-US" altLang="zh-CN" sz="1200" b="1" dirty="0">
                <a:solidFill>
                  <a:srgbClr val="FF0000"/>
                </a:solidFill>
                <a:latin typeface="Times New Roman" panose="02020603050405020304" pitchFamily="18" charset="0"/>
                <a:ea typeface="+mn-ea"/>
              </a:rPr>
              <a:t>9.22</a:t>
            </a:r>
            <a:r>
              <a:rPr lang="en-US" altLang="zh-CN" sz="1200" b="1" dirty="0">
                <a:solidFill>
                  <a:srgbClr val="FF0000"/>
                </a:solidFill>
                <a:ea typeface="+mn-ea"/>
              </a:rPr>
              <a:t> </a:t>
            </a:r>
            <a:r>
              <a:rPr lang="zh-CN" altLang="en-US" sz="1200" b="1" dirty="0">
                <a:solidFill>
                  <a:schemeClr val="tx1"/>
                </a:solidFill>
                <a:ea typeface="+mn-ea"/>
              </a:rPr>
              <a:t>若</a:t>
            </a:r>
            <a:r>
              <a:rPr lang="zh-CN" altLang="en-US" sz="1200" b="1" dirty="0">
                <a:solidFill>
                  <a:schemeClr val="tx1"/>
                </a:solidFill>
                <a:latin typeface="Times New Roman" panose="02020603050405020304" pitchFamily="18" charset="0"/>
                <a:ea typeface="+mn-ea"/>
              </a:rPr>
              <a:t>在格</a:t>
            </a:r>
            <a:r>
              <a:rPr lang="en-US" altLang="zh-CN" sz="1200" b="1" dirty="0">
                <a:solidFill>
                  <a:schemeClr val="tx1"/>
                </a:solidFill>
                <a:latin typeface="Times New Roman" panose="02020603050405020304" pitchFamily="18" charset="0"/>
                <a:ea typeface="+mn-ea"/>
                <a:sym typeface="Symbol" panose="05050102010706020507" pitchFamily="18" charset="2"/>
              </a:rPr>
              <a:t>&lt;</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en-US" altLang="zh-CN" sz="1200" b="1" dirty="0">
                <a:solidFill>
                  <a:schemeClr val="tx1"/>
                </a:solidFill>
                <a:latin typeface="Times New Roman" panose="02020603050405020304" pitchFamily="18" charset="0"/>
                <a:ea typeface="+mn-ea"/>
                <a:sym typeface="Symbol" panose="05050102010706020507" pitchFamily="18" charset="2"/>
              </a:rPr>
              <a:t>, ∧, ∨, &gt;</a:t>
            </a:r>
            <a:r>
              <a:rPr lang="zh-CN" altLang="en-US" sz="1200" b="1" dirty="0">
                <a:solidFill>
                  <a:schemeClr val="tx1"/>
                </a:solidFill>
                <a:latin typeface="Times New Roman" panose="02020603050405020304" pitchFamily="18" charset="0"/>
                <a:ea typeface="+mn-ea"/>
                <a:sym typeface="Symbol" panose="05050102010706020507" pitchFamily="18" charset="2"/>
              </a:rPr>
              <a:t>中存在一个元素</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err="1">
                <a:solidFill>
                  <a:schemeClr val="tx1"/>
                </a:solidFill>
                <a:latin typeface="Times New Roman" panose="02020603050405020304" pitchFamily="18" charset="0"/>
                <a:ea typeface="+mn-ea"/>
              </a:rPr>
              <a:t>b</a:t>
            </a:r>
            <a:r>
              <a:rPr lang="en-US" altLang="zh-CN" sz="1200" b="1" dirty="0" err="1">
                <a:solidFill>
                  <a:schemeClr val="tx1"/>
                </a:solidFill>
                <a:latin typeface="Times New Roman" panose="02020603050405020304" pitchFamily="18" charset="0"/>
                <a:ea typeface="+mn-ea"/>
                <a:sym typeface="Symbol" panose="05050102010706020507" pitchFamily="18" charset="2"/>
              </a:rPr>
              <a:t>∈</a:t>
            </a:r>
            <a:r>
              <a:rPr lang="en-US" altLang="zh-CN" sz="1200" b="1" i="1" dirty="0" err="1">
                <a:solidFill>
                  <a:schemeClr val="tx1"/>
                </a:solidFill>
                <a:latin typeface="Times New Roman" panose="02020603050405020304" pitchFamily="18" charset="0"/>
                <a:ea typeface="+mn-ea"/>
                <a:sym typeface="Symbol" panose="05050102010706020507" pitchFamily="18" charset="2"/>
              </a:rPr>
              <a:t>L</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 a</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rPr>
              <a:t> b</a:t>
            </a:r>
            <a:r>
              <a:rPr lang="en-US" altLang="zh-CN"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rPr>
              <a:t>或</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rPr>
              <a:t> a</a:t>
            </a:r>
            <a:r>
              <a:rPr lang="en-US" altLang="zh-CN"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sym typeface="Symbol" panose="05050102010706020507" pitchFamily="18" charset="2"/>
              </a:rPr>
              <a:t>则称</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zh-CN" altLang="en-US" sz="1200" b="1" dirty="0">
                <a:solidFill>
                  <a:schemeClr val="tx1"/>
                </a:solidFill>
                <a:latin typeface="Times New Roman" panose="02020603050405020304" pitchFamily="18" charset="0"/>
                <a:ea typeface="+mn-ea"/>
                <a:sym typeface="Symbol" panose="05050102010706020507" pitchFamily="18" charset="2"/>
              </a:rPr>
              <a:t>为</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zh-CN" altLang="en-US" sz="1200" b="1" dirty="0">
                <a:solidFill>
                  <a:schemeClr val="tx1"/>
                </a:solidFill>
                <a:latin typeface="Times New Roman" panose="02020603050405020304" pitchFamily="18" charset="0"/>
                <a:ea typeface="+mn-ea"/>
                <a:sym typeface="Symbol" panose="05050102010706020507" pitchFamily="18" charset="2"/>
              </a:rPr>
              <a:t>的</a:t>
            </a:r>
            <a:r>
              <a:rPr lang="zh-CN" altLang="en-US" sz="1200" b="1" dirty="0">
                <a:solidFill>
                  <a:srgbClr val="FF0000"/>
                </a:solidFill>
                <a:latin typeface="Times New Roman" panose="02020603050405020304" pitchFamily="18" charset="0"/>
                <a:ea typeface="+mn-ea"/>
                <a:sym typeface="Symbol" panose="05050102010706020507" pitchFamily="18" charset="2"/>
              </a:rPr>
              <a:t>全下界</a:t>
            </a:r>
            <a:r>
              <a:rPr lang="en-US" altLang="zh-CN"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rPr>
              <a:t>或</a:t>
            </a:r>
            <a:r>
              <a:rPr lang="zh-CN" altLang="en-US" sz="1200" b="1" dirty="0">
                <a:solidFill>
                  <a:srgbClr val="FF0000"/>
                </a:solidFill>
                <a:latin typeface="Times New Roman" panose="02020603050405020304" pitchFamily="18" charset="0"/>
                <a:ea typeface="+mn-ea"/>
                <a:sym typeface="Symbol" panose="05050102010706020507" pitchFamily="18" charset="2"/>
              </a:rPr>
              <a:t>全上界</a:t>
            </a:r>
            <a:r>
              <a:rPr lang="en-US" altLang="zh-CN" sz="1200" b="1" dirty="0">
                <a:solidFill>
                  <a:schemeClr val="tx1"/>
                </a:solidFill>
                <a:latin typeface="Times New Roman" panose="02020603050405020304" pitchFamily="18" charset="0"/>
                <a:ea typeface="+mn-ea"/>
              </a:rPr>
              <a:t>).</a:t>
            </a:r>
          </a:p>
          <a:p>
            <a:pPr marL="342900" indent="-342900" eaLnBrk="1" hangingPunct="1">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mn-ea"/>
                <a:sym typeface="Symbol" panose="05050102010706020507" pitchFamily="18" charset="2"/>
              </a:rPr>
              <a:t>格</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zh-CN" altLang="en-US" sz="1200" b="1" dirty="0">
                <a:solidFill>
                  <a:schemeClr val="tx1"/>
                </a:solidFill>
                <a:latin typeface="Times New Roman" panose="02020603050405020304" pitchFamily="18" charset="0"/>
                <a:ea typeface="+mn-ea"/>
                <a:sym typeface="Symbol" panose="05050102010706020507" pitchFamily="18" charset="2"/>
              </a:rPr>
              <a:t>全下界如果存在</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则是唯一的</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记为</a:t>
            </a:r>
            <a:r>
              <a:rPr lang="en-US" altLang="zh-CN" sz="1200" b="1" dirty="0">
                <a:solidFill>
                  <a:schemeClr val="tx1"/>
                </a:solidFill>
                <a:latin typeface="Times New Roman" panose="02020603050405020304" pitchFamily="18" charset="0"/>
                <a:ea typeface="+mn-ea"/>
                <a:sym typeface="Symbol" panose="05050102010706020507" pitchFamily="18" charset="2"/>
              </a:rPr>
              <a:t>0.</a:t>
            </a:r>
          </a:p>
          <a:p>
            <a:pPr marL="342900" indent="-342900" eaLnBrk="1" hangingPunct="1">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mn-ea"/>
                <a:sym typeface="Symbol" panose="05050102010706020507" pitchFamily="18" charset="2"/>
              </a:rPr>
              <a:t>格</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zh-CN" altLang="en-US" sz="1200" b="1" dirty="0">
                <a:solidFill>
                  <a:schemeClr val="tx1"/>
                </a:solidFill>
                <a:latin typeface="Times New Roman" panose="02020603050405020304" pitchFamily="18" charset="0"/>
                <a:ea typeface="+mn-ea"/>
                <a:sym typeface="Symbol" panose="05050102010706020507" pitchFamily="18" charset="2"/>
              </a:rPr>
              <a:t>全上界如果存在</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也一定是惟一的</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 记为</a:t>
            </a:r>
            <a:r>
              <a:rPr lang="en-US" altLang="zh-CN" sz="1200" b="1" dirty="0">
                <a:solidFill>
                  <a:schemeClr val="tx1"/>
                </a:solidFill>
                <a:latin typeface="Times New Roman" panose="02020603050405020304" pitchFamily="18" charset="0"/>
                <a:ea typeface="+mn-ea"/>
                <a:sym typeface="Symbol" panose="05050102010706020507" pitchFamily="18" charset="2"/>
              </a:rPr>
              <a:t>1. </a:t>
            </a:r>
          </a:p>
          <a:p>
            <a:pPr marL="342900" indent="-342900" eaLnBrk="1" hangingPunct="1">
              <a:lnSpc>
                <a:spcPct val="12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mn-ea"/>
                <a:sym typeface="Symbol" panose="05050102010706020507" pitchFamily="18" charset="2"/>
              </a:rPr>
              <a:t>格</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zh-CN" altLang="en-US" sz="1200" b="1" dirty="0">
                <a:solidFill>
                  <a:schemeClr val="tx1"/>
                </a:solidFill>
                <a:latin typeface="Times New Roman" panose="02020603050405020304" pitchFamily="18" charset="0"/>
                <a:ea typeface="+mn-ea"/>
                <a:sym typeface="Symbol" panose="05050102010706020507" pitchFamily="18" charset="2"/>
              </a:rPr>
              <a:t>全下界和全上界如果都存在</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则称</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zh-CN" altLang="en-US" sz="1200" b="1" dirty="0">
                <a:solidFill>
                  <a:schemeClr val="tx1"/>
                </a:solidFill>
                <a:latin typeface="Times New Roman" panose="02020603050405020304" pitchFamily="18" charset="0"/>
                <a:ea typeface="+mn-ea"/>
                <a:sym typeface="Symbol" panose="05050102010706020507" pitchFamily="18" charset="2"/>
              </a:rPr>
              <a:t>为</a:t>
            </a:r>
            <a:r>
              <a:rPr lang="zh-CN" altLang="en-US" sz="1200" b="1" dirty="0">
                <a:solidFill>
                  <a:srgbClr val="FF0000"/>
                </a:solidFill>
                <a:latin typeface="Times New Roman" panose="02020603050405020304" pitchFamily="18" charset="0"/>
                <a:ea typeface="+mn-ea"/>
                <a:sym typeface="Symbol" panose="05050102010706020507" pitchFamily="18" charset="2"/>
              </a:rPr>
              <a:t>有界格</a:t>
            </a:r>
            <a:r>
              <a:rPr lang="en-US" altLang="zh-CN" sz="1200" b="1" dirty="0">
                <a:solidFill>
                  <a:srgbClr val="FF0000"/>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记作</a:t>
            </a:r>
            <a:r>
              <a:rPr lang="en-US" altLang="zh-CN" sz="1200" b="1" dirty="0">
                <a:solidFill>
                  <a:schemeClr val="tx1"/>
                </a:solidFill>
                <a:latin typeface="Times New Roman" panose="02020603050405020304" pitchFamily="18" charset="0"/>
                <a:ea typeface="+mn-ea"/>
                <a:sym typeface="Symbol" panose="05050102010706020507" pitchFamily="18" charset="2"/>
              </a:rPr>
              <a:t>&lt;</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en-US" altLang="zh-CN" sz="1200" b="1" dirty="0">
                <a:solidFill>
                  <a:schemeClr val="tx1"/>
                </a:solidFill>
                <a:latin typeface="Times New Roman" panose="02020603050405020304" pitchFamily="18" charset="0"/>
                <a:ea typeface="+mn-ea"/>
                <a:sym typeface="Symbol" panose="05050102010706020507" pitchFamily="18" charset="2"/>
              </a:rPr>
              <a:t>, ∧, ∨, 0, 1&gt;. </a:t>
            </a:r>
          </a:p>
          <a:p>
            <a:endParaRPr lang="en-US" altLang="zh-CN" dirty="0"/>
          </a:p>
          <a:p>
            <a:r>
              <a:rPr lang="zh-CN" altLang="en-US" dirty="0"/>
              <a:t>“</a:t>
            </a:r>
            <a:r>
              <a:rPr lang="zh-CN" altLang="en-US" b="1" dirty="0"/>
              <a:t>上确界</a:t>
            </a:r>
            <a:r>
              <a:rPr lang="en-US" altLang="zh-CN" b="1" dirty="0"/>
              <a:t>/</a:t>
            </a:r>
            <a:r>
              <a:rPr lang="zh-CN" altLang="en-US" b="1" dirty="0"/>
              <a:t>下确界</a:t>
            </a:r>
            <a:r>
              <a:rPr lang="zh-CN" altLang="en-US" dirty="0"/>
              <a:t>”（</a:t>
            </a:r>
            <a:r>
              <a:rPr lang="en-US" altLang="zh-CN" dirty="0"/>
              <a:t>supremum/infimum</a:t>
            </a:r>
            <a:r>
              <a:rPr lang="zh-CN" altLang="en-US" dirty="0"/>
              <a:t>）是相对于某个子集而言的；</a:t>
            </a:r>
          </a:p>
          <a:p>
            <a:r>
              <a:rPr lang="zh-CN" altLang="en-US" dirty="0"/>
              <a:t>“</a:t>
            </a:r>
            <a:r>
              <a:rPr lang="zh-CN" altLang="en-US" b="1" dirty="0"/>
              <a:t>全上界</a:t>
            </a:r>
            <a:r>
              <a:rPr lang="en-US" altLang="zh-CN" b="1" dirty="0"/>
              <a:t>/</a:t>
            </a:r>
            <a:r>
              <a:rPr lang="zh-CN" altLang="en-US" b="1" dirty="0"/>
              <a:t>全下界</a:t>
            </a:r>
            <a:r>
              <a:rPr lang="zh-CN" altLang="en-US" dirty="0"/>
              <a:t>”（</a:t>
            </a:r>
            <a:r>
              <a:rPr lang="en-US" altLang="zh-CN" dirty="0"/>
              <a:t>top/bottom element</a:t>
            </a:r>
            <a:r>
              <a:rPr lang="zh-CN" altLang="en-US" dirty="0"/>
              <a:t>）是相对于整个集合 </a:t>
            </a:r>
            <a:r>
              <a:rPr lang="en-US" altLang="zh-CN" dirty="0"/>
              <a:t>P </a:t>
            </a:r>
            <a:r>
              <a:rPr lang="zh-CN" altLang="en-US" dirty="0"/>
              <a:t>而言的。</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142</a:t>
            </a:fld>
            <a:endParaRPr lang="zh-CN" altLang="en-US"/>
          </a:p>
        </p:txBody>
      </p:sp>
    </p:spTree>
    <p:extLst>
      <p:ext uri="{BB962C8B-B14F-4D97-AF65-F5344CB8AC3E}">
        <p14:creationId xmlns:p14="http://schemas.microsoft.com/office/powerpoint/2010/main" val="1111378147"/>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例</a:t>
            </a:r>
            <a:r>
              <a:rPr lang="en-US" altLang="zh-CN" sz="1200" b="1" dirty="0">
                <a:solidFill>
                  <a:srgbClr val="00B0F0"/>
                </a:solidFill>
                <a:latin typeface="Times New Roman" panose="02020603050405020304" pitchFamily="18" charset="0"/>
                <a:ea typeface="+mn-ea"/>
                <a:sym typeface="Symbol" panose="05050102010706020507" pitchFamily="18" charset="2"/>
              </a:rPr>
              <a:t>: (1)</a:t>
            </a:r>
            <a:r>
              <a:rPr lang="zh-CN" altLang="en-US" sz="1200" b="1" dirty="0">
                <a:solidFill>
                  <a:schemeClr val="tx1"/>
                </a:solidFill>
                <a:latin typeface="Times New Roman" panose="02020603050405020304" pitchFamily="18" charset="0"/>
                <a:ea typeface="+mn-ea"/>
                <a:sym typeface="Symbol" panose="05050102010706020507" pitchFamily="18" charset="2"/>
              </a:rPr>
              <a:t>有限格 </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1</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2</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i="1" baseline="-25000" dirty="0">
                <a:solidFill>
                  <a:schemeClr val="tx1"/>
                </a:solidFill>
                <a:latin typeface="Times New Roman" panose="02020603050405020304" pitchFamily="18" charset="0"/>
                <a:ea typeface="+mn-ea"/>
                <a:sym typeface="Symbol" panose="05050102010706020507" pitchFamily="18" charset="2"/>
              </a:rPr>
              <a:t>n</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是有界格</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其中</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1</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2</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i="1" baseline="-25000" dirty="0">
                <a:solidFill>
                  <a:schemeClr val="tx1"/>
                </a:solidFill>
                <a:latin typeface="Times New Roman" panose="02020603050405020304" pitchFamily="18" charset="0"/>
                <a:ea typeface="+mn-ea"/>
                <a:sym typeface="Symbol" panose="05050102010706020507" pitchFamily="18" charset="2"/>
              </a:rPr>
              <a:t>n</a:t>
            </a:r>
            <a:r>
              <a:rPr lang="zh-CN" altLang="en-US" sz="1200" b="1" dirty="0">
                <a:solidFill>
                  <a:schemeClr val="tx1"/>
                </a:solidFill>
                <a:latin typeface="Times New Roman" panose="02020603050405020304" pitchFamily="18" charset="0"/>
                <a:ea typeface="+mn-ea"/>
                <a:sym typeface="Symbol" panose="05050102010706020507" pitchFamily="18" charset="2"/>
              </a:rPr>
              <a:t>是</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zh-CN" altLang="en-US" sz="1200" b="1" dirty="0">
                <a:solidFill>
                  <a:schemeClr val="tx1"/>
                </a:solidFill>
                <a:latin typeface="Times New Roman" panose="02020603050405020304" pitchFamily="18" charset="0"/>
                <a:ea typeface="+mn-ea"/>
                <a:sym typeface="Symbol" panose="05050102010706020507" pitchFamily="18" charset="2"/>
              </a:rPr>
              <a:t>的全下界</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1</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2</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i="1" baseline="-25000" dirty="0">
                <a:solidFill>
                  <a:schemeClr val="tx1"/>
                </a:solidFill>
                <a:latin typeface="Times New Roman" panose="02020603050405020304" pitchFamily="18" charset="0"/>
                <a:ea typeface="+mn-ea"/>
                <a:sym typeface="Symbol" panose="05050102010706020507" pitchFamily="18" charset="2"/>
              </a:rPr>
              <a:t>n</a:t>
            </a:r>
            <a:r>
              <a:rPr lang="zh-CN" altLang="en-US" sz="1200" b="1" dirty="0">
                <a:solidFill>
                  <a:schemeClr val="tx1"/>
                </a:solidFill>
                <a:latin typeface="Times New Roman" panose="02020603050405020304" pitchFamily="18" charset="0"/>
                <a:ea typeface="+mn-ea"/>
                <a:sym typeface="Symbol" panose="05050102010706020507" pitchFamily="18" charset="2"/>
              </a:rPr>
              <a:t>是</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zh-CN" altLang="en-US" sz="1200" b="1" dirty="0">
                <a:solidFill>
                  <a:schemeClr val="tx1"/>
                </a:solidFill>
                <a:latin typeface="Times New Roman" panose="02020603050405020304" pitchFamily="18" charset="0"/>
                <a:ea typeface="+mn-ea"/>
                <a:sym typeface="Symbol" panose="05050102010706020507" pitchFamily="18" charset="2"/>
              </a:rPr>
              <a:t>的全上界</a:t>
            </a:r>
            <a:r>
              <a:rPr lang="en-US" altLang="zh-CN" sz="1200" b="1" dirty="0">
                <a:solidFill>
                  <a:schemeClr val="tx1"/>
                </a:solidFill>
                <a:latin typeface="Times New Roman" panose="02020603050405020304" pitchFamily="18" charset="0"/>
                <a:ea typeface="+mn-ea"/>
                <a:sym typeface="Symbol" panose="05050102010706020507" pitchFamily="18" charset="2"/>
              </a:rPr>
              <a:t>.</a:t>
            </a:r>
          </a:p>
          <a:p>
            <a:pPr eaLnBrk="1" hangingPunct="1">
              <a:lnSpc>
                <a:spcPct val="120000"/>
              </a:lnSpc>
            </a:pPr>
            <a:r>
              <a:rPr lang="zh-CN" altLang="en-US" sz="1200" b="1" dirty="0">
                <a:solidFill>
                  <a:schemeClr val="tx1"/>
                </a:solidFill>
                <a:effectLst/>
                <a:latin typeface="Calibri" panose="020F0502020204030204" pitchFamily="34" charset="0"/>
                <a:ea typeface="+mn-ea"/>
                <a:cs typeface="Calibri" panose="020F0502020204030204" pitchFamily="34" charset="0"/>
              </a:rPr>
              <a:t>①</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考虑有限格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L</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1,2,3,6},</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其偏序关系为整除关系</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rgbClr val="0D0D0D"/>
                </a:solidFill>
                <a:effectLst/>
                <a:latin typeface="Times New Roman" panose="02020603050405020304" pitchFamily="18" charset="0"/>
                <a:ea typeface="+mn-ea"/>
                <a:cs typeface="Times New Roman" panose="02020603050405020304" pitchFamily="18" charset="0"/>
              </a:rPr>
              <a:t>最大下界操作∧代表两个元素的最大公共因子</a:t>
            </a:r>
            <a:r>
              <a:rPr lang="en-US" altLang="zh-CN" sz="1200" b="1" kern="100" dirty="0">
                <a:solidFill>
                  <a:srgbClr val="0D0D0D"/>
                </a:solidFill>
                <a:effectLst/>
                <a:latin typeface="Times New Roman" panose="02020603050405020304" pitchFamily="18" charset="0"/>
                <a:ea typeface="+mn-ea"/>
                <a:cs typeface="Times New Roman" panose="02020603050405020304" pitchFamily="18" charset="0"/>
              </a:rPr>
              <a:t>,</a:t>
            </a:r>
            <a:r>
              <a:rPr lang="zh-CN" altLang="zh-CN" sz="1200" b="1" kern="100" dirty="0">
                <a:solidFill>
                  <a:srgbClr val="0D0D0D"/>
                </a:solidFill>
                <a:effectLst/>
                <a:latin typeface="Times New Roman" panose="02020603050405020304" pitchFamily="18" charset="0"/>
                <a:ea typeface="+mn-ea"/>
                <a:cs typeface="Times New Roman" panose="02020603050405020304" pitchFamily="18" charset="0"/>
              </a:rPr>
              <a:t>最小上界操作∨代表两个元素的最小公倍数</a:t>
            </a:r>
            <a:r>
              <a:rPr lang="en-US" altLang="zh-CN" sz="1200" b="1" kern="100" dirty="0">
                <a:solidFill>
                  <a:srgbClr val="0D0D0D"/>
                </a:solidFill>
                <a:latin typeface="Times New Roman" panose="02020603050405020304" pitchFamily="18" charset="0"/>
                <a:ea typeface="+mn-ea"/>
                <a:cs typeface="Times New Roman" panose="02020603050405020304" pitchFamily="18" charset="0"/>
              </a:rPr>
              <a:t>.</a:t>
            </a:r>
            <a:r>
              <a:rPr lang="zh-CN" altLang="zh-CN" sz="1200" b="1" kern="100" dirty="0">
                <a:solidFill>
                  <a:srgbClr val="0D0D0D"/>
                </a:solidFill>
                <a:effectLst/>
                <a:latin typeface="Times New Roman" panose="02020603050405020304" pitchFamily="18" charset="0"/>
                <a:ea typeface="+mn-ea"/>
                <a:cs typeface="Times New Roman" panose="02020603050405020304" pitchFamily="18" charset="0"/>
              </a:rPr>
              <a:t> </a:t>
            </a:r>
            <a:endParaRPr lang="en-US" altLang="zh-CN" sz="1200" b="1" kern="100" dirty="0">
              <a:solidFill>
                <a:srgbClr val="0D0D0D"/>
              </a:solidFill>
              <a:effectLst/>
              <a:latin typeface="Times New Roman" panose="02020603050405020304" pitchFamily="18" charset="0"/>
              <a:ea typeface="+mn-ea"/>
              <a:cs typeface="Times New Roman" panose="02020603050405020304" pitchFamily="18" charset="0"/>
            </a:endParaRPr>
          </a:p>
          <a:p>
            <a:pPr algn="l"/>
            <a:r>
              <a:rPr lang="zh-CN" altLang="en-US" sz="1200" b="1" kern="100" dirty="0">
                <a:solidFill>
                  <a:schemeClr val="tx1"/>
                </a:solidFill>
                <a:effectLst/>
                <a:latin typeface="Calibri" panose="020F0502020204030204" pitchFamily="34" charset="0"/>
                <a:ea typeface="+mn-ea"/>
                <a:cs typeface="Calibri" panose="020F0502020204030204" pitchFamily="34" charset="0"/>
              </a:rPr>
              <a:t>②</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全下界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所有元素的最大下界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1</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2</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3</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6</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结果是</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1(</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所有元素的最大公共因子</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endParaRPr lang="zh-CN" altLang="zh-CN" sz="1200" b="1" kern="100" dirty="0">
              <a:solidFill>
                <a:schemeClr val="tx1"/>
              </a:solidFill>
              <a:effectLst/>
              <a:latin typeface="Times New Roman" panose="02020603050405020304" pitchFamily="18" charset="0"/>
              <a:ea typeface="+mn-ea"/>
              <a:cs typeface="Times New Roman" panose="02020603050405020304" pitchFamily="18" charset="0"/>
            </a:endParaRPr>
          </a:p>
          <a:p>
            <a:pPr algn="l"/>
            <a:r>
              <a:rPr lang="zh-CN" altLang="en-US" sz="1100" b="1" kern="100" dirty="0">
                <a:solidFill>
                  <a:srgbClr val="0D0D0D"/>
                </a:solidFill>
                <a:effectLst/>
                <a:latin typeface="Calibri" panose="020F0502020204030204" pitchFamily="34" charset="0"/>
                <a:ea typeface="+mn-ea"/>
                <a:cs typeface="Calibri" panose="020F0502020204030204" pitchFamily="34" charset="0"/>
              </a:rPr>
              <a:t>③</a:t>
            </a:r>
            <a:r>
              <a:rPr lang="zh-CN" altLang="zh-CN" sz="1200" b="1" kern="100" dirty="0">
                <a:solidFill>
                  <a:srgbClr val="0D0D0D"/>
                </a:solidFill>
                <a:effectLst/>
                <a:latin typeface="Times New Roman" panose="02020603050405020304" pitchFamily="18" charset="0"/>
                <a:ea typeface="+mn-ea"/>
                <a:cs typeface="Times New Roman" panose="02020603050405020304" pitchFamily="18" charset="0"/>
              </a:rPr>
              <a:t>全上界</a:t>
            </a:r>
            <a:r>
              <a:rPr lang="en-US" altLang="zh-CN" sz="1200" b="1" kern="100" dirty="0">
                <a:solidFill>
                  <a:srgbClr val="0D0D0D"/>
                </a:solidFill>
                <a:effectLst/>
                <a:latin typeface="Times New Roman" panose="02020603050405020304" pitchFamily="18" charset="0"/>
                <a:ea typeface="+mn-ea"/>
                <a:cs typeface="Times New Roman" panose="02020603050405020304" pitchFamily="18" charset="0"/>
              </a:rPr>
              <a:t>(</a:t>
            </a:r>
            <a:r>
              <a:rPr lang="zh-CN" altLang="zh-CN" sz="1200" b="1" kern="100" dirty="0">
                <a:solidFill>
                  <a:srgbClr val="0D0D0D"/>
                </a:solidFill>
                <a:effectLst/>
                <a:latin typeface="Times New Roman" panose="02020603050405020304" pitchFamily="18" charset="0"/>
                <a:ea typeface="+mn-ea"/>
                <a:cs typeface="Times New Roman" panose="02020603050405020304" pitchFamily="18" charset="0"/>
              </a:rPr>
              <a:t>所有元素的最小</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1</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2</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3</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6</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结果是</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6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所有元素的最小公倍数</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p>
          <a:p>
            <a:pPr algn="l"/>
            <a:endParaRPr lang="en-US" altLang="zh-CN" sz="1200" b="1" kern="100" dirty="0">
              <a:solidFill>
                <a:schemeClr val="tx1"/>
              </a:solidFill>
              <a:effectLst/>
              <a:latin typeface="Times New Roman" panose="02020603050405020304" pitchFamily="18" charset="0"/>
              <a:ea typeface="+mn-ea"/>
              <a:cs typeface="Times New Roman" panose="02020603050405020304" pitchFamily="18" charset="0"/>
            </a:endParaRPr>
          </a:p>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例</a:t>
            </a:r>
            <a:r>
              <a:rPr lang="en-US" altLang="zh-CN" sz="1200" b="1" dirty="0">
                <a:solidFill>
                  <a:srgbClr val="00B0F0"/>
                </a:solidFill>
                <a:latin typeface="Times New Roman" panose="02020603050405020304" pitchFamily="18" charset="0"/>
                <a:ea typeface="+mn-ea"/>
                <a:sym typeface="Symbol" panose="05050102010706020507" pitchFamily="18" charset="2"/>
              </a:rPr>
              <a:t>: (2)</a:t>
            </a:r>
            <a:r>
              <a:rPr lang="zh-CN" altLang="en-US" sz="1200" b="1" dirty="0">
                <a:solidFill>
                  <a:schemeClr val="tx1"/>
                </a:solidFill>
                <a:latin typeface="Times New Roman" panose="02020603050405020304" pitchFamily="18" charset="0"/>
                <a:ea typeface="+mn-ea"/>
                <a:sym typeface="Symbol" panose="05050102010706020507" pitchFamily="18" charset="2"/>
              </a:rPr>
              <a:t>幂集格</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是有界格</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即使它是无穷集合</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pPr eaLnBrk="1" hangingPunct="1">
              <a:lnSpc>
                <a:spcPct val="120000"/>
              </a:lnSpc>
            </a:pPr>
            <a:r>
              <a:rPr lang="zh-CN" altLang="en-US" sz="1100" b="1" dirty="0">
                <a:solidFill>
                  <a:schemeClr val="tx1"/>
                </a:solidFill>
                <a:effectLst/>
                <a:latin typeface="Calibri" panose="020F0502020204030204" pitchFamily="34" charset="0"/>
                <a:ea typeface="+mn-ea"/>
                <a:cs typeface="Calibri" panose="020F0502020204030204" pitchFamily="34" charset="0"/>
              </a:rPr>
              <a:t>①</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空集</a:t>
            </a:r>
            <a:r>
              <a:rPr lang="zh-CN" altLang="zh-CN" sz="1200" b="1" i="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是任何集合的子集</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是</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所有元素的最大下界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eaLnBrk="1" hangingPunct="1">
              <a:lnSpc>
                <a:spcPct val="120000"/>
              </a:lnSpc>
            </a:pP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②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是任何子集的超集</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是</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是所有元素的最小上界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eaLnBrk="1" hangingPunct="1">
              <a:lnSpc>
                <a:spcPct val="120000"/>
              </a:lnSpc>
            </a:pP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③</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无论集合</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是有限还是无穷</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幂集</a:t>
            </a:r>
            <a:r>
              <a:rPr lang="zh-CN" altLang="zh-CN"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P</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总是具有明确的全下界</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空集</a:t>
            </a:r>
            <a:r>
              <a:rPr lang="zh-CN" altLang="zh-CN"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和全上界</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集合</a:t>
            </a:r>
            <a:r>
              <a:rPr lang="zh-CN" altLang="zh-CN"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algn="l"/>
            <a:endParaRPr lang="zh-CN" altLang="zh-CN" sz="1200" b="1" kern="100" dirty="0">
              <a:solidFill>
                <a:schemeClr val="tx1"/>
              </a:solidFill>
              <a:effectLst/>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143</a:t>
            </a:fld>
            <a:endParaRPr lang="zh-CN" altLang="en-US"/>
          </a:p>
        </p:txBody>
      </p:sp>
    </p:spTree>
    <p:extLst>
      <p:ext uri="{BB962C8B-B14F-4D97-AF65-F5344CB8AC3E}">
        <p14:creationId xmlns:p14="http://schemas.microsoft.com/office/powerpoint/2010/main" val="400958961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例</a:t>
            </a:r>
            <a:r>
              <a:rPr lang="en-US" altLang="zh-CN" sz="1200" b="1" dirty="0">
                <a:solidFill>
                  <a:srgbClr val="00B0F0"/>
                </a:solidFill>
                <a:latin typeface="Times New Roman" panose="02020603050405020304" pitchFamily="18" charset="0"/>
                <a:ea typeface="+mn-ea"/>
                <a:sym typeface="Symbol" panose="05050102010706020507" pitchFamily="18" charset="2"/>
              </a:rPr>
              <a:t>: (1)</a:t>
            </a:r>
            <a:r>
              <a:rPr lang="zh-CN" altLang="en-US" sz="1200" b="1" dirty="0">
                <a:solidFill>
                  <a:schemeClr val="tx1"/>
                </a:solidFill>
                <a:latin typeface="Times New Roman" panose="02020603050405020304" pitchFamily="18" charset="0"/>
                <a:ea typeface="+mn-ea"/>
                <a:sym typeface="Symbol" panose="05050102010706020507" pitchFamily="18" charset="2"/>
              </a:rPr>
              <a:t>有限格 </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1</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2</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i="1" baseline="-25000" dirty="0">
                <a:solidFill>
                  <a:schemeClr val="tx1"/>
                </a:solidFill>
                <a:latin typeface="Times New Roman" panose="02020603050405020304" pitchFamily="18" charset="0"/>
                <a:ea typeface="+mn-ea"/>
                <a:sym typeface="Symbol" panose="05050102010706020507" pitchFamily="18" charset="2"/>
              </a:rPr>
              <a:t>n</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是有界格</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其中</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1</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2</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i="1" baseline="-25000" dirty="0">
                <a:solidFill>
                  <a:schemeClr val="tx1"/>
                </a:solidFill>
                <a:latin typeface="Times New Roman" panose="02020603050405020304" pitchFamily="18" charset="0"/>
                <a:ea typeface="+mn-ea"/>
                <a:sym typeface="Symbol" panose="05050102010706020507" pitchFamily="18" charset="2"/>
              </a:rPr>
              <a:t>n</a:t>
            </a:r>
            <a:r>
              <a:rPr lang="zh-CN" altLang="en-US" sz="1200" b="1" dirty="0">
                <a:solidFill>
                  <a:schemeClr val="tx1"/>
                </a:solidFill>
                <a:latin typeface="Times New Roman" panose="02020603050405020304" pitchFamily="18" charset="0"/>
                <a:ea typeface="+mn-ea"/>
                <a:sym typeface="Symbol" panose="05050102010706020507" pitchFamily="18" charset="2"/>
              </a:rPr>
              <a:t>是</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zh-CN" altLang="en-US" sz="1200" b="1" dirty="0">
                <a:solidFill>
                  <a:schemeClr val="tx1"/>
                </a:solidFill>
                <a:latin typeface="Times New Roman" panose="02020603050405020304" pitchFamily="18" charset="0"/>
                <a:ea typeface="+mn-ea"/>
                <a:sym typeface="Symbol" panose="05050102010706020507" pitchFamily="18" charset="2"/>
              </a:rPr>
              <a:t>的全下界</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1</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baseline="-25000" dirty="0">
                <a:solidFill>
                  <a:schemeClr val="tx1"/>
                </a:solidFill>
                <a:latin typeface="Times New Roman" panose="02020603050405020304" pitchFamily="18" charset="0"/>
                <a:ea typeface="+mn-ea"/>
                <a:sym typeface="Symbol" panose="05050102010706020507" pitchFamily="18" charset="2"/>
              </a:rPr>
              <a:t>2</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a</a:t>
            </a:r>
            <a:r>
              <a:rPr lang="en-US" altLang="zh-CN" sz="1200" b="1" i="1" baseline="-25000" dirty="0">
                <a:solidFill>
                  <a:schemeClr val="tx1"/>
                </a:solidFill>
                <a:latin typeface="Times New Roman" panose="02020603050405020304" pitchFamily="18" charset="0"/>
                <a:ea typeface="+mn-ea"/>
                <a:sym typeface="Symbol" panose="05050102010706020507" pitchFamily="18" charset="2"/>
              </a:rPr>
              <a:t>n</a:t>
            </a:r>
            <a:r>
              <a:rPr lang="zh-CN" altLang="en-US" sz="1200" b="1" dirty="0">
                <a:solidFill>
                  <a:schemeClr val="tx1"/>
                </a:solidFill>
                <a:latin typeface="Times New Roman" panose="02020603050405020304" pitchFamily="18" charset="0"/>
                <a:ea typeface="+mn-ea"/>
                <a:sym typeface="Symbol" panose="05050102010706020507" pitchFamily="18" charset="2"/>
              </a:rPr>
              <a:t>是</a:t>
            </a:r>
            <a:r>
              <a:rPr lang="en-US" altLang="zh-CN" sz="1200" b="1" i="1" dirty="0">
                <a:solidFill>
                  <a:schemeClr val="tx1"/>
                </a:solidFill>
                <a:latin typeface="Times New Roman" panose="02020603050405020304" pitchFamily="18" charset="0"/>
                <a:ea typeface="+mn-ea"/>
                <a:sym typeface="Symbol" panose="05050102010706020507" pitchFamily="18" charset="2"/>
              </a:rPr>
              <a:t>L</a:t>
            </a:r>
            <a:r>
              <a:rPr lang="zh-CN" altLang="en-US" sz="1200" b="1" dirty="0">
                <a:solidFill>
                  <a:schemeClr val="tx1"/>
                </a:solidFill>
                <a:latin typeface="Times New Roman" panose="02020603050405020304" pitchFamily="18" charset="0"/>
                <a:ea typeface="+mn-ea"/>
                <a:sym typeface="Symbol" panose="05050102010706020507" pitchFamily="18" charset="2"/>
              </a:rPr>
              <a:t>的全上界</a:t>
            </a:r>
            <a:r>
              <a:rPr lang="en-US" altLang="zh-CN" sz="1200" b="1" dirty="0">
                <a:solidFill>
                  <a:schemeClr val="tx1"/>
                </a:solidFill>
                <a:latin typeface="Times New Roman" panose="02020603050405020304" pitchFamily="18" charset="0"/>
                <a:ea typeface="+mn-ea"/>
                <a:sym typeface="Symbol" panose="05050102010706020507" pitchFamily="18" charset="2"/>
              </a:rPr>
              <a:t>.</a:t>
            </a:r>
          </a:p>
          <a:p>
            <a:pPr eaLnBrk="1" hangingPunct="1">
              <a:lnSpc>
                <a:spcPct val="120000"/>
              </a:lnSpc>
            </a:pPr>
            <a:r>
              <a:rPr lang="zh-CN" altLang="en-US" sz="1200" b="1" dirty="0">
                <a:solidFill>
                  <a:schemeClr val="tx1"/>
                </a:solidFill>
                <a:effectLst/>
                <a:latin typeface="Calibri" panose="020F0502020204030204" pitchFamily="34" charset="0"/>
                <a:ea typeface="+mn-ea"/>
                <a:cs typeface="Calibri" panose="020F0502020204030204" pitchFamily="34" charset="0"/>
              </a:rPr>
              <a:t>①</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考虑有限格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L</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1,2,3,6},</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其偏序关系为整除关系</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rgbClr val="0D0D0D"/>
                </a:solidFill>
                <a:effectLst/>
                <a:latin typeface="Times New Roman" panose="02020603050405020304" pitchFamily="18" charset="0"/>
                <a:ea typeface="+mn-ea"/>
                <a:cs typeface="Times New Roman" panose="02020603050405020304" pitchFamily="18" charset="0"/>
              </a:rPr>
              <a:t>最大下界操作∧代表两个元素的最大公共因子</a:t>
            </a:r>
            <a:r>
              <a:rPr lang="en-US" altLang="zh-CN" sz="1200" b="1" kern="100" dirty="0">
                <a:solidFill>
                  <a:srgbClr val="0D0D0D"/>
                </a:solidFill>
                <a:effectLst/>
                <a:latin typeface="Times New Roman" panose="02020603050405020304" pitchFamily="18" charset="0"/>
                <a:ea typeface="+mn-ea"/>
                <a:cs typeface="Times New Roman" panose="02020603050405020304" pitchFamily="18" charset="0"/>
              </a:rPr>
              <a:t>,</a:t>
            </a:r>
            <a:r>
              <a:rPr lang="zh-CN" altLang="zh-CN" sz="1200" b="1" kern="100" dirty="0">
                <a:solidFill>
                  <a:srgbClr val="0D0D0D"/>
                </a:solidFill>
                <a:effectLst/>
                <a:latin typeface="Times New Roman" panose="02020603050405020304" pitchFamily="18" charset="0"/>
                <a:ea typeface="+mn-ea"/>
                <a:cs typeface="Times New Roman" panose="02020603050405020304" pitchFamily="18" charset="0"/>
              </a:rPr>
              <a:t>最小上界操作∨代表两个元素的最小公倍数</a:t>
            </a:r>
            <a:r>
              <a:rPr lang="en-US" altLang="zh-CN" sz="1200" b="1" kern="100" dirty="0">
                <a:solidFill>
                  <a:srgbClr val="0D0D0D"/>
                </a:solidFill>
                <a:latin typeface="Times New Roman" panose="02020603050405020304" pitchFamily="18" charset="0"/>
                <a:ea typeface="+mn-ea"/>
                <a:cs typeface="Times New Roman" panose="02020603050405020304" pitchFamily="18" charset="0"/>
              </a:rPr>
              <a:t>.</a:t>
            </a:r>
            <a:r>
              <a:rPr lang="zh-CN" altLang="zh-CN" sz="1200" b="1" kern="100" dirty="0">
                <a:solidFill>
                  <a:srgbClr val="0D0D0D"/>
                </a:solidFill>
                <a:effectLst/>
                <a:latin typeface="Times New Roman" panose="02020603050405020304" pitchFamily="18" charset="0"/>
                <a:ea typeface="+mn-ea"/>
                <a:cs typeface="Times New Roman" panose="02020603050405020304" pitchFamily="18" charset="0"/>
              </a:rPr>
              <a:t> </a:t>
            </a:r>
            <a:endParaRPr lang="en-US" altLang="zh-CN" sz="1200" b="1" kern="100" dirty="0">
              <a:solidFill>
                <a:srgbClr val="0D0D0D"/>
              </a:solidFill>
              <a:effectLst/>
              <a:latin typeface="Times New Roman" panose="02020603050405020304" pitchFamily="18" charset="0"/>
              <a:ea typeface="+mn-ea"/>
              <a:cs typeface="Times New Roman" panose="02020603050405020304" pitchFamily="18" charset="0"/>
            </a:endParaRPr>
          </a:p>
          <a:p>
            <a:pPr algn="l"/>
            <a:r>
              <a:rPr lang="zh-CN" altLang="en-US" sz="1200" b="1" kern="100" dirty="0">
                <a:solidFill>
                  <a:schemeClr val="tx1"/>
                </a:solidFill>
                <a:effectLst/>
                <a:latin typeface="Calibri" panose="020F0502020204030204" pitchFamily="34" charset="0"/>
                <a:ea typeface="+mn-ea"/>
                <a:cs typeface="Calibri" panose="020F0502020204030204" pitchFamily="34" charset="0"/>
              </a:rPr>
              <a:t>②</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全下界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所有元素的最大下界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1</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2</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3</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结果是</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1(</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所有元素的最大公共因子</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endParaRPr lang="zh-CN" altLang="zh-CN" sz="1200" b="1" kern="100" dirty="0">
              <a:solidFill>
                <a:schemeClr val="tx1"/>
              </a:solidFill>
              <a:effectLst/>
              <a:latin typeface="Times New Roman" panose="02020603050405020304" pitchFamily="18" charset="0"/>
              <a:ea typeface="+mn-ea"/>
              <a:cs typeface="Times New Roman" panose="02020603050405020304" pitchFamily="18" charset="0"/>
            </a:endParaRPr>
          </a:p>
          <a:p>
            <a:pPr algn="l"/>
            <a:r>
              <a:rPr lang="zh-CN" altLang="en-US" sz="1100" b="1" kern="100" dirty="0">
                <a:solidFill>
                  <a:srgbClr val="0D0D0D"/>
                </a:solidFill>
                <a:effectLst/>
                <a:latin typeface="Calibri" panose="020F0502020204030204" pitchFamily="34" charset="0"/>
                <a:ea typeface="+mn-ea"/>
                <a:cs typeface="Calibri" panose="020F0502020204030204" pitchFamily="34" charset="0"/>
              </a:rPr>
              <a:t>③</a:t>
            </a:r>
            <a:r>
              <a:rPr lang="zh-CN" altLang="zh-CN" sz="1200" b="1" kern="100" dirty="0">
                <a:solidFill>
                  <a:srgbClr val="0D0D0D"/>
                </a:solidFill>
                <a:effectLst/>
                <a:latin typeface="Times New Roman" panose="02020603050405020304" pitchFamily="18" charset="0"/>
                <a:ea typeface="+mn-ea"/>
                <a:cs typeface="Times New Roman" panose="02020603050405020304" pitchFamily="18" charset="0"/>
              </a:rPr>
              <a:t>全上界</a:t>
            </a:r>
            <a:r>
              <a:rPr lang="en-US" altLang="zh-CN" sz="1200" b="1" kern="100" dirty="0">
                <a:solidFill>
                  <a:srgbClr val="0D0D0D"/>
                </a:solidFill>
                <a:effectLst/>
                <a:latin typeface="Times New Roman" panose="02020603050405020304" pitchFamily="18" charset="0"/>
                <a:ea typeface="+mn-ea"/>
                <a:cs typeface="Times New Roman" panose="02020603050405020304" pitchFamily="18" charset="0"/>
              </a:rPr>
              <a:t>(</a:t>
            </a:r>
            <a:r>
              <a:rPr lang="zh-CN" altLang="zh-CN" sz="1200" b="1" kern="100" dirty="0">
                <a:solidFill>
                  <a:srgbClr val="0D0D0D"/>
                </a:solidFill>
                <a:effectLst/>
                <a:latin typeface="Times New Roman" panose="02020603050405020304" pitchFamily="18" charset="0"/>
                <a:ea typeface="+mn-ea"/>
                <a:cs typeface="Times New Roman" panose="02020603050405020304" pitchFamily="18" charset="0"/>
              </a:rPr>
              <a:t>所有元素的最小</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1</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2</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3</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6</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结果是</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6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所有元素的最小公倍数</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p>
          <a:p>
            <a:pPr algn="l"/>
            <a:endParaRPr lang="en-US" altLang="zh-CN" sz="1200" b="1" kern="100" dirty="0">
              <a:solidFill>
                <a:schemeClr val="tx1"/>
              </a:solidFill>
              <a:effectLst/>
              <a:latin typeface="Times New Roman" panose="02020603050405020304" pitchFamily="18" charset="0"/>
              <a:ea typeface="+mn-ea"/>
              <a:cs typeface="Times New Roman" panose="02020603050405020304" pitchFamily="18" charset="0"/>
            </a:endParaRPr>
          </a:p>
          <a:p>
            <a:pPr eaLnBrk="1" hangingPunct="1">
              <a:lnSpc>
                <a:spcPct val="120000"/>
              </a:lnSpc>
            </a:pPr>
            <a:r>
              <a:rPr lang="zh-CN" altLang="en-US" sz="1200" b="1" dirty="0">
                <a:solidFill>
                  <a:srgbClr val="00B0F0"/>
                </a:solidFill>
                <a:latin typeface="Times New Roman" panose="02020603050405020304" pitchFamily="18" charset="0"/>
                <a:ea typeface="+mn-ea"/>
                <a:sym typeface="Symbol" panose="05050102010706020507" pitchFamily="18" charset="2"/>
              </a:rPr>
              <a:t>例</a:t>
            </a:r>
            <a:r>
              <a:rPr lang="en-US" altLang="zh-CN" sz="1200" b="1" dirty="0">
                <a:solidFill>
                  <a:srgbClr val="00B0F0"/>
                </a:solidFill>
                <a:latin typeface="Times New Roman" panose="02020603050405020304" pitchFamily="18" charset="0"/>
                <a:ea typeface="+mn-ea"/>
                <a:sym typeface="Symbol" panose="05050102010706020507" pitchFamily="18" charset="2"/>
              </a:rPr>
              <a:t>: (2)</a:t>
            </a:r>
            <a:r>
              <a:rPr lang="zh-CN" altLang="en-US" sz="1200" b="1" dirty="0">
                <a:solidFill>
                  <a:schemeClr val="tx1"/>
                </a:solidFill>
                <a:latin typeface="Times New Roman" panose="02020603050405020304" pitchFamily="18" charset="0"/>
                <a:ea typeface="+mn-ea"/>
                <a:sym typeface="Symbol" panose="05050102010706020507" pitchFamily="18" charset="2"/>
              </a:rPr>
              <a:t>幂集格</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是有界格</a:t>
            </a:r>
            <a:r>
              <a:rPr lang="en-US" altLang="zh-CN" sz="1200" b="1" dirty="0">
                <a:solidFill>
                  <a:schemeClr val="tx1"/>
                </a:solidFill>
                <a:latin typeface="Times New Roman" panose="02020603050405020304" pitchFamily="18" charset="0"/>
                <a:ea typeface="+mn-ea"/>
                <a:sym typeface="Symbol" panose="05050102010706020507" pitchFamily="18" charset="2"/>
              </a:rPr>
              <a:t>, </a:t>
            </a:r>
            <a:r>
              <a:rPr lang="zh-CN" altLang="en-US" sz="1200" b="1" dirty="0">
                <a:solidFill>
                  <a:schemeClr val="tx1"/>
                </a:solidFill>
                <a:latin typeface="Times New Roman" panose="02020603050405020304" pitchFamily="18" charset="0"/>
                <a:ea typeface="+mn-ea"/>
                <a:sym typeface="Symbol" panose="05050102010706020507" pitchFamily="18" charset="2"/>
              </a:rPr>
              <a:t>即使它是无穷集合</a:t>
            </a:r>
            <a:r>
              <a:rPr lang="en-US" altLang="zh-CN" sz="1200" b="1" dirty="0">
                <a:solidFill>
                  <a:schemeClr val="tx1"/>
                </a:solidFill>
                <a:latin typeface="Times New Roman" panose="02020603050405020304" pitchFamily="18" charset="0"/>
                <a:ea typeface="+mn-ea"/>
                <a:sym typeface="Symbol" panose="05050102010706020507" pitchFamily="18" charset="2"/>
              </a:rPr>
              <a:t>. </a:t>
            </a:r>
          </a:p>
          <a:p>
            <a:pPr eaLnBrk="1" hangingPunct="1">
              <a:lnSpc>
                <a:spcPct val="120000"/>
              </a:lnSpc>
            </a:pPr>
            <a:r>
              <a:rPr lang="zh-CN" altLang="en-US" sz="1100" b="1" dirty="0">
                <a:solidFill>
                  <a:schemeClr val="tx1"/>
                </a:solidFill>
                <a:effectLst/>
                <a:latin typeface="Calibri" panose="020F0502020204030204" pitchFamily="34" charset="0"/>
                <a:ea typeface="+mn-ea"/>
                <a:cs typeface="Calibri" panose="020F0502020204030204" pitchFamily="34" charset="0"/>
              </a:rPr>
              <a:t>①</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空集</a:t>
            </a:r>
            <a:r>
              <a:rPr lang="zh-CN" altLang="zh-CN" sz="1200" b="1" i="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是任何集合的子集</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是</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所有元素的最大下界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eaLnBrk="1" hangingPunct="1">
              <a:lnSpc>
                <a:spcPct val="120000"/>
              </a:lnSpc>
            </a:pP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②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是任何子集的超集</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是</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是所有元素的最小上界</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eaLnBrk="1" hangingPunct="1">
              <a:lnSpc>
                <a:spcPct val="120000"/>
              </a:lnSpc>
            </a:pP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③</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无论集合</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是有限还是无穷</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幂集</a:t>
            </a:r>
            <a:r>
              <a:rPr lang="zh-CN" altLang="zh-CN"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P</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总是具有明确的全下界</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空集</a:t>
            </a:r>
            <a:r>
              <a:rPr lang="zh-CN" altLang="zh-CN"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和全上界</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集合</a:t>
            </a:r>
            <a:r>
              <a:rPr lang="zh-CN" altLang="zh-CN"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algn="l"/>
            <a:endParaRPr lang="zh-CN" altLang="zh-CN" sz="1200" b="1" kern="100" dirty="0">
              <a:solidFill>
                <a:schemeClr val="tx1"/>
              </a:solidFill>
              <a:effectLst/>
              <a:latin typeface="Times New Roman" panose="02020603050405020304" pitchFamily="18" charset="0"/>
              <a:ea typeface="+mn-ea"/>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144</a:t>
            </a:fld>
            <a:endParaRPr lang="zh-CN" altLang="en-US"/>
          </a:p>
        </p:txBody>
      </p:sp>
    </p:spTree>
    <p:extLst>
      <p:ext uri="{BB962C8B-B14F-4D97-AF65-F5344CB8AC3E}">
        <p14:creationId xmlns:p14="http://schemas.microsoft.com/office/powerpoint/2010/main" val="47365750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pPr>
            <a:r>
              <a:rPr lang="zh-CN" altLang="en-US" sz="1200" b="1" dirty="0">
                <a:solidFill>
                  <a:srgbClr val="FF0000"/>
                </a:solidFill>
                <a:latin typeface="Times New Roman" panose="02020603050405020304" pitchFamily="18" charset="0"/>
                <a:ea typeface="+mn-ea"/>
              </a:rPr>
              <a:t>定义</a:t>
            </a:r>
            <a:r>
              <a:rPr lang="en-US" altLang="zh-CN" sz="1200" b="1" dirty="0">
                <a:solidFill>
                  <a:srgbClr val="FF0000"/>
                </a:solidFill>
                <a:latin typeface="Times New Roman" panose="02020603050405020304" pitchFamily="18" charset="0"/>
                <a:ea typeface="+mn-ea"/>
              </a:rPr>
              <a:t>9.23</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设</a:t>
            </a:r>
            <a:r>
              <a:rPr lang="en-US" altLang="zh-CN" sz="1200" b="1" dirty="0">
                <a:solidFill>
                  <a:schemeClr val="tx1"/>
                </a:solidFill>
                <a:latin typeface="Times New Roman" panose="02020603050405020304" pitchFamily="18" charset="0"/>
                <a:ea typeface="+mn-ea"/>
              </a:rPr>
              <a:t>&lt;</a:t>
            </a:r>
            <a:r>
              <a:rPr lang="en-US" altLang="zh-CN" sz="1200" b="1" i="1" dirty="0">
                <a:solidFill>
                  <a:schemeClr val="tx1"/>
                </a:solidFill>
                <a:latin typeface="Times New Roman" panose="02020603050405020304" pitchFamily="18" charset="0"/>
                <a:ea typeface="+mn-ea"/>
              </a:rPr>
              <a:t>L</a:t>
            </a:r>
            <a:r>
              <a:rPr lang="en-US" altLang="zh-CN" sz="1200" b="1" dirty="0">
                <a:solidFill>
                  <a:schemeClr val="tx1"/>
                </a:solidFill>
                <a:latin typeface="Times New Roman" panose="02020603050405020304" pitchFamily="18" charset="0"/>
                <a:ea typeface="+mn-ea"/>
              </a:rPr>
              <a:t>,∧,∨,0,1&gt;</a:t>
            </a:r>
            <a:r>
              <a:rPr lang="zh-CN" altLang="en-US" sz="1200" b="1" dirty="0">
                <a:solidFill>
                  <a:schemeClr val="tx1"/>
                </a:solidFill>
                <a:latin typeface="Times New Roman" panose="02020603050405020304" pitchFamily="18" charset="0"/>
                <a:ea typeface="+mn-ea"/>
              </a:rPr>
              <a:t>是有界格</a:t>
            </a:r>
            <a:r>
              <a:rPr lang="en-US" altLang="zh-CN" sz="1200" b="1" dirty="0">
                <a:solidFill>
                  <a:schemeClr val="tx1"/>
                </a:solidFill>
                <a:latin typeface="Times New Roman" panose="02020603050405020304" pitchFamily="18" charset="0"/>
                <a:ea typeface="+mn-ea"/>
              </a:rPr>
              <a:t>, </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rPr>
              <a:t>∈</a:t>
            </a:r>
            <a:r>
              <a:rPr lang="en-US" altLang="zh-CN" sz="1200" b="1" i="1" dirty="0" err="1">
                <a:solidFill>
                  <a:schemeClr val="tx1"/>
                </a:solidFill>
                <a:latin typeface="Times New Roman" panose="02020603050405020304" pitchFamily="18" charset="0"/>
                <a:ea typeface="+mn-ea"/>
              </a:rPr>
              <a:t>L</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若存在</a:t>
            </a:r>
            <a:r>
              <a:rPr lang="en-US" altLang="zh-CN" sz="1200" b="1" i="1" dirty="0" err="1">
                <a:solidFill>
                  <a:schemeClr val="tx1"/>
                </a:solidFill>
                <a:latin typeface="Times New Roman" panose="02020603050405020304" pitchFamily="18" charset="0"/>
                <a:ea typeface="+mn-ea"/>
              </a:rPr>
              <a:t>b</a:t>
            </a:r>
            <a:r>
              <a:rPr lang="en-US" altLang="zh-CN" sz="1200" b="1" dirty="0" err="1">
                <a:solidFill>
                  <a:schemeClr val="tx1"/>
                </a:solidFill>
                <a:latin typeface="Times New Roman" panose="02020603050405020304" pitchFamily="18" charset="0"/>
                <a:ea typeface="+mn-ea"/>
              </a:rPr>
              <a:t>∈</a:t>
            </a:r>
            <a:r>
              <a:rPr lang="en-US" altLang="zh-CN" sz="1200" b="1" i="1" dirty="0" err="1">
                <a:solidFill>
                  <a:schemeClr val="tx1"/>
                </a:solidFill>
                <a:latin typeface="Times New Roman" panose="02020603050405020304" pitchFamily="18" charset="0"/>
                <a:ea typeface="+mn-ea"/>
              </a:rPr>
              <a:t>L</a:t>
            </a:r>
            <a:r>
              <a:rPr lang="en-US" altLang="zh-CN" sz="1200" b="1" dirty="0">
                <a:solidFill>
                  <a:schemeClr val="tx1"/>
                </a:solidFill>
                <a:latin typeface="Times New Roman" panose="02020603050405020304" pitchFamily="18" charset="0"/>
                <a:ea typeface="+mn-ea"/>
              </a:rPr>
              <a:t> </a:t>
            </a:r>
          </a:p>
          <a:p>
            <a:pPr eaLnBrk="1" hangingPunct="1">
              <a:lnSpc>
                <a:spcPct val="130000"/>
              </a:lnSpc>
            </a:pPr>
            <a:r>
              <a:rPr lang="zh-CN" altLang="en-US" sz="1200" b="1" dirty="0">
                <a:solidFill>
                  <a:schemeClr val="tx1"/>
                </a:solidFill>
                <a:latin typeface="Times New Roman" panose="02020603050405020304" pitchFamily="18" charset="0"/>
                <a:ea typeface="+mn-ea"/>
              </a:rPr>
              <a:t>使得 </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rPr>
              <a:t>∧</a:t>
            </a:r>
            <a:r>
              <a:rPr lang="en-US" altLang="zh-CN" sz="1200" b="1" i="1" dirty="0" err="1">
                <a:solidFill>
                  <a:schemeClr val="tx1"/>
                </a:solidFill>
                <a:latin typeface="Times New Roman" panose="02020603050405020304" pitchFamily="18" charset="0"/>
                <a:ea typeface="+mn-ea"/>
              </a:rPr>
              <a:t>b</a:t>
            </a:r>
            <a:r>
              <a:rPr lang="en-US" altLang="zh-CN" sz="1200" b="1" dirty="0">
                <a:solidFill>
                  <a:schemeClr val="tx1"/>
                </a:solidFill>
                <a:latin typeface="Times New Roman" panose="02020603050405020304" pitchFamily="18" charset="0"/>
                <a:ea typeface="+mn-ea"/>
              </a:rPr>
              <a:t>=0 </a:t>
            </a:r>
            <a:r>
              <a:rPr lang="zh-CN" altLang="en-US" sz="1200" b="1" dirty="0">
                <a:solidFill>
                  <a:schemeClr val="tx1"/>
                </a:solidFill>
                <a:latin typeface="Times New Roman" panose="02020603050405020304" pitchFamily="18" charset="0"/>
                <a:ea typeface="+mn-ea"/>
              </a:rPr>
              <a:t>和 </a:t>
            </a:r>
            <a:r>
              <a:rPr lang="en-US" altLang="zh-CN" sz="1200" b="1" i="1" dirty="0" err="1">
                <a:solidFill>
                  <a:schemeClr val="tx1"/>
                </a:solidFill>
                <a:latin typeface="Times New Roman" panose="02020603050405020304" pitchFamily="18" charset="0"/>
                <a:ea typeface="+mn-ea"/>
              </a:rPr>
              <a:t>a</a:t>
            </a:r>
            <a:r>
              <a:rPr lang="en-US" altLang="zh-CN" sz="1200" b="1" dirty="0" err="1">
                <a:solidFill>
                  <a:schemeClr val="tx1"/>
                </a:solidFill>
                <a:latin typeface="Times New Roman" panose="02020603050405020304" pitchFamily="18" charset="0"/>
                <a:ea typeface="+mn-ea"/>
              </a:rPr>
              <a:t>∨</a:t>
            </a:r>
            <a:r>
              <a:rPr lang="en-US" altLang="zh-CN" sz="1200" b="1" i="1" dirty="0" err="1">
                <a:solidFill>
                  <a:schemeClr val="tx1"/>
                </a:solidFill>
                <a:latin typeface="Times New Roman" panose="02020603050405020304" pitchFamily="18" charset="0"/>
                <a:ea typeface="+mn-ea"/>
              </a:rPr>
              <a:t>b</a:t>
            </a:r>
            <a:r>
              <a:rPr lang="en-US" altLang="zh-CN" sz="1200" b="1" dirty="0">
                <a:solidFill>
                  <a:schemeClr val="tx1"/>
                </a:solidFill>
                <a:latin typeface="Times New Roman" panose="02020603050405020304" pitchFamily="18" charset="0"/>
                <a:ea typeface="+mn-ea"/>
              </a:rPr>
              <a:t>=1</a:t>
            </a:r>
            <a:r>
              <a:rPr lang="zh-CN" altLang="en-US" sz="1200" b="1" dirty="0">
                <a:solidFill>
                  <a:schemeClr val="tx1"/>
                </a:solidFill>
                <a:latin typeface="Times New Roman" panose="02020603050405020304" pitchFamily="18" charset="0"/>
                <a:ea typeface="+mn-ea"/>
              </a:rPr>
              <a:t>成立</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则称 </a:t>
            </a:r>
            <a:r>
              <a:rPr lang="en-US" altLang="zh-CN" sz="1200" b="1" i="1" dirty="0">
                <a:solidFill>
                  <a:schemeClr val="tx1"/>
                </a:solidFill>
                <a:latin typeface="Times New Roman" panose="02020603050405020304" pitchFamily="18" charset="0"/>
                <a:ea typeface="+mn-ea"/>
              </a:rPr>
              <a:t>b </a:t>
            </a:r>
            <a:r>
              <a:rPr lang="zh-CN" altLang="en-US" sz="1200" b="1" dirty="0">
                <a:solidFill>
                  <a:schemeClr val="tx1"/>
                </a:solidFill>
                <a:latin typeface="Times New Roman" panose="02020603050405020304" pitchFamily="18" charset="0"/>
                <a:ea typeface="+mn-ea"/>
              </a:rPr>
              <a:t>是 </a:t>
            </a:r>
            <a:r>
              <a:rPr lang="en-US" altLang="zh-CN" sz="1200" b="1" i="1" dirty="0">
                <a:solidFill>
                  <a:schemeClr val="tx1"/>
                </a:solidFill>
                <a:latin typeface="Times New Roman" panose="02020603050405020304" pitchFamily="18" charset="0"/>
                <a:ea typeface="+mn-ea"/>
              </a:rPr>
              <a:t>a </a:t>
            </a:r>
            <a:r>
              <a:rPr lang="zh-CN" altLang="en-US" sz="1200" b="1" dirty="0">
                <a:solidFill>
                  <a:schemeClr val="tx1"/>
                </a:solidFill>
                <a:latin typeface="Times New Roman" panose="02020603050405020304" pitchFamily="18" charset="0"/>
                <a:ea typeface="+mn-ea"/>
              </a:rPr>
              <a:t>的</a:t>
            </a:r>
            <a:r>
              <a:rPr lang="zh-CN" altLang="en-US" sz="1200" b="1" dirty="0">
                <a:solidFill>
                  <a:srgbClr val="FF0000"/>
                </a:solidFill>
                <a:latin typeface="Times New Roman" panose="02020603050405020304" pitchFamily="18" charset="0"/>
                <a:ea typeface="+mn-ea"/>
              </a:rPr>
              <a:t>补元</a:t>
            </a:r>
            <a:r>
              <a:rPr lang="en-US" altLang="zh-CN" sz="1200" b="1" dirty="0">
                <a:solidFill>
                  <a:schemeClr val="tx1"/>
                </a:solidFill>
                <a:latin typeface="Times New Roman" panose="02020603050405020304" pitchFamily="18" charset="0"/>
                <a:ea typeface="+mn-ea"/>
              </a:rPr>
              <a:t>.</a:t>
            </a:r>
            <a:br>
              <a:rPr lang="en-US" altLang="zh-CN" sz="1200" b="1" dirty="0">
                <a:solidFill>
                  <a:schemeClr val="tx1"/>
                </a:solidFill>
                <a:latin typeface="Times New Roman" panose="02020603050405020304" pitchFamily="18" charset="0"/>
                <a:ea typeface="+mn-ea"/>
              </a:rPr>
            </a:br>
            <a:r>
              <a:rPr lang="en-US" altLang="zh-CN" sz="1200" b="1" dirty="0">
                <a:solidFill>
                  <a:schemeClr val="tx1"/>
                </a:solidFill>
                <a:latin typeface="Times New Roman" panose="02020603050405020304" pitchFamily="18" charset="0"/>
                <a:ea typeface="+mn-ea"/>
              </a:rPr>
              <a:t>  </a:t>
            </a:r>
          </a:p>
          <a:p>
            <a:pPr marL="342900" indent="-342900" eaLnBrk="1" hangingPunct="1">
              <a:lnSpc>
                <a:spcPct val="130000"/>
              </a:lnSpc>
              <a:buFont typeface="Wingdings" panose="05000000000000000000" pitchFamily="2" charset="2"/>
              <a:buChar char="Ø"/>
            </a:pPr>
            <a:r>
              <a:rPr lang="en-US" altLang="zh-CN" sz="1200" b="1" dirty="0">
                <a:solidFill>
                  <a:schemeClr val="tx1"/>
                </a:solidFill>
                <a:latin typeface="Times New Roman" panose="02020603050405020304" pitchFamily="18" charset="0"/>
                <a:ea typeface="+mn-ea"/>
              </a:rPr>
              <a:t>0(</a:t>
            </a:r>
            <a:r>
              <a:rPr lang="zh-CN" altLang="en-US" sz="1200" b="1" dirty="0">
                <a:solidFill>
                  <a:schemeClr val="tx1"/>
                </a:solidFill>
                <a:latin typeface="Times New Roman" panose="02020603050405020304" pitchFamily="18" charset="0"/>
                <a:ea typeface="+mn-ea"/>
                <a:sym typeface="Symbol" panose="05050102010706020507" pitchFamily="18" charset="2"/>
              </a:rPr>
              <a:t>全下界</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rPr>
              <a:t>与 </a:t>
            </a:r>
            <a:r>
              <a:rPr lang="en-US" altLang="zh-CN" sz="1200" b="1" dirty="0">
                <a:solidFill>
                  <a:schemeClr val="tx1"/>
                </a:solidFill>
                <a:latin typeface="Times New Roman" panose="02020603050405020304" pitchFamily="18" charset="0"/>
                <a:ea typeface="+mn-ea"/>
              </a:rPr>
              <a:t>1 (</a:t>
            </a:r>
            <a:r>
              <a:rPr lang="zh-CN" altLang="en-US" sz="1200" b="1" dirty="0">
                <a:solidFill>
                  <a:schemeClr val="tx1"/>
                </a:solidFill>
                <a:latin typeface="Times New Roman" panose="02020603050405020304" pitchFamily="18" charset="0"/>
                <a:ea typeface="+mn-ea"/>
                <a:sym typeface="Symbol" panose="05050102010706020507" pitchFamily="18" charset="2"/>
              </a:rPr>
              <a:t>全上界</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rPr>
              <a:t>互为补元</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它们都只有唯一的补元</a:t>
            </a:r>
            <a:r>
              <a:rPr lang="en-US" altLang="zh-CN" sz="1200" b="1" dirty="0">
                <a:solidFill>
                  <a:schemeClr val="tx1"/>
                </a:solidFill>
                <a:latin typeface="Times New Roman" panose="02020603050405020304" pitchFamily="18" charset="0"/>
                <a:ea typeface="+mn-ea"/>
              </a:rPr>
              <a:t>.</a:t>
            </a:r>
          </a:p>
          <a:p>
            <a:pPr marL="342900" indent="-342900" eaLnBrk="1" hangingPunct="1">
              <a:lnSpc>
                <a:spcPct val="13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mn-ea"/>
              </a:rPr>
              <a:t>有的元素没有补元</a:t>
            </a:r>
            <a:r>
              <a:rPr lang="en-US" altLang="zh-CN"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rPr>
              <a:t>有的元素有补元</a:t>
            </a:r>
            <a:r>
              <a:rPr lang="en-US" altLang="zh-CN"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rPr>
              <a:t>有的元素可能存在多个补元</a:t>
            </a:r>
            <a:r>
              <a:rPr lang="en-US" altLang="zh-CN" sz="1200" b="1" dirty="0">
                <a:solidFill>
                  <a:schemeClr val="tx1"/>
                </a:solidFill>
                <a:latin typeface="Times New Roman" panose="02020603050405020304" pitchFamily="18" charset="0"/>
                <a:ea typeface="+mn-ea"/>
              </a:rPr>
              <a:t>.</a:t>
            </a:r>
          </a:p>
          <a:p>
            <a:pPr marL="342900" indent="-342900" eaLnBrk="1" hangingPunct="1">
              <a:lnSpc>
                <a:spcPct val="130000"/>
              </a:lnSpc>
              <a:buFont typeface="Wingdings" panose="05000000000000000000" pitchFamily="2" charset="2"/>
              <a:buChar char="Ø"/>
            </a:pPr>
            <a:r>
              <a:rPr lang="zh-CN" altLang="en-US" sz="1200" b="1" dirty="0">
                <a:solidFill>
                  <a:schemeClr val="tx1"/>
                </a:solidFill>
                <a:latin typeface="Times New Roman" panose="02020603050405020304" pitchFamily="18" charset="0"/>
                <a:ea typeface="+mn-ea"/>
              </a:rPr>
              <a:t>如果有界格</a:t>
            </a:r>
            <a:r>
              <a:rPr lang="en-US" altLang="zh-CN" sz="1200" b="1" dirty="0">
                <a:solidFill>
                  <a:schemeClr val="tx1"/>
                </a:solidFill>
                <a:latin typeface="Times New Roman" panose="02020603050405020304" pitchFamily="18" charset="0"/>
                <a:ea typeface="+mn-ea"/>
              </a:rPr>
              <a:t>&lt;</a:t>
            </a:r>
            <a:r>
              <a:rPr lang="en-US" altLang="zh-CN" sz="1200" b="1" i="1" dirty="0">
                <a:solidFill>
                  <a:schemeClr val="tx1"/>
                </a:solidFill>
                <a:latin typeface="Times New Roman" panose="02020603050405020304" pitchFamily="18" charset="0"/>
                <a:ea typeface="+mn-ea"/>
              </a:rPr>
              <a:t>L</a:t>
            </a:r>
            <a:r>
              <a:rPr lang="en-US" altLang="zh-CN" sz="1200" b="1" dirty="0">
                <a:solidFill>
                  <a:schemeClr val="tx1"/>
                </a:solidFill>
                <a:latin typeface="Times New Roman" panose="02020603050405020304" pitchFamily="18" charset="0"/>
                <a:ea typeface="+mn-ea"/>
              </a:rPr>
              <a:t>,∧,∨,0,1&gt;</a:t>
            </a:r>
            <a:r>
              <a:rPr lang="zh-CN" altLang="en-US" sz="1200" b="1" dirty="0">
                <a:solidFill>
                  <a:schemeClr val="tx1"/>
                </a:solidFill>
                <a:latin typeface="Times New Roman" panose="02020603050405020304" pitchFamily="18" charset="0"/>
                <a:ea typeface="+mn-ea"/>
              </a:rPr>
              <a:t>中每个元素都有补元</a:t>
            </a:r>
            <a:r>
              <a:rPr lang="en-US" altLang="zh-CN"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rPr>
              <a:t>则称为</a:t>
            </a:r>
            <a:r>
              <a:rPr lang="zh-CN" altLang="en-US" sz="1200" b="1" dirty="0">
                <a:solidFill>
                  <a:srgbClr val="FF0000"/>
                </a:solidFill>
                <a:latin typeface="Times New Roman" panose="02020603050405020304" pitchFamily="18" charset="0"/>
                <a:ea typeface="+mn-ea"/>
              </a:rPr>
              <a:t>有补格</a:t>
            </a:r>
            <a:r>
              <a:rPr lang="en-US" altLang="zh-CN" sz="1200" b="1" dirty="0">
                <a:solidFill>
                  <a:schemeClr val="tx1"/>
                </a:solidFill>
                <a:latin typeface="Times New Roman" panose="02020603050405020304" pitchFamily="18" charset="0"/>
                <a:ea typeface="+mn-ea"/>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145</a:t>
            </a:fld>
            <a:endParaRPr lang="zh-CN" altLang="en-US"/>
          </a:p>
        </p:txBody>
      </p:sp>
    </p:spTree>
    <p:extLst>
      <p:ext uri="{BB962C8B-B14F-4D97-AF65-F5344CB8AC3E}">
        <p14:creationId xmlns:p14="http://schemas.microsoft.com/office/powerpoint/2010/main" val="348086112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求以下四个格中所有元素的补元</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判断其是否为补格</a:t>
            </a:r>
            <a:r>
              <a:rPr lang="en-US" altLang="zh-CN" sz="1200" b="1" dirty="0">
                <a:solidFill>
                  <a:schemeClr val="tx1"/>
                </a:solidFill>
                <a:latin typeface="Times New Roman" panose="02020603050405020304" pitchFamily="18" charset="0"/>
                <a:ea typeface="+mn-ea"/>
              </a:rPr>
              <a:t>.</a:t>
            </a:r>
          </a:p>
          <a:p>
            <a:pPr eaLnBrk="1" hangingPunct="1"/>
            <a:r>
              <a:rPr lang="zh-CN" altLang="en-US" sz="1200" b="1" dirty="0">
                <a:solidFill>
                  <a:srgbClr val="00B0F0"/>
                </a:solidFill>
                <a:latin typeface="Times New Roman" panose="02020603050405020304" pitchFamily="18" charset="0"/>
                <a:ea typeface="+mn-ea"/>
              </a:rPr>
              <a:t>解</a:t>
            </a:r>
            <a:r>
              <a:rPr lang="en-US" altLang="zh-CN" sz="1200" b="1" dirty="0">
                <a:solidFill>
                  <a:srgbClr val="00B0F0"/>
                </a:solidFill>
                <a:latin typeface="Times New Roman" panose="02020603050405020304" pitchFamily="18" charset="0"/>
                <a:ea typeface="+mn-ea"/>
              </a:rPr>
              <a:t>:</a:t>
            </a:r>
          </a:p>
          <a:p>
            <a:pPr eaLnBrk="1" hangingPunct="1"/>
            <a:r>
              <a:rPr lang="zh-CN" altLang="en-US" sz="1200" b="1" dirty="0">
                <a:solidFill>
                  <a:schemeClr val="tx1"/>
                </a:solidFill>
                <a:latin typeface="Calibri" panose="020F0502020204030204" pitchFamily="34" charset="0"/>
                <a:ea typeface="+mn-ea"/>
                <a:cs typeface="Calibri" panose="020F0502020204030204" pitchFamily="34" charset="0"/>
              </a:rPr>
              <a:t>①</a:t>
            </a:r>
            <a:r>
              <a:rPr lang="en-US" altLang="zh-CN" sz="1200" b="1" i="1" dirty="0">
                <a:solidFill>
                  <a:schemeClr val="tx1"/>
                </a:solidFill>
                <a:latin typeface="Times New Roman" panose="02020603050405020304" pitchFamily="18" charset="0"/>
                <a:ea typeface="+mn-ea"/>
              </a:rPr>
              <a:t>L</a:t>
            </a:r>
            <a:r>
              <a:rPr lang="en-US" altLang="zh-CN" sz="1200" b="1" baseline="-25000" dirty="0">
                <a:solidFill>
                  <a:schemeClr val="tx1"/>
                </a:solidFill>
                <a:latin typeface="Times New Roman" panose="02020603050405020304" pitchFamily="18" charset="0"/>
                <a:ea typeface="+mn-ea"/>
              </a:rPr>
              <a:t>1</a:t>
            </a:r>
            <a:r>
              <a:rPr lang="zh-CN" altLang="en-US" sz="1200" b="1" dirty="0">
                <a:solidFill>
                  <a:schemeClr val="tx1"/>
                </a:solidFill>
                <a:latin typeface="Times New Roman" panose="02020603050405020304" pitchFamily="18" charset="0"/>
                <a:ea typeface="+mn-ea"/>
              </a:rPr>
              <a:t>中</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(最小元素</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且</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en-US" altLang="zh-CN" sz="1200" b="1" i="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(最大元素</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rPr>
              <a:t>a</a:t>
            </a:r>
            <a:r>
              <a:rPr lang="zh-CN" altLang="en-US" sz="1200" b="1" dirty="0">
                <a:solidFill>
                  <a:schemeClr val="tx1"/>
                </a:solidFill>
                <a:latin typeface="Times New Roman" panose="02020603050405020304" pitchFamily="18" charset="0"/>
                <a:ea typeface="+mn-ea"/>
              </a:rPr>
              <a:t>与</a:t>
            </a:r>
            <a:r>
              <a:rPr lang="en-US" altLang="zh-CN" sz="1200" b="1" i="1" dirty="0">
                <a:solidFill>
                  <a:schemeClr val="tx1"/>
                </a:solidFill>
                <a:latin typeface="Times New Roman" panose="02020603050405020304" pitchFamily="18" charset="0"/>
                <a:ea typeface="+mn-ea"/>
              </a:rPr>
              <a:t>c</a:t>
            </a:r>
            <a:r>
              <a:rPr lang="zh-CN" altLang="en-US" sz="1200" b="1" dirty="0">
                <a:solidFill>
                  <a:schemeClr val="tx1"/>
                </a:solidFill>
                <a:latin typeface="Times New Roman" panose="02020603050405020304" pitchFamily="18" charset="0"/>
                <a:ea typeface="+mn-ea"/>
              </a:rPr>
              <a:t>互补</a:t>
            </a:r>
            <a:r>
              <a:rPr lang="en-US" altLang="zh-CN" sz="1200" b="1" dirty="0">
                <a:solidFill>
                  <a:schemeClr val="tx1"/>
                </a:solidFill>
                <a:latin typeface="Times New Roman" panose="02020603050405020304" pitchFamily="18" charset="0"/>
                <a:ea typeface="+mn-ea"/>
              </a:rPr>
              <a:t>, </a:t>
            </a:r>
            <a:r>
              <a:rPr lang="en-US" altLang="zh-CN" sz="1200" b="1" i="1" dirty="0">
                <a:solidFill>
                  <a:schemeClr val="tx1"/>
                </a:solidFill>
                <a:latin typeface="Times New Roman" panose="02020603050405020304" pitchFamily="18" charset="0"/>
                <a:ea typeface="+mn-ea"/>
              </a:rPr>
              <a:t>b</a:t>
            </a:r>
            <a:r>
              <a:rPr lang="zh-CN" altLang="en-US" sz="1200" b="1" dirty="0">
                <a:solidFill>
                  <a:schemeClr val="tx1"/>
                </a:solidFill>
                <a:latin typeface="Times New Roman" panose="02020603050405020304" pitchFamily="18" charset="0"/>
                <a:ea typeface="+mn-ea"/>
              </a:rPr>
              <a:t>没有补元</a:t>
            </a:r>
            <a:r>
              <a:rPr lang="en-US" altLang="zh-CN" sz="1200" b="1" dirty="0">
                <a:solidFill>
                  <a:schemeClr val="tx1"/>
                </a:solidFill>
                <a:latin typeface="Times New Roman" panose="02020603050405020304" pitchFamily="18" charset="0"/>
                <a:ea typeface="+mn-ea"/>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1</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dirty="0">
                <a:solidFill>
                  <a:srgbClr val="FF0000"/>
                </a:solidFill>
                <a:latin typeface="Times New Roman" panose="02020603050405020304" pitchFamily="18" charset="0"/>
                <a:ea typeface="+mn-ea"/>
                <a:cs typeface="Times New Roman" panose="02020603050405020304" pitchFamily="18" charset="0"/>
              </a:rPr>
              <a:t>不是补格</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Calibri" panose="020F0502020204030204" pitchFamily="34" charset="0"/>
                <a:ea typeface="+mn-ea"/>
                <a:cs typeface="Calibri" panose="020F0502020204030204" pitchFamily="34" charset="0"/>
              </a:rPr>
              <a:t>②</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2</a:t>
            </a:r>
            <a:r>
              <a:rPr lang="zh-CN" altLang="en-US" sz="1200" b="1" dirty="0">
                <a:solidFill>
                  <a:schemeClr val="tx1"/>
                </a:solidFill>
                <a:latin typeface="Times New Roman" panose="02020603050405020304" pitchFamily="18" charset="0"/>
                <a:ea typeface="+mn-ea"/>
                <a:cs typeface="Times New Roman" panose="02020603050405020304" pitchFamily="18" charset="0"/>
              </a:rPr>
              <a:t>中</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en-US" sz="1200" b="1" dirty="0">
                <a:solidFill>
                  <a:schemeClr val="tx1"/>
                </a:solidFill>
                <a:latin typeface="Times New Roman" panose="02020603050405020304" pitchFamily="18" charset="0"/>
                <a:ea typeface="+mn-ea"/>
                <a:cs typeface="Times New Roman" panose="02020603050405020304" pitchFamily="18" charset="0"/>
              </a:rPr>
              <a:t>与</a:t>
            </a:r>
            <a:r>
              <a:rPr lang="en-US" altLang="zh-CN" sz="1200" b="1" i="1" dirty="0">
                <a:solidFill>
                  <a:schemeClr val="tx1"/>
                </a:solidFill>
                <a:latin typeface="Times New Roman" panose="02020603050405020304" pitchFamily="18" charset="0"/>
                <a:ea typeface="+mn-ea"/>
                <a:cs typeface="Times New Roman" panose="02020603050405020304" pitchFamily="18" charset="0"/>
              </a:rPr>
              <a:t>d</a:t>
            </a:r>
            <a:r>
              <a:rPr lang="zh-CN" altLang="en-US" sz="1200" b="1" dirty="0">
                <a:solidFill>
                  <a:schemeClr val="tx1"/>
                </a:solidFill>
                <a:latin typeface="Times New Roman" panose="02020603050405020304" pitchFamily="18" charset="0"/>
                <a:ea typeface="+mn-ea"/>
                <a:cs typeface="Times New Roman" panose="02020603050405020304" pitchFamily="18" charset="0"/>
              </a:rPr>
              <a:t>互补</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zh-CN" altLang="en-US" sz="1200" b="1" dirty="0">
                <a:solidFill>
                  <a:schemeClr val="tx1"/>
                </a:solidFill>
                <a:latin typeface="Times New Roman" panose="02020603050405020304" pitchFamily="18" charset="0"/>
                <a:ea typeface="+mn-ea"/>
                <a:cs typeface="Times New Roman" panose="02020603050405020304" pitchFamily="18" charset="0"/>
              </a:rPr>
              <a:t>与</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互补</a:t>
            </a:r>
            <a:r>
              <a:rPr lang="en-US" altLang="zh-CN" sz="1200" b="1" dirty="0">
                <a:solidFill>
                  <a:schemeClr val="tx1"/>
                </a:solidFill>
                <a:latin typeface="Times New Roman" panose="02020603050405020304" pitchFamily="18" charset="0"/>
                <a:ea typeface="+mn-ea"/>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2</a:t>
            </a:r>
            <a:r>
              <a:rPr lang="zh-CN" altLang="zh-CN" sz="1200" b="1" dirty="0">
                <a:solidFill>
                  <a:schemeClr val="tx1"/>
                </a:solidFill>
                <a:latin typeface="Times New Roman" panose="02020603050405020304" pitchFamily="18" charset="0"/>
                <a:ea typeface="+mn-ea"/>
                <a:cs typeface="Times New Roman" panose="02020603050405020304" pitchFamily="18" charset="0"/>
              </a:rPr>
              <a:t>是补格</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endParaRPr lang="en-US" altLang="zh-CN" sz="1200" b="1" dirty="0">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Times New Roman" panose="02020603050405020304" pitchFamily="18" charset="0"/>
                <a:ea typeface="+mn-ea"/>
                <a:cs typeface="Times New Roman" panose="02020603050405020304" pitchFamily="18" charset="0"/>
              </a:rPr>
              <a:t>③</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3</a:t>
            </a:r>
            <a:r>
              <a:rPr lang="zh-CN" altLang="en-US" sz="1200" b="1" dirty="0">
                <a:solidFill>
                  <a:schemeClr val="tx1"/>
                </a:solidFill>
                <a:latin typeface="Times New Roman" panose="02020603050405020304" pitchFamily="18" charset="0"/>
                <a:ea typeface="+mn-ea"/>
                <a:cs typeface="Times New Roman" panose="02020603050405020304" pitchFamily="18" charset="0"/>
              </a:rPr>
              <a:t>中</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en-US" sz="1200" b="1" dirty="0">
                <a:solidFill>
                  <a:schemeClr val="tx1"/>
                </a:solidFill>
                <a:latin typeface="Times New Roman" panose="02020603050405020304" pitchFamily="18" charset="0"/>
                <a:ea typeface="+mn-ea"/>
                <a:cs typeface="Times New Roman" panose="02020603050405020304" pitchFamily="18" charset="0"/>
              </a:rPr>
              <a:t>与互补</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b,d</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d</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b,c</a:t>
            </a:r>
            <a:r>
              <a:rPr lang="en-US" altLang="zh-CN" sz="1200" b="1" dirty="0">
                <a:solidFill>
                  <a:schemeClr val="tx1"/>
                </a:solidFill>
                <a:latin typeface="Times New Roman" panose="02020603050405020304" pitchFamily="18" charset="0"/>
                <a:ea typeface="+mn-ea"/>
              </a:rPr>
              <a:t> ,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3</a:t>
            </a:r>
            <a:r>
              <a:rPr lang="zh-CN" altLang="zh-CN" sz="1200" b="1" dirty="0">
                <a:solidFill>
                  <a:schemeClr val="tx1"/>
                </a:solidFill>
                <a:latin typeface="Times New Roman" panose="02020603050405020304" pitchFamily="18" charset="0"/>
                <a:ea typeface="+mn-ea"/>
                <a:cs typeface="Times New Roman" panose="02020603050405020304" pitchFamily="18" charset="0"/>
              </a:rPr>
              <a:t>是补格</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endParaRPr lang="en-US" altLang="zh-CN" sz="1200" b="1" dirty="0">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Calibri" panose="020F0502020204030204" pitchFamily="34" charset="0"/>
                <a:ea typeface="+mn-ea"/>
                <a:cs typeface="Calibri" panose="020F0502020204030204" pitchFamily="34" charset="0"/>
              </a:rPr>
              <a:t>④</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4</a:t>
            </a:r>
            <a:r>
              <a:rPr lang="zh-CN" altLang="en-US" sz="1200" b="1" dirty="0">
                <a:solidFill>
                  <a:schemeClr val="tx1"/>
                </a:solidFill>
                <a:latin typeface="Times New Roman" panose="02020603050405020304" pitchFamily="18" charset="0"/>
                <a:ea typeface="+mn-ea"/>
                <a:cs typeface="Times New Roman" panose="02020603050405020304" pitchFamily="18" charset="0"/>
              </a:rPr>
              <a:t>中</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en-US" sz="1200" b="1" dirty="0">
                <a:solidFill>
                  <a:schemeClr val="tx1"/>
                </a:solidFill>
                <a:latin typeface="Times New Roman" panose="02020603050405020304" pitchFamily="18" charset="0"/>
                <a:ea typeface="+mn-ea"/>
                <a:cs typeface="Times New Roman" panose="02020603050405020304" pitchFamily="18" charset="0"/>
              </a:rPr>
              <a:t>与</a:t>
            </a:r>
            <a:r>
              <a:rPr lang="en-US" altLang="zh-CN" sz="1200" b="1" i="1" dirty="0">
                <a:solidFill>
                  <a:schemeClr val="tx1"/>
                </a:solidFill>
                <a:latin typeface="Times New Roman" panose="02020603050405020304" pitchFamily="18" charset="0"/>
                <a:ea typeface="+mn-ea"/>
                <a:cs typeface="Times New Roman" panose="02020603050405020304" pitchFamily="18" charset="0"/>
              </a:rPr>
              <a:t>e</a:t>
            </a:r>
            <a:r>
              <a:rPr lang="zh-CN" altLang="en-US" sz="1200" b="1" dirty="0">
                <a:solidFill>
                  <a:schemeClr val="tx1"/>
                </a:solidFill>
                <a:latin typeface="Times New Roman" panose="02020603050405020304" pitchFamily="18" charset="0"/>
                <a:ea typeface="+mn-ea"/>
                <a:cs typeface="Times New Roman" panose="02020603050405020304" pitchFamily="18" charset="0"/>
              </a:rPr>
              <a:t>互补</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d</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d </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rPr>
              <a:t> , </a:t>
            </a:r>
            <a:r>
              <a:rPr lang="en-US" altLang="zh-CN" sz="1200" b="1" i="1" dirty="0">
                <a:solidFill>
                  <a:schemeClr val="tx1"/>
                </a:solidFill>
                <a:latin typeface="Times New Roman" panose="02020603050405020304" pitchFamily="18" charset="0"/>
                <a:cs typeface="Times New Roman" panose="02020603050405020304" pitchFamily="18" charset="0"/>
              </a:rPr>
              <a:t>L</a:t>
            </a:r>
            <a:r>
              <a:rPr lang="en-US" altLang="zh-CN" sz="1200" b="1" baseline="-25000" dirty="0">
                <a:solidFill>
                  <a:schemeClr val="tx1"/>
                </a:solidFill>
                <a:latin typeface="Times New Roman" panose="02020603050405020304" pitchFamily="18" charset="0"/>
                <a:cs typeface="Times New Roman" panose="02020603050405020304" pitchFamily="18" charset="0"/>
              </a:rPr>
              <a:t>4</a:t>
            </a:r>
            <a:r>
              <a:rPr lang="zh-CN" altLang="zh-CN" sz="1200" b="1" dirty="0">
                <a:solidFill>
                  <a:schemeClr val="tx1"/>
                </a:solidFill>
                <a:latin typeface="+mn-ea"/>
                <a:ea typeface="+mn-ea"/>
                <a:cs typeface="Times New Roman" panose="02020603050405020304" pitchFamily="18" charset="0"/>
              </a:rPr>
              <a:t>是补格</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latin typeface="Times New Roman" panose="02020603050405020304" pitchFamily="18" charset="0"/>
                <a:ea typeface="+mn-ea"/>
                <a:cs typeface="Times New Roman" panose="02020603050405020304" pitchFamily="18" charset="0"/>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146</a:t>
            </a:fld>
            <a:endParaRPr lang="zh-CN" altLang="en-US"/>
          </a:p>
        </p:txBody>
      </p:sp>
    </p:spTree>
    <p:extLst>
      <p:ext uri="{BB962C8B-B14F-4D97-AF65-F5344CB8AC3E}">
        <p14:creationId xmlns:p14="http://schemas.microsoft.com/office/powerpoint/2010/main" val="4173294484"/>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mn-ea"/>
              </a:rPr>
              <a:t>例</a:t>
            </a:r>
            <a:r>
              <a:rPr lang="en-US" altLang="zh-CN" sz="1200" b="1" dirty="0">
                <a:solidFill>
                  <a:srgbClr val="00B0F0"/>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求以下四个格中所有元素的补元</a:t>
            </a:r>
            <a:r>
              <a:rPr lang="en-US" altLang="zh-CN" sz="1200" b="1" dirty="0">
                <a:solidFill>
                  <a:schemeClr val="tx1"/>
                </a:solidFill>
                <a:latin typeface="Times New Roman" panose="02020603050405020304" pitchFamily="18" charset="0"/>
                <a:ea typeface="+mn-ea"/>
              </a:rPr>
              <a:t>, </a:t>
            </a:r>
            <a:r>
              <a:rPr lang="zh-CN" altLang="en-US" sz="1200" b="1" dirty="0">
                <a:solidFill>
                  <a:schemeClr val="tx1"/>
                </a:solidFill>
                <a:latin typeface="Times New Roman" panose="02020603050405020304" pitchFamily="18" charset="0"/>
                <a:ea typeface="+mn-ea"/>
              </a:rPr>
              <a:t>判断其是否为补格</a:t>
            </a:r>
            <a:r>
              <a:rPr lang="en-US" altLang="zh-CN" sz="1200" b="1" dirty="0">
                <a:solidFill>
                  <a:schemeClr val="tx1"/>
                </a:solidFill>
                <a:latin typeface="Times New Roman" panose="02020603050405020304" pitchFamily="18" charset="0"/>
                <a:ea typeface="+mn-ea"/>
              </a:rPr>
              <a:t>.</a:t>
            </a:r>
          </a:p>
          <a:p>
            <a:pPr eaLnBrk="1" hangingPunct="1"/>
            <a:r>
              <a:rPr lang="zh-CN" altLang="en-US" sz="1200" b="1" dirty="0">
                <a:solidFill>
                  <a:srgbClr val="00B0F0"/>
                </a:solidFill>
                <a:latin typeface="Times New Roman" panose="02020603050405020304" pitchFamily="18" charset="0"/>
                <a:ea typeface="+mn-ea"/>
              </a:rPr>
              <a:t>解</a:t>
            </a:r>
            <a:r>
              <a:rPr lang="en-US" altLang="zh-CN" sz="1200" b="1" dirty="0">
                <a:solidFill>
                  <a:srgbClr val="00B0F0"/>
                </a:solidFill>
                <a:latin typeface="Times New Roman" panose="02020603050405020304" pitchFamily="18" charset="0"/>
                <a:ea typeface="+mn-ea"/>
              </a:rPr>
              <a:t>:</a:t>
            </a:r>
          </a:p>
          <a:p>
            <a:pPr eaLnBrk="1" hangingPunct="1"/>
            <a:r>
              <a:rPr lang="zh-CN" altLang="en-US" sz="1200" b="1" dirty="0">
                <a:solidFill>
                  <a:schemeClr val="tx1"/>
                </a:solidFill>
                <a:latin typeface="Calibri" panose="020F0502020204030204" pitchFamily="34" charset="0"/>
                <a:ea typeface="+mn-ea"/>
                <a:cs typeface="Calibri" panose="020F0502020204030204" pitchFamily="34" charset="0"/>
              </a:rPr>
              <a:t>①</a:t>
            </a:r>
            <a:r>
              <a:rPr lang="en-US" altLang="zh-CN" sz="1200" b="1" i="1" dirty="0">
                <a:solidFill>
                  <a:schemeClr val="tx1"/>
                </a:solidFill>
                <a:latin typeface="Times New Roman" panose="02020603050405020304" pitchFamily="18" charset="0"/>
                <a:ea typeface="+mn-ea"/>
              </a:rPr>
              <a:t>L</a:t>
            </a:r>
            <a:r>
              <a:rPr lang="en-US" altLang="zh-CN" sz="1200" b="1" baseline="-25000" dirty="0">
                <a:solidFill>
                  <a:schemeClr val="tx1"/>
                </a:solidFill>
                <a:latin typeface="Times New Roman" panose="02020603050405020304" pitchFamily="18" charset="0"/>
                <a:ea typeface="+mn-ea"/>
              </a:rPr>
              <a:t>1</a:t>
            </a:r>
            <a:r>
              <a:rPr lang="zh-CN" altLang="en-US" sz="1200" b="1" dirty="0">
                <a:solidFill>
                  <a:schemeClr val="tx1"/>
                </a:solidFill>
                <a:latin typeface="Times New Roman" panose="02020603050405020304" pitchFamily="18" charset="0"/>
                <a:ea typeface="+mn-ea"/>
              </a:rPr>
              <a:t>中</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(最小元素</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zh-CN" sz="1200" b="1" dirty="0">
                <a:solidFill>
                  <a:schemeClr val="tx1"/>
                </a:solidFill>
                <a:latin typeface="Times New Roman" panose="02020603050405020304" pitchFamily="18" charset="0"/>
                <a:ea typeface="+mn-ea"/>
                <a:cs typeface="Times New Roman" panose="02020603050405020304" pitchFamily="18" charset="0"/>
              </a:rPr>
              <a:t>且</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en-US" altLang="zh-CN" sz="1200" b="1" i="1" dirty="0">
                <a:solidFill>
                  <a:schemeClr val="tx1"/>
                </a:solidFill>
                <a:latin typeface="Times New Roman" panose="02020603050405020304" pitchFamily="18" charset="0"/>
                <a:ea typeface="+mn-ea"/>
                <a:cs typeface="Times New Roman" panose="02020603050405020304" pitchFamily="18" charset="0"/>
              </a:rPr>
              <a:t>=</a:t>
            </a:r>
            <a:r>
              <a:rPr lang="zh-CN"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zh-CN" sz="1200" b="1" dirty="0">
                <a:solidFill>
                  <a:schemeClr val="tx1"/>
                </a:solidFill>
                <a:latin typeface="Times New Roman" panose="02020603050405020304" pitchFamily="18" charset="0"/>
                <a:ea typeface="+mn-ea"/>
                <a:cs typeface="Times New Roman" panose="02020603050405020304" pitchFamily="18" charset="0"/>
              </a:rPr>
              <a:t>(最大元素</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rPr>
              <a:t>a</a:t>
            </a:r>
            <a:r>
              <a:rPr lang="zh-CN" altLang="en-US" sz="1200" b="1" dirty="0">
                <a:solidFill>
                  <a:schemeClr val="tx1"/>
                </a:solidFill>
                <a:latin typeface="Times New Roman" panose="02020603050405020304" pitchFamily="18" charset="0"/>
                <a:ea typeface="+mn-ea"/>
              </a:rPr>
              <a:t>与</a:t>
            </a:r>
            <a:r>
              <a:rPr lang="en-US" altLang="zh-CN" sz="1200" b="1" i="1" dirty="0">
                <a:solidFill>
                  <a:schemeClr val="tx1"/>
                </a:solidFill>
                <a:latin typeface="Times New Roman" panose="02020603050405020304" pitchFamily="18" charset="0"/>
                <a:ea typeface="+mn-ea"/>
              </a:rPr>
              <a:t>c</a:t>
            </a:r>
            <a:r>
              <a:rPr lang="zh-CN" altLang="en-US" sz="1200" b="1" dirty="0">
                <a:solidFill>
                  <a:schemeClr val="tx1"/>
                </a:solidFill>
                <a:latin typeface="Times New Roman" panose="02020603050405020304" pitchFamily="18" charset="0"/>
                <a:ea typeface="+mn-ea"/>
              </a:rPr>
              <a:t>互补</a:t>
            </a:r>
            <a:r>
              <a:rPr lang="en-US" altLang="zh-CN" sz="1200" b="1" dirty="0">
                <a:solidFill>
                  <a:schemeClr val="tx1"/>
                </a:solidFill>
                <a:latin typeface="Times New Roman" panose="02020603050405020304" pitchFamily="18" charset="0"/>
                <a:ea typeface="+mn-ea"/>
              </a:rPr>
              <a:t>, </a:t>
            </a:r>
            <a:r>
              <a:rPr lang="en-US" altLang="zh-CN" sz="1200" b="1" i="1" dirty="0">
                <a:solidFill>
                  <a:schemeClr val="tx1"/>
                </a:solidFill>
                <a:latin typeface="Times New Roman" panose="02020603050405020304" pitchFamily="18" charset="0"/>
                <a:ea typeface="+mn-ea"/>
              </a:rPr>
              <a:t>b</a:t>
            </a:r>
            <a:r>
              <a:rPr lang="zh-CN" altLang="en-US" sz="1200" b="1" dirty="0">
                <a:solidFill>
                  <a:schemeClr val="tx1"/>
                </a:solidFill>
                <a:latin typeface="Times New Roman" panose="02020603050405020304" pitchFamily="18" charset="0"/>
                <a:ea typeface="+mn-ea"/>
              </a:rPr>
              <a:t>没有补元</a:t>
            </a:r>
            <a:r>
              <a:rPr lang="en-US" altLang="zh-CN" sz="1200" b="1" dirty="0">
                <a:solidFill>
                  <a:schemeClr val="tx1"/>
                </a:solidFill>
                <a:latin typeface="Times New Roman" panose="02020603050405020304" pitchFamily="18" charset="0"/>
                <a:ea typeface="+mn-ea"/>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1</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zh-CN" altLang="zh-CN" sz="1200" b="1" dirty="0">
                <a:solidFill>
                  <a:srgbClr val="FF0000"/>
                </a:solidFill>
                <a:latin typeface="Times New Roman" panose="02020603050405020304" pitchFamily="18" charset="0"/>
                <a:ea typeface="+mn-ea"/>
                <a:cs typeface="Times New Roman" panose="02020603050405020304" pitchFamily="18" charset="0"/>
              </a:rPr>
              <a:t>不是补格</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Calibri" panose="020F0502020204030204" pitchFamily="34" charset="0"/>
                <a:ea typeface="+mn-ea"/>
                <a:cs typeface="Calibri" panose="020F0502020204030204" pitchFamily="34" charset="0"/>
              </a:rPr>
              <a:t>②</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2</a:t>
            </a:r>
            <a:r>
              <a:rPr lang="zh-CN" altLang="en-US" sz="1200" b="1" dirty="0">
                <a:solidFill>
                  <a:schemeClr val="tx1"/>
                </a:solidFill>
                <a:latin typeface="Times New Roman" panose="02020603050405020304" pitchFamily="18" charset="0"/>
                <a:ea typeface="+mn-ea"/>
                <a:cs typeface="Times New Roman" panose="02020603050405020304" pitchFamily="18" charset="0"/>
              </a:rPr>
              <a:t>中</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en-US" sz="1200" b="1" dirty="0">
                <a:solidFill>
                  <a:schemeClr val="tx1"/>
                </a:solidFill>
                <a:latin typeface="Times New Roman" panose="02020603050405020304" pitchFamily="18" charset="0"/>
                <a:ea typeface="+mn-ea"/>
                <a:cs typeface="Times New Roman" panose="02020603050405020304" pitchFamily="18" charset="0"/>
              </a:rPr>
              <a:t>与</a:t>
            </a:r>
            <a:r>
              <a:rPr lang="en-US" altLang="zh-CN" sz="1200" b="1" i="1" dirty="0">
                <a:solidFill>
                  <a:schemeClr val="tx1"/>
                </a:solidFill>
                <a:latin typeface="Times New Roman" panose="02020603050405020304" pitchFamily="18" charset="0"/>
                <a:ea typeface="+mn-ea"/>
                <a:cs typeface="Times New Roman" panose="02020603050405020304" pitchFamily="18" charset="0"/>
              </a:rPr>
              <a:t>d</a:t>
            </a:r>
            <a:r>
              <a:rPr lang="zh-CN" altLang="en-US" sz="1200" b="1" dirty="0">
                <a:solidFill>
                  <a:schemeClr val="tx1"/>
                </a:solidFill>
                <a:latin typeface="Times New Roman" panose="02020603050405020304" pitchFamily="18" charset="0"/>
                <a:ea typeface="+mn-ea"/>
                <a:cs typeface="Times New Roman" panose="02020603050405020304" pitchFamily="18" charset="0"/>
              </a:rPr>
              <a:t>互补</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zh-CN" altLang="en-US" sz="1200" b="1" dirty="0">
                <a:solidFill>
                  <a:schemeClr val="tx1"/>
                </a:solidFill>
                <a:latin typeface="Times New Roman" panose="02020603050405020304" pitchFamily="18" charset="0"/>
                <a:ea typeface="+mn-ea"/>
                <a:cs typeface="Times New Roman" panose="02020603050405020304" pitchFamily="18" charset="0"/>
              </a:rPr>
              <a:t>与</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互补</a:t>
            </a:r>
            <a:r>
              <a:rPr lang="en-US" altLang="zh-CN" sz="1200" b="1" dirty="0">
                <a:solidFill>
                  <a:schemeClr val="tx1"/>
                </a:solidFill>
                <a:latin typeface="Times New Roman" panose="02020603050405020304" pitchFamily="18" charset="0"/>
                <a:ea typeface="+mn-ea"/>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2</a:t>
            </a:r>
            <a:r>
              <a:rPr lang="zh-CN" altLang="zh-CN" sz="1200" b="1" dirty="0">
                <a:solidFill>
                  <a:schemeClr val="tx1"/>
                </a:solidFill>
                <a:latin typeface="Times New Roman" panose="02020603050405020304" pitchFamily="18" charset="0"/>
                <a:ea typeface="+mn-ea"/>
                <a:cs typeface="Times New Roman" panose="02020603050405020304" pitchFamily="18" charset="0"/>
              </a:rPr>
              <a:t>是补格</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endParaRPr lang="en-US" altLang="zh-CN" sz="1200" b="1" dirty="0">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Times New Roman" panose="02020603050405020304" pitchFamily="18" charset="0"/>
                <a:ea typeface="+mn-ea"/>
                <a:cs typeface="Times New Roman" panose="02020603050405020304" pitchFamily="18" charset="0"/>
              </a:rPr>
              <a:t>③</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3</a:t>
            </a:r>
            <a:r>
              <a:rPr lang="zh-CN" altLang="en-US" sz="1200" b="1" dirty="0">
                <a:solidFill>
                  <a:schemeClr val="tx1"/>
                </a:solidFill>
                <a:latin typeface="Times New Roman" panose="02020603050405020304" pitchFamily="18" charset="0"/>
                <a:ea typeface="+mn-ea"/>
                <a:cs typeface="Times New Roman" panose="02020603050405020304" pitchFamily="18" charset="0"/>
              </a:rPr>
              <a:t>中</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en-US" sz="1200" b="1" dirty="0">
                <a:solidFill>
                  <a:schemeClr val="tx1"/>
                </a:solidFill>
                <a:latin typeface="Times New Roman" panose="02020603050405020304" pitchFamily="18" charset="0"/>
                <a:ea typeface="+mn-ea"/>
                <a:cs typeface="Times New Roman" panose="02020603050405020304" pitchFamily="18" charset="0"/>
              </a:rPr>
              <a:t>与互补</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b,d</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d</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b,c</a:t>
            </a:r>
            <a:r>
              <a:rPr lang="en-US" altLang="zh-CN" sz="1200" b="1" dirty="0">
                <a:solidFill>
                  <a:schemeClr val="tx1"/>
                </a:solidFill>
                <a:latin typeface="Times New Roman" panose="02020603050405020304" pitchFamily="18" charset="0"/>
                <a:ea typeface="+mn-ea"/>
              </a:rPr>
              <a:t> ,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3</a:t>
            </a:r>
            <a:r>
              <a:rPr lang="zh-CN" altLang="zh-CN" sz="1200" b="1" dirty="0">
                <a:solidFill>
                  <a:schemeClr val="tx1"/>
                </a:solidFill>
                <a:latin typeface="Times New Roman" panose="02020603050405020304" pitchFamily="18" charset="0"/>
                <a:ea typeface="+mn-ea"/>
                <a:cs typeface="Times New Roman" panose="02020603050405020304" pitchFamily="18" charset="0"/>
              </a:rPr>
              <a:t>是补格</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     </a:t>
            </a:r>
            <a:endParaRPr lang="en-US" altLang="zh-CN" sz="1200" b="1" dirty="0">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chemeClr val="tx1"/>
                </a:solidFill>
                <a:latin typeface="Calibri" panose="020F0502020204030204" pitchFamily="34" charset="0"/>
                <a:ea typeface="+mn-ea"/>
                <a:cs typeface="Calibri" panose="020F0502020204030204" pitchFamily="34" charset="0"/>
              </a:rPr>
              <a:t>④</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baseline="-25000" dirty="0">
                <a:solidFill>
                  <a:schemeClr val="tx1"/>
                </a:solidFill>
                <a:latin typeface="Times New Roman" panose="02020603050405020304" pitchFamily="18" charset="0"/>
                <a:ea typeface="+mn-ea"/>
                <a:cs typeface="Times New Roman" panose="02020603050405020304" pitchFamily="18" charset="0"/>
              </a:rPr>
              <a:t>4</a:t>
            </a:r>
            <a:r>
              <a:rPr lang="zh-CN" altLang="en-US" sz="1200" b="1" dirty="0">
                <a:solidFill>
                  <a:schemeClr val="tx1"/>
                </a:solidFill>
                <a:latin typeface="Times New Roman" panose="02020603050405020304" pitchFamily="18" charset="0"/>
                <a:ea typeface="+mn-ea"/>
                <a:cs typeface="Times New Roman" panose="02020603050405020304" pitchFamily="18" charset="0"/>
              </a:rPr>
              <a:t>中</a:t>
            </a:r>
            <a:r>
              <a:rPr lang="en-US" altLang="zh-CN" sz="1200" b="1" i="1" dirty="0">
                <a:solidFill>
                  <a:schemeClr val="tx1"/>
                </a:solidFill>
                <a:latin typeface="Times New Roman" panose="02020603050405020304" pitchFamily="18" charset="0"/>
                <a:ea typeface="+mn-ea"/>
                <a:cs typeface="Times New Roman" panose="02020603050405020304" pitchFamily="18" charset="0"/>
              </a:rPr>
              <a:t>a</a:t>
            </a:r>
            <a:r>
              <a:rPr lang="zh-CN" altLang="en-US" sz="1200" b="1" dirty="0">
                <a:solidFill>
                  <a:schemeClr val="tx1"/>
                </a:solidFill>
                <a:latin typeface="Times New Roman" panose="02020603050405020304" pitchFamily="18" charset="0"/>
                <a:ea typeface="+mn-ea"/>
                <a:cs typeface="Times New Roman" panose="02020603050405020304" pitchFamily="18" charset="0"/>
              </a:rPr>
              <a:t>与</a:t>
            </a:r>
            <a:r>
              <a:rPr lang="en-US" altLang="zh-CN" sz="1200" b="1" i="1" dirty="0">
                <a:solidFill>
                  <a:schemeClr val="tx1"/>
                </a:solidFill>
                <a:latin typeface="Times New Roman" panose="02020603050405020304" pitchFamily="18" charset="0"/>
                <a:ea typeface="+mn-ea"/>
                <a:cs typeface="Times New Roman" panose="02020603050405020304" pitchFamily="18" charset="0"/>
              </a:rPr>
              <a:t>e</a:t>
            </a:r>
            <a:r>
              <a:rPr lang="zh-CN" altLang="en-US" sz="1200" b="1" dirty="0">
                <a:solidFill>
                  <a:schemeClr val="tx1"/>
                </a:solidFill>
                <a:latin typeface="Times New Roman" panose="02020603050405020304" pitchFamily="18" charset="0"/>
                <a:ea typeface="+mn-ea"/>
                <a:cs typeface="Times New Roman" panose="02020603050405020304" pitchFamily="18" charset="0"/>
              </a:rPr>
              <a:t>互补</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c</a:t>
            </a:r>
            <a:r>
              <a:rPr lang="en-US" altLang="zh-CN" sz="1200" b="1" dirty="0" err="1">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d</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c</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rPr>
              <a:t>d </a:t>
            </a:r>
            <a:r>
              <a:rPr lang="zh-CN" altLang="en-US" sz="1200" b="1" dirty="0">
                <a:solidFill>
                  <a:schemeClr val="tx1"/>
                </a:solidFill>
                <a:latin typeface="Times New Roman" panose="02020603050405020304" pitchFamily="18" charset="0"/>
                <a:ea typeface="+mn-ea"/>
                <a:cs typeface="Times New Roman" panose="02020603050405020304" pitchFamily="18" charset="0"/>
              </a:rPr>
              <a:t>的补元</a:t>
            </a:r>
            <a:r>
              <a:rPr lang="en-US" altLang="zh-CN" sz="1200" b="1" i="1" dirty="0">
                <a:solidFill>
                  <a:schemeClr val="tx1"/>
                </a:solidFill>
                <a:latin typeface="Times New Roman" panose="02020603050405020304" pitchFamily="18" charset="0"/>
                <a:ea typeface="+mn-ea"/>
                <a:cs typeface="Times New Roman" panose="02020603050405020304" pitchFamily="18" charset="0"/>
              </a:rPr>
              <a:t>b</a:t>
            </a:r>
            <a:r>
              <a:rPr lang="en-US" altLang="zh-CN" sz="1200" b="1" dirty="0">
                <a:solidFill>
                  <a:schemeClr val="tx1"/>
                </a:solidFill>
                <a:latin typeface="Times New Roman" panose="02020603050405020304" pitchFamily="18" charset="0"/>
                <a:ea typeface="+mn-ea"/>
              </a:rPr>
              <a:t> , </a:t>
            </a:r>
            <a:r>
              <a:rPr lang="en-US" altLang="zh-CN" sz="1200" b="1" i="1" dirty="0">
                <a:solidFill>
                  <a:schemeClr val="tx1"/>
                </a:solidFill>
                <a:latin typeface="Times New Roman" panose="02020603050405020304" pitchFamily="18" charset="0"/>
                <a:cs typeface="Times New Roman" panose="02020603050405020304" pitchFamily="18" charset="0"/>
              </a:rPr>
              <a:t>L</a:t>
            </a:r>
            <a:r>
              <a:rPr lang="en-US" altLang="zh-CN" sz="1200" b="1" baseline="-25000" dirty="0">
                <a:solidFill>
                  <a:schemeClr val="tx1"/>
                </a:solidFill>
                <a:latin typeface="Times New Roman" panose="02020603050405020304" pitchFamily="18" charset="0"/>
                <a:cs typeface="Times New Roman" panose="02020603050405020304" pitchFamily="18" charset="0"/>
              </a:rPr>
              <a:t>4</a:t>
            </a:r>
            <a:r>
              <a:rPr lang="zh-CN" altLang="zh-CN" sz="1200" b="1" dirty="0">
                <a:solidFill>
                  <a:schemeClr val="tx1"/>
                </a:solidFill>
                <a:latin typeface="+mn-ea"/>
                <a:ea typeface="+mn-ea"/>
                <a:cs typeface="Times New Roman" panose="02020603050405020304" pitchFamily="18" charset="0"/>
              </a:rPr>
              <a:t>是补格</a:t>
            </a:r>
            <a:r>
              <a:rPr lang="en-US" altLang="zh-CN" sz="1200" b="1" dirty="0">
                <a:solidFill>
                  <a:schemeClr val="tx1"/>
                </a:solidFill>
                <a:latin typeface="Times New Roman" panose="02020603050405020304" pitchFamily="18" charset="0"/>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en-US" altLang="zh-CN" sz="1200" b="1" dirty="0">
                <a:latin typeface="Times New Roman" panose="02020603050405020304" pitchFamily="18" charset="0"/>
                <a:ea typeface="+mn-ea"/>
                <a:cs typeface="Times New Roman" panose="02020603050405020304" pitchFamily="18" charset="0"/>
              </a:rPr>
              <a:t>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147</a:t>
            </a:fld>
            <a:endParaRPr lang="zh-CN" altLang="en-US"/>
          </a:p>
        </p:txBody>
      </p:sp>
    </p:spTree>
    <p:extLst>
      <p:ext uri="{BB962C8B-B14F-4D97-AF65-F5344CB8AC3E}">
        <p14:creationId xmlns:p14="http://schemas.microsoft.com/office/powerpoint/2010/main" val="395062233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在布尔代数中，每个元素的补元是唯一的。这是因为补元的定义和布尔代数的性质（</a:t>
            </a:r>
            <a:r>
              <a:rPr lang="zh-CN" altLang="zh-CN" sz="1800" kern="100" dirty="0">
                <a:solidFill>
                  <a:srgbClr val="0D0D0D"/>
                </a:solidFill>
                <a:effectLst/>
                <a:highlight>
                  <a:srgbClr val="FFFF00"/>
                </a:highlight>
                <a:latin typeface="Segoe UI" panose="020B0502040204020203" pitchFamily="34" charset="0"/>
                <a:ea typeface="宋体" panose="02010600030101010101" pitchFamily="2" charset="-122"/>
                <a:cs typeface="Segoe UI" panose="020B0502040204020203" pitchFamily="34" charset="0"/>
              </a:rPr>
              <a:t>包括交换律、结合律和分配律</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）共同保证了补元的唯一性。</a:t>
            </a:r>
            <a:endParaRPr lang="en-US"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endParaRPr>
          </a:p>
          <a:p>
            <a:pPr eaLnBrk="1" hangingPunct="1">
              <a:lnSpc>
                <a:spcPct val="120000"/>
              </a:lnSpc>
            </a:pPr>
            <a:r>
              <a:rPr lang="zh-CN" altLang="en-US" sz="1800" b="1" dirty="0">
                <a:solidFill>
                  <a:srgbClr val="FF0000"/>
                </a:solidFill>
                <a:latin typeface="Times New Roman" panose="02020603050405020304" pitchFamily="18" charset="0"/>
                <a:ea typeface="+mn-ea"/>
              </a:rPr>
              <a:t>定义</a:t>
            </a:r>
            <a:r>
              <a:rPr lang="en-US" altLang="zh-CN" sz="1800" b="1" dirty="0">
                <a:solidFill>
                  <a:srgbClr val="FF0000"/>
                </a:solidFill>
                <a:latin typeface="Times New Roman" panose="02020603050405020304" pitchFamily="18" charset="0"/>
                <a:ea typeface="+mn-ea"/>
              </a:rPr>
              <a:t>9.24</a:t>
            </a:r>
            <a:r>
              <a:rPr lang="en-US" altLang="zh-CN" sz="1800" b="1" dirty="0">
                <a:solidFill>
                  <a:schemeClr val="tx1"/>
                </a:solidFill>
                <a:latin typeface="Times New Roman" panose="02020603050405020304" pitchFamily="18" charset="0"/>
                <a:ea typeface="+mn-ea"/>
              </a:rPr>
              <a:t> </a:t>
            </a:r>
            <a:r>
              <a:rPr lang="zh-CN" altLang="en-US" sz="1800" b="1" dirty="0">
                <a:solidFill>
                  <a:schemeClr val="tx1"/>
                </a:solidFill>
                <a:latin typeface="Times New Roman" panose="02020603050405020304" pitchFamily="18" charset="0"/>
                <a:ea typeface="+mn-ea"/>
              </a:rPr>
              <a:t>如果有界格</a:t>
            </a:r>
            <a:r>
              <a:rPr lang="en-US" altLang="zh-CN" sz="1800" b="1" dirty="0">
                <a:solidFill>
                  <a:schemeClr val="tx1"/>
                </a:solidFill>
                <a:latin typeface="Times New Roman" panose="02020603050405020304" pitchFamily="18" charset="0"/>
                <a:ea typeface="+mn-ea"/>
              </a:rPr>
              <a:t>&lt;</a:t>
            </a:r>
            <a:r>
              <a:rPr lang="en-US" altLang="zh-CN" sz="1800" b="1" i="1" dirty="0">
                <a:solidFill>
                  <a:schemeClr val="tx1"/>
                </a:solidFill>
                <a:latin typeface="Times New Roman" panose="02020603050405020304" pitchFamily="18" charset="0"/>
                <a:ea typeface="+mn-ea"/>
              </a:rPr>
              <a:t>L</a:t>
            </a:r>
            <a:r>
              <a:rPr lang="en-US" altLang="zh-CN" sz="1800" b="1" dirty="0">
                <a:solidFill>
                  <a:schemeClr val="tx1"/>
                </a:solidFill>
                <a:latin typeface="Times New Roman" panose="02020603050405020304" pitchFamily="18" charset="0"/>
                <a:ea typeface="+mn-ea"/>
              </a:rPr>
              <a:t>,∧,∨,0,1&gt;</a:t>
            </a:r>
            <a:r>
              <a:rPr lang="zh-CN" altLang="en-US" sz="1800" b="1" dirty="0">
                <a:solidFill>
                  <a:schemeClr val="tx1"/>
                </a:solidFill>
                <a:latin typeface="Times New Roman" panose="02020603050405020304" pitchFamily="18" charset="0"/>
                <a:ea typeface="+mn-ea"/>
              </a:rPr>
              <a:t>是有补分配格</a:t>
            </a:r>
            <a:r>
              <a:rPr lang="en-US" altLang="zh-CN" sz="1800" b="1" dirty="0">
                <a:solidFill>
                  <a:schemeClr val="tx1"/>
                </a:solidFill>
                <a:latin typeface="Times New Roman" panose="02020603050405020304" pitchFamily="18" charset="0"/>
                <a:ea typeface="+mn-ea"/>
              </a:rPr>
              <a:t>, </a:t>
            </a:r>
            <a:r>
              <a:rPr lang="zh-CN" altLang="en-US" sz="1800" b="1" dirty="0">
                <a:solidFill>
                  <a:schemeClr val="tx1"/>
                </a:solidFill>
                <a:latin typeface="Times New Roman" panose="02020603050405020304" pitchFamily="18" charset="0"/>
                <a:ea typeface="+mn-ea"/>
              </a:rPr>
              <a:t>则称</a:t>
            </a:r>
            <a:r>
              <a:rPr lang="en-US" altLang="zh-CN" sz="1800" b="1" i="1" dirty="0">
                <a:solidFill>
                  <a:schemeClr val="tx1"/>
                </a:solidFill>
                <a:latin typeface="Times New Roman" panose="02020603050405020304" pitchFamily="18" charset="0"/>
                <a:ea typeface="+mn-ea"/>
              </a:rPr>
              <a:t>L</a:t>
            </a:r>
            <a:r>
              <a:rPr lang="zh-CN" altLang="en-US" sz="1800" b="1" dirty="0">
                <a:solidFill>
                  <a:schemeClr val="tx1"/>
                </a:solidFill>
                <a:latin typeface="Times New Roman" panose="02020603050405020304" pitchFamily="18" charset="0"/>
                <a:ea typeface="+mn-ea"/>
              </a:rPr>
              <a:t>为</a:t>
            </a:r>
            <a:r>
              <a:rPr lang="zh-CN" altLang="en-US" sz="1800" b="1" dirty="0">
                <a:solidFill>
                  <a:srgbClr val="FF0000"/>
                </a:solidFill>
                <a:latin typeface="Times New Roman" panose="02020603050405020304" pitchFamily="18" charset="0"/>
                <a:ea typeface="+mn-ea"/>
              </a:rPr>
              <a:t>布尔格</a:t>
            </a:r>
            <a:r>
              <a:rPr lang="zh-CN" altLang="en-US" sz="1800" b="1" dirty="0">
                <a:solidFill>
                  <a:schemeClr val="tx1"/>
                </a:solidFill>
                <a:latin typeface="Times New Roman" panose="02020603050405020304" pitchFamily="18" charset="0"/>
                <a:ea typeface="+mn-ea"/>
              </a:rPr>
              <a:t>或</a:t>
            </a:r>
            <a:r>
              <a:rPr lang="zh-CN" altLang="en-US" sz="1800" b="1" dirty="0">
                <a:solidFill>
                  <a:srgbClr val="FF0000"/>
                </a:solidFill>
                <a:latin typeface="Times New Roman" panose="02020603050405020304" pitchFamily="18" charset="0"/>
                <a:ea typeface="+mn-ea"/>
              </a:rPr>
              <a:t>布尔代数</a:t>
            </a:r>
            <a:r>
              <a:rPr lang="en-US" altLang="zh-CN" sz="1800" b="1" dirty="0">
                <a:solidFill>
                  <a:schemeClr val="tx1"/>
                </a:solidFill>
                <a:latin typeface="Times New Roman" panose="02020603050405020304" pitchFamily="18" charset="0"/>
                <a:ea typeface="+mn-ea"/>
              </a:rPr>
              <a:t>. </a:t>
            </a:r>
          </a:p>
          <a:p>
            <a:pPr eaLnBrk="1" hangingPunct="1">
              <a:lnSpc>
                <a:spcPct val="120000"/>
              </a:lnSpc>
            </a:pPr>
            <a:endParaRPr lang="en-US" altLang="zh-CN" sz="1800" b="1" dirty="0">
              <a:solidFill>
                <a:schemeClr val="tx1"/>
              </a:solidFill>
              <a:latin typeface="Times New Roman" panose="02020603050405020304" pitchFamily="18" charset="0"/>
              <a:ea typeface="+mn-ea"/>
            </a:endParaRPr>
          </a:p>
          <a:p>
            <a:pPr marL="342900" indent="-342900" eaLnBrk="1" hangingPunct="1">
              <a:lnSpc>
                <a:spcPct val="120000"/>
              </a:lnSpc>
              <a:buFont typeface="Wingdings" panose="05000000000000000000" pitchFamily="2" charset="2"/>
              <a:buChar char="Ø"/>
            </a:pPr>
            <a:r>
              <a:rPr lang="zh-CN" altLang="en-US" sz="1600" b="1" dirty="0">
                <a:solidFill>
                  <a:srgbClr val="00B0F0"/>
                </a:solidFill>
                <a:latin typeface="Times New Roman" panose="02020603050405020304" pitchFamily="18" charset="0"/>
                <a:ea typeface="+mn-ea"/>
              </a:rPr>
              <a:t>分配格</a:t>
            </a:r>
            <a:r>
              <a:rPr lang="zh-CN" altLang="en-US" sz="1600" b="1" dirty="0">
                <a:solidFill>
                  <a:schemeClr val="tx1"/>
                </a:solidFill>
                <a:latin typeface="Times New Roman" panose="02020603050405020304" pitchFamily="18" charset="0"/>
                <a:ea typeface="+mn-ea"/>
              </a:rPr>
              <a:t>必须</a:t>
            </a:r>
            <a:r>
              <a:rPr lang="zh-CN" altLang="zh-CN" sz="1600" b="1" dirty="0">
                <a:solidFill>
                  <a:schemeClr val="tx1"/>
                </a:solidFill>
                <a:latin typeface="Times New Roman" panose="02020603050405020304" pitchFamily="18" charset="0"/>
                <a:ea typeface="+mn-ea"/>
              </a:rPr>
              <a:t>满足分配律</a:t>
            </a:r>
            <a:r>
              <a:rPr lang="en-US" altLang="zh-CN" sz="1600" b="1" dirty="0">
                <a:solidFill>
                  <a:schemeClr val="tx1"/>
                </a:solidFill>
                <a:latin typeface="Times New Roman" panose="02020603050405020304" pitchFamily="18" charset="0"/>
                <a:ea typeface="+mn-ea"/>
              </a:rPr>
              <a:t>, </a:t>
            </a:r>
            <a:r>
              <a:rPr lang="zh-CN" altLang="en-US" sz="1600" b="1" dirty="0">
                <a:solidFill>
                  <a:schemeClr val="tx1"/>
                </a:solidFill>
                <a:latin typeface="Times New Roman" panose="02020603050405020304" pitchFamily="18" charset="0"/>
                <a:ea typeface="+mn-ea"/>
              </a:rPr>
              <a:t>即对于所有</a:t>
            </a:r>
            <a:r>
              <a:rPr lang="en-US" altLang="zh-CN" sz="1600" b="1" dirty="0" err="1">
                <a:solidFill>
                  <a:schemeClr val="tx1"/>
                </a:solidFill>
                <a:latin typeface="Times New Roman" panose="02020603050405020304" pitchFamily="18" charset="0"/>
                <a:ea typeface="+mn-ea"/>
              </a:rPr>
              <a:t>a,b,c∈L</a:t>
            </a:r>
            <a:r>
              <a:rPr lang="zh-CN" altLang="en-US" sz="1600" b="1" dirty="0">
                <a:solidFill>
                  <a:schemeClr val="tx1"/>
                </a:solidFill>
                <a:latin typeface="Times New Roman" panose="02020603050405020304" pitchFamily="18" charset="0"/>
                <a:ea typeface="+mn-ea"/>
              </a:rPr>
              <a:t>有</a:t>
            </a:r>
            <a:r>
              <a:rPr lang="en-US" altLang="zh-CN" sz="1600" b="1" dirty="0">
                <a:solidFill>
                  <a:schemeClr val="tx1"/>
                </a:solidFill>
                <a:latin typeface="Times New Roman" panose="02020603050405020304" pitchFamily="18" charset="0"/>
                <a:ea typeface="+mn-ea"/>
              </a:rPr>
              <a:t>a∧(</a:t>
            </a:r>
            <a:r>
              <a:rPr lang="en-US" altLang="zh-CN" sz="1600" b="1" dirty="0" err="1">
                <a:solidFill>
                  <a:schemeClr val="tx1"/>
                </a:solidFill>
                <a:latin typeface="Times New Roman" panose="02020603050405020304" pitchFamily="18" charset="0"/>
                <a:ea typeface="+mn-ea"/>
              </a:rPr>
              <a:t>b∨c</a:t>
            </a:r>
            <a:r>
              <a:rPr lang="en-US" altLang="zh-CN" sz="1600" b="1" dirty="0">
                <a:solidFill>
                  <a:schemeClr val="tx1"/>
                </a:solidFill>
                <a:latin typeface="Times New Roman" panose="02020603050405020304" pitchFamily="18" charset="0"/>
                <a:ea typeface="+mn-ea"/>
              </a:rPr>
              <a:t>)=(</a:t>
            </a:r>
            <a:r>
              <a:rPr lang="en-US" altLang="zh-CN" sz="1600" b="1" dirty="0" err="1">
                <a:solidFill>
                  <a:schemeClr val="tx1"/>
                </a:solidFill>
                <a:latin typeface="Times New Roman" panose="02020603050405020304" pitchFamily="18" charset="0"/>
                <a:ea typeface="+mn-ea"/>
              </a:rPr>
              <a:t>a∧b</a:t>
            </a:r>
            <a:r>
              <a:rPr lang="en-US" altLang="zh-CN" sz="1600" b="1" dirty="0">
                <a:solidFill>
                  <a:schemeClr val="tx1"/>
                </a:solidFill>
                <a:latin typeface="Times New Roman" panose="02020603050405020304" pitchFamily="18" charset="0"/>
                <a:ea typeface="+mn-ea"/>
              </a:rPr>
              <a:t>)∨(</a:t>
            </a:r>
            <a:r>
              <a:rPr lang="en-US" altLang="zh-CN" sz="1600" b="1" dirty="0" err="1">
                <a:solidFill>
                  <a:schemeClr val="tx1"/>
                </a:solidFill>
                <a:latin typeface="Times New Roman" panose="02020603050405020304" pitchFamily="18" charset="0"/>
                <a:ea typeface="+mn-ea"/>
              </a:rPr>
              <a:t>a∧c</a:t>
            </a:r>
            <a:r>
              <a:rPr lang="en-US" altLang="zh-CN" sz="1600" b="1" dirty="0">
                <a:solidFill>
                  <a:schemeClr val="tx1"/>
                </a:solidFill>
                <a:latin typeface="Times New Roman" panose="02020603050405020304" pitchFamily="18" charset="0"/>
                <a:ea typeface="+mn-ea"/>
              </a:rPr>
              <a:t>)</a:t>
            </a:r>
            <a:r>
              <a:rPr lang="zh-CN" altLang="en-US" sz="1600" b="1" dirty="0">
                <a:solidFill>
                  <a:schemeClr val="tx1"/>
                </a:solidFill>
                <a:latin typeface="Times New Roman" panose="02020603050405020304" pitchFamily="18" charset="0"/>
                <a:ea typeface="+mn-ea"/>
              </a:rPr>
              <a:t>和</a:t>
            </a:r>
            <a:r>
              <a:rPr lang="en-US" altLang="zh-CN" sz="1600" b="1" dirty="0">
                <a:solidFill>
                  <a:schemeClr val="tx1"/>
                </a:solidFill>
                <a:latin typeface="Times New Roman" panose="02020603050405020304" pitchFamily="18" charset="0"/>
                <a:ea typeface="+mn-ea"/>
              </a:rPr>
              <a:t>a∨(</a:t>
            </a:r>
            <a:r>
              <a:rPr lang="en-US" altLang="zh-CN" sz="1600" b="1" dirty="0" err="1">
                <a:solidFill>
                  <a:schemeClr val="tx1"/>
                </a:solidFill>
                <a:latin typeface="Times New Roman" panose="02020603050405020304" pitchFamily="18" charset="0"/>
                <a:ea typeface="+mn-ea"/>
              </a:rPr>
              <a:t>b∧c</a:t>
            </a:r>
            <a:r>
              <a:rPr lang="en-US" altLang="zh-CN" sz="1600" b="1" dirty="0">
                <a:solidFill>
                  <a:schemeClr val="tx1"/>
                </a:solidFill>
                <a:latin typeface="Times New Roman" panose="02020603050405020304" pitchFamily="18" charset="0"/>
                <a:ea typeface="+mn-ea"/>
              </a:rPr>
              <a:t>)=(</a:t>
            </a:r>
            <a:r>
              <a:rPr lang="en-US" altLang="zh-CN" sz="1600" b="1" dirty="0" err="1">
                <a:solidFill>
                  <a:schemeClr val="tx1"/>
                </a:solidFill>
                <a:latin typeface="Times New Roman" panose="02020603050405020304" pitchFamily="18" charset="0"/>
                <a:ea typeface="+mn-ea"/>
              </a:rPr>
              <a:t>a∨b</a:t>
            </a:r>
            <a:r>
              <a:rPr lang="en-US" altLang="zh-CN" sz="1600" b="1" dirty="0">
                <a:solidFill>
                  <a:schemeClr val="tx1"/>
                </a:solidFill>
                <a:latin typeface="Times New Roman" panose="02020603050405020304" pitchFamily="18" charset="0"/>
                <a:ea typeface="+mn-ea"/>
              </a:rPr>
              <a:t>)∧(</a:t>
            </a:r>
            <a:r>
              <a:rPr lang="en-US" altLang="zh-CN" sz="1600" b="1" dirty="0" err="1">
                <a:solidFill>
                  <a:schemeClr val="tx1"/>
                </a:solidFill>
                <a:latin typeface="Times New Roman" panose="02020603050405020304" pitchFamily="18" charset="0"/>
                <a:ea typeface="+mn-ea"/>
              </a:rPr>
              <a:t>a∨c</a:t>
            </a:r>
            <a:r>
              <a:rPr lang="en-US" altLang="zh-CN" sz="1600" b="1" dirty="0">
                <a:solidFill>
                  <a:schemeClr val="tx1"/>
                </a:solidFill>
                <a:latin typeface="Times New Roman" panose="02020603050405020304" pitchFamily="18" charset="0"/>
                <a:ea typeface="+mn-ea"/>
              </a:rPr>
              <a:t>)</a:t>
            </a:r>
            <a:r>
              <a:rPr lang="zh-CN" altLang="en-US" sz="1600" b="1" dirty="0">
                <a:solidFill>
                  <a:schemeClr val="tx1"/>
                </a:solidFill>
                <a:latin typeface="Times New Roman" panose="02020603050405020304" pitchFamily="18" charset="0"/>
                <a:ea typeface="+mn-ea"/>
              </a:rPr>
              <a:t>成立</a:t>
            </a:r>
            <a:r>
              <a:rPr lang="en-US" altLang="zh-CN" sz="1600" b="1" dirty="0">
                <a:solidFill>
                  <a:schemeClr val="tx1"/>
                </a:solidFill>
                <a:latin typeface="Times New Roman" panose="02020603050405020304" pitchFamily="18" charset="0"/>
                <a:ea typeface="+mn-ea"/>
              </a:rPr>
              <a:t>.</a:t>
            </a:r>
          </a:p>
          <a:p>
            <a:pPr marL="342900" indent="-342900" eaLnBrk="1" hangingPunct="1">
              <a:lnSpc>
                <a:spcPct val="120000"/>
              </a:lnSpc>
              <a:buFont typeface="Wingdings" panose="05000000000000000000" pitchFamily="2" charset="2"/>
              <a:buChar char="Ø"/>
            </a:pPr>
            <a:r>
              <a:rPr lang="zh-CN" altLang="en-US" sz="1600" b="1" dirty="0">
                <a:solidFill>
                  <a:srgbClr val="00B0F0"/>
                </a:solidFill>
                <a:latin typeface="Times New Roman" panose="02020603050405020304" pitchFamily="18" charset="0"/>
                <a:ea typeface="+mn-ea"/>
              </a:rPr>
              <a:t>有补分配格</a:t>
            </a:r>
            <a:r>
              <a:rPr lang="zh-CN" altLang="zh-CN" sz="1600" b="1" dirty="0">
                <a:solidFill>
                  <a:schemeClr val="tx1"/>
                </a:solidFill>
                <a:latin typeface="Times New Roman" panose="02020603050405020304" pitchFamily="18" charset="0"/>
                <a:ea typeface="+mn-ea"/>
                <a:cs typeface="Times New Roman" panose="02020603050405020304" pitchFamily="18" charset="0"/>
              </a:rPr>
              <a:t>要求不仅存在补元</a:t>
            </a:r>
            <a:r>
              <a:rPr lang="en-US" altLang="zh-CN" sz="1600" b="1" dirty="0">
                <a:solidFill>
                  <a:schemeClr val="tx1"/>
                </a:solidFill>
                <a:latin typeface="Times New Roman" panose="02020603050405020304" pitchFamily="18" charset="0"/>
                <a:ea typeface="+mn-ea"/>
                <a:cs typeface="Times New Roman" panose="02020603050405020304" pitchFamily="18" charset="0"/>
              </a:rPr>
              <a:t>,</a:t>
            </a:r>
            <a:r>
              <a:rPr lang="zh-CN" altLang="zh-CN" sz="1600" b="1" dirty="0">
                <a:solidFill>
                  <a:schemeClr val="tx1"/>
                </a:solidFill>
                <a:latin typeface="Times New Roman" panose="02020603050405020304" pitchFamily="18" charset="0"/>
                <a:ea typeface="+mn-ea"/>
                <a:cs typeface="Times New Roman" panose="02020603050405020304" pitchFamily="18" charset="0"/>
              </a:rPr>
              <a:t>而且补元必须唯一</a:t>
            </a:r>
            <a:r>
              <a:rPr lang="en-US" altLang="zh-CN" sz="1600" b="1" dirty="0">
                <a:solidFill>
                  <a:schemeClr val="tx1"/>
                </a:solidFill>
                <a:latin typeface="Times New Roman" panose="02020603050405020304" pitchFamily="18" charset="0"/>
                <a:ea typeface="+mn-ea"/>
                <a:cs typeface="Times New Roman" panose="02020603050405020304" pitchFamily="18" charset="0"/>
              </a:rPr>
              <a:t>.</a:t>
            </a:r>
          </a:p>
          <a:p>
            <a:pPr marL="342900" indent="-342900" eaLnBrk="1" hangingPunct="1">
              <a:lnSpc>
                <a:spcPct val="120000"/>
              </a:lnSpc>
              <a:buFont typeface="Wingdings" panose="05000000000000000000" pitchFamily="2" charset="2"/>
              <a:buChar char="Ø"/>
            </a:pPr>
            <a:r>
              <a:rPr lang="zh-CN" altLang="en-US" sz="1600" b="1" dirty="0">
                <a:solidFill>
                  <a:srgbClr val="00B0F0"/>
                </a:solidFill>
                <a:latin typeface="Times New Roman" panose="02020603050405020304" pitchFamily="18" charset="0"/>
                <a:ea typeface="+mn-ea"/>
              </a:rPr>
              <a:t>布尔格</a:t>
            </a:r>
            <a:r>
              <a:rPr lang="en-US" altLang="zh-CN" sz="1600" b="1" dirty="0">
                <a:solidFill>
                  <a:srgbClr val="00B0F0"/>
                </a:solidFill>
                <a:latin typeface="Times New Roman" panose="02020603050405020304" pitchFamily="18" charset="0"/>
                <a:ea typeface="+mn-ea"/>
              </a:rPr>
              <a:t>(</a:t>
            </a:r>
            <a:r>
              <a:rPr lang="zh-CN" altLang="en-US" sz="1600" b="1" dirty="0">
                <a:solidFill>
                  <a:srgbClr val="00B0F0"/>
                </a:solidFill>
                <a:latin typeface="Times New Roman" panose="02020603050405020304" pitchFamily="18" charset="0"/>
                <a:ea typeface="+mn-ea"/>
              </a:rPr>
              <a:t>代数</a:t>
            </a:r>
            <a:r>
              <a:rPr lang="en-US" altLang="zh-CN" sz="1600" b="1" dirty="0">
                <a:solidFill>
                  <a:srgbClr val="00B0F0"/>
                </a:solidFill>
                <a:latin typeface="Times New Roman" panose="02020603050405020304" pitchFamily="18" charset="0"/>
                <a:ea typeface="+mn-ea"/>
              </a:rPr>
              <a:t>)</a:t>
            </a:r>
            <a:r>
              <a:rPr lang="zh-CN" altLang="en-US" sz="1600" b="1" dirty="0">
                <a:solidFill>
                  <a:schemeClr val="tx1"/>
                </a:solidFill>
                <a:latin typeface="Times New Roman" panose="02020603050405020304" pitchFamily="18" charset="0"/>
                <a:ea typeface="+mn-ea"/>
              </a:rPr>
              <a:t>中可以把求补元的运算看作是布尔代数中的一元运算</a:t>
            </a:r>
            <a:r>
              <a:rPr lang="en-US" altLang="zh-CN" sz="1600" b="1" dirty="0">
                <a:solidFill>
                  <a:schemeClr val="tx1"/>
                </a:solidFill>
                <a:latin typeface="Times New Roman" panose="02020603050405020304" pitchFamily="18" charset="0"/>
                <a:ea typeface="+mn-ea"/>
              </a:rPr>
              <a:t>.</a:t>
            </a:r>
          </a:p>
          <a:p>
            <a:pPr marL="342900" indent="-342900" eaLnBrk="1" hangingPunct="1">
              <a:lnSpc>
                <a:spcPct val="120000"/>
              </a:lnSpc>
              <a:buFont typeface="Wingdings" panose="05000000000000000000" pitchFamily="2" charset="2"/>
              <a:buChar char="Ø"/>
            </a:pPr>
            <a:r>
              <a:rPr lang="en-US" altLang="zh-CN" sz="1600" b="1" dirty="0">
                <a:solidFill>
                  <a:schemeClr val="tx1"/>
                </a:solidFill>
                <a:latin typeface="Times New Roman" panose="02020603050405020304" pitchFamily="18" charset="0"/>
                <a:ea typeface="+mn-ea"/>
              </a:rPr>
              <a:t> </a:t>
            </a:r>
            <a:r>
              <a:rPr lang="zh-CN" altLang="en-US" sz="1600" b="1" dirty="0">
                <a:solidFill>
                  <a:schemeClr val="tx1"/>
                </a:solidFill>
                <a:latin typeface="Times New Roman" panose="02020603050405020304" pitchFamily="18" charset="0"/>
                <a:ea typeface="+mn-ea"/>
              </a:rPr>
              <a:t>通常将布尔代数标记为</a:t>
            </a:r>
            <a:r>
              <a:rPr lang="en-US" altLang="zh-CN" sz="1600" b="1" dirty="0">
                <a:solidFill>
                  <a:schemeClr val="tx1"/>
                </a:solidFill>
                <a:latin typeface="Times New Roman" panose="02020603050405020304" pitchFamily="18" charset="0"/>
                <a:ea typeface="+mn-ea"/>
              </a:rPr>
              <a:t>&lt;</a:t>
            </a:r>
            <a:r>
              <a:rPr lang="en-US" altLang="zh-CN" sz="1600" b="1" i="1" dirty="0">
                <a:solidFill>
                  <a:schemeClr val="tx1"/>
                </a:solidFill>
                <a:latin typeface="Times New Roman" panose="02020603050405020304" pitchFamily="18" charset="0"/>
                <a:ea typeface="+mn-ea"/>
              </a:rPr>
              <a:t>B</a:t>
            </a:r>
            <a:r>
              <a:rPr lang="en-US" altLang="zh-CN" sz="1600" b="1" dirty="0">
                <a:solidFill>
                  <a:schemeClr val="tx1"/>
                </a:solidFill>
                <a:latin typeface="Times New Roman" panose="02020603050405020304" pitchFamily="18" charset="0"/>
                <a:ea typeface="+mn-ea"/>
              </a:rPr>
              <a:t>,∧,∨,</a:t>
            </a:r>
            <a:r>
              <a:rPr lang="en-US" altLang="zh-CN" sz="1600" b="1" dirty="0">
                <a:solidFill>
                  <a:schemeClr val="tx1"/>
                </a:solidFill>
                <a:latin typeface="Times New Roman" panose="02020603050405020304" pitchFamily="18" charset="0"/>
                <a:ea typeface="+mn-ea"/>
                <a:sym typeface="Symbol" panose="05050102010706020507" pitchFamily="18" charset="2"/>
              </a:rPr>
              <a:t></a:t>
            </a:r>
            <a:r>
              <a:rPr lang="en-US" altLang="zh-CN" sz="1600" b="1" dirty="0">
                <a:solidFill>
                  <a:schemeClr val="tx1"/>
                </a:solidFill>
                <a:latin typeface="Times New Roman" panose="02020603050405020304" pitchFamily="18" charset="0"/>
                <a:ea typeface="+mn-ea"/>
              </a:rPr>
              <a:t>, 0, 1&gt;, </a:t>
            </a:r>
            <a:r>
              <a:rPr lang="zh-CN" altLang="en-US" sz="1600" b="1" dirty="0">
                <a:solidFill>
                  <a:schemeClr val="tx1"/>
                </a:solidFill>
                <a:latin typeface="Times New Roman" panose="02020603050405020304" pitchFamily="18" charset="0"/>
                <a:ea typeface="+mn-ea"/>
                <a:sym typeface="Symbol" panose="05050102010706020507" pitchFamily="18" charset="2"/>
              </a:rPr>
              <a:t>其中 </a:t>
            </a:r>
            <a:r>
              <a:rPr lang="zh-CN" altLang="en-US" sz="1600" b="1" dirty="0">
                <a:solidFill>
                  <a:schemeClr val="tx1"/>
                </a:solidFill>
                <a:latin typeface="Times New Roman" panose="02020603050405020304" pitchFamily="18" charset="0"/>
                <a:ea typeface="+mn-ea"/>
              </a:rPr>
              <a:t> </a:t>
            </a:r>
            <a:r>
              <a:rPr lang="zh-CN" altLang="en-US" sz="1600" b="1" dirty="0">
                <a:solidFill>
                  <a:schemeClr val="tx1"/>
                </a:solidFill>
                <a:latin typeface="Times New Roman" panose="02020603050405020304" pitchFamily="18" charset="0"/>
                <a:ea typeface="+mn-ea"/>
                <a:sym typeface="Symbol" panose="05050102010706020507" pitchFamily="18" charset="2"/>
              </a:rPr>
              <a:t>为求补运算</a:t>
            </a:r>
            <a:r>
              <a:rPr lang="en-US" altLang="zh-CN" sz="1600" b="1" dirty="0">
                <a:solidFill>
                  <a:schemeClr val="tx1"/>
                </a:solidFill>
                <a:latin typeface="Times New Roman" panose="02020603050405020304" pitchFamily="18" charset="0"/>
                <a:ea typeface="+mn-ea"/>
                <a:sym typeface="Symbol" panose="05050102010706020507" pitchFamily="18" charset="2"/>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148</a:t>
            </a:fld>
            <a:endParaRPr lang="zh-CN" altLang="en-US"/>
          </a:p>
        </p:txBody>
      </p:sp>
    </p:spTree>
    <p:extLst>
      <p:ext uri="{BB962C8B-B14F-4D97-AF65-F5344CB8AC3E}">
        <p14:creationId xmlns:p14="http://schemas.microsoft.com/office/powerpoint/2010/main" val="3957772304"/>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在布尔代数中，每个元素的补元是唯一的。这是因为补元的定义和布尔代数的性质（</a:t>
            </a:r>
            <a:r>
              <a:rPr lang="zh-CN" altLang="zh-CN" sz="1800" kern="100" dirty="0">
                <a:solidFill>
                  <a:srgbClr val="0D0D0D"/>
                </a:solidFill>
                <a:effectLst/>
                <a:highlight>
                  <a:srgbClr val="FFFF00"/>
                </a:highlight>
                <a:latin typeface="Segoe UI" panose="020B0502040204020203" pitchFamily="34" charset="0"/>
                <a:ea typeface="宋体" panose="02010600030101010101" pitchFamily="2" charset="-122"/>
                <a:cs typeface="Segoe UI" panose="020B0502040204020203" pitchFamily="34" charset="0"/>
              </a:rPr>
              <a:t>包括交换律、结合律和分配律</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）共同保证了补元的唯一性。</a:t>
            </a:r>
            <a:endParaRPr lang="en-US"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B0F0"/>
                </a:solidFill>
                <a:latin typeface="Times New Roman" panose="02020603050405020304" pitchFamily="18" charset="0"/>
                <a:ea typeface="+mn-ea"/>
                <a:sym typeface="Symbol" panose="05050102010706020507" pitchFamily="18" charset="2"/>
              </a:rPr>
              <a:t>例</a:t>
            </a:r>
            <a:r>
              <a:rPr lang="en-US" altLang="zh-CN" sz="1800" b="1" dirty="0">
                <a:solidFill>
                  <a:srgbClr val="00B0F0"/>
                </a:solidFill>
                <a:latin typeface="Times New Roman" panose="02020603050405020304" pitchFamily="18" charset="0"/>
                <a:ea typeface="+mn-ea"/>
                <a:sym typeface="Symbol" panose="05050102010706020507" pitchFamily="18" charset="2"/>
              </a:rPr>
              <a:t>:</a:t>
            </a:r>
            <a:r>
              <a:rPr lang="zh-CN" altLang="en-US" sz="1800" b="1" dirty="0">
                <a:solidFill>
                  <a:schemeClr val="tx1"/>
                </a:solidFill>
                <a:latin typeface="Times New Roman" panose="02020603050405020304" pitchFamily="18" charset="0"/>
                <a:ea typeface="+mn-ea"/>
                <a:sym typeface="Symbol" panose="05050102010706020507" pitchFamily="18" charset="2"/>
              </a:rPr>
              <a:t>判断幂集格</a:t>
            </a:r>
            <a:r>
              <a:rPr lang="en-US" altLang="zh-CN" sz="1800" b="1" i="1" dirty="0">
                <a:solidFill>
                  <a:schemeClr val="tx1"/>
                </a:solidFill>
                <a:latin typeface="Times New Roman" panose="02020603050405020304" pitchFamily="18" charset="0"/>
                <a:ea typeface="+mn-ea"/>
                <a:sym typeface="Symbol" panose="05050102010706020507" pitchFamily="18" charset="2"/>
              </a:rPr>
              <a:t>P</a:t>
            </a:r>
            <a:r>
              <a:rPr lang="en-US" altLang="zh-CN" sz="1800" b="1" dirty="0">
                <a:solidFill>
                  <a:schemeClr val="tx1"/>
                </a:solidFill>
                <a:latin typeface="Times New Roman" panose="02020603050405020304" pitchFamily="18" charset="0"/>
                <a:ea typeface="+mn-ea"/>
                <a:sym typeface="Symbol" panose="05050102010706020507" pitchFamily="18" charset="2"/>
              </a:rPr>
              <a:t>(</a:t>
            </a:r>
            <a:r>
              <a:rPr lang="en-US" altLang="zh-CN" sz="1800" b="1" i="1" dirty="0">
                <a:solidFill>
                  <a:schemeClr val="tx1"/>
                </a:solidFill>
                <a:latin typeface="Times New Roman" panose="02020603050405020304" pitchFamily="18" charset="0"/>
                <a:ea typeface="+mn-ea"/>
                <a:sym typeface="Symbol" panose="05050102010706020507" pitchFamily="18" charset="2"/>
              </a:rPr>
              <a:t>B</a:t>
            </a:r>
            <a:r>
              <a:rPr lang="en-US" altLang="zh-CN" sz="1800" b="1" dirty="0">
                <a:solidFill>
                  <a:schemeClr val="tx1"/>
                </a:solidFill>
                <a:latin typeface="Times New Roman" panose="02020603050405020304" pitchFamily="18" charset="0"/>
                <a:ea typeface="+mn-ea"/>
                <a:sym typeface="Symbol" panose="05050102010706020507" pitchFamily="18" charset="2"/>
              </a:rPr>
              <a:t>)</a:t>
            </a:r>
            <a:r>
              <a:rPr lang="zh-CN" altLang="en-US" sz="1800" b="1" dirty="0">
                <a:solidFill>
                  <a:schemeClr val="tx1"/>
                </a:solidFill>
                <a:latin typeface="Times New Roman" panose="02020603050405020304" pitchFamily="18" charset="0"/>
                <a:ea typeface="+mn-ea"/>
                <a:sym typeface="Symbol" panose="05050102010706020507" pitchFamily="18" charset="2"/>
              </a:rPr>
              <a:t>是布尔代数</a:t>
            </a:r>
            <a:r>
              <a:rPr lang="en-US" altLang="zh-CN" sz="1800" b="1" dirty="0">
                <a:solidFill>
                  <a:schemeClr val="tx1"/>
                </a:solidFill>
                <a:latin typeface="Times New Roman" panose="02020603050405020304" pitchFamily="18" charset="0"/>
                <a:ea typeface="+mn-ea"/>
                <a:sym typeface="Symbol" panose="05050102010706020507" pitchFamily="18" charset="2"/>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ea typeface="+mn-ea"/>
                <a:sym typeface="Symbol" panose="05050102010706020507" pitchFamily="18" charset="2"/>
              </a:rPr>
              <a:t>(1)</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判断</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是格</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中任意两个子集</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都存在</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最小上界</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最大下界</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属于</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满足格</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定义</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ea typeface="+mn-ea"/>
                <a:sym typeface="Symbol" panose="05050102010706020507" pitchFamily="18" charset="2"/>
              </a:rPr>
              <a:t>(2)</a:t>
            </a:r>
            <a:r>
              <a:rPr lang="zh-CN" altLang="en-US" sz="1200" b="1" dirty="0">
                <a:solidFill>
                  <a:schemeClr val="tx1"/>
                </a:solidFill>
                <a:latin typeface="Times New Roman" panose="02020603050405020304" pitchFamily="18" charset="0"/>
                <a:ea typeface="+mn-ea"/>
                <a:sym typeface="Symbol" panose="05050102010706020507" pitchFamily="18" charset="2"/>
              </a:rPr>
              <a:t>判断</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是分配格</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中任意三个</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元素</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都满足并集∪和交集</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运算的</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分配律</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满足分配格定义</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ea typeface="+mn-ea"/>
                <a:sym typeface="Symbol" panose="05050102010706020507" pitchFamily="18" charset="2"/>
              </a:rPr>
              <a:t>(3)</a:t>
            </a:r>
            <a:r>
              <a:rPr lang="zh-CN" altLang="en-US" sz="1200" b="1" dirty="0">
                <a:solidFill>
                  <a:schemeClr val="tx1"/>
                </a:solidFill>
                <a:latin typeface="Times New Roman" panose="02020603050405020304" pitchFamily="18" charset="0"/>
                <a:ea typeface="+mn-ea"/>
                <a:sym typeface="Symbol" panose="05050102010706020507" pitchFamily="18" charset="2"/>
              </a:rPr>
              <a:t>判断</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是有补格</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中每个子集</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,存在补集</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baseline="30000" dirty="0">
                <a:solidFill>
                  <a:schemeClr val="tx1"/>
                </a:solidFill>
                <a:effectLst/>
                <a:latin typeface="Times New Roman" panose="02020603050405020304" pitchFamily="18" charset="0"/>
                <a:ea typeface="+mn-ea"/>
                <a:cs typeface="Times New Roman" panose="02020603050405020304" pitchFamily="18" charset="0"/>
              </a:rPr>
              <a:t>c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使得</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baseline="30000" dirty="0">
                <a:solidFill>
                  <a:schemeClr val="tx1"/>
                </a:solidFill>
                <a:effectLst/>
                <a:latin typeface="Times New Roman" panose="02020603050405020304" pitchFamily="18" charset="0"/>
                <a:ea typeface="+mn-ea"/>
                <a:cs typeface="Times New Roman" panose="02020603050405020304" pitchFamily="18" charset="0"/>
              </a:rPr>
              <a:t>c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=∅(全下界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baseline="30000" dirty="0">
                <a:solidFill>
                  <a:schemeClr val="tx1"/>
                </a:solidFill>
                <a:effectLst/>
                <a:latin typeface="Times New Roman" panose="02020603050405020304" pitchFamily="18" charset="0"/>
                <a:ea typeface="+mn-ea"/>
                <a:cs typeface="Times New Roman" panose="02020603050405020304" pitchFamily="18" charset="0"/>
              </a:rPr>
              <a:t>c</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(全上界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成立</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kern="100" dirty="0">
                <a:solidFill>
                  <a:srgbClr val="FF0000"/>
                </a:solidFill>
                <a:effectLst/>
                <a:latin typeface="Times New Roman" panose="02020603050405020304" pitchFamily="18" charset="0"/>
                <a:ea typeface="+mn-ea"/>
                <a:cs typeface="Times New Roman" panose="02020603050405020304" pitchFamily="18" charset="0"/>
              </a:rPr>
              <a:t>满足有补格</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定义</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ea typeface="+mn-ea"/>
                <a:sym typeface="Symbol" panose="05050102010706020507" pitchFamily="18" charset="2"/>
              </a:rPr>
              <a:t>(4)</a:t>
            </a:r>
            <a:r>
              <a:rPr lang="zh-CN" altLang="en-US" sz="1200" b="1" dirty="0">
                <a:solidFill>
                  <a:schemeClr val="tx1"/>
                </a:solidFill>
                <a:latin typeface="Times New Roman" panose="02020603050405020304" pitchFamily="18" charset="0"/>
                <a:ea typeface="+mn-ea"/>
                <a:sym typeface="Symbol" panose="05050102010706020507" pitchFamily="18" charset="2"/>
              </a:rPr>
              <a:t>判断</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是布尔格</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中,</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已知</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P</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是一个格、分配格和有补格</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故幂集格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P(B)</a:t>
            </a:r>
            <a:r>
              <a:rPr lang="zh-CN" altLang="zh-CN" sz="1200" b="1" i="1"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dirty="0">
                <a:solidFill>
                  <a:srgbClr val="FF0000"/>
                </a:solidFill>
                <a:effectLst/>
                <a:latin typeface="Times New Roman" panose="02020603050405020304" pitchFamily="18" charset="0"/>
                <a:ea typeface="+mn-ea"/>
                <a:cs typeface="Times New Roman" panose="02020603050405020304" pitchFamily="18" charset="0"/>
              </a:rPr>
              <a:t>是一个布尔格</a:t>
            </a:r>
            <a:r>
              <a:rPr lang="en-US" altLang="zh-CN" sz="1200" b="1" dirty="0">
                <a:solidFill>
                  <a:srgbClr val="FF0000"/>
                </a:solidFill>
                <a:effectLst/>
                <a:latin typeface="Times New Roman" panose="02020603050405020304" pitchFamily="18" charset="0"/>
                <a:ea typeface="+mn-ea"/>
                <a:cs typeface="Times New Roman" panose="02020603050405020304" pitchFamily="18" charset="0"/>
              </a:rPr>
              <a:t>(</a:t>
            </a:r>
            <a:r>
              <a:rPr lang="zh-CN" altLang="zh-CN" sz="1200" b="1" dirty="0">
                <a:solidFill>
                  <a:srgbClr val="FF0000"/>
                </a:solidFill>
                <a:effectLst/>
                <a:latin typeface="Times New Roman" panose="02020603050405020304" pitchFamily="18" charset="0"/>
                <a:ea typeface="+mn-ea"/>
                <a:cs typeface="Times New Roman" panose="02020603050405020304" pitchFamily="18" charset="0"/>
              </a:rPr>
              <a:t>布尔代数</a:t>
            </a:r>
            <a:r>
              <a:rPr lang="en-US" altLang="zh-CN" sz="1200" b="1" dirty="0">
                <a:solidFill>
                  <a:srgbClr val="FF0000"/>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rgbClr val="FF0000"/>
                </a:solidFill>
                <a:effectLst/>
                <a:latin typeface="Times New Roman" panose="02020603050405020304" pitchFamily="18" charset="0"/>
                <a:ea typeface="+mn-ea"/>
                <a:cs typeface="Times New Roman" panose="02020603050405020304" pitchFamily="18" charset="0"/>
              </a:rPr>
              <a:t> </a:t>
            </a:r>
            <a:endParaRPr lang="en-US" altLang="zh-CN" sz="12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mn-ea"/>
                <a:sym typeface="Symbol" panose="05050102010706020507" pitchFamily="18" charset="2"/>
              </a:rPr>
              <a:t>注</a:t>
            </a:r>
            <a:r>
              <a:rPr lang="en-US" altLang="zh-CN" sz="1200" b="1" dirty="0">
                <a:solidFill>
                  <a:srgbClr val="00B0F0"/>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布尔格</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中补元的唯一性可通过</a:t>
            </a:r>
            <a:r>
              <a:rPr lang="zh-CN" altLang="zh-CN" sz="1200" b="1" dirty="0">
                <a:solidFill>
                  <a:schemeClr val="tx1"/>
                </a:solidFill>
                <a:latin typeface="Times New Roman" panose="02020603050405020304" pitchFamily="18" charset="0"/>
                <a:ea typeface="+mn-ea"/>
              </a:rPr>
              <a:t>布尔代数的性质</a:t>
            </a:r>
            <a:r>
              <a:rPr lang="en-US" altLang="zh-CN" sz="1200" b="1" dirty="0">
                <a:solidFill>
                  <a:schemeClr val="tx1"/>
                </a:solidFill>
                <a:latin typeface="Times New Roman" panose="02020603050405020304" pitchFamily="18" charset="0"/>
                <a:ea typeface="+mn-ea"/>
              </a:rPr>
              <a:t>(</a:t>
            </a:r>
            <a:r>
              <a:rPr lang="zh-CN" altLang="zh-CN" sz="1200" b="1" dirty="0">
                <a:solidFill>
                  <a:schemeClr val="tx1"/>
                </a:solidFill>
                <a:latin typeface="Times New Roman" panose="02020603050405020304" pitchFamily="18" charset="0"/>
                <a:ea typeface="+mn-ea"/>
              </a:rPr>
              <a:t>交换律、结合律和分配律</a:t>
            </a:r>
            <a:r>
              <a:rPr lang="en-US" altLang="zh-CN"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rPr>
              <a:t>得到证明</a:t>
            </a:r>
            <a:r>
              <a:rPr lang="en-US" altLang="zh-CN" sz="1200" b="1" dirty="0">
                <a:solidFill>
                  <a:schemeClr val="tx1"/>
                </a:solidFill>
                <a:latin typeface="Times New Roman" panose="02020603050405020304" pitchFamily="18" charset="0"/>
                <a:ea typeface="+mn-ea"/>
              </a:rPr>
              <a:t>.</a:t>
            </a:r>
            <a:r>
              <a:rPr lang="zh-CN" altLang="zh-CN" sz="1200" b="1" dirty="0">
                <a:solidFill>
                  <a:schemeClr val="tx1"/>
                </a:solidFill>
                <a:latin typeface="Times New Roman" panose="02020603050405020304" pitchFamily="18" charset="0"/>
                <a:ea typeface="+mn-ea"/>
              </a:rPr>
              <a:t> </a:t>
            </a:r>
            <a:endParaRPr lang="en-US" altLang="zh-CN" sz="1200" b="1" dirty="0">
              <a:solidFill>
                <a:schemeClr val="tx1"/>
              </a:solidFill>
              <a:latin typeface="Times New Roman" panose="02020603050405020304" pitchFamily="18" charset="0"/>
              <a:ea typeface="+mn-ea"/>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149</a:t>
            </a:fld>
            <a:endParaRPr lang="zh-CN" altLang="en-US"/>
          </a:p>
        </p:txBody>
      </p:sp>
    </p:spTree>
    <p:extLst>
      <p:ext uri="{BB962C8B-B14F-4D97-AF65-F5344CB8AC3E}">
        <p14:creationId xmlns:p14="http://schemas.microsoft.com/office/powerpoint/2010/main" val="32756505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在布尔代数中，每个元素的补元是唯一的。这是因为补元的定义和布尔代数的性质（</a:t>
            </a:r>
            <a:r>
              <a:rPr lang="zh-CN" altLang="zh-CN" sz="1800" kern="100" dirty="0">
                <a:solidFill>
                  <a:srgbClr val="0D0D0D"/>
                </a:solidFill>
                <a:effectLst/>
                <a:highlight>
                  <a:srgbClr val="FFFF00"/>
                </a:highlight>
                <a:latin typeface="Segoe UI" panose="020B0502040204020203" pitchFamily="34" charset="0"/>
                <a:ea typeface="宋体" panose="02010600030101010101" pitchFamily="2" charset="-122"/>
                <a:cs typeface="Segoe UI" panose="020B0502040204020203" pitchFamily="34" charset="0"/>
              </a:rPr>
              <a:t>包括交换律、结合律和分配律</a:t>
            </a:r>
            <a:r>
              <a:rPr lang="zh-CN"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rPr>
              <a:t>）共同保证了补元的唯一性。</a:t>
            </a:r>
            <a:endParaRPr lang="en-US" altLang="zh-CN" sz="1800" kern="100" dirty="0">
              <a:solidFill>
                <a:srgbClr val="0D0D0D"/>
              </a:solidFill>
              <a:effectLst/>
              <a:latin typeface="Segoe UI" panose="020B0502040204020203" pitchFamily="34" charset="0"/>
              <a:ea typeface="宋体" panose="02010600030101010101" pitchFamily="2" charset="-122"/>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B0F0"/>
                </a:solidFill>
                <a:latin typeface="Times New Roman" panose="02020603050405020304" pitchFamily="18" charset="0"/>
                <a:ea typeface="+mn-ea"/>
                <a:sym typeface="Symbol" panose="05050102010706020507" pitchFamily="18" charset="2"/>
              </a:rPr>
              <a:t>例</a:t>
            </a:r>
            <a:r>
              <a:rPr lang="en-US" altLang="zh-CN" sz="1800" b="1" dirty="0">
                <a:solidFill>
                  <a:srgbClr val="00B0F0"/>
                </a:solidFill>
                <a:latin typeface="Times New Roman" panose="02020603050405020304" pitchFamily="18" charset="0"/>
                <a:ea typeface="+mn-ea"/>
                <a:sym typeface="Symbol" panose="05050102010706020507" pitchFamily="18" charset="2"/>
              </a:rPr>
              <a:t>:</a:t>
            </a:r>
            <a:r>
              <a:rPr lang="zh-CN" altLang="en-US" sz="1800" b="1" dirty="0">
                <a:solidFill>
                  <a:schemeClr val="tx1"/>
                </a:solidFill>
                <a:latin typeface="Times New Roman" panose="02020603050405020304" pitchFamily="18" charset="0"/>
                <a:ea typeface="+mn-ea"/>
                <a:sym typeface="Symbol" panose="05050102010706020507" pitchFamily="18" charset="2"/>
              </a:rPr>
              <a:t>判断幂集格</a:t>
            </a:r>
            <a:r>
              <a:rPr lang="en-US" altLang="zh-CN" sz="1800" b="1" i="1" dirty="0">
                <a:solidFill>
                  <a:schemeClr val="tx1"/>
                </a:solidFill>
                <a:latin typeface="Times New Roman" panose="02020603050405020304" pitchFamily="18" charset="0"/>
                <a:ea typeface="+mn-ea"/>
                <a:sym typeface="Symbol" panose="05050102010706020507" pitchFamily="18" charset="2"/>
              </a:rPr>
              <a:t>P</a:t>
            </a:r>
            <a:r>
              <a:rPr lang="en-US" altLang="zh-CN" sz="1800" b="1" dirty="0">
                <a:solidFill>
                  <a:schemeClr val="tx1"/>
                </a:solidFill>
                <a:latin typeface="Times New Roman" panose="02020603050405020304" pitchFamily="18" charset="0"/>
                <a:ea typeface="+mn-ea"/>
                <a:sym typeface="Symbol" panose="05050102010706020507" pitchFamily="18" charset="2"/>
              </a:rPr>
              <a:t>(</a:t>
            </a:r>
            <a:r>
              <a:rPr lang="en-US" altLang="zh-CN" sz="1800" b="1" i="1" dirty="0">
                <a:solidFill>
                  <a:schemeClr val="tx1"/>
                </a:solidFill>
                <a:latin typeface="Times New Roman" panose="02020603050405020304" pitchFamily="18" charset="0"/>
                <a:ea typeface="+mn-ea"/>
                <a:sym typeface="Symbol" panose="05050102010706020507" pitchFamily="18" charset="2"/>
              </a:rPr>
              <a:t>B</a:t>
            </a:r>
            <a:r>
              <a:rPr lang="en-US" altLang="zh-CN" sz="1800" b="1" dirty="0">
                <a:solidFill>
                  <a:schemeClr val="tx1"/>
                </a:solidFill>
                <a:latin typeface="Times New Roman" panose="02020603050405020304" pitchFamily="18" charset="0"/>
                <a:ea typeface="+mn-ea"/>
                <a:sym typeface="Symbol" panose="05050102010706020507" pitchFamily="18" charset="2"/>
              </a:rPr>
              <a:t>)</a:t>
            </a:r>
            <a:r>
              <a:rPr lang="zh-CN" altLang="en-US" sz="1800" b="1" dirty="0">
                <a:solidFill>
                  <a:schemeClr val="tx1"/>
                </a:solidFill>
                <a:latin typeface="Times New Roman" panose="02020603050405020304" pitchFamily="18" charset="0"/>
                <a:ea typeface="+mn-ea"/>
                <a:sym typeface="Symbol" panose="05050102010706020507" pitchFamily="18" charset="2"/>
              </a:rPr>
              <a:t>是布尔代数</a:t>
            </a:r>
            <a:r>
              <a:rPr lang="en-US" altLang="zh-CN" sz="1800" b="1" dirty="0">
                <a:solidFill>
                  <a:schemeClr val="tx1"/>
                </a:solidFill>
                <a:latin typeface="Times New Roman" panose="02020603050405020304" pitchFamily="18" charset="0"/>
                <a:ea typeface="+mn-ea"/>
                <a:sym typeface="Symbol" panose="05050102010706020507" pitchFamily="18" charset="2"/>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ea typeface="+mn-ea"/>
                <a:sym typeface="Symbol" panose="05050102010706020507" pitchFamily="18" charset="2"/>
              </a:rPr>
              <a:t>(1)</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判断</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是格</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中任意两个子集</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都存在</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最小上界</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最大下界</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属于</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B</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满足格</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定义</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ea typeface="+mn-ea"/>
                <a:sym typeface="Symbol" panose="05050102010706020507" pitchFamily="18" charset="2"/>
              </a:rPr>
              <a:t>(2)</a:t>
            </a:r>
            <a:r>
              <a:rPr lang="zh-CN" altLang="en-US" sz="1200" b="1" dirty="0">
                <a:solidFill>
                  <a:schemeClr val="tx1"/>
                </a:solidFill>
                <a:latin typeface="Times New Roman" panose="02020603050405020304" pitchFamily="18" charset="0"/>
                <a:ea typeface="+mn-ea"/>
                <a:sym typeface="Symbol" panose="05050102010706020507" pitchFamily="18" charset="2"/>
              </a:rPr>
              <a:t>判断</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是分配格</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中任意三个</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元素</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都满足并集∪和交集</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en-US" sz="1200" b="1" kern="100" dirty="0">
                <a:solidFill>
                  <a:schemeClr val="tx1"/>
                </a:solidFill>
                <a:effectLst/>
                <a:latin typeface="Times New Roman" panose="02020603050405020304" pitchFamily="18" charset="0"/>
                <a:ea typeface="+mn-ea"/>
                <a:cs typeface="Times New Roman" panose="02020603050405020304" pitchFamily="18" charset="0"/>
              </a:rPr>
              <a:t>运算的</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分配律</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满足分配格定义</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ea typeface="+mn-ea"/>
                <a:sym typeface="Symbol" panose="05050102010706020507" pitchFamily="18" charset="2"/>
              </a:rPr>
              <a:t>(3)</a:t>
            </a:r>
            <a:r>
              <a:rPr lang="zh-CN" altLang="en-US" sz="1200" b="1" dirty="0">
                <a:solidFill>
                  <a:schemeClr val="tx1"/>
                </a:solidFill>
                <a:latin typeface="Times New Roman" panose="02020603050405020304" pitchFamily="18" charset="0"/>
                <a:ea typeface="+mn-ea"/>
                <a:sym typeface="Symbol" panose="05050102010706020507" pitchFamily="18" charset="2"/>
              </a:rPr>
              <a:t>判断</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是有补格</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中每个子集</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,存在补集</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baseline="30000" dirty="0">
                <a:solidFill>
                  <a:schemeClr val="tx1"/>
                </a:solidFill>
                <a:effectLst/>
                <a:latin typeface="Times New Roman" panose="02020603050405020304" pitchFamily="18" charset="0"/>
                <a:ea typeface="+mn-ea"/>
                <a:cs typeface="Times New Roman" panose="02020603050405020304" pitchFamily="18" charset="0"/>
              </a:rPr>
              <a:t>c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使得</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baseline="30000" dirty="0">
                <a:solidFill>
                  <a:schemeClr val="tx1"/>
                </a:solidFill>
                <a:effectLst/>
                <a:latin typeface="Times New Roman" panose="02020603050405020304" pitchFamily="18" charset="0"/>
                <a:ea typeface="+mn-ea"/>
                <a:cs typeface="Times New Roman" panose="02020603050405020304" pitchFamily="18" charset="0"/>
              </a:rPr>
              <a:t>c </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=∅(全下界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和</a:t>
            </a:r>
            <a:r>
              <a:rPr lang="en-US"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A</a:t>
            </a:r>
            <a:r>
              <a:rPr lang="zh-CN" altLang="zh-CN" sz="1200" b="1" kern="100" baseline="30000" dirty="0">
                <a:solidFill>
                  <a:schemeClr val="tx1"/>
                </a:solidFill>
                <a:effectLst/>
                <a:latin typeface="Times New Roman" panose="02020603050405020304" pitchFamily="18" charset="0"/>
                <a:ea typeface="+mn-ea"/>
                <a:cs typeface="Times New Roman" panose="02020603050405020304" pitchFamily="18" charset="0"/>
              </a:rPr>
              <a:t>c</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i="1" kern="100" dirty="0">
                <a:solidFill>
                  <a:schemeClr val="tx1"/>
                </a:solidFill>
                <a:effectLst/>
                <a:latin typeface="Times New Roman" panose="02020603050405020304" pitchFamily="18" charset="0"/>
                <a:ea typeface="+mn-ea"/>
                <a:cs typeface="Times New Roman" panose="02020603050405020304" pitchFamily="18" charset="0"/>
              </a:rPr>
              <a:t>B</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(全上界</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成立</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kern="100" dirty="0">
                <a:solidFill>
                  <a:srgbClr val="FF0000"/>
                </a:solidFill>
                <a:effectLst/>
                <a:latin typeface="Times New Roman" panose="02020603050405020304" pitchFamily="18" charset="0"/>
                <a:ea typeface="+mn-ea"/>
                <a:cs typeface="Times New Roman" panose="02020603050405020304" pitchFamily="18" charset="0"/>
              </a:rPr>
              <a:t>满足有补格</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定义</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ea typeface="+mn-ea"/>
                <a:sym typeface="Symbol" panose="05050102010706020507" pitchFamily="18" charset="2"/>
              </a:rPr>
              <a:t>(4)</a:t>
            </a:r>
            <a:r>
              <a:rPr lang="zh-CN" altLang="en-US" sz="1200" b="1" dirty="0">
                <a:solidFill>
                  <a:schemeClr val="tx1"/>
                </a:solidFill>
                <a:latin typeface="Times New Roman" panose="02020603050405020304" pitchFamily="18" charset="0"/>
                <a:ea typeface="+mn-ea"/>
                <a:sym typeface="Symbol" panose="05050102010706020507" pitchFamily="18" charset="2"/>
              </a:rPr>
              <a:t>判断</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是布尔格</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zh-CN" sz="1200" b="1" kern="100" dirty="0">
                <a:solidFill>
                  <a:schemeClr val="tx1"/>
                </a:solidFill>
                <a:effectLst/>
                <a:latin typeface="Times New Roman" panose="02020603050405020304" pitchFamily="18" charset="0"/>
                <a:ea typeface="+mn-ea"/>
                <a:cs typeface="Times New Roman" panose="02020603050405020304" pitchFamily="18" charset="0"/>
              </a:rPr>
              <a:t>中,</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已知</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P</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B</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是一个格、分配格和有补格</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故幂集格 </a:t>
            </a:r>
            <a:r>
              <a:rPr lang="en-US" altLang="zh-CN" sz="1200" b="1" i="1" dirty="0">
                <a:solidFill>
                  <a:schemeClr val="tx1"/>
                </a:solidFill>
                <a:effectLst/>
                <a:latin typeface="Times New Roman" panose="02020603050405020304" pitchFamily="18" charset="0"/>
                <a:ea typeface="+mn-ea"/>
                <a:cs typeface="Times New Roman" panose="02020603050405020304" pitchFamily="18" charset="0"/>
              </a:rPr>
              <a:t>P(B)</a:t>
            </a:r>
            <a:r>
              <a:rPr lang="zh-CN" altLang="zh-CN" sz="1200" b="1" i="1" dirty="0">
                <a:solidFill>
                  <a:schemeClr val="tx1"/>
                </a:solidFill>
                <a:effectLst/>
                <a:latin typeface="Times New Roman" panose="02020603050405020304" pitchFamily="18" charset="0"/>
                <a:ea typeface="+mn-ea"/>
                <a:cs typeface="Times New Roman" panose="02020603050405020304" pitchFamily="18" charset="0"/>
              </a:rPr>
              <a:t> </a:t>
            </a:r>
            <a:r>
              <a:rPr lang="zh-CN" altLang="zh-CN" sz="1200" b="1" dirty="0">
                <a:solidFill>
                  <a:srgbClr val="FF0000"/>
                </a:solidFill>
                <a:effectLst/>
                <a:latin typeface="Times New Roman" panose="02020603050405020304" pitchFamily="18" charset="0"/>
                <a:ea typeface="+mn-ea"/>
                <a:cs typeface="Times New Roman" panose="02020603050405020304" pitchFamily="18" charset="0"/>
              </a:rPr>
              <a:t>是一个布尔格</a:t>
            </a:r>
            <a:r>
              <a:rPr lang="en-US" altLang="zh-CN" sz="1200" b="1" dirty="0">
                <a:solidFill>
                  <a:srgbClr val="FF0000"/>
                </a:solidFill>
                <a:effectLst/>
                <a:latin typeface="Times New Roman" panose="02020603050405020304" pitchFamily="18" charset="0"/>
                <a:ea typeface="+mn-ea"/>
                <a:cs typeface="Times New Roman" panose="02020603050405020304" pitchFamily="18" charset="0"/>
              </a:rPr>
              <a:t>(</a:t>
            </a:r>
            <a:r>
              <a:rPr lang="zh-CN" altLang="zh-CN" sz="1200" b="1" dirty="0">
                <a:solidFill>
                  <a:srgbClr val="FF0000"/>
                </a:solidFill>
                <a:effectLst/>
                <a:latin typeface="Times New Roman" panose="02020603050405020304" pitchFamily="18" charset="0"/>
                <a:ea typeface="+mn-ea"/>
                <a:cs typeface="Times New Roman" panose="02020603050405020304" pitchFamily="18" charset="0"/>
              </a:rPr>
              <a:t>布尔代数</a:t>
            </a:r>
            <a:r>
              <a:rPr lang="en-US" altLang="zh-CN" sz="1200" b="1" dirty="0">
                <a:solidFill>
                  <a:srgbClr val="FF0000"/>
                </a:solidFill>
                <a:effectLst/>
                <a:latin typeface="Times New Roman" panose="02020603050405020304" pitchFamily="18" charset="0"/>
                <a:ea typeface="+mn-ea"/>
                <a:cs typeface="Times New Roman" panose="02020603050405020304" pitchFamily="18" charset="0"/>
              </a:rPr>
              <a:t>)</a:t>
            </a:r>
            <a:r>
              <a:rPr lang="en-US" altLang="zh-CN" sz="1200" b="1" kern="100"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kern="100" dirty="0">
                <a:solidFill>
                  <a:srgbClr val="FF0000"/>
                </a:solidFill>
                <a:effectLst/>
                <a:latin typeface="Times New Roman" panose="02020603050405020304" pitchFamily="18" charset="0"/>
                <a:ea typeface="+mn-ea"/>
                <a:cs typeface="Times New Roman" panose="02020603050405020304" pitchFamily="18" charset="0"/>
              </a:rPr>
              <a:t> </a:t>
            </a:r>
            <a:endParaRPr lang="en-US" altLang="zh-CN" sz="12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latin typeface="Times New Roman" panose="02020603050405020304" pitchFamily="18" charset="0"/>
                <a:ea typeface="+mn-ea"/>
                <a:sym typeface="Symbol" panose="05050102010706020507" pitchFamily="18" charset="2"/>
              </a:rPr>
              <a:t>注</a:t>
            </a:r>
            <a:r>
              <a:rPr lang="en-US" altLang="zh-CN" sz="1200" b="1" dirty="0">
                <a:solidFill>
                  <a:srgbClr val="00B0F0"/>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布尔格</a:t>
            </a:r>
            <a:r>
              <a:rPr lang="en-US" altLang="zh-CN" sz="1200" b="1" i="1" dirty="0">
                <a:solidFill>
                  <a:schemeClr val="tx1"/>
                </a:solidFill>
                <a:latin typeface="Times New Roman" panose="02020603050405020304" pitchFamily="18" charset="0"/>
                <a:ea typeface="+mn-ea"/>
                <a:sym typeface="Symbol" panose="05050102010706020507" pitchFamily="18" charset="2"/>
              </a:rPr>
              <a:t>P</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en-US" altLang="zh-CN" sz="1200" b="1" i="1" dirty="0">
                <a:solidFill>
                  <a:schemeClr val="tx1"/>
                </a:solidFill>
                <a:latin typeface="Times New Roman" panose="02020603050405020304" pitchFamily="18" charset="0"/>
                <a:ea typeface="+mn-ea"/>
                <a:sym typeface="Symbol" panose="05050102010706020507" pitchFamily="18" charset="2"/>
              </a:rPr>
              <a:t>B</a:t>
            </a:r>
            <a:r>
              <a:rPr lang="en-US" altLang="zh-CN" sz="1200" b="1" dirty="0">
                <a:solidFill>
                  <a:schemeClr val="tx1"/>
                </a:solidFill>
                <a:latin typeface="Times New Roman" panose="02020603050405020304" pitchFamily="18" charset="0"/>
                <a:ea typeface="+mn-ea"/>
                <a:sym typeface="Symbol" panose="05050102010706020507" pitchFamily="18" charset="2"/>
              </a:rPr>
              <a:t>)</a:t>
            </a:r>
            <a:r>
              <a:rPr lang="zh-CN" altLang="en-US" sz="1200" b="1" dirty="0">
                <a:solidFill>
                  <a:schemeClr val="tx1"/>
                </a:solidFill>
                <a:latin typeface="Times New Roman" panose="02020603050405020304" pitchFamily="18" charset="0"/>
                <a:ea typeface="+mn-ea"/>
                <a:sym typeface="Symbol" panose="05050102010706020507" pitchFamily="18" charset="2"/>
              </a:rPr>
              <a:t>中补元的唯一性可通过</a:t>
            </a:r>
            <a:r>
              <a:rPr lang="zh-CN" altLang="zh-CN" sz="1200" b="1" dirty="0">
                <a:solidFill>
                  <a:schemeClr val="tx1"/>
                </a:solidFill>
                <a:latin typeface="Times New Roman" panose="02020603050405020304" pitchFamily="18" charset="0"/>
                <a:ea typeface="+mn-ea"/>
              </a:rPr>
              <a:t>布尔代数的性质</a:t>
            </a:r>
            <a:r>
              <a:rPr lang="en-US" altLang="zh-CN" sz="1200" b="1" dirty="0">
                <a:solidFill>
                  <a:schemeClr val="tx1"/>
                </a:solidFill>
                <a:latin typeface="Times New Roman" panose="02020603050405020304" pitchFamily="18" charset="0"/>
                <a:ea typeface="+mn-ea"/>
              </a:rPr>
              <a:t>(</a:t>
            </a:r>
            <a:r>
              <a:rPr lang="zh-CN" altLang="zh-CN" sz="1200" b="1" dirty="0">
                <a:solidFill>
                  <a:schemeClr val="tx1"/>
                </a:solidFill>
                <a:latin typeface="Times New Roman" panose="02020603050405020304" pitchFamily="18" charset="0"/>
                <a:ea typeface="+mn-ea"/>
              </a:rPr>
              <a:t>交换律、结合律和分配律</a:t>
            </a:r>
            <a:r>
              <a:rPr lang="en-US" altLang="zh-CN" sz="1200" b="1" dirty="0">
                <a:solidFill>
                  <a:schemeClr val="tx1"/>
                </a:solidFill>
                <a:latin typeface="Times New Roman" panose="02020603050405020304" pitchFamily="18" charset="0"/>
                <a:ea typeface="+mn-ea"/>
              </a:rPr>
              <a:t>)</a:t>
            </a:r>
            <a:r>
              <a:rPr lang="zh-CN" altLang="en-US" sz="1200" b="1" dirty="0">
                <a:solidFill>
                  <a:schemeClr val="tx1"/>
                </a:solidFill>
                <a:latin typeface="Times New Roman" panose="02020603050405020304" pitchFamily="18" charset="0"/>
                <a:ea typeface="+mn-ea"/>
              </a:rPr>
              <a:t>得到证明</a:t>
            </a:r>
            <a:r>
              <a:rPr lang="en-US" altLang="zh-CN" sz="1200" b="1" dirty="0">
                <a:solidFill>
                  <a:schemeClr val="tx1"/>
                </a:solidFill>
                <a:latin typeface="Times New Roman" panose="02020603050405020304" pitchFamily="18" charset="0"/>
                <a:ea typeface="+mn-ea"/>
              </a:rPr>
              <a:t>.</a:t>
            </a:r>
            <a:r>
              <a:rPr lang="zh-CN" altLang="zh-CN" sz="1200" b="1" dirty="0">
                <a:solidFill>
                  <a:schemeClr val="tx1"/>
                </a:solidFill>
                <a:latin typeface="Times New Roman" panose="02020603050405020304" pitchFamily="18" charset="0"/>
                <a:ea typeface="+mn-ea"/>
              </a:rPr>
              <a:t> </a:t>
            </a:r>
            <a:endParaRPr lang="en-US" altLang="zh-CN" sz="1200" b="1" dirty="0">
              <a:solidFill>
                <a:schemeClr val="tx1"/>
              </a:solidFill>
              <a:latin typeface="Times New Roman" panose="02020603050405020304" pitchFamily="18" charset="0"/>
              <a:ea typeface="+mn-ea"/>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150</a:t>
            </a:fld>
            <a:endParaRPr lang="zh-CN" altLang="en-US"/>
          </a:p>
        </p:txBody>
      </p:sp>
    </p:spTree>
    <p:extLst>
      <p:ext uri="{BB962C8B-B14F-4D97-AF65-F5344CB8AC3E}">
        <p14:creationId xmlns:p14="http://schemas.microsoft.com/office/powerpoint/2010/main" val="48515207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Times New Roman" panose="02020603050405020304" pitchFamily="18" charset="0"/>
                <a:ea typeface="+mn-ea"/>
                <a:cs typeface="Times New Roman" panose="02020603050405020304" pitchFamily="18" charset="0"/>
              </a:rPr>
              <a:t>定理</a:t>
            </a:r>
            <a:r>
              <a:rPr lang="en-US" altLang="zh-CN" sz="1200" b="1" dirty="0">
                <a:solidFill>
                  <a:srgbClr val="FF0000"/>
                </a:solidFill>
                <a:latin typeface="Times New Roman" panose="02020603050405020304" pitchFamily="18" charset="0"/>
                <a:ea typeface="+mn-ea"/>
                <a:cs typeface="Times New Roman" panose="02020603050405020304" pitchFamily="18" charset="0"/>
              </a:rPr>
              <a:t>9.12</a:t>
            </a:r>
            <a:r>
              <a:rPr lang="zh-CN" altLang="en-US" sz="1200" b="1" dirty="0">
                <a:solidFill>
                  <a:srgbClr val="FF0000"/>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设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 </a:t>
            </a:r>
            <a:r>
              <a:rPr lang="zh-CN" altLang="en-US" sz="1200" b="1" dirty="0">
                <a:solidFill>
                  <a:schemeClr val="tx1"/>
                </a:solidFill>
                <a:latin typeface="Times New Roman" panose="02020603050405020304" pitchFamily="18" charset="0"/>
                <a:ea typeface="+mn-ea"/>
                <a:cs typeface="Times New Roman" panose="02020603050405020304" pitchFamily="18" charset="0"/>
              </a:rPr>
              <a:t>是有限布尔代数</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则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 </a:t>
            </a:r>
            <a:r>
              <a:rPr lang="zh-CN" altLang="en-US" sz="1200" b="1" dirty="0">
                <a:solidFill>
                  <a:schemeClr val="tx1"/>
                </a:solidFill>
                <a:latin typeface="Times New Roman" panose="02020603050405020304" pitchFamily="18" charset="0"/>
                <a:ea typeface="+mn-ea"/>
                <a:cs typeface="Times New Roman" panose="02020603050405020304" pitchFamily="18" charset="0"/>
              </a:rPr>
              <a:t>含有 </a:t>
            </a:r>
            <a:r>
              <a:rPr lang="en-US" altLang="zh-CN" sz="1200" b="1" dirty="0">
                <a:solidFill>
                  <a:schemeClr val="tx1"/>
                </a:solidFill>
                <a:latin typeface="Times New Roman" panose="02020603050405020304" pitchFamily="18" charset="0"/>
                <a:ea typeface="+mn-ea"/>
                <a:cs typeface="Times New Roman" panose="02020603050405020304" pitchFamily="18" charset="0"/>
              </a:rPr>
              <a:t>2</a:t>
            </a:r>
            <a:r>
              <a:rPr lang="en-US" altLang="zh-CN" sz="1200" b="1" i="1" baseline="30000" dirty="0">
                <a:solidFill>
                  <a:schemeClr val="tx1"/>
                </a:solidFill>
                <a:latin typeface="Times New Roman" panose="02020603050405020304" pitchFamily="18" charset="0"/>
                <a:ea typeface="+mn-ea"/>
                <a:cs typeface="Times New Roman" panose="02020603050405020304" pitchFamily="18" charset="0"/>
              </a:rPr>
              <a:t>n</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个元素</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n</a:t>
            </a:r>
            <a:r>
              <a:rPr lang="en-US" altLang="zh-CN" sz="1200" b="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N</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且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与 </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P</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S</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&gt;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同构</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其中</a:t>
            </a:r>
            <a:r>
              <a:rPr lang="zh-CN" altLang="en-US"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是一个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n</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元集合</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p>
          <a:p>
            <a:pPr eaLnBrk="1" hangingPunct="1">
              <a:lnSpc>
                <a:spcPct val="120000"/>
              </a:lnSpc>
              <a:buFont typeface="Wingdings" panose="05000000000000000000" pitchFamily="2" charset="2"/>
              <a:buNone/>
            </a:pPr>
            <a:r>
              <a:rPr lang="zh-CN" altLang="en-US" sz="1200" b="1" dirty="0">
                <a:solidFill>
                  <a:srgbClr val="00B0F0"/>
                </a:solidFill>
                <a:latin typeface="Times New Roman" panose="02020603050405020304" pitchFamily="18" charset="0"/>
                <a:ea typeface="+mn-ea"/>
                <a:cs typeface="Times New Roman" panose="02020603050405020304" pitchFamily="18" charset="0"/>
              </a:rPr>
              <a:t>注</a:t>
            </a:r>
            <a:r>
              <a:rPr lang="en-US" altLang="zh-CN" sz="1200" b="1" dirty="0">
                <a:solidFill>
                  <a:srgbClr val="00B0F0"/>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Calibri" panose="020F0502020204030204" pitchFamily="34" charset="0"/>
                <a:ea typeface="+mn-ea"/>
                <a:cs typeface="Calibri" panose="020F0502020204030204" pitchFamily="34" charset="0"/>
              </a:rPr>
              <a:t>①</a:t>
            </a:r>
            <a:r>
              <a:rPr lang="zh-CN" altLang="en-US" sz="1200" b="1" dirty="0">
                <a:solidFill>
                  <a:schemeClr val="tx1"/>
                </a:solidFill>
                <a:latin typeface="Calibri" panose="020F0502020204030204" pitchFamily="34" charset="0"/>
                <a:ea typeface="+mn-ea"/>
                <a:cs typeface="Calibri" panose="020F0502020204030204" pitchFamily="34" charset="0"/>
              </a:rPr>
              <a:t>同构要求两个布尔代数之间存在一个双射映射</a:t>
            </a:r>
            <a:r>
              <a:rPr lang="en-US" altLang="zh-CN" sz="1200" b="1" dirty="0">
                <a:solidFill>
                  <a:schemeClr val="tx1"/>
                </a:solidFill>
                <a:latin typeface="Calibri" panose="020F0502020204030204" pitchFamily="34" charset="0"/>
                <a:ea typeface="+mn-ea"/>
                <a:cs typeface="Calibri" panose="020F0502020204030204" pitchFamily="34" charset="0"/>
              </a:rPr>
              <a:t>,</a:t>
            </a:r>
            <a:r>
              <a:rPr lang="zh-CN" altLang="en-US" sz="1200" b="1" dirty="0">
                <a:solidFill>
                  <a:schemeClr val="tx1"/>
                </a:solidFill>
                <a:latin typeface="Calibri" panose="020F0502020204030204" pitchFamily="34" charset="0"/>
                <a:ea typeface="+mn-ea"/>
                <a:cs typeface="Calibri" panose="020F0502020204030204" pitchFamily="34" charset="0"/>
              </a:rPr>
              <a:t>该映射保持合取、析取和补运算</a:t>
            </a:r>
            <a:r>
              <a:rPr lang="en-US" altLang="zh-CN" sz="1200" b="1" dirty="0">
                <a:solidFill>
                  <a:schemeClr val="tx1"/>
                </a:solidFill>
                <a:latin typeface="Calibri" panose="020F0502020204030204" pitchFamily="34" charset="0"/>
                <a:ea typeface="+mn-ea"/>
                <a:cs typeface="Calibri" panose="020F0502020204030204" pitchFamily="34" charset="0"/>
              </a:rPr>
              <a:t>, </a:t>
            </a:r>
            <a:r>
              <a:rPr lang="zh-CN" altLang="en-US" sz="1200" b="1" dirty="0">
                <a:solidFill>
                  <a:schemeClr val="tx1"/>
                </a:solidFill>
                <a:latin typeface="Calibri" panose="020F0502020204030204" pitchFamily="34" charset="0"/>
                <a:ea typeface="+mn-ea"/>
                <a:cs typeface="Calibri" panose="020F0502020204030204" pitchFamily="34" charset="0"/>
              </a:rPr>
              <a:t>同时保持零元和单位元</a:t>
            </a:r>
            <a:r>
              <a:rPr lang="en-US" altLang="zh-CN" sz="1200" b="1" dirty="0">
                <a:solidFill>
                  <a:schemeClr val="tx1"/>
                </a:solidFill>
                <a:latin typeface="Calibri" panose="020F0502020204030204" pitchFamily="34" charset="0"/>
                <a:ea typeface="+mn-ea"/>
                <a:cs typeface="Calibri" panose="020F0502020204030204" pitchFamily="34" charset="0"/>
              </a:rPr>
              <a:t>.</a:t>
            </a: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pPr eaLnBrk="1" hangingPunct="1">
              <a:lnSpc>
                <a:spcPct val="120000"/>
              </a:lnSpc>
              <a:buFont typeface="Wingdings" panose="05000000000000000000" pitchFamily="2" charset="2"/>
              <a:buNone/>
            </a:pPr>
            <a:r>
              <a:rPr lang="zh-CN" altLang="en-US" sz="1200" b="1" dirty="0">
                <a:solidFill>
                  <a:schemeClr val="tx1"/>
                </a:solidFill>
                <a:latin typeface="Calibri" panose="020F0502020204030204" pitchFamily="34" charset="0"/>
                <a:ea typeface="+mn-ea"/>
                <a:cs typeface="Calibri" panose="020F0502020204030204" pitchFamily="34" charset="0"/>
                <a:sym typeface="Symbol" panose="05050102010706020507" pitchFamily="18" charset="2"/>
              </a:rPr>
              <a:t>②</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含有 </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2</a:t>
            </a:r>
            <a:r>
              <a:rPr lang="en-US" altLang="zh-CN" sz="1200" b="1" i="1" baseline="3000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n</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个元素的布尔代数在同构意义下只有一个</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p>
          <a:p>
            <a:pPr eaLnBrk="1" hangingPunct="1">
              <a:lnSpc>
                <a:spcPct val="120000"/>
              </a:lnSpc>
              <a:buFont typeface="Wingdings" panose="05000000000000000000" pitchFamily="2" charset="2"/>
              <a:buNone/>
            </a:pP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③</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有限布尔代数</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L</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与幂集代数</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&gt;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同构</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是</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n</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元集合</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的幂集</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该直观模型可更好地理解和操作布尔代数</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p>
          <a:p>
            <a:pPr eaLnBrk="1" hangingPunct="1">
              <a:lnSpc>
                <a:spcPct val="120000"/>
              </a:lnSpc>
              <a:buFont typeface="Wingdings" panose="05000000000000000000" pitchFamily="2" charset="2"/>
              <a:buNone/>
            </a:pP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④</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该定理架起了抽象代数</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布尔代数</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和集合论</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幂集代数</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之间的桥梁</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促进在逻辑学、计算机科学、代数几何多个领域的应用</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p>
          <a:p>
            <a:pPr eaLnBrk="1" hangingPunct="1">
              <a:lnSpc>
                <a:spcPct val="120000"/>
              </a:lnSpc>
              <a:buFont typeface="Wingdings" panose="05000000000000000000" pitchFamily="2" charset="2"/>
              <a:buNone/>
            </a:pP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⑤</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代数的结构和其与集合论模型的同构性</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有助于简化逻辑表达式的处理和优化算法的设计</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151</a:t>
            </a:fld>
            <a:endParaRPr lang="zh-CN" altLang="en-US"/>
          </a:p>
        </p:txBody>
      </p:sp>
    </p:spTree>
    <p:extLst>
      <p:ext uri="{BB962C8B-B14F-4D97-AF65-F5344CB8AC3E}">
        <p14:creationId xmlns:p14="http://schemas.microsoft.com/office/powerpoint/2010/main" val="431007910"/>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Times New Roman" panose="02020603050405020304" pitchFamily="18" charset="0"/>
                <a:ea typeface="+mn-ea"/>
                <a:cs typeface="Times New Roman" panose="02020603050405020304" pitchFamily="18" charset="0"/>
              </a:rPr>
              <a:t>定理</a:t>
            </a:r>
            <a:r>
              <a:rPr lang="en-US" altLang="zh-CN" sz="1200" b="1" dirty="0">
                <a:solidFill>
                  <a:srgbClr val="FF0000"/>
                </a:solidFill>
                <a:latin typeface="Times New Roman" panose="02020603050405020304" pitchFamily="18" charset="0"/>
                <a:ea typeface="+mn-ea"/>
                <a:cs typeface="Times New Roman" panose="02020603050405020304" pitchFamily="18" charset="0"/>
              </a:rPr>
              <a:t>9.12</a:t>
            </a:r>
            <a:r>
              <a:rPr lang="zh-CN" altLang="en-US" sz="1200" b="1" dirty="0">
                <a:solidFill>
                  <a:srgbClr val="FF0000"/>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设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 </a:t>
            </a:r>
            <a:r>
              <a:rPr lang="zh-CN" altLang="en-US" sz="1200" b="1" dirty="0">
                <a:solidFill>
                  <a:schemeClr val="tx1"/>
                </a:solidFill>
                <a:latin typeface="Times New Roman" panose="02020603050405020304" pitchFamily="18" charset="0"/>
                <a:ea typeface="+mn-ea"/>
                <a:cs typeface="Times New Roman" panose="02020603050405020304" pitchFamily="18" charset="0"/>
              </a:rPr>
              <a:t>是有限布尔代数</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则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 </a:t>
            </a:r>
            <a:r>
              <a:rPr lang="zh-CN" altLang="en-US" sz="1200" b="1" dirty="0">
                <a:solidFill>
                  <a:schemeClr val="tx1"/>
                </a:solidFill>
                <a:latin typeface="Times New Roman" panose="02020603050405020304" pitchFamily="18" charset="0"/>
                <a:ea typeface="+mn-ea"/>
                <a:cs typeface="Times New Roman" panose="02020603050405020304" pitchFamily="18" charset="0"/>
              </a:rPr>
              <a:t>含有 </a:t>
            </a:r>
            <a:r>
              <a:rPr lang="en-US" altLang="zh-CN" sz="1200" b="1" dirty="0">
                <a:solidFill>
                  <a:schemeClr val="tx1"/>
                </a:solidFill>
                <a:latin typeface="Times New Roman" panose="02020603050405020304" pitchFamily="18" charset="0"/>
                <a:ea typeface="+mn-ea"/>
                <a:cs typeface="Times New Roman" panose="02020603050405020304" pitchFamily="18" charset="0"/>
              </a:rPr>
              <a:t>2</a:t>
            </a:r>
            <a:r>
              <a:rPr lang="en-US" altLang="zh-CN" sz="1200" b="1" i="1" baseline="30000" dirty="0">
                <a:solidFill>
                  <a:schemeClr val="tx1"/>
                </a:solidFill>
                <a:latin typeface="Times New Roman" panose="02020603050405020304" pitchFamily="18" charset="0"/>
                <a:ea typeface="+mn-ea"/>
                <a:cs typeface="Times New Roman" panose="02020603050405020304" pitchFamily="18" charset="0"/>
              </a:rPr>
              <a:t>n</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个元素</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rPr>
              <a:t>n</a:t>
            </a:r>
            <a:r>
              <a:rPr lang="en-US" altLang="zh-CN" sz="1200" b="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err="1">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N</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且 </a:t>
            </a:r>
            <a:r>
              <a:rPr lang="en-US" altLang="zh-CN" sz="1200" b="1" i="1" dirty="0">
                <a:solidFill>
                  <a:schemeClr val="tx1"/>
                </a:solidFill>
                <a:latin typeface="Times New Roman" panose="02020603050405020304" pitchFamily="18" charset="0"/>
                <a:ea typeface="+mn-ea"/>
                <a:cs typeface="Times New Roman" panose="02020603050405020304" pitchFamily="18" charset="0"/>
              </a:rPr>
              <a:t>L</a:t>
            </a:r>
            <a:r>
              <a:rPr lang="en-US" altLang="zh-CN" sz="1200" b="1" dirty="0">
                <a:solidFill>
                  <a:schemeClr val="tx1"/>
                </a:solidFill>
                <a:latin typeface="Times New Roman" panose="02020603050405020304" pitchFamily="18" charset="0"/>
                <a:ea typeface="+mn-ea"/>
                <a:cs typeface="Times New Roman" panose="02020603050405020304" pitchFamily="18" charset="0"/>
              </a:rPr>
              <a:t> </a:t>
            </a:r>
            <a:r>
              <a:rPr lang="zh-CN" altLang="en-US" sz="1200" b="1" dirty="0">
                <a:solidFill>
                  <a:schemeClr val="tx1"/>
                </a:solidFill>
                <a:latin typeface="Times New Roman" panose="02020603050405020304" pitchFamily="18" charset="0"/>
                <a:ea typeface="+mn-ea"/>
                <a:cs typeface="Times New Roman" panose="02020603050405020304" pitchFamily="18" charset="0"/>
              </a:rPr>
              <a:t>与 </a:t>
            </a:r>
            <a:r>
              <a:rPr lang="en-US" altLang="zh-CN" sz="1200" b="1" dirty="0">
                <a:solidFill>
                  <a:schemeClr val="tx1"/>
                </a:solidFill>
                <a:latin typeface="Times New Roman" panose="02020603050405020304" pitchFamily="18" charset="0"/>
                <a:ea typeface="+mn-ea"/>
                <a:cs typeface="Times New Roman" panose="02020603050405020304" pitchFamily="18" charset="0"/>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rPr>
              <a:t>P</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rPr>
              <a:t>S</a:t>
            </a:r>
            <a:r>
              <a:rPr lang="en-US" altLang="zh-CN" sz="1200" b="1" dirty="0">
                <a:solidFill>
                  <a:schemeClr val="tx1"/>
                </a:solidFill>
                <a:latin typeface="Times New Roman" panose="02020603050405020304" pitchFamily="18" charset="0"/>
                <a:ea typeface="+mn-ea"/>
                <a:cs typeface="Times New Roman" panose="02020603050405020304" pitchFamily="18" charset="0"/>
              </a:rPr>
              <a:t>),</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&gt;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同构</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其中</a:t>
            </a:r>
            <a:r>
              <a:rPr lang="zh-CN" altLang="en-US"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是一个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n</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元集合</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p>
          <a:p>
            <a:pPr eaLnBrk="1" hangingPunct="1">
              <a:lnSpc>
                <a:spcPct val="120000"/>
              </a:lnSpc>
              <a:buFont typeface="Wingdings" panose="05000000000000000000" pitchFamily="2" charset="2"/>
              <a:buNone/>
            </a:pPr>
            <a:r>
              <a:rPr lang="zh-CN" altLang="en-US" sz="1200" b="1" dirty="0">
                <a:solidFill>
                  <a:srgbClr val="00B0F0"/>
                </a:solidFill>
                <a:latin typeface="Times New Roman" panose="02020603050405020304" pitchFamily="18" charset="0"/>
                <a:ea typeface="+mn-ea"/>
                <a:cs typeface="Times New Roman" panose="02020603050405020304" pitchFamily="18" charset="0"/>
              </a:rPr>
              <a:t>注</a:t>
            </a:r>
            <a:r>
              <a:rPr lang="en-US" altLang="zh-CN" sz="1200" b="1" dirty="0">
                <a:solidFill>
                  <a:srgbClr val="00B0F0"/>
                </a:solidFill>
                <a:latin typeface="Times New Roman" panose="02020603050405020304" pitchFamily="18" charset="0"/>
                <a:ea typeface="+mn-ea"/>
                <a:cs typeface="Times New Roman" panose="02020603050405020304" pitchFamily="18" charset="0"/>
              </a:rPr>
              <a:t>: </a:t>
            </a:r>
            <a:r>
              <a:rPr lang="en-US" altLang="zh-CN" sz="1200" b="1" dirty="0">
                <a:solidFill>
                  <a:schemeClr val="tx1"/>
                </a:solidFill>
                <a:latin typeface="Calibri" panose="020F0502020204030204" pitchFamily="34" charset="0"/>
                <a:ea typeface="+mn-ea"/>
                <a:cs typeface="Calibri" panose="020F0502020204030204" pitchFamily="34" charset="0"/>
              </a:rPr>
              <a:t>①</a:t>
            </a:r>
            <a:r>
              <a:rPr lang="zh-CN" altLang="en-US" sz="1200" b="1" dirty="0">
                <a:solidFill>
                  <a:schemeClr val="tx1"/>
                </a:solidFill>
                <a:latin typeface="Calibri" panose="020F0502020204030204" pitchFamily="34" charset="0"/>
                <a:ea typeface="+mn-ea"/>
                <a:cs typeface="Calibri" panose="020F0502020204030204" pitchFamily="34" charset="0"/>
              </a:rPr>
              <a:t>同构要求两个布尔代数之间存在一个双射映射</a:t>
            </a:r>
            <a:r>
              <a:rPr lang="en-US" altLang="zh-CN" sz="1200" b="1" dirty="0">
                <a:solidFill>
                  <a:schemeClr val="tx1"/>
                </a:solidFill>
                <a:latin typeface="Calibri" panose="020F0502020204030204" pitchFamily="34" charset="0"/>
                <a:ea typeface="+mn-ea"/>
                <a:cs typeface="Calibri" panose="020F0502020204030204" pitchFamily="34" charset="0"/>
              </a:rPr>
              <a:t>,</a:t>
            </a:r>
            <a:r>
              <a:rPr lang="zh-CN" altLang="en-US" sz="1200" b="1" dirty="0">
                <a:solidFill>
                  <a:schemeClr val="tx1"/>
                </a:solidFill>
                <a:latin typeface="Calibri" panose="020F0502020204030204" pitchFamily="34" charset="0"/>
                <a:ea typeface="+mn-ea"/>
                <a:cs typeface="Calibri" panose="020F0502020204030204" pitchFamily="34" charset="0"/>
              </a:rPr>
              <a:t>该映射保持合取、析取和补运算</a:t>
            </a:r>
            <a:r>
              <a:rPr lang="en-US" altLang="zh-CN" sz="1200" b="1" dirty="0">
                <a:solidFill>
                  <a:schemeClr val="tx1"/>
                </a:solidFill>
                <a:latin typeface="Calibri" panose="020F0502020204030204" pitchFamily="34" charset="0"/>
                <a:ea typeface="+mn-ea"/>
                <a:cs typeface="Calibri" panose="020F0502020204030204" pitchFamily="34" charset="0"/>
              </a:rPr>
              <a:t>, </a:t>
            </a:r>
            <a:r>
              <a:rPr lang="zh-CN" altLang="en-US" sz="1200" b="1" dirty="0">
                <a:solidFill>
                  <a:schemeClr val="tx1"/>
                </a:solidFill>
                <a:latin typeface="Calibri" panose="020F0502020204030204" pitchFamily="34" charset="0"/>
                <a:ea typeface="+mn-ea"/>
                <a:cs typeface="Calibri" panose="020F0502020204030204" pitchFamily="34" charset="0"/>
              </a:rPr>
              <a:t>同时保持零元和单位元</a:t>
            </a:r>
            <a:r>
              <a:rPr lang="en-US" altLang="zh-CN" sz="1200" b="1" dirty="0">
                <a:solidFill>
                  <a:schemeClr val="tx1"/>
                </a:solidFill>
                <a:latin typeface="Calibri" panose="020F0502020204030204" pitchFamily="34" charset="0"/>
                <a:ea typeface="+mn-ea"/>
                <a:cs typeface="Calibri" panose="020F0502020204030204" pitchFamily="34" charset="0"/>
              </a:rPr>
              <a:t>.</a:t>
            </a:r>
            <a:endParaRPr lang="en-US" altLang="zh-CN" sz="1200" b="1" dirty="0">
              <a:solidFill>
                <a:schemeClr val="tx1"/>
              </a:solidFill>
              <a:latin typeface="Times New Roman" panose="02020603050405020304" pitchFamily="18" charset="0"/>
              <a:ea typeface="+mn-ea"/>
              <a:cs typeface="Times New Roman" panose="02020603050405020304" pitchFamily="18" charset="0"/>
            </a:endParaRPr>
          </a:p>
          <a:p>
            <a:pPr eaLnBrk="1" hangingPunct="1">
              <a:lnSpc>
                <a:spcPct val="120000"/>
              </a:lnSpc>
              <a:buFont typeface="Wingdings" panose="05000000000000000000" pitchFamily="2" charset="2"/>
              <a:buNone/>
            </a:pPr>
            <a:r>
              <a:rPr lang="zh-CN" altLang="en-US" sz="1200" b="1" dirty="0">
                <a:solidFill>
                  <a:schemeClr val="tx1"/>
                </a:solidFill>
                <a:latin typeface="Calibri" panose="020F0502020204030204" pitchFamily="34" charset="0"/>
                <a:ea typeface="+mn-ea"/>
                <a:cs typeface="Calibri" panose="020F0502020204030204" pitchFamily="34" charset="0"/>
                <a:sym typeface="Symbol" panose="05050102010706020507" pitchFamily="18" charset="2"/>
              </a:rPr>
              <a:t>②</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含有 </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2</a:t>
            </a:r>
            <a:r>
              <a:rPr lang="en-US" altLang="zh-CN" sz="1200" b="1" i="1" baseline="3000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n</a:t>
            </a:r>
            <a:r>
              <a:rPr lang="en-US" altLang="zh-CN" sz="1200" b="1" baseline="30000"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个元素的布尔代数在同构意义下只有一个</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p>
          <a:p>
            <a:pPr eaLnBrk="1" hangingPunct="1">
              <a:lnSpc>
                <a:spcPct val="120000"/>
              </a:lnSpc>
              <a:buFont typeface="Wingdings" panose="05000000000000000000" pitchFamily="2" charset="2"/>
              <a:buNone/>
            </a:pP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③</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有限布尔代数</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L</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与幂集代数</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&lt;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&gt;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同构</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P</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是</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n</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元集合</a:t>
            </a:r>
            <a:r>
              <a:rPr lang="en-US" altLang="zh-CN" sz="1200" b="1" i="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S</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的幂集</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该直观模型可更好地理解和操作布尔代数</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p>
          <a:p>
            <a:pPr eaLnBrk="1" hangingPunct="1">
              <a:lnSpc>
                <a:spcPct val="120000"/>
              </a:lnSpc>
              <a:buFont typeface="Wingdings" panose="05000000000000000000" pitchFamily="2" charset="2"/>
              <a:buNone/>
            </a:pP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④</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该定理架起了抽象代数</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布尔代数</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和集合论</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幂集代数</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之间的桥梁</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r>
              <a:rPr lang="zh-CN" altLang="en-US"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促进在逻辑学、计算机科学、代数几何多个领域的应用</a:t>
            </a: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a:t>
            </a:r>
          </a:p>
          <a:p>
            <a:pPr eaLnBrk="1" hangingPunct="1">
              <a:lnSpc>
                <a:spcPct val="120000"/>
              </a:lnSpc>
              <a:buFont typeface="Wingdings" panose="05000000000000000000" pitchFamily="2" charset="2"/>
              <a:buNone/>
            </a:pPr>
            <a:r>
              <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rPr>
              <a:t>⑤</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代数的结构和其与集合论模型的同构性</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r>
              <a:rPr lang="zh-CN" altLang="zh-CN" sz="1200" b="1" dirty="0">
                <a:solidFill>
                  <a:schemeClr val="tx1"/>
                </a:solidFill>
                <a:effectLst/>
                <a:latin typeface="Times New Roman" panose="02020603050405020304" pitchFamily="18" charset="0"/>
                <a:ea typeface="+mn-ea"/>
                <a:cs typeface="Times New Roman" panose="02020603050405020304" pitchFamily="18" charset="0"/>
              </a:rPr>
              <a:t>有助于简化逻辑表达式的处理和优化算法的设计</a:t>
            </a:r>
            <a:r>
              <a:rPr lang="en-US" altLang="zh-CN" sz="1200" b="1" dirty="0">
                <a:solidFill>
                  <a:schemeClr val="tx1"/>
                </a:solidFill>
                <a:effectLst/>
                <a:latin typeface="Times New Roman" panose="02020603050405020304" pitchFamily="18" charset="0"/>
                <a:ea typeface="+mn-ea"/>
                <a:cs typeface="Times New Roman" panose="02020603050405020304" pitchFamily="18" charset="0"/>
              </a:rPr>
              <a:t>.</a:t>
            </a: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solidFill>
              <a:latin typeface="Times New Roman" panose="02020603050405020304" pitchFamily="18" charset="0"/>
              <a:ea typeface="+mn-ea"/>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152</a:t>
            </a:fld>
            <a:endParaRPr lang="zh-CN" altLang="en-US"/>
          </a:p>
        </p:txBody>
      </p:sp>
    </p:spTree>
    <p:extLst>
      <p:ext uri="{BB962C8B-B14F-4D97-AF65-F5344CB8AC3E}">
        <p14:creationId xmlns:p14="http://schemas.microsoft.com/office/powerpoint/2010/main" val="97055918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153</a:t>
            </a:fld>
            <a:endParaRPr lang="zh-CN" altLang="en-US"/>
          </a:p>
        </p:txBody>
      </p:sp>
    </p:spTree>
    <p:extLst>
      <p:ext uri="{BB962C8B-B14F-4D97-AF65-F5344CB8AC3E}">
        <p14:creationId xmlns:p14="http://schemas.microsoft.com/office/powerpoint/2010/main" val="2344260254"/>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154</a:t>
            </a:fld>
            <a:endParaRPr lang="zh-CN" altLang="en-US"/>
          </a:p>
        </p:txBody>
      </p:sp>
    </p:spTree>
    <p:extLst>
      <p:ext uri="{BB962C8B-B14F-4D97-AF65-F5344CB8AC3E}">
        <p14:creationId xmlns:p14="http://schemas.microsoft.com/office/powerpoint/2010/main" val="2902786845"/>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155</a:t>
            </a:fld>
            <a:endParaRPr lang="zh-CN" altLang="en-US"/>
          </a:p>
        </p:txBody>
      </p:sp>
    </p:spTree>
    <p:extLst>
      <p:ext uri="{BB962C8B-B14F-4D97-AF65-F5344CB8AC3E}">
        <p14:creationId xmlns:p14="http://schemas.microsoft.com/office/powerpoint/2010/main" val="247568191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156</a:t>
            </a:fld>
            <a:endParaRPr lang="zh-CN" altLang="en-US"/>
          </a:p>
        </p:txBody>
      </p:sp>
    </p:spTree>
    <p:extLst>
      <p:ext uri="{BB962C8B-B14F-4D97-AF65-F5344CB8AC3E}">
        <p14:creationId xmlns:p14="http://schemas.microsoft.com/office/powerpoint/2010/main" val="1901993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2025/6/17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2025/6/17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2025/6/17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2025/6/17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0" y="0"/>
            <a:ext cx="12192000" cy="4403725"/>
          </a:xfrm>
          <a:prstGeom prst="rect">
            <a:avLst/>
          </a:prstGeom>
        </p:spPr>
        <p:txBody>
          <a:bodyPr/>
          <a:lstStyle/>
          <a:p>
            <a:endParaRPr lang="zh-CN" altLang="en-US"/>
          </a:p>
        </p:txBody>
      </p:sp>
      <p:sp>
        <p:nvSpPr>
          <p:cNvPr id="5" name="文本占位符 4"/>
          <p:cNvSpPr>
            <a:spLocks noGrp="1"/>
          </p:cNvSpPr>
          <p:nvPr>
            <p:ph type="body" sz="quarter" idx="11"/>
          </p:nvPr>
        </p:nvSpPr>
        <p:spPr>
          <a:xfrm>
            <a:off x="0" y="3075709"/>
            <a:ext cx="12192000" cy="1328016"/>
          </a:xfrm>
          <a:prstGeom prst="rect">
            <a:avLst/>
          </a:prstGeom>
          <a:solidFill>
            <a:schemeClr val="accent1">
              <a:lumMod val="75000"/>
              <a:alpha val="74000"/>
            </a:schemeClr>
          </a:solidFill>
          <a:ln>
            <a:noFill/>
          </a:ln>
        </p:spPr>
        <p:txBody>
          <a:bodyPr/>
          <a:lstStyle>
            <a:lvl1pPr>
              <a:defRPr>
                <a:solidFill>
                  <a:schemeClr val="tx1">
                    <a:alpha val="0"/>
                  </a:schemeClr>
                </a:solidFill>
              </a:defRPr>
            </a:lvl1pPr>
          </a:lstStyle>
          <a:p>
            <a:pPr lvl="0"/>
            <a:endParaRPr lang="zh-CN" altLang="en-US" dirty="0"/>
          </a:p>
        </p:txBody>
      </p:sp>
      <p:sp>
        <p:nvSpPr>
          <p:cNvPr id="6" name="副标题 2"/>
          <p:cNvSpPr>
            <a:spLocks noGrp="1"/>
          </p:cNvSpPr>
          <p:nvPr>
            <p:ph type="subTitle" idx="1"/>
          </p:nvPr>
        </p:nvSpPr>
        <p:spPr>
          <a:xfrm>
            <a:off x="1851024" y="2809284"/>
            <a:ext cx="7855511" cy="558799"/>
          </a:xfrm>
          <a:prstGeom prst="rect">
            <a:avLst/>
          </a:prstGeo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标题 1"/>
          <p:cNvSpPr>
            <a:spLocks noGrp="1"/>
          </p:cNvSpPr>
          <p:nvPr>
            <p:ph type="ctrTitle"/>
          </p:nvPr>
        </p:nvSpPr>
        <p:spPr>
          <a:xfrm>
            <a:off x="1851024" y="2110693"/>
            <a:ext cx="7855511" cy="698591"/>
          </a:xfrm>
          <a:prstGeom prst="rect">
            <a:avLst/>
          </a:prstGeo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8" name="文本占位符 13"/>
          <p:cNvSpPr>
            <a:spLocks noGrp="1"/>
          </p:cNvSpPr>
          <p:nvPr>
            <p:ph type="body" sz="quarter" idx="12" hasCustomPrompt="1"/>
          </p:nvPr>
        </p:nvSpPr>
        <p:spPr>
          <a:xfrm>
            <a:off x="1851024" y="4572592"/>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9" name="文本占位符 13"/>
          <p:cNvSpPr>
            <a:spLocks noGrp="1"/>
          </p:cNvSpPr>
          <p:nvPr>
            <p:ph type="body" sz="quarter" idx="13" hasCustomPrompt="1"/>
          </p:nvPr>
        </p:nvSpPr>
        <p:spPr>
          <a:xfrm>
            <a:off x="1851024" y="4868863"/>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2025/6/17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package" Target="../embeddings/Microsoft_Word_Document1.docx"/><Relationship Id="rId3" Type="http://schemas.openxmlformats.org/officeDocument/2006/relationships/notesSlide" Target="../notesSlides/notesSlide8.xml"/><Relationship Id="rId7" Type="http://schemas.openxmlformats.org/officeDocument/2006/relationships/image" Target="../media/image5.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package" Target="../embeddings/Microsoft_Word_Document.docx"/><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emf"/><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10.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2.bin"/><Relationship Id="rId5" Type="http://schemas.openxmlformats.org/officeDocument/2006/relationships/image" Target="../media/image3.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78.xml"/><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3.bin"/><Relationship Id="rId5" Type="http://schemas.openxmlformats.org/officeDocument/2006/relationships/image" Target="../media/image3.png"/><Relationship Id="rId4" Type="http://schemas.openxmlformats.org/officeDocument/2006/relationships/image" Target="../media/image2.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slide" Target="slide71.xml"/><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0.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00.xml"/><Relationship Id="rId7"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4.bin"/><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4.emf"/></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png"/></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3.png"/></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5.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3.png"/></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3.png"/></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8.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3.png"/></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png"/></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12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3.png"/></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1.xml"/><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image" Target="../media/image3.png"/></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2.xml"/><Relationship Id="rId1" Type="http://schemas.openxmlformats.org/officeDocument/2006/relationships/slideLayout" Target="../slideLayouts/slideLayout2.xml"/><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3.png"/></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9.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3.png"/></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3.png"/></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3.png"/></Relationships>
</file>

<file path=ppt/slides/_rels/slide1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3.xml"/><Relationship Id="rId1" Type="http://schemas.openxmlformats.org/officeDocument/2006/relationships/slideLayout" Target="../slideLayouts/slideLayout2.xml"/><Relationship Id="rId5" Type="http://schemas.openxmlformats.org/officeDocument/2006/relationships/image" Target="../media/image29.emf"/><Relationship Id="rId4" Type="http://schemas.openxmlformats.org/officeDocument/2006/relationships/image" Target="../media/image3.png"/></Relationships>
</file>

<file path=ppt/slides/_rels/slide1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png"/></Relationships>
</file>

<file path=ppt/slides/_rels/slide1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7.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png"/></Relationships>
</file>

<file path=ppt/slides/_rels/slide1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3.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image" Target="../media/image2.png"/><Relationship Id="rId7" Type="http://schemas.openxmlformats.org/officeDocument/2006/relationships/image" Target="../media/image34.emf"/><Relationship Id="rId2" Type="http://schemas.openxmlformats.org/officeDocument/2006/relationships/notesSlide" Target="../notesSlides/notesSlide153.xml"/><Relationship Id="rId1" Type="http://schemas.openxmlformats.org/officeDocument/2006/relationships/slideLayout" Target="../slideLayouts/slideLayout2.xml"/><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31.emf"/></Relationships>
</file>

<file path=ppt/slides/_rels/slide154.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image" Target="../media/image2.png"/><Relationship Id="rId7" Type="http://schemas.openxmlformats.org/officeDocument/2006/relationships/image" Target="../media/image39.emf"/><Relationship Id="rId2" Type="http://schemas.openxmlformats.org/officeDocument/2006/relationships/notesSlide" Target="../notesSlides/notesSlide154.xml"/><Relationship Id="rId1" Type="http://schemas.openxmlformats.org/officeDocument/2006/relationships/slideLayout" Target="../slideLayouts/slideLayout2.xml"/><Relationship Id="rId6" Type="http://schemas.openxmlformats.org/officeDocument/2006/relationships/image" Target="../media/image38.emf"/><Relationship Id="rId5" Type="http://schemas.openxmlformats.org/officeDocument/2006/relationships/image" Target="../media/image37.emf"/><Relationship Id="rId4" Type="http://schemas.openxmlformats.org/officeDocument/2006/relationships/image" Target="../media/image36.emf"/></Relationships>
</file>

<file path=ppt/slides/_rels/slide1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6.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9</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Algebraic Systems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198061" y="943704"/>
            <a:ext cx="8798289" cy="43445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ct val="0"/>
              </a:spcBef>
              <a:buNone/>
            </a:pPr>
            <a:endParaRPr lang="en-US" altLang="zh-CN" b="1" dirty="0"/>
          </a:p>
          <a:p>
            <a:pPr eaLnBrk="1" hangingPunct="1">
              <a:lnSpc>
                <a:spcPct val="13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9.1 Binary Operations and Their Properties</a:t>
            </a:r>
          </a:p>
          <a:p>
            <a:pPr eaLnBrk="1" hangingPunct="1">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9.2 Algebraic Systems</a:t>
            </a:r>
          </a:p>
          <a:p>
            <a:pPr eaLnBrk="1" hangingPunct="1">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9.3 Several Typical Algebraic Systems</a:t>
            </a:r>
            <a:endParaRPr lang="zh-CN" altLang="en-US" sz="2400" b="1" dirty="0">
              <a:latin typeface="Trebuchet MS" panose="020B0603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9.1 Binary Operations and Their Properties</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p:txBody>
      </p:sp>
      <p:sp>
        <p:nvSpPr>
          <p:cNvPr id="9" name="Rectangle 3">
            <a:extLst>
              <a:ext uri="{FF2B5EF4-FFF2-40B4-BE49-F238E27FC236}">
                <a16:creationId xmlns:a16="http://schemas.microsoft.com/office/drawing/2014/main" id="{DFB26965-CE5B-4DE7-9E7F-C771435C74C9}"/>
              </a:ext>
            </a:extLst>
          </p:cNvPr>
          <p:cNvSpPr txBox="1">
            <a:spLocks noChangeArrowheads="1"/>
          </p:cNvSpPr>
          <p:nvPr/>
        </p:nvSpPr>
        <p:spPr>
          <a:xfrm>
            <a:off x="755650" y="815365"/>
            <a:ext cx="10780952" cy="52654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600"/>
              </a:spcBef>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9.1.1 Binary and Unary Operations</a:t>
            </a:r>
            <a:endParaRPr lang="en-US" sz="2400" dirty="0">
              <a:solidFill>
                <a:srgbClr val="0B61FF"/>
              </a:solidFill>
              <a:latin typeface="Trebuchet MS" panose="020B0603020202020204" pitchFamily="34" charset="0"/>
            </a:endParaRPr>
          </a:p>
          <a:p>
            <a:pPr marL="449263" indent="-266700">
              <a:lnSpc>
                <a:spcPct val="130000"/>
              </a:lnSpc>
              <a:spcBef>
                <a:spcPts val="600"/>
              </a:spcBef>
              <a:buClr>
                <a:srgbClr val="0B61FF"/>
              </a:buClr>
              <a:buSzPct val="120000"/>
              <a:buFont typeface="Arial" panose="020B0604020202020204" pitchFamily="34" charset="0"/>
              <a:buChar char="•"/>
              <a:tabLst>
                <a:tab pos="266700" algn="l"/>
                <a:tab pos="358775" algn="l"/>
              </a:tabLst>
            </a:pPr>
            <a:r>
              <a:rPr lang="en-US" sz="2400" dirty="0">
                <a:latin typeface="Trebuchet MS" panose="020B0603020202020204" pitchFamily="34" charset="0"/>
              </a:rPr>
              <a:t>Definition of Binary Operations and Examples</a:t>
            </a:r>
          </a:p>
          <a:p>
            <a:pPr marL="449263" indent="-266700">
              <a:lnSpc>
                <a:spcPct val="130000"/>
              </a:lnSpc>
              <a:spcBef>
                <a:spcPts val="600"/>
              </a:spcBef>
              <a:buClr>
                <a:srgbClr val="0B61FF"/>
              </a:buClr>
              <a:buSzPct val="120000"/>
              <a:buFont typeface="Arial" panose="020B0604020202020204" pitchFamily="34" charset="0"/>
              <a:buChar char="•"/>
              <a:tabLst>
                <a:tab pos="266700" algn="l"/>
                <a:tab pos="358775" algn="l"/>
              </a:tabLst>
            </a:pPr>
            <a:r>
              <a:rPr lang="en-US" sz="2400" dirty="0">
                <a:latin typeface="Trebuchet MS" panose="020B0603020202020204" pitchFamily="34" charset="0"/>
              </a:rPr>
              <a:t>Definition of Unary Operations and Examples</a:t>
            </a:r>
          </a:p>
          <a:p>
            <a:pPr marL="449263" indent="-266700">
              <a:lnSpc>
                <a:spcPct val="130000"/>
              </a:lnSpc>
              <a:spcBef>
                <a:spcPts val="600"/>
              </a:spcBef>
              <a:buClr>
                <a:srgbClr val="0B61FF"/>
              </a:buClr>
              <a:buSzPct val="120000"/>
              <a:buFont typeface="Arial" panose="020B0604020202020204" pitchFamily="34" charset="0"/>
              <a:buChar char="•"/>
              <a:tabLst>
                <a:tab pos="266700" algn="l"/>
                <a:tab pos="358775" algn="l"/>
              </a:tabLst>
            </a:pPr>
            <a:r>
              <a:rPr lang="en-US" sz="2400" dirty="0">
                <a:latin typeface="Trebuchet MS" panose="020B0603020202020204" pitchFamily="34" charset="0"/>
              </a:rPr>
              <a:t>Notation of Operations</a:t>
            </a:r>
          </a:p>
          <a:p>
            <a:pPr>
              <a:lnSpc>
                <a:spcPct val="13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9.1.2 Properties of Binary Operations</a:t>
            </a:r>
          </a:p>
          <a:p>
            <a:pPr marL="449263" indent="-266700">
              <a:lnSpc>
                <a:spcPct val="130000"/>
              </a:lnSpc>
              <a:spcBef>
                <a:spcPts val="600"/>
              </a:spcBef>
              <a:buClr>
                <a:srgbClr val="0B61FF"/>
              </a:buClr>
              <a:buSzPct val="120000"/>
              <a:buFont typeface="Arial" panose="020B0604020202020204" pitchFamily="34" charset="0"/>
              <a:buChar char="•"/>
            </a:pPr>
            <a:r>
              <a:rPr lang="en-US" sz="2400" dirty="0">
                <a:latin typeface="Trebuchet MS" panose="020B0603020202020204" pitchFamily="34" charset="0"/>
              </a:rPr>
              <a:t>Commutativity, Associativity, Idempotency, Distributivity, Absorption.</a:t>
            </a:r>
          </a:p>
          <a:p>
            <a:pPr marL="449263" indent="-266700">
              <a:lnSpc>
                <a:spcPct val="130000"/>
              </a:lnSpc>
              <a:spcBef>
                <a:spcPts val="600"/>
              </a:spcBef>
              <a:buClr>
                <a:srgbClr val="0B61FF"/>
              </a:buClr>
              <a:buSzPct val="120000"/>
              <a:buFont typeface="Arial" panose="020B0604020202020204" pitchFamily="34" charset="0"/>
              <a:buChar char="•"/>
            </a:pPr>
            <a:r>
              <a:rPr lang="en-US" sz="2400" dirty="0">
                <a:latin typeface="Trebuchet MS" panose="020B0603020202020204" pitchFamily="34" charset="0"/>
              </a:rPr>
              <a:t>Special Elements: Identity Element, Zero Element, Invertible Element.</a:t>
            </a:r>
          </a:p>
          <a:p>
            <a:pPr marL="449263" indent="-266700">
              <a:lnSpc>
                <a:spcPct val="130000"/>
              </a:lnSpc>
              <a:spcBef>
                <a:spcPts val="600"/>
              </a:spcBef>
              <a:buClr>
                <a:srgbClr val="0B61FF"/>
              </a:buClr>
              <a:buSzPct val="120000"/>
              <a:buFont typeface="Arial" panose="020B0604020202020204" pitchFamily="34" charset="0"/>
              <a:buChar char="•"/>
            </a:pPr>
            <a:r>
              <a:rPr lang="en-US" sz="2400" dirty="0">
                <a:latin typeface="Trebuchet MS" panose="020B0603020202020204" pitchFamily="34" charset="0"/>
              </a:rPr>
              <a:t>Cancellation Laws</a:t>
            </a:r>
          </a:p>
        </p:txBody>
      </p:sp>
    </p:spTree>
    <p:extLst>
      <p:ext uri="{BB962C8B-B14F-4D97-AF65-F5344CB8AC3E}">
        <p14:creationId xmlns:p14="http://schemas.microsoft.com/office/powerpoint/2010/main" val="27753672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300"/>
              </a:spcBef>
              <a:buClr>
                <a:srgbClr val="0B61FF"/>
              </a:buClr>
              <a:buSzPct val="80000"/>
            </a:pPr>
            <a:r>
              <a:rPr lang="en-US" altLang="zh-CN" sz="2000" b="1" dirty="0">
                <a:latin typeface="Trebuchet MS" panose="020B0603020202020204" pitchFamily="34" charset="0"/>
              </a:rPr>
              <a:t>             9.1.1 Binary and Unary Operations</a:t>
            </a:r>
            <a:endParaRPr lang="en-US" altLang="zh-CN" sz="2000" dirty="0">
              <a:latin typeface="Trebuchet MS" panose="020B0603020202020204" pitchFamily="34"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Definition of Binary Operations and Examples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9244166"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Text Box 3">
            <a:extLst>
              <a:ext uri="{FF2B5EF4-FFF2-40B4-BE49-F238E27FC236}">
                <a16:creationId xmlns:a16="http://schemas.microsoft.com/office/drawing/2014/main" id="{0914035F-8AD4-43AC-9A6C-7D494AD1CA6E}"/>
              </a:ext>
            </a:extLst>
          </p:cNvPr>
          <p:cNvSpPr txBox="1">
            <a:spLocks noChangeArrowheads="1"/>
          </p:cNvSpPr>
          <p:nvPr/>
        </p:nvSpPr>
        <p:spPr bwMode="auto">
          <a:xfrm>
            <a:off x="266700" y="843871"/>
            <a:ext cx="11715750" cy="5173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457200" indent="-457200">
              <a:defRPr>
                <a:solidFill>
                  <a:schemeClr val="accent2"/>
                </a:solidFill>
                <a:latin typeface="Arial" panose="020B0604020202020204" pitchFamily="34" charset="0"/>
                <a:ea typeface="华文行楷" panose="02010800040101010101" pitchFamily="2" charset="-122"/>
              </a:defRPr>
            </a:lvl1pPr>
            <a:lvl2pPr>
              <a:defRPr>
                <a:solidFill>
                  <a:schemeClr val="accent2"/>
                </a:solidFill>
                <a:latin typeface="Arial" panose="020B0604020202020204" pitchFamily="34" charset="0"/>
                <a:ea typeface="华文行楷" panose="02010800040101010101" pitchFamily="2" charset="-122"/>
              </a:defRPr>
            </a:lvl2pPr>
            <a:lvl3pPr>
              <a:defRPr>
                <a:solidFill>
                  <a:schemeClr val="accent2"/>
                </a:solidFill>
                <a:latin typeface="Arial" panose="020B0604020202020204" pitchFamily="34" charset="0"/>
                <a:ea typeface="华文行楷" panose="02010800040101010101" pitchFamily="2" charset="-122"/>
              </a:defRPr>
            </a:lvl3pPr>
            <a:lvl4pPr>
              <a:defRPr>
                <a:solidFill>
                  <a:schemeClr val="accent2"/>
                </a:solidFill>
                <a:latin typeface="Arial" panose="020B0604020202020204" pitchFamily="34" charset="0"/>
                <a:ea typeface="华文行楷" panose="02010800040101010101" pitchFamily="2" charset="-122"/>
              </a:defRPr>
            </a:lvl4pPr>
            <a:lvl5pPr>
              <a:defRPr>
                <a:solidFill>
                  <a:schemeClr val="accent2"/>
                </a:solidFill>
                <a:latin typeface="Arial" panose="020B0604020202020204" pitchFamily="34" charset="0"/>
                <a:ea typeface="华文行楷" panose="02010800040101010101" pitchFamily="2" charset="-122"/>
              </a:defRPr>
            </a:lvl5pPr>
            <a:lvl6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9875" indent="-269875">
              <a:lnSpc>
                <a:spcPct val="110000"/>
              </a:lnSpc>
              <a:spcBef>
                <a:spcPts val="300"/>
              </a:spcBef>
              <a:buClr>
                <a:srgbClr val="0B61FF"/>
              </a:buClr>
              <a:buSzPct val="80000"/>
              <a:buFont typeface="Wingdings" panose="05000000000000000000" pitchFamily="2" charset="2"/>
              <a:buChar char="n"/>
            </a:pPr>
            <a:r>
              <a:rPr lang="en-US" sz="2400" b="1" dirty="0">
                <a:solidFill>
                  <a:schemeClr val="tx1"/>
                </a:solidFill>
                <a:latin typeface="Trebuchet MS" panose="020B0603020202020204" pitchFamily="34" charset="0"/>
              </a:rPr>
              <a:t>Definition 9.1:</a:t>
            </a:r>
            <a:r>
              <a:rPr lang="en-US" sz="2400" dirty="0">
                <a:solidFill>
                  <a:schemeClr val="tx1"/>
                </a:solidFill>
                <a:latin typeface="Trebuchet MS" panose="020B0603020202020204" pitchFamily="34" charset="0"/>
              </a:rPr>
              <a:t>Let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sz="2400" dirty="0">
                <a:solidFill>
                  <a:schemeClr val="tx1"/>
                </a:solidFill>
                <a:latin typeface="Trebuchet MS" panose="020B0603020202020204" pitchFamily="34" charset="0"/>
              </a:rPr>
              <a:t> be a set. A function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f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  </a:t>
            </a:r>
            <a:r>
              <a:rPr lang="en-US" sz="2400" dirty="0">
                <a:solidFill>
                  <a:schemeClr val="tx1"/>
                </a:solidFill>
                <a:latin typeface="Trebuchet MS" panose="020B0603020202020204" pitchFamily="34" charset="0"/>
              </a:rPr>
              <a:t>is called a </a:t>
            </a:r>
            <a:r>
              <a:rPr lang="en-US" sz="2400" b="1" i="1" dirty="0">
                <a:solidFill>
                  <a:srgbClr val="0B61FF"/>
                </a:solidFill>
                <a:latin typeface="Trebuchet MS" panose="020B0603020202020204" pitchFamily="34" charset="0"/>
              </a:rPr>
              <a:t>binary operation</a:t>
            </a:r>
            <a:r>
              <a:rPr lang="en-US" sz="2400" dirty="0">
                <a:solidFill>
                  <a:schemeClr val="tx1"/>
                </a:solidFill>
                <a:latin typeface="Trebuchet MS" panose="020B0603020202020204" pitchFamily="34" charset="0"/>
              </a:rPr>
              <a:t> on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sz="2400" dirty="0">
                <a:solidFill>
                  <a:schemeClr val="tx1"/>
                </a:solidFill>
                <a:latin typeface="Trebuchet MS" panose="020B0603020202020204" pitchFamily="34" charset="0"/>
              </a:rPr>
              <a:t>, or simply a binary operation. We also say that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sz="2400" dirty="0">
                <a:solidFill>
                  <a:schemeClr val="tx1"/>
                </a:solidFill>
                <a:latin typeface="Trebuchet MS" panose="020B0603020202020204" pitchFamily="34" charset="0"/>
              </a:rPr>
              <a:t> is </a:t>
            </a:r>
            <a:r>
              <a:rPr lang="en-US" sz="2400" b="1" dirty="0">
                <a:solidFill>
                  <a:schemeClr val="tx1"/>
                </a:solidFill>
                <a:latin typeface="Trebuchet MS" panose="020B0603020202020204" pitchFamily="34" charset="0"/>
              </a:rPr>
              <a:t>closed</a:t>
            </a:r>
            <a:r>
              <a:rPr lang="en-US" sz="2400" dirty="0">
                <a:solidFill>
                  <a:schemeClr val="tx1"/>
                </a:solidFill>
                <a:latin typeface="Trebuchet MS" panose="020B0603020202020204" pitchFamily="34" charset="0"/>
              </a:rPr>
              <a:t> under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f </a:t>
            </a:r>
            <a:r>
              <a:rPr lang="en-US" sz="2400" dirty="0">
                <a:solidFill>
                  <a:schemeClr val="tx1"/>
                </a:solidFill>
                <a:latin typeface="Trebuchet MS" panose="020B0603020202020204" pitchFamily="34" charset="0"/>
              </a:rPr>
              <a:t>.</a:t>
            </a:r>
          </a:p>
          <a:p>
            <a:pPr marL="269875" indent="-269875">
              <a:lnSpc>
                <a:spcPct val="110000"/>
              </a:lnSpc>
              <a:spcBef>
                <a:spcPts val="300"/>
              </a:spcBef>
              <a:buClr>
                <a:srgbClr val="0B61FF"/>
              </a:buClr>
              <a:buSzPct val="80000"/>
              <a:buFont typeface="Wingdings" panose="05000000000000000000" pitchFamily="2" charset="2"/>
              <a:buChar char="n"/>
            </a:pPr>
            <a:r>
              <a:rPr lang="en-US" sz="2400" b="1" dirty="0">
                <a:solidFill>
                  <a:schemeClr val="tx1"/>
                </a:solidFill>
                <a:latin typeface="Trebuchet MS" panose="020B0603020202020204" pitchFamily="34" charset="0"/>
              </a:rPr>
              <a:t>Examples</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marL="720725" indent="-720725">
              <a:lnSpc>
                <a:spcPct val="110000"/>
              </a:lnSpc>
              <a:spcBef>
                <a:spcPts val="300"/>
              </a:spcBef>
            </a:pPr>
            <a:r>
              <a:rPr lang="en-US" sz="2400" b="1" dirty="0">
                <a:solidFill>
                  <a:srgbClr val="0B61FF"/>
                </a:solidFill>
                <a:latin typeface="Trebuchet MS" panose="020B0603020202020204" pitchFamily="34" charset="0"/>
              </a:rPr>
              <a:t>(1)</a:t>
            </a:r>
            <a:r>
              <a:rPr lang="en-US" sz="2400" b="1" dirty="0">
                <a:solidFill>
                  <a:schemeClr val="tx1"/>
                </a:solidFill>
                <a:latin typeface="Trebuchet MS" panose="020B0603020202020204" pitchFamily="34" charset="0"/>
              </a:rPr>
              <a:t> </a:t>
            </a:r>
            <a:r>
              <a:rPr lang="en-US" sz="2400" dirty="0">
                <a:solidFill>
                  <a:schemeClr val="tx1"/>
                </a:solidFill>
                <a:latin typeface="Trebuchet MS" panose="020B0603020202020204" pitchFamily="34" charset="0"/>
              </a:rPr>
              <a:t>Binary operations on the set of natural numbers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N</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sz="2400" dirty="0">
                <a:solidFill>
                  <a:schemeClr val="tx1"/>
                </a:solidFill>
                <a:latin typeface="Trebuchet MS" panose="020B0603020202020204" pitchFamily="34" charset="0"/>
              </a:rPr>
              <a:t>addition and multiplication.</a:t>
            </a:r>
          </a:p>
          <a:p>
            <a:pPr marL="266700" indent="0">
              <a:lnSpc>
                <a:spcPct val="110000"/>
              </a:lnSpc>
              <a:spcBef>
                <a:spcPts val="300"/>
              </a:spcBef>
            </a:pPr>
            <a:r>
              <a:rPr lang="en-US" sz="2400" b="1" dirty="0">
                <a:solidFill>
                  <a:schemeClr val="tx1"/>
                </a:solidFill>
                <a:latin typeface="Trebuchet MS" panose="020B0603020202020204" pitchFamily="34" charset="0"/>
              </a:rPr>
              <a:t>Note: </a:t>
            </a:r>
            <a:r>
              <a:rPr lang="en-US" sz="2400" dirty="0">
                <a:solidFill>
                  <a:schemeClr val="tx1">
                    <a:lumMod val="50000"/>
                    <a:lumOff val="50000"/>
                  </a:schemeClr>
                </a:solidFill>
                <a:latin typeface="Trebuchet MS" panose="020B0603020202020204" pitchFamily="34" charset="0"/>
              </a:rPr>
              <a:t>Subtraction and division do not satisfy closure, as the result may not be a natural number.</a:t>
            </a:r>
          </a:p>
          <a:p>
            <a:pPr marL="630238" indent="-630238">
              <a:lnSpc>
                <a:spcPct val="110000"/>
              </a:lnSpc>
              <a:spcBef>
                <a:spcPts val="300"/>
              </a:spcBef>
              <a:tabLst>
                <a:tab pos="179388" algn="l"/>
              </a:tabLst>
            </a:pPr>
            <a:r>
              <a:rPr lang="en-US" sz="2400" b="1" dirty="0">
                <a:solidFill>
                  <a:srgbClr val="0B61FF"/>
                </a:solidFill>
                <a:latin typeface="Trebuchet MS" panose="020B0603020202020204" pitchFamily="34" charset="0"/>
              </a:rPr>
              <a:t>(2)</a:t>
            </a:r>
            <a:r>
              <a:rPr lang="en-US" sz="2400" dirty="0">
                <a:solidFill>
                  <a:schemeClr val="tx1"/>
                </a:solidFill>
                <a:latin typeface="Trebuchet MS" panose="020B0603020202020204" pitchFamily="34" charset="0"/>
              </a:rPr>
              <a:t> Binary operations on the set of integers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Z</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sz="2400" dirty="0">
                <a:solidFill>
                  <a:schemeClr val="tx1"/>
                </a:solidFill>
                <a:latin typeface="Trebuchet MS" panose="020B0603020202020204" pitchFamily="34" charset="0"/>
              </a:rPr>
              <a:t>addition, subtraction, and multiplication.</a:t>
            </a: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marL="450850" indent="-184150">
              <a:lnSpc>
                <a:spcPct val="110000"/>
              </a:lnSpc>
              <a:spcBef>
                <a:spcPts val="300"/>
              </a:spcBef>
            </a:pPr>
            <a:r>
              <a:rPr lang="en-US" sz="2400" b="1" dirty="0">
                <a:solidFill>
                  <a:schemeClr val="tx1"/>
                </a:solidFill>
                <a:latin typeface="Trebuchet MS" panose="020B0603020202020204" pitchFamily="34" charset="0"/>
              </a:rPr>
              <a:t>Note: </a:t>
            </a:r>
            <a:r>
              <a:rPr lang="en-US" sz="2400" dirty="0">
                <a:solidFill>
                  <a:schemeClr val="tx1">
                    <a:lumMod val="50000"/>
                    <a:lumOff val="50000"/>
                  </a:schemeClr>
                </a:solidFill>
                <a:latin typeface="Trebuchet MS" panose="020B0603020202020204" pitchFamily="34" charset="0"/>
              </a:rPr>
              <a:t>Division may produce non-integer results, thus lacking closure.</a:t>
            </a:r>
          </a:p>
          <a:p>
            <a:pPr marL="628650" indent="-628650">
              <a:lnSpc>
                <a:spcPct val="110000"/>
              </a:lnSpc>
              <a:spcBef>
                <a:spcPts val="300"/>
              </a:spcBef>
            </a:pPr>
            <a:r>
              <a:rPr lang="en-US" altLang="zh-CN" sz="2400" b="1" dirty="0">
                <a:solidFill>
                  <a:srgbClr val="0B61FF"/>
                </a:solidFill>
                <a:latin typeface="Trebuchet MS" panose="020B0603020202020204" pitchFamily="34" charset="0"/>
              </a:rPr>
              <a:t>(3) </a:t>
            </a:r>
            <a:r>
              <a:rPr lang="en-US" altLang="zh-CN" sz="2400" dirty="0">
                <a:solidFill>
                  <a:schemeClr val="tx1"/>
                </a:solidFill>
                <a:latin typeface="Trebuchet MS" panose="020B0603020202020204" pitchFamily="34" charset="0"/>
              </a:rPr>
              <a:t>Binary operations on the set of nonzero real numbers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rPr>
              <a:t>multiplication and division.</a:t>
            </a: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marL="720725" indent="-454025">
              <a:lnSpc>
                <a:spcPct val="110000"/>
              </a:lnSpc>
              <a:spcBef>
                <a:spcPts val="300"/>
              </a:spcBef>
            </a:pPr>
            <a:r>
              <a:rPr lang="en-US" altLang="zh-CN" sz="2400" b="1" dirty="0">
                <a:solidFill>
                  <a:schemeClr val="tx1"/>
                </a:solidFill>
                <a:latin typeface="Trebuchet MS" panose="020B0603020202020204" pitchFamily="34" charset="0"/>
              </a:rPr>
              <a:t>Note: </a:t>
            </a:r>
            <a:r>
              <a:rPr lang="en-US" altLang="zh-CN" sz="2400" dirty="0">
                <a:solidFill>
                  <a:schemeClr val="tx1">
                    <a:lumMod val="50000"/>
                    <a:lumOff val="50000"/>
                  </a:schemeClr>
                </a:solidFill>
                <a:latin typeface="Trebuchet MS" panose="020B0603020202020204" pitchFamily="34" charset="0"/>
              </a:rPr>
              <a:t>Addition and subtraction do not satisfy closure, as results can include zero</a:t>
            </a:r>
            <a:r>
              <a:rPr lang="en-US" altLang="zh-CN" sz="2400" b="1" dirty="0">
                <a:solidFill>
                  <a:schemeClr val="tx1">
                    <a:lumMod val="50000"/>
                    <a:lumOff val="50000"/>
                  </a:schemeClr>
                </a:solidFill>
                <a:latin typeface="Trebuchet MS" panose="020B0603020202020204" pitchFamily="34" charset="0"/>
              </a:rPr>
              <a:t>.</a:t>
            </a:r>
          </a:p>
          <a:p>
            <a:pPr>
              <a:lnSpc>
                <a:spcPct val="110000"/>
              </a:lnSpc>
            </a:pPr>
            <a:endPar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59193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1000"/>
                                        <p:tgtEl>
                                          <p:spTgt spid="10">
                                            <p:txEl>
                                              <p:pRg st="2" end="2"/>
                                            </p:txEl>
                                          </p:spTgt>
                                        </p:tgtEl>
                                      </p:cBhvr>
                                    </p:animEffect>
                                    <p:anim calcmode="lin" valueType="num">
                                      <p:cBhvr>
                                        <p:cTn id="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3" end="3"/>
                                            </p:txEl>
                                          </p:spTgt>
                                        </p:tgtEl>
                                        <p:attrNameLst>
                                          <p:attrName>style.visibility</p:attrName>
                                        </p:attrNameLst>
                                      </p:cBhvr>
                                      <p:to>
                                        <p:strVal val="visible"/>
                                      </p:to>
                                    </p:set>
                                    <p:animEffect transition="in" filter="fade">
                                      <p:cBhvr>
                                        <p:cTn id="14" dur="1000"/>
                                        <p:tgtEl>
                                          <p:spTgt spid="10">
                                            <p:txEl>
                                              <p:pRg st="3" end="3"/>
                                            </p:txEl>
                                          </p:spTgt>
                                        </p:tgtEl>
                                      </p:cBhvr>
                                    </p:animEffect>
                                    <p:anim calcmode="lin" valueType="num">
                                      <p:cBhvr>
                                        <p:cTn id="15"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fade">
                                      <p:cBhvr>
                                        <p:cTn id="21" dur="1000"/>
                                        <p:tgtEl>
                                          <p:spTgt spid="10">
                                            <p:txEl>
                                              <p:pRg st="4" end="4"/>
                                            </p:txEl>
                                          </p:spTgt>
                                        </p:tgtEl>
                                      </p:cBhvr>
                                    </p:animEffect>
                                    <p:anim calcmode="lin" valueType="num">
                                      <p:cBhvr>
                                        <p:cTn id="22"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5" end="5"/>
                                            </p:txEl>
                                          </p:spTgt>
                                        </p:tgtEl>
                                        <p:attrNameLst>
                                          <p:attrName>style.visibility</p:attrName>
                                        </p:attrNameLst>
                                      </p:cBhvr>
                                      <p:to>
                                        <p:strVal val="visible"/>
                                      </p:to>
                                    </p:set>
                                    <p:animEffect transition="in" filter="fade">
                                      <p:cBhvr>
                                        <p:cTn id="28" dur="1000"/>
                                        <p:tgtEl>
                                          <p:spTgt spid="10">
                                            <p:txEl>
                                              <p:pRg st="5" end="5"/>
                                            </p:txEl>
                                          </p:spTgt>
                                        </p:tgtEl>
                                      </p:cBhvr>
                                    </p:animEffect>
                                    <p:anim calcmode="lin" valueType="num">
                                      <p:cBhvr>
                                        <p:cTn id="29"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xEl>
                                              <p:pRg st="6" end="6"/>
                                            </p:txEl>
                                          </p:spTgt>
                                        </p:tgtEl>
                                        <p:attrNameLst>
                                          <p:attrName>style.visibility</p:attrName>
                                        </p:attrNameLst>
                                      </p:cBhvr>
                                      <p:to>
                                        <p:strVal val="visible"/>
                                      </p:to>
                                    </p:set>
                                    <p:animEffect transition="in" filter="fade">
                                      <p:cBhvr>
                                        <p:cTn id="35" dur="1000"/>
                                        <p:tgtEl>
                                          <p:spTgt spid="10">
                                            <p:txEl>
                                              <p:pRg st="6" end="6"/>
                                            </p:txEl>
                                          </p:spTgt>
                                        </p:tgtEl>
                                      </p:cBhvr>
                                    </p:animEffect>
                                    <p:anim calcmode="lin" valueType="num">
                                      <p:cBhvr>
                                        <p:cTn id="36"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fade">
                                      <p:cBhvr>
                                        <p:cTn id="42" dur="1000"/>
                                        <p:tgtEl>
                                          <p:spTgt spid="10">
                                            <p:txEl>
                                              <p:pRg st="7" end="7"/>
                                            </p:txEl>
                                          </p:spTgt>
                                        </p:tgtEl>
                                      </p:cBhvr>
                                    </p:animEffect>
                                    <p:anim calcmode="lin" valueType="num">
                                      <p:cBhvr>
                                        <p:cTn id="43"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300"/>
              </a:spcBef>
              <a:buClr>
                <a:srgbClr val="0B61FF"/>
              </a:buClr>
              <a:buSzPct val="80000"/>
            </a:pPr>
            <a:r>
              <a:rPr lang="en-US" altLang="zh-CN" sz="2000" b="1" dirty="0">
                <a:latin typeface="Trebuchet MS" panose="020B0603020202020204" pitchFamily="34" charset="0"/>
              </a:rPr>
              <a:t>             9.1.1 Binary and Unary Operations</a:t>
            </a:r>
            <a:endParaRPr lang="en-US" altLang="zh-CN" sz="2000" dirty="0">
              <a:latin typeface="Trebuchet MS" panose="020B0603020202020204" pitchFamily="34"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Examples of Binary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9244166"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Text Box 3">
            <a:extLst>
              <a:ext uri="{FF2B5EF4-FFF2-40B4-BE49-F238E27FC236}">
                <a16:creationId xmlns:a16="http://schemas.microsoft.com/office/drawing/2014/main" id="{0914035F-8AD4-43AC-9A6C-7D494AD1CA6E}"/>
              </a:ext>
            </a:extLst>
          </p:cNvPr>
          <p:cNvSpPr txBox="1">
            <a:spLocks noChangeArrowheads="1"/>
          </p:cNvSpPr>
          <p:nvPr/>
        </p:nvSpPr>
        <p:spPr bwMode="auto">
          <a:xfrm>
            <a:off x="782781" y="843869"/>
            <a:ext cx="10626437" cy="519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457200" indent="-457200">
              <a:defRPr>
                <a:solidFill>
                  <a:schemeClr val="accent2"/>
                </a:solidFill>
                <a:latin typeface="Arial" panose="020B0604020202020204" pitchFamily="34" charset="0"/>
                <a:ea typeface="华文行楷" panose="02010800040101010101" pitchFamily="2" charset="-122"/>
              </a:defRPr>
            </a:lvl1pPr>
            <a:lvl2pPr>
              <a:defRPr>
                <a:solidFill>
                  <a:schemeClr val="accent2"/>
                </a:solidFill>
                <a:latin typeface="Arial" panose="020B0604020202020204" pitchFamily="34" charset="0"/>
                <a:ea typeface="华文行楷" panose="02010800040101010101" pitchFamily="2" charset="-122"/>
              </a:defRPr>
            </a:lvl2pPr>
            <a:lvl3pPr>
              <a:defRPr>
                <a:solidFill>
                  <a:schemeClr val="accent2"/>
                </a:solidFill>
                <a:latin typeface="Arial" panose="020B0604020202020204" pitchFamily="34" charset="0"/>
                <a:ea typeface="华文行楷" panose="02010800040101010101" pitchFamily="2" charset="-122"/>
              </a:defRPr>
            </a:lvl3pPr>
            <a:lvl4pPr>
              <a:defRPr>
                <a:solidFill>
                  <a:schemeClr val="accent2"/>
                </a:solidFill>
                <a:latin typeface="Arial" panose="020B0604020202020204" pitchFamily="34" charset="0"/>
                <a:ea typeface="华文行楷" panose="02010800040101010101" pitchFamily="2" charset="-122"/>
              </a:defRPr>
            </a:lvl4pPr>
            <a:lvl5pPr>
              <a:defRPr>
                <a:solidFill>
                  <a:schemeClr val="accent2"/>
                </a:solidFill>
                <a:latin typeface="Arial" panose="020B0604020202020204" pitchFamily="34" charset="0"/>
                <a:ea typeface="华文行楷" panose="02010800040101010101" pitchFamily="2" charset="-122"/>
              </a:defRPr>
            </a:lvl5pPr>
            <a:lvl6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9875" indent="-269875">
              <a:lnSpc>
                <a:spcPct val="120000"/>
              </a:lnSpc>
              <a:spcBef>
                <a:spcPts val="300"/>
              </a:spcBef>
              <a:buClr>
                <a:srgbClr val="0B61FF"/>
              </a:buClr>
              <a:buSzPct val="80000"/>
              <a:buFont typeface="Wingdings" panose="05000000000000000000" pitchFamily="2" charset="2"/>
              <a:buChar char="n"/>
            </a:pPr>
            <a:r>
              <a:rPr lang="en-US" sz="2400" b="1" dirty="0">
                <a:solidFill>
                  <a:schemeClr val="tx1"/>
                </a:solidFill>
                <a:latin typeface="Trebuchet MS" panose="020B0603020202020204" pitchFamily="34" charset="0"/>
              </a:rPr>
              <a:t>Examples</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indent="-277813">
              <a:lnSpc>
                <a:spcPct val="120000"/>
              </a:lnSpc>
              <a:spcBef>
                <a:spcPts val="300"/>
              </a:spcBef>
              <a:tabLst>
                <a:tab pos="177800"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(4) </a:t>
            </a:r>
            <a:r>
              <a:rPr lang="en-US" sz="2400" dirty="0">
                <a:solidFill>
                  <a:schemeClr val="tx1"/>
                </a:solidFill>
                <a:latin typeface="Trebuchet MS" panose="020B0603020202020204" pitchFamily="34" charset="0"/>
              </a:rPr>
              <a:t>Let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n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i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j</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i </a:t>
            </a:r>
            <a:r>
              <a:rPr lang="zh-CN" altLang="en-US"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solidFill>
                  <a:schemeClr val="tx1"/>
                </a:solidFill>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sz="2400" dirty="0">
                <a:solidFill>
                  <a:schemeClr val="tx1"/>
                </a:solidFill>
                <a:latin typeface="Trebuchet MS" panose="020B0603020202020204" pitchFamily="34" charset="0"/>
              </a:rPr>
              <a:t>is a binary operation on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p>
          <a:p>
            <a:pPr indent="-277813">
              <a:lnSpc>
                <a:spcPct val="120000"/>
              </a:lnSpc>
              <a:spcBef>
                <a:spcPts val="300"/>
              </a:spcBef>
              <a:tabLst>
                <a:tab pos="177800"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(5) </a:t>
            </a:r>
            <a:r>
              <a:rPr lang="en-US" altLang="zh-CN" sz="2400" dirty="0">
                <a:solidFill>
                  <a:schemeClr val="tx1"/>
                </a:solidFill>
                <a:latin typeface="Trebuchet MS" panose="020B0603020202020204" pitchFamily="34" charset="0"/>
              </a:rPr>
              <a:t>Let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M</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dirty="0">
                <a:solidFill>
                  <a:schemeClr val="tx1"/>
                </a:solidFill>
                <a:latin typeface="Trebuchet MS" panose="020B0603020202020204" pitchFamily="34" charset="0"/>
              </a:rPr>
              <a:t> denote the set of all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n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≥2)</a:t>
            </a:r>
            <a:r>
              <a:rPr lang="en-US" altLang="zh-CN" sz="2400" dirty="0">
                <a:solidFill>
                  <a:schemeClr val="tx1"/>
                </a:solidFill>
                <a:latin typeface="Trebuchet MS" panose="020B0603020202020204" pitchFamily="34" charset="0"/>
              </a:rPr>
              <a:t> real matrices</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then</a:t>
            </a:r>
            <a:endParaRPr lang="zh-CN" altLang="en-US"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a:lnSpc>
                <a:spcPct val="120000"/>
              </a:lnSpc>
              <a:spcBef>
                <a:spcPts val="300"/>
              </a:spcBef>
            </a:pP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a:lnSpc>
                <a:spcPct val="120000"/>
              </a:lnSpc>
              <a:spcBef>
                <a:spcPts val="300"/>
              </a:spcBef>
            </a:pP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a:lnSpc>
                <a:spcPct val="120000"/>
              </a:lnSpc>
              <a:spcBef>
                <a:spcPts val="300"/>
              </a:spcBef>
            </a:pP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a:lnSpc>
                <a:spcPct val="120000"/>
              </a:lnSpc>
              <a:spcBef>
                <a:spcPts val="300"/>
              </a:spcBef>
            </a:pP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indent="-190500">
              <a:lnSpc>
                <a:spcPct val="120000"/>
              </a:lnSpc>
              <a:spcBef>
                <a:spcPts val="300"/>
              </a:spcBef>
            </a:pPr>
            <a:r>
              <a:rPr lang="en-US" altLang="zh-CN" sz="2400" b="1" i="1" dirty="0">
                <a:solidFill>
                  <a:srgbClr val="0B61FF"/>
                </a:solidFill>
                <a:latin typeface="Trebuchet MS" panose="020B0603020202020204" pitchFamily="34" charset="0"/>
              </a:rPr>
              <a:t>Matrix addition and multiplication </a:t>
            </a:r>
            <a:r>
              <a:rPr lang="en-US" altLang="zh-CN" sz="2400" dirty="0">
                <a:solidFill>
                  <a:schemeClr val="tx1"/>
                </a:solidFill>
                <a:latin typeface="Trebuchet MS" panose="020B0603020202020204" pitchFamily="34" charset="0"/>
              </a:rPr>
              <a:t>are both binary operations on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M</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 </a:t>
            </a:r>
          </a:p>
          <a:p>
            <a:pPr indent="-279400">
              <a:lnSpc>
                <a:spcPct val="120000"/>
              </a:lnSpc>
              <a:spcBef>
                <a:spcPts val="300"/>
              </a:spcBef>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 (6) </a:t>
            </a:r>
            <a:r>
              <a:rPr lang="en-US" altLang="zh-CN" sz="2400" dirty="0">
                <a:solidFill>
                  <a:schemeClr val="tx1"/>
                </a:solidFill>
                <a:latin typeface="Trebuchet MS" panose="020B0603020202020204" pitchFamily="34" charset="0"/>
              </a:rPr>
              <a:t>Binary operations on the power set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P</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p>
          <a:p>
            <a:pPr marL="717550" indent="-539750">
              <a:lnSpc>
                <a:spcPct val="120000"/>
              </a:lnSpc>
              <a:spcBef>
                <a:spcPts val="300"/>
              </a:spcBef>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 (7)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i="1" baseline="30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 </a:t>
            </a:r>
            <a:r>
              <a:rPr lang="en-US" altLang="zh-CN" sz="2400" dirty="0">
                <a:solidFill>
                  <a:schemeClr val="tx1"/>
                </a:solidFill>
                <a:latin typeface="Trebuchet MS" panose="020B0603020202020204" pitchFamily="34" charset="0"/>
              </a:rPr>
              <a:t>be the set of all functions from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t</a:t>
            </a:r>
            <a:r>
              <a:rPr lang="en-US" altLang="zh-CN" sz="2400" dirty="0">
                <a:solidFill>
                  <a:schemeClr val="tx1"/>
                </a:solidFill>
                <a:latin typeface="Trebuchet MS" panose="020B0603020202020204" pitchFamily="34" charset="0"/>
              </a:rPr>
              <a:t>he </a:t>
            </a:r>
            <a:r>
              <a:rPr lang="en-US" altLang="zh-CN" sz="2400" b="1" i="1" dirty="0">
                <a:solidFill>
                  <a:srgbClr val="0B61FF"/>
                </a:solidFill>
                <a:latin typeface="Trebuchet MS" panose="020B0603020202020204" pitchFamily="34" charset="0"/>
              </a:rPr>
              <a:t>composition operation </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i</a:t>
            </a:r>
            <a:r>
              <a:rPr lang="en-US" altLang="zh-CN" sz="2400" dirty="0">
                <a:solidFill>
                  <a:schemeClr val="tx1"/>
                </a:solidFill>
                <a:latin typeface="Trebuchet MS" panose="020B0603020202020204" pitchFamily="34" charset="0"/>
              </a:rPr>
              <a:t>s a binary operation on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i="1" baseline="30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p>
          <a:p>
            <a:pPr>
              <a:lnSpc>
                <a:spcPct val="120000"/>
              </a:lnSpc>
            </a:pPr>
            <a:endPar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p:txBody>
      </p:sp>
      <p:graphicFrame>
        <p:nvGraphicFramePr>
          <p:cNvPr id="3" name="对象 2">
            <a:extLst>
              <a:ext uri="{FF2B5EF4-FFF2-40B4-BE49-F238E27FC236}">
                <a16:creationId xmlns:a16="http://schemas.microsoft.com/office/drawing/2014/main" id="{D1587BBF-15CD-46CE-B0F9-2E04C0264BAA}"/>
              </a:ext>
            </a:extLst>
          </p:cNvPr>
          <p:cNvGraphicFramePr>
            <a:graphicFrameLocks noChangeAspect="1"/>
          </p:cNvGraphicFramePr>
          <p:nvPr/>
        </p:nvGraphicFramePr>
        <p:xfrm>
          <a:off x="2975246" y="2462213"/>
          <a:ext cx="5943600" cy="1600200"/>
        </p:xfrm>
        <a:graphic>
          <a:graphicData uri="http://schemas.openxmlformats.org/presentationml/2006/ole">
            <mc:AlternateContent xmlns:mc="http://schemas.openxmlformats.org/markup-compatibility/2006">
              <mc:Choice xmlns:v="urn:schemas-microsoft-com:vml" Requires="v">
                <p:oleObj spid="_x0000_s1028" name="Equation" r:id="rId6" imgW="5943600" imgH="1600200" progId="Equation.DSMT4">
                  <p:embed/>
                </p:oleObj>
              </mc:Choice>
              <mc:Fallback>
                <p:oleObj name="Equation" r:id="rId6" imgW="5943600" imgH="1600200" progId="Equation.DSMT4">
                  <p:embed/>
                  <p:pic>
                    <p:nvPicPr>
                      <p:cNvPr id="3" name="对象 2">
                        <a:extLst>
                          <a:ext uri="{FF2B5EF4-FFF2-40B4-BE49-F238E27FC236}">
                            <a16:creationId xmlns:a16="http://schemas.microsoft.com/office/drawing/2014/main" id="{D1587BBF-15CD-46CE-B0F9-2E04C0264BAA}"/>
                          </a:ext>
                        </a:extLst>
                      </p:cNvPr>
                      <p:cNvPicPr/>
                      <p:nvPr/>
                    </p:nvPicPr>
                    <p:blipFill>
                      <a:blip r:embed="rId7"/>
                      <a:stretch>
                        <a:fillRect/>
                      </a:stretch>
                    </p:blipFill>
                    <p:spPr>
                      <a:xfrm>
                        <a:off x="2975246" y="2462213"/>
                        <a:ext cx="5943600" cy="1600200"/>
                      </a:xfrm>
                      <a:prstGeom prst="rect">
                        <a:avLst/>
                      </a:prstGeom>
                    </p:spPr>
                  </p:pic>
                </p:oleObj>
              </mc:Fallback>
            </mc:AlternateContent>
          </a:graphicData>
        </a:graphic>
      </p:graphicFrame>
    </p:spTree>
    <p:extLst>
      <p:ext uri="{BB962C8B-B14F-4D97-AF65-F5344CB8AC3E}">
        <p14:creationId xmlns:p14="http://schemas.microsoft.com/office/powerpoint/2010/main" val="1416090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xEl>
                                              <p:pRg st="7" end="7"/>
                                            </p:txEl>
                                          </p:spTgt>
                                        </p:tgtEl>
                                        <p:attrNameLst>
                                          <p:attrName>style.visibility</p:attrName>
                                        </p:attrNameLst>
                                      </p:cBhvr>
                                      <p:to>
                                        <p:strVal val="visible"/>
                                      </p:to>
                                    </p:set>
                                    <p:animEffect transition="in" filter="fade">
                                      <p:cBhvr>
                                        <p:cTn id="26" dur="1000"/>
                                        <p:tgtEl>
                                          <p:spTgt spid="10">
                                            <p:txEl>
                                              <p:pRg st="7" end="7"/>
                                            </p:txEl>
                                          </p:spTgt>
                                        </p:tgtEl>
                                      </p:cBhvr>
                                    </p:animEffect>
                                    <p:anim calcmode="lin" valueType="num">
                                      <p:cBhvr>
                                        <p:cTn id="27"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
                                            <p:txEl>
                                              <p:pRg st="8" end="8"/>
                                            </p:txEl>
                                          </p:spTgt>
                                        </p:tgtEl>
                                        <p:attrNameLst>
                                          <p:attrName>style.visibility</p:attrName>
                                        </p:attrNameLst>
                                      </p:cBhvr>
                                      <p:to>
                                        <p:strVal val="visible"/>
                                      </p:to>
                                    </p:set>
                                    <p:animEffect transition="in" filter="fade">
                                      <p:cBhvr>
                                        <p:cTn id="33" dur="1000"/>
                                        <p:tgtEl>
                                          <p:spTgt spid="10">
                                            <p:txEl>
                                              <p:pRg st="8" end="8"/>
                                            </p:txEl>
                                          </p:spTgt>
                                        </p:tgtEl>
                                      </p:cBhvr>
                                    </p:animEffect>
                                    <p:anim calcmode="lin" valueType="num">
                                      <p:cBhvr>
                                        <p:cTn id="34"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0">
                                            <p:txEl>
                                              <p:pRg st="9" end="9"/>
                                            </p:txEl>
                                          </p:spTgt>
                                        </p:tgtEl>
                                        <p:attrNameLst>
                                          <p:attrName>style.visibility</p:attrName>
                                        </p:attrNameLst>
                                      </p:cBhvr>
                                      <p:to>
                                        <p:strVal val="visible"/>
                                      </p:to>
                                    </p:set>
                                    <p:animEffect transition="in" filter="fade">
                                      <p:cBhvr>
                                        <p:cTn id="40" dur="1000"/>
                                        <p:tgtEl>
                                          <p:spTgt spid="10">
                                            <p:txEl>
                                              <p:pRg st="9" end="9"/>
                                            </p:txEl>
                                          </p:spTgt>
                                        </p:tgtEl>
                                      </p:cBhvr>
                                    </p:animEffect>
                                    <p:anim calcmode="lin" valueType="num">
                                      <p:cBhvr>
                                        <p:cTn id="41"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300"/>
              </a:spcBef>
              <a:buClr>
                <a:srgbClr val="0B61FF"/>
              </a:buClr>
              <a:buSzPct val="80000"/>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9.1.1 Binary and Unary Operations</a:t>
            </a:r>
            <a:endParaRPr lang="en-US" altLang="zh-CN" sz="2000" dirty="0">
              <a:latin typeface="Trebuchet MS" panose="020B0603020202020204" pitchFamily="34"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Unary operations and </a:t>
            </a:r>
            <a:r>
              <a:rPr lang="en-US" altLang="zh-CN" sz="2400" b="1" i="1" dirty="0">
                <a:latin typeface="Trebuchet MS" panose="020B0603020202020204" pitchFamily="34" charset="0"/>
              </a:rPr>
              <a:t>n-</a:t>
            </a:r>
            <a:r>
              <a:rPr lang="en-US" altLang="zh-CN" sz="2400" b="1" i="1" dirty="0" err="1">
                <a:latin typeface="Trebuchet MS" panose="020B0603020202020204" pitchFamily="34" charset="0"/>
              </a:rPr>
              <a:t>ary</a:t>
            </a:r>
            <a:r>
              <a:rPr lang="en-US" altLang="zh-CN" sz="2400" b="1" dirty="0">
                <a:latin typeface="Trebuchet MS" panose="020B0603020202020204" pitchFamily="34" charset="0"/>
              </a:rPr>
              <a:t>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482600" y="717602"/>
            <a:ext cx="11341100" cy="575876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9.2:  </a:t>
            </a:r>
            <a:r>
              <a:rPr lang="en-US" sz="2400" dirty="0">
                <a:latin typeface="Trebuchet MS" panose="020B0603020202020204" pitchFamily="34" charset="0"/>
              </a:rPr>
              <a:t>Let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 </a:t>
            </a:r>
            <a:r>
              <a:rPr lang="en-US" sz="2400" dirty="0">
                <a:latin typeface="Trebuchet MS" panose="020B0603020202020204" pitchFamily="34" charset="0"/>
              </a:rPr>
              <a:t>be a set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a:t>
            </a:r>
            <a:r>
              <a:rPr lang="en-US" sz="2400" dirty="0">
                <a:latin typeface="Trebuchet MS" panose="020B0603020202020204" pitchFamily="34" charset="0"/>
              </a:rPr>
              <a:t>A function</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 </a:t>
            </a:r>
            <a:r>
              <a:rPr lang="zh-CN" altLang="en-US" sz="2400" b="1" i="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is called a </a:t>
            </a:r>
            <a:r>
              <a:rPr lang="en-US" sz="2400" b="1" i="1" dirty="0">
                <a:solidFill>
                  <a:srgbClr val="0B61FF"/>
                </a:solidFill>
                <a:latin typeface="Trebuchet MS" panose="020B0603020202020204" pitchFamily="34" charset="0"/>
              </a:rPr>
              <a:t>unary operation</a:t>
            </a:r>
            <a:r>
              <a:rPr lang="en-US" sz="2400" dirty="0">
                <a:latin typeface="Trebuchet MS" panose="020B0603020202020204" pitchFamily="34" charset="0"/>
              </a:rPr>
              <a:t> on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 </a:t>
            </a:r>
            <a:r>
              <a:rPr lang="en-US" sz="2400" dirty="0">
                <a:latin typeface="Trebuchet MS" panose="020B0603020202020204" pitchFamily="34" charset="0"/>
              </a:rPr>
              <a:t>or simply a unary operation</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p>
          <a:p>
            <a:pPr marL="361950" indent="-184150">
              <a:lnSpc>
                <a:spcPct val="110000"/>
              </a:lnSpc>
              <a:spcBef>
                <a:spcPts val="0"/>
              </a:spcBef>
              <a:buClr>
                <a:srgbClr val="0B61FF"/>
              </a:buClr>
              <a:buSzPct val="120000"/>
            </a:pPr>
            <a:r>
              <a:rPr lang="en-US" sz="2400" dirty="0">
                <a:latin typeface="Trebuchet MS" panose="020B0603020202020204" pitchFamily="34" charset="0"/>
              </a:rPr>
              <a:t>More generally, a function                                 is called an </a:t>
            </a:r>
            <a:r>
              <a:rPr lang="en-US" sz="2400" b="1" i="1" dirty="0">
                <a:solidFill>
                  <a:srgbClr val="0B61FF"/>
                </a:solidFill>
                <a:latin typeface="Trebuchet MS" panose="020B0603020202020204" pitchFamily="34" charset="0"/>
              </a:rPr>
              <a:t>n-</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operation </a:t>
            </a:r>
            <a:r>
              <a:rPr lang="en-US" sz="2400" dirty="0">
                <a:latin typeface="Trebuchet MS" panose="020B0603020202020204" pitchFamily="34" charset="0"/>
              </a:rPr>
              <a:t>on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a:t>
            </a:r>
            <a:r>
              <a:rPr lang="en-US" sz="2400" dirty="0">
                <a:latin typeface="Trebuchet MS" panose="020B0603020202020204" pitchFamily="34" charset="0"/>
              </a:rPr>
              <a:t>, or simply an </a:t>
            </a:r>
            <a:r>
              <a:rPr lang="en-US" altLang="zh-CN" sz="2400" b="1" i="1" dirty="0">
                <a:latin typeface="Trebuchet MS" panose="020B0603020202020204" pitchFamily="34" charset="0"/>
                <a:cs typeface="Times New Roman" panose="02020603050405020304" pitchFamily="18" charset="0"/>
              </a:rPr>
              <a:t>n-</a:t>
            </a:r>
            <a:r>
              <a:rPr lang="en-US" sz="2400" b="1" dirty="0">
                <a:latin typeface="Trebuchet MS" panose="020B0603020202020204" pitchFamily="34" charset="0"/>
              </a:rPr>
              <a:t>operation</a:t>
            </a:r>
            <a:r>
              <a:rPr lang="en-US" sz="2400" dirty="0">
                <a:latin typeface="Trebuchet MS" panose="020B0603020202020204" pitchFamily="34" charset="0"/>
              </a:rPr>
              <a:t>.</a:t>
            </a:r>
          </a:p>
          <a:p>
            <a:pPr marL="266700" indent="-266700">
              <a:lnSpc>
                <a:spcPct val="110000"/>
              </a:lnSpc>
              <a:spcBef>
                <a:spcPts val="0"/>
              </a:spcBef>
              <a:buClr>
                <a:srgbClr val="0B61FF"/>
              </a:buClr>
              <a:buSzPct val="80000"/>
              <a:buFont typeface="Wingdings" panose="05000000000000000000" pitchFamily="2" charset="2"/>
              <a:buChar char="n"/>
              <a:tabLst>
                <a:tab pos="0" algn="l"/>
              </a:tabLst>
            </a:pPr>
            <a:r>
              <a:rPr lang="en-US" sz="2400" b="1" dirty="0">
                <a:latin typeface="Trebuchet MS" panose="020B0603020202020204" pitchFamily="34" charset="0"/>
              </a:rPr>
              <a:t>Examples:</a:t>
            </a:r>
            <a:r>
              <a:rPr lang="en-US" sz="2400" dirty="0">
                <a:latin typeface="Trebuchet MS" panose="020B0603020202020204" pitchFamily="34" charset="0"/>
              </a:rPr>
              <a:t> The following are all unary operations:</a:t>
            </a:r>
          </a:p>
          <a:p>
            <a:pPr marL="0" indent="177800">
              <a:lnSpc>
                <a:spcPct val="110000"/>
              </a:lnSpc>
              <a:spcBef>
                <a:spcPts val="0"/>
              </a:spcBef>
              <a:buClr>
                <a:srgbClr val="0B61FF"/>
              </a:buClr>
              <a:buSzPct val="80000"/>
              <a:buNone/>
              <a:tabLst>
                <a:tab pos="0"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(1) </a:t>
            </a:r>
            <a:r>
              <a:rPr lang="en-US" sz="2400" dirty="0">
                <a:latin typeface="Trebuchet MS" panose="020B0603020202020204" pitchFamily="34" charset="0"/>
              </a:rPr>
              <a:t>The </a:t>
            </a:r>
            <a:r>
              <a:rPr lang="en-US" sz="2400" b="1" i="1" dirty="0">
                <a:solidFill>
                  <a:srgbClr val="0B61FF"/>
                </a:solidFill>
                <a:latin typeface="Trebuchet MS" panose="020B0603020202020204" pitchFamily="34" charset="0"/>
              </a:rPr>
              <a:t>negation</a:t>
            </a:r>
            <a:r>
              <a:rPr lang="en-US" sz="2400" dirty="0">
                <a:latin typeface="Trebuchet MS" panose="020B0603020202020204" pitchFamily="34" charset="0"/>
              </a:rPr>
              <a:t> (taking the additive inverse) operation on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Z</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Q</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i="1" dirty="0">
                <a:latin typeface="Trebuchet MS" panose="020B0603020202020204" pitchFamily="34" charset="0"/>
                <a:ea typeface="宋体" panose="02010600030101010101" pitchFamily="2" charset="-122"/>
                <a:cs typeface="Times New Roman" panose="02020603050405020304" pitchFamily="18" charset="0"/>
              </a:rPr>
              <a:t>and</a:t>
            </a:r>
            <a:r>
              <a:rPr lang="zh-CN" altLang="en-US" sz="2400" b="1" i="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R</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p>
          <a:p>
            <a:pPr marL="628650" indent="-450850">
              <a:lnSpc>
                <a:spcPct val="110000"/>
              </a:lnSpc>
              <a:spcBef>
                <a:spcPts val="0"/>
              </a:spcBef>
              <a:buClr>
                <a:srgbClr val="0B61FF"/>
              </a:buClr>
              <a:buSzPct val="80000"/>
              <a:buNone/>
              <a:tabLst>
                <a:tab pos="628650"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(2) </a:t>
            </a:r>
            <a:r>
              <a:rPr lang="en-US" sz="2400" dirty="0">
                <a:latin typeface="Trebuchet MS" panose="020B0603020202020204" pitchFamily="34" charset="0"/>
              </a:rPr>
              <a:t>The </a:t>
            </a:r>
            <a:r>
              <a:rPr lang="en-US" sz="2400" b="1" i="1" dirty="0">
                <a:solidFill>
                  <a:srgbClr val="0B61FF"/>
                </a:solidFill>
                <a:latin typeface="Trebuchet MS" panose="020B0603020202020204" pitchFamily="34" charset="0"/>
              </a:rPr>
              <a:t>reciprocal</a:t>
            </a:r>
            <a:r>
              <a:rPr lang="en-US" sz="2400" dirty="0">
                <a:latin typeface="Trebuchet MS" panose="020B0603020202020204" pitchFamily="34" charset="0"/>
              </a:rPr>
              <a:t> (taking the multiplicative inverse) operation on the set of nonzero rational numbers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Q* </a:t>
            </a:r>
            <a:r>
              <a:rPr lang="en-US" sz="2400" dirty="0">
                <a:latin typeface="Trebuchet MS" panose="020B0603020202020204" pitchFamily="34" charset="0"/>
              </a:rPr>
              <a:t>and the set of nonzero real numbers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R*.</a:t>
            </a:r>
          </a:p>
          <a:p>
            <a:pPr marL="628650" indent="-450850">
              <a:lnSpc>
                <a:spcPct val="110000"/>
              </a:lnSpc>
              <a:spcBef>
                <a:spcPts val="0"/>
              </a:spcBef>
              <a:buClr>
                <a:srgbClr val="0B61FF"/>
              </a:buClr>
              <a:buSzPct val="80000"/>
              <a:buNone/>
              <a:tabLst>
                <a:tab pos="628650"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(3) </a:t>
            </a:r>
            <a:r>
              <a:rPr lang="en-US" sz="2400" dirty="0">
                <a:latin typeface="Trebuchet MS" panose="020B0603020202020204" pitchFamily="34" charset="0"/>
              </a:rPr>
              <a:t>The </a:t>
            </a:r>
            <a:r>
              <a:rPr lang="en-US" sz="2400" b="1" i="1" dirty="0">
                <a:solidFill>
                  <a:srgbClr val="0B61FF"/>
                </a:solidFill>
                <a:latin typeface="Trebuchet MS" panose="020B0603020202020204" pitchFamily="34" charset="0"/>
              </a:rPr>
              <a:t>complex conjugate </a:t>
            </a:r>
            <a:r>
              <a:rPr lang="en-US" sz="2400" dirty="0">
                <a:latin typeface="Trebuchet MS" panose="020B0603020202020204" pitchFamily="34" charset="0"/>
              </a:rPr>
              <a:t>operation on the set of complex numbers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C.</a:t>
            </a:r>
          </a:p>
          <a:p>
            <a:pPr marL="628650" indent="-450850">
              <a:lnSpc>
                <a:spcPct val="110000"/>
              </a:lnSpc>
              <a:spcBef>
                <a:spcPts val="0"/>
              </a:spcBef>
              <a:buClr>
                <a:srgbClr val="0B61FF"/>
              </a:buClr>
              <a:buSzPct val="80000"/>
              <a:buNone/>
              <a:tabLst>
                <a:tab pos="628650"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(4) </a:t>
            </a:r>
            <a:r>
              <a:rPr lang="en-US" sz="2400" dirty="0">
                <a:latin typeface="Trebuchet MS" panose="020B0603020202020204" pitchFamily="34" charset="0"/>
              </a:rPr>
              <a:t>On the power set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P</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sz="2400" dirty="0">
                <a:latin typeface="Trebuchet MS" panose="020B0603020202020204" pitchFamily="34" charset="0"/>
              </a:rPr>
              <a:t> with universe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a:t>
            </a:r>
            <a:r>
              <a:rPr lang="en-US" sz="2400" dirty="0">
                <a:latin typeface="Trebuchet MS" panose="020B0603020202020204" pitchFamily="34" charset="0"/>
              </a:rPr>
              <a:t>the </a:t>
            </a:r>
            <a:r>
              <a:rPr lang="en-US" sz="2400" b="1" i="1" dirty="0">
                <a:solidFill>
                  <a:srgbClr val="0B61FF"/>
                </a:solidFill>
                <a:latin typeface="Trebuchet MS" panose="020B0603020202020204" pitchFamily="34" charset="0"/>
              </a:rPr>
              <a:t>absolute complement</a:t>
            </a:r>
            <a:r>
              <a:rPr lang="en-US" sz="2400" dirty="0">
                <a:latin typeface="Trebuchet MS" panose="020B0603020202020204" pitchFamily="34" charset="0"/>
              </a:rPr>
              <a:t> operation</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p>
          <a:p>
            <a:pPr marL="628650" indent="-450850">
              <a:lnSpc>
                <a:spcPct val="110000"/>
              </a:lnSpc>
              <a:spcBef>
                <a:spcPts val="0"/>
              </a:spcBef>
              <a:buClr>
                <a:srgbClr val="0B61FF"/>
              </a:buClr>
              <a:buSzPct val="80000"/>
              <a:buNone/>
              <a:tabLst>
                <a:tab pos="628650"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(5) </a:t>
            </a:r>
            <a:r>
              <a:rPr lang="en-US" sz="2400" dirty="0">
                <a:latin typeface="Trebuchet MS" panose="020B0603020202020204" pitchFamily="34" charset="0"/>
              </a:rPr>
              <a:t>Let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 </a:t>
            </a:r>
            <a:r>
              <a:rPr lang="en-US" sz="2400" dirty="0">
                <a:latin typeface="Trebuchet MS" panose="020B0603020202020204" pitchFamily="34" charset="0"/>
              </a:rPr>
              <a:t> be the set of all bijective functions on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a:t>
            </a:r>
            <a:r>
              <a:rPr lang="en-US" sz="2400" dirty="0">
                <a:latin typeface="Trebuchet MS" panose="020B0603020202020204" pitchFamily="34"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i="1" baseline="30000" dirty="0">
                <a:latin typeface="Trebuchet MS" panose="020B0603020202020204" pitchFamily="34" charset="0"/>
                <a:ea typeface="宋体" panose="02010600030101010101" pitchFamily="2" charset="-122"/>
                <a:cs typeface="Times New Roman" panose="02020603050405020304" pitchFamily="18" charset="0"/>
              </a:rPr>
              <a:t>S</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a:t>
            </a:r>
            <a:r>
              <a:rPr lang="en-US" sz="2400" dirty="0">
                <a:latin typeface="Trebuchet MS" panose="020B0603020202020204" pitchFamily="34" charset="0"/>
              </a:rPr>
              <a:t>the </a:t>
            </a:r>
            <a:r>
              <a:rPr lang="en-US" sz="2400" b="1" i="1" dirty="0">
                <a:solidFill>
                  <a:srgbClr val="0B61FF"/>
                </a:solidFill>
                <a:latin typeface="Trebuchet MS" panose="020B0603020202020204" pitchFamily="34" charset="0"/>
              </a:rPr>
              <a:t>inverse function</a:t>
            </a:r>
            <a:r>
              <a:rPr lang="en-US" sz="2400" dirty="0">
                <a:latin typeface="Trebuchet MS" panose="020B0603020202020204" pitchFamily="34" charset="0"/>
              </a:rPr>
              <a:t> operation.</a:t>
            </a:r>
          </a:p>
          <a:p>
            <a:pPr marL="628650" indent="-450850">
              <a:lnSpc>
                <a:spcPct val="110000"/>
              </a:lnSpc>
              <a:spcBef>
                <a:spcPts val="0"/>
              </a:spcBef>
              <a:buClr>
                <a:srgbClr val="0B61FF"/>
              </a:buClr>
              <a:buSzPct val="80000"/>
              <a:buNone/>
              <a:tabLst>
                <a:tab pos="628650"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(6)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On</a:t>
            </a:r>
            <a:r>
              <a:rPr lang="zh-CN" altLang="en-US"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M</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(R)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≥2)</a:t>
            </a:r>
            <a:r>
              <a:rPr lang="en-US" sz="2400" dirty="0">
                <a:latin typeface="Trebuchet MS" panose="020B0603020202020204" pitchFamily="34" charset="0"/>
              </a:rPr>
              <a:t> the </a:t>
            </a:r>
            <a:r>
              <a:rPr lang="en-US" sz="2400" b="1" i="1" dirty="0">
                <a:solidFill>
                  <a:srgbClr val="0B61FF"/>
                </a:solidFill>
                <a:latin typeface="Trebuchet MS" panose="020B0603020202020204" pitchFamily="34" charset="0"/>
              </a:rPr>
              <a:t>matrix transpose </a:t>
            </a:r>
            <a:r>
              <a:rPr lang="en-US" sz="2400" dirty="0">
                <a:latin typeface="Trebuchet MS" panose="020B0603020202020204" pitchFamily="34" charset="0"/>
              </a:rPr>
              <a:t>operation.</a:t>
            </a:r>
            <a:endParaRPr lang="zh-CN" altLang="en-US" sz="2400" b="1" dirty="0">
              <a:latin typeface="Trebuchet MS" panose="020B0603020202020204" pitchFamily="34"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680FCDC6-3D0F-4E39-A041-A4CAB6E924AB}"/>
                  </a:ext>
                </a:extLst>
              </p:cNvPr>
              <p:cNvSpPr txBox="1"/>
              <p:nvPr/>
            </p:nvSpPr>
            <p:spPr>
              <a:xfrm>
                <a:off x="4548869" y="1532968"/>
                <a:ext cx="2991302" cy="709489"/>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r>
                        <a:rPr lang="zh-CN" altLang="en-US" sz="2400" b="1" i="1" smtClean="0">
                          <a:solidFill>
                            <a:srgbClr val="FF0000"/>
                          </a:solidFill>
                          <a:latin typeface="Cambria Math" panose="02040503050406030204" pitchFamily="18" charset="0"/>
                        </a:rPr>
                        <m:t>𝒇</m:t>
                      </m:r>
                      <m:func>
                        <m:funcPr>
                          <m:ctrlPr>
                            <a:rPr lang="zh-CN" altLang="en-US" sz="2400" b="1" i="1">
                              <a:solidFill>
                                <a:srgbClr val="FF0000"/>
                              </a:solidFill>
                              <a:latin typeface="Cambria Math" panose="02040503050406030204" pitchFamily="18" charset="0"/>
                            </a:rPr>
                          </m:ctrlPr>
                        </m:funcPr>
                        <m:fName>
                          <m:r>
                            <a:rPr lang="zh-CN" altLang="en-US" sz="2400" b="1" i="0">
                              <a:solidFill>
                                <a:srgbClr val="FF0000"/>
                              </a:solidFill>
                              <a:latin typeface="Cambria Math" panose="02040503050406030204" pitchFamily="18" charset="0"/>
                            </a:rPr>
                            <m:t>:</m:t>
                          </m:r>
                        </m:fName>
                        <m:e>
                          <m:limLow>
                            <m:limLowPr>
                              <m:ctrlPr>
                                <a:rPr lang="zh-CN" altLang="en-US" sz="2400" b="1" i="1">
                                  <a:solidFill>
                                    <a:srgbClr val="FF0000"/>
                                  </a:solidFill>
                                  <a:latin typeface="Cambria Math" panose="02040503050406030204" pitchFamily="18" charset="0"/>
                                </a:rPr>
                              </m:ctrlPr>
                            </m:limLowPr>
                            <m:e>
                              <m:groupChr>
                                <m:groupChrPr>
                                  <m:chr m:val="⏟"/>
                                  <m:ctrlPr>
                                    <a:rPr lang="zh-CN" altLang="en-US" sz="2400" b="1" i="1">
                                      <a:solidFill>
                                        <a:srgbClr val="FF0000"/>
                                      </a:solidFill>
                                      <a:latin typeface="Cambria Math" panose="02040503050406030204" pitchFamily="18" charset="0"/>
                                    </a:rPr>
                                  </m:ctrlPr>
                                </m:groupChrPr>
                                <m:e>
                                  <m:r>
                                    <a:rPr lang="zh-CN" altLang="en-US" sz="2400" b="1" i="1">
                                      <a:solidFill>
                                        <a:srgbClr val="FF0000"/>
                                      </a:solidFill>
                                      <a:latin typeface="Cambria Math" panose="02040503050406030204" pitchFamily="18" charset="0"/>
                                    </a:rPr>
                                    <m:t>𝑺</m:t>
                                  </m:r>
                                  <m:r>
                                    <a:rPr lang="zh-CN" altLang="en-US" sz="2400" b="1" i="1">
                                      <a:solidFill>
                                        <a:srgbClr val="FF0000"/>
                                      </a:solidFill>
                                      <a:latin typeface="Cambria Math" panose="02040503050406030204" pitchFamily="18" charset="0"/>
                                    </a:rPr>
                                    <m:t>×</m:t>
                                  </m:r>
                                  <m:r>
                                    <a:rPr lang="zh-CN" altLang="en-US" sz="2400" b="1" i="1">
                                      <a:solidFill>
                                        <a:srgbClr val="FF0000"/>
                                      </a:solidFill>
                                      <a:latin typeface="Cambria Math" panose="02040503050406030204" pitchFamily="18" charset="0"/>
                                    </a:rPr>
                                    <m:t>𝑺</m:t>
                                  </m:r>
                                  <m:r>
                                    <a:rPr lang="zh-CN" altLang="en-US" sz="2400" b="1" i="1">
                                      <a:solidFill>
                                        <a:srgbClr val="FF0000"/>
                                      </a:solidFill>
                                      <a:latin typeface="Cambria Math" panose="02040503050406030204" pitchFamily="18" charset="0"/>
                                    </a:rPr>
                                    <m:t>×...×</m:t>
                                  </m:r>
                                  <m:r>
                                    <a:rPr lang="zh-CN" altLang="en-US" sz="2400" b="1" i="1">
                                      <a:solidFill>
                                        <a:srgbClr val="FF0000"/>
                                      </a:solidFill>
                                      <a:latin typeface="Cambria Math" panose="02040503050406030204" pitchFamily="18" charset="0"/>
                                    </a:rPr>
                                    <m:t>𝑺</m:t>
                                  </m:r>
                                </m:e>
                              </m:groupChr>
                            </m:e>
                            <m:lim>
                              <m:r>
                                <a:rPr lang="zh-CN" altLang="en-US" sz="2400" b="1" i="1">
                                  <a:solidFill>
                                    <a:srgbClr val="FF0000"/>
                                  </a:solidFill>
                                  <a:latin typeface="Cambria Math" panose="02040503050406030204" pitchFamily="18" charset="0"/>
                                </a:rPr>
                                <m:t>𝒏</m:t>
                              </m:r>
                            </m:lim>
                          </m:limLow>
                        </m:e>
                      </m:func>
                      <m:r>
                        <a:rPr lang="zh-CN" altLang="en-US" sz="2400" b="1" i="1">
                          <a:solidFill>
                            <a:srgbClr val="FF0000"/>
                          </a:solidFill>
                          <a:latin typeface="Cambria Math" panose="02040503050406030204" pitchFamily="18" charset="0"/>
                        </a:rPr>
                        <m:t>→</m:t>
                      </m:r>
                      <m:r>
                        <a:rPr lang="zh-CN" altLang="en-US" sz="2400" b="1" i="1">
                          <a:solidFill>
                            <a:srgbClr val="FF0000"/>
                          </a:solidFill>
                          <a:latin typeface="Cambria Math" panose="02040503050406030204" pitchFamily="18" charset="0"/>
                        </a:rPr>
                        <m:t>𝑺</m:t>
                      </m:r>
                    </m:oMath>
                  </m:oMathPara>
                </a14:m>
                <a:endParaRPr lang="zh-CN" altLang="en-US" sz="2400" b="1" dirty="0">
                  <a:solidFill>
                    <a:srgbClr val="FF0000"/>
                  </a:solidFill>
                </a:endParaRPr>
              </a:p>
            </p:txBody>
          </p:sp>
        </mc:Choice>
        <mc:Fallback xmlns="">
          <p:sp>
            <p:nvSpPr>
              <p:cNvPr id="3" name="对象 2">
                <a:extLst>
                  <a:ext uri="{FF2B5EF4-FFF2-40B4-BE49-F238E27FC236}">
                    <a16:creationId xmlns:a16="http://schemas.microsoft.com/office/drawing/2014/main" id="{680FCDC6-3D0F-4E39-A041-A4CAB6E924AB}"/>
                  </a:ext>
                </a:extLst>
              </p:cNvPr>
              <p:cNvSpPr txBox="1">
                <a:spLocks noRot="1" noChangeAspect="1" noMove="1" noResize="1" noEditPoints="1" noAdjustHandles="1" noChangeArrowheads="1" noChangeShapeType="1" noTextEdit="1"/>
              </p:cNvSpPr>
              <p:nvPr/>
            </p:nvSpPr>
            <p:spPr>
              <a:xfrm>
                <a:off x="4548869" y="1532968"/>
                <a:ext cx="2991302" cy="709489"/>
              </a:xfrm>
              <a:prstGeom prst="rect">
                <a:avLst/>
              </a:prstGeom>
              <a:blipFill>
                <a:blip r:embed="rId5"/>
                <a:stretch>
                  <a:fillRect b="-17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04204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fade">
                                      <p:cBhvr>
                                        <p:cTn id="12" dur="1000"/>
                                        <p:tgtEl>
                                          <p:spTgt spid="9">
                                            <p:txEl>
                                              <p:pRg st="3" end="3"/>
                                            </p:txEl>
                                          </p:spTgt>
                                        </p:tgtEl>
                                      </p:cBhvr>
                                    </p:animEffect>
                                    <p:anim calcmode="lin" valueType="num">
                                      <p:cBhvr>
                                        <p:cTn id="1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fade">
                                      <p:cBhvr>
                                        <p:cTn id="19" dur="1000"/>
                                        <p:tgtEl>
                                          <p:spTgt spid="9">
                                            <p:txEl>
                                              <p:pRg st="4" end="4"/>
                                            </p:txEl>
                                          </p:spTgt>
                                        </p:tgtEl>
                                      </p:cBhvr>
                                    </p:animEffect>
                                    <p:anim calcmode="lin" valueType="num">
                                      <p:cBhvr>
                                        <p:cTn id="2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fade">
                                      <p:cBhvr>
                                        <p:cTn id="26" dur="1000"/>
                                        <p:tgtEl>
                                          <p:spTgt spid="9">
                                            <p:txEl>
                                              <p:pRg st="5" end="5"/>
                                            </p:txEl>
                                          </p:spTgt>
                                        </p:tgtEl>
                                      </p:cBhvr>
                                    </p:animEffect>
                                    <p:anim calcmode="lin" valueType="num">
                                      <p:cBhvr>
                                        <p:cTn id="27"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animEffect transition="in" filter="fade">
                                      <p:cBhvr>
                                        <p:cTn id="33" dur="1000"/>
                                        <p:tgtEl>
                                          <p:spTgt spid="9">
                                            <p:txEl>
                                              <p:pRg st="6" end="6"/>
                                            </p:txEl>
                                          </p:spTgt>
                                        </p:tgtEl>
                                      </p:cBhvr>
                                    </p:animEffect>
                                    <p:anim calcmode="lin" valueType="num">
                                      <p:cBhvr>
                                        <p:cTn id="34"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9">
                                            <p:txEl>
                                              <p:pRg st="7" end="7"/>
                                            </p:txEl>
                                          </p:spTgt>
                                        </p:tgtEl>
                                        <p:attrNameLst>
                                          <p:attrName>style.visibility</p:attrName>
                                        </p:attrNameLst>
                                      </p:cBhvr>
                                      <p:to>
                                        <p:strVal val="visible"/>
                                      </p:to>
                                    </p:set>
                                    <p:animEffect transition="in" filter="fade">
                                      <p:cBhvr>
                                        <p:cTn id="40" dur="1000"/>
                                        <p:tgtEl>
                                          <p:spTgt spid="9">
                                            <p:txEl>
                                              <p:pRg st="7" end="7"/>
                                            </p:txEl>
                                          </p:spTgt>
                                        </p:tgtEl>
                                      </p:cBhvr>
                                    </p:animEffect>
                                    <p:anim calcmode="lin" valueType="num">
                                      <p:cBhvr>
                                        <p:cTn id="41"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animEffect transition="in" filter="fade">
                                      <p:cBhvr>
                                        <p:cTn id="47" dur="1000"/>
                                        <p:tgtEl>
                                          <p:spTgt spid="9">
                                            <p:txEl>
                                              <p:pRg st="8" end="8"/>
                                            </p:txEl>
                                          </p:spTgt>
                                        </p:tgtEl>
                                      </p:cBhvr>
                                    </p:animEffect>
                                    <p:anim calcmode="lin" valueType="num">
                                      <p:cBhvr>
                                        <p:cTn id="48"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9">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300"/>
              </a:spcBef>
              <a:buClr>
                <a:srgbClr val="0B61FF"/>
              </a:buClr>
              <a:buSzPct val="80000"/>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9.1.1 Binary and Unary Operations</a:t>
            </a:r>
            <a:endParaRPr lang="en-US" altLang="zh-CN" sz="2000" dirty="0">
              <a:latin typeface="Trebuchet MS" panose="020B0603020202020204" pitchFamily="34"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Binary, Unary, and n-</a:t>
            </a:r>
            <a:r>
              <a:rPr lang="en-US" altLang="zh-CN" sz="2400" b="1" dirty="0" err="1">
                <a:latin typeface="Trebuchet MS" panose="020B0603020202020204" pitchFamily="34" charset="0"/>
              </a:rPr>
              <a:t>ary</a:t>
            </a:r>
            <a:r>
              <a:rPr lang="en-US" altLang="zh-CN" sz="2400" b="1" dirty="0">
                <a:latin typeface="Trebuchet MS" panose="020B0603020202020204" pitchFamily="34" charset="0"/>
              </a:rPr>
              <a:t> Operators and Representations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815366"/>
            <a:ext cx="10232573" cy="54185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Operators</a:t>
            </a:r>
            <a:r>
              <a:rPr lang="en-US" altLang="zh-CN" sz="2400" b="1" dirty="0">
                <a:latin typeface="Trebuchet MS" panose="020B0603020202020204" pitchFamily="34" charset="0"/>
                <a:cs typeface="Times New Roman" panose="02020603050405020304" pitchFamily="18" charset="0"/>
              </a:rPr>
              <a:t>: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are used to denote binary or unary operations.</a:t>
            </a:r>
          </a:p>
          <a:p>
            <a:pPr marL="360363" indent="-179388">
              <a:lnSpc>
                <a:spcPct val="120000"/>
              </a:lnSpc>
              <a:buClr>
                <a:srgbClr val="0B61FF"/>
              </a:buClr>
              <a:buSzPct val="120000"/>
              <a:tabLst>
                <a:tab pos="360363" algn="l"/>
              </a:tabLst>
            </a:pPr>
            <a:r>
              <a:rPr lang="en-US" sz="2400" dirty="0">
                <a:latin typeface="Trebuchet MS" panose="020B0603020202020204" pitchFamily="34" charset="0"/>
              </a:rPr>
              <a:t>For a </a:t>
            </a:r>
            <a:r>
              <a:rPr lang="en-US" sz="2400" b="1" i="1" dirty="0">
                <a:solidFill>
                  <a:srgbClr val="0B61FF"/>
                </a:solidFill>
                <a:latin typeface="Trebuchet MS" panose="020B0603020202020204" pitchFamily="34" charset="0"/>
              </a:rPr>
              <a:t>binary operation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i</a:t>
            </a:r>
            <a:r>
              <a:rPr lang="en-US" altLang="zh-CN" sz="2400" dirty="0">
                <a:latin typeface="Trebuchet MS" panose="020B0603020202020204" pitchFamily="34" charset="0"/>
              </a:rPr>
              <a:t>f </a:t>
            </a:r>
            <a:r>
              <a:rPr lang="en-US" altLang="zh-CN" sz="2400" b="1" i="1" dirty="0">
                <a:latin typeface="Trebuchet MS" panose="020B0603020202020204" pitchFamily="34" charset="0"/>
              </a:rPr>
              <a:t>x </a:t>
            </a:r>
            <a:r>
              <a:rPr lang="en-US" altLang="zh-CN" sz="2400" dirty="0">
                <a:latin typeface="Trebuchet MS" panose="020B0603020202020204" pitchFamily="34" charset="0"/>
              </a:rPr>
              <a:t>and </a:t>
            </a:r>
            <a:r>
              <a:rPr lang="en-US" altLang="zh-CN" sz="2400" b="1" i="1" dirty="0">
                <a:latin typeface="Trebuchet MS" panose="020B0603020202020204" pitchFamily="34" charset="0"/>
              </a:rPr>
              <a:t>y</a:t>
            </a:r>
            <a:r>
              <a:rPr lang="en-US" altLang="zh-CN" sz="2400" dirty="0">
                <a:latin typeface="Trebuchet MS" panose="020B0603020202020204" pitchFamily="34" charset="0"/>
              </a:rPr>
              <a:t> operate to produce </a:t>
            </a:r>
            <a:r>
              <a:rPr lang="en-US" altLang="zh-CN" sz="2400" b="1" i="1" dirty="0">
                <a:latin typeface="Trebuchet MS" panose="020B0603020202020204" pitchFamily="34" charset="0"/>
              </a:rPr>
              <a:t>z</a:t>
            </a:r>
            <a:r>
              <a:rPr lang="en-US" altLang="zh-CN" sz="2400" dirty="0">
                <a:latin typeface="Trebuchet MS" panose="020B0603020202020204" pitchFamily="34" charset="0"/>
              </a:rPr>
              <a:t>, it is denoted as </a:t>
            </a:r>
            <a:r>
              <a:rPr lang="en-US" altLang="zh-CN" sz="2400" b="1" i="1" dirty="0">
                <a:solidFill>
                  <a:srgbClr val="FF0000"/>
                </a:solidFill>
                <a:latin typeface="Trebuchet MS" panose="020B0603020202020204" pitchFamily="34" charset="0"/>
                <a:cs typeface="Times New Roman" panose="02020603050405020304" pitchFamily="18" charset="0"/>
              </a:rPr>
              <a:t>x</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rgbClr val="FF0000"/>
                </a:solidFill>
                <a:latin typeface="Trebuchet MS" panose="020B0603020202020204" pitchFamily="34" charset="0"/>
                <a:cs typeface="Times New Roman" panose="02020603050405020304" pitchFamily="18" charset="0"/>
              </a:rPr>
              <a:t>y</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rPr>
              <a:t>z</a:t>
            </a:r>
            <a:r>
              <a:rPr lang="en-US" altLang="zh-CN" sz="2400" dirty="0">
                <a:latin typeface="Trebuchet MS" panose="020B0603020202020204" pitchFamily="34" charset="0"/>
              </a:rPr>
              <a:t> .</a:t>
            </a:r>
          </a:p>
          <a:p>
            <a:pPr marL="360363" indent="-179388">
              <a:lnSpc>
                <a:spcPct val="120000"/>
              </a:lnSpc>
              <a:buClr>
                <a:srgbClr val="0B61FF"/>
              </a:buClr>
              <a:buSzPct val="120000"/>
              <a:tabLst>
                <a:tab pos="360363" algn="l"/>
              </a:tabLst>
            </a:pPr>
            <a:r>
              <a:rPr lang="en-US" sz="2400" dirty="0">
                <a:latin typeface="Trebuchet MS" panose="020B0603020202020204" pitchFamily="34" charset="0"/>
              </a:rPr>
              <a:t>For a </a:t>
            </a:r>
            <a:r>
              <a:rPr lang="en-US" sz="2400" i="1" dirty="0">
                <a:solidFill>
                  <a:srgbClr val="0B61FF"/>
                </a:solidFill>
                <a:latin typeface="Trebuchet MS" panose="020B0603020202020204" pitchFamily="34" charset="0"/>
              </a:rPr>
              <a:t>unary operation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the result of applying it to </a:t>
            </a:r>
            <a:r>
              <a:rPr lang="en-US" altLang="zh-CN" sz="2400" b="1" i="1" dirty="0">
                <a:latin typeface="Trebuchet MS" panose="020B0603020202020204" pitchFamily="34" charset="0"/>
                <a:cs typeface="Times New Roman" panose="02020603050405020304" pitchFamily="18" charset="0"/>
              </a:rPr>
              <a:t>x </a:t>
            </a:r>
            <a:r>
              <a:rPr lang="en-US" sz="2400" dirty="0">
                <a:latin typeface="Trebuchet MS" panose="020B0603020202020204" pitchFamily="34" charset="0"/>
              </a:rPr>
              <a:t> is written as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rgbClr val="FF0000"/>
                </a:solidFill>
                <a:latin typeface="Trebuchet MS" panose="020B0603020202020204" pitchFamily="34" charset="0"/>
                <a:cs typeface="Times New Roman" panose="02020603050405020304" pitchFamily="18" charset="0"/>
              </a:rPr>
              <a:t>x</a:t>
            </a:r>
            <a:r>
              <a:rPr lang="en-US" altLang="zh-CN" sz="2400" b="1" i="1" dirty="0">
                <a:latin typeface="Trebuchet MS" panose="020B0603020202020204" pitchFamily="34" charset="0"/>
                <a:cs typeface="Times New Roman" panose="02020603050405020304" pitchFamily="18" charset="0"/>
              </a:rPr>
              <a:t> .</a:t>
            </a:r>
          </a:p>
          <a:p>
            <a:pPr marL="360363" indent="-179388">
              <a:lnSpc>
                <a:spcPct val="120000"/>
              </a:lnSpc>
              <a:buClr>
                <a:srgbClr val="0B61FF"/>
              </a:buClr>
              <a:buSzPct val="120000"/>
              <a:tabLst>
                <a:tab pos="360363" algn="l"/>
              </a:tabLst>
            </a:pPr>
            <a:r>
              <a:rPr lang="en-US" sz="2400" dirty="0">
                <a:latin typeface="Trebuchet MS" panose="020B0603020202020204" pitchFamily="34" charset="0"/>
              </a:rPr>
              <a:t>For an </a:t>
            </a:r>
            <a:r>
              <a:rPr lang="en-US" sz="2400" b="1" i="1" dirty="0">
                <a:solidFill>
                  <a:srgbClr val="0B61FF"/>
                </a:solidFill>
                <a:latin typeface="Trebuchet MS" panose="020B0603020202020204" pitchFamily="34" charset="0"/>
              </a:rPr>
              <a:t>n-</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operation</a:t>
            </a:r>
            <a:r>
              <a:rPr lang="en-US" sz="2400" dirty="0">
                <a:latin typeface="Trebuchet MS" panose="020B0603020202020204" pitchFamily="34" charset="0"/>
              </a:rPr>
              <a:t>, we write </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rPr>
              <a:t>a</a:t>
            </a:r>
            <a:r>
              <a:rPr lang="en-US" altLang="zh-CN" sz="2400" b="1" baseline="-25000" dirty="0">
                <a:solidFill>
                  <a:srgbClr val="FF0000"/>
                </a:solidFill>
                <a:latin typeface="Trebuchet MS" panose="020B0603020202020204" pitchFamily="34" charset="0"/>
                <a:cs typeface="Times New Roman" panose="02020603050405020304" pitchFamily="18" charset="0"/>
              </a:rPr>
              <a:t>1</a:t>
            </a:r>
            <a:r>
              <a:rPr lang="en-US" altLang="zh-CN" sz="2400" b="1" dirty="0">
                <a:solidFill>
                  <a:srgbClr val="FF0000"/>
                </a:solidFill>
                <a:latin typeface="Trebuchet MS" panose="020B0603020202020204" pitchFamily="34" charset="0"/>
                <a:cs typeface="Times New Roman" panose="02020603050405020304" pitchFamily="18" charset="0"/>
              </a:rPr>
              <a:t>, </a:t>
            </a:r>
            <a:r>
              <a:rPr lang="en-US" altLang="zh-CN" sz="2400" b="1" i="1" dirty="0">
                <a:solidFill>
                  <a:srgbClr val="FF0000"/>
                </a:solidFill>
                <a:latin typeface="Trebuchet MS" panose="020B0603020202020204" pitchFamily="34" charset="0"/>
                <a:cs typeface="Times New Roman" panose="02020603050405020304" pitchFamily="18" charset="0"/>
              </a:rPr>
              <a:t>a</a:t>
            </a:r>
            <a:r>
              <a:rPr lang="en-US" altLang="zh-CN" sz="2400" b="1" baseline="-25000" dirty="0">
                <a:solidFill>
                  <a:srgbClr val="FF0000"/>
                </a:solidFill>
                <a:latin typeface="Trebuchet MS" panose="020B0603020202020204" pitchFamily="34" charset="0"/>
                <a:cs typeface="Times New Roman" panose="02020603050405020304" pitchFamily="18" charset="0"/>
              </a:rPr>
              <a:t>2</a:t>
            </a:r>
            <a:r>
              <a:rPr lang="en-US" altLang="zh-CN" sz="2400" b="1" dirty="0">
                <a:solidFill>
                  <a:srgbClr val="FF0000"/>
                </a:solidFill>
                <a:latin typeface="Trebuchet MS" panose="020B0603020202020204" pitchFamily="34" charset="0"/>
                <a:cs typeface="Times New Roman" panose="02020603050405020304" pitchFamily="18" charset="0"/>
              </a:rPr>
              <a:t>, </a:t>
            </a:r>
            <a:r>
              <a:rPr lang="zh-CN" altLang="zh-CN" sz="2400" b="1" dirty="0">
                <a:solidFill>
                  <a:srgbClr val="FF0000"/>
                </a:solidFill>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cs typeface="Times New Roman" panose="02020603050405020304" pitchFamily="18" charset="0"/>
              </a:rPr>
              <a:t>, </a:t>
            </a:r>
            <a:r>
              <a:rPr lang="en-US" altLang="zh-CN" sz="2400" b="1" i="1" dirty="0">
                <a:solidFill>
                  <a:srgbClr val="FF0000"/>
                </a:solidFill>
                <a:latin typeface="Trebuchet MS" panose="020B0603020202020204" pitchFamily="34" charset="0"/>
                <a:cs typeface="Times New Roman" panose="02020603050405020304" pitchFamily="18" charset="0"/>
              </a:rPr>
              <a:t>a</a:t>
            </a:r>
            <a:r>
              <a:rPr lang="en-US" altLang="zh-CN" sz="2400" b="1" i="1" baseline="-25000" dirty="0">
                <a:solidFill>
                  <a:srgbClr val="FF0000"/>
                </a:solidFill>
                <a:latin typeface="Trebuchet MS" panose="020B0603020202020204" pitchFamily="34" charset="0"/>
                <a:cs typeface="Times New Roman" panose="02020603050405020304" pitchFamily="18" charset="0"/>
              </a:rPr>
              <a:t>n</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 </a:t>
            </a:r>
          </a:p>
          <a:p>
            <a:pPr>
              <a:lnSpc>
                <a:spcPct val="120000"/>
              </a:lnSpc>
              <a:buClr>
                <a:srgbClr val="0B61FF"/>
              </a:buClr>
              <a:buSzPct val="80000"/>
              <a:buFont typeface="Wingdings" panose="05000000000000000000" pitchFamily="2" charset="2"/>
              <a:buChar char="n"/>
            </a:pPr>
            <a:r>
              <a:rPr lang="en-US" sz="2400" dirty="0">
                <a:latin typeface="Trebuchet MS" panose="020B0603020202020204" pitchFamily="34" charset="0"/>
              </a:rPr>
              <a:t>Ways to represent binary or unary operations</a:t>
            </a:r>
            <a:r>
              <a:rPr lang="zh-CN" altLang="en-US" sz="2400" b="1" dirty="0">
                <a:latin typeface="Trebuchet MS" panose="020B0603020202020204" pitchFamily="34" charset="0"/>
                <a:cs typeface="Times New Roman" panose="02020603050405020304" pitchFamily="18" charset="0"/>
              </a:rPr>
              <a:t>：</a:t>
            </a:r>
            <a:r>
              <a:rPr lang="en-US" sz="2400" b="1" i="1" dirty="0">
                <a:solidFill>
                  <a:srgbClr val="0B61FF"/>
                </a:solidFill>
                <a:latin typeface="Trebuchet MS" panose="020B0603020202020204" pitchFamily="34" charset="0"/>
              </a:rPr>
              <a:t>formulas</a:t>
            </a:r>
            <a:r>
              <a:rPr lang="zh-CN" altLang="en-US" sz="2400" b="1" dirty="0">
                <a:solidFill>
                  <a:schemeClr val="tx2"/>
                </a:solidFill>
                <a:latin typeface="Trebuchet MS" panose="020B0603020202020204" pitchFamily="34" charset="0"/>
                <a:cs typeface="Times New Roman" panose="02020603050405020304" pitchFamily="18" charset="0"/>
              </a:rPr>
              <a:t>、</a:t>
            </a:r>
            <a:r>
              <a:rPr lang="en-US" altLang="zh-CN" sz="2400" b="1" i="1" dirty="0">
                <a:solidFill>
                  <a:srgbClr val="0B61FF"/>
                </a:solidFill>
                <a:latin typeface="Trebuchet MS" panose="020B0603020202020204" pitchFamily="34" charset="0"/>
              </a:rPr>
              <a:t>o</a:t>
            </a:r>
            <a:r>
              <a:rPr lang="en-US" sz="2400" b="1" i="1" dirty="0">
                <a:solidFill>
                  <a:srgbClr val="0B61FF"/>
                </a:solidFill>
                <a:latin typeface="Trebuchet MS" panose="020B0603020202020204" pitchFamily="34" charset="0"/>
              </a:rPr>
              <a:t>peration tables</a:t>
            </a:r>
            <a:r>
              <a:rPr lang="en-US" sz="2400"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a:p>
            <a:pPr marL="1074738" indent="-804863">
              <a:lnSpc>
                <a:spcPct val="120000"/>
              </a:lnSpc>
              <a:buNone/>
            </a:pPr>
            <a:r>
              <a:rPr lang="en-US" sz="2400" b="1" dirty="0">
                <a:latin typeface="Trebuchet MS" panose="020B0603020202020204" pitchFamily="34" charset="0"/>
              </a:rPr>
              <a:t>Note:</a:t>
            </a:r>
            <a:r>
              <a:rPr lang="en-US" sz="2400" dirty="0">
                <a:latin typeface="Trebuchet MS" panose="020B0603020202020204" pitchFamily="34" charset="0"/>
              </a:rPr>
              <a:t> In the same problem or context, different operations should be represented using different operator symbols.</a:t>
            </a:r>
          </a:p>
          <a:p>
            <a:pPr marL="0" indent="0">
              <a:lnSpc>
                <a:spcPct val="120000"/>
              </a:lnSpc>
              <a:buNone/>
            </a:pPr>
            <a:endParaRPr lang="zh-CN" altLang="en-US" sz="2400" b="1" dirty="0">
              <a:solidFill>
                <a:schemeClr val="tx1"/>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139938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animEffect transition="in" filter="fade">
                                      <p:cBhvr>
                                        <p:cTn id="14" dur="1000"/>
                                        <p:tgtEl>
                                          <p:spTgt spid="9">
                                            <p:txEl>
                                              <p:pRg st="2" end="2"/>
                                            </p:txEl>
                                          </p:spTgt>
                                        </p:tgtEl>
                                      </p:cBhvr>
                                    </p:animEffect>
                                    <p:anim calcmode="lin" valueType="num">
                                      <p:cBhvr>
                                        <p:cTn id="15"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1000"/>
                                        <p:tgtEl>
                                          <p:spTgt spid="9">
                                            <p:txEl>
                                              <p:pRg st="3" end="3"/>
                                            </p:txEl>
                                          </p:spTgt>
                                        </p:tgtEl>
                                      </p:cBhvr>
                                    </p:animEffect>
                                    <p:anim calcmode="lin" valueType="num">
                                      <p:cBhvr>
                                        <p:cTn id="22"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1000"/>
                                        <p:tgtEl>
                                          <p:spTgt spid="9">
                                            <p:txEl>
                                              <p:pRg st="4" end="4"/>
                                            </p:txEl>
                                          </p:spTgt>
                                        </p:tgtEl>
                                      </p:cBhvr>
                                    </p:animEffect>
                                    <p:anim calcmode="lin" valueType="num">
                                      <p:cBhvr>
                                        <p:cTn id="29"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animEffect transition="in" filter="fade">
                                      <p:cBhvr>
                                        <p:cTn id="35" dur="1000"/>
                                        <p:tgtEl>
                                          <p:spTgt spid="9">
                                            <p:txEl>
                                              <p:pRg st="5" end="5"/>
                                            </p:txEl>
                                          </p:spTgt>
                                        </p:tgtEl>
                                      </p:cBhvr>
                                    </p:animEffect>
                                    <p:anim calcmode="lin" valueType="num">
                                      <p:cBhvr>
                                        <p:cTn id="36"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300"/>
              </a:spcBef>
              <a:buClr>
                <a:srgbClr val="0B61FF"/>
              </a:buClr>
              <a:buSzPct val="80000"/>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9.1.1 Binary and Unary Operations</a:t>
            </a:r>
            <a:endParaRPr lang="en-US" altLang="zh-CN" dirty="0">
              <a:latin typeface="Trebuchet MS" panose="020B0603020202020204" pitchFamily="34" charset="0"/>
            </a:endParaRPr>
          </a:p>
          <a:p>
            <a:r>
              <a:rPr lang="en-US" altLang="zh-CN" b="1" dirty="0">
                <a:latin typeface="Times New Roman" panose="02020603050405020304" pitchFamily="18" charset="0"/>
                <a:cs typeface="Times New Roman" panose="02020603050405020304" pitchFamily="18" charset="0"/>
              </a:rPr>
              <a:t>                   </a:t>
            </a: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Formula and Table Representations of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0" name="Text Box 2">
            <a:extLst>
              <a:ext uri="{FF2B5EF4-FFF2-40B4-BE49-F238E27FC236}">
                <a16:creationId xmlns:a16="http://schemas.microsoft.com/office/drawing/2014/main" id="{861368AB-2BBB-44F6-9800-A18416E4D011}"/>
              </a:ext>
            </a:extLst>
          </p:cNvPr>
          <p:cNvSpPr txBox="1">
            <a:spLocks noChangeArrowheads="1"/>
          </p:cNvSpPr>
          <p:nvPr/>
        </p:nvSpPr>
        <p:spPr bwMode="auto">
          <a:xfrm>
            <a:off x="1221919" y="774654"/>
            <a:ext cx="9862457" cy="274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63525" indent="-263525">
              <a:lnSpc>
                <a:spcPct val="120000"/>
              </a:lnSpc>
              <a:buClr>
                <a:srgbClr val="0B61FF"/>
              </a:buClr>
              <a:buSzPct val="80000"/>
              <a:buFont typeface="Wingdings" panose="05000000000000000000" pitchFamily="2" charset="2"/>
              <a:buChar char="n"/>
              <a:tabLst>
                <a:tab pos="263525" algn="l"/>
              </a:tabLst>
            </a:pPr>
            <a:r>
              <a:rPr lang="en-US" sz="2400" b="1" i="1" dirty="0">
                <a:solidFill>
                  <a:srgbClr val="0B61FF"/>
                </a:solidFill>
                <a:latin typeface="Trebuchet MS" panose="020B0603020202020204" pitchFamily="34" charset="0"/>
              </a:rPr>
              <a:t>Formula Representation</a:t>
            </a:r>
          </a:p>
          <a:p>
            <a:pPr marL="342900" indent="-160338">
              <a:lnSpc>
                <a:spcPct val="120000"/>
              </a:lnSpc>
              <a:buClr>
                <a:srgbClr val="0B61FF"/>
              </a:buClr>
              <a:buSzPct val="120000"/>
              <a:buFont typeface="Arial" panose="020B0604020202020204" pitchFamily="34" charset="0"/>
              <a:buChar char="•"/>
              <a:tabLst>
                <a:tab pos="355600" algn="l"/>
              </a:tabLst>
            </a:pPr>
            <a:r>
              <a:rPr lang="en-US" sz="2400" b="1" dirty="0">
                <a:latin typeface="Trebuchet MS" panose="020B0603020202020204" pitchFamily="34" charset="0"/>
              </a:rPr>
              <a:t>Example</a:t>
            </a:r>
            <a:r>
              <a:rPr lang="zh-CN" altLang="en-US" sz="2400" b="1" dirty="0">
                <a:latin typeface="Trebuchet MS" panose="020B0603020202020204" pitchFamily="34" charset="0"/>
              </a:rPr>
              <a:t>：</a:t>
            </a:r>
            <a:r>
              <a:rPr lang="en-US" altLang="zh-CN" sz="2400" dirty="0">
                <a:latin typeface="Trebuchet MS" panose="020B0603020202020204" pitchFamily="34" charset="0"/>
                <a:cs typeface="Times New Roman" panose="02020603050405020304" pitchFamily="18" charset="0"/>
              </a:rPr>
              <a:t>Let</a:t>
            </a:r>
            <a:r>
              <a:rPr lang="en-US" altLang="zh-CN" sz="2400" b="1" dirty="0">
                <a:latin typeface="Trebuchet MS" panose="020B0603020202020204" pitchFamily="34" charset="0"/>
                <a:cs typeface="Times New Roman" panose="02020603050405020304" pitchFamily="18" charset="0"/>
              </a:rPr>
              <a:t> R </a:t>
            </a:r>
            <a:r>
              <a:rPr lang="en-US" sz="2400" dirty="0">
                <a:latin typeface="Trebuchet MS" panose="020B0603020202020204" pitchFamily="34" charset="0"/>
              </a:rPr>
              <a:t>be the set of real numbers. Define a binary operation </a:t>
            </a:r>
            <a:r>
              <a:rPr lang="en-US" altLang="zh-CN" sz="2400" b="1" dirty="0">
                <a:latin typeface="Trebuchet MS" panose="020B0603020202020204" pitchFamily="34" charset="0"/>
                <a:cs typeface="Times New Roman" panose="02020603050405020304" pitchFamily="18" charset="0"/>
              </a:rPr>
              <a:t>R as</a:t>
            </a:r>
            <a:r>
              <a:rPr lang="zh-CN" altLang="en-US"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y </a:t>
            </a:r>
            <a:r>
              <a:rPr lang="en-US" altLang="zh-CN" sz="2400" b="1" dirty="0">
                <a:latin typeface="Trebuchet MS" panose="020B0603020202020204" pitchFamily="34" charset="0"/>
                <a:cs typeface="Times New Roman" panose="02020603050405020304" pitchFamily="18" charset="0"/>
              </a:rPr>
              <a:t>∈ R,  </a:t>
            </a:r>
            <a:r>
              <a:rPr lang="en-US" altLang="zh-CN" sz="2400" b="1" i="1" dirty="0">
                <a:latin typeface="Trebuchet MS" panose="020B0603020202020204" pitchFamily="34" charset="0"/>
                <a:cs typeface="Times New Roman" panose="02020603050405020304" pitchFamily="18" charset="0"/>
              </a:rPr>
              <a:t>x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y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 </a:t>
            </a:r>
          </a:p>
          <a:p>
            <a:pPr indent="355600">
              <a:lnSpc>
                <a:spcPct val="120000"/>
              </a:lnSpc>
            </a:pPr>
            <a:r>
              <a:rPr lang="en-US" altLang="zh-CN" sz="2400" dirty="0">
                <a:latin typeface="Trebuchet MS" panose="020B0603020202020204" pitchFamily="34" charset="0"/>
              </a:rPr>
              <a:t>Such as:</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3 ∗ 4 = 3</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0.5 ∗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3) = 0.5</a:t>
            </a:r>
          </a:p>
          <a:p>
            <a:pPr marL="271463" indent="-271463">
              <a:lnSpc>
                <a:spcPct val="120000"/>
              </a:lnSpc>
              <a:buClr>
                <a:srgbClr val="0B61FF"/>
              </a:buClr>
              <a:buSzPct val="80000"/>
              <a:buFont typeface="Wingdings" panose="05000000000000000000" pitchFamily="2" charset="2"/>
              <a:buChar char="n"/>
            </a:pPr>
            <a:r>
              <a:rPr lang="en-US" altLang="zh-CN" sz="2400" b="1" i="1" dirty="0">
                <a:solidFill>
                  <a:srgbClr val="0B61FF"/>
                </a:solidFill>
                <a:latin typeface="Trebuchet MS" panose="020B0603020202020204" pitchFamily="34" charset="0"/>
              </a:rPr>
              <a:t>Tables Representation</a:t>
            </a:r>
            <a:r>
              <a:rPr lang="zh-CN" altLang="en-US" sz="2400" b="1" dirty="0">
                <a:latin typeface="Trebuchet MS" panose="020B0603020202020204" pitchFamily="34" charset="0"/>
              </a:rPr>
              <a:t>：</a:t>
            </a:r>
            <a:r>
              <a:rPr lang="en-US" altLang="zh-CN" sz="2400" dirty="0">
                <a:latin typeface="Trebuchet MS" panose="020B0603020202020204" pitchFamily="34" charset="0"/>
              </a:rPr>
              <a:t>used to represent unary and binary operations on finite sets</a:t>
            </a:r>
            <a:r>
              <a:rPr lang="zh-CN" altLang="en-US" sz="2400" dirty="0">
                <a:latin typeface="Trebuchet MS" panose="020B0603020202020204" pitchFamily="34" charset="0"/>
              </a:rPr>
              <a:t>。</a:t>
            </a:r>
            <a:endParaRPr lang="en-US" altLang="zh-CN" sz="2400" dirty="0">
              <a:latin typeface="Trebuchet MS" panose="020B0603020202020204" pitchFamily="34" charset="0"/>
            </a:endParaRPr>
          </a:p>
          <a:p>
            <a:pPr indent="355600">
              <a:lnSpc>
                <a:spcPct val="120000"/>
              </a:lnSpc>
            </a:pPr>
            <a:endParaRPr lang="en-US" altLang="zh-CN" sz="2400" b="1" dirty="0">
              <a:latin typeface="Trebuchet MS" panose="020B0603020202020204" pitchFamily="34" charset="0"/>
              <a:cs typeface="Times New Roman" panose="02020603050405020304" pitchFamily="18" charset="0"/>
            </a:endParaRPr>
          </a:p>
        </p:txBody>
      </p:sp>
      <p:sp>
        <p:nvSpPr>
          <p:cNvPr id="12" name="Text Box 2">
            <a:extLst>
              <a:ext uri="{FF2B5EF4-FFF2-40B4-BE49-F238E27FC236}">
                <a16:creationId xmlns:a16="http://schemas.microsoft.com/office/drawing/2014/main" id="{6DD817DB-1892-492F-87CC-6B7493742E3D}"/>
              </a:ext>
            </a:extLst>
          </p:cNvPr>
          <p:cNvSpPr txBox="1">
            <a:spLocks noChangeArrowheads="1"/>
          </p:cNvSpPr>
          <p:nvPr/>
        </p:nvSpPr>
        <p:spPr bwMode="auto">
          <a:xfrm>
            <a:off x="3956163" y="3943759"/>
            <a:ext cx="48378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en-US" sz="2400" b="1" dirty="0">
                <a:latin typeface="Trebuchet MS" panose="020B0603020202020204" pitchFamily="34" charset="0"/>
              </a:rPr>
              <a:t>O</a:t>
            </a:r>
            <a:r>
              <a:rPr lang="en-US" altLang="en-US" sz="2000" b="1" dirty="0">
                <a:latin typeface="Trebuchet MS" panose="020B0603020202020204" pitchFamily="34" charset="0"/>
              </a:rPr>
              <a:t>peration Table for Binary Operation</a:t>
            </a:r>
            <a:r>
              <a:rPr lang="en-US" altLang="en-US" sz="2000" b="1" dirty="0">
                <a:latin typeface="Arial" panose="020B0604020202020204" pitchFamily="34" charset="0"/>
              </a:rPr>
              <a:t>s</a:t>
            </a:r>
            <a:endParaRPr lang="en-US" altLang="en-US" sz="2000" dirty="0">
              <a:latin typeface="Arial" panose="020B0604020202020204" pitchFamily="34" charset="0"/>
            </a:endParaRPr>
          </a:p>
        </p:txBody>
      </p:sp>
      <p:sp>
        <p:nvSpPr>
          <p:cNvPr id="6" name="文本框 5">
            <a:extLst>
              <a:ext uri="{FF2B5EF4-FFF2-40B4-BE49-F238E27FC236}">
                <a16:creationId xmlns:a16="http://schemas.microsoft.com/office/drawing/2014/main" id="{AF057BF7-1FB6-3A92-D9A7-91E734EE5863}"/>
              </a:ext>
            </a:extLst>
          </p:cNvPr>
          <p:cNvSpPr txBox="1"/>
          <p:nvPr/>
        </p:nvSpPr>
        <p:spPr>
          <a:xfrm>
            <a:off x="1221919" y="3641271"/>
            <a:ext cx="3105422" cy="707886"/>
          </a:xfrm>
          <a:prstGeom prst="rect">
            <a:avLst/>
          </a:prstGeom>
          <a:noFill/>
        </p:spPr>
        <p:txBody>
          <a:bodyPr wrap="square">
            <a:spAutoFit/>
          </a:bodyPr>
          <a:lstStyle/>
          <a:p>
            <a:pPr algn="ctr"/>
            <a:r>
              <a:rPr lang="en-US" sz="2000" b="1" dirty="0">
                <a:latin typeface="Trebuchet MS" panose="020B0603020202020204" pitchFamily="34" charset="0"/>
              </a:rPr>
              <a:t>Operation Table for Unary Operations</a:t>
            </a:r>
            <a:endParaRPr lang="en-US" sz="2000" dirty="0">
              <a:latin typeface="Trebuchet MS" panose="020B0603020202020204" pitchFamily="34" charset="0"/>
            </a:endParaRPr>
          </a:p>
        </p:txBody>
      </p:sp>
      <p:graphicFrame>
        <p:nvGraphicFramePr>
          <p:cNvPr id="15" name="对象 14">
            <a:extLst>
              <a:ext uri="{FF2B5EF4-FFF2-40B4-BE49-F238E27FC236}">
                <a16:creationId xmlns:a16="http://schemas.microsoft.com/office/drawing/2014/main" id="{7583C4D5-0B13-426A-B45A-B38A5603A3EF}"/>
              </a:ext>
            </a:extLst>
          </p:cNvPr>
          <p:cNvGraphicFramePr>
            <a:graphicFrameLocks noChangeAspect="1"/>
          </p:cNvGraphicFramePr>
          <p:nvPr/>
        </p:nvGraphicFramePr>
        <p:xfrm>
          <a:off x="3956162" y="4363192"/>
          <a:ext cx="4837882" cy="2525399"/>
        </p:xfrm>
        <a:graphic>
          <a:graphicData uri="http://schemas.openxmlformats.org/presentationml/2006/ole">
            <mc:AlternateContent xmlns:mc="http://schemas.openxmlformats.org/markup-compatibility/2006">
              <mc:Choice xmlns:v="urn:schemas-microsoft-com:vml" Requires="v">
                <p:oleObj spid="_x0000_s2054" name="Document" r:id="rId6" imgW="2597760" imgH="1356120" progId="Word.Document.12">
                  <p:embed/>
                </p:oleObj>
              </mc:Choice>
              <mc:Fallback>
                <p:oleObj name="Document" r:id="rId6" imgW="2597760" imgH="1356120" progId="Word.Document.12">
                  <p:embed/>
                  <p:pic>
                    <p:nvPicPr>
                      <p:cNvPr id="15" name="对象 14">
                        <a:extLst>
                          <a:ext uri="{FF2B5EF4-FFF2-40B4-BE49-F238E27FC236}">
                            <a16:creationId xmlns:a16="http://schemas.microsoft.com/office/drawing/2014/main" id="{7583C4D5-0B13-426A-B45A-B38A5603A3EF}"/>
                          </a:ext>
                        </a:extLst>
                      </p:cNvPr>
                      <p:cNvPicPr/>
                      <p:nvPr/>
                    </p:nvPicPr>
                    <p:blipFill>
                      <a:blip r:embed="rId7"/>
                      <a:stretch>
                        <a:fillRect/>
                      </a:stretch>
                    </p:blipFill>
                    <p:spPr>
                      <a:xfrm>
                        <a:off x="3956162" y="4363192"/>
                        <a:ext cx="4837882" cy="2525399"/>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CEA0AC38-5FE9-4F24-88C1-2E55031FA643}"/>
              </a:ext>
            </a:extLst>
          </p:cNvPr>
          <p:cNvGraphicFramePr>
            <a:graphicFrameLocks noChangeAspect="1"/>
          </p:cNvGraphicFramePr>
          <p:nvPr/>
        </p:nvGraphicFramePr>
        <p:xfrm>
          <a:off x="1616186" y="3934373"/>
          <a:ext cx="2339975" cy="2747494"/>
        </p:xfrm>
        <a:graphic>
          <a:graphicData uri="http://schemas.openxmlformats.org/presentationml/2006/ole">
            <mc:AlternateContent xmlns:mc="http://schemas.openxmlformats.org/markup-compatibility/2006">
              <mc:Choice xmlns:v="urn:schemas-microsoft-com:vml" Requires="v">
                <p:oleObj spid="_x0000_s2055" name="Document" r:id="rId8" imgW="2340895" imgH="3095751" progId="Word.Document.12">
                  <p:embed/>
                </p:oleObj>
              </mc:Choice>
              <mc:Fallback>
                <p:oleObj name="Document" r:id="rId8" imgW="2340895" imgH="3095751" progId="Word.Document.12">
                  <p:embed/>
                  <p:pic>
                    <p:nvPicPr>
                      <p:cNvPr id="19" name="对象 18">
                        <a:extLst>
                          <a:ext uri="{FF2B5EF4-FFF2-40B4-BE49-F238E27FC236}">
                            <a16:creationId xmlns:a16="http://schemas.microsoft.com/office/drawing/2014/main" id="{CEA0AC38-5FE9-4F24-88C1-2E55031FA643}"/>
                          </a:ext>
                        </a:extLst>
                      </p:cNvPr>
                      <p:cNvPicPr/>
                      <p:nvPr/>
                    </p:nvPicPr>
                    <p:blipFill>
                      <a:blip r:embed="rId9"/>
                      <a:stretch>
                        <a:fillRect/>
                      </a:stretch>
                    </p:blipFill>
                    <p:spPr>
                      <a:xfrm>
                        <a:off x="1616186" y="3934373"/>
                        <a:ext cx="2339975" cy="2747494"/>
                      </a:xfrm>
                      <a:prstGeom prst="rect">
                        <a:avLst/>
                      </a:prstGeom>
                    </p:spPr>
                  </p:pic>
                </p:oleObj>
              </mc:Fallback>
            </mc:AlternateContent>
          </a:graphicData>
        </a:graphic>
      </p:graphicFrame>
    </p:spTree>
    <p:extLst>
      <p:ext uri="{BB962C8B-B14F-4D97-AF65-F5344CB8AC3E}">
        <p14:creationId xmlns:p14="http://schemas.microsoft.com/office/powerpoint/2010/main" val="2090720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1000"/>
                                        <p:tgtEl>
                                          <p:spTgt spid="10">
                                            <p:txEl>
                                              <p:pRg st="2" end="2"/>
                                            </p:txEl>
                                          </p:spTgt>
                                        </p:tgtEl>
                                      </p:cBhvr>
                                    </p:animEffect>
                                    <p:anim calcmode="lin" valueType="num">
                                      <p:cBhvr>
                                        <p:cTn id="1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fade">
                                      <p:cBhvr>
                                        <p:cTn id="19" dur="1000"/>
                                        <p:tgtEl>
                                          <p:spTgt spid="10">
                                            <p:txEl>
                                              <p:pRg st="3" end="3"/>
                                            </p:txEl>
                                          </p:spTgt>
                                        </p:tgtEl>
                                      </p:cBhvr>
                                    </p:animEffect>
                                    <p:anim calcmode="lin" valueType="num">
                                      <p:cBhvr>
                                        <p:cTn id="2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anim calcmode="lin" valueType="num">
                                      <p:cBhvr>
                                        <p:cTn id="27" dur="1000" fill="hold"/>
                                        <p:tgtEl>
                                          <p:spTgt spid="19"/>
                                        </p:tgtEl>
                                        <p:attrNameLst>
                                          <p:attrName>ppt_x</p:attrName>
                                        </p:attrNameLst>
                                      </p:cBhvr>
                                      <p:tavLst>
                                        <p:tav tm="0">
                                          <p:val>
                                            <p:strVal val="#ppt_x"/>
                                          </p:val>
                                        </p:tav>
                                        <p:tav tm="100000">
                                          <p:val>
                                            <p:strVal val="#ppt_x"/>
                                          </p:val>
                                        </p:tav>
                                      </p:tavLst>
                                    </p:anim>
                                    <p:anim calcmode="lin" valueType="num">
                                      <p:cBhvr>
                                        <p:cTn id="28" dur="1000" fill="hold"/>
                                        <p:tgtEl>
                                          <p:spTgt spid="1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1000"/>
                                        <p:tgtEl>
                                          <p:spTgt spid="15"/>
                                        </p:tgtEl>
                                      </p:cBhvr>
                                    </p:animEffect>
                                    <p:anim calcmode="lin" valueType="num">
                                      <p:cBhvr>
                                        <p:cTn id="39" dur="1000" fill="hold"/>
                                        <p:tgtEl>
                                          <p:spTgt spid="15"/>
                                        </p:tgtEl>
                                        <p:attrNameLst>
                                          <p:attrName>ppt_x</p:attrName>
                                        </p:attrNameLst>
                                      </p:cBhvr>
                                      <p:tavLst>
                                        <p:tav tm="0">
                                          <p:val>
                                            <p:strVal val="#ppt_x"/>
                                          </p:val>
                                        </p:tav>
                                        <p:tav tm="100000">
                                          <p:val>
                                            <p:strVal val="#ppt_x"/>
                                          </p:val>
                                        </p:tav>
                                      </p:tavLst>
                                    </p:anim>
                                    <p:anim calcmode="lin" valueType="num">
                                      <p:cBhvr>
                                        <p:cTn id="40" dur="1000" fill="hold"/>
                                        <p:tgtEl>
                                          <p:spTgt spid="15"/>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10170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300"/>
              </a:spcBef>
              <a:buClr>
                <a:srgbClr val="0B61FF"/>
              </a:buClr>
              <a:buSzPct val="80000"/>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9.1.1 Binary and Unary Operations</a:t>
            </a:r>
            <a:endParaRPr lang="en-US" altLang="zh-CN" sz="2000" dirty="0">
              <a:latin typeface="Trebuchet MS" panose="020B0603020202020204" pitchFamily="34"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 of Operation Table Representation 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5"/>
            <a:ext cx="9877336" cy="48312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24416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2" name="Text Box 3">
            <a:extLst>
              <a:ext uri="{FF2B5EF4-FFF2-40B4-BE49-F238E27FC236}">
                <a16:creationId xmlns:a16="http://schemas.microsoft.com/office/drawing/2014/main" id="{9B585B87-4541-4EAA-9F39-701F3743C7CD}"/>
              </a:ext>
            </a:extLst>
          </p:cNvPr>
          <p:cNvSpPr txBox="1">
            <a:spLocks noChangeArrowheads="1"/>
          </p:cNvSpPr>
          <p:nvPr/>
        </p:nvSpPr>
        <p:spPr bwMode="auto">
          <a:xfrm>
            <a:off x="1438048" y="1008742"/>
            <a:ext cx="8844253" cy="198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zh-CN" altLang="en-US" sz="2400" b="1" dirty="0">
                <a:latin typeface="Trebuchet MS" panose="020B0603020202020204" pitchFamily="34" charset="0"/>
              </a:rPr>
              <a:t>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Set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S=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Provide the operation tables </a:t>
            </a:r>
            <a:r>
              <a:rPr lang="en-US" sz="2400" b="1" dirty="0">
                <a:solidFill>
                  <a:srgbClr val="FF0000"/>
                </a:solidFill>
                <a:latin typeface="Trebuchet MS" panose="020B0603020202020204" pitchFamily="34" charset="0"/>
              </a:rPr>
              <a:t>⊕</a:t>
            </a:r>
            <a:r>
              <a:rPr lang="en-US" sz="2400" dirty="0">
                <a:latin typeface="Trebuchet MS" panose="020B0603020202020204" pitchFamily="34" charset="0"/>
              </a:rPr>
              <a:t> and </a:t>
            </a:r>
            <a:r>
              <a:rPr lang="en-US" sz="2400" b="1" dirty="0">
                <a:solidFill>
                  <a:srgbClr val="FF0000"/>
                </a:solidFill>
                <a:latin typeface="Trebuchet MS" panose="020B0603020202020204" pitchFamily="34" charset="0"/>
              </a:rPr>
              <a:t>∼</a:t>
            </a:r>
            <a:r>
              <a:rPr lang="en-US" sz="2400" dirty="0">
                <a:latin typeface="Trebuchet MS" panose="020B0603020202020204" pitchFamily="34" charset="0"/>
              </a:rPr>
              <a:t> on the power set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P</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p>
          <a:p>
            <a:pPr marL="342900" indent="-342900">
              <a:lnSpc>
                <a:spcPct val="120000"/>
              </a:lnSpc>
              <a:spcBef>
                <a:spcPts val="600"/>
              </a:spcBef>
              <a:buClr>
                <a:srgbClr val="0B61FF"/>
              </a:buClr>
              <a:buSzPct val="80000"/>
              <a:buFont typeface="Wingdings" panose="05000000000000000000" pitchFamily="2" charset="2"/>
              <a:buChar char="n"/>
            </a:pPr>
            <a:endParaRPr lang="en-US" altLang="zh-CN" sz="2400" b="1" dirty="0">
              <a:latin typeface="Trebuchet MS" panose="020B0603020202020204" pitchFamily="34" charset="0"/>
              <a:ea typeface="宋体" panose="02010600030101010101" pitchFamily="2" charset="-122"/>
              <a:cs typeface="Times New Roman" panose="02020603050405020304" pitchFamily="18" charset="0"/>
            </a:endParaRPr>
          </a:p>
          <a:p>
            <a:pPr>
              <a:lnSpc>
                <a:spcPct val="120000"/>
              </a:lnSpc>
              <a:spcBef>
                <a:spcPts val="600"/>
              </a:spcBef>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24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sz="2400" dirty="0"/>
              <a:t>Operation Table</a:t>
            </a:r>
            <a:r>
              <a:rPr 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FF0000"/>
                </a:solidFill>
                <a:latin typeface="Times New Roman" panose="02020603050405020304" pitchFamily="18" charset="0"/>
                <a:cs typeface="Times New Roman" panose="02020603050405020304" pitchFamily="18" charset="0"/>
              </a:rPr>
              <a:t>∼</a:t>
            </a:r>
            <a:r>
              <a:rPr lang="en-US" sz="2400" dirty="0"/>
              <a:t>Operation Table</a:t>
            </a:r>
            <a:endPar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4" name="Group 38">
            <a:extLst>
              <a:ext uri="{FF2B5EF4-FFF2-40B4-BE49-F238E27FC236}">
                <a16:creationId xmlns:a16="http://schemas.microsoft.com/office/drawing/2014/main" id="{C43A6EB7-0657-42F0-8F0A-D7482CF1C62E}"/>
              </a:ext>
            </a:extLst>
          </p:cNvPr>
          <p:cNvGraphicFramePr>
            <a:graphicFrameLocks/>
          </p:cNvGraphicFramePr>
          <p:nvPr/>
        </p:nvGraphicFramePr>
        <p:xfrm>
          <a:off x="1634369" y="2995055"/>
          <a:ext cx="6769100" cy="2316786"/>
        </p:xfrm>
        <a:graphic>
          <a:graphicData uri="http://schemas.openxmlformats.org/drawingml/2006/table">
            <a:tbl>
              <a:tblPr/>
              <a:tblGrid>
                <a:gridCol w="922338">
                  <a:extLst>
                    <a:ext uri="{9D8B030D-6E8A-4147-A177-3AD203B41FA5}">
                      <a16:colId xmlns:a16="http://schemas.microsoft.com/office/drawing/2014/main" val="257940714"/>
                    </a:ext>
                  </a:extLst>
                </a:gridCol>
                <a:gridCol w="3398837">
                  <a:extLst>
                    <a:ext uri="{9D8B030D-6E8A-4147-A177-3AD203B41FA5}">
                      <a16:colId xmlns:a16="http://schemas.microsoft.com/office/drawing/2014/main" val="2054793851"/>
                    </a:ext>
                  </a:extLst>
                </a:gridCol>
                <a:gridCol w="215900">
                  <a:extLst>
                    <a:ext uri="{9D8B030D-6E8A-4147-A177-3AD203B41FA5}">
                      <a16:colId xmlns:a16="http://schemas.microsoft.com/office/drawing/2014/main" val="2241418405"/>
                    </a:ext>
                  </a:extLst>
                </a:gridCol>
                <a:gridCol w="1008063">
                  <a:extLst>
                    <a:ext uri="{9D8B030D-6E8A-4147-A177-3AD203B41FA5}">
                      <a16:colId xmlns:a16="http://schemas.microsoft.com/office/drawing/2014/main" val="1727089546"/>
                    </a:ext>
                  </a:extLst>
                </a:gridCol>
                <a:gridCol w="1223962">
                  <a:extLst>
                    <a:ext uri="{9D8B030D-6E8A-4147-A177-3AD203B41FA5}">
                      <a16:colId xmlns:a16="http://schemas.microsoft.com/office/drawing/2014/main" val="3603812690"/>
                    </a:ext>
                  </a:extLst>
                </a:gridCol>
              </a:tblGrid>
              <a:tr h="517525">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sym typeface="Symbol" panose="05050102010706020507" pitchFamily="18" charset="2"/>
                        </a:rPr>
                        <a:t></a:t>
                      </a: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rPr>
                        <a:t> </a:t>
                      </a: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0" lang="en-US" altLang="zh-CN" sz="2800" b="1" i="0" u="none" strike="noStrike" cap="none" normalizeH="0" baseline="0" dirty="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cap="flat">
                      <a:noFill/>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Lucida Sans Unicode" panose="020B0602030504020204" pitchFamily="34" charset="0"/>
                          <a:ea typeface="宋体" panose="02010600030101010101" pitchFamily="2" charset="-122"/>
                        </a:rPr>
                        <a:t> </a:t>
                      </a:r>
                      <a:r>
                        <a:rPr kumimoji="0" lang="zh-CN" altLang="en-US"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30849438"/>
                  </a:ext>
                </a:extLst>
              </a:tr>
              <a:tr h="1798638">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rPr>
                        <a:t></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0" lang="en-US" altLang="zh-CN" sz="2800" b="1" i="0" u="none" strike="noStrike" cap="none" normalizeH="0" baseline="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1115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1115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rPr>
                        <a:t> </a:t>
                      </a: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p>
                    <a:p>
                      <a:pPr marL="342900" marR="0" lvl="0" indent="-31115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0" u="none" strike="noStrike" cap="none" normalizeH="0" baseline="0" dirty="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rPr>
                        <a:t></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p>
                    <a:p>
                      <a:pPr marL="342900" marR="0" lvl="0" indent="-31115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0" u="none" strike="noStrike" cap="none" normalizeH="0" baseline="0" dirty="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rPr>
                        <a:t></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p>
                    <a:p>
                      <a:pPr marL="342900" marR="0" lvl="0" indent="-31115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0" u="none" strike="noStrike" cap="none" normalizeH="0" baseline="0" dirty="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rPr>
                        <a:t></a:t>
                      </a: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rPr>
                        <a:t> </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0" lang="en-US" altLang="zh-CN" sz="2800" b="1" i="0" u="none" strike="noStrike" cap="none" normalizeH="0" baseline="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endParaRP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a</a:t>
                      </a:r>
                      <a:r>
                        <a:rPr kumimoji="0" lang="en-US" altLang="zh-CN" sz="2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a:t>
                      </a:r>
                      <a:r>
                        <a:rPr kumimoji="0" lang="en-US" altLang="zh-CN" sz="28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28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宋体" panose="02010600030101010101" pitchFamily="2" charset="-122"/>
                          <a:ea typeface="宋体" panose="02010600030101010101" pitchFamily="2" charset="-122"/>
                          <a:sym typeface="Symbol" panose="05050102010706020507" pitchFamily="18" charset="2"/>
                        </a:rPr>
                        <a:t></a:t>
                      </a:r>
                    </a:p>
                  </a:txBody>
                  <a:tcPr marT="45714" marB="4571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0707774"/>
                  </a:ext>
                </a:extLst>
              </a:tr>
            </a:tbl>
          </a:graphicData>
        </a:graphic>
      </p:graphicFrame>
    </p:spTree>
    <p:extLst>
      <p:ext uri="{BB962C8B-B14F-4D97-AF65-F5344CB8AC3E}">
        <p14:creationId xmlns:p14="http://schemas.microsoft.com/office/powerpoint/2010/main" val="34289862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spcBef>
                <a:spcPts val="300"/>
              </a:spcBef>
              <a:buClr>
                <a:srgbClr val="0B61FF"/>
              </a:buClr>
              <a:buSzPct val="80000"/>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9.1.1 Binary and Unary Operations</a:t>
            </a:r>
            <a:endParaRPr lang="en-US" altLang="zh-CN" sz="2000" dirty="0">
              <a:latin typeface="Trebuchet MS" panose="020B0603020202020204" pitchFamily="34"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 of Operation Table Representation</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1" name="Text Box 3">
            <a:extLst>
              <a:ext uri="{FF2B5EF4-FFF2-40B4-BE49-F238E27FC236}">
                <a16:creationId xmlns:a16="http://schemas.microsoft.com/office/drawing/2014/main" id="{96BCE299-C7C3-43EF-91AC-B4D61466C16B}"/>
              </a:ext>
            </a:extLst>
          </p:cNvPr>
          <p:cNvSpPr txBox="1">
            <a:spLocks noChangeArrowheads="1"/>
          </p:cNvSpPr>
          <p:nvPr/>
        </p:nvSpPr>
        <p:spPr bwMode="auto">
          <a:xfrm>
            <a:off x="1195388" y="868731"/>
            <a:ext cx="827599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lang="en-US" sz="2400" dirty="0">
                <a:latin typeface="Trebuchet MS" panose="020B0603020202020204" pitchFamily="34" charset="0"/>
              </a:rPr>
              <a:t> Let </a:t>
            </a:r>
            <a:r>
              <a:rPr lang="en-US" altLang="zh-CN" sz="2400" b="1" dirty="0">
                <a:solidFill>
                  <a:schemeClr val="tx1"/>
                </a:solidFill>
                <a:latin typeface="Trebuchet MS" panose="020B0603020202020204" pitchFamily="34" charset="0"/>
                <a:ea typeface="宋体" panose="02010600030101010101" pitchFamily="2" charset="-122"/>
              </a:rPr>
              <a:t>Z</a:t>
            </a:r>
            <a:r>
              <a:rPr lang="en-US" altLang="zh-CN" sz="2400" b="1" baseline="-25000" dirty="0">
                <a:solidFill>
                  <a:schemeClr val="tx1"/>
                </a:solidFill>
                <a:latin typeface="Trebuchet MS" panose="020B0603020202020204" pitchFamily="34" charset="0"/>
                <a:ea typeface="宋体" panose="02010600030101010101" pitchFamily="2" charset="-122"/>
              </a:rPr>
              <a:t>5</a:t>
            </a:r>
            <a:r>
              <a:rPr lang="en-US" altLang="zh-CN" sz="2400" b="1" dirty="0">
                <a:solidFill>
                  <a:schemeClr val="tx1"/>
                </a:solidFill>
                <a:latin typeface="Trebuchet MS" panose="020B0603020202020204" pitchFamily="34" charset="0"/>
                <a:ea typeface="宋体" panose="02010600030101010101" pitchFamily="2" charset="-122"/>
              </a:rPr>
              <a:t>= { 0, 1, 2, 3, 4 },  </a:t>
            </a:r>
            <a:r>
              <a:rPr lang="en-US" altLang="zh-CN" sz="2400" b="1" dirty="0">
                <a:solidFill>
                  <a:srgbClr val="FF000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solidFill>
                  <a:srgbClr val="FF0000"/>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dirty="0">
                <a:solidFill>
                  <a:schemeClr val="tx1"/>
                </a:solidFill>
                <a:latin typeface="Trebuchet MS" panose="020B0603020202020204" pitchFamily="34" charset="0"/>
                <a:ea typeface="宋体" panose="02010600030101010101" pitchFamily="2" charset="-122"/>
                <a:sym typeface="Symbol" panose="05050102010706020507" pitchFamily="18" charset="2"/>
              </a:rPr>
              <a:t>r</a:t>
            </a:r>
            <a:r>
              <a:rPr lang="en-US" sz="2400" dirty="0">
                <a:latin typeface="Trebuchet MS" panose="020B0603020202020204" pitchFamily="34" charset="0"/>
              </a:rPr>
              <a:t>epresent addition and multiplication modulo 5, respectively.</a:t>
            </a:r>
            <a:endParaRPr lang="zh-CN" altLang="en-US" sz="2400" b="1" dirty="0">
              <a:solidFill>
                <a:schemeClr val="tx1"/>
              </a:solidFill>
              <a:latin typeface="Trebuchet MS" panose="020B0603020202020204" pitchFamily="34" charset="0"/>
              <a:ea typeface="宋体" panose="02010600030101010101" pitchFamily="2" charset="-122"/>
            </a:endParaRPr>
          </a:p>
          <a:p>
            <a:endParaRPr lang="zh-CN" altLang="en-US" sz="2400" b="1" dirty="0">
              <a:solidFill>
                <a:schemeClr val="tx1"/>
              </a:solidFill>
              <a:latin typeface="Trebuchet MS" panose="020B0603020202020204" pitchFamily="34" charset="0"/>
              <a:ea typeface="宋体" panose="02010600030101010101" pitchFamily="2" charset="-122"/>
            </a:endParaRPr>
          </a:p>
          <a:p>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zh-CN" altLang="en-US" sz="2400" b="1" dirty="0">
                <a:solidFill>
                  <a:srgbClr val="FF0000"/>
                </a:solidFill>
                <a:latin typeface="Trebuchet MS" panose="020B0603020202020204" pitchFamily="34" charset="0"/>
                <a:ea typeface="宋体" panose="02010600030101010101" pitchFamily="2" charset="-122"/>
                <a:sym typeface="Symbol" panose="05050102010706020507" pitchFamily="18" charset="2"/>
              </a:rPr>
              <a:t></a:t>
            </a:r>
            <a:r>
              <a:rPr lang="en-US" sz="2400" dirty="0">
                <a:latin typeface="Trebuchet MS" panose="020B0603020202020204" pitchFamily="34" charset="0"/>
              </a:rPr>
              <a:t>Operation Table                    </a:t>
            </a:r>
            <a:r>
              <a:rPr lang="zh-CN" altLang="en-US" sz="2400" b="1" dirty="0">
                <a:solidFill>
                  <a:srgbClr val="FF0000"/>
                </a:solidFill>
                <a:latin typeface="Trebuchet MS" panose="020B0603020202020204" pitchFamily="34" charset="0"/>
                <a:ea typeface="宋体" panose="02010600030101010101" pitchFamily="2" charset="-122"/>
                <a:sym typeface="Symbol" panose="05050102010706020507" pitchFamily="18" charset="2"/>
              </a:rPr>
              <a:t></a:t>
            </a:r>
            <a:r>
              <a:rPr lang="en-US" sz="2400" dirty="0">
                <a:latin typeface="Trebuchet MS" panose="020B0603020202020204" pitchFamily="34" charset="0"/>
              </a:rPr>
              <a:t>Operation Table</a:t>
            </a:r>
            <a:endParaRPr lang="zh-CN" altLang="en-US" sz="2400" b="1" dirty="0">
              <a:solidFill>
                <a:schemeClr val="tx1"/>
              </a:solidFill>
              <a:latin typeface="Trebuchet MS" panose="020B0603020202020204" pitchFamily="34" charset="0"/>
              <a:ea typeface="宋体" panose="02010600030101010101" pitchFamily="2" charset="-122"/>
            </a:endParaRPr>
          </a:p>
        </p:txBody>
      </p:sp>
      <p:graphicFrame>
        <p:nvGraphicFramePr>
          <p:cNvPr id="15" name="表格占位符 11268">
            <a:extLst>
              <a:ext uri="{FF2B5EF4-FFF2-40B4-BE49-F238E27FC236}">
                <a16:creationId xmlns:a16="http://schemas.microsoft.com/office/drawing/2014/main" id="{747D5601-2823-47FA-9099-5C3A426BD9E6}"/>
              </a:ext>
            </a:extLst>
          </p:cNvPr>
          <p:cNvGraphicFramePr>
            <a:graphicFrameLocks/>
          </p:cNvGraphicFramePr>
          <p:nvPr/>
        </p:nvGraphicFramePr>
        <p:xfrm>
          <a:off x="1618633" y="2606322"/>
          <a:ext cx="7429500" cy="2743298"/>
        </p:xfrm>
        <a:graphic>
          <a:graphicData uri="http://schemas.openxmlformats.org/drawingml/2006/table">
            <a:tbl>
              <a:tblPr/>
              <a:tblGrid>
                <a:gridCol w="720725">
                  <a:extLst>
                    <a:ext uri="{9D8B030D-6E8A-4147-A177-3AD203B41FA5}">
                      <a16:colId xmlns:a16="http://schemas.microsoft.com/office/drawing/2014/main" val="20000"/>
                    </a:ext>
                  </a:extLst>
                </a:gridCol>
                <a:gridCol w="2605088">
                  <a:extLst>
                    <a:ext uri="{9D8B030D-6E8A-4147-A177-3AD203B41FA5}">
                      <a16:colId xmlns:a16="http://schemas.microsoft.com/office/drawing/2014/main" val="20001"/>
                    </a:ext>
                  </a:extLst>
                </a:gridCol>
                <a:gridCol w="490537">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gridCol w="2892425">
                  <a:extLst>
                    <a:ext uri="{9D8B030D-6E8A-4147-A177-3AD203B41FA5}">
                      <a16:colId xmlns:a16="http://schemas.microsoft.com/office/drawing/2014/main" val="20004"/>
                    </a:ext>
                  </a:extLst>
                </a:gridCol>
              </a:tblGrid>
              <a:tr h="51804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5pPr>
                    </a:lstStyle>
                    <a:p>
                      <a:pPr marL="342900" lvl="0" indent="-342900" algn="ctr" eaLnBrk="1" hangingPunct="1">
                        <a:buNone/>
                      </a:pPr>
                      <a:r>
                        <a:rPr lang="zh-CN" altLang="en-US" sz="28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p>
                  </a:txBody>
                  <a:tcPr marT="45709" marB="45709">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5pPr>
                    </a:lstStyle>
                    <a:p>
                      <a:pPr marL="342900" lvl="0" indent="-34290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0    1    2    3    4 </a:t>
                      </a:r>
                    </a:p>
                  </a:txBody>
                  <a:tcPr marT="45709" marB="45709">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5pPr>
                    </a:lstStyle>
                    <a:p>
                      <a:pPr lvl="0" eaLnBrk="1" hangingPunct="1">
                        <a:spcBef>
                          <a:spcPct val="20000"/>
                        </a:spcBef>
                        <a:buNone/>
                      </a:pPr>
                      <a:endParaRPr lang="zh-CN" altLang="en-US" sz="2800" b="1" dirty="0">
                        <a:solidFill>
                          <a:schemeClr val="tx1"/>
                        </a:solidFill>
                        <a:latin typeface="Times New Roman" panose="02020603050405020304" pitchFamily="18" charset="0"/>
                        <a:ea typeface="宋体" panose="02010600030101010101" pitchFamily="2" charset="-122"/>
                      </a:endParaRPr>
                    </a:p>
                  </a:txBody>
                  <a:tcPr marT="45709" marB="45709">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5pPr>
                    </a:lstStyle>
                    <a:p>
                      <a:pPr marL="342900" lvl="0" indent="-342900" eaLnBrk="1" hangingPunct="1">
                        <a:buNone/>
                      </a:pPr>
                      <a:r>
                        <a:rPr lang="zh-CN" altLang="en-US"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en-US" sz="2800" b="1"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p>
                  </a:txBody>
                  <a:tcPr marT="45709" marB="45709">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5pPr>
                    </a:lstStyle>
                    <a:p>
                      <a:pPr marL="342900" lvl="0" indent="-342900" eaLnBrk="1" hangingPunct="1">
                        <a:buNone/>
                      </a:pPr>
                      <a:r>
                        <a:rPr lang="zh-CN" altLang="en-US" sz="2800" b="1" dirty="0">
                          <a:solidFill>
                            <a:schemeClr val="tx1"/>
                          </a:solidFill>
                          <a:latin typeface="Times New Roman" panose="02020603050405020304" pitchFamily="18" charset="0"/>
                          <a:ea typeface="宋体" panose="02010600030101010101" pitchFamily="2" charset="-122"/>
                        </a:rPr>
                        <a:t> </a:t>
                      </a:r>
                      <a:r>
                        <a:rPr lang="en-US" altLang="zh-CN" sz="2800" b="1" dirty="0">
                          <a:solidFill>
                            <a:schemeClr val="tx1"/>
                          </a:solidFill>
                          <a:latin typeface="Times New Roman" panose="02020603050405020304" pitchFamily="18" charset="0"/>
                          <a:ea typeface="宋体" panose="02010600030101010101" pitchFamily="2" charset="-122"/>
                        </a:rPr>
                        <a:t>0    1    2    3    4</a:t>
                      </a:r>
                    </a:p>
                  </a:txBody>
                  <a:tcPr marT="45709" marB="45709">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2516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5pPr>
                    </a:lstStyle>
                    <a:p>
                      <a:pPr marL="342900" lvl="0" indent="-342900" algn="ctr"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0</a:t>
                      </a:r>
                    </a:p>
                    <a:p>
                      <a:pPr marL="342900" lvl="0" indent="-342900" algn="ctr"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1</a:t>
                      </a:r>
                    </a:p>
                    <a:p>
                      <a:pPr marL="342900" lvl="0" indent="-342900" algn="ctr"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2</a:t>
                      </a:r>
                    </a:p>
                    <a:p>
                      <a:pPr marL="342900" lvl="0" indent="-342900" algn="ctr"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3</a:t>
                      </a:r>
                    </a:p>
                    <a:p>
                      <a:pPr marL="342900" lvl="0" indent="-342900" algn="ctr"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4</a:t>
                      </a:r>
                    </a:p>
                  </a:txBody>
                  <a:tcPr marT="45709" marB="45709">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5pPr>
                    </a:lstStyle>
                    <a:p>
                      <a:pPr lvl="0" indent="3175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0    1    2    3    4</a:t>
                      </a:r>
                    </a:p>
                    <a:p>
                      <a:pPr lvl="0" indent="3175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1    2    3    4    0</a:t>
                      </a:r>
                    </a:p>
                    <a:p>
                      <a:pPr lvl="0" indent="3175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2    3    4    0    1</a:t>
                      </a:r>
                    </a:p>
                    <a:p>
                      <a:pPr lvl="0" indent="3175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3    4    0    1    2</a:t>
                      </a:r>
                    </a:p>
                    <a:p>
                      <a:pPr lvl="0" indent="3175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4    0    1    2    3    </a:t>
                      </a:r>
                    </a:p>
                  </a:txBody>
                  <a:tcPr marT="45709" marB="45709">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5pPr>
                    </a:lstStyle>
                    <a:p>
                      <a:pPr marL="342900" lvl="0" indent="-342900" eaLnBrk="1" hangingPunct="1">
                        <a:buNone/>
                      </a:pPr>
                      <a:r>
                        <a:rPr lang="zh-CN" altLang="en-US" sz="2800" b="1" dirty="0">
                          <a:solidFill>
                            <a:schemeClr val="tx1"/>
                          </a:solidFill>
                          <a:latin typeface="宋体" panose="02010600030101010101" pitchFamily="2" charset="-122"/>
                          <a:ea typeface="宋体" panose="02010600030101010101" pitchFamily="2" charset="-122"/>
                          <a:sym typeface="Symbol" panose="05050102010706020507" pitchFamily="18" charset="2"/>
                        </a:rPr>
                        <a:t> </a:t>
                      </a: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0</a:t>
                      </a:r>
                    </a:p>
                    <a:p>
                      <a:pPr marL="342900" lvl="0" indent="-34290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1</a:t>
                      </a:r>
                    </a:p>
                    <a:p>
                      <a:pPr marL="342900" lvl="0" indent="-34290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2</a:t>
                      </a:r>
                    </a:p>
                    <a:p>
                      <a:pPr marL="342900" lvl="0" indent="-34290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3</a:t>
                      </a:r>
                    </a:p>
                    <a:p>
                      <a:pPr marL="342900" lvl="0" indent="-34290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4</a:t>
                      </a:r>
                    </a:p>
                  </a:txBody>
                  <a:tcPr marT="45709" marB="45709">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itchFamily="2" charset="-122"/>
                          <a:cs typeface="+mn-cs"/>
                        </a:defRPr>
                      </a:lvl5pPr>
                    </a:lstStyle>
                    <a:p>
                      <a:pPr marL="342900" lvl="0" indent="-342900" eaLnBrk="1" hangingPunct="1">
                        <a:buNone/>
                      </a:pPr>
                      <a:r>
                        <a:rPr lang="zh-CN" altLang="en-US"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0    0    0    0    0</a:t>
                      </a:r>
                    </a:p>
                    <a:p>
                      <a:pPr marL="342900" lvl="0" indent="-34290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0    1    2    3    4</a:t>
                      </a:r>
                    </a:p>
                    <a:p>
                      <a:pPr marL="342900" lvl="0" indent="-34290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0    2    4    1    3</a:t>
                      </a:r>
                    </a:p>
                    <a:p>
                      <a:pPr marL="342900" lvl="0" indent="-34290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0    3    1    4    2 </a:t>
                      </a:r>
                    </a:p>
                    <a:p>
                      <a:pPr marL="342900" lvl="0" indent="-342900" eaLnBrk="1" hangingPunct="1">
                        <a:buNone/>
                      </a:pP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0    4    3    2    1 </a:t>
                      </a:r>
                    </a:p>
                  </a:txBody>
                  <a:tcPr marT="45709" marB="45709">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588717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9.1 Binary Operations and Their Properties</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p:txBody>
      </p:sp>
      <p:sp>
        <p:nvSpPr>
          <p:cNvPr id="9" name="Rectangle 3">
            <a:extLst>
              <a:ext uri="{FF2B5EF4-FFF2-40B4-BE49-F238E27FC236}">
                <a16:creationId xmlns:a16="http://schemas.microsoft.com/office/drawing/2014/main" id="{DFB26965-CE5B-4DE7-9E7F-C771435C74C9}"/>
              </a:ext>
            </a:extLst>
          </p:cNvPr>
          <p:cNvSpPr txBox="1">
            <a:spLocks noChangeArrowheads="1"/>
          </p:cNvSpPr>
          <p:nvPr/>
        </p:nvSpPr>
        <p:spPr>
          <a:xfrm>
            <a:off x="755650" y="815365"/>
            <a:ext cx="10780952" cy="52654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600"/>
              </a:spcBef>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9.1.1 Binary and Unary Operations</a:t>
            </a:r>
            <a:endParaRPr lang="en-US" sz="2400" dirty="0">
              <a:solidFill>
                <a:schemeClr val="bg2">
                  <a:lumMod val="50000"/>
                </a:schemeClr>
              </a:solidFill>
              <a:latin typeface="Trebuchet MS" panose="020B0603020202020204" pitchFamily="34" charset="0"/>
            </a:endParaRPr>
          </a:p>
          <a:p>
            <a:pPr marL="449263" indent="-266700">
              <a:lnSpc>
                <a:spcPct val="130000"/>
              </a:lnSpc>
              <a:spcBef>
                <a:spcPts val="600"/>
              </a:spcBef>
              <a:buClr>
                <a:srgbClr val="0B61FF"/>
              </a:buClr>
              <a:buSzPct val="120000"/>
              <a:buFont typeface="Arial" panose="020B0604020202020204" pitchFamily="34" charset="0"/>
              <a:buChar char="•"/>
              <a:tabLst>
                <a:tab pos="266700" algn="l"/>
                <a:tab pos="358775" algn="l"/>
              </a:tabLst>
            </a:pPr>
            <a:r>
              <a:rPr lang="en-US" sz="2400" dirty="0">
                <a:solidFill>
                  <a:schemeClr val="bg2">
                    <a:lumMod val="50000"/>
                  </a:schemeClr>
                </a:solidFill>
                <a:latin typeface="Trebuchet MS" panose="020B0603020202020204" pitchFamily="34" charset="0"/>
              </a:rPr>
              <a:t>Definition of Binary Operations and Examples</a:t>
            </a:r>
          </a:p>
          <a:p>
            <a:pPr marL="449263" indent="-266700">
              <a:lnSpc>
                <a:spcPct val="130000"/>
              </a:lnSpc>
              <a:spcBef>
                <a:spcPts val="600"/>
              </a:spcBef>
              <a:buClr>
                <a:srgbClr val="0B61FF"/>
              </a:buClr>
              <a:buSzPct val="120000"/>
              <a:buFont typeface="Arial" panose="020B0604020202020204" pitchFamily="34" charset="0"/>
              <a:buChar char="•"/>
              <a:tabLst>
                <a:tab pos="266700" algn="l"/>
                <a:tab pos="358775" algn="l"/>
              </a:tabLst>
            </a:pPr>
            <a:r>
              <a:rPr lang="en-US" sz="2400" dirty="0">
                <a:solidFill>
                  <a:schemeClr val="bg2">
                    <a:lumMod val="50000"/>
                  </a:schemeClr>
                </a:solidFill>
                <a:latin typeface="Trebuchet MS" panose="020B0603020202020204" pitchFamily="34" charset="0"/>
              </a:rPr>
              <a:t>Definition of Unary Operations and Examples</a:t>
            </a:r>
          </a:p>
          <a:p>
            <a:pPr marL="449263" indent="-266700">
              <a:lnSpc>
                <a:spcPct val="130000"/>
              </a:lnSpc>
              <a:spcBef>
                <a:spcPts val="600"/>
              </a:spcBef>
              <a:buClr>
                <a:srgbClr val="0B61FF"/>
              </a:buClr>
              <a:buSzPct val="120000"/>
              <a:buFont typeface="Arial" panose="020B0604020202020204" pitchFamily="34" charset="0"/>
              <a:buChar char="•"/>
              <a:tabLst>
                <a:tab pos="266700" algn="l"/>
                <a:tab pos="358775" algn="l"/>
              </a:tabLst>
            </a:pPr>
            <a:r>
              <a:rPr lang="en-US" sz="2400" dirty="0">
                <a:solidFill>
                  <a:schemeClr val="bg2">
                    <a:lumMod val="50000"/>
                  </a:schemeClr>
                </a:solidFill>
                <a:latin typeface="Trebuchet MS" panose="020B0603020202020204" pitchFamily="34" charset="0"/>
              </a:rPr>
              <a:t>Notation of Operations</a:t>
            </a:r>
          </a:p>
          <a:p>
            <a:pPr>
              <a:lnSpc>
                <a:spcPct val="130000"/>
              </a:lnSpc>
              <a:spcBef>
                <a:spcPts val="600"/>
              </a:spcBef>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9.1.2 Properties of Binary Operations</a:t>
            </a:r>
          </a:p>
          <a:p>
            <a:pPr marL="449263" indent="-266700">
              <a:lnSpc>
                <a:spcPct val="130000"/>
              </a:lnSpc>
              <a:spcBef>
                <a:spcPts val="600"/>
              </a:spcBef>
              <a:buClr>
                <a:srgbClr val="0B61FF"/>
              </a:buClr>
              <a:buSzPct val="120000"/>
              <a:buFont typeface="Arial" panose="020B0604020202020204" pitchFamily="34" charset="0"/>
              <a:buChar char="•"/>
            </a:pPr>
            <a:r>
              <a:rPr lang="en-US" sz="2400" dirty="0">
                <a:latin typeface="Trebuchet MS" panose="020B0603020202020204" pitchFamily="34" charset="0"/>
              </a:rPr>
              <a:t>Commutativity, Associativity, Idempotency, Distributivity, Absorption.</a:t>
            </a:r>
          </a:p>
          <a:p>
            <a:pPr marL="449263" indent="-266700">
              <a:lnSpc>
                <a:spcPct val="130000"/>
              </a:lnSpc>
              <a:spcBef>
                <a:spcPts val="600"/>
              </a:spcBef>
              <a:buClr>
                <a:srgbClr val="0B61FF"/>
              </a:buClr>
              <a:buSzPct val="120000"/>
              <a:buFont typeface="Arial" panose="020B0604020202020204" pitchFamily="34" charset="0"/>
              <a:buChar char="•"/>
            </a:pPr>
            <a:r>
              <a:rPr lang="en-US" sz="2400" dirty="0">
                <a:latin typeface="Trebuchet MS" panose="020B0603020202020204" pitchFamily="34" charset="0"/>
              </a:rPr>
              <a:t>Special Elements: Identity Element, Zero Element, Invertible Element.</a:t>
            </a:r>
          </a:p>
          <a:p>
            <a:pPr marL="449263" indent="-266700">
              <a:lnSpc>
                <a:spcPct val="130000"/>
              </a:lnSpc>
              <a:spcBef>
                <a:spcPts val="600"/>
              </a:spcBef>
              <a:buClr>
                <a:srgbClr val="0B61FF"/>
              </a:buClr>
              <a:buSzPct val="120000"/>
              <a:buFont typeface="Arial" panose="020B0604020202020204" pitchFamily="34" charset="0"/>
              <a:buChar char="•"/>
            </a:pPr>
            <a:r>
              <a:rPr lang="en-US" sz="2400" dirty="0">
                <a:latin typeface="Trebuchet MS" panose="020B0603020202020204" pitchFamily="34" charset="0"/>
              </a:rPr>
              <a:t>Cancellation Laws</a:t>
            </a:r>
          </a:p>
        </p:txBody>
      </p:sp>
    </p:spTree>
    <p:extLst>
      <p:ext uri="{BB962C8B-B14F-4D97-AF65-F5344CB8AC3E}">
        <p14:creationId xmlns:p14="http://schemas.microsoft.com/office/powerpoint/2010/main" val="2087289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Operations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Binary Operation: Commutative, Associative, Idempotent Laws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2" name="Text Box 3">
            <a:extLst>
              <a:ext uri="{FF2B5EF4-FFF2-40B4-BE49-F238E27FC236}">
                <a16:creationId xmlns:a16="http://schemas.microsoft.com/office/drawing/2014/main" id="{9537626C-F8BD-4790-AA7E-7180D0899B81}"/>
              </a:ext>
            </a:extLst>
          </p:cNvPr>
          <p:cNvSpPr txBox="1">
            <a:spLocks noChangeArrowheads="1"/>
          </p:cNvSpPr>
          <p:nvPr/>
        </p:nvSpPr>
        <p:spPr bwMode="auto">
          <a:xfrm>
            <a:off x="1522414" y="914627"/>
            <a:ext cx="8745009" cy="43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71463" indent="-271463">
              <a:lnSpc>
                <a:spcPct val="120000"/>
              </a:lnSpc>
              <a:spcBef>
                <a:spcPts val="600"/>
              </a:spcBef>
              <a:buClr>
                <a:srgbClr val="0B61FF"/>
              </a:buClr>
              <a:buSzPct val="80000"/>
              <a:buFont typeface="Wingdings" panose="05000000000000000000" pitchFamily="2" charset="2"/>
              <a:buChar char="n"/>
            </a:pPr>
            <a:r>
              <a:rPr lang="zh-CN" altLang="en-US" sz="2400" b="1" dirty="0">
                <a:latin typeface="Trebuchet MS" panose="020B0603020202020204" pitchFamily="34" charset="0"/>
                <a:ea typeface="宋体" panose="02010600030101010101" pitchFamily="2" charset="-122"/>
              </a:rPr>
              <a:t> </a:t>
            </a:r>
            <a:r>
              <a:rPr lang="en-US" sz="2400" b="1" dirty="0">
                <a:latin typeface="Trebuchet MS" panose="020B0603020202020204" pitchFamily="34" charset="0"/>
              </a:rPr>
              <a:t>Definition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9.3:  </a:t>
            </a:r>
            <a:r>
              <a:rPr lang="en-US" sz="2400" dirty="0">
                <a:latin typeface="Trebuchet MS" panose="020B0603020202020204" pitchFamily="34" charset="0"/>
              </a:rPr>
              <a:t>Let </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be a binary operation on</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p>
          <a:p>
            <a:pPr marL="631825" indent="-450850">
              <a:lnSpc>
                <a:spcPct val="120000"/>
              </a:lnSpc>
              <a:spcBef>
                <a:spcPts val="600"/>
              </a:spcBef>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(1) </a:t>
            </a:r>
            <a:r>
              <a:rPr lang="en-US" sz="2400" dirty="0">
                <a:latin typeface="Trebuchet MS" panose="020B0603020202020204" pitchFamily="34" charset="0"/>
              </a:rPr>
              <a:t>If for all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then the operation is said to satisfy th</a:t>
            </a:r>
            <a:r>
              <a:rPr lang="en-US" sz="2400" b="1" dirty="0">
                <a:latin typeface="Trebuchet MS" panose="020B0603020202020204" pitchFamily="34" charset="0"/>
              </a:rPr>
              <a:t>e </a:t>
            </a:r>
            <a:r>
              <a:rPr lang="en-US" sz="2400" b="1" i="1" dirty="0">
                <a:solidFill>
                  <a:srgbClr val="0B61FF"/>
                </a:solidFill>
                <a:latin typeface="Trebuchet MS" panose="020B0603020202020204" pitchFamily="34" charset="0"/>
              </a:rPr>
              <a:t>commutative law</a:t>
            </a:r>
            <a:r>
              <a:rPr lang="en-US" sz="2400" dirty="0">
                <a:latin typeface="Trebuchet MS" panose="020B0603020202020204" pitchFamily="34" charset="0"/>
              </a:rPr>
              <a:t> (or is </a:t>
            </a:r>
            <a:r>
              <a:rPr lang="en-US" sz="2400" b="1" dirty="0">
                <a:latin typeface="Trebuchet MS" panose="020B0603020202020204" pitchFamily="34" charset="0"/>
              </a:rPr>
              <a:t>commutative</a:t>
            </a:r>
            <a:r>
              <a:rPr lang="en-US" sz="2400" dirty="0">
                <a:latin typeface="Trebuchet MS" panose="020B0603020202020204" pitchFamily="34" charset="0"/>
              </a:rPr>
              <a:t>) on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p>
          <a:p>
            <a:pPr marL="631825" indent="-450850">
              <a:lnSpc>
                <a:spcPct val="120000"/>
              </a:lnSpc>
              <a:spcBef>
                <a:spcPts val="600"/>
              </a:spcBef>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(2) </a:t>
            </a:r>
            <a:r>
              <a:rPr lang="en-US" sz="2400" dirty="0">
                <a:latin typeface="Trebuchet MS" panose="020B0603020202020204" pitchFamily="34" charset="0"/>
              </a:rPr>
              <a:t>If for all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z</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S</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z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z</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then the operation is said to satisfy the </a:t>
            </a:r>
            <a:r>
              <a:rPr lang="en-US" sz="2400" b="1" i="1" dirty="0">
                <a:solidFill>
                  <a:srgbClr val="0B61FF"/>
                </a:solidFill>
                <a:latin typeface="Trebuchet MS" panose="020B0603020202020204" pitchFamily="34" charset="0"/>
              </a:rPr>
              <a:t>associative law </a:t>
            </a:r>
            <a:r>
              <a:rPr lang="en-US" sz="2400" dirty="0">
                <a:latin typeface="Trebuchet MS" panose="020B0603020202020204" pitchFamily="34" charset="0"/>
              </a:rPr>
              <a:t>(or is </a:t>
            </a:r>
            <a:r>
              <a:rPr lang="en-US" sz="2400" b="1" dirty="0">
                <a:latin typeface="Trebuchet MS" panose="020B0603020202020204" pitchFamily="34" charset="0"/>
              </a:rPr>
              <a:t>associative</a:t>
            </a:r>
            <a:r>
              <a:rPr lang="en-US" sz="2400" dirty="0">
                <a:latin typeface="Trebuchet MS" panose="020B0603020202020204" pitchFamily="34" charset="0"/>
              </a:rPr>
              <a:t>) on </a:t>
            </a:r>
            <a:r>
              <a:rPr lang="en-US" altLang="zh-CN" sz="2400" b="1" i="1" dirty="0">
                <a:latin typeface="Trebuchet MS" panose="020B0603020202020204" pitchFamily="34" charset="0"/>
                <a:cs typeface="Times New Roman" panose="02020603050405020304" pitchFamily="18" charset="0"/>
              </a:rPr>
              <a:t>S</a:t>
            </a:r>
            <a:r>
              <a:rPr lang="en-US" sz="2400" dirty="0">
                <a:latin typeface="Trebuchet MS" panose="020B0603020202020204" pitchFamily="34"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p>
          <a:p>
            <a:pPr marL="631825" indent="-450850">
              <a:lnSpc>
                <a:spcPct val="120000"/>
              </a:lnSpc>
              <a:spcBef>
                <a:spcPts val="600"/>
              </a:spcBef>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(3)</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If for all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then the operation is said to satisfy the </a:t>
            </a:r>
            <a:r>
              <a:rPr lang="en-US" sz="2400" b="1" i="1" dirty="0">
                <a:solidFill>
                  <a:srgbClr val="0B61FF"/>
                </a:solidFill>
                <a:latin typeface="Trebuchet MS" panose="020B0603020202020204" pitchFamily="34" charset="0"/>
              </a:rPr>
              <a:t>idempotent law</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(or is </a:t>
            </a:r>
            <a:r>
              <a:rPr lang="en-US" sz="2400" b="1" dirty="0">
                <a:latin typeface="Trebuchet MS" panose="020B0603020202020204" pitchFamily="34" charset="0"/>
              </a:rPr>
              <a:t>idempotent</a:t>
            </a:r>
            <a:r>
              <a:rPr lang="en-US" sz="2400" dirty="0">
                <a:latin typeface="Trebuchet MS" panose="020B0603020202020204" pitchFamily="34" charset="0"/>
              </a:rPr>
              <a:t>) on </a:t>
            </a:r>
            <a:r>
              <a:rPr lang="en-US" altLang="zh-CN" sz="2400" b="1" i="1" dirty="0">
                <a:latin typeface="Trebuchet MS" panose="020B0603020202020204" pitchFamily="34" charset="0"/>
                <a:cs typeface="Times New Roman" panose="02020603050405020304" pitchFamily="18" charset="0"/>
              </a:rPr>
              <a:t>S</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1988081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3" end="3"/>
                                            </p:txEl>
                                          </p:spTgt>
                                        </p:tgtEl>
                                        <p:attrNameLst>
                                          <p:attrName>style.visibility</p:attrName>
                                        </p:attrNameLst>
                                      </p:cBhvr>
                                      <p:to>
                                        <p:strVal val="visible"/>
                                      </p:to>
                                    </p:set>
                                    <p:animEffect transition="in" filter="fade">
                                      <p:cBhvr>
                                        <p:cTn id="14" dur="1000"/>
                                        <p:tgtEl>
                                          <p:spTgt spid="12">
                                            <p:txEl>
                                              <p:pRg st="3" end="3"/>
                                            </p:txEl>
                                          </p:spTgt>
                                        </p:tgtEl>
                                      </p:cBhvr>
                                    </p:animEffect>
                                    <p:anim calcmode="lin" valueType="num">
                                      <p:cBhvr>
                                        <p:cTn id="1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9.1.2 Properties of Binary Operations</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Properties of Binary Operations(</a:t>
            </a:r>
            <a:r>
              <a:rPr lang="en-US" altLang="zh-CN" sz="2400" dirty="0">
                <a:solidFill>
                  <a:srgbClr val="C00000"/>
                </a:solidFill>
                <a:latin typeface="Trebuchet MS" panose="020B0603020202020204" pitchFamily="34" charset="0"/>
              </a:rPr>
              <a:t>e.g.</a:t>
            </a:r>
            <a:r>
              <a:rPr lang="en-US" altLang="zh-CN" sz="2400" dirty="0">
                <a:latin typeface="Trebuchet MS" panose="020B0603020202020204" pitchFamily="34" charset="0"/>
              </a:rPr>
              <a:t>)</a:t>
            </a:r>
            <a:endParaRPr lang="zh-CN" altLang="en-US" sz="2400"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0" name="Text Box 3">
            <a:extLst>
              <a:ext uri="{FF2B5EF4-FFF2-40B4-BE49-F238E27FC236}">
                <a16:creationId xmlns:a16="http://schemas.microsoft.com/office/drawing/2014/main" id="{683E26F2-1DD9-4DAA-BF85-42407B4D72B8}"/>
              </a:ext>
            </a:extLst>
          </p:cNvPr>
          <p:cNvSpPr txBox="1">
            <a:spLocks noChangeArrowheads="1"/>
          </p:cNvSpPr>
          <p:nvPr/>
        </p:nvSpPr>
        <p:spPr bwMode="auto">
          <a:xfrm>
            <a:off x="707256" y="762000"/>
            <a:ext cx="10829346" cy="1378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ea typeface="宋体" panose="02010600030101010101" pitchFamily="2" charset="-122"/>
              </a:rPr>
              <a:t>Example: Z, Q, R </a:t>
            </a:r>
            <a:r>
              <a:rPr lang="en-US" altLang="zh-CN" sz="2400" dirty="0">
                <a:latin typeface="Trebuchet MS" panose="020B0603020202020204" pitchFamily="34" charset="0"/>
                <a:ea typeface="宋体" panose="02010600030101010101" pitchFamily="2" charset="-122"/>
              </a:rPr>
              <a:t>d</a:t>
            </a:r>
            <a:r>
              <a:rPr lang="en-US" sz="2400" dirty="0">
                <a:latin typeface="Trebuchet MS" panose="020B0603020202020204" pitchFamily="34" charset="0"/>
              </a:rPr>
              <a:t>enote the sets of integers, rational numbers, and real numbers, respectively</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M</a:t>
            </a:r>
            <a:r>
              <a:rPr lang="en-US" altLang="zh-CN" sz="2400" b="1" i="1" baseline="-25000" dirty="0">
                <a:latin typeface="Trebuchet MS" panose="020B0603020202020204" pitchFamily="34" charset="0"/>
                <a:ea typeface="宋体" panose="02010600030101010101" pitchFamily="2" charset="-122"/>
              </a:rPr>
              <a:t>n</a:t>
            </a:r>
            <a:r>
              <a:rPr lang="en-US" altLang="zh-CN" sz="2400" b="1" dirty="0">
                <a:latin typeface="Trebuchet MS" panose="020B0603020202020204" pitchFamily="34" charset="0"/>
                <a:ea typeface="宋体" panose="02010600030101010101" pitchFamily="2" charset="-122"/>
              </a:rPr>
              <a:t>(R)</a:t>
            </a:r>
            <a:r>
              <a:rPr lang="en-US" sz="2400" dirty="0">
                <a:latin typeface="Trebuchet MS" panose="020B0603020202020204" pitchFamily="34" charset="0"/>
              </a:rPr>
              <a:t> denotes the set of all </a:t>
            </a:r>
            <a:r>
              <a:rPr lang="en-US" sz="2400" b="1" i="1" dirty="0" err="1">
                <a:latin typeface="Trebuchet MS" panose="020B0603020202020204" pitchFamily="34" charset="0"/>
              </a:rPr>
              <a:t>n</a:t>
            </a:r>
            <a:r>
              <a:rPr lang="en-US" sz="2400" dirty="0" err="1">
                <a:latin typeface="Trebuchet MS" panose="020B0603020202020204" pitchFamily="34" charset="0"/>
              </a:rPr>
              <a:t>×</a:t>
            </a:r>
            <a:r>
              <a:rPr lang="en-US" sz="2400" b="1" i="1" dirty="0" err="1">
                <a:latin typeface="Trebuchet MS" panose="020B0603020202020204" pitchFamily="34" charset="0"/>
              </a:rPr>
              <a:t>n</a:t>
            </a:r>
            <a:r>
              <a:rPr lang="en-US" sz="2400" dirty="0">
                <a:latin typeface="Trebuchet MS" panose="020B0603020202020204" pitchFamily="34" charset="0"/>
              </a:rPr>
              <a:t> real matrices,</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n</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2, </a:t>
            </a:r>
            <a:r>
              <a:rPr lang="en-US" altLang="zh-CN" sz="2400" b="1" i="1" dirty="0">
                <a:latin typeface="Trebuchet MS" panose="020B0603020202020204" pitchFamily="34" charset="0"/>
                <a:ea typeface="宋体" panose="02010600030101010101" pitchFamily="2" charset="-122"/>
              </a:rPr>
              <a:t>P</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B</a:t>
            </a:r>
            <a:r>
              <a:rPr lang="en-US" altLang="zh-CN" sz="2400" b="1" dirty="0">
                <a:latin typeface="Trebuchet MS" panose="020B0603020202020204" pitchFamily="34" charset="0"/>
                <a:ea typeface="宋体" panose="02010600030101010101" pitchFamily="2" charset="-122"/>
              </a:rPr>
              <a:t>)</a:t>
            </a:r>
            <a:r>
              <a:rPr lang="en-US" sz="2400" dirty="0">
                <a:latin typeface="Trebuchet MS" panose="020B0603020202020204" pitchFamily="34" charset="0"/>
              </a:rPr>
              <a:t> power set </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A</a:t>
            </a:r>
            <a:r>
              <a:rPr lang="en-US" altLang="zh-CN" sz="2400" b="1" i="1" baseline="30000" dirty="0">
                <a:latin typeface="Trebuchet MS" panose="020B0603020202020204" pitchFamily="34" charset="0"/>
                <a:ea typeface="宋体" panose="02010600030101010101" pitchFamily="2" charset="-122"/>
              </a:rPr>
              <a:t>A</a:t>
            </a:r>
            <a:r>
              <a:rPr lang="zh-CN" altLang="en-US" sz="2400" b="1" i="1" baseline="30000"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set of all functions from A to A</a:t>
            </a:r>
            <a:r>
              <a:rPr lang="zh-CN" altLang="en-US" sz="2400" b="1" dirty="0">
                <a:latin typeface="Trebuchet MS" panose="020B0603020202020204" pitchFamily="34" charset="0"/>
                <a:ea typeface="宋体" panose="02010600030101010101" pitchFamily="2" charset="-122"/>
              </a:rPr>
              <a:t>，</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2.</a:t>
            </a:r>
          </a:p>
        </p:txBody>
      </p:sp>
      <p:graphicFrame>
        <p:nvGraphicFramePr>
          <p:cNvPr id="11" name="Group 90">
            <a:extLst>
              <a:ext uri="{FF2B5EF4-FFF2-40B4-BE49-F238E27FC236}">
                <a16:creationId xmlns:a16="http://schemas.microsoft.com/office/drawing/2014/main" id="{9BB75632-FE18-4227-9C9D-5C239606B3A4}"/>
              </a:ext>
            </a:extLst>
          </p:cNvPr>
          <p:cNvGraphicFramePr>
            <a:graphicFrameLocks/>
          </p:cNvGraphicFramePr>
          <p:nvPr/>
        </p:nvGraphicFramePr>
        <p:xfrm>
          <a:off x="821400" y="2138292"/>
          <a:ext cx="9592839" cy="4044484"/>
        </p:xfrm>
        <a:graphic>
          <a:graphicData uri="http://schemas.openxmlformats.org/drawingml/2006/table">
            <a:tbl>
              <a:tblPr/>
              <a:tblGrid>
                <a:gridCol w="1690693">
                  <a:extLst>
                    <a:ext uri="{9D8B030D-6E8A-4147-A177-3AD203B41FA5}">
                      <a16:colId xmlns:a16="http://schemas.microsoft.com/office/drawing/2014/main" val="1886227919"/>
                    </a:ext>
                  </a:extLst>
                </a:gridCol>
                <a:gridCol w="1418267">
                  <a:extLst>
                    <a:ext uri="{9D8B030D-6E8A-4147-A177-3AD203B41FA5}">
                      <a16:colId xmlns:a16="http://schemas.microsoft.com/office/drawing/2014/main" val="4007729011"/>
                    </a:ext>
                  </a:extLst>
                </a:gridCol>
                <a:gridCol w="2344629">
                  <a:extLst>
                    <a:ext uri="{9D8B030D-6E8A-4147-A177-3AD203B41FA5}">
                      <a16:colId xmlns:a16="http://schemas.microsoft.com/office/drawing/2014/main" val="3507047169"/>
                    </a:ext>
                  </a:extLst>
                </a:gridCol>
                <a:gridCol w="2069165">
                  <a:extLst>
                    <a:ext uri="{9D8B030D-6E8A-4147-A177-3AD203B41FA5}">
                      <a16:colId xmlns:a16="http://schemas.microsoft.com/office/drawing/2014/main" val="1281198551"/>
                    </a:ext>
                  </a:extLst>
                </a:gridCol>
                <a:gridCol w="2070085">
                  <a:extLst>
                    <a:ext uri="{9D8B030D-6E8A-4147-A177-3AD203B41FA5}">
                      <a16:colId xmlns:a16="http://schemas.microsoft.com/office/drawing/2014/main" val="3021380676"/>
                    </a:ext>
                  </a:extLst>
                </a:gridCol>
              </a:tblGrid>
              <a:tr h="478324">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Set</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Operations</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a:t>Commutative law</a:t>
                      </a:r>
                      <a:r>
                        <a:rPr lang="en-US" sz="2000" dirty="0"/>
                        <a:t>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a:t>Associative law</a:t>
                      </a:r>
                      <a:r>
                        <a:rPr lang="en-US" sz="2000" dirty="0"/>
                        <a:t>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a:t>Idempotent law</a:t>
                      </a:r>
                      <a:r>
                        <a:rPr lang="en-US" sz="2000" dirty="0"/>
                        <a:t>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1477267"/>
                  </a:ext>
                </a:extLst>
              </a:tr>
              <a:tr h="395428">
                <a:tc rowSpan="2">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Z, Q, R</a:t>
                      </a: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6128943"/>
                  </a:ext>
                </a:extLst>
              </a:tr>
              <a:tr h="395428">
                <a:tc vMerge="1">
                  <a:txBody>
                    <a:bodyPr/>
                    <a:lstStyle/>
                    <a:p>
                      <a:endParaRPr lang="zh-CN" altLang="en-US"/>
                    </a:p>
                  </a:txBody>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16612073"/>
                  </a:ext>
                </a:extLst>
              </a:tr>
              <a:tr h="395428">
                <a:tc rowSpan="2">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t>
                      </a:r>
                      <a:r>
                        <a:rPr kumimoji="0" lang="en-US" altLang="zh-CN" sz="2000" b="1" i="1"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n</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a:t>
                      </a: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45811418"/>
                  </a:ext>
                </a:extLst>
              </a:tr>
              <a:tr h="395428">
                <a:tc vMerge="1">
                  <a:txBody>
                    <a:bodyPr/>
                    <a:lstStyle/>
                    <a:p>
                      <a:endParaRPr lang="zh-CN" altLang="en-US"/>
                    </a:p>
                  </a:txBody>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3596781"/>
                  </a:ext>
                </a:extLst>
              </a:tr>
              <a:tr h="395428">
                <a:tc rowSpan="4">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8797476"/>
                  </a:ext>
                </a:extLst>
              </a:tr>
              <a:tr h="395428">
                <a:tc vMerge="1">
                  <a:txBody>
                    <a:bodyPr/>
                    <a:lstStyle/>
                    <a:p>
                      <a:endParaRPr lang="zh-CN" altLang="en-US"/>
                    </a:p>
                  </a:txBody>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49151665"/>
                  </a:ext>
                </a:extLst>
              </a:tr>
              <a:tr h="395428">
                <a:tc vMerge="1">
                  <a:txBody>
                    <a:bodyPr/>
                    <a:lstStyle/>
                    <a:p>
                      <a:endParaRPr lang="zh-CN" altLang="en-US"/>
                    </a:p>
                  </a:txBody>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35107887"/>
                  </a:ext>
                </a:extLst>
              </a:tr>
              <a:tr h="395428">
                <a:tc vMerge="1">
                  <a:txBody>
                    <a:bodyPr/>
                    <a:lstStyle/>
                    <a:p>
                      <a:endParaRPr lang="zh-CN" altLang="en-US"/>
                    </a:p>
                  </a:txBody>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62479607"/>
                  </a:ext>
                </a:extLst>
              </a:tr>
              <a:tr h="395428">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r>
                        <a:rPr kumimoji="0" lang="en-US" altLang="zh-CN" sz="2000" b="1" i="1"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A</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Lucida Sans Unicode" panose="020B0602030504020204" pitchFamily="34" charset="0"/>
                          <a:ea typeface="宋体" panose="02010600030101010101" pitchFamily="2" charset="-122"/>
                        </a:rPr>
                        <a:t>∘</a:t>
                      </a:r>
                      <a:endParaRPr kumimoji="0" lang="zh-CN" altLang="en-US" sz="2000" b="1" i="0" u="none" strike="noStrike" cap="none" normalizeH="0" baseline="0" dirty="0">
                        <a:ln>
                          <a:noFill/>
                        </a:ln>
                        <a:solidFill>
                          <a:srgbClr val="000000"/>
                        </a:solidFill>
                        <a:effectLst/>
                        <a:latin typeface="ˎ̥" charset="0"/>
                        <a:ea typeface="宋体" panose="02010600030101010101" pitchFamily="2" charset="-122"/>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Yes</a:t>
                      </a:r>
                      <a:endParaRPr kumimoji="0"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rPr>
                        <a:t>No</a:t>
                      </a:r>
                      <a:endParaRPr kumimoji="0" lang="zh-CN" altLang="en-US" sz="2000" b="1" i="0" u="none" strike="noStrike" kern="1200" cap="none" normalizeH="0" baseline="0" dirty="0">
                        <a:ln>
                          <a:noFill/>
                        </a:ln>
                        <a:solidFill>
                          <a:srgbClr val="FF0000"/>
                        </a:solidFill>
                        <a:effectLst/>
                        <a:latin typeface="楷体" panose="02010609060101010101" pitchFamily="49" charset="-122"/>
                        <a:ea typeface="楷体" panose="02010609060101010101" pitchFamily="49" charset="-122"/>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88643196"/>
                  </a:ext>
                </a:extLst>
              </a:tr>
            </a:tbl>
          </a:graphicData>
        </a:graphic>
      </p:graphicFrame>
    </p:spTree>
    <p:extLst>
      <p:ext uri="{BB962C8B-B14F-4D97-AF65-F5344CB8AC3E}">
        <p14:creationId xmlns:p14="http://schemas.microsoft.com/office/powerpoint/2010/main" val="2150596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9.1.2 Properties of Binary Operations</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 </a:t>
            </a:r>
            <a:r>
              <a:rPr lang="en-US" altLang="zh-CN" sz="2400" b="1" dirty="0">
                <a:latin typeface="Trebuchet MS" panose="020B0603020202020204" pitchFamily="34" charset="0"/>
              </a:rPr>
              <a:t>Distributive </a:t>
            </a:r>
            <a:r>
              <a:rPr lang="en-US" altLang="zh-CN" sz="2400" b="1" dirty="0">
                <a:latin typeface="+mj-lt"/>
              </a:rPr>
              <a:t>&amp;</a:t>
            </a:r>
            <a:r>
              <a:rPr lang="en-US" altLang="zh-CN" sz="2400" b="1" dirty="0">
                <a:latin typeface="Trebuchet MS" panose="020B0603020202020204" pitchFamily="34" charset="0"/>
              </a:rPr>
              <a:t> Absorption Laws (Two Binary Operations)</a:t>
            </a:r>
            <a:endParaRPr lang="zh-CN" altLang="en-US" sz="20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2" name="Text Box 3">
            <a:extLst>
              <a:ext uri="{FF2B5EF4-FFF2-40B4-BE49-F238E27FC236}">
                <a16:creationId xmlns:a16="http://schemas.microsoft.com/office/drawing/2014/main" id="{0CDD33F7-D8E3-42EE-A9C3-08070A5FD4A4}"/>
              </a:ext>
            </a:extLst>
          </p:cNvPr>
          <p:cNvSpPr txBox="1">
            <a:spLocks noChangeArrowheads="1"/>
          </p:cNvSpPr>
          <p:nvPr/>
        </p:nvSpPr>
        <p:spPr bwMode="auto">
          <a:xfrm>
            <a:off x="824682" y="998991"/>
            <a:ext cx="10626863" cy="4315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63525" indent="-263525">
              <a:lnSpc>
                <a:spcPct val="120000"/>
              </a:lnSpc>
              <a:buClr>
                <a:srgbClr val="0B61FF"/>
              </a:buClr>
              <a:buSzPct val="80000"/>
              <a:buFont typeface="Wingdings" panose="05000000000000000000" pitchFamily="2" charset="2"/>
              <a:buChar char="n"/>
            </a:pPr>
            <a:r>
              <a:rPr lang="zh-CN" altLang="en-US" sz="2400" b="1" dirty="0">
                <a:latin typeface="Trebuchet MS" panose="020B0603020202020204" pitchFamily="34" charset="0"/>
                <a:ea typeface="宋体" panose="02010600030101010101" pitchFamily="2" charset="-122"/>
              </a:rPr>
              <a:t> </a:t>
            </a:r>
            <a:r>
              <a:rPr lang="en-US" sz="2400" b="1" dirty="0">
                <a:latin typeface="Trebuchet MS" panose="020B0603020202020204" pitchFamily="34" charset="0"/>
              </a:rPr>
              <a:t>Definition </a:t>
            </a:r>
            <a:r>
              <a:rPr lang="en-US" altLang="zh-CN" sz="2400" b="1" dirty="0">
                <a:latin typeface="Trebuchet MS" panose="020B0603020202020204" pitchFamily="34" charset="0"/>
                <a:ea typeface="宋体" panose="02010600030101010101" pitchFamily="2" charset="-122"/>
              </a:rPr>
              <a:t>9.4:  </a:t>
            </a:r>
            <a:r>
              <a:rPr lang="en-US" sz="2400" dirty="0">
                <a:latin typeface="Trebuchet MS" panose="020B0603020202020204" pitchFamily="34" charset="0"/>
              </a:rPr>
              <a:t>Let </a:t>
            </a:r>
            <a:r>
              <a:rPr lang="zh-CN" altLang="en-US" sz="2400" b="1" dirty="0">
                <a:latin typeface="Trebuchet MS" panose="020B0603020202020204" pitchFamily="34" charset="0"/>
                <a:ea typeface="宋体" panose="02010600030101010101" pitchFamily="2" charset="-122"/>
              </a:rPr>
              <a:t> </a:t>
            </a:r>
            <a:r>
              <a:rPr lang="en-US" altLang="zh-CN" sz="2400" b="1" dirty="0">
                <a:solidFill>
                  <a:srgbClr val="FF0000"/>
                </a:solidFill>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latin typeface="Trebuchet MS" panose="020B0603020202020204" pitchFamily="34" charset="0"/>
                <a:ea typeface="宋体" panose="02010600030101010101" pitchFamily="2" charset="-122"/>
                <a:sym typeface="Symbol" panose="05050102010706020507" pitchFamily="18" charset="2"/>
              </a:rPr>
              <a:t>and</a:t>
            </a:r>
            <a:r>
              <a:rPr lang="zh-CN" altLang="en-US" sz="2400" b="1" dirty="0">
                <a:latin typeface="Trebuchet MS" panose="020B0603020202020204" pitchFamily="34" charset="0"/>
                <a:ea typeface="宋体" panose="02010600030101010101" pitchFamily="2" charset="-122"/>
                <a:sym typeface="Symbol" panose="05050102010706020507" pitchFamily="18" charset="2"/>
              </a:rPr>
              <a:t> </a:t>
            </a:r>
            <a:r>
              <a:rPr lang="zh-CN" altLang="en-US" sz="2400" b="1" dirty="0">
                <a:latin typeface="Trebuchet MS" panose="020B0603020202020204" pitchFamily="34" charset="0"/>
                <a:ea typeface="宋体" panose="02010600030101010101" pitchFamily="2" charset="-122"/>
              </a:rPr>
              <a:t> </a:t>
            </a:r>
            <a:r>
              <a:rPr lang="zh-CN" altLang="en-US" sz="2400" b="1" dirty="0">
                <a:solidFill>
                  <a:srgbClr val="FF0000"/>
                </a:solidFill>
                <a:latin typeface="Trebuchet MS" panose="020B0603020202020204" pitchFamily="34" charset="0"/>
                <a:ea typeface="宋体" panose="02010600030101010101" pitchFamily="2" charset="-122"/>
              </a:rPr>
              <a:t>∗</a:t>
            </a: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b</a:t>
            </a:r>
            <a:r>
              <a:rPr lang="en-US" sz="2400" dirty="0">
                <a:latin typeface="Trebuchet MS" panose="020B0603020202020204" pitchFamily="34" charset="0"/>
              </a:rPr>
              <a:t>e two distinct binary operations on </a:t>
            </a:r>
            <a:r>
              <a:rPr lang="zh-CN" altLang="en-US"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S </a:t>
            </a:r>
            <a:r>
              <a:rPr lang="en-US" altLang="zh-CN" sz="2400" b="1" dirty="0">
                <a:latin typeface="Trebuchet MS" panose="020B0603020202020204" pitchFamily="34" charset="0"/>
                <a:ea typeface="宋体" panose="02010600030101010101" pitchFamily="2" charset="-122"/>
              </a:rPr>
              <a:t>,</a:t>
            </a:r>
          </a:p>
          <a:p>
            <a:pPr>
              <a:lnSpc>
                <a:spcPct val="120000"/>
              </a:lnSpc>
            </a:pPr>
            <a:r>
              <a:rPr lang="en-US" altLang="zh-CN" sz="2400" b="1" dirty="0">
                <a:latin typeface="Trebuchet MS" panose="020B0603020202020204" pitchFamily="34" charset="0"/>
                <a:ea typeface="宋体" panose="02010600030101010101" pitchFamily="2" charset="-122"/>
              </a:rPr>
              <a:t>    </a:t>
            </a:r>
            <a:r>
              <a:rPr lang="en-US" altLang="zh-CN" sz="2400" b="1" dirty="0">
                <a:solidFill>
                  <a:srgbClr val="0B61FF"/>
                </a:solidFill>
                <a:latin typeface="Trebuchet MS" panose="020B0603020202020204" pitchFamily="34" charset="0"/>
                <a:ea typeface="宋体" panose="02010600030101010101" pitchFamily="2" charset="-122"/>
              </a:rPr>
              <a:t>(1) </a:t>
            </a:r>
            <a:r>
              <a:rPr lang="en-US" sz="2400" dirty="0">
                <a:latin typeface="Trebuchet MS" panose="020B0603020202020204" pitchFamily="34" charset="0"/>
              </a:rPr>
              <a:t>If for all </a:t>
            </a:r>
            <a:r>
              <a:rPr lang="en-US" altLang="zh-CN" sz="2400" b="1" i="1" dirty="0">
                <a:latin typeface="Trebuchet MS" panose="020B0603020202020204" pitchFamily="34" charset="0"/>
                <a:ea typeface="宋体" panose="02010600030101010101" pitchFamily="2" charset="-122"/>
              </a:rPr>
              <a:t>x</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 </a:t>
            </a:r>
            <a:r>
              <a:rPr lang="en-US" altLang="zh-CN" sz="2400" b="1" i="1" dirty="0" err="1">
                <a:latin typeface="Trebuchet MS" panose="020B0603020202020204" pitchFamily="34" charset="0"/>
                <a:ea typeface="宋体" panose="02010600030101010101" pitchFamily="2" charset="-122"/>
              </a:rPr>
              <a:t>z</a:t>
            </a:r>
            <a:r>
              <a:rPr lang="en-US" altLang="zh-CN" sz="2400" b="1" dirty="0" err="1">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S</a:t>
            </a:r>
            <a:r>
              <a:rPr lang="en-US" altLang="zh-CN" sz="2400" b="1" i="1" dirty="0">
                <a:latin typeface="Trebuchet MS" panose="020B0603020202020204" pitchFamily="34" charset="0"/>
                <a:ea typeface="宋体" panose="02010600030101010101" pitchFamily="2" charset="-122"/>
              </a:rPr>
              <a:t> </a:t>
            </a:r>
            <a:r>
              <a:rPr lang="zh-CN" altLang="en-US" sz="2400" b="1" dirty="0">
                <a:latin typeface="Trebuchet MS" panose="020B0603020202020204" pitchFamily="34" charset="0"/>
                <a:ea typeface="宋体" panose="02010600030101010101" pitchFamily="2" charset="-122"/>
              </a:rPr>
              <a:t> </a:t>
            </a:r>
          </a:p>
          <a:p>
            <a:pPr>
              <a:lnSpc>
                <a:spcPct val="120000"/>
              </a:lnSpc>
            </a:pP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x </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rPr>
              <a:t>z </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x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rPr>
              <a:t>z</a:t>
            </a:r>
            <a:r>
              <a:rPr lang="en-US" altLang="zh-CN" sz="2400" b="1" dirty="0">
                <a:latin typeface="Trebuchet MS" panose="020B0603020202020204" pitchFamily="34" charset="0"/>
                <a:ea typeface="宋体" panose="02010600030101010101" pitchFamily="2" charset="-122"/>
              </a:rPr>
              <a:t>) ∗ (</a:t>
            </a:r>
            <a:r>
              <a:rPr lang="en-US" altLang="zh-CN" sz="2400" b="1" i="1" dirty="0">
                <a:latin typeface="Trebuchet MS" panose="020B0603020202020204" pitchFamily="34" charset="0"/>
                <a:ea typeface="宋体" panose="02010600030101010101" pitchFamily="2" charset="-122"/>
              </a:rPr>
              <a:t>y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rPr>
              <a:t>z</a:t>
            </a:r>
            <a:r>
              <a:rPr lang="en-US" altLang="zh-CN" sz="2400" b="1" dirty="0">
                <a:latin typeface="Trebuchet MS" panose="020B0603020202020204" pitchFamily="34" charset="0"/>
                <a:ea typeface="宋体" panose="02010600030101010101" pitchFamily="2" charset="-122"/>
              </a:rPr>
              <a:t>)</a:t>
            </a:r>
          </a:p>
          <a:p>
            <a:pPr>
              <a:lnSpc>
                <a:spcPct val="120000"/>
              </a:lnSpc>
            </a:pP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z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x </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 = (</a:t>
            </a:r>
            <a:r>
              <a:rPr lang="en-US" altLang="zh-CN" sz="2400" b="1" i="1" dirty="0">
                <a:latin typeface="Trebuchet MS" panose="020B0603020202020204" pitchFamily="34" charset="0"/>
                <a:ea typeface="宋体" panose="02010600030101010101" pitchFamily="2" charset="-122"/>
              </a:rPr>
              <a:t>z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rPr>
              <a:t>x</a:t>
            </a:r>
            <a:r>
              <a:rPr lang="en-US" altLang="zh-CN" sz="2400" b="1" dirty="0">
                <a:latin typeface="Trebuchet MS" panose="020B0603020202020204" pitchFamily="34" charset="0"/>
                <a:ea typeface="宋体" panose="02010600030101010101" pitchFamily="2" charset="-122"/>
              </a:rPr>
              <a:t>) ∗ (</a:t>
            </a:r>
            <a:r>
              <a:rPr lang="en-US" altLang="zh-CN" sz="2400" b="1" i="1" dirty="0">
                <a:latin typeface="Trebuchet MS" panose="020B0603020202020204" pitchFamily="34" charset="0"/>
                <a:ea typeface="宋体" panose="02010600030101010101" pitchFamily="2" charset="-122"/>
              </a:rPr>
              <a:t>z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 </a:t>
            </a:r>
          </a:p>
          <a:p>
            <a:pPr indent="803275">
              <a:lnSpc>
                <a:spcPct val="120000"/>
              </a:lnSpc>
            </a:pPr>
            <a:r>
              <a:rPr lang="en-US" sz="2400" dirty="0">
                <a:latin typeface="Trebuchet MS" panose="020B0603020202020204" pitchFamily="34" charset="0"/>
              </a:rPr>
              <a:t>then we say that the operation </a:t>
            </a:r>
            <a:r>
              <a:rPr lang="en-US" altLang="zh-CN" sz="2400" b="1" dirty="0">
                <a:solidFill>
                  <a:srgbClr val="FF0000"/>
                </a:solidFill>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sym typeface="Symbol" panose="05050102010706020507" pitchFamily="18" charset="2"/>
              </a:rPr>
              <a:t> </a:t>
            </a:r>
            <a:r>
              <a:rPr lang="en-US" sz="2400" b="1" i="1" dirty="0">
                <a:solidFill>
                  <a:srgbClr val="0B61FF"/>
                </a:solidFill>
                <a:latin typeface="Trebuchet MS" panose="020B0603020202020204" pitchFamily="34" charset="0"/>
              </a:rPr>
              <a:t>distributes</a:t>
            </a:r>
            <a:r>
              <a:rPr lang="en-US" sz="2400" b="1" dirty="0">
                <a:latin typeface="Trebuchet MS" panose="020B0603020202020204" pitchFamily="34" charset="0"/>
              </a:rPr>
              <a:t> </a:t>
            </a:r>
            <a:r>
              <a:rPr lang="en-US" sz="2400" dirty="0">
                <a:latin typeface="Trebuchet MS" panose="020B0603020202020204" pitchFamily="34" charset="0"/>
              </a:rPr>
              <a:t>over the operation </a:t>
            </a:r>
            <a:r>
              <a:rPr lang="en-US" sz="2400" b="1" dirty="0">
                <a:solidFill>
                  <a:srgbClr val="FF0000"/>
                </a:solidFill>
                <a:latin typeface="Trebuchet MS" panose="020B0603020202020204" pitchFamily="34" charset="0"/>
              </a:rPr>
              <a:t>∗</a:t>
            </a:r>
            <a:r>
              <a:rPr lang="en-US" altLang="zh-CN" sz="2400" b="1" dirty="0">
                <a:latin typeface="Trebuchet MS" panose="020B0603020202020204" pitchFamily="34" charset="0"/>
                <a:ea typeface="宋体" panose="02010600030101010101" pitchFamily="2" charset="-122"/>
              </a:rPr>
              <a:t>.  </a:t>
            </a:r>
          </a:p>
          <a:p>
            <a:pPr>
              <a:lnSpc>
                <a:spcPct val="120000"/>
              </a:lnSpc>
            </a:pPr>
            <a:r>
              <a:rPr lang="en-US" altLang="zh-CN" sz="2400" b="1" dirty="0">
                <a:latin typeface="Trebuchet MS" panose="020B0603020202020204" pitchFamily="34" charset="0"/>
                <a:ea typeface="宋体" panose="02010600030101010101" pitchFamily="2" charset="-122"/>
              </a:rPr>
              <a:t>   </a:t>
            </a:r>
            <a:r>
              <a:rPr lang="en-US" altLang="zh-CN" sz="2400" b="1" dirty="0">
                <a:solidFill>
                  <a:srgbClr val="0B61FF"/>
                </a:solidFill>
                <a:latin typeface="Trebuchet MS" panose="020B0603020202020204" pitchFamily="34" charset="0"/>
                <a:ea typeface="宋体" panose="02010600030101010101" pitchFamily="2" charset="-122"/>
              </a:rPr>
              <a:t>(2) </a:t>
            </a:r>
            <a:r>
              <a:rPr lang="en-US" sz="2400" dirty="0">
                <a:latin typeface="Trebuchet MS" panose="020B0603020202020204" pitchFamily="34" charset="0"/>
              </a:rPr>
              <a:t>If both </a:t>
            </a:r>
            <a:r>
              <a:rPr lang="en-US" sz="2400" b="1" dirty="0">
                <a:solidFill>
                  <a:srgbClr val="FF0000"/>
                </a:solidFill>
                <a:latin typeface="Trebuchet MS" panose="020B0603020202020204" pitchFamily="34" charset="0"/>
              </a:rPr>
              <a:t>∘</a:t>
            </a:r>
            <a:r>
              <a:rPr lang="en-US" sz="2400" dirty="0">
                <a:latin typeface="Trebuchet MS" panose="020B0603020202020204" pitchFamily="34" charset="0"/>
              </a:rPr>
              <a:t> and </a:t>
            </a:r>
            <a:r>
              <a:rPr lang="en-US" sz="2400" b="1" dirty="0">
                <a:solidFill>
                  <a:srgbClr val="FF0000"/>
                </a:solidFill>
                <a:latin typeface="Trebuchet MS" panose="020B0603020202020204" pitchFamily="34" charset="0"/>
              </a:rPr>
              <a:t>∗</a:t>
            </a:r>
            <a:r>
              <a:rPr lang="en-US" sz="2400" dirty="0">
                <a:latin typeface="Trebuchet MS" panose="020B0603020202020204" pitchFamily="34" charset="0"/>
              </a:rPr>
              <a:t> are commutative, and for all  </a:t>
            </a:r>
            <a:r>
              <a:rPr lang="en-US" altLang="zh-CN" sz="2400" b="1" i="1" dirty="0">
                <a:latin typeface="Trebuchet MS" panose="020B0603020202020204" pitchFamily="34" charset="0"/>
                <a:ea typeface="宋体" panose="02010600030101010101" pitchFamily="2" charset="-122"/>
              </a:rPr>
              <a:t>x</a:t>
            </a:r>
            <a:r>
              <a:rPr lang="en-US" altLang="zh-CN" sz="2400" b="1" dirty="0">
                <a:latin typeface="Trebuchet MS" panose="020B0603020202020204" pitchFamily="34" charset="0"/>
                <a:ea typeface="宋体" panose="02010600030101010101" pitchFamily="2" charset="-122"/>
              </a:rPr>
              <a:t>, </a:t>
            </a:r>
            <a:r>
              <a:rPr lang="en-US" altLang="zh-CN" sz="2400" b="1" i="1" dirty="0" err="1">
                <a:latin typeface="Trebuchet MS" panose="020B0603020202020204" pitchFamily="34" charset="0"/>
                <a:ea typeface="宋体" panose="02010600030101010101" pitchFamily="2" charset="-122"/>
              </a:rPr>
              <a:t>y</a:t>
            </a:r>
            <a:r>
              <a:rPr lang="en-US" altLang="zh-CN" sz="2400" b="1" dirty="0" err="1">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S</a:t>
            </a:r>
            <a:endParaRPr lang="zh-CN" altLang="en-US" sz="2400" b="1" dirty="0">
              <a:latin typeface="Trebuchet MS" panose="020B0603020202020204" pitchFamily="34" charset="0"/>
              <a:ea typeface="宋体" panose="02010600030101010101" pitchFamily="2" charset="-122"/>
            </a:endParaRPr>
          </a:p>
          <a:p>
            <a:pPr>
              <a:lnSpc>
                <a:spcPct val="120000"/>
              </a:lnSpc>
            </a:pPr>
            <a:r>
              <a:rPr lang="zh-CN" altLang="en-US"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x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x </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 = </a:t>
            </a:r>
            <a:r>
              <a:rPr lang="en-US" altLang="zh-CN" sz="2400" b="1" i="1" dirty="0">
                <a:latin typeface="Trebuchet MS" panose="020B0603020202020204" pitchFamily="34" charset="0"/>
                <a:ea typeface="宋体" panose="02010600030101010101" pitchFamily="2" charset="-122"/>
              </a:rPr>
              <a:t>x </a:t>
            </a:r>
          </a:p>
          <a:p>
            <a:pPr>
              <a:lnSpc>
                <a:spcPct val="120000"/>
              </a:lnSpc>
            </a:pPr>
            <a:r>
              <a:rPr lang="en-US" altLang="zh-CN" sz="2400" b="1" i="1" dirty="0">
                <a:latin typeface="Trebuchet MS" panose="020B0603020202020204" pitchFamily="34" charset="0"/>
                <a:ea typeface="宋体" panose="02010600030101010101" pitchFamily="2" charset="-122"/>
              </a:rPr>
              <a:t>               x </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x</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 = </a:t>
            </a:r>
            <a:r>
              <a:rPr lang="en-US" altLang="zh-CN" sz="2400" b="1" i="1" dirty="0">
                <a:latin typeface="Trebuchet MS" panose="020B0603020202020204" pitchFamily="34" charset="0"/>
                <a:ea typeface="宋体" panose="02010600030101010101" pitchFamily="2" charset="-122"/>
              </a:rPr>
              <a:t>x</a:t>
            </a:r>
            <a:r>
              <a:rPr lang="en-US" altLang="zh-CN" sz="2400" b="1" dirty="0">
                <a:latin typeface="Trebuchet MS" panose="020B0603020202020204" pitchFamily="34" charset="0"/>
                <a:ea typeface="宋体" panose="02010600030101010101" pitchFamily="2" charset="-122"/>
              </a:rPr>
              <a:t> </a:t>
            </a:r>
          </a:p>
          <a:p>
            <a:pPr indent="803275">
              <a:lnSpc>
                <a:spcPct val="120000"/>
              </a:lnSpc>
            </a:pPr>
            <a:r>
              <a:rPr lang="en-US" sz="2400" dirty="0">
                <a:latin typeface="Trebuchet MS" panose="020B0603020202020204" pitchFamily="34" charset="0"/>
              </a:rPr>
              <a:t>then we say that the operations </a:t>
            </a:r>
            <a:r>
              <a:rPr lang="en-US" altLang="zh-CN" sz="2400" b="1" dirty="0">
                <a:solidFill>
                  <a:srgbClr val="FF0000"/>
                </a:solidFill>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dirty="0">
                <a:latin typeface="Trebuchet MS" panose="020B0603020202020204" pitchFamily="34" charset="0"/>
                <a:ea typeface="宋体" panose="02010600030101010101" pitchFamily="2" charset="-122"/>
                <a:sym typeface="Symbol" panose="05050102010706020507" pitchFamily="18" charset="2"/>
              </a:rPr>
              <a:t>and</a:t>
            </a:r>
            <a:r>
              <a:rPr lang="zh-CN" altLang="en-US" sz="2400" b="1" dirty="0">
                <a:latin typeface="Trebuchet MS" panose="020B0603020202020204" pitchFamily="34" charset="0"/>
                <a:ea typeface="宋体" panose="02010600030101010101" pitchFamily="2" charset="-122"/>
                <a:sym typeface="Symbol" panose="05050102010706020507" pitchFamily="18" charset="2"/>
              </a:rPr>
              <a:t> </a:t>
            </a:r>
            <a:r>
              <a:rPr lang="zh-CN" altLang="en-US" sz="2400" b="1" dirty="0">
                <a:latin typeface="Trebuchet MS" panose="020B0603020202020204" pitchFamily="34" charset="0"/>
                <a:ea typeface="宋体" panose="02010600030101010101" pitchFamily="2" charset="-122"/>
              </a:rPr>
              <a:t> </a:t>
            </a:r>
            <a:r>
              <a:rPr lang="zh-CN" altLang="en-US" sz="2400" b="1" dirty="0">
                <a:solidFill>
                  <a:srgbClr val="FF0000"/>
                </a:solidFill>
                <a:latin typeface="Trebuchet MS" panose="020B0603020202020204" pitchFamily="34" charset="0"/>
                <a:ea typeface="宋体" panose="02010600030101010101" pitchFamily="2" charset="-122"/>
              </a:rPr>
              <a:t>∗</a:t>
            </a:r>
            <a:r>
              <a:rPr lang="zh-CN" altLang="en-US"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satisfy th</a:t>
            </a:r>
            <a:r>
              <a:rPr lang="en-US" sz="2400" b="1" dirty="0">
                <a:latin typeface="Trebuchet MS" panose="020B0603020202020204" pitchFamily="34" charset="0"/>
              </a:rPr>
              <a:t>e </a:t>
            </a:r>
            <a:r>
              <a:rPr lang="en-US" sz="2400" b="1" i="1" dirty="0">
                <a:solidFill>
                  <a:srgbClr val="0B61FF"/>
                </a:solidFill>
                <a:latin typeface="Trebuchet MS" panose="020B0603020202020204" pitchFamily="34" charset="0"/>
              </a:rPr>
              <a:t>absorption law</a:t>
            </a:r>
            <a:r>
              <a:rPr lang="en-US" sz="2400" dirty="0">
                <a:latin typeface="Trebuchet MS" panose="020B0603020202020204" pitchFamily="34" charset="0"/>
              </a:rPr>
              <a:t>.</a:t>
            </a:r>
            <a:endParaRPr lang="en-US" altLang="zh-CN" sz="2400" b="1" dirty="0">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12830269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1000"/>
                                        <p:tgtEl>
                                          <p:spTgt spid="12">
                                            <p:txEl>
                                              <p:pRg st="2" end="2"/>
                                            </p:txEl>
                                          </p:spTgt>
                                        </p:tgtEl>
                                      </p:cBhvr>
                                    </p:animEffect>
                                    <p:anim calcmode="lin" valueType="num">
                                      <p:cBhvr>
                                        <p:cTn id="13"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fade">
                                      <p:cBhvr>
                                        <p:cTn id="17" dur="1000"/>
                                        <p:tgtEl>
                                          <p:spTgt spid="12">
                                            <p:txEl>
                                              <p:pRg st="3" end="3"/>
                                            </p:txEl>
                                          </p:spTgt>
                                        </p:tgtEl>
                                      </p:cBhvr>
                                    </p:animEffect>
                                    <p:anim calcmode="lin" valueType="num">
                                      <p:cBhvr>
                                        <p:cTn id="18"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2">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xEl>
                                              <p:pRg st="4" end="4"/>
                                            </p:txEl>
                                          </p:spTgt>
                                        </p:tgtEl>
                                        <p:attrNameLst>
                                          <p:attrName>style.visibility</p:attrName>
                                        </p:attrNameLst>
                                      </p:cBhvr>
                                      <p:to>
                                        <p:strVal val="visible"/>
                                      </p:to>
                                    </p:set>
                                    <p:animEffect transition="in" filter="fade">
                                      <p:cBhvr>
                                        <p:cTn id="22" dur="1000"/>
                                        <p:tgtEl>
                                          <p:spTgt spid="12">
                                            <p:txEl>
                                              <p:pRg st="4" end="4"/>
                                            </p:txEl>
                                          </p:spTgt>
                                        </p:tgtEl>
                                      </p:cBhvr>
                                    </p:animEffect>
                                    <p:anim calcmode="lin" valueType="num">
                                      <p:cBhvr>
                                        <p:cTn id="23"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2">
                                            <p:txEl>
                                              <p:pRg st="5" end="5"/>
                                            </p:txEl>
                                          </p:spTgt>
                                        </p:tgtEl>
                                        <p:attrNameLst>
                                          <p:attrName>style.visibility</p:attrName>
                                        </p:attrNameLst>
                                      </p:cBhvr>
                                      <p:to>
                                        <p:strVal val="visible"/>
                                      </p:to>
                                    </p:set>
                                    <p:animEffect transition="in" filter="fade">
                                      <p:cBhvr>
                                        <p:cTn id="29" dur="1000"/>
                                        <p:tgtEl>
                                          <p:spTgt spid="12">
                                            <p:txEl>
                                              <p:pRg st="5" end="5"/>
                                            </p:txEl>
                                          </p:spTgt>
                                        </p:tgtEl>
                                      </p:cBhvr>
                                    </p:animEffect>
                                    <p:anim calcmode="lin" valueType="num">
                                      <p:cBhvr>
                                        <p:cTn id="30"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2">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2">
                                            <p:txEl>
                                              <p:pRg st="6" end="6"/>
                                            </p:txEl>
                                          </p:spTgt>
                                        </p:tgtEl>
                                        <p:attrNameLst>
                                          <p:attrName>style.visibility</p:attrName>
                                        </p:attrNameLst>
                                      </p:cBhvr>
                                      <p:to>
                                        <p:strVal val="visible"/>
                                      </p:to>
                                    </p:set>
                                    <p:animEffect transition="in" filter="fade">
                                      <p:cBhvr>
                                        <p:cTn id="34" dur="1000"/>
                                        <p:tgtEl>
                                          <p:spTgt spid="12">
                                            <p:txEl>
                                              <p:pRg st="6" end="6"/>
                                            </p:txEl>
                                          </p:spTgt>
                                        </p:tgtEl>
                                      </p:cBhvr>
                                    </p:animEffect>
                                    <p:anim calcmode="lin" valueType="num">
                                      <p:cBhvr>
                                        <p:cTn id="35"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2">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
                                            <p:txEl>
                                              <p:pRg st="7" end="7"/>
                                            </p:txEl>
                                          </p:spTgt>
                                        </p:tgtEl>
                                        <p:attrNameLst>
                                          <p:attrName>style.visibility</p:attrName>
                                        </p:attrNameLst>
                                      </p:cBhvr>
                                      <p:to>
                                        <p:strVal val="visible"/>
                                      </p:to>
                                    </p:set>
                                    <p:animEffect transition="in" filter="fade">
                                      <p:cBhvr>
                                        <p:cTn id="39" dur="1000"/>
                                        <p:tgtEl>
                                          <p:spTgt spid="12">
                                            <p:txEl>
                                              <p:pRg st="7" end="7"/>
                                            </p:txEl>
                                          </p:spTgt>
                                        </p:tgtEl>
                                      </p:cBhvr>
                                    </p:animEffect>
                                    <p:anim calcmode="lin" valueType="num">
                                      <p:cBhvr>
                                        <p:cTn id="40"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2">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2">
                                            <p:txEl>
                                              <p:pRg st="8" end="8"/>
                                            </p:txEl>
                                          </p:spTgt>
                                        </p:tgtEl>
                                        <p:attrNameLst>
                                          <p:attrName>style.visibility</p:attrName>
                                        </p:attrNameLst>
                                      </p:cBhvr>
                                      <p:to>
                                        <p:strVal val="visible"/>
                                      </p:to>
                                    </p:set>
                                    <p:animEffect transition="in" filter="fade">
                                      <p:cBhvr>
                                        <p:cTn id="44" dur="1000"/>
                                        <p:tgtEl>
                                          <p:spTgt spid="12">
                                            <p:txEl>
                                              <p:pRg st="8" end="8"/>
                                            </p:txEl>
                                          </p:spTgt>
                                        </p:tgtEl>
                                      </p:cBhvr>
                                    </p:animEffect>
                                    <p:anim calcmode="lin" valueType="num">
                                      <p:cBhvr>
                                        <p:cTn id="45" dur="1000" fill="hold"/>
                                        <p:tgtEl>
                                          <p:spTgt spid="12">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Operations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Distributive </a:t>
            </a:r>
            <a:r>
              <a:rPr lang="en-US" altLang="zh-CN" sz="2400" b="1" dirty="0">
                <a:latin typeface="+mj-lt"/>
              </a:rPr>
              <a:t>&amp;</a:t>
            </a:r>
            <a:r>
              <a:rPr lang="en-US" altLang="zh-CN" sz="2400" b="1" dirty="0">
                <a:latin typeface="Trebuchet MS" panose="020B0603020202020204" pitchFamily="34" charset="0"/>
              </a:rPr>
              <a:t> Absorption Laws (Two Binary Operations)(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graphicFrame>
        <p:nvGraphicFramePr>
          <p:cNvPr id="10" name="Group 51">
            <a:extLst>
              <a:ext uri="{FF2B5EF4-FFF2-40B4-BE49-F238E27FC236}">
                <a16:creationId xmlns:a16="http://schemas.microsoft.com/office/drawing/2014/main" id="{168B4D92-3948-44FF-A984-D9B2D1714C46}"/>
              </a:ext>
            </a:extLst>
          </p:cNvPr>
          <p:cNvGraphicFramePr>
            <a:graphicFrameLocks/>
          </p:cNvGraphicFramePr>
          <p:nvPr/>
        </p:nvGraphicFramePr>
        <p:xfrm>
          <a:off x="1148080" y="2331040"/>
          <a:ext cx="9966960" cy="3569018"/>
        </p:xfrm>
        <a:graphic>
          <a:graphicData uri="http://schemas.openxmlformats.org/drawingml/2006/table">
            <a:tbl>
              <a:tblPr/>
              <a:tblGrid>
                <a:gridCol w="1381760">
                  <a:extLst>
                    <a:ext uri="{9D8B030D-6E8A-4147-A177-3AD203B41FA5}">
                      <a16:colId xmlns:a16="http://schemas.microsoft.com/office/drawing/2014/main" val="20000"/>
                    </a:ext>
                  </a:extLst>
                </a:gridCol>
                <a:gridCol w="2915920">
                  <a:extLst>
                    <a:ext uri="{9D8B030D-6E8A-4147-A177-3AD203B41FA5}">
                      <a16:colId xmlns:a16="http://schemas.microsoft.com/office/drawing/2014/main" val="20001"/>
                    </a:ext>
                  </a:extLst>
                </a:gridCol>
                <a:gridCol w="3444240">
                  <a:extLst>
                    <a:ext uri="{9D8B030D-6E8A-4147-A177-3AD203B41FA5}">
                      <a16:colId xmlns:a16="http://schemas.microsoft.com/office/drawing/2014/main" val="20002"/>
                    </a:ext>
                  </a:extLst>
                </a:gridCol>
                <a:gridCol w="2225040">
                  <a:extLst>
                    <a:ext uri="{9D8B030D-6E8A-4147-A177-3AD203B41FA5}">
                      <a16:colId xmlns:a16="http://schemas.microsoft.com/office/drawing/2014/main" val="20003"/>
                    </a:ext>
                  </a:extLst>
                </a:gridCol>
              </a:tblGrid>
              <a:tr h="3444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Set</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Operations</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en-US" sz="2000" b="1" dirty="0">
                          <a:latin typeface="Trebuchet MS" panose="020B0603020202020204" pitchFamily="34" charset="0"/>
                        </a:rPr>
                        <a:t>Distributive Law</a:t>
                      </a:r>
                      <a:r>
                        <a:rPr lang="en-US" sz="2000" dirty="0">
                          <a:latin typeface="Trebuchet MS" panose="020B0603020202020204" pitchFamily="34" charset="0"/>
                        </a:rPr>
                        <a:t> </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en-US" sz="2000" b="1" dirty="0">
                          <a:latin typeface="Trebuchet MS" panose="020B0603020202020204" pitchFamily="34" charset="0"/>
                        </a:rPr>
                        <a:t>Absorption Law</a:t>
                      </a:r>
                      <a:r>
                        <a:rPr lang="en-US" sz="2000" dirty="0">
                          <a:latin typeface="Trebuchet MS" panose="020B0603020202020204" pitchFamily="34" charset="0"/>
                        </a:rPr>
                        <a:t> </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1" u="none" strike="noStrike" cap="none" normalizeH="0" baseline="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en-US" altLang="zh-CN" sz="2000" b="1" i="0" u="none" strike="noStrike" cap="none" normalizeH="0" baseline="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Z,Q,R</a:t>
                      </a: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and</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to</a:t>
                      </a:r>
                      <a:r>
                        <a:rPr kumimoji="1"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 distribute </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1" i="0" u="none" strike="noStrike" kern="1200" cap="none" normalizeH="0" baseline="0" dirty="0">
                          <a:ln>
                            <a:noFill/>
                          </a:ln>
                          <a:solidFill>
                            <a:srgbClr val="FF0000"/>
                          </a:solidFill>
                          <a:effectLst/>
                          <a:latin typeface="Trebuchet MS" panose="020B0603020202020204" pitchFamily="34" charset="0"/>
                          <a:ea typeface="楷体" panose="02010609060101010101" pitchFamily="49" charset="-122"/>
                          <a:cs typeface="+mn-cs"/>
                        </a:rPr>
                        <a:t>No</a:t>
                      </a:r>
                      <a:endParaRPr kumimoji="1" lang="zh-CN" altLang="en-US" sz="2000" b="1" i="0" u="none" strike="noStrike" cap="none" normalizeH="0" baseline="0" dirty="0">
                        <a:ln>
                          <a:noFill/>
                        </a:ln>
                        <a:solidFill>
                          <a:srgbClr val="FF0000"/>
                        </a:solidFill>
                        <a:effectLst/>
                        <a:latin typeface="Trebuchet MS" panose="020B0603020202020204" pitchFamily="34" charset="0"/>
                        <a:ea typeface="楷体" panose="02010609060101010101" pitchFamily="49" charset="-12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5900">
                <a:tc vMerge="1">
                  <a:txBody>
                    <a:bodyPr/>
                    <a:lstStyle/>
                    <a:p>
                      <a:endParaRPr lang="zh-CN"/>
                    </a:p>
                  </a:txBody>
                  <a:tcPr/>
                </a:tc>
                <a:tc vMerge="1">
                  <a:txBody>
                    <a:bodyPr/>
                    <a:lstStyle/>
                    <a:p>
                      <a:endParaRPr lang="zh-CN"/>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      +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to</a:t>
                      </a:r>
                      <a:r>
                        <a:rPr kumimoji="1"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  </a:t>
                      </a:r>
                      <a:r>
                        <a:rPr kumimoji="1" lang="en-US" altLang="zh-CN" sz="2000" b="1" i="0" u="none" strike="noStrike" cap="none" normalizeH="0" baseline="0" dirty="0">
                          <a:ln>
                            <a:noFill/>
                          </a:ln>
                          <a:solidFill>
                            <a:srgbClr val="FF0000"/>
                          </a:solidFill>
                          <a:effectLst/>
                          <a:latin typeface="Trebuchet MS" panose="020B0603020202020204" pitchFamily="34" charset="0"/>
                          <a:ea typeface="宋体" panose="02010600030101010101" pitchFamily="2" charset="-122"/>
                          <a:sym typeface="Symbol" panose="05050102010706020507" pitchFamily="18" charset="2"/>
                        </a:rPr>
                        <a:t>Not</a:t>
                      </a:r>
                      <a:r>
                        <a:rPr kumimoji="1" lang="zh-CN" altLang="en-US" sz="2000" b="1" i="0" u="none" strike="noStrike" cap="none" normalizeH="0" baseline="0" dirty="0">
                          <a:ln>
                            <a:noFill/>
                          </a:ln>
                          <a:solidFill>
                            <a:srgbClr val="FF0000"/>
                          </a:solidFill>
                          <a:effectLst/>
                          <a:latin typeface="Trebuchet MS" panose="020B0603020202020204" pitchFamily="34" charset="0"/>
                          <a:ea typeface="宋体" panose="02010600030101010101" pitchFamily="2" charset="-122"/>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distribute</a:t>
                      </a:r>
                      <a:endParaRPr kumimoji="1"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2"/>
                  </a:ext>
                </a:extLst>
              </a:tr>
              <a:tr h="325438">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1" u="none" strike="noStrike" cap="none" normalizeH="0" baseline="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en-US" altLang="zh-CN" sz="2000" b="1" i="1" u="none" strike="noStrike" cap="none" normalizeH="0" baseline="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M</a:t>
                      </a:r>
                      <a:r>
                        <a:rPr kumimoji="1" lang="en-US" altLang="zh-CN" sz="2000" b="1" i="1" u="none" strike="noStrike" cap="none" normalizeH="0" baseline="-3000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n</a:t>
                      </a:r>
                      <a:r>
                        <a:rPr kumimoji="1" lang="en-US" altLang="zh-CN" sz="2000" b="1" i="0" u="none" strike="noStrike" cap="none" normalizeH="0" baseline="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(R)</a:t>
                      </a: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Matric</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and</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matric</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to</a:t>
                      </a:r>
                      <a:r>
                        <a:rPr kumimoji="1"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distribute</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1" i="0" u="none" strike="noStrike" kern="1200" cap="none" normalizeH="0" baseline="0" dirty="0">
                          <a:ln>
                            <a:noFill/>
                          </a:ln>
                          <a:solidFill>
                            <a:srgbClr val="FF0000"/>
                          </a:solidFill>
                          <a:effectLst/>
                          <a:latin typeface="Trebuchet MS" panose="020B0603020202020204" pitchFamily="34" charset="0"/>
                          <a:ea typeface="楷体" panose="02010609060101010101" pitchFamily="49" charset="-122"/>
                          <a:cs typeface="+mn-cs"/>
                        </a:rPr>
                        <a:t>No</a:t>
                      </a:r>
                      <a:endParaRPr kumimoji="1" lang="zh-CN" altLang="en-US" sz="2000" b="1" i="0" u="none" strike="noStrike" cap="none" normalizeH="0" baseline="0" dirty="0">
                        <a:ln>
                          <a:noFill/>
                        </a:ln>
                        <a:solidFill>
                          <a:srgbClr val="FF0000"/>
                        </a:solidFill>
                        <a:effectLst/>
                        <a:latin typeface="Trebuchet MS" panose="020B0603020202020204" pitchFamily="34" charset="0"/>
                        <a:ea typeface="楷体" panose="02010609060101010101" pitchFamily="49" charset="-12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7975">
                <a:tc vMerge="1">
                  <a:txBody>
                    <a:bodyPr/>
                    <a:lstStyle/>
                    <a:p>
                      <a:endParaRPr lang="zh-CN"/>
                    </a:p>
                  </a:txBody>
                  <a:tcPr/>
                </a:tc>
                <a:tc vMerge="1">
                  <a:txBody>
                    <a:bodyPr/>
                    <a:lstStyle/>
                    <a:p>
                      <a:endParaRPr lang="zh-CN"/>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      +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to</a:t>
                      </a:r>
                      <a:r>
                        <a:rPr kumimoji="1"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  </a:t>
                      </a:r>
                      <a:r>
                        <a:rPr kumimoji="1" lang="en-US" altLang="zh-CN" sz="2000" b="1" i="0" u="none" strike="noStrike" cap="none" normalizeH="0" baseline="0" dirty="0">
                          <a:ln>
                            <a:noFill/>
                          </a:ln>
                          <a:solidFill>
                            <a:srgbClr val="FF0000"/>
                          </a:solidFill>
                          <a:effectLst/>
                          <a:latin typeface="Trebuchet MS" panose="020B0603020202020204" pitchFamily="34" charset="0"/>
                          <a:ea typeface="+mn-ea"/>
                          <a:sym typeface="Symbol" panose="05050102010706020507" pitchFamily="18" charset="2"/>
                        </a:rPr>
                        <a:t>Not</a:t>
                      </a:r>
                      <a:r>
                        <a:rPr kumimoji="1" lang="zh-CN" altLang="en-US" sz="2000" b="1" i="0" u="none" strike="noStrike" cap="none" normalizeH="0" baseline="0" dirty="0">
                          <a:ln>
                            <a:noFill/>
                          </a:ln>
                          <a:solidFill>
                            <a:srgbClr val="FF0000"/>
                          </a:solidFill>
                          <a:effectLst/>
                          <a:latin typeface="Trebuchet MS" panose="020B0603020202020204" pitchFamily="34" charset="0"/>
                          <a:ea typeface="+mn-ea"/>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distribute</a:t>
                      </a:r>
                      <a:endParaRPr kumimoji="1"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4"/>
                  </a:ext>
                </a:extLst>
              </a:tr>
              <a:tr h="327025">
                <a:tc rowSpan="4">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en-US" altLang="zh-CN" sz="20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P</a:t>
                      </a:r>
                      <a:r>
                        <a:rPr kumimoji="1"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kumimoji="1" lang="en-US" altLang="zh-CN" sz="20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kumimoji="1"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and</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to</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distribute</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rebuchet MS" panose="020B0603020202020204" pitchFamily="34" charset="0"/>
                          <a:ea typeface="楷体" panose="02010609060101010101" pitchFamily="49" charset="-122"/>
                        </a:rPr>
                        <a:t>Yes</a:t>
                      </a:r>
                      <a:endParaRPr kumimoji="1" lang="zh-CN" altLang="en-US" sz="2000" b="1" i="0" u="none" strike="noStrike" cap="none" normalizeH="0" baseline="0" dirty="0">
                        <a:ln>
                          <a:noFill/>
                        </a:ln>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8463">
                <a:tc vMerge="1">
                  <a:txBody>
                    <a:bodyPr/>
                    <a:lstStyle/>
                    <a:p>
                      <a:endParaRPr lang="zh-CN"/>
                    </a:p>
                  </a:txBody>
                  <a:tcPr/>
                </a:tc>
                <a:tc vMerge="1">
                  <a:txBody>
                    <a:bodyPr/>
                    <a:lstStyle/>
                    <a:p>
                      <a:endParaRPr lang="zh-CN"/>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to</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distribute</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6"/>
                  </a:ext>
                </a:extLst>
              </a:tr>
              <a:tr h="325438">
                <a:tc vMerge="1">
                  <a:txBody>
                    <a:bodyPr/>
                    <a:lstStyle/>
                    <a:p>
                      <a:endParaRPr lang="zh-CN"/>
                    </a:p>
                  </a:txBody>
                  <a:tcPr/>
                </a:tc>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and</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to</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rPr>
                        <a:t> 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distribute</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1" i="0" u="none" strike="noStrike" kern="1200" cap="none" normalizeH="0" baseline="0" dirty="0">
                          <a:ln>
                            <a:noFill/>
                          </a:ln>
                          <a:solidFill>
                            <a:srgbClr val="FF0000"/>
                          </a:solidFill>
                          <a:effectLst/>
                          <a:latin typeface="Trebuchet MS" panose="020B0603020202020204" pitchFamily="34" charset="0"/>
                          <a:ea typeface="楷体" panose="02010609060101010101" pitchFamily="49" charset="-122"/>
                          <a:cs typeface="+mn-cs"/>
                        </a:rPr>
                        <a:t>No</a:t>
                      </a:r>
                      <a:endParaRPr kumimoji="1" lang="zh-CN" altLang="en-US" sz="2000" b="1" i="0" u="none" strike="noStrike" cap="none" normalizeH="0" baseline="0" dirty="0">
                        <a:ln>
                          <a:noFill/>
                        </a:ln>
                        <a:solidFill>
                          <a:srgbClr val="FF0000"/>
                        </a:solidFill>
                        <a:effectLst/>
                        <a:latin typeface="Trebuchet MS" panose="020B0603020202020204" pitchFamily="34" charset="0"/>
                        <a:ea typeface="楷体" panose="02010609060101010101" pitchFamily="49" charset="-122"/>
                      </a:endParaRPr>
                    </a:p>
                  </a:txBody>
                  <a:tcPr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vMerge="1">
                  <a:txBody>
                    <a:bodyPr/>
                    <a:lstStyle/>
                    <a:p>
                      <a:endParaRPr lang="zh-CN"/>
                    </a:p>
                  </a:txBody>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 typeface="Symbol" panose="05050102010706020507" pitchFamily="18" charset="2"/>
                        <a:buNone/>
                      </a:pP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rPr>
                        <a:t>      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to</a:t>
                      </a:r>
                      <a:r>
                        <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rPr>
                        <a:t>  </a:t>
                      </a:r>
                      <a:r>
                        <a:rPr kumimoji="1" lang="en-US" altLang="zh-CN" sz="2000" b="1" i="0" u="none" strike="noStrike" cap="none" normalizeH="0" baseline="0" dirty="0">
                          <a:ln>
                            <a:noFill/>
                          </a:ln>
                          <a:solidFill>
                            <a:srgbClr val="FF0000"/>
                          </a:solidFill>
                          <a:effectLst/>
                          <a:latin typeface="Trebuchet MS" panose="020B0603020202020204" pitchFamily="34" charset="0"/>
                          <a:ea typeface="+mn-ea"/>
                          <a:sym typeface="Symbol" panose="05050102010706020507" pitchFamily="18" charset="2"/>
                        </a:rPr>
                        <a:t>Not</a:t>
                      </a:r>
                      <a:r>
                        <a:rPr kumimoji="1" lang="zh-CN" altLang="en-US" sz="2000" b="1" i="0" u="none" strike="noStrike" cap="none" normalizeH="0" baseline="0" dirty="0">
                          <a:ln>
                            <a:noFill/>
                          </a:ln>
                          <a:solidFill>
                            <a:srgbClr val="FF0000"/>
                          </a:solidFill>
                          <a:effectLst/>
                          <a:latin typeface="Trebuchet MS" panose="020B0603020202020204" pitchFamily="34" charset="0"/>
                          <a:ea typeface="+mn-ea"/>
                          <a:sym typeface="Symbol" panose="05050102010706020507" pitchFamily="18" charset="2"/>
                        </a:rPr>
                        <a:t> </a:t>
                      </a:r>
                      <a:r>
                        <a:rPr kumimoji="1" lang="en-US" altLang="zh-CN" sz="2000" b="1" i="0" u="none" strike="noStrike" cap="none" normalizeH="0" baseline="0" dirty="0">
                          <a:ln>
                            <a:noFill/>
                          </a:ln>
                          <a:solidFill>
                            <a:srgbClr val="000000"/>
                          </a:solidFill>
                          <a:effectLst/>
                          <a:latin typeface="Trebuchet MS" panose="020B0603020202020204" pitchFamily="34" charset="0"/>
                          <a:ea typeface="+mn-ea"/>
                          <a:sym typeface="Symbol" panose="05050102010706020507" pitchFamily="18" charset="2"/>
                        </a:rPr>
                        <a:t>distribute</a:t>
                      </a:r>
                      <a:endParaRPr kumimoji="1"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8"/>
                  </a:ext>
                </a:extLst>
              </a:tr>
            </a:tbl>
          </a:graphicData>
        </a:graphic>
      </p:graphicFrame>
      <p:sp>
        <p:nvSpPr>
          <p:cNvPr id="11" name="Text Box 42">
            <a:extLst>
              <a:ext uri="{FF2B5EF4-FFF2-40B4-BE49-F238E27FC236}">
                <a16:creationId xmlns:a16="http://schemas.microsoft.com/office/drawing/2014/main" id="{E2F7B1E8-E82F-47EE-A4F0-865BE10E5ECF}"/>
              </a:ext>
            </a:extLst>
          </p:cNvPr>
          <p:cNvSpPr txBox="1">
            <a:spLocks noChangeArrowheads="1"/>
          </p:cNvSpPr>
          <p:nvPr/>
        </p:nvSpPr>
        <p:spPr bwMode="auto">
          <a:xfrm>
            <a:off x="824683" y="884236"/>
            <a:ext cx="10711920" cy="1276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ea typeface="宋体" panose="02010600030101010101" pitchFamily="2" charset="-122"/>
              </a:rPr>
              <a:t>Example: Z, Q, R d</a:t>
            </a:r>
            <a:r>
              <a:rPr lang="en-US" sz="2400" dirty="0">
                <a:latin typeface="Trebuchet MS" panose="020B0603020202020204" pitchFamily="34" charset="0"/>
              </a:rPr>
              <a:t>enote the sets of integers, rational numbers, and real numbers, respectively</a:t>
            </a:r>
            <a:r>
              <a:rPr lang="zh-CN" altLang="en-US"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M</a:t>
            </a:r>
            <a:r>
              <a:rPr lang="en-US" altLang="zh-CN" sz="2400" b="1" i="1" baseline="-25000" dirty="0">
                <a:latin typeface="Trebuchet MS" panose="020B0603020202020204" pitchFamily="34" charset="0"/>
                <a:ea typeface="宋体" panose="02010600030101010101" pitchFamily="2" charset="-122"/>
              </a:rPr>
              <a:t>n</a:t>
            </a:r>
            <a:r>
              <a:rPr lang="en-US" altLang="zh-CN" sz="2400" b="1" dirty="0">
                <a:latin typeface="Trebuchet MS" panose="020B0603020202020204" pitchFamily="34" charset="0"/>
                <a:ea typeface="宋体" panose="02010600030101010101" pitchFamily="2" charset="-122"/>
              </a:rPr>
              <a:t>(R)</a:t>
            </a:r>
            <a:r>
              <a:rPr lang="en-US" sz="2400" dirty="0">
                <a:latin typeface="Trebuchet MS" panose="020B0603020202020204" pitchFamily="34" charset="0"/>
              </a:rPr>
              <a:t> denotes the set of all </a:t>
            </a:r>
            <a:r>
              <a:rPr lang="en-US" sz="2400" b="1" i="1" dirty="0" err="1">
                <a:latin typeface="Trebuchet MS" panose="020B0603020202020204" pitchFamily="34" charset="0"/>
              </a:rPr>
              <a:t>n</a:t>
            </a:r>
            <a:r>
              <a:rPr lang="en-US" sz="2400" b="1" dirty="0" err="1">
                <a:latin typeface="Trebuchet MS" panose="020B0603020202020204" pitchFamily="34" charset="0"/>
              </a:rPr>
              <a:t>×</a:t>
            </a:r>
            <a:r>
              <a:rPr lang="en-US" sz="2400" b="1" i="1" dirty="0" err="1">
                <a:latin typeface="Trebuchet MS" panose="020B0603020202020204" pitchFamily="34" charset="0"/>
              </a:rPr>
              <a:t>n</a:t>
            </a:r>
            <a:r>
              <a:rPr lang="en-US" sz="2400" dirty="0">
                <a:latin typeface="Trebuchet MS" panose="020B0603020202020204" pitchFamily="34" charset="0"/>
              </a:rPr>
              <a:t> real matrices,</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n</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2, </a:t>
            </a:r>
            <a:r>
              <a:rPr lang="en-US" altLang="zh-CN" sz="2400" b="1" i="1" dirty="0">
                <a:latin typeface="Trebuchet MS" panose="020B0603020202020204" pitchFamily="34" charset="0"/>
                <a:ea typeface="宋体" panose="02010600030101010101" pitchFamily="2" charset="-122"/>
              </a:rPr>
              <a:t>P</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B</a:t>
            </a:r>
            <a:r>
              <a:rPr lang="en-US" altLang="zh-CN" sz="2400" b="1" dirty="0">
                <a:latin typeface="Trebuchet MS" panose="020B0603020202020204" pitchFamily="34" charset="0"/>
                <a:ea typeface="宋体" panose="02010600030101010101" pitchFamily="2" charset="-122"/>
              </a:rPr>
              <a:t>)</a:t>
            </a:r>
            <a:r>
              <a:rPr lang="en-US" sz="2400" dirty="0">
                <a:latin typeface="Trebuchet MS" panose="020B0603020202020204" pitchFamily="34" charset="0"/>
              </a:rPr>
              <a:t> power set </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A</a:t>
            </a:r>
            <a:r>
              <a:rPr lang="en-US" altLang="zh-CN" sz="2400" b="1" i="1" baseline="30000" dirty="0">
                <a:latin typeface="Trebuchet MS" panose="020B0603020202020204" pitchFamily="34" charset="0"/>
                <a:ea typeface="宋体" panose="02010600030101010101" pitchFamily="2" charset="-122"/>
              </a:rPr>
              <a:t>A</a:t>
            </a:r>
            <a:r>
              <a:rPr lang="zh-CN" altLang="en-US" sz="2400" b="1" i="1" baseline="30000"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set of all functions from A to A</a:t>
            </a:r>
            <a:r>
              <a:rPr lang="zh-CN" altLang="en-US" sz="2400" b="1" dirty="0">
                <a:latin typeface="Trebuchet MS" panose="020B0603020202020204" pitchFamily="34" charset="0"/>
                <a:ea typeface="宋体" panose="02010600030101010101" pitchFamily="2" charset="-122"/>
              </a:rPr>
              <a:t>，</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2.</a:t>
            </a:r>
          </a:p>
        </p:txBody>
      </p:sp>
    </p:spTree>
    <p:extLst>
      <p:ext uri="{BB962C8B-B14F-4D97-AF65-F5344CB8AC3E}">
        <p14:creationId xmlns:p14="http://schemas.microsoft.com/office/powerpoint/2010/main" val="3999730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b="1" dirty="0">
                <a:latin typeface="Trebuchet MS" panose="020B0603020202020204" pitchFamily="34" charset="0"/>
              </a:rPr>
              <a:t>              9.1.2 Properties of Binary Operations</a:t>
            </a:r>
            <a:endParaRPr lang="en-US" altLang="zh-CN" b="1" dirty="0">
              <a:latin typeface="Trebuchet MS" panose="020B0603020202020204" pitchFamily="34"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Special Elements in Binary Operations: The Identity Element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2" name="Text Box 3">
            <a:extLst>
              <a:ext uri="{FF2B5EF4-FFF2-40B4-BE49-F238E27FC236}">
                <a16:creationId xmlns:a16="http://schemas.microsoft.com/office/drawing/2014/main" id="{8A435E02-D6E3-4698-BDA7-7A73B2AD48C8}"/>
              </a:ext>
            </a:extLst>
          </p:cNvPr>
          <p:cNvSpPr txBox="1">
            <a:spLocks noChangeArrowheads="1"/>
          </p:cNvSpPr>
          <p:nvPr/>
        </p:nvSpPr>
        <p:spPr bwMode="auto">
          <a:xfrm>
            <a:off x="1000125" y="869684"/>
            <a:ext cx="9862457" cy="5398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cs typeface="Times New Roman" panose="02020603050405020304" pitchFamily="18" charset="0"/>
              </a:rPr>
              <a:t>9.5:  </a:t>
            </a:r>
            <a:r>
              <a:rPr lang="en-US" sz="2400" dirty="0">
                <a:latin typeface="Trebuchet MS" panose="020B0603020202020204" pitchFamily="34" charset="0"/>
              </a:rPr>
              <a:t>Let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 be a binary operation on </a:t>
            </a:r>
            <a:r>
              <a:rPr lang="en-US" altLang="zh-CN" sz="2400" b="1" i="1" dirty="0">
                <a:latin typeface="Trebuchet MS" panose="020B0603020202020204" pitchFamily="34" charset="0"/>
                <a:cs typeface="Times New Roman" panose="02020603050405020304" pitchFamily="18" charset="0"/>
              </a:rPr>
              <a:t>S</a:t>
            </a:r>
            <a:r>
              <a:rPr lang="en-US" altLang="zh-CN" sz="2400" b="1" dirty="0">
                <a:latin typeface="Trebuchet MS" panose="020B0603020202020204" pitchFamily="34" charset="0"/>
                <a:cs typeface="Times New Roman" panose="02020603050405020304" pitchFamily="18" charset="0"/>
              </a:rPr>
              <a:t>.</a:t>
            </a:r>
          </a:p>
          <a:p>
            <a:pPr indent="182563">
              <a:lnSpc>
                <a:spcPct val="120000"/>
              </a:lnSpc>
            </a:pPr>
            <a:r>
              <a:rPr lang="en-US" altLang="zh-CN" sz="2400" b="1" dirty="0">
                <a:solidFill>
                  <a:srgbClr val="0B61FF"/>
                </a:solidFill>
                <a:latin typeface="Trebuchet MS" panose="020B0603020202020204" pitchFamily="34" charset="0"/>
                <a:cs typeface="Times New Roman" panose="02020603050405020304" pitchFamily="18" charset="0"/>
              </a:rPr>
              <a:t>(1)</a:t>
            </a:r>
            <a:r>
              <a:rPr lang="en-US" sz="2400" dirty="0">
                <a:solidFill>
                  <a:srgbClr val="0B61FF"/>
                </a:solidFill>
                <a:latin typeface="Trebuchet MS" panose="020B0603020202020204" pitchFamily="34" charset="0"/>
              </a:rPr>
              <a:t> </a:t>
            </a:r>
            <a:r>
              <a:rPr lang="en-US" sz="2400" dirty="0">
                <a:latin typeface="Trebuchet MS" panose="020B0603020202020204" pitchFamily="34" charset="0"/>
              </a:rPr>
              <a:t>If there exists an element </a:t>
            </a:r>
            <a:r>
              <a:rPr lang="en-US" altLang="zh-CN" sz="2400" b="1" i="1" dirty="0">
                <a:latin typeface="Trebuchet MS" panose="020B0603020202020204" pitchFamily="34" charset="0"/>
                <a:cs typeface="Times New Roman" panose="02020603050405020304" pitchFamily="18" charset="0"/>
              </a:rPr>
              <a:t>e</a:t>
            </a:r>
            <a:r>
              <a:rPr lang="en-US" altLang="zh-CN" sz="2400" b="1" i="1" baseline="-25000" dirty="0">
                <a:latin typeface="Trebuchet MS" panose="020B0603020202020204" pitchFamily="34" charset="0"/>
                <a:cs typeface="Times New Roman" panose="02020603050405020304" pitchFamily="18" charset="0"/>
              </a:rPr>
              <a:t>l</a:t>
            </a:r>
            <a:r>
              <a:rPr lang="zh-CN" altLang="en-US" sz="2400" b="1" i="1" baseline="-250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(or</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e</a:t>
            </a:r>
            <a:r>
              <a:rPr lang="en-US" altLang="zh-CN" sz="2400" b="1" i="1" baseline="-25000" dirty="0">
                <a:latin typeface="Trebuchet MS" panose="020B0603020202020204" pitchFamily="34" charset="0"/>
                <a:cs typeface="Times New Roman" panose="02020603050405020304" pitchFamily="18" charset="0"/>
              </a:rPr>
              <a:t>r</a:t>
            </a:r>
            <a:r>
              <a:rPr lang="en-US" altLang="zh-CN"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S</a:t>
            </a:r>
            <a:r>
              <a:rPr lang="zh-CN" altLang="en-US" sz="2400" b="1" dirty="0">
                <a:latin typeface="Trebuchet MS" panose="020B0603020202020204" pitchFamily="34" charset="0"/>
                <a:cs typeface="Times New Roman" panose="02020603050405020304" pitchFamily="18" charset="0"/>
              </a:rPr>
              <a:t>，</a:t>
            </a:r>
            <a:r>
              <a:rPr lang="en-US" sz="2400" dirty="0">
                <a:latin typeface="Trebuchet MS" panose="020B0603020202020204" pitchFamily="34" charset="0"/>
              </a:rPr>
              <a:t>such that for all </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S</a:t>
            </a:r>
            <a:r>
              <a:rPr lang="en-US" altLang="zh-CN" sz="2400" b="1" i="1" dirty="0">
                <a:latin typeface="Trebuchet MS" panose="020B0603020202020204" pitchFamily="34" charset="0"/>
                <a:cs typeface="Times New Roman" panose="02020603050405020304" pitchFamily="18" charset="0"/>
              </a:rPr>
              <a:t> </a:t>
            </a:r>
            <a:endParaRPr lang="zh-CN" altLang="en-US" sz="2400" b="1" i="1" dirty="0">
              <a:latin typeface="Trebuchet MS" panose="020B0603020202020204" pitchFamily="34" charset="0"/>
              <a:cs typeface="Times New Roman" panose="02020603050405020304" pitchFamily="18" charset="0"/>
            </a:endParaRPr>
          </a:p>
          <a:p>
            <a:pPr>
              <a:lnSpc>
                <a:spcPct val="120000"/>
              </a:lnSpc>
            </a:pPr>
            <a:r>
              <a:rPr lang="zh-CN" altLang="en-US" sz="2400" b="1" i="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e</a:t>
            </a:r>
            <a:r>
              <a:rPr lang="en-US" altLang="zh-CN" sz="2400" b="1" i="1" baseline="-25000" dirty="0" err="1">
                <a:latin typeface="Trebuchet MS" panose="020B0603020202020204" pitchFamily="34" charset="0"/>
                <a:cs typeface="Times New Roman" panose="02020603050405020304" pitchFamily="18" charset="0"/>
              </a:rPr>
              <a:t>l</a:t>
            </a:r>
            <a:r>
              <a:rPr lang="en-US" altLang="zh-CN" sz="2400" b="1" i="1" baseline="-25000"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x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x </a:t>
            </a:r>
            <a:r>
              <a:rPr lang="en-US" altLang="zh-CN" sz="2400" b="1" dirty="0">
                <a:latin typeface="Trebuchet MS" panose="020B0603020202020204" pitchFamily="34" charset="0"/>
                <a:cs typeface="Times New Roman" panose="02020603050405020304" pitchFamily="18" charset="0"/>
              </a:rPr>
              <a:t> ( or</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x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e</a:t>
            </a:r>
            <a:r>
              <a:rPr lang="en-US" altLang="zh-CN" sz="2400" b="1" i="1" baseline="-25000" dirty="0">
                <a:latin typeface="Trebuchet MS" panose="020B0603020202020204" pitchFamily="34" charset="0"/>
                <a:cs typeface="Times New Roman" panose="02020603050405020304" pitchFamily="18" charset="0"/>
              </a:rPr>
              <a:t>r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x </a:t>
            </a:r>
            <a:r>
              <a:rPr lang="en-US" altLang="zh-CN"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marL="630238">
              <a:lnSpc>
                <a:spcPct val="120000"/>
              </a:lnSpc>
            </a:pPr>
            <a:r>
              <a:rPr lang="en-US" sz="2400" dirty="0">
                <a:latin typeface="Trebuchet MS" panose="020B0603020202020204" pitchFamily="34" charset="0"/>
              </a:rPr>
              <a:t>then </a:t>
            </a:r>
            <a:r>
              <a:rPr lang="zh-CN" altLang="en-US"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e</a:t>
            </a:r>
            <a:r>
              <a:rPr lang="en-US" altLang="zh-CN" sz="2400" b="1" i="1" baseline="-25000" dirty="0" err="1">
                <a:latin typeface="Trebuchet MS" panose="020B0603020202020204" pitchFamily="34" charset="0"/>
                <a:cs typeface="Times New Roman" panose="02020603050405020304" pitchFamily="18" charset="0"/>
              </a:rPr>
              <a:t>l</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or</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e</a:t>
            </a:r>
            <a:r>
              <a:rPr lang="en-US" altLang="zh-CN" sz="2400" b="1" i="1" baseline="-25000" dirty="0">
                <a:latin typeface="Trebuchet MS" panose="020B0603020202020204" pitchFamily="34" charset="0"/>
                <a:cs typeface="Times New Roman" panose="02020603050405020304" pitchFamily="18" charset="0"/>
              </a:rPr>
              <a:t>r </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is called the </a:t>
            </a:r>
            <a:r>
              <a:rPr lang="en-US" sz="2400" b="1" i="1" dirty="0">
                <a:solidFill>
                  <a:srgbClr val="0B61FF"/>
                </a:solidFill>
                <a:latin typeface="Trebuchet MS" panose="020B0603020202020204" pitchFamily="34" charset="0"/>
              </a:rPr>
              <a:t>left identity element</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(or </a:t>
            </a:r>
            <a:r>
              <a:rPr lang="en-US" sz="2400" b="1" i="1" dirty="0">
                <a:solidFill>
                  <a:srgbClr val="0B61FF"/>
                </a:solidFill>
                <a:latin typeface="Trebuchet MS" panose="020B0603020202020204" pitchFamily="34" charset="0"/>
              </a:rPr>
              <a:t>right identity element</a:t>
            </a:r>
            <a:r>
              <a:rPr lang="en-US" sz="2400" dirty="0">
                <a:latin typeface="Trebuchet MS" panose="020B0603020202020204" pitchFamily="34" charset="0"/>
              </a:rPr>
              <a:t>) of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S </a:t>
            </a:r>
            <a:r>
              <a:rPr lang="en-US" sz="2400" dirty="0">
                <a:latin typeface="Trebuchet MS" panose="020B0603020202020204" pitchFamily="34" charset="0"/>
              </a:rPr>
              <a:t> with respect to the operation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endParaRPr lang="en-US" altLang="zh-CN" sz="2400" b="1" dirty="0">
              <a:latin typeface="Trebuchet MS" panose="020B0603020202020204" pitchFamily="34" charset="0"/>
              <a:cs typeface="Times New Roman" panose="02020603050405020304" pitchFamily="18" charset="0"/>
            </a:endParaRPr>
          </a:p>
          <a:p>
            <a:pPr marL="893763" indent="-711200">
              <a:lnSpc>
                <a:spcPct val="120000"/>
              </a:lnSpc>
            </a:pPr>
            <a:r>
              <a:rPr lang="en-US" altLang="zh-CN" sz="2400" b="1" dirty="0">
                <a:solidFill>
                  <a:srgbClr val="0B61FF"/>
                </a:solidFill>
                <a:latin typeface="Trebuchet MS" panose="020B0603020202020204" pitchFamily="34" charset="0"/>
                <a:cs typeface="Times New Roman" panose="02020603050405020304" pitchFamily="18" charset="0"/>
              </a:rPr>
              <a:t>(2)</a:t>
            </a:r>
            <a:r>
              <a:rPr lang="en-US" sz="2400" dirty="0">
                <a:solidFill>
                  <a:srgbClr val="0B61FF"/>
                </a:solidFill>
                <a:latin typeface="Trebuchet MS" panose="020B0603020202020204" pitchFamily="34" charset="0"/>
              </a:rPr>
              <a:t> </a:t>
            </a:r>
            <a:r>
              <a:rPr lang="en-US" sz="2400" dirty="0">
                <a:latin typeface="Trebuchet MS" panose="020B0603020202020204" pitchFamily="34" charset="0"/>
              </a:rPr>
              <a:t>If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e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S  </a:t>
            </a:r>
            <a:r>
              <a:rPr lang="en-US" sz="2400" dirty="0">
                <a:latin typeface="Trebuchet MS" panose="020B0603020202020204" pitchFamily="34" charset="0"/>
              </a:rPr>
              <a:t>is both a left identity and a right identity under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 </a:t>
            </a:r>
          </a:p>
          <a:p>
            <a:pPr marL="630238">
              <a:lnSpc>
                <a:spcPct val="120000"/>
              </a:lnSpc>
            </a:pPr>
            <a:r>
              <a:rPr lang="en-US" sz="2400" dirty="0">
                <a:latin typeface="Trebuchet MS" panose="020B0603020202020204" pitchFamily="34" charset="0"/>
              </a:rPr>
              <a:t>then </a:t>
            </a:r>
            <a:r>
              <a:rPr lang="en-US" altLang="zh-CN" sz="2400" b="1" i="1" dirty="0">
                <a:latin typeface="Trebuchet MS" panose="020B0603020202020204" pitchFamily="34" charset="0"/>
                <a:cs typeface="Times New Roman" panose="02020603050405020304" pitchFamily="18" charset="0"/>
              </a:rPr>
              <a:t>e </a:t>
            </a:r>
            <a:r>
              <a:rPr lang="en-US" sz="2400" dirty="0">
                <a:latin typeface="Trebuchet MS" panose="020B0603020202020204" pitchFamily="34" charset="0"/>
              </a:rPr>
              <a:t> is called the </a:t>
            </a:r>
            <a:r>
              <a:rPr lang="en-US" sz="2400" b="1" i="1" dirty="0">
                <a:solidFill>
                  <a:srgbClr val="0B61FF"/>
                </a:solidFill>
                <a:latin typeface="Trebuchet MS" panose="020B0603020202020204" pitchFamily="34" charset="0"/>
              </a:rPr>
              <a:t>identity element</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(or </a:t>
            </a:r>
            <a:r>
              <a:rPr lang="en-US" sz="2400" b="1" dirty="0">
                <a:latin typeface="Trebuchet MS" panose="020B0603020202020204" pitchFamily="34" charset="0"/>
              </a:rPr>
              <a:t>unit element</a:t>
            </a:r>
            <a:r>
              <a:rPr lang="en-US" sz="2400" dirty="0">
                <a:latin typeface="Trebuchet MS" panose="020B0603020202020204" pitchFamily="34" charset="0"/>
              </a:rPr>
              <a:t>) of </a:t>
            </a:r>
            <a:r>
              <a:rPr lang="en-US" altLang="zh-CN" sz="2400" b="1" i="1" dirty="0">
                <a:latin typeface="Trebuchet MS" panose="020B0603020202020204" pitchFamily="34" charset="0"/>
                <a:cs typeface="Times New Roman" panose="02020603050405020304" pitchFamily="18" charset="0"/>
              </a:rPr>
              <a:t>S </a:t>
            </a:r>
            <a:r>
              <a:rPr lang="en-US" sz="2400" dirty="0">
                <a:latin typeface="Trebuchet MS" panose="020B0603020202020204" pitchFamily="34" charset="0"/>
              </a:rPr>
              <a:t> with respect to the operation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p>
          <a:p>
            <a:pPr marL="342900" indent="-342900">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Note:</a:t>
            </a:r>
            <a:br>
              <a:rPr lang="en-US" sz="2400" dirty="0">
                <a:latin typeface="Trebuchet MS" panose="020B0603020202020204" pitchFamily="34" charset="0"/>
              </a:rPr>
            </a:br>
            <a:r>
              <a:rPr lang="en-US" sz="2400" dirty="0">
                <a:latin typeface="Trebuchet MS" panose="020B0603020202020204" pitchFamily="34" charset="0"/>
              </a:rPr>
              <a:t>An identity (or unit) element is a </a:t>
            </a:r>
            <a:r>
              <a:rPr lang="en-US" sz="2400" b="1" i="1" dirty="0">
                <a:solidFill>
                  <a:srgbClr val="0B61FF"/>
                </a:solidFill>
                <a:latin typeface="Trebuchet MS" panose="020B0603020202020204" pitchFamily="34" charset="0"/>
              </a:rPr>
              <a:t>special element </a:t>
            </a:r>
            <a:r>
              <a:rPr lang="en-US" sz="2400" dirty="0">
                <a:latin typeface="Trebuchet MS" panose="020B0603020202020204" pitchFamily="34" charset="0"/>
              </a:rPr>
              <a:t>under the given operation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that does </a:t>
            </a:r>
            <a:r>
              <a:rPr lang="en-US" sz="2400" b="1" dirty="0">
                <a:latin typeface="Trebuchet MS" panose="020B0603020202020204" pitchFamily="34" charset="0"/>
              </a:rPr>
              <a:t>not change other elements </a:t>
            </a:r>
            <a:r>
              <a:rPr lang="en-US" sz="2400" dirty="0">
                <a:latin typeface="Trebuchet MS" panose="020B0603020202020204" pitchFamily="34" charset="0"/>
              </a:rPr>
              <a:t>when the operation is applied.</a:t>
            </a:r>
            <a:endParaRPr lang="en-US" altLang="zh-CN"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2816439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4" end="4"/>
                                            </p:txEl>
                                          </p:spTgt>
                                        </p:tgtEl>
                                        <p:attrNameLst>
                                          <p:attrName>style.visibility</p:attrName>
                                        </p:attrNameLst>
                                      </p:cBhvr>
                                      <p:to>
                                        <p:strVal val="visible"/>
                                      </p:to>
                                    </p:set>
                                    <p:animEffect transition="in" filter="fade">
                                      <p:cBhvr>
                                        <p:cTn id="7" dur="1000"/>
                                        <p:tgtEl>
                                          <p:spTgt spid="12">
                                            <p:txEl>
                                              <p:pRg st="4" end="4"/>
                                            </p:txEl>
                                          </p:spTgt>
                                        </p:tgtEl>
                                      </p:cBhvr>
                                    </p:animEffect>
                                    <p:anim calcmode="lin" valueType="num">
                                      <p:cBhvr>
                                        <p:cTn id="8"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5" end="5"/>
                                            </p:txEl>
                                          </p:spTgt>
                                        </p:tgtEl>
                                        <p:attrNameLst>
                                          <p:attrName>style.visibility</p:attrName>
                                        </p:attrNameLst>
                                      </p:cBhvr>
                                      <p:to>
                                        <p:strVal val="visible"/>
                                      </p:to>
                                    </p:set>
                                    <p:animEffect transition="in" filter="fade">
                                      <p:cBhvr>
                                        <p:cTn id="12" dur="1000"/>
                                        <p:tgtEl>
                                          <p:spTgt spid="12">
                                            <p:txEl>
                                              <p:pRg st="5" end="5"/>
                                            </p:txEl>
                                          </p:spTgt>
                                        </p:tgtEl>
                                      </p:cBhvr>
                                    </p:animEffect>
                                    <p:anim calcmode="lin" valueType="num">
                                      <p:cBhvr>
                                        <p:cTn id="13"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animEffect transition="in" filter="fade">
                                      <p:cBhvr>
                                        <p:cTn id="19" dur="1000"/>
                                        <p:tgtEl>
                                          <p:spTgt spid="12">
                                            <p:txEl>
                                              <p:pRg st="6" end="6"/>
                                            </p:txEl>
                                          </p:spTgt>
                                        </p:tgtEl>
                                      </p:cBhvr>
                                    </p:animEffect>
                                    <p:anim calcmode="lin" valueType="num">
                                      <p:cBhvr>
                                        <p:cTn id="20"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1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9.1.2 Properties of Binary Operations</a:t>
            </a:r>
            <a:endParaRPr lang="en-US" altLang="zh-CN" sz="2000" b="1" dirty="0">
              <a:latin typeface="Trebuchet MS" panose="020B0603020202020204" pitchFamily="34"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Special Elements in Binary Operations: The zero Element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0" name="Text Box 3">
            <a:extLst>
              <a:ext uri="{FF2B5EF4-FFF2-40B4-BE49-F238E27FC236}">
                <a16:creationId xmlns:a16="http://schemas.microsoft.com/office/drawing/2014/main" id="{8AB05359-6E26-4416-98FD-161D70047670}"/>
              </a:ext>
            </a:extLst>
          </p:cNvPr>
          <p:cNvSpPr txBox="1">
            <a:spLocks noChangeArrowheads="1"/>
          </p:cNvSpPr>
          <p:nvPr/>
        </p:nvSpPr>
        <p:spPr bwMode="auto">
          <a:xfrm>
            <a:off x="824682" y="860360"/>
            <a:ext cx="9877336" cy="500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63525" indent="-263525">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Definition </a:t>
            </a:r>
            <a:r>
              <a:rPr lang="en-US" altLang="zh-CN" sz="2400" b="1" dirty="0">
                <a:latin typeface="Trebuchet MS" panose="020B0603020202020204" pitchFamily="34" charset="0"/>
                <a:cs typeface="Times New Roman" panose="02020603050405020304" pitchFamily="18" charset="0"/>
              </a:rPr>
              <a:t>9.6:</a:t>
            </a:r>
            <a:r>
              <a:rPr lang="en-US" sz="2400" b="1" dirty="0">
                <a:latin typeface="Trebuchet MS" panose="020B0603020202020204" pitchFamily="34" charset="0"/>
              </a:rPr>
              <a:t> </a:t>
            </a:r>
            <a:r>
              <a:rPr lang="en-US" sz="2400" dirty="0">
                <a:latin typeface="Trebuchet MS" panose="020B0603020202020204" pitchFamily="34" charset="0"/>
              </a:rPr>
              <a:t>Let </a:t>
            </a:r>
            <a:r>
              <a:rPr lang="en-US" sz="2400" b="1" dirty="0">
                <a:solidFill>
                  <a:srgbClr val="FF0000"/>
                </a:solidFill>
                <a:latin typeface="Trebuchet MS" panose="020B0603020202020204" pitchFamily="34" charset="0"/>
              </a:rPr>
              <a:t>∘</a:t>
            </a:r>
            <a:r>
              <a:rPr lang="en-US" sz="2400" dirty="0">
                <a:latin typeface="Trebuchet MS" panose="020B0603020202020204" pitchFamily="34" charset="0"/>
              </a:rPr>
              <a:t> be a binary operation on </a:t>
            </a:r>
            <a:r>
              <a:rPr lang="en-US" sz="2400" b="1" i="1" dirty="0">
                <a:latin typeface="Trebuchet MS" panose="020B0603020202020204" pitchFamily="34" charset="0"/>
              </a:rPr>
              <a:t>S</a:t>
            </a:r>
            <a:r>
              <a:rPr lang="en-US" sz="2400" dirty="0">
                <a:latin typeface="Trebuchet MS" panose="020B0603020202020204" pitchFamily="34" charset="0"/>
              </a:rPr>
              <a:t>.</a:t>
            </a:r>
          </a:p>
          <a:p>
            <a:pPr marL="803275" indent="-539750">
              <a:lnSpc>
                <a:spcPct val="120000"/>
              </a:lnSpc>
              <a:tabLst>
                <a:tab pos="893763" algn="l"/>
              </a:tabLst>
            </a:pPr>
            <a:r>
              <a:rPr lang="en-US" altLang="zh-CN" sz="2400" b="1" dirty="0">
                <a:solidFill>
                  <a:srgbClr val="0B61FF"/>
                </a:solidFill>
                <a:latin typeface="Trebuchet MS" panose="020B0603020202020204" pitchFamily="34" charset="0"/>
                <a:cs typeface="Times New Roman" panose="02020603050405020304" pitchFamily="18" charset="0"/>
              </a:rPr>
              <a:t>(1)</a:t>
            </a:r>
            <a:r>
              <a:rPr lang="en-US" sz="2400" dirty="0">
                <a:solidFill>
                  <a:srgbClr val="0B61FF"/>
                </a:solidFill>
                <a:latin typeface="Trebuchet MS" panose="020B0603020202020204" pitchFamily="34" charset="0"/>
              </a:rPr>
              <a:t> </a:t>
            </a:r>
            <a:r>
              <a:rPr lang="en-US" sz="2400" dirty="0">
                <a:latin typeface="Trebuchet MS" panose="020B0603020202020204" pitchFamily="34" charset="0"/>
              </a:rPr>
              <a:t>If there exists an element </a:t>
            </a:r>
            <a:r>
              <a:rPr lang="en-US" altLang="zh-CN" sz="2400" b="1" i="1" dirty="0" err="1">
                <a:solidFill>
                  <a:schemeClr val="tx1"/>
                </a:solidFill>
                <a:latin typeface="Trebuchet MS" panose="020B0603020202020204" pitchFamily="34" charset="0"/>
                <a:cs typeface="Times New Roman" panose="02020603050405020304" pitchFamily="18" charset="0"/>
              </a:rPr>
              <a:t>θ</a:t>
            </a:r>
            <a:r>
              <a:rPr lang="en-US" altLang="zh-CN" sz="2400" b="1" i="1" baseline="-25000" dirty="0" err="1">
                <a:solidFill>
                  <a:schemeClr val="tx1"/>
                </a:solidFill>
                <a:latin typeface="Trebuchet MS" panose="020B0603020202020204" pitchFamily="34" charset="0"/>
                <a:cs typeface="Times New Roman" panose="02020603050405020304" pitchFamily="18" charset="0"/>
              </a:rPr>
              <a:t>l</a:t>
            </a:r>
            <a:r>
              <a:rPr lang="en-US" altLang="zh-CN" sz="2400" b="1" i="1" baseline="-25000"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or </a:t>
            </a:r>
            <a:r>
              <a:rPr lang="en-US" altLang="zh-CN" sz="2400" b="1" i="1" dirty="0" err="1">
                <a:solidFill>
                  <a:schemeClr val="tx1"/>
                </a:solidFill>
                <a:latin typeface="Trebuchet MS" panose="020B0603020202020204" pitchFamily="34" charset="0"/>
                <a:cs typeface="Times New Roman" panose="02020603050405020304" pitchFamily="18" charset="0"/>
              </a:rPr>
              <a:t>θ</a:t>
            </a:r>
            <a:r>
              <a:rPr lang="en-US" altLang="zh-CN" sz="2400" b="1" i="1" baseline="-25000" dirty="0" err="1">
                <a:solidFill>
                  <a:schemeClr val="tx1"/>
                </a:solidFill>
                <a:latin typeface="Trebuchet MS" panose="020B0603020202020204" pitchFamily="34" charset="0"/>
                <a:cs typeface="Times New Roman" panose="02020603050405020304" pitchFamily="18" charset="0"/>
              </a:rPr>
              <a:t>r</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S</a:t>
            </a:r>
            <a:r>
              <a:rPr lang="zh-CN" altLang="en-US" sz="2400" b="1" dirty="0">
                <a:solidFill>
                  <a:schemeClr val="tx1"/>
                </a:solidFill>
                <a:latin typeface="Trebuchet MS" panose="020B0603020202020204" pitchFamily="34" charset="0"/>
                <a:cs typeface="Times New Roman" panose="02020603050405020304" pitchFamily="18" charset="0"/>
              </a:rPr>
              <a:t>，</a:t>
            </a:r>
            <a:r>
              <a:rPr lang="en-US" sz="2400" dirty="0">
                <a:latin typeface="Trebuchet MS" panose="020B0603020202020204" pitchFamily="34" charset="0"/>
              </a:rPr>
              <a:t>such that for all  </a:t>
            </a:r>
            <a:r>
              <a:rPr lang="en-US" altLang="zh-CN" sz="2400" b="1" i="1" dirty="0" err="1">
                <a:solidFill>
                  <a:schemeClr val="tx1"/>
                </a:solidFill>
                <a:latin typeface="Trebuchet MS" panose="020B0603020202020204" pitchFamily="34" charset="0"/>
                <a:cs typeface="Times New Roman" panose="02020603050405020304" pitchFamily="18" charset="0"/>
              </a:rPr>
              <a:t>x</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S</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we</a:t>
            </a:r>
            <a:r>
              <a:rPr lang="zh-CN" altLang="en-US" sz="2400" dirty="0">
                <a:latin typeface="Trebuchet MS" panose="020B0603020202020204" pitchFamily="34" charset="0"/>
              </a:rPr>
              <a:t> </a:t>
            </a:r>
            <a:r>
              <a:rPr lang="en-US" altLang="zh-CN" sz="2400" dirty="0">
                <a:latin typeface="Trebuchet MS" panose="020B0603020202020204" pitchFamily="34" charset="0"/>
              </a:rPr>
              <a:t>have   </a:t>
            </a:r>
            <a:r>
              <a:rPr lang="en-US" altLang="zh-CN" sz="2400" b="1" i="1" dirty="0" err="1">
                <a:solidFill>
                  <a:schemeClr val="tx1"/>
                </a:solidFill>
                <a:latin typeface="Trebuchet MS" panose="020B0603020202020204" pitchFamily="34" charset="0"/>
                <a:cs typeface="Times New Roman" panose="02020603050405020304" pitchFamily="18" charset="0"/>
              </a:rPr>
              <a:t>θ</a:t>
            </a:r>
            <a:r>
              <a:rPr lang="en-US" altLang="zh-CN" sz="2400" b="1" i="1" baseline="-25000" dirty="0" err="1">
                <a:solidFill>
                  <a:schemeClr val="tx1"/>
                </a:solidFill>
                <a:latin typeface="Trebuchet MS" panose="020B0603020202020204" pitchFamily="34" charset="0"/>
                <a:cs typeface="Times New Roman" panose="02020603050405020304" pitchFamily="18" charset="0"/>
              </a:rPr>
              <a:t>l</a:t>
            </a:r>
            <a:r>
              <a:rPr lang="en-US" altLang="zh-CN" sz="2400" b="1" i="1" baseline="-25000" dirty="0">
                <a:solidFill>
                  <a:schemeClr val="tx1"/>
                </a:solidFill>
                <a:latin typeface="Trebuchet MS" panose="020B0603020202020204" pitchFamily="34" charset="0"/>
                <a:cs typeface="Times New Roman" panose="02020603050405020304" pitchFamily="18" charset="0"/>
              </a:rPr>
              <a:t> </a:t>
            </a:r>
            <a:r>
              <a:rPr lang="zh-CN" altLang="en-US"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cs typeface="Times New Roman" panose="02020603050405020304" pitchFamily="18" charset="0"/>
              </a:rPr>
              <a:t>x </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θ</a:t>
            </a:r>
            <a:r>
              <a:rPr lang="en-US" altLang="zh-CN" sz="2400" b="1" i="1" baseline="-25000" dirty="0" err="1">
                <a:solidFill>
                  <a:schemeClr val="tx1"/>
                </a:solidFill>
                <a:latin typeface="Trebuchet MS" panose="020B0603020202020204" pitchFamily="34" charset="0"/>
                <a:cs typeface="Times New Roman" panose="02020603050405020304" pitchFamily="18" charset="0"/>
              </a:rPr>
              <a:t>l</a:t>
            </a:r>
            <a:r>
              <a:rPr lang="en-US" altLang="zh-CN" sz="2400" b="1" baseline="-25000"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 ( </a:t>
            </a:r>
            <a:r>
              <a:rPr lang="en-US" altLang="zh-CN" sz="2400" b="1" dirty="0">
                <a:latin typeface="Trebuchet MS" panose="020B0603020202020204" pitchFamily="34" charset="0"/>
                <a:cs typeface="Times New Roman" panose="02020603050405020304" pitchFamily="18" charset="0"/>
              </a:rPr>
              <a:t>or</a:t>
            </a:r>
            <a:r>
              <a:rPr lang="zh-CN" altLang="en-US" sz="2400" b="1" dirty="0">
                <a:latin typeface="Trebuchet MS" panose="020B0603020202020204" pitchFamily="34" charset="0"/>
                <a:cs typeface="Times New Roman" panose="02020603050405020304" pitchFamily="18" charset="0"/>
              </a:rPr>
              <a:t> </a:t>
            </a:r>
            <a:r>
              <a:rPr lang="zh-CN" altLang="en-US"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x</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rebuchet MS" panose="020B0603020202020204" pitchFamily="34" charset="0"/>
                <a:cs typeface="Times New Roman" panose="02020603050405020304" pitchFamily="18" charset="0"/>
              </a:rPr>
              <a:t>θ</a:t>
            </a:r>
            <a:r>
              <a:rPr lang="en-US" altLang="zh-CN" sz="2400" b="1" i="1" baseline="-25000" dirty="0" err="1">
                <a:solidFill>
                  <a:schemeClr val="tx1"/>
                </a:solidFill>
                <a:latin typeface="Trebuchet MS" panose="020B0603020202020204" pitchFamily="34" charset="0"/>
                <a:cs typeface="Times New Roman" panose="02020603050405020304" pitchFamily="18" charset="0"/>
              </a:rPr>
              <a:t>r</a:t>
            </a:r>
            <a:r>
              <a:rPr lang="en-US" altLang="zh-CN" sz="2400" b="1" i="1" baseline="-25000"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θ</a:t>
            </a:r>
            <a:r>
              <a:rPr lang="en-US" altLang="zh-CN" sz="2400" b="1" i="1" baseline="-25000" dirty="0" err="1">
                <a:solidFill>
                  <a:schemeClr val="tx1"/>
                </a:solidFill>
                <a:latin typeface="Trebuchet MS" panose="020B0603020202020204" pitchFamily="34" charset="0"/>
                <a:cs typeface="Times New Roman" panose="02020603050405020304" pitchFamily="18" charset="0"/>
              </a:rPr>
              <a:t>r</a:t>
            </a:r>
            <a:r>
              <a:rPr lang="en-US" altLang="zh-CN" sz="2400" b="1" i="1" baseline="-25000"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a:t>
            </a:r>
            <a:r>
              <a:rPr lang="zh-CN" altLang="en-US" sz="2400" b="1" dirty="0">
                <a:solidFill>
                  <a:schemeClr val="tx1"/>
                </a:solidFill>
                <a:latin typeface="Trebuchet MS" panose="020B0603020202020204" pitchFamily="34" charset="0"/>
                <a:cs typeface="Times New Roman" panose="02020603050405020304" pitchFamily="18" charset="0"/>
              </a:rPr>
              <a:t>，</a:t>
            </a:r>
            <a:endParaRPr lang="en-US" altLang="zh-CN" sz="2400" b="1" dirty="0">
              <a:solidFill>
                <a:schemeClr val="tx1"/>
              </a:solidFill>
              <a:latin typeface="Trebuchet MS" panose="020B0603020202020204" pitchFamily="34" charset="0"/>
              <a:cs typeface="Times New Roman" panose="02020603050405020304" pitchFamily="18" charset="0"/>
            </a:endParaRPr>
          </a:p>
          <a:p>
            <a:pPr marL="803275" indent="-82550">
              <a:lnSpc>
                <a:spcPct val="120000"/>
              </a:lnSpc>
            </a:pPr>
            <a:r>
              <a:rPr lang="en-US" sz="2400" dirty="0">
                <a:latin typeface="Trebuchet MS" panose="020B0603020202020204" pitchFamily="34" charset="0"/>
              </a:rPr>
              <a:t>then </a:t>
            </a:r>
            <a:r>
              <a:rPr lang="en-US" altLang="zh-CN" sz="2400" b="1" i="1" dirty="0" err="1">
                <a:solidFill>
                  <a:schemeClr val="tx1"/>
                </a:solidFill>
                <a:latin typeface="Trebuchet MS" panose="020B0603020202020204" pitchFamily="34" charset="0"/>
                <a:cs typeface="Times New Roman" panose="02020603050405020304" pitchFamily="18" charset="0"/>
              </a:rPr>
              <a:t>θ</a:t>
            </a:r>
            <a:r>
              <a:rPr lang="en-US" altLang="zh-CN" sz="2400" b="1" i="1" baseline="-25000" dirty="0" err="1">
                <a:solidFill>
                  <a:schemeClr val="tx1"/>
                </a:solidFill>
                <a:latin typeface="Trebuchet MS" panose="020B0603020202020204" pitchFamily="34" charset="0"/>
                <a:cs typeface="Times New Roman" panose="02020603050405020304" pitchFamily="18" charset="0"/>
              </a:rPr>
              <a:t>l</a:t>
            </a:r>
            <a:r>
              <a:rPr lang="en-US" altLang="zh-CN" sz="2400" b="1" i="1" baseline="-25000"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or</a:t>
            </a:r>
            <a:r>
              <a:rPr lang="zh-CN" altLang="en-US" sz="2400" b="1" dirty="0">
                <a:latin typeface="Trebuchet MS" panose="020B0603020202020204" pitchFamily="34" charset="0"/>
                <a:cs typeface="Times New Roman" panose="02020603050405020304" pitchFamily="18" charset="0"/>
              </a:rPr>
              <a:t> </a:t>
            </a:r>
            <a:r>
              <a:rPr lang="en-US" altLang="zh-CN" sz="2400" b="1" i="1" dirty="0" err="1">
                <a:solidFill>
                  <a:schemeClr val="tx1"/>
                </a:solidFill>
                <a:latin typeface="Trebuchet MS" panose="020B0603020202020204" pitchFamily="34" charset="0"/>
                <a:cs typeface="Times New Roman" panose="02020603050405020304" pitchFamily="18" charset="0"/>
              </a:rPr>
              <a:t>θ</a:t>
            </a:r>
            <a:r>
              <a:rPr lang="en-US" altLang="zh-CN" sz="2400" b="1" i="1" baseline="-25000" dirty="0" err="1">
                <a:solidFill>
                  <a:schemeClr val="tx1"/>
                </a:solidFill>
                <a:latin typeface="Trebuchet MS" panose="020B0603020202020204" pitchFamily="34" charset="0"/>
                <a:cs typeface="Times New Roman" panose="02020603050405020304" pitchFamily="18" charset="0"/>
              </a:rPr>
              <a:t>r</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a:t>
            </a:r>
            <a:r>
              <a:rPr lang="en-US" sz="2400" dirty="0">
                <a:latin typeface="Trebuchet MS" panose="020B0603020202020204" pitchFamily="34" charset="0"/>
              </a:rPr>
              <a:t> is called the </a:t>
            </a:r>
            <a:r>
              <a:rPr lang="en-US" sz="2400" b="1" i="1" dirty="0">
                <a:solidFill>
                  <a:srgbClr val="0B61FF"/>
                </a:solidFill>
                <a:latin typeface="Trebuchet MS" panose="020B0603020202020204" pitchFamily="34" charset="0"/>
              </a:rPr>
              <a:t>left zero element</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(or </a:t>
            </a:r>
            <a:r>
              <a:rPr lang="en-US" sz="2400" b="1" i="1" dirty="0">
                <a:solidFill>
                  <a:srgbClr val="0B61FF"/>
                </a:solidFill>
                <a:latin typeface="Trebuchet MS" panose="020B0603020202020204" pitchFamily="34" charset="0"/>
              </a:rPr>
              <a:t>right zero element</a:t>
            </a:r>
            <a:r>
              <a:rPr lang="en-US" sz="2400" dirty="0">
                <a:latin typeface="Trebuchet MS" panose="020B0603020202020204" pitchFamily="34" charset="0"/>
              </a:rPr>
              <a:t>) of </a:t>
            </a:r>
            <a:r>
              <a:rPr lang="en-US" altLang="zh-CN" sz="2400" b="1" i="1" dirty="0">
                <a:solidFill>
                  <a:schemeClr val="tx1"/>
                </a:solidFill>
                <a:latin typeface="Trebuchet MS" panose="020B0603020202020204" pitchFamily="34" charset="0"/>
                <a:cs typeface="Times New Roman" panose="02020603050405020304" pitchFamily="18" charset="0"/>
              </a:rPr>
              <a:t>S</a:t>
            </a:r>
            <a:r>
              <a:rPr lang="en-US" sz="2400" dirty="0">
                <a:latin typeface="Trebuchet MS" panose="020B0603020202020204" pitchFamily="34" charset="0"/>
              </a:rPr>
              <a:t> with respect to the operation </a:t>
            </a:r>
            <a:r>
              <a:rPr lang="en-US" altLang="zh-CN" sz="2400" b="1" dirty="0">
                <a:solidFill>
                  <a:srgbClr val="FF0000"/>
                </a:solidFill>
                <a:latin typeface="Trebuchet MS" panose="020B0603020202020204" pitchFamily="34" charset="0"/>
              </a:rPr>
              <a:t>∘</a:t>
            </a:r>
            <a:r>
              <a:rPr lang="en-US" sz="2400" dirty="0">
                <a:latin typeface="Trebuchet MS" panose="020B0603020202020204" pitchFamily="34" charset="0"/>
              </a:rPr>
              <a:t>.</a:t>
            </a:r>
          </a:p>
          <a:p>
            <a:pPr marL="720725" indent="-457200">
              <a:lnSpc>
                <a:spcPct val="120000"/>
              </a:lnSpc>
            </a:pPr>
            <a:r>
              <a:rPr lang="en-US" altLang="zh-CN" sz="2400" b="1" dirty="0">
                <a:solidFill>
                  <a:srgbClr val="0B61FF"/>
                </a:solidFill>
                <a:latin typeface="Trebuchet MS" panose="020B0603020202020204" pitchFamily="34" charset="0"/>
                <a:cs typeface="Times New Roman" panose="02020603050405020304" pitchFamily="18" charset="0"/>
              </a:rPr>
              <a:t>(2)</a:t>
            </a:r>
            <a:r>
              <a:rPr lang="en-US" sz="2400" dirty="0">
                <a:solidFill>
                  <a:srgbClr val="0B61FF"/>
                </a:solidFill>
                <a:latin typeface="Trebuchet MS" panose="020B0603020202020204" pitchFamily="34" charset="0"/>
              </a:rPr>
              <a:t> </a:t>
            </a:r>
            <a:r>
              <a:rPr lang="en-US" sz="2400" dirty="0">
                <a:latin typeface="Trebuchet MS" panose="020B0603020202020204" pitchFamily="34" charset="0"/>
              </a:rPr>
              <a:t>If an element </a:t>
            </a:r>
            <a:r>
              <a:rPr lang="en-US" altLang="zh-CN" sz="2400" b="1" i="1" dirty="0">
                <a:solidFill>
                  <a:schemeClr val="tx1"/>
                </a:solidFill>
                <a:latin typeface="Trebuchet MS" panose="020B0603020202020204" pitchFamily="34" charset="0"/>
                <a:cs typeface="Times New Roman" panose="02020603050405020304" pitchFamily="18" charset="0"/>
              </a:rPr>
              <a:t>θ </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S</a:t>
            </a:r>
            <a:r>
              <a:rPr lang="en-US" sz="2400" dirty="0">
                <a:latin typeface="Trebuchet MS" panose="020B0603020202020204" pitchFamily="34" charset="0"/>
              </a:rPr>
              <a:t> is both a left zero element and a right zero element under </a:t>
            </a:r>
            <a:r>
              <a:rPr lang="en-US" altLang="zh-CN" sz="2400" b="1" dirty="0">
                <a:solidFill>
                  <a:srgbClr val="FF0000"/>
                </a:solidFill>
                <a:latin typeface="Trebuchet MS" panose="020B0603020202020204" pitchFamily="34" charset="0"/>
              </a:rPr>
              <a:t>∘ </a:t>
            </a:r>
            <a:r>
              <a:rPr lang="zh-CN" altLang="en-US" sz="2400" b="1" dirty="0">
                <a:solidFill>
                  <a:schemeClr val="tx1"/>
                </a:solidFill>
                <a:latin typeface="Trebuchet MS" panose="020B0603020202020204" pitchFamily="34" charset="0"/>
                <a:cs typeface="Times New Roman" panose="02020603050405020304" pitchFamily="18" charset="0"/>
              </a:rPr>
              <a:t>，</a:t>
            </a:r>
            <a:r>
              <a:rPr lang="en-US" altLang="zh-CN" sz="2400" dirty="0">
                <a:solidFill>
                  <a:schemeClr val="tx1"/>
                </a:solidFill>
                <a:latin typeface="Trebuchet MS" panose="020B0603020202020204" pitchFamily="34" charset="0"/>
                <a:cs typeface="Times New Roman" panose="02020603050405020304" pitchFamily="18" charset="0"/>
              </a:rPr>
              <a:t>then</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θ </a:t>
            </a:r>
            <a:r>
              <a:rPr lang="en-US" sz="2400" dirty="0">
                <a:latin typeface="Trebuchet MS" panose="020B0603020202020204" pitchFamily="34" charset="0"/>
              </a:rPr>
              <a:t> is called the </a:t>
            </a:r>
            <a:r>
              <a:rPr lang="en-US" sz="2400" b="1" i="1" dirty="0">
                <a:solidFill>
                  <a:srgbClr val="0B61FF"/>
                </a:solidFill>
                <a:latin typeface="Trebuchet MS" panose="020B0603020202020204" pitchFamily="34" charset="0"/>
              </a:rPr>
              <a:t>zero element</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of </a:t>
            </a:r>
            <a:r>
              <a:rPr lang="en-US" altLang="zh-CN" sz="2400" b="1" i="1" dirty="0">
                <a:solidFill>
                  <a:schemeClr val="tx1"/>
                </a:solidFill>
                <a:latin typeface="Trebuchet MS" panose="020B0603020202020204" pitchFamily="34" charset="0"/>
                <a:cs typeface="Times New Roman" panose="02020603050405020304" pitchFamily="18" charset="0"/>
              </a:rPr>
              <a:t>S </a:t>
            </a:r>
            <a:r>
              <a:rPr lang="en-US" sz="2400" dirty="0">
                <a:latin typeface="Trebuchet MS" panose="020B0603020202020204" pitchFamily="34" charset="0"/>
              </a:rPr>
              <a:t>with respect to the operation </a:t>
            </a:r>
            <a:r>
              <a:rPr lang="en-US" altLang="zh-CN" sz="2400" b="1" dirty="0">
                <a:solidFill>
                  <a:srgbClr val="FF0000"/>
                </a:solidFill>
                <a:latin typeface="Trebuchet MS" panose="020B0603020202020204" pitchFamily="34" charset="0"/>
              </a:rPr>
              <a:t>∘</a:t>
            </a:r>
            <a:r>
              <a:rPr lang="en-US" altLang="zh-CN" sz="2400" b="1" dirty="0">
                <a:solidFill>
                  <a:schemeClr val="tx1"/>
                </a:solidFill>
                <a:latin typeface="Trebuchet MS" panose="020B0603020202020204" pitchFamily="34" charset="0"/>
                <a:cs typeface="Times New Roman" panose="02020603050405020304" pitchFamily="18" charset="0"/>
              </a:rPr>
              <a:t>.</a:t>
            </a:r>
          </a:p>
          <a:p>
            <a:pPr marL="342900" indent="-342900">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Note: </a:t>
            </a:r>
            <a:r>
              <a:rPr lang="en-US" sz="2400" dirty="0">
                <a:latin typeface="Trebuchet MS" panose="020B0603020202020204" pitchFamily="34" charset="0"/>
              </a:rPr>
              <a:t>A zero element is a </a:t>
            </a:r>
            <a:r>
              <a:rPr lang="en-US" sz="2400" b="1" i="1" dirty="0">
                <a:solidFill>
                  <a:srgbClr val="0B61FF"/>
                </a:solidFill>
                <a:latin typeface="Trebuchet MS" panose="020B0603020202020204" pitchFamily="34" charset="0"/>
              </a:rPr>
              <a:t>special element </a:t>
            </a:r>
            <a:r>
              <a:rPr lang="en-US" sz="2400" dirty="0">
                <a:latin typeface="Trebuchet MS" panose="020B0603020202020204" pitchFamily="34" charset="0"/>
              </a:rPr>
              <a:t>that </a:t>
            </a:r>
            <a:r>
              <a:rPr lang="en-US" sz="2400" b="1" i="1" dirty="0">
                <a:solidFill>
                  <a:srgbClr val="0B61FF"/>
                </a:solidFill>
                <a:latin typeface="Trebuchet MS" panose="020B0603020202020204" pitchFamily="34" charset="0"/>
              </a:rPr>
              <a:t>“absorbs” other elements </a:t>
            </a:r>
            <a:r>
              <a:rPr lang="en-US" sz="2400" dirty="0">
                <a:latin typeface="Trebuchet MS" panose="020B0603020202020204" pitchFamily="34" charset="0"/>
              </a:rPr>
              <a:t>when combined with them under a specific binary operation, always producing itself as the result.</a:t>
            </a:r>
            <a:endParaRPr lang="en-US" altLang="zh-CN" sz="2400" b="1" dirty="0">
              <a:solidFill>
                <a:schemeClr val="tx1"/>
              </a:solidFill>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5305143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fade">
                                      <p:cBhvr>
                                        <p:cTn id="7" dur="1000"/>
                                        <p:tgtEl>
                                          <p:spTgt spid="10">
                                            <p:txEl>
                                              <p:pRg st="3" end="3"/>
                                            </p:txEl>
                                          </p:spTgt>
                                        </p:tgtEl>
                                      </p:cBhvr>
                                    </p:animEffect>
                                    <p:anim calcmode="lin" valueType="num">
                                      <p:cBhvr>
                                        <p:cTn id="8"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4" end="4"/>
                                            </p:txEl>
                                          </p:spTgt>
                                        </p:tgtEl>
                                        <p:attrNameLst>
                                          <p:attrName>style.visibility</p:attrName>
                                        </p:attrNameLst>
                                      </p:cBhvr>
                                      <p:to>
                                        <p:strVal val="visible"/>
                                      </p:to>
                                    </p:set>
                                    <p:animEffect transition="in" filter="fade">
                                      <p:cBhvr>
                                        <p:cTn id="14" dur="1000"/>
                                        <p:tgtEl>
                                          <p:spTgt spid="10">
                                            <p:txEl>
                                              <p:pRg st="4" end="4"/>
                                            </p:txEl>
                                          </p:spTgt>
                                        </p:tgtEl>
                                      </p:cBhvr>
                                    </p:animEffect>
                                    <p:anim calcmode="lin" valueType="num">
                                      <p:cBhvr>
                                        <p:cTn id="15"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a:t>
            </a:r>
            <a:r>
              <a:rPr lang="en-US" altLang="zh-CN" b="1" dirty="0">
                <a:latin typeface="Trebuchet MS" panose="020B0603020202020204" pitchFamily="34" charset="0"/>
              </a:rPr>
              <a:t>ns</a:t>
            </a:r>
            <a:endParaRPr lang="en-US" altLang="zh-CN"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Special Elements in Binary Operations: The inverse</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1" name="Text Box 3">
            <a:extLst>
              <a:ext uri="{FF2B5EF4-FFF2-40B4-BE49-F238E27FC236}">
                <a16:creationId xmlns:a16="http://schemas.microsoft.com/office/drawing/2014/main" id="{22861E86-803A-43BF-ABA0-9AD702A4998E}"/>
              </a:ext>
            </a:extLst>
          </p:cNvPr>
          <p:cNvSpPr txBox="1">
            <a:spLocks noChangeArrowheads="1"/>
          </p:cNvSpPr>
          <p:nvPr/>
        </p:nvSpPr>
        <p:spPr bwMode="auto">
          <a:xfrm>
            <a:off x="1110115" y="957942"/>
            <a:ext cx="8927965" cy="467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63525" indent="-263525">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Definition </a:t>
            </a:r>
            <a:r>
              <a:rPr lang="en-US" altLang="zh-CN" sz="2400" b="1" dirty="0">
                <a:latin typeface="Trebuchet MS" panose="020B0603020202020204" pitchFamily="34" charset="0"/>
                <a:cs typeface="Times New Roman" panose="02020603050405020304" pitchFamily="18" charset="0"/>
              </a:rPr>
              <a:t>9.7:</a:t>
            </a:r>
            <a:r>
              <a:rPr lang="en-US" altLang="zh-CN" sz="2400" b="1" dirty="0">
                <a:solidFill>
                  <a:schemeClr val="tx1"/>
                </a:solidFill>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Let</a:t>
            </a:r>
            <a:r>
              <a:rPr lang="zh-CN" altLang="en-US"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e </a:t>
            </a:r>
            <a:r>
              <a:rPr lang="en-US" sz="2400" dirty="0">
                <a:latin typeface="Trebuchet MS" panose="020B0603020202020204" pitchFamily="34" charset="0"/>
              </a:rPr>
              <a:t>be the identity (unit) element of </a:t>
            </a:r>
            <a:r>
              <a:rPr lang="en-US" altLang="zh-CN" sz="2400" b="1" i="1" dirty="0">
                <a:solidFill>
                  <a:schemeClr val="tx1"/>
                </a:solidFill>
                <a:latin typeface="Trebuchet MS" panose="020B0603020202020204" pitchFamily="34" charset="0"/>
                <a:cs typeface="Times New Roman" panose="02020603050405020304" pitchFamily="18" charset="0"/>
              </a:rPr>
              <a:t>S </a:t>
            </a:r>
            <a:r>
              <a:rPr lang="en-US" sz="2400" dirty="0">
                <a:latin typeface="Trebuchet MS" panose="020B0603020202020204" pitchFamily="34" charset="0"/>
              </a:rPr>
              <a:t>with respect to the operation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cs typeface="Times New Roman" panose="02020603050405020304" pitchFamily="18" charset="0"/>
              </a:rPr>
              <a:t>. </a:t>
            </a:r>
          </a:p>
          <a:p>
            <a:pPr marL="720725" indent="-538163">
              <a:lnSpc>
                <a:spcPct val="120000"/>
              </a:lnSpc>
              <a:spcBef>
                <a:spcPts val="600"/>
              </a:spcBef>
            </a:pPr>
            <a:r>
              <a:rPr lang="en-US" altLang="zh-CN" sz="2400" b="1" dirty="0">
                <a:solidFill>
                  <a:srgbClr val="0B61FF"/>
                </a:solidFill>
                <a:latin typeface="Trebuchet MS" panose="020B0603020202020204" pitchFamily="34" charset="0"/>
                <a:cs typeface="Times New Roman" panose="02020603050405020304" pitchFamily="18" charset="0"/>
              </a:rPr>
              <a:t>(1)</a:t>
            </a:r>
            <a:r>
              <a:rPr lang="en-US" sz="2400" dirty="0">
                <a:solidFill>
                  <a:srgbClr val="0B61FF"/>
                </a:solidFill>
                <a:latin typeface="Trebuchet MS" panose="020B0603020202020204" pitchFamily="34" charset="0"/>
              </a:rPr>
              <a:t> </a:t>
            </a:r>
            <a:r>
              <a:rPr lang="en-US" sz="2400" dirty="0">
                <a:latin typeface="Trebuchet MS" panose="020B0603020202020204" pitchFamily="34" charset="0"/>
              </a:rPr>
              <a:t>For any </a:t>
            </a:r>
            <a:r>
              <a:rPr lang="en-US" altLang="zh-CN" sz="2400" b="1" i="1" dirty="0">
                <a:solidFill>
                  <a:schemeClr val="tx1"/>
                </a:solidFill>
                <a:latin typeface="Trebuchet MS" panose="020B0603020202020204" pitchFamily="34" charset="0"/>
                <a:cs typeface="Times New Roman" panose="02020603050405020304" pitchFamily="18" charset="0"/>
              </a:rPr>
              <a:t>x </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S</a:t>
            </a:r>
            <a:r>
              <a:rPr lang="zh-CN" altLang="en-US" sz="2400" b="1" dirty="0">
                <a:solidFill>
                  <a:schemeClr val="tx1"/>
                </a:solidFill>
                <a:latin typeface="Trebuchet MS" panose="020B0603020202020204" pitchFamily="34" charset="0"/>
                <a:cs typeface="Times New Roman" panose="02020603050405020304" pitchFamily="18" charset="0"/>
              </a:rPr>
              <a:t>，</a:t>
            </a:r>
            <a:r>
              <a:rPr lang="en-US" sz="2400" dirty="0">
                <a:latin typeface="Trebuchet MS" panose="020B0603020202020204" pitchFamily="34" charset="0"/>
              </a:rPr>
              <a:t> if there exists </a:t>
            </a:r>
            <a:r>
              <a:rPr lang="en-US" altLang="zh-CN" sz="2400" b="1" i="1" dirty="0">
                <a:solidFill>
                  <a:schemeClr val="tx1"/>
                </a:solidFill>
                <a:latin typeface="Trebuchet MS" panose="020B0603020202020204" pitchFamily="34" charset="0"/>
                <a:cs typeface="Times New Roman" panose="02020603050405020304" pitchFamily="18" charset="0"/>
              </a:rPr>
              <a:t>y</a:t>
            </a:r>
            <a:r>
              <a:rPr lang="en-US" altLang="zh-CN" sz="2400" b="1" i="1" baseline="-25000" dirty="0">
                <a:solidFill>
                  <a:schemeClr val="tx1"/>
                </a:solidFill>
                <a:latin typeface="Trebuchet MS" panose="020B0603020202020204" pitchFamily="34" charset="0"/>
                <a:cs typeface="Times New Roman" panose="02020603050405020304" pitchFamily="18" charset="0"/>
              </a:rPr>
              <a:t>l</a:t>
            </a:r>
            <a:r>
              <a:rPr lang="en-US" altLang="zh-CN" sz="2400" b="1" dirty="0">
                <a:latin typeface="Trebuchet MS" panose="020B0603020202020204" pitchFamily="34" charset="0"/>
                <a:cs typeface="Times New Roman" panose="02020603050405020304" pitchFamily="18" charset="0"/>
              </a:rPr>
              <a:t> (or</a:t>
            </a:r>
            <a:r>
              <a:rPr lang="zh-CN" altLang="en-US" sz="2400" b="1" dirty="0">
                <a:latin typeface="Trebuchet MS" panose="020B0603020202020204" pitchFamily="34" charset="0"/>
                <a:cs typeface="Times New Roman" panose="02020603050405020304" pitchFamily="18" charset="0"/>
              </a:rPr>
              <a:t> </a:t>
            </a:r>
            <a:r>
              <a:rPr lang="zh-CN" altLang="en-US"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y</a:t>
            </a:r>
            <a:r>
              <a:rPr lang="en-US" altLang="zh-CN" sz="2400" b="1" i="1" baseline="-25000" dirty="0">
                <a:solidFill>
                  <a:schemeClr val="tx1"/>
                </a:solidFill>
                <a:latin typeface="Trebuchet MS" panose="020B0603020202020204" pitchFamily="34" charset="0"/>
                <a:cs typeface="Times New Roman" panose="02020603050405020304" pitchFamily="18" charset="0"/>
              </a:rPr>
              <a:t>r</a:t>
            </a:r>
            <a:r>
              <a:rPr lang="en-US" altLang="zh-CN" sz="2400" b="1" dirty="0">
                <a:solidFill>
                  <a:schemeClr val="tx1"/>
                </a:solidFill>
                <a:latin typeface="Trebuchet MS" panose="020B0603020202020204" pitchFamily="34" charset="0"/>
                <a:cs typeface="Times New Roman" panose="02020603050405020304" pitchFamily="18" charset="0"/>
              </a:rPr>
              <a:t> ) </a:t>
            </a:r>
            <a:r>
              <a:rPr lang="zh-CN" altLang="en-US"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S </a:t>
            </a:r>
            <a:r>
              <a:rPr lang="en-US" sz="2400" dirty="0">
                <a:latin typeface="Trebuchet MS" panose="020B0603020202020204" pitchFamily="34" charset="0"/>
              </a:rPr>
              <a:t>such that</a:t>
            </a:r>
            <a:endParaRPr lang="zh-CN" altLang="en-US" sz="2400" b="1" i="1" dirty="0">
              <a:solidFill>
                <a:schemeClr val="tx1"/>
              </a:solidFill>
              <a:latin typeface="Trebuchet MS" panose="020B0603020202020204" pitchFamily="34" charset="0"/>
              <a:cs typeface="Times New Roman" panose="02020603050405020304" pitchFamily="18" charset="0"/>
            </a:endParaRPr>
          </a:p>
          <a:p>
            <a:pPr>
              <a:lnSpc>
                <a:spcPct val="120000"/>
              </a:lnSpc>
              <a:spcBef>
                <a:spcPts val="600"/>
              </a:spcBef>
            </a:pPr>
            <a:r>
              <a:rPr lang="zh-CN" altLang="en-US" sz="2400" b="1" i="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y</a:t>
            </a:r>
            <a:r>
              <a:rPr lang="en-US" altLang="zh-CN" sz="2400" b="1" i="1" baseline="-25000" dirty="0">
                <a:solidFill>
                  <a:schemeClr val="tx1"/>
                </a:solidFill>
                <a:latin typeface="Trebuchet MS" panose="020B0603020202020204" pitchFamily="34" charset="0"/>
                <a:cs typeface="Times New Roman" panose="02020603050405020304" pitchFamily="18" charset="0"/>
              </a:rPr>
              <a:t>l </a:t>
            </a:r>
            <a:r>
              <a:rPr lang="zh-CN" altLang="en-US"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cs typeface="Times New Roman" panose="02020603050405020304" pitchFamily="18" charset="0"/>
              </a:rPr>
              <a:t>x </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e</a:t>
            </a:r>
            <a:r>
              <a:rPr lang="zh-CN" altLang="en-US" sz="2400" b="1" dirty="0">
                <a:solidFill>
                  <a:schemeClr val="tx1"/>
                </a:solidFill>
                <a:latin typeface="Trebuchet MS" panose="020B0603020202020204" pitchFamily="34" charset="0"/>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rPr>
              <a:t>or</a:t>
            </a:r>
            <a:r>
              <a:rPr lang="zh-CN" altLang="en-US"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x </a:t>
            </a:r>
            <a:r>
              <a:rPr lang="zh-CN" altLang="en-US"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cs typeface="Times New Roman" panose="02020603050405020304" pitchFamily="18" charset="0"/>
              </a:rPr>
              <a:t>y</a:t>
            </a:r>
            <a:r>
              <a:rPr lang="en-US" altLang="zh-CN" sz="2400" b="1" i="1" baseline="-25000" dirty="0">
                <a:solidFill>
                  <a:schemeClr val="tx1"/>
                </a:solidFill>
                <a:latin typeface="Trebuchet MS" panose="020B0603020202020204" pitchFamily="34" charset="0"/>
                <a:cs typeface="Times New Roman" panose="02020603050405020304" pitchFamily="18" charset="0"/>
              </a:rPr>
              <a:t>r </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e</a:t>
            </a:r>
            <a:r>
              <a:rPr lang="zh-CN" altLang="en-US" sz="2400" b="1" dirty="0">
                <a:solidFill>
                  <a:schemeClr val="tx1"/>
                </a:solidFill>
                <a:latin typeface="Trebuchet MS" panose="020B0603020202020204" pitchFamily="34" charset="0"/>
                <a:cs typeface="Times New Roman" panose="02020603050405020304" pitchFamily="18" charset="0"/>
              </a:rPr>
              <a:t>），</a:t>
            </a:r>
          </a:p>
          <a:p>
            <a:pPr marL="630238">
              <a:lnSpc>
                <a:spcPct val="120000"/>
              </a:lnSpc>
              <a:spcBef>
                <a:spcPts val="600"/>
              </a:spcBef>
            </a:pPr>
            <a:r>
              <a:rPr lang="zh-CN" altLang="en-US" sz="2400" b="1" dirty="0">
                <a:solidFill>
                  <a:schemeClr val="tx1"/>
                </a:solidFill>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then </a:t>
            </a:r>
            <a:r>
              <a:rPr lang="en-US" altLang="zh-CN" sz="2400" b="1" i="1" dirty="0">
                <a:solidFill>
                  <a:schemeClr val="tx1"/>
                </a:solidFill>
                <a:latin typeface="Trebuchet MS" panose="020B0603020202020204" pitchFamily="34" charset="0"/>
                <a:cs typeface="Times New Roman" panose="02020603050405020304" pitchFamily="18" charset="0"/>
              </a:rPr>
              <a:t>y</a:t>
            </a:r>
            <a:r>
              <a:rPr lang="en-US" altLang="zh-CN" sz="2400" b="1" i="1" baseline="-25000" dirty="0">
                <a:solidFill>
                  <a:schemeClr val="tx1"/>
                </a:solidFill>
                <a:latin typeface="Trebuchet MS" panose="020B0603020202020204" pitchFamily="34" charset="0"/>
                <a:cs typeface="Times New Roman" panose="02020603050405020304" pitchFamily="18" charset="0"/>
              </a:rPr>
              <a:t>l </a:t>
            </a:r>
            <a:r>
              <a:rPr lang="en-US" altLang="zh-CN" sz="2400" b="1" dirty="0">
                <a:latin typeface="Trebuchet MS" panose="020B0603020202020204" pitchFamily="34" charset="0"/>
                <a:cs typeface="Times New Roman" panose="02020603050405020304" pitchFamily="18" charset="0"/>
              </a:rPr>
              <a:t>(or</a:t>
            </a:r>
            <a:r>
              <a:rPr lang="zh-CN" altLang="en-US" sz="2400" b="1" dirty="0">
                <a:latin typeface="Trebuchet MS" panose="020B0603020202020204" pitchFamily="34" charset="0"/>
                <a:cs typeface="Times New Roman" panose="02020603050405020304" pitchFamily="18" charset="0"/>
              </a:rPr>
              <a:t> </a:t>
            </a:r>
            <a:r>
              <a:rPr lang="zh-CN" altLang="en-US"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y</a:t>
            </a:r>
            <a:r>
              <a:rPr lang="en-US" altLang="zh-CN" sz="2400" b="1" i="1" baseline="-25000" dirty="0">
                <a:solidFill>
                  <a:schemeClr val="tx1"/>
                </a:solidFill>
                <a:latin typeface="Trebuchet MS" panose="020B0603020202020204" pitchFamily="34" charset="0"/>
                <a:cs typeface="Times New Roman" panose="02020603050405020304" pitchFamily="18" charset="0"/>
              </a:rPr>
              <a:t>r</a:t>
            </a:r>
            <a:r>
              <a:rPr lang="en-US" altLang="zh-CN" sz="2400" b="1" dirty="0">
                <a:solidFill>
                  <a:schemeClr val="tx1"/>
                </a:solidFill>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 is called the </a:t>
            </a:r>
            <a:r>
              <a:rPr lang="en-US" sz="2400" b="1" i="1" dirty="0">
                <a:solidFill>
                  <a:srgbClr val="0B61FF"/>
                </a:solidFill>
                <a:latin typeface="Trebuchet MS" panose="020B0603020202020204" pitchFamily="34" charset="0"/>
              </a:rPr>
              <a:t>left inverse</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(or </a:t>
            </a:r>
            <a:r>
              <a:rPr lang="en-US" sz="2400" b="1" i="1" dirty="0">
                <a:solidFill>
                  <a:srgbClr val="0B61FF"/>
                </a:solidFill>
                <a:latin typeface="Trebuchet MS" panose="020B0603020202020204" pitchFamily="34" charset="0"/>
              </a:rPr>
              <a:t>right inverse</a:t>
            </a:r>
            <a:r>
              <a:rPr lang="en-US" sz="2400" dirty="0">
                <a:latin typeface="Trebuchet MS" panose="020B0603020202020204" pitchFamily="34" charset="0"/>
              </a:rPr>
              <a:t>) of </a:t>
            </a:r>
            <a:r>
              <a:rPr lang="en-US" altLang="zh-CN" sz="2400" b="1" i="1" dirty="0">
                <a:solidFill>
                  <a:schemeClr val="tx1"/>
                </a:solidFill>
                <a:latin typeface="Trebuchet MS" panose="020B0603020202020204" pitchFamily="34" charset="0"/>
                <a:cs typeface="Times New Roman" panose="02020603050405020304" pitchFamily="18" charset="0"/>
              </a:rPr>
              <a:t>x.</a:t>
            </a:r>
          </a:p>
          <a:p>
            <a:pPr marL="630238" indent="-447675">
              <a:lnSpc>
                <a:spcPct val="120000"/>
              </a:lnSpc>
              <a:spcBef>
                <a:spcPts val="600"/>
              </a:spcBef>
            </a:pPr>
            <a:r>
              <a:rPr lang="en-US" altLang="zh-CN" sz="2400" b="1" dirty="0">
                <a:solidFill>
                  <a:srgbClr val="0B61FF"/>
                </a:solidFill>
                <a:latin typeface="Trebuchet MS" panose="020B0603020202020204" pitchFamily="34" charset="0"/>
                <a:cs typeface="Times New Roman" panose="02020603050405020304" pitchFamily="18" charset="0"/>
              </a:rPr>
              <a:t>(2)</a:t>
            </a:r>
            <a:r>
              <a:rPr lang="zh-CN" altLang="en-US"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cs typeface="Times New Roman" panose="02020603050405020304" pitchFamily="18" charset="0"/>
              </a:rPr>
              <a:t>If</a:t>
            </a:r>
            <a:r>
              <a:rPr lang="zh-CN" altLang="en-US" sz="2400" b="1" dirty="0">
                <a:solidFill>
                  <a:schemeClr val="tx1"/>
                </a:solidFill>
                <a:latin typeface="Trebuchet MS" panose="020B0603020202020204" pitchFamily="34" charset="0"/>
                <a:cs typeface="Times New Roman" panose="02020603050405020304" pitchFamily="18" charset="0"/>
              </a:rPr>
              <a:t> </a:t>
            </a:r>
            <a:r>
              <a:rPr lang="en-US" altLang="zh-CN" sz="2400" b="1" i="1" dirty="0" err="1">
                <a:solidFill>
                  <a:schemeClr val="tx1"/>
                </a:solidFill>
                <a:latin typeface="Trebuchet MS" panose="020B0603020202020204" pitchFamily="34" charset="0"/>
                <a:cs typeface="Times New Roman" panose="02020603050405020304" pitchFamily="18" charset="0"/>
              </a:rPr>
              <a:t>y</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S</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is both the left inverse and the right inverse of </a:t>
            </a:r>
            <a:r>
              <a:rPr lang="en-US" altLang="zh-CN" sz="2400" b="1" i="1" dirty="0">
                <a:solidFill>
                  <a:schemeClr val="tx1"/>
                </a:solidFill>
                <a:latin typeface="Trebuchet MS" panose="020B0603020202020204" pitchFamily="34" charset="0"/>
                <a:cs typeface="Times New Roman" panose="02020603050405020304" pitchFamily="18" charset="0"/>
              </a:rPr>
              <a:t>x </a:t>
            </a:r>
            <a:r>
              <a:rPr lang="en-US" sz="2400" dirty="0">
                <a:latin typeface="Trebuchet MS" panose="020B0603020202020204" pitchFamily="34" charset="0"/>
              </a:rPr>
              <a:t>, then </a:t>
            </a:r>
            <a:r>
              <a:rPr lang="en-US" altLang="zh-CN" sz="2400" b="1" i="1" dirty="0">
                <a:solidFill>
                  <a:schemeClr val="tx1"/>
                </a:solidFill>
                <a:latin typeface="Trebuchet MS" panose="020B0603020202020204" pitchFamily="34" charset="0"/>
                <a:cs typeface="Times New Roman" panose="02020603050405020304" pitchFamily="18" charset="0"/>
              </a:rPr>
              <a:t>y</a:t>
            </a:r>
            <a:r>
              <a:rPr lang="en-US" sz="2400" dirty="0">
                <a:latin typeface="Trebuchet MS" panose="020B0603020202020204" pitchFamily="34" charset="0"/>
              </a:rPr>
              <a:t> is called the </a:t>
            </a:r>
            <a:r>
              <a:rPr lang="en-US" sz="2400" b="1" i="1" dirty="0">
                <a:solidFill>
                  <a:srgbClr val="0B61FF"/>
                </a:solidFill>
                <a:latin typeface="Trebuchet MS" panose="020B0603020202020204" pitchFamily="34" charset="0"/>
              </a:rPr>
              <a:t>inverse</a:t>
            </a:r>
            <a:r>
              <a:rPr lang="en-US" sz="2400" dirty="0">
                <a:latin typeface="Trebuchet MS" panose="020B0603020202020204" pitchFamily="34" charset="0"/>
              </a:rPr>
              <a:t> of </a:t>
            </a:r>
            <a:r>
              <a:rPr lang="en-US" altLang="zh-CN" sz="2400" b="1" i="1" dirty="0">
                <a:solidFill>
                  <a:schemeClr val="tx1"/>
                </a:solidFill>
                <a:latin typeface="Trebuchet MS" panose="020B0603020202020204" pitchFamily="34" charset="0"/>
                <a:cs typeface="Times New Roman" panose="02020603050405020304" pitchFamily="18" charset="0"/>
              </a:rPr>
              <a:t>x</a:t>
            </a:r>
            <a:r>
              <a:rPr lang="en-US" sz="2400" dirty="0">
                <a:latin typeface="Trebuchet MS" panose="020B0603020202020204" pitchFamily="34" charset="0"/>
              </a:rPr>
              <a:t>.</a:t>
            </a:r>
          </a:p>
          <a:p>
            <a:pPr marL="630238" indent="-447675">
              <a:lnSpc>
                <a:spcPct val="120000"/>
              </a:lnSpc>
              <a:spcBef>
                <a:spcPts val="600"/>
              </a:spcBef>
            </a:pPr>
            <a:r>
              <a:rPr lang="en-US" altLang="zh-CN" sz="2400" b="1" dirty="0">
                <a:solidFill>
                  <a:srgbClr val="0B61FF"/>
                </a:solidFill>
                <a:latin typeface="Trebuchet MS" panose="020B0603020202020204" pitchFamily="34" charset="0"/>
                <a:cs typeface="Times New Roman" panose="02020603050405020304" pitchFamily="18" charset="0"/>
              </a:rPr>
              <a:t>(3)</a:t>
            </a:r>
            <a:r>
              <a:rPr lang="en-US" sz="2400" dirty="0">
                <a:solidFill>
                  <a:srgbClr val="0B61FF"/>
                </a:solidFill>
                <a:latin typeface="Trebuchet MS" panose="020B0603020202020204" pitchFamily="34" charset="0"/>
              </a:rPr>
              <a:t> </a:t>
            </a:r>
            <a:r>
              <a:rPr lang="en-US" sz="2400" dirty="0">
                <a:latin typeface="Trebuchet MS" panose="020B0603020202020204" pitchFamily="34" charset="0"/>
              </a:rPr>
              <a:t>If the inverse of </a:t>
            </a:r>
            <a:r>
              <a:rPr lang="en-US" altLang="zh-CN" sz="2400" b="1" i="1" dirty="0">
                <a:solidFill>
                  <a:schemeClr val="tx1"/>
                </a:solidFill>
                <a:latin typeface="Trebuchet MS" panose="020B0603020202020204" pitchFamily="34" charset="0"/>
                <a:cs typeface="Times New Roman" panose="02020603050405020304" pitchFamily="18" charset="0"/>
              </a:rPr>
              <a:t>x</a:t>
            </a:r>
            <a:r>
              <a:rPr lang="en-US" sz="2400" dirty="0">
                <a:latin typeface="Trebuchet MS" panose="020B0603020202020204" pitchFamily="34" charset="0"/>
              </a:rPr>
              <a:t> exists, then </a:t>
            </a:r>
            <a:r>
              <a:rPr lang="en-US" altLang="zh-CN" sz="2400" b="1" i="1" dirty="0">
                <a:solidFill>
                  <a:schemeClr val="tx1"/>
                </a:solidFill>
                <a:latin typeface="Trebuchet MS" panose="020B0603020202020204" pitchFamily="34" charset="0"/>
                <a:cs typeface="Times New Roman" panose="02020603050405020304" pitchFamily="18" charset="0"/>
              </a:rPr>
              <a:t>x</a:t>
            </a:r>
            <a:r>
              <a:rPr lang="en-US" sz="2400" dirty="0">
                <a:latin typeface="Trebuchet MS" panose="020B0603020202020204" pitchFamily="34" charset="0"/>
              </a:rPr>
              <a:t> is said </a:t>
            </a:r>
            <a:r>
              <a:rPr lang="en-US" sz="2400" b="1" i="1" dirty="0">
                <a:solidFill>
                  <a:srgbClr val="0B61FF"/>
                </a:solidFill>
                <a:latin typeface="Trebuchet MS" panose="020B0603020202020204" pitchFamily="34" charset="0"/>
              </a:rPr>
              <a:t>to be invertible</a:t>
            </a:r>
            <a:r>
              <a:rPr lang="en-US" altLang="zh-CN" sz="2400" b="1" dirty="0">
                <a:solidFill>
                  <a:schemeClr val="tx1"/>
                </a:solidFill>
                <a:latin typeface="Trebuchet MS" panose="020B0603020202020204" pitchFamily="34" charset="0"/>
                <a:cs typeface="Times New Roman" panose="02020603050405020304" pitchFamily="18" charset="0"/>
              </a:rPr>
              <a:t>.</a:t>
            </a:r>
          </a:p>
        </p:txBody>
      </p:sp>
    </p:spTree>
    <p:extLst>
      <p:ext uri="{BB962C8B-B14F-4D97-AF65-F5344CB8AC3E}">
        <p14:creationId xmlns:p14="http://schemas.microsoft.com/office/powerpoint/2010/main" val="3228971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4" end="4"/>
                                            </p:txEl>
                                          </p:spTgt>
                                        </p:tgtEl>
                                        <p:attrNameLst>
                                          <p:attrName>style.visibility</p:attrName>
                                        </p:attrNameLst>
                                      </p:cBhvr>
                                      <p:to>
                                        <p:strVal val="visible"/>
                                      </p:to>
                                    </p:set>
                                    <p:animEffect transition="in" filter="fade">
                                      <p:cBhvr>
                                        <p:cTn id="7" dur="1000"/>
                                        <p:tgtEl>
                                          <p:spTgt spid="11">
                                            <p:txEl>
                                              <p:pRg st="4" end="4"/>
                                            </p:txEl>
                                          </p:spTgt>
                                        </p:tgtEl>
                                      </p:cBhvr>
                                    </p:animEffect>
                                    <p:anim calcmode="lin" valueType="num">
                                      <p:cBhvr>
                                        <p:cTn id="8"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5" end="5"/>
                                            </p:txEl>
                                          </p:spTgt>
                                        </p:tgtEl>
                                        <p:attrNameLst>
                                          <p:attrName>style.visibility</p:attrName>
                                        </p:attrNameLst>
                                      </p:cBhvr>
                                      <p:to>
                                        <p:strVal val="visible"/>
                                      </p:to>
                                    </p:set>
                                    <p:animEffect transition="in" filter="fade">
                                      <p:cBhvr>
                                        <p:cTn id="14" dur="1000"/>
                                        <p:tgtEl>
                                          <p:spTgt spid="11">
                                            <p:txEl>
                                              <p:pRg st="5" end="5"/>
                                            </p:txEl>
                                          </p:spTgt>
                                        </p:tgtEl>
                                      </p:cBhvr>
                                    </p:animEffect>
                                    <p:anim calcmode="lin" valueType="num">
                                      <p:cBhvr>
                                        <p:cTn id="15"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Operations</a:t>
            </a:r>
            <a:endParaRPr lang="en-US" altLang="zh-CN" sz="2000" b="1" dirty="0">
              <a:latin typeface="Trebuchet MS" panose="020B0603020202020204" pitchFamily="34" charset="0"/>
              <a:cs typeface="Times New Roman" panose="02020603050405020304" pitchFamily="18" charset="0"/>
            </a:endParaRPr>
          </a:p>
          <a:p>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Special Elements in Binary Operations(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graphicFrame>
        <p:nvGraphicFramePr>
          <p:cNvPr id="10" name="Group 90">
            <a:extLst>
              <a:ext uri="{FF2B5EF4-FFF2-40B4-BE49-F238E27FC236}">
                <a16:creationId xmlns:a16="http://schemas.microsoft.com/office/drawing/2014/main" id="{8095A9B6-55CF-4A07-B3FD-543B2A0E47D6}"/>
              </a:ext>
            </a:extLst>
          </p:cNvPr>
          <p:cNvGraphicFramePr>
            <a:graphicFrameLocks/>
          </p:cNvGraphicFramePr>
          <p:nvPr/>
        </p:nvGraphicFramePr>
        <p:xfrm>
          <a:off x="924560" y="868731"/>
          <a:ext cx="9509760" cy="4887264"/>
        </p:xfrm>
        <a:graphic>
          <a:graphicData uri="http://schemas.openxmlformats.org/drawingml/2006/table">
            <a:tbl>
              <a:tblPr/>
              <a:tblGrid>
                <a:gridCol w="1936916">
                  <a:extLst>
                    <a:ext uri="{9D8B030D-6E8A-4147-A177-3AD203B41FA5}">
                      <a16:colId xmlns:a16="http://schemas.microsoft.com/office/drawing/2014/main" val="260324335"/>
                    </a:ext>
                  </a:extLst>
                </a:gridCol>
                <a:gridCol w="1727200">
                  <a:extLst>
                    <a:ext uri="{9D8B030D-6E8A-4147-A177-3AD203B41FA5}">
                      <a16:colId xmlns:a16="http://schemas.microsoft.com/office/drawing/2014/main" val="2187304559"/>
                    </a:ext>
                  </a:extLst>
                </a:gridCol>
                <a:gridCol w="2188044">
                  <a:extLst>
                    <a:ext uri="{9D8B030D-6E8A-4147-A177-3AD203B41FA5}">
                      <a16:colId xmlns:a16="http://schemas.microsoft.com/office/drawing/2014/main" val="1915387224"/>
                    </a:ext>
                  </a:extLst>
                </a:gridCol>
                <a:gridCol w="2021840">
                  <a:extLst>
                    <a:ext uri="{9D8B030D-6E8A-4147-A177-3AD203B41FA5}">
                      <a16:colId xmlns:a16="http://schemas.microsoft.com/office/drawing/2014/main" val="4075416189"/>
                    </a:ext>
                  </a:extLst>
                </a:gridCol>
                <a:gridCol w="1635760">
                  <a:extLst>
                    <a:ext uri="{9D8B030D-6E8A-4147-A177-3AD203B41FA5}">
                      <a16:colId xmlns:a16="http://schemas.microsoft.com/office/drawing/2014/main" val="3381560973"/>
                    </a:ext>
                  </a:extLst>
                </a:gridCol>
              </a:tblGrid>
              <a:tr h="457200">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rPr>
                        <a:t>Set</a:t>
                      </a:r>
                      <a:endPar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rPr>
                        <a:t>Operations</a:t>
                      </a:r>
                      <a:endPar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a:latin typeface="Trebuchet MS" panose="020B0603020202020204" pitchFamily="34" charset="0"/>
                        </a:rPr>
                        <a:t>identity element</a:t>
                      </a:r>
                      <a:endPar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a:latin typeface="Trebuchet MS" panose="020B0603020202020204" pitchFamily="34" charset="0"/>
                        </a:rPr>
                        <a:t>Zero element</a:t>
                      </a:r>
                      <a:endPar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en-US" sz="2000" b="1" dirty="0">
                          <a:latin typeface="Trebuchet MS" panose="020B0603020202020204" pitchFamily="34" charset="0"/>
                        </a:rPr>
                        <a:t>Inverse</a:t>
                      </a:r>
                      <a:endPar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28393102"/>
                  </a:ext>
                </a:extLst>
              </a:tr>
              <a:tr h="457200">
                <a:tc rowSpan="2">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Z,</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Q,R</a:t>
                      </a: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a:t>
                      </a: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rPr>
                        <a:t>0</a:t>
                      </a:r>
                      <a:endPar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C00000"/>
                          </a:solidFill>
                          <a:effectLst/>
                          <a:latin typeface="Trebuchet MS" panose="020B0603020202020204" pitchFamily="34" charset="0"/>
                          <a:ea typeface="宋体" panose="02010600030101010101" pitchFamily="2" charset="-122"/>
                        </a:rPr>
                        <a:t>NO</a:t>
                      </a:r>
                      <a:endParaRPr kumimoji="0" lang="zh-CN" altLang="en-US" sz="2000" b="1" i="0" u="none" strike="noStrike" cap="none" normalizeH="0" baseline="0" dirty="0">
                        <a:ln>
                          <a:noFill/>
                        </a:ln>
                        <a:solidFill>
                          <a:srgbClr val="C00000"/>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a:t>
                      </a:r>
                      <a:r>
                        <a:rPr kumimoji="0" lang="en-US" altLang="zh-CN" sz="2000" b="1" i="1" u="none" strike="noStrike" cap="none" normalizeH="0" baseline="0" dirty="0">
                          <a:ln>
                            <a:noFill/>
                          </a:ln>
                          <a:solidFill>
                            <a:srgbClr val="000000"/>
                          </a:solidFill>
                          <a:effectLst/>
                          <a:latin typeface="Trebuchet MS" panose="020B0603020202020204" pitchFamily="34" charset="0"/>
                          <a:ea typeface="宋体" panose="02010600030101010101" pitchFamily="2" charset="-122"/>
                        </a:rPr>
                        <a:t>x</a:t>
                      </a:r>
                      <a:endPar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42692649"/>
                  </a:ext>
                </a:extLst>
              </a:tr>
              <a:tr h="833438">
                <a:tc vMerge="1">
                  <a:txBody>
                    <a:bodyPr/>
                    <a:lstStyle/>
                    <a:p>
                      <a:endParaRPr lang="zh-CN" altLang="en-US"/>
                    </a:p>
                  </a:txBody>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rPr>
                        <a:t></a:t>
                      </a: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rPr>
                        <a:t>1</a:t>
                      </a:r>
                      <a:endPar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rPr>
                        <a:t>0</a:t>
                      </a:r>
                      <a:endPar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1"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x</a:t>
                      </a:r>
                      <a:r>
                        <a:rPr kumimoji="0" lang="en-US" altLang="zh-CN" sz="2000" b="1" i="0" u="none" strike="noStrike" cap="none" normalizeH="0" baseline="3000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a:t>
                      </a:r>
                      <a:r>
                        <a:rPr kumimoji="0" lang="en-US" altLang="zh-CN" sz="2000" b="1" i="0" u="none" strike="noStrike" cap="none" normalizeH="0" baseline="30000" dirty="0">
                          <a:ln>
                            <a:noFill/>
                          </a:ln>
                          <a:solidFill>
                            <a:srgbClr val="000000"/>
                          </a:solidFill>
                          <a:effectLst/>
                          <a:latin typeface="Trebuchet MS" panose="020B0603020202020204" pitchFamily="34" charset="0"/>
                          <a:ea typeface="宋体" panose="02010600030101010101" pitchFamily="2" charset="-122"/>
                        </a:rPr>
                        <a:t>1</a:t>
                      </a:r>
                      <a:endPar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63800826"/>
                  </a:ext>
                </a:extLst>
              </a:tr>
              <a:tr h="457200">
                <a:tc rowSpan="2">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M</a:t>
                      </a:r>
                      <a:r>
                        <a:rPr kumimoji="0" lang="en-US" altLang="zh-CN" sz="2000" b="1" i="1" u="none" strike="noStrike" cap="none" normalizeH="0" baseline="-30000" dirty="0">
                          <a:ln>
                            <a:noFill/>
                          </a:ln>
                          <a:solidFill>
                            <a:schemeClr val="tx1"/>
                          </a:solidFill>
                          <a:effectLst/>
                          <a:latin typeface="Trebuchet MS" panose="020B0603020202020204" pitchFamily="34" charset="0"/>
                          <a:ea typeface="宋体" panose="02010600030101010101" pitchFamily="2" charset="-122"/>
                        </a:rPr>
                        <a:t>n</a:t>
                      </a:r>
                      <a:r>
                        <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(R)</a:t>
                      </a: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a:t>
                      </a: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a:t>
                      </a:r>
                      <a:endParaRPr kumimoji="0"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C00000"/>
                          </a:solidFill>
                          <a:effectLst/>
                          <a:latin typeface="Trebuchet MS" panose="020B0603020202020204" pitchFamily="34" charset="0"/>
                          <a:ea typeface="宋体" panose="02010600030101010101" pitchFamily="2" charset="-122"/>
                        </a:rPr>
                        <a:t>NO</a:t>
                      </a:r>
                      <a:endParaRPr kumimoji="0" lang="zh-CN" altLang="en-US" sz="2000" b="1" i="0" u="none" strike="noStrike" cap="none" normalizeH="0" baseline="0" dirty="0">
                        <a:ln>
                          <a:noFill/>
                        </a:ln>
                        <a:solidFill>
                          <a:srgbClr val="C00000"/>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000" b="1" i="1" u="none" strike="noStrike" cap="none" normalizeH="0" baseline="0" dirty="0">
                          <a:ln>
                            <a:noFill/>
                          </a:ln>
                          <a:solidFill>
                            <a:srgbClr val="000000"/>
                          </a:solidFill>
                          <a:effectLst/>
                          <a:latin typeface="Trebuchet MS" panose="020B0603020202020204" pitchFamily="34" charset="0"/>
                          <a:ea typeface="宋体" panose="02010600030101010101" pitchFamily="2" charset="-122"/>
                          <a:cs typeface="Times New Roman" panose="02020603050405020304" pitchFamily="18" charset="0"/>
                        </a:rPr>
                        <a:t>X</a:t>
                      </a:r>
                      <a:endPar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683500"/>
                  </a:ext>
                </a:extLst>
              </a:tr>
              <a:tr h="822325">
                <a:tc vMerge="1">
                  <a:txBody>
                    <a:bodyPr/>
                    <a:lstStyle/>
                    <a:p>
                      <a:endParaRPr lang="zh-CN" altLang="en-US"/>
                    </a:p>
                  </a:txBody>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rPr>
                        <a:t></a:t>
                      </a: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rgbClr val="000000"/>
                          </a:solidFill>
                          <a:effectLst/>
                          <a:latin typeface="Trebuchet MS" panose="020B0603020202020204" pitchFamily="34" charset="0"/>
                          <a:ea typeface="宋体" panose="02010600030101010101" pitchFamily="2" charset="-122"/>
                        </a:rPr>
                        <a:t>E</a:t>
                      </a:r>
                      <a:endParaRPr kumimoji="0" lang="en-US" altLang="zh-CN" sz="20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a:t>
                      </a:r>
                      <a:endParaRPr kumimoji="0"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1" u="none" strike="noStrike" cap="none" normalizeH="0" baseline="0" dirty="0">
                          <a:ln>
                            <a:noFill/>
                          </a:ln>
                          <a:solidFill>
                            <a:srgbClr val="000000"/>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X</a:t>
                      </a:r>
                      <a:r>
                        <a:rPr kumimoji="0" lang="en-US" altLang="zh-CN" sz="2000" b="1" i="0" u="none" strike="noStrike" cap="none" normalizeH="0" baseline="30000" dirty="0">
                          <a:ln>
                            <a:noFill/>
                          </a:ln>
                          <a:solidFill>
                            <a:srgbClr val="000000"/>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000" b="1" i="0" u="none" strike="noStrike" cap="none" normalizeH="0" baseline="30000" dirty="0">
                          <a:ln>
                            <a:noFill/>
                          </a:ln>
                          <a:solidFill>
                            <a:srgbClr val="000000"/>
                          </a:solidFill>
                          <a:effectLst/>
                          <a:latin typeface="Trebuchet MS" panose="020B0603020202020204" pitchFamily="34"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000" b="1" i="1" u="none" strike="noStrike" cap="none" normalizeH="0" baseline="0" dirty="0">
                          <a:ln>
                            <a:noFill/>
                          </a:ln>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X </a:t>
                      </a:r>
                      <a:r>
                        <a:rPr lang="en-US" sz="2000" dirty="0">
                          <a:latin typeface="Trebuchet MS" panose="020B0603020202020204" pitchFamily="34" charset="0"/>
                        </a:rPr>
                        <a:t>is an invertible matrix</a:t>
                      </a:r>
                      <a:r>
                        <a:rPr kumimoji="0" lang="zh-CN" altLang="en-US" sz="2000" b="1" i="0" u="none" strike="noStrike" cap="none" normalizeH="0" baseline="0" dirty="0">
                          <a:ln>
                            <a:noFill/>
                          </a:ln>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99940978"/>
                  </a:ext>
                </a:extLst>
              </a:tr>
              <a:tr h="457200">
                <a:tc rowSpan="3">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P</a:t>
                      </a:r>
                      <a:r>
                        <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a:t>
                      </a:r>
                      <a:r>
                        <a:rPr kumimoji="0" lang="en-US" altLang="zh-CN" sz="2000" b="1" i="1"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B</a:t>
                      </a:r>
                      <a:r>
                        <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rPr>
                        <a:t>)</a:t>
                      </a: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rPr>
                        <a:t></a:t>
                      </a:r>
                      <a:endPar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a:t>
                      </a:r>
                      <a:endPar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a:ln>
                            <a:noFill/>
                          </a:ln>
                          <a:solidFill>
                            <a:srgbClr val="000000"/>
                          </a:solidFill>
                          <a:effectLst/>
                          <a:latin typeface="Trebuchet MS" panose="020B0603020202020204" pitchFamily="34" charset="0"/>
                          <a:ea typeface="宋体" panose="02010600030101010101" pitchFamily="2" charset="-122"/>
                        </a:rPr>
                        <a:t>B</a:t>
                      </a:r>
                      <a:endParaRPr kumimoji="0" lang="en-US" altLang="zh-CN" sz="2000" b="1" i="0" u="none" strike="noStrike" cap="none" normalizeH="0" baseline="0">
                        <a:ln>
                          <a:noFill/>
                        </a:ln>
                        <a:solidFill>
                          <a:schemeClr val="tx1"/>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endPar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06993609"/>
                  </a:ext>
                </a:extLst>
              </a:tr>
              <a:tr h="457200">
                <a:tc vMerge="1">
                  <a:txBody>
                    <a:bodyPr/>
                    <a:lstStyle/>
                    <a:p>
                      <a:endParaRPr lang="zh-CN" altLang="en-US"/>
                    </a:p>
                  </a:txBody>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rPr>
                        <a:t></a:t>
                      </a:r>
                      <a:endPar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1"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B</a:t>
                      </a:r>
                      <a:endPar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a:t>
                      </a:r>
                      <a:endPar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1" u="none" strike="noStrike" cap="none" normalizeH="0" baseline="0" dirty="0">
                          <a:ln>
                            <a:noFill/>
                          </a:ln>
                          <a:solidFill>
                            <a:srgbClr val="000000"/>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endParaRPr kumimoji="0" lang="en-US" altLang="zh-CN"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1910645"/>
                  </a:ext>
                </a:extLst>
              </a:tr>
              <a:tr h="457200">
                <a:tc vMerge="1">
                  <a:txBody>
                    <a:bodyPr/>
                    <a:lstStyle/>
                    <a:p>
                      <a:endParaRPr lang="zh-CN" altLang="en-US"/>
                    </a:p>
                  </a:txBody>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rebuchet MS" panose="020B0603020202020204" pitchFamily="34" charset="0"/>
                          <a:ea typeface="宋体" panose="02010600030101010101" pitchFamily="2" charset="-122"/>
                          <a:sym typeface="Symbol" panose="05050102010706020507" pitchFamily="18" charset="2"/>
                        </a:rPr>
                        <a:t></a:t>
                      </a: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000000"/>
                          </a:solidFill>
                          <a:effectLst/>
                          <a:latin typeface="Trebuchet MS" panose="020B0603020202020204" pitchFamily="34" charset="0"/>
                          <a:ea typeface="宋体" panose="02010600030101010101" pitchFamily="2" charset="-122"/>
                          <a:sym typeface="Symbol" panose="05050102010706020507" pitchFamily="18" charset="2"/>
                        </a:rPr>
                        <a:t></a:t>
                      </a: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C00000"/>
                          </a:solidFill>
                          <a:effectLst/>
                          <a:latin typeface="Trebuchet MS" panose="020B0603020202020204" pitchFamily="34" charset="0"/>
                          <a:ea typeface="宋体" panose="02010600030101010101" pitchFamily="2" charset="-122"/>
                        </a:rPr>
                        <a:t>NO</a:t>
                      </a:r>
                      <a:endParaRPr kumimoji="0" lang="zh-CN" altLang="en-US" sz="2000" b="1" i="0" u="none" strike="noStrike" cap="none" normalizeH="0" baseline="0" dirty="0">
                        <a:ln>
                          <a:noFill/>
                        </a:ln>
                        <a:solidFill>
                          <a:srgbClr val="C00000"/>
                        </a:solidFill>
                        <a:effectLst/>
                        <a:latin typeface="Trebuchet MS" panose="020B0603020202020204" pitchFamily="34" charset="0"/>
                        <a:ea typeface="宋体" panose="02010600030101010101" pitchFamily="2" charset="-122"/>
                      </a:endParaRPr>
                    </a:p>
                  </a:txBody>
                  <a:tcPr marT="45713" marB="457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1" u="none" strike="noStrike" cap="none" normalizeH="0" baseline="0" dirty="0">
                          <a:ln>
                            <a:noFill/>
                          </a:ln>
                          <a:solidFill>
                            <a:srgbClr val="000000"/>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X</a:t>
                      </a:r>
                      <a:endParaRPr kumimoji="0" lang="en-US" altLang="zh-CN" sz="2000" b="1" i="0" u="none" strike="noStrike" cap="none" normalizeH="0" baseline="0" dirty="0">
                        <a:ln>
                          <a:noFill/>
                        </a:ln>
                        <a:solidFill>
                          <a:srgbClr val="000000"/>
                        </a:solidFill>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a:txBody>
                  <a:tcPr marT="45713" marB="4571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55443849"/>
                  </a:ext>
                </a:extLst>
              </a:tr>
            </a:tbl>
          </a:graphicData>
        </a:graphic>
      </p:graphicFrame>
    </p:spTree>
    <p:extLst>
      <p:ext uri="{BB962C8B-B14F-4D97-AF65-F5344CB8AC3E}">
        <p14:creationId xmlns:p14="http://schemas.microsoft.com/office/powerpoint/2010/main" val="25799999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Operations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Special Elements in Binary Operations(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00125" y="941326"/>
            <a:ext cx="9862457" cy="41119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Membership of the </a:t>
            </a:r>
            <a:r>
              <a:rPr lang="en-US" sz="2400" b="1" i="1" dirty="0">
                <a:solidFill>
                  <a:srgbClr val="0B61FF"/>
                </a:solidFill>
                <a:latin typeface="Trebuchet MS" panose="020B0603020202020204" pitchFamily="34" charset="0"/>
              </a:rPr>
              <a:t>Multiplicative Inverse </a:t>
            </a:r>
            <a:r>
              <a:rPr kumimoji="0" lang="en-US" altLang="zh-CN" sz="2400" b="1" i="1" u="none" strike="noStrike" cap="none" normalizeH="0" baseline="0" dirty="0">
                <a:ln>
                  <a:noFill/>
                </a:ln>
                <a:solidFill>
                  <a:srgbClr val="FF0000"/>
                </a:solidFill>
                <a:effectLst/>
                <a:latin typeface="Trebuchet MS" panose="020B0603020202020204" pitchFamily="34" charset="0"/>
                <a:ea typeface="宋体" panose="02010600030101010101" pitchFamily="2" charset="-122"/>
                <a:sym typeface="Symbol" panose="05050102010706020507" pitchFamily="18" charset="2"/>
              </a:rPr>
              <a:t>x</a:t>
            </a:r>
            <a:r>
              <a:rPr kumimoji="0" lang="en-US" altLang="zh-CN" sz="2400" b="1" i="0" u="none" strike="noStrike" cap="none" normalizeH="0" baseline="30000" dirty="0">
                <a:ln>
                  <a:noFill/>
                </a:ln>
                <a:solidFill>
                  <a:srgbClr val="FF0000"/>
                </a:solidFill>
                <a:effectLst/>
                <a:latin typeface="Trebuchet MS" panose="020B0603020202020204" pitchFamily="34" charset="0"/>
                <a:ea typeface="宋体" panose="02010600030101010101" pitchFamily="2" charset="-122"/>
                <a:sym typeface="Symbol" panose="05050102010706020507" pitchFamily="18" charset="2"/>
              </a:rPr>
              <a:t>-1</a:t>
            </a:r>
            <a:r>
              <a:rPr lang="en-US" sz="2400" b="1" dirty="0">
                <a:latin typeface="Trebuchet MS" panose="020B0603020202020204" pitchFamily="34" charset="0"/>
              </a:rPr>
              <a:t>:</a:t>
            </a:r>
          </a:p>
          <a:p>
            <a:pPr marL="447675" indent="-184150">
              <a:lnSpc>
                <a:spcPct val="120000"/>
              </a:lnSpc>
              <a:spcBef>
                <a:spcPts val="600"/>
              </a:spcBef>
              <a:buClr>
                <a:srgbClr val="0B61FF"/>
              </a:buClr>
              <a:buSzPct val="120000"/>
              <a:buFont typeface="Arial" panose="020B0604020202020204" pitchFamily="34" charset="0"/>
              <a:buChar char="•"/>
              <a:tabLst>
                <a:tab pos="263525" algn="l"/>
              </a:tabLst>
            </a:pPr>
            <a:r>
              <a:rPr lang="en-US" sz="2400" dirty="0">
                <a:latin typeface="Trebuchet MS" panose="020B0603020202020204" pitchFamily="34" charset="0"/>
              </a:rPr>
              <a:t>In the set of integers </a:t>
            </a:r>
            <a:r>
              <a:rPr lang="en-US" altLang="zh-CN" sz="2400" b="1" dirty="0">
                <a:latin typeface="Trebuchet MS" panose="020B0603020202020204" pitchFamily="34" charset="0"/>
                <a:ea typeface="宋体" panose="02010600030101010101" pitchFamily="2" charset="-122"/>
              </a:rPr>
              <a:t>Z</a:t>
            </a:r>
            <a:r>
              <a:rPr lang="en-US" sz="2400" dirty="0">
                <a:latin typeface="Trebuchet MS" panose="020B0603020202020204" pitchFamily="34" charset="0"/>
              </a:rPr>
              <a:t>, </a:t>
            </a:r>
            <a:r>
              <a:rPr lang="en-US" sz="2400" b="1" i="1" dirty="0">
                <a:solidFill>
                  <a:srgbClr val="0B61FF"/>
                </a:solidFill>
                <a:latin typeface="Trebuchet MS" panose="020B0603020202020204" pitchFamily="34" charset="0"/>
              </a:rPr>
              <a:t>only 1 and −1 have multiplicative inverses within </a:t>
            </a:r>
            <a:r>
              <a:rPr lang="en-US" altLang="zh-CN" sz="2400" b="1" i="1" dirty="0">
                <a:solidFill>
                  <a:srgbClr val="0B61FF"/>
                </a:solidFill>
                <a:latin typeface="Trebuchet MS" panose="020B0603020202020204" pitchFamily="34" charset="0"/>
                <a:ea typeface="宋体" panose="02010600030101010101" pitchFamily="2" charset="-122"/>
              </a:rPr>
              <a:t>Z</a:t>
            </a:r>
            <a:r>
              <a:rPr lang="en-US" sz="2400" dirty="0">
                <a:latin typeface="Trebuchet MS" panose="020B0603020202020204" pitchFamily="34" charset="0"/>
              </a:rPr>
              <a:t>, the multiplicative inverses of all other integers do </a:t>
            </a:r>
            <a:r>
              <a:rPr lang="en-US" sz="2400" b="1" dirty="0">
                <a:latin typeface="Trebuchet MS" panose="020B0603020202020204" pitchFamily="34" charset="0"/>
              </a:rPr>
              <a:t>not</a:t>
            </a:r>
            <a:r>
              <a:rPr lang="en-US" sz="2400" dirty="0">
                <a:latin typeface="Trebuchet MS" panose="020B0603020202020204" pitchFamily="34" charset="0"/>
              </a:rPr>
              <a:t> belong to </a:t>
            </a:r>
            <a:r>
              <a:rPr lang="en-US" altLang="zh-CN" sz="2400" b="1" dirty="0">
                <a:latin typeface="Trebuchet MS" panose="020B0603020202020204" pitchFamily="34" charset="0"/>
                <a:ea typeface="宋体" panose="02010600030101010101" pitchFamily="2" charset="-122"/>
              </a:rPr>
              <a:t>Z</a:t>
            </a:r>
            <a:r>
              <a:rPr lang="en-US" sz="2400" dirty="0">
                <a:latin typeface="Trebuchet MS" panose="020B0603020202020204" pitchFamily="34" charset="0"/>
              </a:rPr>
              <a:t>.</a:t>
            </a:r>
          </a:p>
          <a:p>
            <a:pPr marL="447675" indent="-184150">
              <a:lnSpc>
                <a:spcPct val="120000"/>
              </a:lnSpc>
              <a:spcBef>
                <a:spcPts val="600"/>
              </a:spcBef>
              <a:buClr>
                <a:srgbClr val="0B61FF"/>
              </a:buClr>
              <a:buSzPct val="120000"/>
              <a:buFont typeface="Arial" panose="020B0604020202020204" pitchFamily="34" charset="0"/>
              <a:buChar char="•"/>
              <a:tabLst>
                <a:tab pos="263525" algn="l"/>
              </a:tabLst>
            </a:pPr>
            <a:r>
              <a:rPr lang="en-US" sz="2400" dirty="0">
                <a:latin typeface="Trebuchet MS" panose="020B0603020202020204" pitchFamily="34" charset="0"/>
              </a:rPr>
              <a:t>In the set of rational numbers </a:t>
            </a:r>
            <a:r>
              <a:rPr lang="en-US" altLang="zh-CN" sz="2400" b="1" dirty="0">
                <a:solidFill>
                  <a:schemeClr val="tx1"/>
                </a:solidFill>
                <a:latin typeface="Trebuchet MS" panose="020B0603020202020204" pitchFamily="34" charset="0"/>
                <a:ea typeface="宋体" panose="02010600030101010101" pitchFamily="2" charset="-122"/>
              </a:rPr>
              <a:t>Q</a:t>
            </a:r>
            <a:r>
              <a:rPr lang="zh-CN" altLang="en-US" sz="2400" b="1" dirty="0">
                <a:solidFill>
                  <a:schemeClr val="tx1"/>
                </a:solidFill>
                <a:latin typeface="Trebuchet MS" panose="020B0603020202020204" pitchFamily="34" charset="0"/>
                <a:ea typeface="宋体" panose="02010600030101010101" pitchFamily="2" charset="-122"/>
              </a:rPr>
              <a:t>， </a:t>
            </a:r>
            <a:r>
              <a:rPr lang="en-US" sz="2400" b="1" i="1" dirty="0">
                <a:solidFill>
                  <a:srgbClr val="0B61FF"/>
                </a:solidFill>
                <a:latin typeface="Trebuchet MS" panose="020B0603020202020204" pitchFamily="34" charset="0"/>
              </a:rPr>
              <a:t>all nonzero elements have multiplicative inverses</a:t>
            </a:r>
            <a:r>
              <a:rPr lang="en-US" sz="2400" dirty="0">
                <a:latin typeface="Trebuchet MS" panose="020B0603020202020204" pitchFamily="34" charset="0"/>
              </a:rPr>
              <a:t>, and these inverses also belong to </a:t>
            </a:r>
            <a:r>
              <a:rPr lang="en-US" altLang="zh-CN" sz="2400" b="1" dirty="0">
                <a:solidFill>
                  <a:schemeClr val="tx1"/>
                </a:solidFill>
                <a:latin typeface="Trebuchet MS" panose="020B0603020202020204" pitchFamily="34" charset="0"/>
                <a:ea typeface="宋体" panose="02010600030101010101" pitchFamily="2" charset="-122"/>
              </a:rPr>
              <a:t>Q</a:t>
            </a:r>
            <a:r>
              <a:rPr lang="en-US" sz="2400" dirty="0">
                <a:latin typeface="Trebuchet MS" panose="020B0603020202020204" pitchFamily="34" charset="0"/>
              </a:rPr>
              <a:t>.</a:t>
            </a:r>
          </a:p>
          <a:p>
            <a:pPr marL="447675" indent="-184150">
              <a:lnSpc>
                <a:spcPct val="120000"/>
              </a:lnSpc>
              <a:spcBef>
                <a:spcPts val="600"/>
              </a:spcBef>
              <a:buClr>
                <a:srgbClr val="0B61FF"/>
              </a:buClr>
              <a:buSzPct val="120000"/>
              <a:buFont typeface="Arial" panose="020B0604020202020204" pitchFamily="34" charset="0"/>
              <a:buChar char="•"/>
              <a:tabLst>
                <a:tab pos="263525" algn="l"/>
              </a:tabLst>
            </a:pPr>
            <a:r>
              <a:rPr lang="en-US" sz="2400" dirty="0">
                <a:latin typeface="Trebuchet MS" panose="020B0603020202020204" pitchFamily="34" charset="0"/>
              </a:rPr>
              <a:t>In the set of real numbers </a:t>
            </a:r>
            <a:r>
              <a:rPr lang="en-US" altLang="zh-CN" sz="2400" b="1" dirty="0">
                <a:solidFill>
                  <a:schemeClr val="tx1"/>
                </a:solidFill>
                <a:latin typeface="Trebuchet MS" panose="020B0603020202020204" pitchFamily="34" charset="0"/>
                <a:ea typeface="宋体" panose="02010600030101010101" pitchFamily="2" charset="-122"/>
              </a:rPr>
              <a:t>R</a:t>
            </a:r>
            <a:r>
              <a:rPr lang="en-US" sz="2400" dirty="0">
                <a:latin typeface="Trebuchet MS" panose="020B0603020202020204" pitchFamily="34" charset="0"/>
              </a:rPr>
              <a:t>, </a:t>
            </a:r>
            <a:r>
              <a:rPr lang="en-US" sz="2400" b="1" i="1" dirty="0">
                <a:solidFill>
                  <a:srgbClr val="0B61FF"/>
                </a:solidFill>
                <a:latin typeface="Trebuchet MS" panose="020B0603020202020204" pitchFamily="34" charset="0"/>
              </a:rPr>
              <a:t>all nonzero elements have multiplicative inverses</a:t>
            </a:r>
            <a:r>
              <a:rPr lang="en-US" sz="2400" dirty="0">
                <a:latin typeface="Trebuchet MS" panose="020B0603020202020204" pitchFamily="34" charset="0"/>
              </a:rPr>
              <a:t>, and these inverses also belong to </a:t>
            </a:r>
            <a:r>
              <a:rPr lang="en-US" altLang="zh-CN" sz="2400" b="1" dirty="0">
                <a:solidFill>
                  <a:schemeClr val="tx1"/>
                </a:solidFill>
                <a:latin typeface="Trebuchet MS" panose="020B0603020202020204" pitchFamily="34" charset="0"/>
                <a:ea typeface="宋体" panose="02010600030101010101" pitchFamily="2" charset="-122"/>
              </a:rPr>
              <a:t>R</a:t>
            </a:r>
            <a:r>
              <a:rPr lang="en-US" sz="2400" dirty="0">
                <a:latin typeface="Trebuchet MS" panose="020B0603020202020204" pitchFamily="34" charset="0"/>
              </a:rPr>
              <a:t>.</a:t>
            </a:r>
          </a:p>
          <a:p>
            <a:pPr marL="0" indent="0">
              <a:lnSpc>
                <a:spcPct val="120000"/>
              </a:lnSpc>
              <a:spcBef>
                <a:spcPts val="600"/>
              </a:spcBef>
              <a:buNone/>
            </a:pPr>
            <a:endParaRPr lang="zh-CN" altLang="en-US" sz="2400" b="1" dirty="0">
              <a:solidFill>
                <a:schemeClr val="tx1"/>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17955021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3" end="3"/>
                                            </p:txEl>
                                          </p:spTgt>
                                        </p:tgtEl>
                                        <p:attrNameLst>
                                          <p:attrName>style.visibility</p:attrName>
                                        </p:attrNameLst>
                                      </p:cBhvr>
                                      <p:to>
                                        <p:strVal val="visible"/>
                                      </p:to>
                                    </p:set>
                                    <p:animEffect transition="in" filter="fade">
                                      <p:cBhvr>
                                        <p:cTn id="14" dur="1000"/>
                                        <p:tgtEl>
                                          <p:spTgt spid="9">
                                            <p:txEl>
                                              <p:pRg st="3" end="3"/>
                                            </p:txEl>
                                          </p:spTgt>
                                        </p:tgtEl>
                                      </p:cBhvr>
                                    </p:animEffect>
                                    <p:anim calcmode="lin" valueType="num">
                                      <p:cBhvr>
                                        <p:cTn id="1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Operations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Uniqueness of the Identity Element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1" name="Text Box 3">
            <a:extLst>
              <a:ext uri="{FF2B5EF4-FFF2-40B4-BE49-F238E27FC236}">
                <a16:creationId xmlns:a16="http://schemas.microsoft.com/office/drawing/2014/main" id="{84A9042C-E644-43FE-8CFB-008FB52B2520}"/>
              </a:ext>
            </a:extLst>
          </p:cNvPr>
          <p:cNvSpPr txBox="1">
            <a:spLocks noChangeArrowheads="1"/>
          </p:cNvSpPr>
          <p:nvPr/>
        </p:nvSpPr>
        <p:spPr bwMode="auto">
          <a:xfrm>
            <a:off x="912402" y="735531"/>
            <a:ext cx="10385517" cy="5795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marL="263525" indent="-263525">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Theorem 9.1: </a:t>
            </a:r>
            <a:r>
              <a:rPr lang="en-US" sz="2400" dirty="0">
                <a:latin typeface="Trebuchet MS" panose="020B0603020202020204" pitchFamily="34" charset="0"/>
              </a:rPr>
              <a:t>Let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zh-CN" altLang="en-US"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be a binary operation on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sz="2400" dirty="0">
                <a:latin typeface="Trebuchet MS" panose="020B0603020202020204" pitchFamily="34" charset="0"/>
              </a:rPr>
              <a:t>. If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l</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and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 </a:t>
            </a:r>
            <a:r>
              <a:rPr lang="en-US" sz="2400" dirty="0">
                <a:latin typeface="Trebuchet MS" panose="020B0603020202020204" pitchFamily="34" charset="0"/>
              </a:rPr>
              <a:t>are the left identity and right identity elements of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sz="2400" dirty="0">
                <a:latin typeface="Trebuchet MS" panose="020B0603020202020204" pitchFamily="34" charset="0"/>
              </a:rPr>
              <a:t> with respect to </a:t>
            </a:r>
            <a:r>
              <a:rPr lang="zh-CN" altLang="en-US"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sz="2400" dirty="0">
                <a:latin typeface="Trebuchet MS" panose="020B0603020202020204" pitchFamily="34" charset="0"/>
              </a:rPr>
              <a:t>, respectively, then we have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l</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sz="2400" dirty="0">
                <a:latin typeface="Trebuchet MS" panose="020B0603020202020204" pitchFamily="34" charset="0"/>
              </a:rPr>
              <a:t>, and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 </a:t>
            </a:r>
            <a:r>
              <a:rPr lang="en-US" sz="2400" dirty="0">
                <a:latin typeface="Trebuchet MS" panose="020B0603020202020204" pitchFamily="34" charset="0"/>
              </a:rPr>
              <a:t> is the </a:t>
            </a:r>
            <a:r>
              <a:rPr lang="en-US" sz="2400" b="1" i="1" dirty="0">
                <a:solidFill>
                  <a:srgbClr val="0B61FF"/>
                </a:solidFill>
                <a:latin typeface="Trebuchet MS" panose="020B0603020202020204" pitchFamily="34" charset="0"/>
              </a:rPr>
              <a:t>unique identity element</a:t>
            </a:r>
            <a:r>
              <a:rPr lang="en-US" sz="2400" dirty="0">
                <a:latin typeface="Trebuchet MS" panose="020B0603020202020204" pitchFamily="34" charset="0"/>
              </a:rPr>
              <a:t> of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 </a:t>
            </a:r>
            <a:r>
              <a:rPr lang="en-US" sz="2400" dirty="0">
                <a:latin typeface="Trebuchet MS" panose="020B0603020202020204" pitchFamily="34" charset="0"/>
              </a:rPr>
              <a:t> under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 </a:t>
            </a:r>
          </a:p>
          <a:p>
            <a:pPr marL="263525" indent="-263525">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Proof:</a:t>
            </a:r>
          </a:p>
          <a:p>
            <a:pPr marL="538163" indent="-274638">
              <a:lnSpc>
                <a:spcPct val="120000"/>
              </a:lnSpc>
              <a:buClr>
                <a:srgbClr val="0B61FF"/>
              </a:buClr>
              <a:buSzPct val="80000"/>
            </a:pPr>
            <a:r>
              <a:rPr lang="en-US" sz="2400" b="1" dirty="0">
                <a:solidFill>
                  <a:srgbClr val="0B61FF"/>
                </a:solidFill>
                <a:latin typeface="宋体" panose="02010600030101010101" pitchFamily="2" charset="-122"/>
                <a:ea typeface="宋体" panose="02010600030101010101" pitchFamily="2" charset="-122"/>
              </a:rPr>
              <a:t>①</a:t>
            </a:r>
            <a:r>
              <a:rPr lang="en-US" sz="2400" dirty="0">
                <a:latin typeface="Trebuchet MS" panose="020B0603020202020204" pitchFamily="34" charset="0"/>
              </a:rPr>
              <a:t>By the definition of the left identity, we have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 </a:t>
            </a:r>
            <a:r>
              <a:rPr lang="en-US" altLang="zh-CN" sz="2400" b="1" kern="100" dirty="0">
                <a:effectLst/>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 </a:t>
            </a:r>
            <a:r>
              <a:rPr lang="en-US" altLang="zh-CN" sz="2400" b="1" kern="100" dirty="0">
                <a:effectLst/>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kern="100" dirty="0">
                <a:effectLst/>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By the definition of the right identity, we have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 </a:t>
            </a:r>
            <a:r>
              <a:rPr lang="en-US" altLang="zh-CN" sz="2400" b="1" kern="100" dirty="0">
                <a:effectLst/>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 </a:t>
            </a:r>
            <a:r>
              <a:rPr lang="en-US" altLang="zh-CN" sz="2400" b="1" kern="100" dirty="0">
                <a:effectLst/>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a:t>
            </a:r>
            <a:r>
              <a:rPr lang="en-US" altLang="zh-CN" sz="2400" b="1" kern="100" dirty="0">
                <a:effectLst/>
                <a:latin typeface="Trebuchet MS" panose="020B0603020202020204" pitchFamily="34" charset="0"/>
                <a:cs typeface="Times New Roman" panose="02020603050405020304" pitchFamily="18" charset="0"/>
              </a:rPr>
              <a:t>.</a:t>
            </a:r>
          </a:p>
          <a:p>
            <a:pPr marL="538163" indent="-274638">
              <a:lnSpc>
                <a:spcPct val="120000"/>
              </a:lnSpc>
              <a:buClr>
                <a:srgbClr val="0B61FF"/>
              </a:buClr>
              <a:buSzPct val="80000"/>
            </a:pPr>
            <a:r>
              <a:rPr lang="en-US" altLang="zh-CN" sz="2400" b="1" dirty="0">
                <a:solidFill>
                  <a:srgbClr val="0B61FF"/>
                </a:solidFill>
                <a:latin typeface="宋体" panose="02010600030101010101" pitchFamily="2" charset="-122"/>
                <a:ea typeface="宋体" panose="02010600030101010101" pitchFamily="2" charset="-122"/>
              </a:rPr>
              <a:t>②</a:t>
            </a:r>
            <a:r>
              <a:rPr lang="en-US" sz="2400" dirty="0">
                <a:latin typeface="Trebuchet MS" panose="020B0603020202020204" pitchFamily="34" charset="0"/>
              </a:rPr>
              <a:t>Combining these two equations, we get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 </a:t>
            </a:r>
            <a:r>
              <a:rPr lang="en-US" altLang="zh-CN" sz="2400" b="1" kern="100" dirty="0">
                <a:effectLst/>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 </a:t>
            </a:r>
            <a:r>
              <a:rPr lang="en-US" altLang="zh-CN" sz="2400" b="1" kern="100" dirty="0">
                <a:effectLst/>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 </a:t>
            </a:r>
            <a:r>
              <a:rPr lang="en-US" altLang="zh-CN" sz="2400" b="1" kern="100" dirty="0">
                <a:effectLst/>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kern="100" dirty="0">
                <a:effectLst/>
                <a:latin typeface="Trebuchet MS" panose="020B0603020202020204" pitchFamily="34" charset="0"/>
                <a:cs typeface="Times New Roman" panose="02020603050405020304" pitchFamily="18" charset="0"/>
              </a:rPr>
              <a:t>.</a:t>
            </a:r>
          </a:p>
          <a:p>
            <a:pPr marL="538163" indent="-274638">
              <a:lnSpc>
                <a:spcPct val="120000"/>
              </a:lnSpc>
              <a:buClr>
                <a:srgbClr val="0B61FF"/>
              </a:buClr>
              <a:buSzPct val="80000"/>
            </a:pPr>
            <a:r>
              <a:rPr lang="en-US" altLang="zh-CN" sz="2400" b="1" kern="100"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③</a:t>
            </a:r>
            <a:r>
              <a:rPr lang="pt-BR" sz="2400" dirty="0">
                <a:latin typeface="Trebuchet MS" panose="020B0603020202020204" pitchFamily="34" charset="0"/>
              </a:rPr>
              <a:t>We denote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l</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as</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Now, suppose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 </a:t>
            </a:r>
            <a:r>
              <a:rPr lang="en-US" sz="2400" dirty="0">
                <a:latin typeface="Trebuchet MS" panose="020B0603020202020204" pitchFamily="34" charset="0"/>
              </a:rPr>
              <a:t>is also an identity element of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sz="2400" dirty="0">
                <a:latin typeface="Trebuchet MS" panose="020B0603020202020204" pitchFamily="34" charset="0"/>
              </a:rPr>
              <a:t>then</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 </a:t>
            </a:r>
            <a:r>
              <a:rPr lang="zh-CN" altLang="en-US"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p>
          <a:p>
            <a:pPr marL="538163" indent="-274638">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④</a:t>
            </a:r>
            <a:r>
              <a:rPr lang="en-US" sz="2400" dirty="0">
                <a:latin typeface="Trebuchet MS" panose="020B0603020202020204" pitchFamily="34" charset="0"/>
              </a:rPr>
              <a:t>Therefore, the identity element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 </a:t>
            </a:r>
            <a:r>
              <a:rPr lang="en-US" sz="2400" dirty="0">
                <a:latin typeface="Trebuchet MS" panose="020B0603020202020204" pitchFamily="34" charset="0"/>
              </a:rPr>
              <a:t>is unique</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p>
          <a:p>
            <a:pPr marL="342900" indent="-342900">
              <a:lnSpc>
                <a:spcPct val="120000"/>
              </a:lnSpc>
              <a:buClr>
                <a:srgbClr val="0B61FF"/>
              </a:buClr>
              <a:buSzPct val="80000"/>
              <a:buFont typeface="Wingdings" panose="05000000000000000000" pitchFamily="2" charset="2"/>
              <a:buChar char="n"/>
            </a:pPr>
            <a:r>
              <a:rPr lang="en-US" sz="2400" dirty="0">
                <a:latin typeface="Trebuchet MS" panose="020B0603020202020204" pitchFamily="34" charset="0"/>
              </a:rPr>
              <a:t>Similarly, one can prove the </a:t>
            </a:r>
            <a:r>
              <a:rPr lang="en-US" sz="2400" b="1" i="1" dirty="0">
                <a:solidFill>
                  <a:srgbClr val="0B61FF"/>
                </a:solidFill>
                <a:latin typeface="Trebuchet MS" panose="020B0603020202020204" pitchFamily="34" charset="0"/>
              </a:rPr>
              <a:t>uniqueness theorem for the zero element</a:t>
            </a:r>
            <a:r>
              <a:rPr lang="en-US" sz="2400" dirty="0">
                <a:latin typeface="Trebuchet MS" panose="020B0603020202020204" pitchFamily="34" charset="0"/>
              </a:rPr>
              <a:t>.</a:t>
            </a:r>
          </a:p>
        </p:txBody>
      </p:sp>
    </p:spTree>
    <p:extLst>
      <p:ext uri="{BB962C8B-B14F-4D97-AF65-F5344CB8AC3E}">
        <p14:creationId xmlns:p14="http://schemas.microsoft.com/office/powerpoint/2010/main" val="8915264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Operations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Uniqueness of the Identity Element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0" name="Text Box 3">
            <a:extLst>
              <a:ext uri="{FF2B5EF4-FFF2-40B4-BE49-F238E27FC236}">
                <a16:creationId xmlns:a16="http://schemas.microsoft.com/office/drawing/2014/main" id="{6266154E-F167-4389-A46E-63618905DE24}"/>
              </a:ext>
            </a:extLst>
          </p:cNvPr>
          <p:cNvSpPr txBox="1">
            <a:spLocks noChangeArrowheads="1"/>
          </p:cNvSpPr>
          <p:nvPr/>
        </p:nvSpPr>
        <p:spPr bwMode="auto">
          <a:xfrm>
            <a:off x="786580" y="771434"/>
            <a:ext cx="10320932" cy="551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63525" indent="-263525">
              <a:lnSpc>
                <a:spcPct val="114000"/>
              </a:lnSpc>
              <a:buClr>
                <a:srgbClr val="0B61FF"/>
              </a:buClr>
              <a:buSzPct val="80000"/>
              <a:buFont typeface="Wingdings" panose="05000000000000000000" pitchFamily="2" charset="2"/>
              <a:buChar char="n"/>
            </a:pPr>
            <a:r>
              <a:rPr lang="en-US" sz="2400" b="1" dirty="0">
                <a:latin typeface="Trebuchet MS" panose="020B0603020202020204" pitchFamily="34" charset="0"/>
              </a:rPr>
              <a:t>Theorem </a:t>
            </a:r>
            <a:r>
              <a:rPr lang="en-US" altLang="zh-CN" sz="2400" b="1" dirty="0">
                <a:latin typeface="Trebuchet MS" panose="020B0603020202020204" pitchFamily="34" charset="0"/>
                <a:ea typeface="宋体" panose="02010600030101010101" pitchFamily="2" charset="-122"/>
              </a:rPr>
              <a:t>9.2: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Let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be an associative binary operation on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and let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 </a:t>
            </a:r>
            <a:r>
              <a:rPr lang="en-US" sz="2400" dirty="0">
                <a:latin typeface="Trebuchet MS" panose="020B0603020202020204" pitchFamily="34" charset="0"/>
              </a:rPr>
              <a:t>be the identity element under this operation</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For any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 </a:t>
            </a:r>
            <a:r>
              <a:rPr lang="en-US" sz="2400" dirty="0">
                <a:latin typeface="Trebuchet MS" panose="020B0603020202020204" pitchFamily="34" charset="0"/>
              </a:rPr>
              <a:t>if there exists a left inverse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l  </a:t>
            </a:r>
            <a:r>
              <a:rPr lang="en-US" sz="2400" dirty="0">
                <a:latin typeface="Trebuchet MS" panose="020B0603020202020204" pitchFamily="34" charset="0"/>
              </a:rPr>
              <a:t>and a right inverse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r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then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l</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and </a:t>
            </a:r>
            <a:r>
              <a:rPr lang="en-US" sz="2400" b="1" dirty="0">
                <a:latin typeface="Trebuchet MS" panose="020B0603020202020204" pitchFamily="34" charset="0"/>
              </a:rPr>
              <a:t>y</a:t>
            </a:r>
            <a:r>
              <a:rPr lang="en-US" sz="2400" dirty="0">
                <a:latin typeface="Trebuchet MS" panose="020B0603020202020204" pitchFamily="34" charset="0"/>
              </a:rPr>
              <a:t> is the </a:t>
            </a:r>
            <a:r>
              <a:rPr lang="en-US" sz="2400" b="1" i="1" dirty="0">
                <a:solidFill>
                  <a:srgbClr val="0B61FF"/>
                </a:solidFill>
                <a:latin typeface="Trebuchet MS" panose="020B0603020202020204" pitchFamily="34" charset="0"/>
              </a:rPr>
              <a:t>unique inverse </a:t>
            </a:r>
            <a:r>
              <a:rPr lang="en-US" sz="2400" dirty="0">
                <a:latin typeface="Trebuchet MS" panose="020B0603020202020204" pitchFamily="34" charset="0"/>
              </a:rPr>
              <a:t>of </a:t>
            </a:r>
            <a:r>
              <a:rPr lang="en-US" sz="2400" b="1" i="1" dirty="0">
                <a:latin typeface="Trebuchet MS" panose="020B0603020202020204" pitchFamily="34" charset="0"/>
              </a:rPr>
              <a:t>x</a:t>
            </a:r>
            <a:r>
              <a:rPr lang="en-US" sz="2400" dirty="0">
                <a:latin typeface="Trebuchet MS" panose="020B0603020202020204" pitchFamily="34"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p>
          <a:p>
            <a:pPr marL="263525" indent="-263525">
              <a:lnSpc>
                <a:spcPct val="114000"/>
              </a:lnSpc>
              <a:buClr>
                <a:srgbClr val="0B61FF"/>
              </a:buClr>
              <a:buSzPct val="80000"/>
              <a:buFont typeface="Wingdings" panose="05000000000000000000" pitchFamily="2" charset="2"/>
              <a:buChar char="n"/>
            </a:pPr>
            <a:r>
              <a:rPr lang="en-US" sz="2400" b="1" dirty="0">
                <a:latin typeface="Trebuchet MS" panose="020B0603020202020204" pitchFamily="34" charset="0"/>
              </a:rPr>
              <a:t>Proof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endParaRPr lang="en-US" altLang="zh-CN" sz="2400" b="1" dirty="0">
              <a:latin typeface="Trebuchet MS" panose="020B0603020202020204" pitchFamily="34" charset="0"/>
              <a:ea typeface="宋体" panose="02010600030101010101" pitchFamily="2" charset="-122"/>
              <a:cs typeface="Times New Roman" panose="02020603050405020304" pitchFamily="18" charset="0"/>
            </a:endParaRPr>
          </a:p>
          <a:p>
            <a:pPr marL="630238" indent="-366713">
              <a:lnSpc>
                <a:spcPct val="114000"/>
              </a:lnSpc>
              <a:buClr>
                <a:srgbClr val="0B61FF"/>
              </a:buClr>
              <a:buSzPct val="80000"/>
            </a:pPr>
            <a:r>
              <a:rPr lang="zh-CN"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①</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Since</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l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and</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zh-CN" altLang="en-US" sz="2400"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we</a:t>
            </a:r>
            <a:r>
              <a:rPr lang="zh-CN" altLang="en-US" sz="24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have</a:t>
            </a:r>
            <a:r>
              <a:rPr lang="zh-CN" altLang="en-US"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l</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l</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l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zh-CN" altLang="en-US" sz="2400"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l</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zh-CN" altLang="en-US" sz="2400"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r .</a:t>
            </a:r>
          </a:p>
          <a:p>
            <a:pPr marL="630238" indent="-366713">
              <a:lnSpc>
                <a:spcPct val="114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② </a:t>
            </a:r>
            <a:r>
              <a:rPr lang="en-US" sz="2400" dirty="0">
                <a:latin typeface="Trebuchet MS" panose="020B0603020202020204" pitchFamily="34" charset="0"/>
              </a:rPr>
              <a:t>Let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l</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then </a:t>
            </a:r>
            <a:r>
              <a:rPr lang="en-US" sz="2400" b="1" i="1" dirty="0">
                <a:latin typeface="Trebuchet MS" panose="020B0603020202020204" pitchFamily="34" charset="0"/>
              </a:rPr>
              <a:t>y</a:t>
            </a:r>
            <a:r>
              <a:rPr lang="en-US" sz="2400" dirty="0">
                <a:latin typeface="Trebuchet MS" panose="020B0603020202020204" pitchFamily="34" charset="0"/>
              </a:rPr>
              <a:t> is an inverse of </a:t>
            </a:r>
            <a:r>
              <a:rPr lang="en-US" sz="2400" b="1" i="1" dirty="0">
                <a:latin typeface="Trebuchet MS" panose="020B0603020202020204" pitchFamily="34" charset="0"/>
              </a:rPr>
              <a:t>x</a:t>
            </a:r>
            <a:r>
              <a:rPr lang="en-US" sz="2400" dirty="0">
                <a:latin typeface="Trebuchet MS" panose="020B0603020202020204" pitchFamily="34" charset="0"/>
              </a:rPr>
              <a:t>.</a:t>
            </a:r>
          </a:p>
          <a:p>
            <a:pPr marL="630238" indent="-366713">
              <a:lnSpc>
                <a:spcPct val="114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③ </a:t>
            </a:r>
            <a:r>
              <a:rPr lang="en-US" sz="2400" dirty="0">
                <a:latin typeface="Trebuchet MS" panose="020B0603020202020204" pitchFamily="34" charset="0"/>
              </a:rPr>
              <a:t>Now, suppose</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 </a:t>
            </a:r>
            <a:r>
              <a:rPr lang="en-US" sz="2400" dirty="0">
                <a:latin typeface="Trebuchet MS" panose="020B0603020202020204" pitchFamily="34" charset="0"/>
              </a:rPr>
              <a:t>also an inverse of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then </a:t>
            </a:r>
            <a:r>
              <a:rPr lang="zh-CN" altLang="en-US"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zh-CN" altLang="en-US" sz="2400"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a:t>
            </a:r>
            <a:r>
              <a:rPr lang="zh-CN" altLang="en-US" sz="2400"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 .</a:t>
            </a:r>
          </a:p>
          <a:p>
            <a:pPr marL="630238" indent="-366713">
              <a:lnSpc>
                <a:spcPct val="114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④ </a:t>
            </a:r>
            <a:r>
              <a:rPr lang="en-US" sz="2400" dirty="0">
                <a:latin typeface="Trebuchet MS" panose="020B0603020202020204" pitchFamily="34" charset="0"/>
              </a:rPr>
              <a:t>Therefore,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 </a:t>
            </a:r>
            <a:r>
              <a:rPr lang="en-US" sz="2400" dirty="0">
                <a:latin typeface="Trebuchet MS" panose="020B0603020202020204" pitchFamily="34" charset="0"/>
              </a:rPr>
              <a:t>s the unique inverse of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p>
          <a:p>
            <a:pPr marL="342900" indent="-342900">
              <a:lnSpc>
                <a:spcPct val="114000"/>
              </a:lnSpc>
              <a:buClr>
                <a:srgbClr val="0B61FF"/>
              </a:buClr>
              <a:buSzPct val="80000"/>
              <a:buFont typeface="Wingdings" panose="05000000000000000000" pitchFamily="2" charset="2"/>
              <a:buChar char="n"/>
            </a:pPr>
            <a:r>
              <a:rPr lang="en-US" sz="2400" b="1" dirty="0">
                <a:latin typeface="Trebuchet MS" panose="020B0603020202020204" pitchFamily="34" charset="0"/>
              </a:rPr>
              <a:t>Note:</a:t>
            </a:r>
            <a:r>
              <a:rPr lang="en-US" sz="2400" dirty="0">
                <a:latin typeface="Trebuchet MS" panose="020B0603020202020204" pitchFamily="34" charset="0"/>
              </a:rPr>
              <a:t> For </a:t>
            </a:r>
            <a:r>
              <a:rPr lang="en-US" sz="2400" b="1" i="1" dirty="0">
                <a:solidFill>
                  <a:srgbClr val="0B61FF"/>
                </a:solidFill>
                <a:latin typeface="Trebuchet MS" panose="020B0603020202020204" pitchFamily="34" charset="0"/>
              </a:rPr>
              <a:t>associative binary operations</a:t>
            </a:r>
            <a:r>
              <a:rPr lang="en-US" sz="2400" dirty="0">
                <a:latin typeface="Trebuchet MS" panose="020B0603020202020204" pitchFamily="34" charset="0"/>
              </a:rPr>
              <a:t>, an invertible element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sz="2400" dirty="0">
                <a:latin typeface="Trebuchet MS" panose="020B0603020202020204" pitchFamily="34" charset="0"/>
              </a:rPr>
              <a:t> has a </a:t>
            </a:r>
            <a:r>
              <a:rPr lang="en-US" sz="2400" b="1" i="1" dirty="0">
                <a:solidFill>
                  <a:srgbClr val="0B61FF"/>
                </a:solidFill>
                <a:latin typeface="Trebuchet MS" panose="020B0603020202020204" pitchFamily="34" charset="0"/>
              </a:rPr>
              <a:t>unique inverse</a:t>
            </a:r>
            <a:r>
              <a:rPr lang="en-US" sz="2400" dirty="0">
                <a:latin typeface="Trebuchet MS" panose="020B0603020202020204" pitchFamily="34" charset="0"/>
              </a:rPr>
              <a:t>, denoted as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p>
        </p:txBody>
      </p:sp>
    </p:spTree>
    <p:extLst>
      <p:ext uri="{BB962C8B-B14F-4D97-AF65-F5344CB8AC3E}">
        <p14:creationId xmlns:p14="http://schemas.microsoft.com/office/powerpoint/2010/main" val="21141613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1000"/>
                                        <p:tgtEl>
                                          <p:spTgt spid="10">
                                            <p:txEl>
                                              <p:pRg st="2" end="2"/>
                                            </p:txEl>
                                          </p:spTgt>
                                        </p:tgtEl>
                                      </p:cBhvr>
                                    </p:animEffect>
                                    <p:anim calcmode="lin" valueType="num">
                                      <p:cBhvr>
                                        <p:cTn id="1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fade">
                                      <p:cBhvr>
                                        <p:cTn id="19" dur="1000"/>
                                        <p:tgtEl>
                                          <p:spTgt spid="10">
                                            <p:txEl>
                                              <p:pRg st="3" end="3"/>
                                            </p:txEl>
                                          </p:spTgt>
                                        </p:tgtEl>
                                      </p:cBhvr>
                                    </p:animEffect>
                                    <p:anim calcmode="lin" valueType="num">
                                      <p:cBhvr>
                                        <p:cTn id="2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xEl>
                                              <p:pRg st="4" end="4"/>
                                            </p:txEl>
                                          </p:spTgt>
                                        </p:tgtEl>
                                        <p:attrNameLst>
                                          <p:attrName>style.visibility</p:attrName>
                                        </p:attrNameLst>
                                      </p:cBhvr>
                                      <p:to>
                                        <p:strVal val="visible"/>
                                      </p:to>
                                    </p:set>
                                    <p:animEffect transition="in" filter="fade">
                                      <p:cBhvr>
                                        <p:cTn id="26" dur="1000"/>
                                        <p:tgtEl>
                                          <p:spTgt spid="10">
                                            <p:txEl>
                                              <p:pRg st="4" end="4"/>
                                            </p:txEl>
                                          </p:spTgt>
                                        </p:tgtEl>
                                      </p:cBhvr>
                                    </p:animEffect>
                                    <p:anim calcmode="lin" valueType="num">
                                      <p:cBhvr>
                                        <p:cTn id="2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animEffect transition="in" filter="fade">
                                      <p:cBhvr>
                                        <p:cTn id="33" dur="1000"/>
                                        <p:tgtEl>
                                          <p:spTgt spid="10">
                                            <p:txEl>
                                              <p:pRg st="5" end="5"/>
                                            </p:txEl>
                                          </p:spTgt>
                                        </p:tgtEl>
                                      </p:cBhvr>
                                    </p:animEffect>
                                    <p:anim calcmode="lin" valueType="num">
                                      <p:cBhvr>
                                        <p:cTn id="3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0">
                                            <p:txEl>
                                              <p:pRg st="6" end="6"/>
                                            </p:txEl>
                                          </p:spTgt>
                                        </p:tgtEl>
                                        <p:attrNameLst>
                                          <p:attrName>style.visibility</p:attrName>
                                        </p:attrNameLst>
                                      </p:cBhvr>
                                      <p:to>
                                        <p:strVal val="visible"/>
                                      </p:to>
                                    </p:set>
                                    <p:animEffect transition="in" filter="fade">
                                      <p:cBhvr>
                                        <p:cTn id="40" dur="1000"/>
                                        <p:tgtEl>
                                          <p:spTgt spid="10">
                                            <p:txEl>
                                              <p:pRg st="6" end="6"/>
                                            </p:txEl>
                                          </p:spTgt>
                                        </p:tgtEl>
                                      </p:cBhvr>
                                    </p:animEffect>
                                    <p:anim calcmode="lin" valueType="num">
                                      <p:cBhvr>
                                        <p:cTn id="4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Operations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Cancellation Law for Binary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1" name="Rectangle 4">
            <a:extLst>
              <a:ext uri="{FF2B5EF4-FFF2-40B4-BE49-F238E27FC236}">
                <a16:creationId xmlns:a16="http://schemas.microsoft.com/office/drawing/2014/main" id="{8B3EE780-BBB2-4E99-9C9B-423B20A2A594}"/>
              </a:ext>
            </a:extLst>
          </p:cNvPr>
          <p:cNvSpPr>
            <a:spLocks noChangeArrowheads="1"/>
          </p:cNvSpPr>
          <p:nvPr/>
        </p:nvSpPr>
        <p:spPr bwMode="auto">
          <a:xfrm>
            <a:off x="540710" y="697436"/>
            <a:ext cx="11214410" cy="5887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ctr">
            <a:noAutofit/>
          </a:bodyPr>
          <a:lstStyle/>
          <a:p>
            <a:pPr marL="263525" indent="-263525" eaLnBrk="1" hangingPunct="1">
              <a:lnSpc>
                <a:spcPct val="105000"/>
              </a:lnSpc>
              <a:buClr>
                <a:srgbClr val="0B61FF"/>
              </a:buClr>
              <a:buSzPct val="80000"/>
              <a:buFont typeface="Wingdings" panose="05000000000000000000" pitchFamily="2" charset="2"/>
              <a:buChar char="n"/>
            </a:pPr>
            <a:r>
              <a:rPr lang="en-US" sz="2400" b="1" dirty="0">
                <a:latin typeface="Trebuchet MS" panose="020B0603020202020204" pitchFamily="34" charset="0"/>
              </a:rPr>
              <a:t>Definition </a:t>
            </a:r>
            <a:r>
              <a:rPr lang="fr-FR" altLang="zh-CN" sz="2400" b="1" dirty="0">
                <a:latin typeface="Trebuchet MS" panose="020B0603020202020204" pitchFamily="34" charset="0"/>
                <a:ea typeface="宋体" panose="02010600030101010101" pitchFamily="2" charset="-122"/>
                <a:cs typeface="Times New Roman" panose="02020603050405020304" pitchFamily="18" charset="0"/>
              </a:rPr>
              <a:t>9.8: </a:t>
            </a:r>
            <a:r>
              <a:rPr lang="en-US" sz="2400" dirty="0">
                <a:latin typeface="Trebuchet MS" panose="020B0603020202020204" pitchFamily="34" charset="0"/>
              </a:rPr>
              <a:t>Let </a:t>
            </a:r>
            <a:r>
              <a:rPr lang="zh-CN" altLang="en-US" sz="2400" b="1" dirty="0">
                <a:solidFill>
                  <a:srgbClr val="FF0000"/>
                </a:solidFill>
                <a:latin typeface="Trebuchet MS" panose="020B0603020202020204" pitchFamily="34" charset="0"/>
              </a:rPr>
              <a:t>∘</a:t>
            </a:r>
            <a:r>
              <a:rPr lang="zh-CN" altLang="en-US" sz="2400" b="1" dirty="0">
                <a:latin typeface="Trebuchet MS" panose="020B0603020202020204" pitchFamily="34" charset="0"/>
              </a:rPr>
              <a:t> </a:t>
            </a:r>
            <a:r>
              <a:rPr lang="en-US" sz="2400" dirty="0">
                <a:latin typeface="Trebuchet MS" panose="020B0603020202020204" pitchFamily="34" charset="0"/>
              </a:rPr>
              <a:t>be a binary operation on </a:t>
            </a:r>
            <a:r>
              <a:rPr lang="en-US" altLang="zh-CN" sz="2400" b="1" i="1" dirty="0">
                <a:latin typeface="Trebuchet MS" panose="020B0603020202020204" pitchFamily="34" charset="0"/>
              </a:rPr>
              <a:t>V</a:t>
            </a:r>
            <a:r>
              <a:rPr lang="zh-CN" altLang="en-US" sz="2400" b="1" dirty="0">
                <a:latin typeface="Trebuchet MS" panose="020B0603020202020204" pitchFamily="34" charset="0"/>
              </a:rPr>
              <a:t>，</a:t>
            </a:r>
            <a:r>
              <a:rPr lang="en-US" altLang="zh-CN" sz="2400" b="1" dirty="0">
                <a:latin typeface="Trebuchet MS" panose="020B0603020202020204" pitchFamily="34" charset="0"/>
              </a:rPr>
              <a:t>if </a:t>
            </a:r>
            <a:r>
              <a:rPr lang="zh-CN" altLang="en-US" sz="2400" b="1" dirty="0">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rPr>
              <a:t> </a:t>
            </a:r>
            <a:r>
              <a:rPr lang="en-US" altLang="zh-CN" sz="2400" b="1" i="1" dirty="0">
                <a:latin typeface="Trebuchet MS" panose="020B0603020202020204" pitchFamily="34" charset="0"/>
              </a:rPr>
              <a:t>x, y, </a:t>
            </a:r>
            <a:r>
              <a:rPr lang="en-US" altLang="zh-CN" sz="2400" b="1" i="1" dirty="0" err="1">
                <a:latin typeface="Trebuchet MS" panose="020B0603020202020204" pitchFamily="34" charset="0"/>
              </a:rPr>
              <a:t>z</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V</a:t>
            </a:r>
            <a:r>
              <a:rPr lang="zh-CN" altLang="en-US" sz="2400" b="1" dirty="0">
                <a:latin typeface="Trebuchet MS" panose="020B0603020202020204" pitchFamily="34" charset="0"/>
                <a:sym typeface="Symbol" panose="05050102010706020507" pitchFamily="18" charset="2"/>
              </a:rPr>
              <a:t>，</a:t>
            </a:r>
            <a:endParaRPr lang="en-US" altLang="zh-CN" sz="2400" b="1" dirty="0">
              <a:latin typeface="Trebuchet MS" panose="020B0603020202020204" pitchFamily="34" charset="0"/>
              <a:sym typeface="Symbol" panose="05050102010706020507" pitchFamily="18" charset="2"/>
            </a:endParaRPr>
          </a:p>
          <a:p>
            <a:pPr marL="182562">
              <a:lnSpc>
                <a:spcPct val="105000"/>
              </a:lnSpc>
              <a:buClr>
                <a:srgbClr val="0B61FF"/>
              </a:buClr>
              <a:buSzPct val="120000"/>
              <a:tabLst>
                <a:tab pos="182563" algn="l"/>
              </a:tabLst>
            </a:pPr>
            <a:r>
              <a:rPr lang="en-US" altLang="zh-CN" sz="2400" dirty="0">
                <a:latin typeface="Trebuchet MS" panose="020B0603020202020204" pitchFamily="34" charset="0"/>
                <a:sym typeface="Symbol" panose="05050102010706020507" pitchFamily="18" charset="2"/>
              </a:rPr>
              <a:t>If</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x </a:t>
            </a:r>
            <a:r>
              <a:rPr lang="en-US" altLang="zh-CN" sz="2400" b="1" dirty="0">
                <a:latin typeface="Trebuchet MS" panose="020B0603020202020204" pitchFamily="34" charset="0"/>
              </a:rPr>
              <a:t>∘</a:t>
            </a:r>
            <a:r>
              <a:rPr lang="en-US" altLang="zh-CN" sz="2400"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y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x </a:t>
            </a:r>
            <a:r>
              <a:rPr lang="en-US" altLang="zh-CN" sz="2400" b="1" dirty="0">
                <a:latin typeface="Trebuchet MS" panose="020B0603020202020204" pitchFamily="34" charset="0"/>
              </a:rPr>
              <a:t>∘</a:t>
            </a:r>
            <a:r>
              <a:rPr lang="en-US" altLang="zh-CN" sz="2400"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z</a:t>
            </a:r>
            <a:r>
              <a:rPr lang="zh-CN" altLang="en-US" sz="2400" b="1" dirty="0">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sym typeface="Symbol" panose="05050102010706020507" pitchFamily="18" charset="2"/>
              </a:rPr>
              <a:t>and</a:t>
            </a: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x</a:t>
            </a:r>
            <a:r>
              <a:rPr lang="en-US" sz="2400" dirty="0">
                <a:latin typeface="Trebuchet MS" panose="020B0603020202020204" pitchFamily="34" charset="0"/>
              </a:rPr>
              <a:t> is not a zero element </a:t>
            </a:r>
            <a:r>
              <a:rPr lang="en-US" altLang="zh-CN" sz="2400" b="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 then</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y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z </a:t>
            </a:r>
            <a:r>
              <a:rPr lang="en-US" altLang="zh-CN" sz="2400" b="1" dirty="0">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rPr>
              <a:t>Left cancellation)</a:t>
            </a:r>
            <a:r>
              <a:rPr lang="en-US" altLang="zh-CN" sz="2400" b="1" i="1" dirty="0">
                <a:latin typeface="Trebuchet MS" panose="020B0603020202020204" pitchFamily="34" charset="0"/>
                <a:sym typeface="Symbol" panose="05050102010706020507" pitchFamily="18" charset="2"/>
              </a:rPr>
              <a:t>.</a:t>
            </a:r>
          </a:p>
          <a:p>
            <a:pPr marL="182562">
              <a:lnSpc>
                <a:spcPct val="105000"/>
              </a:lnSpc>
              <a:buClr>
                <a:srgbClr val="0B61FF"/>
              </a:buClr>
              <a:buSzPct val="120000"/>
              <a:tabLst>
                <a:tab pos="182563" algn="l"/>
              </a:tabLst>
            </a:pPr>
            <a:r>
              <a:rPr lang="en-US" altLang="zh-CN" sz="2400" dirty="0">
                <a:latin typeface="Trebuchet MS" panose="020B0603020202020204" pitchFamily="34" charset="0"/>
                <a:sym typeface="Symbol" panose="05050102010706020507" pitchFamily="18" charset="2"/>
              </a:rPr>
              <a:t>If</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y </a:t>
            </a:r>
            <a:r>
              <a:rPr lang="en-US" altLang="zh-CN" sz="2400" b="1" dirty="0">
                <a:latin typeface="Trebuchet MS" panose="020B0603020202020204" pitchFamily="34" charset="0"/>
              </a:rPr>
              <a:t>∘</a:t>
            </a:r>
            <a:r>
              <a:rPr lang="en-US" altLang="zh-CN" sz="2400"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x</a:t>
            </a:r>
            <a:r>
              <a:rPr lang="en-US" altLang="zh-CN" sz="2400" b="1" dirty="0">
                <a:latin typeface="Trebuchet MS" panose="020B0603020202020204" pitchFamily="34" charset="0"/>
                <a:sym typeface="Symbol" panose="05050102010706020507" pitchFamily="18" charset="2"/>
              </a:rPr>
              <a:t> = </a:t>
            </a:r>
            <a:r>
              <a:rPr lang="en-US" altLang="zh-CN" sz="2400" b="1" i="1" dirty="0">
                <a:latin typeface="Trebuchet MS" panose="020B0603020202020204" pitchFamily="34" charset="0"/>
                <a:sym typeface="Symbol" panose="05050102010706020507" pitchFamily="18" charset="2"/>
              </a:rPr>
              <a:t>z </a:t>
            </a:r>
            <a:r>
              <a:rPr lang="en-US" altLang="zh-CN" sz="2400" b="1" dirty="0">
                <a:latin typeface="Trebuchet MS" panose="020B0603020202020204" pitchFamily="34" charset="0"/>
              </a:rPr>
              <a:t>∘</a:t>
            </a:r>
            <a:r>
              <a:rPr lang="en-US" altLang="zh-CN" sz="2400"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x</a:t>
            </a:r>
            <a:r>
              <a:rPr lang="en-US" altLang="zh-CN" sz="2400" b="1" dirty="0">
                <a:latin typeface="Trebuchet MS" panose="020B0603020202020204" pitchFamily="34" charset="0"/>
                <a:sym typeface="Symbol" panose="05050102010706020507" pitchFamily="18" charset="2"/>
              </a:rPr>
              <a:t>,  </a:t>
            </a:r>
            <a:r>
              <a:rPr lang="en-US" altLang="zh-CN" sz="2400" dirty="0">
                <a:latin typeface="Trebuchet MS" panose="020B0603020202020204" pitchFamily="34" charset="0"/>
                <a:sym typeface="Symbol" panose="05050102010706020507" pitchFamily="18" charset="2"/>
              </a:rPr>
              <a:t>and</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x </a:t>
            </a:r>
            <a:r>
              <a:rPr lang="en-US" sz="2400" dirty="0">
                <a:latin typeface="Trebuchet MS" panose="020B0603020202020204" pitchFamily="34" charset="0"/>
              </a:rPr>
              <a:t>is not a zero element </a:t>
            </a:r>
            <a:r>
              <a:rPr lang="zh-CN" altLang="en-US" sz="2400" b="1" dirty="0">
                <a:latin typeface="Trebuchet MS" panose="020B0603020202020204" pitchFamily="34" charset="0"/>
                <a:sym typeface="Symbol" panose="05050102010706020507" pitchFamily="18" charset="2"/>
              </a:rPr>
              <a:t>，</a:t>
            </a:r>
            <a:r>
              <a:rPr lang="en-US" sz="2400" dirty="0">
                <a:latin typeface="Trebuchet MS" panose="020B0603020202020204" pitchFamily="34" charset="0"/>
              </a:rPr>
              <a:t>then</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y</a:t>
            </a:r>
            <a:r>
              <a:rPr lang="en-US" altLang="zh-CN" sz="2400" b="1" dirty="0">
                <a:latin typeface="Trebuchet MS" panose="020B0603020202020204" pitchFamily="34" charset="0"/>
                <a:sym typeface="Symbol" panose="05050102010706020507" pitchFamily="18" charset="2"/>
              </a:rPr>
              <a:t> = </a:t>
            </a:r>
            <a:r>
              <a:rPr lang="en-US" altLang="zh-CN" sz="2400" b="1" i="1" dirty="0">
                <a:latin typeface="Trebuchet MS" panose="020B0603020202020204" pitchFamily="34" charset="0"/>
                <a:sym typeface="Symbol" panose="05050102010706020507" pitchFamily="18" charset="2"/>
              </a:rPr>
              <a:t>z</a:t>
            </a:r>
            <a:r>
              <a:rPr lang="en-US" altLang="zh-CN" sz="2400" b="1" dirty="0">
                <a:latin typeface="Trebuchet MS" panose="020B0603020202020204" pitchFamily="34" charset="0"/>
                <a:sym typeface="Symbol" panose="05050102010706020507" pitchFamily="18" charset="2"/>
              </a:rPr>
              <a:t> (</a:t>
            </a:r>
            <a:r>
              <a:rPr lang="en-US" altLang="zh-CN" sz="2400" dirty="0">
                <a:latin typeface="Trebuchet MS" panose="020B0603020202020204" pitchFamily="34" charset="0"/>
              </a:rPr>
              <a:t>Right cancellation).</a:t>
            </a:r>
            <a:endParaRPr lang="en-US" altLang="zh-CN" sz="2400" b="1" dirty="0">
              <a:latin typeface="Trebuchet MS" panose="020B0603020202020204" pitchFamily="34" charset="0"/>
              <a:sym typeface="Symbol" panose="05050102010706020507" pitchFamily="18" charset="2"/>
            </a:endParaRPr>
          </a:p>
          <a:p>
            <a:pPr indent="263525" eaLnBrk="1" hangingPunct="1">
              <a:lnSpc>
                <a:spcPct val="105000"/>
              </a:lnSpc>
              <a:buFont typeface="Wingdings" panose="05000000000000000000" pitchFamily="2" charset="2"/>
              <a:buNone/>
            </a:pPr>
            <a:r>
              <a:rPr lang="en-US" sz="2400" dirty="0">
                <a:latin typeface="Trebuchet MS" panose="020B0603020202020204" pitchFamily="34" charset="0"/>
              </a:rPr>
              <a:t>then the operation </a:t>
            </a:r>
            <a:r>
              <a:rPr lang="zh-CN" altLang="en-US" sz="2400" b="1" dirty="0">
                <a:latin typeface="Trebuchet MS" panose="020B0603020202020204" pitchFamily="34" charset="0"/>
              </a:rPr>
              <a:t>∘</a:t>
            </a:r>
            <a:r>
              <a:rPr lang="zh-CN" altLang="en-US" sz="2400"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is said to satisfy the </a:t>
            </a:r>
            <a:r>
              <a:rPr lang="en-US" sz="2400" b="1" i="1" dirty="0">
                <a:solidFill>
                  <a:srgbClr val="0B61FF"/>
                </a:solidFill>
                <a:latin typeface="Trebuchet MS" panose="020B0603020202020204" pitchFamily="34" charset="0"/>
              </a:rPr>
              <a:t>cancellation law </a:t>
            </a:r>
            <a:r>
              <a:rPr lang="en-US" altLang="zh-CN" sz="2400" b="1" dirty="0">
                <a:latin typeface="Trebuchet MS" panose="020B0603020202020204" pitchFamily="34" charset="0"/>
                <a:sym typeface="Symbol" panose="05050102010706020507" pitchFamily="18" charset="2"/>
              </a:rPr>
              <a:t>.  </a:t>
            </a:r>
          </a:p>
          <a:p>
            <a:pPr marL="263525" indent="-250825" eaLnBrk="1" hangingPunct="1">
              <a:lnSpc>
                <a:spcPct val="105000"/>
              </a:lnSpc>
              <a:buClr>
                <a:srgbClr val="0B61FF"/>
              </a:buClr>
              <a:buSzPct val="80000"/>
              <a:buFont typeface="Wingdings" panose="05000000000000000000" pitchFamily="2" charset="2"/>
              <a:buChar char="n"/>
              <a:tabLst>
                <a:tab pos="182563" algn="l"/>
              </a:tabLst>
            </a:pPr>
            <a:r>
              <a:rPr lang="en-US" altLang="zh-CN" sz="2400" b="1" dirty="0">
                <a:latin typeface="Trebuchet MS" panose="020B0603020202020204" pitchFamily="34" charset="0"/>
              </a:rPr>
              <a:t>Examples</a:t>
            </a:r>
            <a:r>
              <a:rPr lang="en-US" altLang="zh-CN" sz="2400" b="1" dirty="0">
                <a:latin typeface="Trebuchet MS" panose="020B0603020202020204" pitchFamily="34" charset="0"/>
                <a:sym typeface="Symbol" panose="05050102010706020507" pitchFamily="18" charset="2"/>
              </a:rPr>
              <a:t>:</a:t>
            </a:r>
          </a:p>
          <a:p>
            <a:pPr marL="720725" indent="-538163">
              <a:lnSpc>
                <a:spcPct val="105000"/>
              </a:lnSpc>
            </a:pPr>
            <a:r>
              <a:rPr lang="en-US" altLang="zh-CN" sz="2400" b="1" dirty="0">
                <a:solidFill>
                  <a:srgbClr val="0B61FF"/>
                </a:solidFill>
                <a:latin typeface="Trebuchet MS" panose="020B0603020202020204" pitchFamily="34" charset="0"/>
                <a:sym typeface="Symbol" panose="05050102010706020507" pitchFamily="18" charset="2"/>
              </a:rPr>
              <a:t>(1) </a:t>
            </a:r>
            <a:r>
              <a:rPr lang="en-US" altLang="zh-CN" sz="2400" b="1" dirty="0">
                <a:latin typeface="Trebuchet MS" panose="020B0603020202020204" pitchFamily="34" charset="0"/>
                <a:sym typeface="Symbol" panose="05050102010706020507" pitchFamily="18" charset="2"/>
              </a:rPr>
              <a:t>Z, Q, R </a:t>
            </a:r>
            <a:r>
              <a:rPr lang="en-US" altLang="zh-CN" sz="2400" dirty="0">
                <a:latin typeface="Trebuchet MS" panose="020B0603020202020204" pitchFamily="34" charset="0"/>
              </a:rPr>
              <a:t>satisfy the cancellation law under ordinary addition and multiplication.</a:t>
            </a:r>
          </a:p>
          <a:p>
            <a:pPr marL="720725" indent="-538163">
              <a:lnSpc>
                <a:spcPct val="105000"/>
              </a:lnSpc>
            </a:pPr>
            <a:r>
              <a:rPr lang="en-US" altLang="zh-CN" sz="2400" b="1" dirty="0">
                <a:solidFill>
                  <a:srgbClr val="0B61FF"/>
                </a:solidFill>
                <a:latin typeface="Trebuchet MS" panose="020B0603020202020204" pitchFamily="34" charset="0"/>
                <a:sym typeface="Symbol" panose="05050102010706020507" pitchFamily="18" charset="2"/>
              </a:rPr>
              <a:t>(2) </a:t>
            </a:r>
            <a:r>
              <a:rPr lang="en-US" altLang="zh-CN" sz="2400" b="1" i="1" dirty="0">
                <a:latin typeface="Trebuchet MS" panose="020B0603020202020204" pitchFamily="34" charset="0"/>
                <a:sym typeface="Symbol" panose="05050102010706020507" pitchFamily="18" charset="2"/>
              </a:rPr>
              <a:t>M</a:t>
            </a:r>
            <a:r>
              <a:rPr lang="en-US" altLang="zh-CN" sz="2400" b="1" i="1" baseline="-25000" dirty="0">
                <a:latin typeface="Trebuchet MS" panose="020B0603020202020204" pitchFamily="34" charset="0"/>
                <a:sym typeface="Symbol" panose="05050102010706020507" pitchFamily="18" charset="2"/>
              </a:rPr>
              <a:t>n</a:t>
            </a:r>
            <a:r>
              <a:rPr lang="en-US" altLang="zh-CN" sz="2400" b="1" dirty="0">
                <a:latin typeface="Trebuchet MS" panose="020B0603020202020204" pitchFamily="34" charset="0"/>
                <a:sym typeface="Symbol" panose="05050102010706020507" pitchFamily="18" charset="2"/>
              </a:rPr>
              <a:t>(R) </a:t>
            </a:r>
            <a:r>
              <a:rPr lang="en-US" altLang="zh-CN" sz="2400" dirty="0">
                <a:latin typeface="Trebuchet MS" panose="020B0603020202020204" pitchFamily="34" charset="0"/>
                <a:sym typeface="Symbol" panose="05050102010706020507" pitchFamily="18" charset="2"/>
              </a:rPr>
              <a:t>s</a:t>
            </a:r>
            <a:r>
              <a:rPr lang="en-US" altLang="zh-CN" sz="2400" dirty="0">
                <a:latin typeface="Trebuchet MS" panose="020B0603020202020204" pitchFamily="34" charset="0"/>
              </a:rPr>
              <a:t>atisfies the cancellation law under matrix addition, but does not satisfy the cancellation law under matrix multiplication.</a:t>
            </a:r>
          </a:p>
          <a:p>
            <a:pPr marL="720725" indent="-538163">
              <a:lnSpc>
                <a:spcPct val="105000"/>
              </a:lnSpc>
            </a:pPr>
            <a:r>
              <a:rPr lang="en-US" altLang="zh-CN" sz="2400" b="1" dirty="0">
                <a:solidFill>
                  <a:srgbClr val="0B61FF"/>
                </a:solidFill>
                <a:latin typeface="Trebuchet MS" panose="020B0603020202020204" pitchFamily="34" charset="0"/>
                <a:sym typeface="Symbol" panose="05050102010706020507" pitchFamily="18" charset="2"/>
              </a:rPr>
              <a:t>(3) </a:t>
            </a:r>
            <a:r>
              <a:rPr lang="en-US" altLang="zh-CN" sz="2400" b="1" dirty="0">
                <a:latin typeface="Trebuchet MS" panose="020B0603020202020204" pitchFamily="34" charset="0"/>
                <a:sym typeface="Symbol" panose="05050102010706020507" pitchFamily="18" charset="2"/>
              </a:rPr>
              <a:t>Z</a:t>
            </a:r>
            <a:r>
              <a:rPr lang="en-US" altLang="zh-CN" sz="2400" b="1" i="1" baseline="-25000" dirty="0">
                <a:latin typeface="Trebuchet MS" panose="020B0603020202020204" pitchFamily="34" charset="0"/>
                <a:sym typeface="Symbol" panose="05050102010706020507" pitchFamily="18" charset="2"/>
              </a:rPr>
              <a:t>n</a:t>
            </a:r>
            <a:r>
              <a:rPr lang="en-US" altLang="zh-CN" sz="2400" dirty="0">
                <a:latin typeface="Trebuchet MS" panose="020B0603020202020204" pitchFamily="34" charset="0"/>
                <a:sym typeface="Symbol" panose="05050102010706020507" pitchFamily="18" charset="2"/>
              </a:rPr>
              <a:t> </a:t>
            </a:r>
            <a:r>
              <a:rPr lang="en-US" altLang="zh-CN" sz="2400" dirty="0">
                <a:latin typeface="Trebuchet MS" panose="020B0603020202020204" pitchFamily="34" charset="0"/>
              </a:rPr>
              <a:t>satisfies the cancellation law under addition modulo </a:t>
            </a:r>
            <a:r>
              <a:rPr lang="en-US" altLang="zh-CN" sz="2400" b="1" i="1" dirty="0">
                <a:latin typeface="Trebuchet MS" panose="020B0603020202020204" pitchFamily="34" charset="0"/>
              </a:rPr>
              <a:t>n</a:t>
            </a:r>
            <a:r>
              <a:rPr lang="en-US" altLang="zh-CN" sz="2400" dirty="0">
                <a:latin typeface="Trebuchet MS" panose="020B0603020202020204" pitchFamily="34" charset="0"/>
              </a:rPr>
              <a:t>, it also satisfies the cancellation law under multiplication modulo </a:t>
            </a:r>
            <a:r>
              <a:rPr lang="en-US" altLang="zh-CN" sz="2400" b="1" i="1" dirty="0">
                <a:latin typeface="Trebuchet MS" panose="020B0603020202020204" pitchFamily="34" charset="0"/>
              </a:rPr>
              <a:t>n</a:t>
            </a:r>
            <a:r>
              <a:rPr lang="en-US" altLang="zh-CN" sz="2400" dirty="0">
                <a:latin typeface="Trebuchet MS" panose="020B0603020202020204" pitchFamily="34" charset="0"/>
              </a:rPr>
              <a:t> when </a:t>
            </a:r>
            <a:r>
              <a:rPr lang="en-US" altLang="zh-CN" sz="2400" b="1" i="1" dirty="0">
                <a:latin typeface="Trebuchet MS" panose="020B0603020202020204" pitchFamily="34" charset="0"/>
              </a:rPr>
              <a:t>n </a:t>
            </a:r>
            <a:r>
              <a:rPr lang="en-US" altLang="zh-CN" sz="2400" dirty="0">
                <a:latin typeface="Trebuchet MS" panose="020B0603020202020204" pitchFamily="34" charset="0"/>
              </a:rPr>
              <a:t>is prime. However, when </a:t>
            </a:r>
            <a:r>
              <a:rPr lang="en-US" altLang="zh-CN" sz="2400" b="1" i="1" dirty="0">
                <a:latin typeface="Trebuchet MS" panose="020B0603020202020204" pitchFamily="34" charset="0"/>
              </a:rPr>
              <a:t>n</a:t>
            </a:r>
            <a:r>
              <a:rPr lang="en-US" altLang="zh-CN" sz="2400" dirty="0">
                <a:latin typeface="Trebuchet MS" panose="020B0603020202020204" pitchFamily="34" charset="0"/>
              </a:rPr>
              <a:t> is composite, multiplication modulo </a:t>
            </a:r>
            <a:r>
              <a:rPr lang="en-US" altLang="zh-CN" sz="2400" b="1" i="1" dirty="0">
                <a:latin typeface="Trebuchet MS" panose="020B0603020202020204" pitchFamily="34" charset="0"/>
              </a:rPr>
              <a:t>n</a:t>
            </a:r>
            <a:r>
              <a:rPr lang="en-US" altLang="zh-CN" sz="2400" dirty="0">
                <a:latin typeface="Trebuchet MS" panose="020B0603020202020204" pitchFamily="34" charset="0"/>
              </a:rPr>
              <a:t> does not satisfy the cancellation law. </a:t>
            </a:r>
          </a:p>
          <a:p>
            <a:pPr marL="720725" indent="-538163">
              <a:lnSpc>
                <a:spcPct val="105000"/>
              </a:lnSpc>
            </a:pPr>
            <a:r>
              <a:rPr lang="en-US" altLang="zh-CN" sz="2400" b="1" dirty="0">
                <a:solidFill>
                  <a:srgbClr val="0B61FF"/>
                </a:solidFill>
                <a:latin typeface="Trebuchet MS" panose="020B0603020202020204" pitchFamily="34" charset="0"/>
                <a:sym typeface="Symbol" panose="05050102010706020507" pitchFamily="18" charset="2"/>
              </a:rPr>
              <a:t>(4)</a:t>
            </a:r>
            <a:r>
              <a:rPr lang="en-US" altLang="zh-CN" sz="2400" dirty="0">
                <a:solidFill>
                  <a:srgbClr val="0B61FF"/>
                </a:solidFill>
                <a:latin typeface="Trebuchet MS" panose="020B0603020202020204" pitchFamily="34" charset="0"/>
              </a:rPr>
              <a:t> </a:t>
            </a:r>
            <a:r>
              <a:rPr lang="en-US" altLang="zh-CN" sz="2400" dirty="0">
                <a:latin typeface="Trebuchet MS" panose="020B0603020202020204" pitchFamily="34" charset="0"/>
              </a:rPr>
              <a:t>Set union and intersection do not satisfy the cancellation law. For example,</a:t>
            </a:r>
            <a:r>
              <a:rPr lang="fr-FR" altLang="zh-CN" sz="2400" b="1" dirty="0">
                <a:latin typeface="Trebuchet MS" panose="020B0603020202020204" pitchFamily="34" charset="0"/>
                <a:sym typeface="Symbol" panose="05050102010706020507" pitchFamily="18" charset="2"/>
              </a:rPr>
              <a:t>{1}</a:t>
            </a:r>
            <a:r>
              <a:rPr lang="fr-FR" altLang="zh-CN" sz="2400" b="1" dirty="0">
                <a:latin typeface="Trebuchet MS" panose="020B0603020202020204" pitchFamily="34" charset="0"/>
              </a:rPr>
              <a:t>{1,2}={2}</a:t>
            </a:r>
            <a:r>
              <a:rPr lang="fr-FR" altLang="zh-CN" sz="2400" b="1" dirty="0">
                <a:latin typeface="Trebuchet MS" panose="020B0603020202020204" pitchFamily="34" charset="0"/>
                <a:sym typeface="Symbol" panose="05050102010706020507" pitchFamily="18" charset="2"/>
              </a:rPr>
              <a:t></a:t>
            </a:r>
            <a:r>
              <a:rPr lang="fr-FR" altLang="zh-CN" sz="2400" b="1" dirty="0">
                <a:latin typeface="Trebuchet MS" panose="020B0603020202020204" pitchFamily="34" charset="0"/>
              </a:rPr>
              <a:t>{1,2}</a:t>
            </a:r>
            <a:r>
              <a:rPr lang="zh-CN" altLang="fr-FR"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but </a:t>
            </a:r>
            <a:r>
              <a:rPr lang="fr-FR" altLang="zh-CN" sz="2400" b="1" dirty="0">
                <a:latin typeface="Trebuchet MS" panose="020B0603020202020204" pitchFamily="34" charset="0"/>
                <a:sym typeface="Symbol" panose="05050102010706020507" pitchFamily="18" charset="2"/>
              </a:rPr>
              <a:t>{1}</a:t>
            </a:r>
            <a:r>
              <a:rPr lang="fr-FR" altLang="zh-CN" sz="2400" b="1" dirty="0">
                <a:latin typeface="Trebuchet MS" panose="020B0603020202020204" pitchFamily="34" charset="0"/>
              </a:rPr>
              <a:t>{2}.</a:t>
            </a:r>
            <a:endParaRPr lang="zh-CN" altLang="fr-FR" sz="2400" b="1" dirty="0">
              <a:solidFill>
                <a:schemeClr val="tx1"/>
              </a:solidFill>
              <a:latin typeface="Trebuchet MS" panose="020B0603020202020204" pitchFamily="34" charset="0"/>
              <a:ea typeface="宋体" panose="02010600030101010101" pitchFamily="2" charset="-122"/>
              <a:sym typeface="Symbol" panose="05050102010706020507" pitchFamily="18" charset="2"/>
            </a:endParaRPr>
          </a:p>
        </p:txBody>
      </p:sp>
      <p:sp>
        <p:nvSpPr>
          <p:cNvPr id="10" name="Rectangle 4">
            <a:extLst>
              <a:ext uri="{FF2B5EF4-FFF2-40B4-BE49-F238E27FC236}">
                <a16:creationId xmlns:a16="http://schemas.microsoft.com/office/drawing/2014/main" id="{D72F784F-C0F7-4D48-A82B-303049C421B9}"/>
              </a:ext>
            </a:extLst>
          </p:cNvPr>
          <p:cNvSpPr>
            <a:spLocks noChangeArrowheads="1"/>
          </p:cNvSpPr>
          <p:nvPr/>
        </p:nvSpPr>
        <p:spPr bwMode="auto">
          <a:xfrm>
            <a:off x="1023255" y="3429000"/>
            <a:ext cx="10580914" cy="3681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ctr">
            <a:noAutofit/>
          </a:bodyPr>
          <a:lstStyle/>
          <a:p>
            <a:endParaRPr lang="en-US" altLang="zh-CN" sz="2400" b="1" dirty="0">
              <a:latin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1998900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4" end="4"/>
                                            </p:txEl>
                                          </p:spTgt>
                                        </p:tgtEl>
                                        <p:attrNameLst>
                                          <p:attrName>style.visibility</p:attrName>
                                        </p:attrNameLst>
                                      </p:cBhvr>
                                      <p:to>
                                        <p:strVal val="visible"/>
                                      </p:to>
                                    </p:set>
                                    <p:animEffect transition="in" filter="fade">
                                      <p:cBhvr>
                                        <p:cTn id="7" dur="1000"/>
                                        <p:tgtEl>
                                          <p:spTgt spid="11">
                                            <p:txEl>
                                              <p:pRg st="4" end="4"/>
                                            </p:txEl>
                                          </p:spTgt>
                                        </p:tgtEl>
                                      </p:cBhvr>
                                    </p:animEffect>
                                    <p:anim calcmode="lin" valueType="num">
                                      <p:cBhvr>
                                        <p:cTn id="8"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5" end="5"/>
                                            </p:txEl>
                                          </p:spTgt>
                                        </p:tgtEl>
                                        <p:attrNameLst>
                                          <p:attrName>style.visibility</p:attrName>
                                        </p:attrNameLst>
                                      </p:cBhvr>
                                      <p:to>
                                        <p:strVal val="visible"/>
                                      </p:to>
                                    </p:set>
                                    <p:animEffect transition="in" filter="fade">
                                      <p:cBhvr>
                                        <p:cTn id="12" dur="1000"/>
                                        <p:tgtEl>
                                          <p:spTgt spid="11">
                                            <p:txEl>
                                              <p:pRg st="5" end="5"/>
                                            </p:txEl>
                                          </p:spTgt>
                                        </p:tgtEl>
                                      </p:cBhvr>
                                    </p:animEffect>
                                    <p:anim calcmode="lin" valueType="num">
                                      <p:cBhvr>
                                        <p:cTn id="13"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animEffect transition="in" filter="fade">
                                      <p:cBhvr>
                                        <p:cTn id="19" dur="1000"/>
                                        <p:tgtEl>
                                          <p:spTgt spid="11">
                                            <p:txEl>
                                              <p:pRg st="6" end="6"/>
                                            </p:txEl>
                                          </p:spTgt>
                                        </p:tgtEl>
                                      </p:cBhvr>
                                    </p:animEffect>
                                    <p:anim calcmode="lin" valueType="num">
                                      <p:cBhvr>
                                        <p:cTn id="20"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1">
                                            <p:txEl>
                                              <p:pRg st="7" end="7"/>
                                            </p:txEl>
                                          </p:spTgt>
                                        </p:tgtEl>
                                        <p:attrNameLst>
                                          <p:attrName>style.visibility</p:attrName>
                                        </p:attrNameLst>
                                      </p:cBhvr>
                                      <p:to>
                                        <p:strVal val="visible"/>
                                      </p:to>
                                    </p:set>
                                    <p:animEffect transition="in" filter="fade">
                                      <p:cBhvr>
                                        <p:cTn id="26" dur="1000"/>
                                        <p:tgtEl>
                                          <p:spTgt spid="11">
                                            <p:txEl>
                                              <p:pRg st="7" end="7"/>
                                            </p:txEl>
                                          </p:spTgt>
                                        </p:tgtEl>
                                      </p:cBhvr>
                                    </p:animEffect>
                                    <p:anim calcmode="lin" valueType="num">
                                      <p:cBhvr>
                                        <p:cTn id="27"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28"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1">
                                            <p:txEl>
                                              <p:pRg st="8" end="8"/>
                                            </p:txEl>
                                          </p:spTgt>
                                        </p:tgtEl>
                                        <p:attrNameLst>
                                          <p:attrName>style.visibility</p:attrName>
                                        </p:attrNameLst>
                                      </p:cBhvr>
                                      <p:to>
                                        <p:strVal val="visible"/>
                                      </p:to>
                                    </p:set>
                                    <p:animEffect transition="in" filter="fade">
                                      <p:cBhvr>
                                        <p:cTn id="33" dur="1000"/>
                                        <p:tgtEl>
                                          <p:spTgt spid="11">
                                            <p:txEl>
                                              <p:pRg st="8" end="8"/>
                                            </p:txEl>
                                          </p:spTgt>
                                        </p:tgtEl>
                                      </p:cBhvr>
                                    </p:animEffect>
                                    <p:anim calcmode="lin" valueType="num">
                                      <p:cBhvr>
                                        <p:cTn id="34" dur="1000" fill="hold"/>
                                        <p:tgtEl>
                                          <p:spTgt spid="11">
                                            <p:txEl>
                                              <p:pRg st="8" end="8"/>
                                            </p:txEl>
                                          </p:spTgt>
                                        </p:tgtEl>
                                        <p:attrNameLst>
                                          <p:attrName>ppt_x</p:attrName>
                                        </p:attrNameLst>
                                      </p:cBhvr>
                                      <p:tavLst>
                                        <p:tav tm="0">
                                          <p:val>
                                            <p:strVal val="#ppt_x"/>
                                          </p:val>
                                        </p:tav>
                                        <p:tav tm="100000">
                                          <p:val>
                                            <p:strVal val="#ppt_x"/>
                                          </p:val>
                                        </p:tav>
                                      </p:tavLst>
                                    </p:anim>
                                    <p:anim calcmode="lin" valueType="num">
                                      <p:cBhvr>
                                        <p:cTn id="35" dur="1000" fill="hold"/>
                                        <p:tgtEl>
                                          <p:spTgt spid="11">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Operations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Binary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797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0" name="Text Box 3">
            <a:extLst>
              <a:ext uri="{FF2B5EF4-FFF2-40B4-BE49-F238E27FC236}">
                <a16:creationId xmlns:a16="http://schemas.microsoft.com/office/drawing/2014/main" id="{DF6CB311-32DC-4E4A-93D5-FC431F97C60A}"/>
              </a:ext>
            </a:extLst>
          </p:cNvPr>
          <p:cNvSpPr txBox="1">
            <a:spLocks noChangeArrowheads="1"/>
          </p:cNvSpPr>
          <p:nvPr/>
        </p:nvSpPr>
        <p:spPr bwMode="auto">
          <a:xfrm>
            <a:off x="733242" y="702260"/>
            <a:ext cx="10005786" cy="570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63525" indent="-263525">
              <a:lnSpc>
                <a:spcPct val="110000"/>
              </a:lnSpc>
              <a:buClr>
                <a:srgbClr val="0B61FF"/>
              </a:buClr>
              <a:buSzPct val="80000"/>
              <a:buFont typeface="Wingdings" panose="05000000000000000000" pitchFamily="2" charset="2"/>
              <a:buChar char="n"/>
            </a:pPr>
            <a:r>
              <a:rPr lang="en-US" sz="2400" b="1" dirty="0">
                <a:latin typeface="Trebuchet MS" panose="020B0603020202020204" pitchFamily="34" charset="0"/>
              </a:rPr>
              <a:t>Example: </a:t>
            </a:r>
            <a:r>
              <a:rPr lang="en-US" sz="2400" dirty="0">
                <a:latin typeface="Trebuchet MS" panose="020B0603020202020204" pitchFamily="34" charset="0"/>
              </a:rPr>
              <a:t>Let </a:t>
            </a:r>
            <a:r>
              <a:rPr lang="en-US" sz="2400" dirty="0">
                <a:solidFill>
                  <a:srgbClr val="FF0000"/>
                </a:solidFill>
                <a:latin typeface="Trebuchet MS" panose="020B0603020202020204" pitchFamily="34" charset="0"/>
              </a:rPr>
              <a:t>∘</a:t>
            </a:r>
            <a:r>
              <a:rPr lang="en-US" sz="2400" dirty="0">
                <a:latin typeface="Trebuchet MS" panose="020B0603020202020204" pitchFamily="34" charset="0"/>
              </a:rPr>
              <a:t> be a binary operation on </a:t>
            </a:r>
            <a:r>
              <a:rPr lang="en-US" altLang="zh-CN" sz="2400" b="1" dirty="0">
                <a:solidFill>
                  <a:schemeClr val="tx1"/>
                </a:solidFill>
                <a:latin typeface="Trebuchet MS" panose="020B0603020202020204" pitchFamily="34" charset="0"/>
                <a:ea typeface="宋体" panose="02010600030101010101" pitchFamily="2" charset="-122"/>
              </a:rPr>
              <a:t>Q</a:t>
            </a:r>
            <a:r>
              <a:rPr lang="en-US" sz="2400" dirty="0">
                <a:latin typeface="Trebuchet MS" panose="020B0603020202020204" pitchFamily="34" charset="0"/>
              </a:rPr>
              <a:t>, defined by</a:t>
            </a:r>
            <a:r>
              <a:rPr lang="zh-CN" altLang="en-US" sz="2400" b="1" dirty="0">
                <a:solidFill>
                  <a:schemeClr val="tx1"/>
                </a:solidFill>
                <a:latin typeface="Trebuchet MS" panose="020B0603020202020204" pitchFamily="34" charset="0"/>
                <a:ea typeface="宋体" panose="02010600030101010101" pitchFamily="2" charset="-122"/>
              </a:rPr>
              <a:t>，</a:t>
            </a:r>
            <a:endPar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endParaRPr>
          </a:p>
          <a:p>
            <a:pPr>
              <a:lnSpc>
                <a:spcPct val="110000"/>
              </a:lnSpc>
            </a:pP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Q,   </a:t>
            </a:r>
            <a:r>
              <a:rPr lang="en-US" altLang="zh-CN" sz="2400" b="1" i="1" dirty="0">
                <a:solidFill>
                  <a:schemeClr val="tx1"/>
                </a:solidFill>
                <a:latin typeface="Trebuchet MS" panose="020B0603020202020204" pitchFamily="34" charset="0"/>
                <a:ea typeface="宋体" panose="02010600030101010101" pitchFamily="2" charset="-122"/>
              </a:rPr>
              <a:t>x </a:t>
            </a: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 = </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y</a:t>
            </a:r>
            <a:r>
              <a:rPr lang="en-US" altLang="zh-CN" sz="2400" b="1" dirty="0">
                <a:solidFill>
                  <a:schemeClr val="tx1"/>
                </a:solidFill>
                <a:latin typeface="Trebuchet MS" panose="020B0603020202020204" pitchFamily="34" charset="0"/>
                <a:ea typeface="宋体" panose="02010600030101010101" pitchFamily="2" charset="-122"/>
              </a:rPr>
              <a:t>+2</a:t>
            </a:r>
            <a:r>
              <a:rPr lang="en-US" altLang="zh-CN" sz="2400" b="1" i="1" dirty="0">
                <a:solidFill>
                  <a:schemeClr val="tx1"/>
                </a:solidFill>
                <a:latin typeface="Trebuchet MS" panose="020B0603020202020204" pitchFamily="34" charset="0"/>
                <a:ea typeface="宋体" panose="02010600030101010101" pitchFamily="2" charset="-122"/>
              </a:rPr>
              <a:t>xy</a:t>
            </a:r>
            <a:r>
              <a:rPr lang="en-US" altLang="zh-CN" sz="2400" b="1" dirty="0">
                <a:solidFill>
                  <a:schemeClr val="tx1"/>
                </a:solidFill>
                <a:latin typeface="Trebuchet MS" panose="020B0603020202020204" pitchFamily="34" charset="0"/>
                <a:ea typeface="宋体" panose="02010600030101010101" pitchFamily="2" charset="-122"/>
              </a:rPr>
              <a:t>, </a:t>
            </a:r>
          </a:p>
          <a:p>
            <a:pPr marL="630238" indent="-447675">
              <a:lnSpc>
                <a:spcPct val="110000"/>
              </a:lnSpc>
            </a:pPr>
            <a:r>
              <a:rPr lang="en-US" altLang="zh-CN" sz="2400" b="1" dirty="0">
                <a:solidFill>
                  <a:srgbClr val="0B61FF"/>
                </a:solidFill>
                <a:latin typeface="Trebuchet MS" panose="020B0603020202020204" pitchFamily="34" charset="0"/>
                <a:ea typeface="宋体" panose="02010600030101010101" pitchFamily="2" charset="-122"/>
              </a:rPr>
              <a:t>(1) </a:t>
            </a:r>
            <a:r>
              <a:rPr lang="en-US" sz="2400" dirty="0">
                <a:latin typeface="Trebuchet MS" panose="020B0603020202020204" pitchFamily="34" charset="0"/>
              </a:rPr>
              <a:t>Determine whether the operation </a:t>
            </a:r>
            <a:r>
              <a:rPr lang="en-US" sz="2400" b="1" dirty="0">
                <a:solidFill>
                  <a:srgbClr val="FF0000"/>
                </a:solidFill>
                <a:latin typeface="Trebuchet MS" panose="020B0603020202020204" pitchFamily="34" charset="0"/>
              </a:rPr>
              <a:t>∘</a:t>
            </a:r>
            <a:r>
              <a:rPr lang="en-US" sz="2400" dirty="0">
                <a:latin typeface="Trebuchet MS" panose="020B0603020202020204" pitchFamily="34" charset="0"/>
              </a:rPr>
              <a:t> satisfies the commutative law and the associative law, and explain why.</a:t>
            </a:r>
            <a:r>
              <a:rPr lang="en-US" altLang="zh-CN" sz="2400" b="1" dirty="0">
                <a:solidFill>
                  <a:schemeClr val="tx1"/>
                </a:solidFill>
                <a:latin typeface="Trebuchet MS" panose="020B0603020202020204" pitchFamily="34" charset="0"/>
                <a:ea typeface="宋体" panose="02010600030101010101" pitchFamily="2" charset="-122"/>
              </a:rPr>
              <a:t>  </a:t>
            </a:r>
          </a:p>
          <a:p>
            <a:pPr marL="630238" indent="-447675">
              <a:lnSpc>
                <a:spcPct val="110000"/>
              </a:lnSpc>
            </a:pPr>
            <a:r>
              <a:rPr lang="en-US" sz="2400" b="1" dirty="0">
                <a:solidFill>
                  <a:srgbClr val="0B61FF"/>
                </a:solidFill>
                <a:latin typeface="Trebuchet MS" panose="020B0603020202020204" pitchFamily="34" charset="0"/>
                <a:ea typeface="宋体" panose="02010600030101010101" pitchFamily="2" charset="-122"/>
              </a:rPr>
              <a:t>(2) </a:t>
            </a:r>
            <a:r>
              <a:rPr lang="en-US" sz="2400" dirty="0">
                <a:latin typeface="Trebuchet MS" panose="020B0603020202020204" pitchFamily="34" charset="0"/>
              </a:rPr>
              <a:t>Find the identity element, the zero element, and the inverse elements (for all invertible elements) under the operation .</a:t>
            </a:r>
          </a:p>
          <a:p>
            <a:pPr marL="263525" indent="-263525">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Solution</a:t>
            </a:r>
            <a:r>
              <a:rPr lang="zh-CN" altLang="en-US" sz="2400" b="1" dirty="0">
                <a:latin typeface="Times New Roman" panose="02020603050405020304" pitchFamily="18" charset="0"/>
              </a:rPr>
              <a:t> </a:t>
            </a:r>
            <a:r>
              <a:rPr lang="en-US" altLang="zh-CN" sz="2400" b="1" dirty="0">
                <a:solidFill>
                  <a:srgbClr val="0B61FF"/>
                </a:solidFill>
                <a:latin typeface="Trebuchet MS" panose="020B0603020202020204" pitchFamily="34" charset="0"/>
              </a:rPr>
              <a:t>(1):</a:t>
            </a:r>
          </a:p>
          <a:p>
            <a:pPr marL="630238" indent="-447675">
              <a:lnSpc>
                <a:spcPct val="11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rPr>
              <a:t>①</a:t>
            </a:r>
            <a:r>
              <a:rPr lang="en-US" altLang="zh-CN" sz="2400" b="1" dirty="0">
                <a:solidFill>
                  <a:srgbClr val="0B61FF"/>
                </a:solidFill>
                <a:latin typeface="Trebuchet MS" panose="020B0603020202020204" pitchFamily="34" charset="0"/>
              </a:rPr>
              <a:t> </a:t>
            </a:r>
            <a:r>
              <a:rPr lang="en-US" altLang="zh-CN" sz="2400" dirty="0">
                <a:latin typeface="Trebuchet MS" panose="020B0603020202020204" pitchFamily="34" charset="0"/>
              </a:rPr>
              <a:t>The </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operation is commutative</a:t>
            </a:r>
            <a:r>
              <a:rPr lang="en-US" altLang="zh-CN" sz="2400" b="1" dirty="0">
                <a:latin typeface="Trebuchet MS" panose="020B0603020202020204" pitchFamily="34" charset="0"/>
              </a:rPr>
              <a:t>. </a:t>
            </a:r>
            <a:r>
              <a:rPr lang="en-US" altLang="zh-CN" sz="2400" dirty="0">
                <a:latin typeface="Trebuchet MS" panose="020B0603020202020204" pitchFamily="34" charset="0"/>
              </a:rPr>
              <a:t>For any </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b="1" i="1" dirty="0">
                <a:latin typeface="Trebuchet MS" panose="020B0603020202020204" pitchFamily="34" charset="0"/>
              </a:rPr>
              <a:t>y</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Q,                         </a:t>
            </a:r>
            <a:r>
              <a:rPr lang="en-US" altLang="zh-CN" sz="2400" b="1" i="1" dirty="0">
                <a:latin typeface="Trebuchet MS" panose="020B0603020202020204" pitchFamily="34" charset="0"/>
              </a:rPr>
              <a:t> x</a:t>
            </a: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y</a:t>
            </a:r>
            <a:r>
              <a:rPr lang="en-US" altLang="zh-CN" sz="2400" b="1" dirty="0">
                <a:latin typeface="Trebuchet MS" panose="020B0603020202020204" pitchFamily="34" charset="0"/>
              </a:rPr>
              <a:t> =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+2</a:t>
            </a:r>
            <a:r>
              <a:rPr lang="en-US" altLang="zh-CN" sz="2400" b="1" i="1" dirty="0">
                <a:latin typeface="Trebuchet MS" panose="020B0603020202020204" pitchFamily="34" charset="0"/>
              </a:rPr>
              <a:t>xy </a:t>
            </a:r>
            <a:r>
              <a:rPr lang="en-US" altLang="zh-CN" sz="2400" b="1" dirty="0">
                <a:latin typeface="Trebuchet MS" panose="020B0603020202020204" pitchFamily="34" charset="0"/>
              </a:rPr>
              <a:t>= </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+2</a:t>
            </a:r>
            <a:r>
              <a:rPr lang="en-US" altLang="zh-CN" sz="2400" b="1" i="1" dirty="0">
                <a:latin typeface="Trebuchet MS" panose="020B0603020202020204" pitchFamily="34" charset="0"/>
              </a:rPr>
              <a:t>yx</a:t>
            </a:r>
            <a:r>
              <a:rPr lang="en-US" altLang="zh-CN" sz="2400" b="1" dirty="0">
                <a:latin typeface="Trebuchet MS" panose="020B0603020202020204" pitchFamily="34" charset="0"/>
              </a:rPr>
              <a:t> = </a:t>
            </a:r>
            <a:r>
              <a:rPr lang="en-US" altLang="zh-CN" sz="2400" b="1" i="1" dirty="0">
                <a:latin typeface="Trebuchet MS" panose="020B0603020202020204" pitchFamily="34" charset="0"/>
              </a:rPr>
              <a:t>y </a:t>
            </a:r>
            <a:r>
              <a:rPr lang="zh-CN" altLang="en-US" sz="2400" b="1" dirty="0">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rPr>
              <a:t> </a:t>
            </a:r>
            <a:r>
              <a:rPr lang="en-US" altLang="zh-CN" sz="2400" b="1" i="1" dirty="0">
                <a:latin typeface="Trebuchet MS" panose="020B0603020202020204" pitchFamily="34" charset="0"/>
              </a:rPr>
              <a:t>x .</a:t>
            </a:r>
          </a:p>
          <a:p>
            <a:pPr marL="630238" indent="-447675">
              <a:lnSpc>
                <a:spcPct val="11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rPr>
              <a:t>② </a:t>
            </a:r>
            <a:r>
              <a:rPr lang="en-US" altLang="zh-CN" sz="2400" dirty="0">
                <a:latin typeface="Trebuchet MS" panose="020B0603020202020204" pitchFamily="34" charset="0"/>
              </a:rPr>
              <a:t>The </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operation is associative. For any </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b="1" i="1" dirty="0">
                <a:latin typeface="Trebuchet MS" panose="020B0603020202020204" pitchFamily="34" charset="0"/>
              </a:rPr>
              <a:t>z</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Q,</a:t>
            </a:r>
          </a:p>
          <a:p>
            <a:pPr>
              <a:lnSpc>
                <a:spcPct val="110000"/>
              </a:lnSpc>
            </a:pP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z </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+2</a:t>
            </a:r>
            <a:r>
              <a:rPr lang="en-US" altLang="zh-CN" sz="2400" b="1" i="1" dirty="0">
                <a:latin typeface="Trebuchet MS" panose="020B0603020202020204" pitchFamily="34" charset="0"/>
              </a:rPr>
              <a:t>xy</a:t>
            </a:r>
            <a:r>
              <a:rPr lang="en-US" altLang="zh-CN" sz="2400" b="1" dirty="0">
                <a:latin typeface="Trebuchet MS" panose="020B0603020202020204" pitchFamily="34" charset="0"/>
              </a:rPr>
              <a:t>) + </a:t>
            </a:r>
            <a:r>
              <a:rPr lang="en-US" altLang="zh-CN" sz="2400" b="1" i="1" dirty="0">
                <a:latin typeface="Trebuchet MS" panose="020B0603020202020204" pitchFamily="34" charset="0"/>
              </a:rPr>
              <a:t>z </a:t>
            </a:r>
            <a:r>
              <a:rPr lang="en-US" altLang="zh-CN" sz="2400" b="1" dirty="0">
                <a:latin typeface="Trebuchet MS" panose="020B0603020202020204" pitchFamily="34" charset="0"/>
              </a:rPr>
              <a:t>+ 2(</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+2</a:t>
            </a:r>
            <a:r>
              <a:rPr lang="en-US" altLang="zh-CN" sz="2400" b="1" i="1" dirty="0">
                <a:latin typeface="Trebuchet MS" panose="020B0603020202020204" pitchFamily="34" charset="0"/>
              </a:rPr>
              <a:t>xy</a:t>
            </a:r>
            <a:r>
              <a:rPr lang="en-US" altLang="zh-CN" sz="2400" b="1" dirty="0">
                <a:latin typeface="Trebuchet MS" panose="020B0603020202020204" pitchFamily="34" charset="0"/>
              </a:rPr>
              <a:t>) </a:t>
            </a:r>
            <a:r>
              <a:rPr lang="en-US" altLang="zh-CN" sz="2400" b="1" i="1" dirty="0">
                <a:latin typeface="Trebuchet MS" panose="020B0603020202020204" pitchFamily="34" charset="0"/>
              </a:rPr>
              <a:t>z </a:t>
            </a:r>
            <a:r>
              <a:rPr lang="en-US" altLang="zh-CN" sz="2400" b="1" dirty="0">
                <a:latin typeface="Trebuchet MS" panose="020B0603020202020204" pitchFamily="34" charset="0"/>
              </a:rPr>
              <a:t> </a:t>
            </a:r>
          </a:p>
          <a:p>
            <a:pPr>
              <a:lnSpc>
                <a:spcPct val="110000"/>
              </a:lnSpc>
            </a:pPr>
            <a:r>
              <a:rPr lang="en-US" altLang="zh-CN" sz="2400" b="1" dirty="0">
                <a:latin typeface="Trebuchet MS" panose="020B0603020202020204" pitchFamily="34" charset="0"/>
              </a:rPr>
              <a:t>                           =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z</a:t>
            </a:r>
            <a:r>
              <a:rPr lang="en-US" altLang="zh-CN" sz="2400" b="1" dirty="0">
                <a:latin typeface="Trebuchet MS" panose="020B0603020202020204" pitchFamily="34" charset="0"/>
              </a:rPr>
              <a:t>+2</a:t>
            </a:r>
            <a:r>
              <a:rPr lang="en-US" altLang="zh-CN" sz="2400" b="1" i="1" dirty="0">
                <a:latin typeface="Trebuchet MS" panose="020B0603020202020204" pitchFamily="34" charset="0"/>
              </a:rPr>
              <a:t>xy</a:t>
            </a:r>
            <a:r>
              <a:rPr lang="en-US" altLang="zh-CN" sz="2400" b="1" dirty="0">
                <a:latin typeface="Trebuchet MS" panose="020B0603020202020204" pitchFamily="34" charset="0"/>
              </a:rPr>
              <a:t>+2</a:t>
            </a:r>
            <a:r>
              <a:rPr lang="en-US" altLang="zh-CN" sz="2400" b="1" i="1" dirty="0">
                <a:latin typeface="Trebuchet MS" panose="020B0603020202020204" pitchFamily="34" charset="0"/>
              </a:rPr>
              <a:t>xz</a:t>
            </a:r>
            <a:r>
              <a:rPr lang="en-US" altLang="zh-CN" sz="2400" b="1" dirty="0">
                <a:latin typeface="Trebuchet MS" panose="020B0603020202020204" pitchFamily="34" charset="0"/>
              </a:rPr>
              <a:t>+2</a:t>
            </a:r>
            <a:r>
              <a:rPr lang="en-US" altLang="zh-CN" sz="2400" b="1" i="1" dirty="0">
                <a:latin typeface="Trebuchet MS" panose="020B0603020202020204" pitchFamily="34" charset="0"/>
              </a:rPr>
              <a:t>yz</a:t>
            </a:r>
            <a:r>
              <a:rPr lang="en-US" altLang="zh-CN" sz="2400" b="1" dirty="0">
                <a:latin typeface="Trebuchet MS" panose="020B0603020202020204" pitchFamily="34" charset="0"/>
              </a:rPr>
              <a:t>+4</a:t>
            </a:r>
            <a:r>
              <a:rPr lang="en-US" altLang="zh-CN" sz="2400" b="1" i="1" dirty="0">
                <a:latin typeface="Trebuchet MS" panose="020B0603020202020204" pitchFamily="34" charset="0"/>
              </a:rPr>
              <a:t>xyz </a:t>
            </a:r>
          </a:p>
          <a:p>
            <a:pPr>
              <a:lnSpc>
                <a:spcPct val="110000"/>
              </a:lnSpc>
            </a:pPr>
            <a:r>
              <a:rPr lang="en-US" altLang="zh-CN" sz="2400" b="1" i="1" dirty="0">
                <a:latin typeface="Trebuchet MS" panose="020B0603020202020204" pitchFamily="34" charset="0"/>
              </a:rPr>
              <a:t>            x </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z</a:t>
            </a:r>
            <a:r>
              <a:rPr lang="en-US" altLang="zh-CN" sz="2400" b="1" dirty="0">
                <a:latin typeface="Trebuchet MS" panose="020B0603020202020204" pitchFamily="34" charset="0"/>
              </a:rPr>
              <a:t>) = </a:t>
            </a:r>
            <a:r>
              <a:rPr lang="en-US" altLang="zh-CN" sz="2400" b="1" i="1" dirty="0">
                <a:latin typeface="Trebuchet MS" panose="020B0603020202020204" pitchFamily="34" charset="0"/>
              </a:rPr>
              <a:t>x </a:t>
            </a:r>
            <a:r>
              <a:rPr lang="en-US" altLang="zh-CN" sz="2400" b="1" dirty="0">
                <a:latin typeface="Trebuchet MS" panose="020B0603020202020204" pitchFamily="34" charset="0"/>
              </a:rPr>
              <a:t>+ (</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z</a:t>
            </a:r>
            <a:r>
              <a:rPr lang="en-US" altLang="zh-CN" sz="2400" b="1" dirty="0">
                <a:latin typeface="Trebuchet MS" panose="020B0603020202020204" pitchFamily="34" charset="0"/>
              </a:rPr>
              <a:t>+2</a:t>
            </a:r>
            <a:r>
              <a:rPr lang="en-US" altLang="zh-CN" sz="2400" b="1" i="1" dirty="0">
                <a:latin typeface="Trebuchet MS" panose="020B0603020202020204" pitchFamily="34" charset="0"/>
              </a:rPr>
              <a:t>yz</a:t>
            </a:r>
            <a:r>
              <a:rPr lang="en-US" altLang="zh-CN" sz="2400" b="1" dirty="0">
                <a:latin typeface="Trebuchet MS" panose="020B0603020202020204" pitchFamily="34" charset="0"/>
              </a:rPr>
              <a:t>) + 2</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z</a:t>
            </a:r>
            <a:r>
              <a:rPr lang="en-US" altLang="zh-CN" sz="2400" b="1" dirty="0">
                <a:latin typeface="Trebuchet MS" panose="020B0603020202020204" pitchFamily="34" charset="0"/>
              </a:rPr>
              <a:t>+2</a:t>
            </a:r>
            <a:r>
              <a:rPr lang="en-US" altLang="zh-CN" sz="2400" b="1" i="1" dirty="0">
                <a:latin typeface="Trebuchet MS" panose="020B0603020202020204" pitchFamily="34" charset="0"/>
              </a:rPr>
              <a:t>yz</a:t>
            </a:r>
            <a:r>
              <a:rPr lang="en-US" altLang="zh-CN" sz="2400" b="1" dirty="0">
                <a:latin typeface="Trebuchet MS" panose="020B0603020202020204" pitchFamily="34" charset="0"/>
              </a:rPr>
              <a:t>)</a:t>
            </a:r>
          </a:p>
          <a:p>
            <a:pPr>
              <a:lnSpc>
                <a:spcPct val="110000"/>
              </a:lnSpc>
            </a:pPr>
            <a:r>
              <a:rPr lang="en-US" altLang="zh-CN" sz="2400" b="1" dirty="0">
                <a:latin typeface="Trebuchet MS" panose="020B0603020202020204" pitchFamily="34" charset="0"/>
              </a:rPr>
              <a:t>                           =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z</a:t>
            </a:r>
            <a:r>
              <a:rPr lang="en-US" altLang="zh-CN" sz="2400" b="1" dirty="0">
                <a:latin typeface="Trebuchet MS" panose="020B0603020202020204" pitchFamily="34" charset="0"/>
              </a:rPr>
              <a:t>+2</a:t>
            </a:r>
            <a:r>
              <a:rPr lang="en-US" altLang="zh-CN" sz="2400" b="1" i="1" dirty="0">
                <a:latin typeface="Trebuchet MS" panose="020B0603020202020204" pitchFamily="34" charset="0"/>
              </a:rPr>
              <a:t>xy</a:t>
            </a:r>
            <a:r>
              <a:rPr lang="en-US" altLang="zh-CN" sz="2400" b="1" dirty="0">
                <a:latin typeface="Trebuchet MS" panose="020B0603020202020204" pitchFamily="34" charset="0"/>
              </a:rPr>
              <a:t>+2</a:t>
            </a:r>
            <a:r>
              <a:rPr lang="en-US" altLang="zh-CN" sz="2400" b="1" i="1" dirty="0">
                <a:latin typeface="Trebuchet MS" panose="020B0603020202020204" pitchFamily="34" charset="0"/>
              </a:rPr>
              <a:t>xz</a:t>
            </a:r>
            <a:r>
              <a:rPr lang="en-US" altLang="zh-CN" sz="2400" b="1" dirty="0">
                <a:latin typeface="Trebuchet MS" panose="020B0603020202020204" pitchFamily="34" charset="0"/>
              </a:rPr>
              <a:t>+2</a:t>
            </a:r>
            <a:r>
              <a:rPr lang="en-US" altLang="zh-CN" sz="2400" b="1" i="1" dirty="0">
                <a:latin typeface="Trebuchet MS" panose="020B0603020202020204" pitchFamily="34" charset="0"/>
              </a:rPr>
              <a:t>yz</a:t>
            </a:r>
            <a:r>
              <a:rPr lang="en-US" altLang="zh-CN" sz="2400" b="1" dirty="0">
                <a:latin typeface="Trebuchet MS" panose="020B0603020202020204" pitchFamily="34" charset="0"/>
              </a:rPr>
              <a:t>+4</a:t>
            </a:r>
            <a:r>
              <a:rPr lang="en-US" altLang="zh-CN" sz="2400" b="1" i="1" dirty="0">
                <a:latin typeface="Trebuchet MS" panose="020B0603020202020204" pitchFamily="34" charset="0"/>
              </a:rPr>
              <a:t>xyz</a:t>
            </a:r>
          </a:p>
          <a:p>
            <a:pPr marL="630238" indent="-447675">
              <a:lnSpc>
                <a:spcPct val="110000"/>
              </a:lnSpc>
              <a:buClr>
                <a:srgbClr val="0B61FF"/>
              </a:buClr>
              <a:buSzPct val="80000"/>
            </a:pPr>
            <a:endParaRPr lang="en-US" altLang="zh-CN" sz="2400" b="1" dirty="0">
              <a:latin typeface="Trebuchet MS" panose="020B0603020202020204" pitchFamily="34" charset="0"/>
            </a:endParaRPr>
          </a:p>
          <a:p>
            <a:pPr marL="630238" indent="-447675">
              <a:lnSpc>
                <a:spcPct val="110000"/>
              </a:lnSpc>
            </a:pPr>
            <a:endParaRPr lang="en-US" altLang="zh-CN" sz="2400" b="1" dirty="0">
              <a:solidFill>
                <a:schemeClr val="tx1"/>
              </a:solidFill>
              <a:latin typeface="Trebuchet MS" panose="020B0603020202020204" pitchFamily="34" charset="0"/>
              <a:ea typeface="宋体" panose="02010600030101010101" pitchFamily="2" charset="-122"/>
            </a:endParaRPr>
          </a:p>
        </p:txBody>
      </p:sp>
      <p:sp>
        <p:nvSpPr>
          <p:cNvPr id="14" name="Rectangle 5">
            <a:extLst>
              <a:ext uri="{FF2B5EF4-FFF2-40B4-BE49-F238E27FC236}">
                <a16:creationId xmlns:a16="http://schemas.microsoft.com/office/drawing/2014/main" id="{2DBF1381-1502-40C8-B75A-94881CD45B22}"/>
              </a:ext>
            </a:extLst>
          </p:cNvPr>
          <p:cNvSpPr>
            <a:spLocks noChangeArrowheads="1"/>
          </p:cNvSpPr>
          <p:nvPr/>
        </p:nvSpPr>
        <p:spPr bwMode="auto">
          <a:xfrm>
            <a:off x="1443277" y="6608143"/>
            <a:ext cx="7848600" cy="476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p>
            <a:pPr>
              <a:lnSpc>
                <a:spcPct val="110000"/>
              </a:lnSpc>
            </a:pPr>
            <a:r>
              <a:rPr lang="en-US" sz="2400" dirty="0"/>
              <a:t>	</a:t>
            </a:r>
            <a:endParaRPr lang="en-US" altLang="zh-CN" sz="2400" b="1" i="1" dirty="0">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8900448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fade">
                                      <p:cBhvr>
                                        <p:cTn id="7" dur="1000"/>
                                        <p:tgtEl>
                                          <p:spTgt spid="10">
                                            <p:txEl>
                                              <p:pRg st="3" end="3"/>
                                            </p:txEl>
                                          </p:spTgt>
                                        </p:tgtEl>
                                      </p:cBhvr>
                                    </p:animEffect>
                                    <p:anim calcmode="lin" valueType="num">
                                      <p:cBhvr>
                                        <p:cTn id="8"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4" end="4"/>
                                            </p:txEl>
                                          </p:spTgt>
                                        </p:tgtEl>
                                        <p:attrNameLst>
                                          <p:attrName>style.visibility</p:attrName>
                                        </p:attrNameLst>
                                      </p:cBhvr>
                                      <p:to>
                                        <p:strVal val="visible"/>
                                      </p:to>
                                    </p:set>
                                    <p:animEffect transition="in" filter="fade">
                                      <p:cBhvr>
                                        <p:cTn id="14" dur="1000"/>
                                        <p:tgtEl>
                                          <p:spTgt spid="10">
                                            <p:txEl>
                                              <p:pRg st="4" end="4"/>
                                            </p:txEl>
                                          </p:spTgt>
                                        </p:tgtEl>
                                      </p:cBhvr>
                                    </p:animEffect>
                                    <p:anim calcmode="lin" valueType="num">
                                      <p:cBhvr>
                                        <p:cTn id="15"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4" end="4"/>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animEffect transition="in" filter="fade">
                                      <p:cBhvr>
                                        <p:cTn id="19" dur="1000"/>
                                        <p:tgtEl>
                                          <p:spTgt spid="10">
                                            <p:txEl>
                                              <p:pRg st="5" end="5"/>
                                            </p:txEl>
                                          </p:spTgt>
                                        </p:tgtEl>
                                      </p:cBhvr>
                                    </p:animEffect>
                                    <p:anim calcmode="lin" valueType="num">
                                      <p:cBhvr>
                                        <p:cTn id="20"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xEl>
                                              <p:pRg st="6" end="6"/>
                                            </p:txEl>
                                          </p:spTgt>
                                        </p:tgtEl>
                                        <p:attrNameLst>
                                          <p:attrName>style.visibility</p:attrName>
                                        </p:attrNameLst>
                                      </p:cBhvr>
                                      <p:to>
                                        <p:strVal val="visible"/>
                                      </p:to>
                                    </p:set>
                                    <p:animEffect transition="in" filter="fade">
                                      <p:cBhvr>
                                        <p:cTn id="26" dur="1000"/>
                                        <p:tgtEl>
                                          <p:spTgt spid="10">
                                            <p:txEl>
                                              <p:pRg st="6" end="6"/>
                                            </p:txEl>
                                          </p:spTgt>
                                        </p:tgtEl>
                                      </p:cBhvr>
                                    </p:animEffect>
                                    <p:anim calcmode="lin" valueType="num">
                                      <p:cBhvr>
                                        <p:cTn id="27"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6" end="6"/>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0">
                                            <p:txEl>
                                              <p:pRg st="7" end="7"/>
                                            </p:txEl>
                                          </p:spTgt>
                                        </p:tgtEl>
                                        <p:attrNameLst>
                                          <p:attrName>style.visibility</p:attrName>
                                        </p:attrNameLst>
                                      </p:cBhvr>
                                      <p:to>
                                        <p:strVal val="visible"/>
                                      </p:to>
                                    </p:set>
                                    <p:animEffect transition="in" filter="fade">
                                      <p:cBhvr>
                                        <p:cTn id="31" dur="1000"/>
                                        <p:tgtEl>
                                          <p:spTgt spid="10">
                                            <p:txEl>
                                              <p:pRg st="7" end="7"/>
                                            </p:txEl>
                                          </p:spTgt>
                                        </p:tgtEl>
                                      </p:cBhvr>
                                    </p:animEffect>
                                    <p:anim calcmode="lin" valueType="num">
                                      <p:cBhvr>
                                        <p:cTn id="32"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10">
                                            <p:txEl>
                                              <p:pRg st="7" end="7"/>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0">
                                            <p:txEl>
                                              <p:pRg st="8" end="8"/>
                                            </p:txEl>
                                          </p:spTgt>
                                        </p:tgtEl>
                                        <p:attrNameLst>
                                          <p:attrName>style.visibility</p:attrName>
                                        </p:attrNameLst>
                                      </p:cBhvr>
                                      <p:to>
                                        <p:strVal val="visible"/>
                                      </p:to>
                                    </p:set>
                                    <p:animEffect transition="in" filter="fade">
                                      <p:cBhvr>
                                        <p:cTn id="36" dur="1000"/>
                                        <p:tgtEl>
                                          <p:spTgt spid="10">
                                            <p:txEl>
                                              <p:pRg st="8" end="8"/>
                                            </p:txEl>
                                          </p:spTgt>
                                        </p:tgtEl>
                                      </p:cBhvr>
                                    </p:animEffect>
                                    <p:anim calcmode="lin" valueType="num">
                                      <p:cBhvr>
                                        <p:cTn id="37"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38"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0">
                                            <p:txEl>
                                              <p:pRg st="9" end="9"/>
                                            </p:txEl>
                                          </p:spTgt>
                                        </p:tgtEl>
                                        <p:attrNameLst>
                                          <p:attrName>style.visibility</p:attrName>
                                        </p:attrNameLst>
                                      </p:cBhvr>
                                      <p:to>
                                        <p:strVal val="visible"/>
                                      </p:to>
                                    </p:set>
                                    <p:animEffect transition="in" filter="fade">
                                      <p:cBhvr>
                                        <p:cTn id="43" dur="1000"/>
                                        <p:tgtEl>
                                          <p:spTgt spid="10">
                                            <p:txEl>
                                              <p:pRg st="9" end="9"/>
                                            </p:txEl>
                                          </p:spTgt>
                                        </p:tgtEl>
                                      </p:cBhvr>
                                    </p:animEffect>
                                    <p:anim calcmode="lin" valueType="num">
                                      <p:cBhvr>
                                        <p:cTn id="44"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45" dur="1000" fill="hold"/>
                                        <p:tgtEl>
                                          <p:spTgt spid="10">
                                            <p:txEl>
                                              <p:pRg st="9" end="9"/>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0">
                                            <p:txEl>
                                              <p:pRg st="10" end="10"/>
                                            </p:txEl>
                                          </p:spTgt>
                                        </p:tgtEl>
                                        <p:attrNameLst>
                                          <p:attrName>style.visibility</p:attrName>
                                        </p:attrNameLst>
                                      </p:cBhvr>
                                      <p:to>
                                        <p:strVal val="visible"/>
                                      </p:to>
                                    </p:set>
                                    <p:animEffect transition="in" filter="fade">
                                      <p:cBhvr>
                                        <p:cTn id="48" dur="1000"/>
                                        <p:tgtEl>
                                          <p:spTgt spid="10">
                                            <p:txEl>
                                              <p:pRg st="10" end="10"/>
                                            </p:txEl>
                                          </p:spTgt>
                                        </p:tgtEl>
                                      </p:cBhvr>
                                    </p:animEffect>
                                    <p:anim calcmode="lin" valueType="num">
                                      <p:cBhvr>
                                        <p:cTn id="49"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50"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Operations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Binary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5"/>
            <a:ext cx="9877336" cy="4882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mc:AlternateContent xmlns:mc="http://schemas.openxmlformats.org/markup-compatibility/2006" xmlns:a14="http://schemas.microsoft.com/office/drawing/2010/main">
        <mc:Choice Requires="a14">
          <p:sp>
            <p:nvSpPr>
              <p:cNvPr id="15" name="Text Box 2">
                <a:extLst>
                  <a:ext uri="{FF2B5EF4-FFF2-40B4-BE49-F238E27FC236}">
                    <a16:creationId xmlns:a16="http://schemas.microsoft.com/office/drawing/2014/main" id="{50EDA203-5FA7-476A-833E-B9EB6A6294B4}"/>
                  </a:ext>
                </a:extLst>
              </p:cNvPr>
              <p:cNvSpPr txBox="1">
                <a:spLocks noChangeArrowheads="1"/>
              </p:cNvSpPr>
              <p:nvPr/>
            </p:nvSpPr>
            <p:spPr bwMode="auto">
              <a:xfrm>
                <a:off x="269240" y="697913"/>
                <a:ext cx="11653520" cy="541713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oAutofit/>
              </a:bodyPr>
              <a:lstStyle/>
              <a:p>
                <a:pPr marL="263525" indent="-263525">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Solution</a:t>
                </a:r>
                <a:r>
                  <a:rPr lang="zh-CN" altLang="en-US" sz="2400" b="1" dirty="0">
                    <a:latin typeface="Trebuchet MS" panose="020B0603020202020204" pitchFamily="34" charset="0"/>
                  </a:rPr>
                  <a:t> </a:t>
                </a:r>
                <a:r>
                  <a:rPr lang="en-US" altLang="zh-CN" sz="2400" b="1" dirty="0">
                    <a:solidFill>
                      <a:srgbClr val="0B61FF"/>
                    </a:solidFill>
                    <a:latin typeface="Trebuchet MS" panose="020B0603020202020204" pitchFamily="34" charset="0"/>
                  </a:rPr>
                  <a:t>(2):</a:t>
                </a:r>
              </a:p>
              <a:p>
                <a:pPr marL="447675" indent="-184150">
                  <a:lnSpc>
                    <a:spcPct val="120000"/>
                  </a:lnSpc>
                  <a:buClr>
                    <a:srgbClr val="0B61FF"/>
                  </a:buClr>
                  <a:buSzPct val="120000"/>
                  <a:buFont typeface="Arial" panose="020B0604020202020204" pitchFamily="34" charset="0"/>
                  <a:buChar char="•"/>
                  <a:tabLst>
                    <a:tab pos="182563" algn="l"/>
                  </a:tabLst>
                </a:pPr>
                <a:r>
                  <a:rPr lang="en-US" sz="2400" dirty="0">
                    <a:latin typeface="Trebuchet MS" panose="020B0603020202020204" pitchFamily="34" charset="0"/>
                  </a:rPr>
                  <a:t>Find the identity element </a:t>
                </a:r>
                <a:r>
                  <a:rPr lang="en-US" altLang="zh-CN" sz="2400" b="1" i="1" dirty="0">
                    <a:solidFill>
                      <a:srgbClr val="FF0000"/>
                    </a:solidFill>
                    <a:latin typeface="Trebuchet MS" panose="020B0603020202020204" pitchFamily="34" charset="0"/>
                    <a:cs typeface="Times New Roman" panose="02020603050405020304" pitchFamily="18" charset="0"/>
                  </a:rPr>
                  <a:t>e </a:t>
                </a:r>
                <a:r>
                  <a:rPr lang="en-US" altLang="zh-CN" sz="2400" b="1" dirty="0">
                    <a:latin typeface="Trebuchet MS" panose="020B0603020202020204" pitchFamily="34" charset="0"/>
                    <a:cs typeface="Times New Roman" panose="02020603050405020304" pitchFamily="18" charset="0"/>
                  </a:rPr>
                  <a:t>: </a:t>
                </a:r>
              </a:p>
              <a:p>
                <a:pPr marL="447675">
                  <a:lnSpc>
                    <a:spcPct val="120000"/>
                  </a:lnSpc>
                  <a:buClr>
                    <a:srgbClr val="0B61FF"/>
                  </a:buClr>
                  <a:buSzPct val="120000"/>
                  <a:tabLst>
                    <a:tab pos="182563" algn="l"/>
                  </a:tabLst>
                </a:pPr>
                <a:r>
                  <a:rPr lang="en-US" altLang="zh-CN" sz="2400" b="1" dirty="0">
                    <a:solidFill>
                      <a:srgbClr val="0B61FF"/>
                    </a:solidFill>
                    <a:latin typeface="Trebuchet MS" panose="020B0603020202020204" pitchFamily="34" charset="0"/>
                  </a:rPr>
                  <a:t>① </a:t>
                </a:r>
                <a:r>
                  <a:rPr lang="en-US" sz="2400" dirty="0">
                    <a:latin typeface="Trebuchet MS" panose="020B0603020202020204" pitchFamily="34" charset="0"/>
                  </a:rPr>
                  <a:t>Assume that the identity element and the zero element under the </a:t>
                </a:r>
                <a:r>
                  <a:rPr lang="en-US" sz="2400" b="1" dirty="0">
                    <a:solidFill>
                      <a:srgbClr val="FF0000"/>
                    </a:solidFill>
                    <a:latin typeface="Trebuchet MS" panose="020B0603020202020204" pitchFamily="34" charset="0"/>
                  </a:rPr>
                  <a:t>∘</a:t>
                </a:r>
                <a:r>
                  <a:rPr lang="en-US" sz="2400" dirty="0">
                    <a:latin typeface="Trebuchet MS" panose="020B0603020202020204" pitchFamily="34" charset="0"/>
                  </a:rPr>
                  <a:t> operation are </a:t>
                </a:r>
                <a:r>
                  <a:rPr lang="en-US" altLang="zh-CN" sz="2400" b="1" i="1" dirty="0">
                    <a:latin typeface="Trebuchet MS" panose="020B0603020202020204" pitchFamily="34" charset="0"/>
                    <a:cs typeface="Times New Roman" panose="02020603050405020304" pitchFamily="18" charset="0"/>
                  </a:rPr>
                  <a:t>e</a:t>
                </a:r>
                <a:r>
                  <a:rPr lang="en-US" sz="2400" dirty="0">
                    <a:latin typeface="Trebuchet MS" panose="020B0603020202020204" pitchFamily="34" charset="0"/>
                  </a:rPr>
                  <a:t> and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 respectively. For any </a:t>
                </a:r>
                <a:r>
                  <a:rPr lang="en-US" altLang="zh-CN" sz="2400" b="1" i="1" dirty="0">
                    <a:latin typeface="Trebuchet MS" panose="020B0603020202020204" pitchFamily="34" charset="0"/>
                    <a:cs typeface="Times New Roman" panose="02020603050405020304" pitchFamily="18" charset="0"/>
                  </a:rPr>
                  <a:t>x</a:t>
                </a:r>
                <a:r>
                  <a:rPr lang="en-US" sz="2400" dirty="0">
                    <a:latin typeface="Trebuchet MS" panose="020B0603020202020204" pitchFamily="34" charset="0"/>
                  </a:rPr>
                  <a:t>, we have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x</a:t>
                </a:r>
                <a:r>
                  <a:rPr lang="zh-CN" altLang="en-US"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x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then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xe</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x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 0 . </a:t>
                </a:r>
                <a:r>
                  <a:rPr lang="en-US" altLang="zh-CN" sz="2400" b="1" dirty="0">
                    <a:solidFill>
                      <a:srgbClr val="0B61FF"/>
                    </a:solidFill>
                    <a:latin typeface="Trebuchet MS" panose="020B0603020202020204" pitchFamily="34" charset="0"/>
                  </a:rPr>
                  <a:t>② </a:t>
                </a:r>
                <a:r>
                  <a:rPr lang="en-US" sz="2400" dirty="0">
                    <a:latin typeface="Trebuchet MS" panose="020B0603020202020204" pitchFamily="34" charset="0"/>
                  </a:rPr>
                  <a:t>Since the </a:t>
                </a:r>
                <a:r>
                  <a:rPr lang="en-US" sz="2400" b="1" dirty="0">
                    <a:solidFill>
                      <a:srgbClr val="FF0000"/>
                    </a:solidFill>
                    <a:latin typeface="Trebuchet MS" panose="020B0603020202020204" pitchFamily="34" charset="0"/>
                  </a:rPr>
                  <a:t>∘</a:t>
                </a:r>
                <a:r>
                  <a:rPr lang="en-US" sz="2400" dirty="0">
                    <a:latin typeface="Trebuchet MS" panose="020B0603020202020204" pitchFamily="34" charset="0"/>
                  </a:rPr>
                  <a:t> operation is commutative, </a:t>
                </a:r>
                <a:r>
                  <a:rPr lang="en-US" sz="2400" b="1" dirty="0">
                    <a:latin typeface="Trebuchet MS" panose="020B0603020202020204" pitchFamily="34" charset="0"/>
                  </a:rPr>
                  <a:t>0</a:t>
                </a:r>
                <a:r>
                  <a:rPr lang="en-US" sz="2400" dirty="0">
                    <a:latin typeface="Trebuchet MS" panose="020B0603020202020204" pitchFamily="34" charset="0"/>
                  </a:rPr>
                  <a:t> is the identity element (unit element).</a:t>
                </a:r>
              </a:p>
              <a:p>
                <a:pPr marL="447675" indent="-184150">
                  <a:lnSpc>
                    <a:spcPct val="12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Find the zero element </a:t>
                </a:r>
                <a:r>
                  <a:rPr lang="en-US" altLang="zh-CN" sz="2400" b="1" i="1" dirty="0">
                    <a:solidFill>
                      <a:srgbClr val="FF0000"/>
                    </a:solidFill>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 </a:t>
                </a:r>
              </a:p>
              <a:p>
                <a:pPr marL="803275" indent="-355600">
                  <a:lnSpc>
                    <a:spcPct val="120000"/>
                  </a:lnSpc>
                  <a:buClr>
                    <a:srgbClr val="0B61FF"/>
                  </a:buClr>
                  <a:buSzPct val="120000"/>
                </a:pPr>
                <a:r>
                  <a:rPr lang="en-US" altLang="zh-CN" sz="2400" b="1" dirty="0">
                    <a:solidFill>
                      <a:srgbClr val="0B61FF"/>
                    </a:solidFill>
                    <a:latin typeface="Trebuchet MS" panose="020B0603020202020204" pitchFamily="34" charset="0"/>
                  </a:rPr>
                  <a:t>① </a:t>
                </a:r>
                <a:r>
                  <a:rPr lang="en-US" altLang="zh-CN" sz="2400" dirty="0">
                    <a:latin typeface="Trebuchet MS" panose="020B0603020202020204" pitchFamily="34" charset="0"/>
                  </a:rPr>
                  <a:t>For any </a:t>
                </a:r>
                <a:r>
                  <a:rPr lang="en-US" altLang="zh-CN" sz="2400" b="1" i="1" dirty="0">
                    <a:latin typeface="Trebuchet MS" panose="020B0603020202020204" pitchFamily="34" charset="0"/>
                  </a:rPr>
                  <a:t>x</a:t>
                </a:r>
                <a:r>
                  <a:rPr lang="en-US" altLang="zh-CN" sz="2400" dirty="0">
                    <a:latin typeface="Trebuchet MS" panose="020B0603020202020204" pitchFamily="34" charset="0"/>
                  </a:rPr>
                  <a:t>, we have </a:t>
                </a:r>
                <a:r>
                  <a:rPr lang="en-US" altLang="zh-CN" sz="2400" b="1" i="1" dirty="0">
                    <a:latin typeface="Trebuchet MS" panose="020B0603020202020204" pitchFamily="34" charset="0"/>
                  </a:rPr>
                  <a:t>x </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rPr>
                  <a:t> </a:t>
                </a:r>
                <a:r>
                  <a:rPr lang="en-US" altLang="zh-CN" sz="2400" b="1" i="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x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 </a:t>
                </a:r>
                <a:r>
                  <a:rPr lang="zh-CN" altLang="en-US" sz="2400" b="1" dirty="0">
                    <a:latin typeface="Trebuchet MS" panose="020B0603020202020204" pitchFamily="34" charset="0"/>
                  </a:rPr>
                  <a:t>，</a:t>
                </a:r>
                <a:r>
                  <a:rPr lang="en-US" altLang="zh-CN" sz="2400" dirty="0">
                    <a:latin typeface="Trebuchet MS" panose="020B0603020202020204" pitchFamily="34" charset="0"/>
                  </a:rPr>
                  <a:t>that is                                    </a:t>
                </a:r>
                <a:r>
                  <a:rPr lang="zh-CN" altLang="en-US"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+2</a:t>
                </a:r>
                <a:r>
                  <a:rPr lang="en-US" altLang="zh-CN" sz="2400" b="1" i="1" dirty="0">
                    <a:latin typeface="Trebuchet MS" panose="020B0603020202020204" pitchFamily="34" charset="0"/>
                  </a:rPr>
                  <a:t>x</a:t>
                </a:r>
                <a:r>
                  <a:rPr lang="en-US" altLang="zh-CN" sz="2400" b="1" i="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rPr>
                  <a:t>x</a:t>
                </a:r>
                <a:r>
                  <a:rPr lang="en-US" altLang="zh-CN" sz="2400" b="1" dirty="0">
                    <a:latin typeface="Trebuchet MS" panose="020B0603020202020204" pitchFamily="34" charset="0"/>
                  </a:rPr>
                  <a:t>+2</a:t>
                </a:r>
                <a:r>
                  <a:rPr lang="en-US" altLang="zh-CN" sz="2400" b="1" i="1" dirty="0">
                    <a:latin typeface="Trebuchet MS" panose="020B0603020202020204" pitchFamily="34" charset="0"/>
                  </a:rPr>
                  <a:t>x</a:t>
                </a:r>
                <a:r>
                  <a:rPr lang="en-US" altLang="zh-CN" sz="2400" b="1" i="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=0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b="1" i="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 </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1/2 . </a:t>
                </a:r>
                <a:r>
                  <a:rPr lang="en-US" altLang="zh-CN" sz="2400" b="1" dirty="0">
                    <a:solidFill>
                      <a:srgbClr val="0B61FF"/>
                    </a:solidFill>
                    <a:latin typeface="Trebuchet MS" panose="020B0603020202020204" pitchFamily="34" charset="0"/>
                  </a:rPr>
                  <a:t>② </a:t>
                </a:r>
                <a:r>
                  <a:rPr lang="en-US" altLang="zh-CN" sz="2400" b="1" dirty="0">
                    <a:latin typeface="Trebuchet MS" panose="020B0603020202020204" pitchFamily="34" charset="0"/>
                    <a:sym typeface="Symbol" panose="05050102010706020507" pitchFamily="18" charset="2"/>
                  </a:rPr>
                  <a:t>1/2</a:t>
                </a:r>
                <a:r>
                  <a:rPr lang="zh-CN" altLang="en-US" sz="2400" b="1" dirty="0">
                    <a:latin typeface="Trebuchet MS" panose="020B0603020202020204" pitchFamily="34" charset="0"/>
                    <a:sym typeface="Symbol" panose="05050102010706020507" pitchFamily="18" charset="2"/>
                  </a:rPr>
                  <a:t> </a:t>
                </a:r>
                <a:r>
                  <a:rPr lang="en-US" altLang="zh-CN" sz="2400" dirty="0">
                    <a:latin typeface="Trebuchet MS" panose="020B0603020202020204" pitchFamily="34" charset="0"/>
                  </a:rPr>
                  <a:t>zero element</a:t>
                </a:r>
                <a:r>
                  <a:rPr lang="en-US" altLang="zh-CN" sz="2400" b="1" dirty="0">
                    <a:latin typeface="Trebuchet MS" panose="020B0603020202020204" pitchFamily="34" charset="0"/>
                    <a:sym typeface="Symbol" panose="05050102010706020507" pitchFamily="18" charset="2"/>
                  </a:rPr>
                  <a:t>. </a:t>
                </a:r>
              </a:p>
              <a:p>
                <a:pPr marL="447675" indent="-184150">
                  <a:lnSpc>
                    <a:spcPct val="12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Find the inverse </a:t>
                </a:r>
                <a:r>
                  <a:rPr lang="en-US" altLang="zh-CN" sz="2400" b="1" i="1" dirty="0">
                    <a:solidFill>
                      <a:srgbClr val="FF0000"/>
                    </a:solidFill>
                    <a:latin typeface="Trebuchet MS" panose="020B0603020202020204" pitchFamily="34" charset="0"/>
                  </a:rPr>
                  <a:t>y</a:t>
                </a:r>
                <a:r>
                  <a:rPr lang="en-US" altLang="zh-CN" sz="2400" b="1" dirty="0">
                    <a:latin typeface="Trebuchet MS" panose="020B0603020202020204" pitchFamily="34" charset="0"/>
                    <a:cs typeface="Times New Roman" panose="02020603050405020304" pitchFamily="18" charset="0"/>
                  </a:rPr>
                  <a:t> : </a:t>
                </a:r>
              </a:p>
              <a:p>
                <a:pPr marL="803275" indent="-355600">
                  <a:buClr>
                    <a:srgbClr val="0B61FF"/>
                  </a:buClr>
                  <a:buSzPct val="120000"/>
                </a:pPr>
                <a:r>
                  <a:rPr lang="en-US" altLang="zh-CN" sz="2400" b="1" dirty="0">
                    <a:solidFill>
                      <a:srgbClr val="0B61FF"/>
                    </a:solidFill>
                    <a:latin typeface="Trebuchet MS" panose="020B0603020202020204" pitchFamily="34" charset="0"/>
                  </a:rPr>
                  <a:t>① </a:t>
                </a:r>
                <a:r>
                  <a:rPr lang="en-US" altLang="zh-CN" sz="2400" dirty="0">
                    <a:latin typeface="Trebuchet MS" panose="020B0603020202020204" pitchFamily="34" charset="0"/>
                  </a:rPr>
                  <a:t>Let </a:t>
                </a:r>
                <a:r>
                  <a:rPr lang="en-US" altLang="zh-CN" sz="2400" b="1" i="1" dirty="0">
                    <a:latin typeface="Trebuchet MS" panose="020B0603020202020204" pitchFamily="34" charset="0"/>
                  </a:rPr>
                  <a:t>y</a:t>
                </a:r>
                <a:r>
                  <a:rPr lang="en-US" altLang="zh-CN" sz="2400" dirty="0">
                    <a:latin typeface="Trebuchet MS" panose="020B0603020202020204" pitchFamily="34" charset="0"/>
                  </a:rPr>
                  <a:t> be the inverse of </a:t>
                </a:r>
                <a:r>
                  <a:rPr lang="en-US" altLang="zh-CN" sz="2400" b="1" i="1" dirty="0">
                    <a:latin typeface="Trebuchet MS" panose="020B0603020202020204" pitchFamily="34" charset="0"/>
                  </a:rPr>
                  <a:t>x</a:t>
                </a:r>
                <a:r>
                  <a:rPr lang="en-US" altLang="zh-CN" sz="2400" dirty="0">
                    <a:latin typeface="Trebuchet MS" panose="020B0603020202020204" pitchFamily="34" charset="0"/>
                  </a:rPr>
                  <a:t>. Then we have </a:t>
                </a:r>
                <a:r>
                  <a:rPr lang="en-US" altLang="zh-CN" sz="2400" b="1" i="1" dirty="0">
                    <a:latin typeface="Trebuchet MS" panose="020B0603020202020204" pitchFamily="34" charset="0"/>
                  </a:rPr>
                  <a:t>x </a:t>
                </a:r>
                <a:r>
                  <a:rPr lang="zh-CN" altLang="en-US"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y</a:t>
                </a:r>
                <a:r>
                  <a:rPr lang="en-US" altLang="zh-CN" sz="2400" b="1" dirty="0">
                    <a:latin typeface="Trebuchet MS" panose="020B0603020202020204" pitchFamily="34" charset="0"/>
                  </a:rPr>
                  <a:t> = </a:t>
                </a:r>
                <a:r>
                  <a:rPr lang="en-US" altLang="zh-CN" sz="2400" b="1" i="1" dirty="0">
                    <a:latin typeface="Trebuchet MS" panose="020B0603020202020204" pitchFamily="34" charset="0"/>
                  </a:rPr>
                  <a:t>e</a:t>
                </a:r>
                <a:r>
                  <a:rPr lang="en-US" altLang="zh-CN" sz="2400" b="1" dirty="0">
                    <a:latin typeface="Trebuchet MS" panose="020B0603020202020204" pitchFamily="34" charset="0"/>
                  </a:rPr>
                  <a:t> =0</a:t>
                </a:r>
                <a:r>
                  <a:rPr lang="zh-CN" altLang="en-US" sz="2400" b="1" dirty="0">
                    <a:latin typeface="Trebuchet MS" panose="020B0603020202020204" pitchFamily="34" charset="0"/>
                  </a:rPr>
                  <a:t> </a:t>
                </a:r>
                <a:r>
                  <a:rPr lang="en-US" altLang="zh-CN" sz="2400" b="1" dirty="0">
                    <a:latin typeface="Trebuchet MS" panose="020B0603020202020204" pitchFamily="34" charset="0"/>
                  </a:rPr>
                  <a:t>,</a:t>
                </a:r>
                <a:r>
                  <a:rPr lang="en-US" altLang="zh-CN" sz="2400" dirty="0">
                    <a:latin typeface="Trebuchet MS" panose="020B0603020202020204" pitchFamily="34" charset="0"/>
                  </a:rPr>
                  <a:t>that is </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+2</a:t>
                </a:r>
                <a:r>
                  <a:rPr lang="en-US" altLang="zh-CN" sz="2400" b="1" i="1" dirty="0">
                    <a:latin typeface="Trebuchet MS" panose="020B0603020202020204" pitchFamily="34" charset="0"/>
                  </a:rPr>
                  <a:t>xy</a:t>
                </a:r>
                <a:r>
                  <a:rPr lang="en-US" altLang="zh-CN" sz="2400" b="1" dirty="0">
                    <a:latin typeface="Trebuchet MS" panose="020B0603020202020204" pitchFamily="34" charset="0"/>
                  </a:rPr>
                  <a:t> = 0 . </a:t>
                </a:r>
              </a:p>
              <a:p>
                <a:pPr marL="263525" indent="184150">
                  <a:buClr>
                    <a:srgbClr val="0B61FF"/>
                  </a:buClr>
                  <a:buSzPct val="120000"/>
                </a:pPr>
                <a:r>
                  <a:rPr lang="en-US" altLang="zh-CN" sz="2400" b="1" dirty="0">
                    <a:solidFill>
                      <a:srgbClr val="0B61FF"/>
                    </a:solidFill>
                    <a:latin typeface="Trebuchet MS" panose="020B0603020202020204" pitchFamily="34" charset="0"/>
                  </a:rPr>
                  <a:t>②</a:t>
                </a:r>
                <a14:m>
                  <m:oMath xmlns:m="http://schemas.openxmlformats.org/officeDocument/2006/math">
                    <m:r>
                      <a:rPr lang="en-US" altLang="zh-CN" sz="2400" b="1" i="0" smtClean="0">
                        <a:latin typeface="Cambria Math" panose="02040503050406030204" pitchFamily="18" charset="0"/>
                      </a:rPr>
                      <m:t> </m:t>
                    </m:r>
                    <m:r>
                      <a:rPr lang="en-US" altLang="zh-CN" sz="2400" b="1" i="1">
                        <a:latin typeface="Cambria Math" panose="02040503050406030204" pitchFamily="18" charset="0"/>
                      </a:rPr>
                      <m:t>𝒚</m:t>
                    </m:r>
                    <m:r>
                      <a:rPr lang="en-US" altLang="zh-CN" sz="2400" b="1" i="1">
                        <a:latin typeface="Cambria Math" panose="02040503050406030204" pitchFamily="18" charset="0"/>
                      </a:rPr>
                      <m:t>=−</m:t>
                    </m:r>
                    <m:f>
                      <m:fPr>
                        <m:ctrlPr>
                          <a:rPr lang="zh-CN" altLang="zh-CN" sz="2400" b="1" i="1">
                            <a:latin typeface="Cambria Math" panose="02040503050406030204" pitchFamily="18" charset="0"/>
                          </a:rPr>
                        </m:ctrlPr>
                      </m:fPr>
                      <m:num>
                        <m:r>
                          <a:rPr lang="en-US" altLang="zh-CN" sz="2400" b="1" i="1">
                            <a:latin typeface="Cambria Math" panose="02040503050406030204" pitchFamily="18" charset="0"/>
                          </a:rPr>
                          <m:t>𝒙</m:t>
                        </m:r>
                      </m:num>
                      <m:den>
                        <m:r>
                          <a:rPr lang="en-US" altLang="zh-CN" sz="2400" b="1" i="1">
                            <a:latin typeface="Cambria Math" panose="02040503050406030204" pitchFamily="18" charset="0"/>
                          </a:rPr>
                          <m:t>𝟐</m:t>
                        </m:r>
                        <m:r>
                          <a:rPr lang="en-US" altLang="zh-CN" sz="2400" b="1" i="1">
                            <a:latin typeface="Cambria Math" panose="02040503050406030204" pitchFamily="18" charset="0"/>
                          </a:rPr>
                          <m:t>𝒙</m:t>
                        </m:r>
                        <m:r>
                          <a:rPr lang="en-US" altLang="zh-CN" sz="2400" b="1" i="1">
                            <a:latin typeface="Cambria Math" panose="02040503050406030204" pitchFamily="18" charset="0"/>
                          </a:rPr>
                          <m:t>+</m:t>
                        </m:r>
                        <m:r>
                          <a:rPr lang="en-US" altLang="zh-CN" sz="2400" b="1" i="1">
                            <a:latin typeface="Cambria Math" panose="02040503050406030204" pitchFamily="18" charset="0"/>
                          </a:rPr>
                          <m:t>𝟏</m:t>
                        </m:r>
                      </m:den>
                    </m:f>
                  </m:oMath>
                </a14:m>
                <a:r>
                  <a:rPr lang="zh-CN" altLang="en-US" sz="2400" b="1" dirty="0">
                    <a:latin typeface="Trebuchet MS" panose="020B0603020202020204" pitchFamily="34" charset="0"/>
                  </a:rPr>
                  <a:t>，</a:t>
                </a:r>
                <a:r>
                  <a:rPr lang="en-US" altLang="zh-CN" sz="2400" dirty="0">
                    <a:latin typeface="Trebuchet MS" panose="020B0603020202020204" pitchFamily="34" charset="0"/>
                  </a:rPr>
                  <a:t>this means that every </a:t>
                </a:r>
                <a:r>
                  <a:rPr lang="en-US" altLang="zh-CN" sz="2400" b="1" i="1" dirty="0">
                    <a:latin typeface="Trebuchet MS" panose="020B0603020202020204" pitchFamily="34" charset="0"/>
                  </a:rPr>
                  <a:t>x</a:t>
                </a:r>
                <a:r>
                  <a:rPr lang="zh-CN" altLang="zh-CN" sz="2400" b="1" dirty="0">
                    <a:latin typeface="Trebuchet MS" panose="020B0603020202020204" pitchFamily="34" charset="0"/>
                    <a:cs typeface="Times New Roman" panose="02020603050405020304" pitchFamily="18" charset="0"/>
                  </a:rPr>
                  <a:t>（</a:t>
                </a:r>
                <a14:m>
                  <m:oMath xmlns:m="http://schemas.openxmlformats.org/officeDocument/2006/math">
                    <m:r>
                      <a:rPr lang="en-US" altLang="zh-CN" sz="2400" b="1" i="1">
                        <a:latin typeface="Cambria Math" panose="02040503050406030204" pitchFamily="18" charset="0"/>
                      </a:rPr>
                      <m:t>𝒙</m:t>
                    </m:r>
                    <m:r>
                      <a:rPr lang="en-US" altLang="zh-CN" sz="2400" b="1" i="1">
                        <a:latin typeface="Cambria Math" panose="02040503050406030204" pitchFamily="18" charset="0"/>
                      </a:rPr>
                      <m:t>≠−</m:t>
                    </m:r>
                    <m:f>
                      <m:fPr>
                        <m:ctrlPr>
                          <a:rPr lang="zh-CN" altLang="zh-CN" sz="2400" b="1" i="1">
                            <a:latin typeface="Cambria Math" panose="02040503050406030204" pitchFamily="18" charset="0"/>
                          </a:rPr>
                        </m:ctrlPr>
                      </m:fPr>
                      <m:num>
                        <m:r>
                          <a:rPr lang="en-US" altLang="zh-CN" sz="2400" b="1" i="1">
                            <a:latin typeface="Cambria Math" panose="02040503050406030204" pitchFamily="18" charset="0"/>
                          </a:rPr>
                          <m:t>𝟏</m:t>
                        </m:r>
                      </m:num>
                      <m:den>
                        <m:r>
                          <a:rPr lang="en-US" altLang="zh-CN" sz="2400" b="1" i="1">
                            <a:latin typeface="Cambria Math" panose="02040503050406030204" pitchFamily="18" charset="0"/>
                          </a:rPr>
                          <m:t>𝟐</m:t>
                        </m:r>
                      </m:den>
                    </m:f>
                  </m:oMath>
                </a14:m>
                <a:r>
                  <a:rPr lang="en-US" altLang="zh-CN" sz="2400" b="1" dirty="0">
                    <a:latin typeface="Trebuchet MS" panose="020B0603020202020204" pitchFamily="34" charset="0"/>
                    <a:cs typeface="Times New Roman" panose="02020603050405020304" pitchFamily="18" charset="0"/>
                  </a:rPr>
                  <a:t> ​</a:t>
                </a:r>
                <a:r>
                  <a:rPr lang="zh-CN"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has an inverse </a:t>
                </a:r>
                <a:r>
                  <a:rPr lang="en-US" altLang="zh-CN" sz="2400" b="1" dirty="0">
                    <a:latin typeface="Trebuchet MS" panose="020B0603020202020204" pitchFamily="34" charset="0"/>
                    <a:cs typeface="Times New Roman" panose="02020603050405020304" pitchFamily="18" charset="0"/>
                  </a:rPr>
                  <a:t>y.</a:t>
                </a:r>
                <a:endParaRPr lang="zh-CN" altLang="zh-CN" sz="2400" b="1" dirty="0">
                  <a:latin typeface="Trebuchet MS" panose="020B0603020202020204" pitchFamily="34" charset="0"/>
                  <a:cs typeface="Times New Roman" panose="02020603050405020304" pitchFamily="18" charset="0"/>
                </a:endParaRPr>
              </a:p>
              <a:p>
                <a:pPr marL="447675" indent="-184150">
                  <a:lnSpc>
                    <a:spcPct val="110000"/>
                  </a:lnSpc>
                  <a:buClr>
                    <a:srgbClr val="0B61FF"/>
                  </a:buClr>
                  <a:buSzPct val="120000"/>
                  <a:buFont typeface="Arial" panose="020B0604020202020204" pitchFamily="34" charset="0"/>
                  <a:buChar char="•"/>
                  <a:tabLst>
                    <a:tab pos="182563" algn="l"/>
                  </a:tabLst>
                </a:pPr>
                <a:endParaRPr lang="en-US" sz="2400" dirty="0">
                  <a:latin typeface="Trebuchet MS" panose="020B0603020202020204" pitchFamily="34" charset="0"/>
                </a:endParaRPr>
              </a:p>
            </p:txBody>
          </p:sp>
        </mc:Choice>
        <mc:Fallback xmlns="">
          <p:sp>
            <p:nvSpPr>
              <p:cNvPr id="15" name="Text Box 2">
                <a:extLst>
                  <a:ext uri="{FF2B5EF4-FFF2-40B4-BE49-F238E27FC236}">
                    <a16:creationId xmlns:a16="http://schemas.microsoft.com/office/drawing/2014/main" id="{50EDA203-5FA7-476A-833E-B9EB6A6294B4}"/>
                  </a:ext>
                </a:extLst>
              </p:cNvPr>
              <p:cNvSpPr txBox="1">
                <a:spLocks noRot="1" noChangeAspect="1" noMove="1" noResize="1" noEditPoints="1" noAdjustHandles="1" noChangeArrowheads="1" noChangeShapeType="1" noTextEdit="1"/>
              </p:cNvSpPr>
              <p:nvPr/>
            </p:nvSpPr>
            <p:spPr bwMode="auto">
              <a:xfrm>
                <a:off x="269240" y="697913"/>
                <a:ext cx="11653520" cy="5417135"/>
              </a:xfrm>
              <a:prstGeom prst="rect">
                <a:avLst/>
              </a:prstGeom>
              <a:blipFill>
                <a:blip r:embed="rId5"/>
                <a:stretch>
                  <a:fillRect l="-366" t="-337" b="-22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1167993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Effect transition="in" filter="fade">
                                      <p:cBhvr>
                                        <p:cTn id="7" dur="1000"/>
                                        <p:tgtEl>
                                          <p:spTgt spid="15">
                                            <p:txEl>
                                              <p:pRg st="3" end="3"/>
                                            </p:txEl>
                                          </p:spTgt>
                                        </p:tgtEl>
                                      </p:cBhvr>
                                    </p:animEffect>
                                    <p:anim calcmode="lin" valueType="num">
                                      <p:cBhvr>
                                        <p:cTn id="8"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xEl>
                                              <p:pRg st="4" end="4"/>
                                            </p:txEl>
                                          </p:spTgt>
                                        </p:tgtEl>
                                        <p:attrNameLst>
                                          <p:attrName>style.visibility</p:attrName>
                                        </p:attrNameLst>
                                      </p:cBhvr>
                                      <p:to>
                                        <p:strVal val="visible"/>
                                      </p:to>
                                    </p:set>
                                    <p:animEffect transition="in" filter="fade">
                                      <p:cBhvr>
                                        <p:cTn id="12" dur="1000"/>
                                        <p:tgtEl>
                                          <p:spTgt spid="15">
                                            <p:txEl>
                                              <p:pRg st="4" end="4"/>
                                            </p:txEl>
                                          </p:spTgt>
                                        </p:tgtEl>
                                      </p:cBhvr>
                                    </p:animEffect>
                                    <p:anim calcmode="lin" valueType="num">
                                      <p:cBhvr>
                                        <p:cTn id="13"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5">
                                            <p:txEl>
                                              <p:pRg st="5" end="5"/>
                                            </p:txEl>
                                          </p:spTgt>
                                        </p:tgtEl>
                                        <p:attrNameLst>
                                          <p:attrName>style.visibility</p:attrName>
                                        </p:attrNameLst>
                                      </p:cBhvr>
                                      <p:to>
                                        <p:strVal val="visible"/>
                                      </p:to>
                                    </p:set>
                                    <p:animEffect transition="in" filter="fade">
                                      <p:cBhvr>
                                        <p:cTn id="19" dur="1000"/>
                                        <p:tgtEl>
                                          <p:spTgt spid="15">
                                            <p:txEl>
                                              <p:pRg st="5" end="5"/>
                                            </p:txEl>
                                          </p:spTgt>
                                        </p:tgtEl>
                                      </p:cBhvr>
                                    </p:animEffect>
                                    <p:anim calcmode="lin" valueType="num">
                                      <p:cBhvr>
                                        <p:cTn id="20" dur="1000" fill="hold"/>
                                        <p:tgtEl>
                                          <p:spTgt spid="15">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15">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5">
                                            <p:txEl>
                                              <p:pRg st="6" end="6"/>
                                            </p:txEl>
                                          </p:spTgt>
                                        </p:tgtEl>
                                        <p:attrNameLst>
                                          <p:attrName>style.visibility</p:attrName>
                                        </p:attrNameLst>
                                      </p:cBhvr>
                                      <p:to>
                                        <p:strVal val="visible"/>
                                      </p:to>
                                    </p:set>
                                    <p:animEffect transition="in" filter="fade">
                                      <p:cBhvr>
                                        <p:cTn id="24" dur="1000"/>
                                        <p:tgtEl>
                                          <p:spTgt spid="15">
                                            <p:txEl>
                                              <p:pRg st="6" end="6"/>
                                            </p:txEl>
                                          </p:spTgt>
                                        </p:tgtEl>
                                      </p:cBhvr>
                                    </p:animEffect>
                                    <p:anim calcmode="lin" valueType="num">
                                      <p:cBhvr>
                                        <p:cTn id="25" dur="1000" fill="hold"/>
                                        <p:tgtEl>
                                          <p:spTgt spid="15">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15">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5">
                                            <p:txEl>
                                              <p:pRg st="7" end="7"/>
                                            </p:txEl>
                                          </p:spTgt>
                                        </p:tgtEl>
                                        <p:attrNameLst>
                                          <p:attrName>style.visibility</p:attrName>
                                        </p:attrNameLst>
                                      </p:cBhvr>
                                      <p:to>
                                        <p:strVal val="visible"/>
                                      </p:to>
                                    </p:set>
                                    <p:animEffect transition="in" filter="fade">
                                      <p:cBhvr>
                                        <p:cTn id="29" dur="1000"/>
                                        <p:tgtEl>
                                          <p:spTgt spid="15">
                                            <p:txEl>
                                              <p:pRg st="7" end="7"/>
                                            </p:txEl>
                                          </p:spTgt>
                                        </p:tgtEl>
                                      </p:cBhvr>
                                    </p:animEffect>
                                    <p:anim calcmode="lin" valueType="num">
                                      <p:cBhvr>
                                        <p:cTn id="30" dur="1000" fill="hold"/>
                                        <p:tgtEl>
                                          <p:spTgt spid="15">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1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9.1.2 Properties of Binary Operations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Binary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6" y="957942"/>
            <a:ext cx="9862457" cy="55184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24" name="Text Box 3">
            <a:extLst>
              <a:ext uri="{FF2B5EF4-FFF2-40B4-BE49-F238E27FC236}">
                <a16:creationId xmlns:a16="http://schemas.microsoft.com/office/drawing/2014/main" id="{D8C1BD7E-5590-4CCD-995E-46778359DD14}"/>
              </a:ext>
            </a:extLst>
          </p:cNvPr>
          <p:cNvSpPr txBox="1">
            <a:spLocks noChangeArrowheads="1"/>
          </p:cNvSpPr>
          <p:nvPr/>
        </p:nvSpPr>
        <p:spPr bwMode="auto">
          <a:xfrm>
            <a:off x="682754" y="761999"/>
            <a:ext cx="6952616" cy="2509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63525" indent="-263525">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en-US" sz="2400" dirty="0">
                <a:latin typeface="Trebuchet MS" panose="020B0603020202020204" pitchFamily="34" charset="0"/>
              </a:rPr>
              <a:t>Here are three operation tables:</a:t>
            </a:r>
          </a:p>
          <a:p>
            <a:pPr marL="630238" indent="-447675">
              <a:lnSpc>
                <a:spcPct val="110000"/>
              </a:lnSpc>
            </a:pPr>
            <a:r>
              <a:rPr lang="en-US" sz="2400" b="1" dirty="0">
                <a:solidFill>
                  <a:srgbClr val="0B61FF"/>
                </a:solidFill>
                <a:latin typeface="Trebuchet MS" panose="020B0603020202020204" pitchFamily="34" charset="0"/>
              </a:rPr>
              <a:t>(1) </a:t>
            </a:r>
            <a:r>
              <a:rPr lang="en-US" sz="2400" dirty="0">
                <a:latin typeface="Trebuchet MS" panose="020B0603020202020204" pitchFamily="34" charset="0"/>
              </a:rPr>
              <a:t>Identify which operations are </a:t>
            </a:r>
            <a:r>
              <a:rPr lang="en-US" sz="2400" b="1" dirty="0">
                <a:latin typeface="Trebuchet MS" panose="020B0603020202020204" pitchFamily="34" charset="0"/>
              </a:rPr>
              <a:t>commutative</a:t>
            </a:r>
            <a:r>
              <a:rPr lang="en-US" sz="2400" dirty="0">
                <a:latin typeface="Trebuchet MS" panose="020B0603020202020204" pitchFamily="34" charset="0"/>
              </a:rPr>
              <a:t>, </a:t>
            </a:r>
            <a:r>
              <a:rPr lang="en-US" sz="2400" b="1" dirty="0">
                <a:latin typeface="Trebuchet MS" panose="020B0603020202020204" pitchFamily="34" charset="0"/>
              </a:rPr>
              <a:t>associative</a:t>
            </a:r>
            <a:r>
              <a:rPr lang="en-US" sz="2400" dirty="0">
                <a:latin typeface="Trebuchet MS" panose="020B0603020202020204" pitchFamily="34" charset="0"/>
              </a:rPr>
              <a:t>, and </a:t>
            </a:r>
            <a:r>
              <a:rPr lang="en-US" sz="2400" b="1" dirty="0">
                <a:latin typeface="Trebuchet MS" panose="020B0603020202020204" pitchFamily="34" charset="0"/>
              </a:rPr>
              <a:t>idempotent</a:t>
            </a:r>
            <a:r>
              <a:rPr lang="en-US" sz="2400" dirty="0">
                <a:latin typeface="Trebuchet MS" panose="020B0603020202020204" pitchFamily="34" charset="0"/>
              </a:rPr>
              <a:t>.</a:t>
            </a:r>
          </a:p>
          <a:p>
            <a:pPr marL="630238" indent="-447675">
              <a:lnSpc>
                <a:spcPct val="110000"/>
              </a:lnSpc>
            </a:pPr>
            <a:r>
              <a:rPr lang="en-US" sz="2400" b="1" dirty="0">
                <a:solidFill>
                  <a:srgbClr val="0B61FF"/>
                </a:solidFill>
                <a:latin typeface="Trebuchet MS" panose="020B0603020202020204" pitchFamily="34" charset="0"/>
              </a:rPr>
              <a:t>(2) </a:t>
            </a:r>
            <a:r>
              <a:rPr lang="en-US" sz="2400" dirty="0">
                <a:latin typeface="Trebuchet MS" panose="020B0603020202020204" pitchFamily="34" charset="0"/>
              </a:rPr>
              <a:t>Find the </a:t>
            </a:r>
            <a:r>
              <a:rPr lang="en-US" sz="2400" b="1" dirty="0">
                <a:latin typeface="Trebuchet MS" panose="020B0603020202020204" pitchFamily="34" charset="0"/>
              </a:rPr>
              <a:t>identity element</a:t>
            </a:r>
            <a:r>
              <a:rPr lang="en-US" sz="2400" dirty="0">
                <a:latin typeface="Trebuchet MS" panose="020B0603020202020204" pitchFamily="34" charset="0"/>
              </a:rPr>
              <a:t>, </a:t>
            </a:r>
            <a:r>
              <a:rPr lang="en-US" sz="2400" b="1" dirty="0">
                <a:latin typeface="Trebuchet MS" panose="020B0603020202020204" pitchFamily="34" charset="0"/>
              </a:rPr>
              <a:t>zero element</a:t>
            </a:r>
            <a:r>
              <a:rPr lang="en-US" sz="2400" dirty="0">
                <a:latin typeface="Trebuchet MS" panose="020B0603020202020204" pitchFamily="34" charset="0"/>
              </a:rPr>
              <a:t>, and the </a:t>
            </a:r>
            <a:r>
              <a:rPr lang="en-US" sz="2400" b="1" dirty="0">
                <a:latin typeface="Trebuchet MS" panose="020B0603020202020204" pitchFamily="34" charset="0"/>
              </a:rPr>
              <a:t>inverse</a:t>
            </a:r>
            <a:r>
              <a:rPr lang="en-US" sz="2400" dirty="0">
                <a:latin typeface="Trebuchet MS" panose="020B0603020202020204" pitchFamily="34" charset="0"/>
              </a:rPr>
              <a:t> of all invertible elements for each operation.</a:t>
            </a:r>
          </a:p>
        </p:txBody>
      </p:sp>
      <p:sp>
        <p:nvSpPr>
          <p:cNvPr id="26" name="Text Box 41">
            <a:extLst>
              <a:ext uri="{FF2B5EF4-FFF2-40B4-BE49-F238E27FC236}">
                <a16:creationId xmlns:a16="http://schemas.microsoft.com/office/drawing/2014/main" id="{632053D3-F4A8-4630-9294-22B36F12FB83}"/>
              </a:ext>
            </a:extLst>
          </p:cNvPr>
          <p:cNvSpPr txBox="1">
            <a:spLocks noChangeArrowheads="1"/>
          </p:cNvSpPr>
          <p:nvPr/>
        </p:nvSpPr>
        <p:spPr bwMode="auto">
          <a:xfrm>
            <a:off x="682755" y="3350896"/>
            <a:ext cx="10310366" cy="2905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63525" indent="-263525">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ea typeface="宋体" panose="02010600030101010101" pitchFamily="2" charset="-122"/>
              </a:rPr>
              <a:t>Solve</a:t>
            </a:r>
            <a:r>
              <a:rPr lang="en-US" altLang="zh-CN" sz="2400" b="1" dirty="0">
                <a:solidFill>
                  <a:srgbClr val="0B61FF"/>
                </a:solidFill>
                <a:latin typeface="Trebuchet MS" panose="020B0603020202020204" pitchFamily="34" charset="0"/>
              </a:rPr>
              <a:t> (1) </a:t>
            </a:r>
            <a:r>
              <a:rPr lang="en-US" altLang="zh-CN" sz="2400" b="1" dirty="0">
                <a:latin typeface="Trebuchet MS" panose="020B0603020202020204" pitchFamily="34" charset="0"/>
              </a:rPr>
              <a:t>:</a:t>
            </a:r>
            <a:r>
              <a:rPr lang="zh-CN" altLang="en-US" sz="2400" dirty="0">
                <a:latin typeface="Trebuchet MS" panose="020B0603020202020204" pitchFamily="34" charset="0"/>
                <a:ea typeface="宋体" panose="02010600030101010101" pitchFamily="2" charset="-122"/>
                <a:sym typeface="Symbol" panose="05050102010706020507" pitchFamily="18" charset="2"/>
              </a:rPr>
              <a:t> </a:t>
            </a:r>
            <a:r>
              <a:rPr lang="zh-CN" altLang="en-US" sz="2400" b="1" dirty="0">
                <a:solidFill>
                  <a:srgbClr val="0B61FF"/>
                </a:solidFill>
                <a:latin typeface="宋体" panose="02010600030101010101" pitchFamily="2" charset="-122"/>
                <a:ea typeface="宋体" panose="02010600030101010101" pitchFamily="2" charset="-122"/>
                <a:sym typeface="Symbol" panose="05050102010706020507" pitchFamily="18" charset="2"/>
              </a:rPr>
              <a:t>① </a:t>
            </a:r>
            <a:r>
              <a:rPr lang="zh-CN" altLang="en-US" sz="2400" b="1" dirty="0">
                <a:solidFill>
                  <a:srgbClr val="FF0000"/>
                </a:solidFill>
                <a:latin typeface="Trebuchet MS" panose="020B0603020202020204" pitchFamily="34" charset="0"/>
                <a:ea typeface="宋体" panose="02010600030101010101" pitchFamily="2" charset="-122"/>
                <a:sym typeface="Symbol" panose="05050102010706020507" pitchFamily="18" charset="2"/>
              </a:rPr>
              <a:t></a:t>
            </a:r>
            <a:r>
              <a:rPr lang="zh-CN" altLang="en-US"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satisfies the commutative law and associative law</a:t>
            </a:r>
            <a:r>
              <a:rPr lang="en-US" altLang="zh-CN" sz="2400" b="1" dirty="0">
                <a:latin typeface="Trebuchet MS" panose="020B0603020202020204" pitchFamily="34" charset="0"/>
                <a:ea typeface="宋体" panose="02010600030101010101" pitchFamily="2" charset="-122"/>
              </a:rPr>
              <a:t>.</a:t>
            </a:r>
            <a:r>
              <a:rPr lang="zh-CN" altLang="en-US" sz="2400" b="1" dirty="0">
                <a:latin typeface="Trebuchet MS" panose="020B0603020202020204" pitchFamily="34" charset="0"/>
                <a:ea typeface="宋体" panose="02010600030101010101" pitchFamily="2" charset="-122"/>
              </a:rPr>
              <a:t> </a:t>
            </a:r>
            <a:r>
              <a:rPr lang="zh-CN" altLang="en-US" sz="2400" b="1" dirty="0">
                <a:solidFill>
                  <a:srgbClr val="0B61FF"/>
                </a:solidFill>
                <a:latin typeface="宋体" panose="02010600030101010101" pitchFamily="2" charset="-122"/>
                <a:ea typeface="宋体" panose="02010600030101010101" pitchFamily="2" charset="-122"/>
              </a:rPr>
              <a:t>②</a:t>
            </a:r>
            <a:r>
              <a:rPr lang="zh-CN" altLang="en-US" sz="2400" b="1" dirty="0">
                <a:solidFill>
                  <a:srgbClr val="FF0000"/>
                </a:solidFill>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satisfies the associative law and idempotent law</a:t>
            </a:r>
            <a:r>
              <a:rPr lang="en-US" altLang="zh-CN" sz="2400" b="1" dirty="0">
                <a:latin typeface="Trebuchet MS" panose="020B0603020202020204" pitchFamily="34" charset="0"/>
                <a:ea typeface="宋体" panose="02010600030101010101" pitchFamily="2" charset="-122"/>
              </a:rPr>
              <a:t>. </a:t>
            </a:r>
            <a:r>
              <a:rPr lang="en-US" altLang="zh-CN" sz="2400" b="1" dirty="0">
                <a:solidFill>
                  <a:srgbClr val="0B61FF"/>
                </a:solidFill>
                <a:latin typeface="宋体" panose="02010600030101010101" pitchFamily="2" charset="-122"/>
                <a:ea typeface="宋体" panose="02010600030101010101" pitchFamily="2" charset="-122"/>
              </a:rPr>
              <a:t>③</a:t>
            </a:r>
            <a:r>
              <a:rPr lang="zh-CN" altLang="en-US" sz="1400" b="1" dirty="0">
                <a:solidFill>
                  <a:srgbClr val="FF0000"/>
                </a:solidFill>
                <a:latin typeface="Trebuchet MS" panose="020B0603020202020204" pitchFamily="34" charset="0"/>
                <a:ea typeface="宋体" panose="02010600030101010101" pitchFamily="2" charset="-122"/>
              </a:rPr>
              <a:t>●</a:t>
            </a:r>
            <a:r>
              <a:rPr lang="zh-CN" altLang="en-US"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satisfies the </a:t>
            </a:r>
            <a:r>
              <a:rPr lang="en-US" sz="2400" b="1" dirty="0">
                <a:latin typeface="Trebuchet MS" panose="020B0603020202020204" pitchFamily="34" charset="0"/>
              </a:rPr>
              <a:t>commutative law</a:t>
            </a:r>
            <a:r>
              <a:rPr lang="en-US" sz="2400" dirty="0">
                <a:latin typeface="Trebuchet MS" panose="020B0603020202020204" pitchFamily="34" charset="0"/>
              </a:rPr>
              <a:t> and </a:t>
            </a:r>
            <a:r>
              <a:rPr lang="en-US" sz="2400" b="1" dirty="0">
                <a:latin typeface="Trebuchet MS" panose="020B0603020202020204" pitchFamily="34" charset="0"/>
              </a:rPr>
              <a:t>associative law</a:t>
            </a:r>
            <a:r>
              <a:rPr lang="en-US" sz="2400" dirty="0">
                <a:latin typeface="Trebuchet MS" panose="020B0603020202020204" pitchFamily="34" charset="0"/>
              </a:rPr>
              <a:t>.</a:t>
            </a:r>
          </a:p>
          <a:p>
            <a:pPr marL="342900" indent="-342900">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Solve</a:t>
            </a:r>
            <a:r>
              <a:rPr lang="en-US" altLang="zh-CN" sz="2400" b="1" dirty="0">
                <a:solidFill>
                  <a:srgbClr val="0B61FF"/>
                </a:solidFill>
                <a:latin typeface="Trebuchet MS" panose="020B0603020202020204" pitchFamily="34" charset="0"/>
              </a:rPr>
              <a:t> (2) </a:t>
            </a:r>
            <a:r>
              <a:rPr lang="en-US" altLang="zh-CN" sz="2400" b="1" dirty="0">
                <a:latin typeface="Trebuchet MS" panose="020B0603020202020204" pitchFamily="34" charset="0"/>
              </a:rPr>
              <a:t>: </a:t>
            </a:r>
            <a:r>
              <a:rPr lang="zh-CN" altLang="en-US" sz="2400" b="1" dirty="0">
                <a:solidFill>
                  <a:srgbClr val="0B61FF"/>
                </a:solidFill>
                <a:latin typeface="宋体" panose="02010600030101010101" pitchFamily="2" charset="-122"/>
                <a:sym typeface="Symbol" panose="05050102010706020507" pitchFamily="18" charset="2"/>
              </a:rPr>
              <a:t>① </a:t>
            </a:r>
            <a:r>
              <a:rPr lang="zh-CN" altLang="en-US" sz="2400" dirty="0">
                <a:solidFill>
                  <a:srgbClr val="FF0000"/>
                </a:solidFill>
                <a:latin typeface="Trebuchet MS" panose="020B0603020202020204" pitchFamily="34" charset="0"/>
                <a:sym typeface="Symbol" panose="05050102010706020507" pitchFamily="18" charset="2"/>
              </a:rPr>
              <a:t></a:t>
            </a:r>
            <a:r>
              <a:rPr lang="zh-CN" altLang="en-US" sz="2400" b="1" dirty="0">
                <a:latin typeface="Trebuchet MS" panose="020B0603020202020204" pitchFamily="34" charset="0"/>
              </a:rPr>
              <a:t> </a:t>
            </a:r>
            <a:r>
              <a:rPr lang="en-US" altLang="zh-CN" sz="2400" dirty="0">
                <a:latin typeface="Trebuchet MS" panose="020B0603020202020204" pitchFamily="34" charset="0"/>
              </a:rPr>
              <a:t>the identity element is </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dirty="0">
                <a:latin typeface="Trebuchet MS" panose="020B0603020202020204" pitchFamily="34" charset="0"/>
              </a:rPr>
              <a:t>no zero element</a:t>
            </a:r>
            <a:r>
              <a:rPr lang="zh-CN" altLang="en-US"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c</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b="1" i="1" dirty="0">
                <a:latin typeface="Trebuchet MS" panose="020B0603020202020204" pitchFamily="34" charset="0"/>
              </a:rPr>
              <a:t>c</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  . </a:t>
            </a:r>
            <a:r>
              <a:rPr lang="zh-CN" altLang="en-US" sz="2400" b="1" dirty="0">
                <a:solidFill>
                  <a:srgbClr val="0B61FF"/>
                </a:solidFill>
                <a:latin typeface="宋体" panose="02010600030101010101" pitchFamily="2" charset="-122"/>
              </a:rPr>
              <a:t>② </a:t>
            </a:r>
            <a:r>
              <a:rPr lang="zh-CN" altLang="en-US" sz="2400" b="1" dirty="0">
                <a:solidFill>
                  <a:srgbClr val="FF0000"/>
                </a:solidFill>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 </a:t>
            </a:r>
            <a:r>
              <a:rPr lang="en-US" altLang="zh-CN" sz="2400" dirty="0">
                <a:latin typeface="Trebuchet MS" panose="020B0603020202020204" pitchFamily="34" charset="0"/>
              </a:rPr>
              <a:t>there is no identity element and no zero element, there are no invertible elements.</a:t>
            </a:r>
            <a:r>
              <a:rPr lang="en-US" altLang="zh-CN" sz="2400" b="1" dirty="0">
                <a:latin typeface="Trebuchet MS" panose="020B0603020202020204" pitchFamily="34" charset="0"/>
              </a:rPr>
              <a:t> </a:t>
            </a:r>
            <a:r>
              <a:rPr lang="en-US" altLang="zh-CN" sz="2400" b="1" dirty="0">
                <a:solidFill>
                  <a:srgbClr val="0B61FF"/>
                </a:solidFill>
                <a:latin typeface="宋体" panose="02010600030101010101" pitchFamily="2" charset="-122"/>
              </a:rPr>
              <a:t>③</a:t>
            </a:r>
            <a:r>
              <a:rPr lang="en-US" altLang="zh-CN" sz="1400" b="1" dirty="0">
                <a:solidFill>
                  <a:srgbClr val="0B61FF"/>
                </a:solidFill>
                <a:latin typeface="宋体" panose="02010600030101010101" pitchFamily="2" charset="-122"/>
              </a:rPr>
              <a:t> </a:t>
            </a:r>
            <a:r>
              <a:rPr lang="zh-CN" altLang="en-US" sz="1400" b="1" dirty="0">
                <a:solidFill>
                  <a:srgbClr val="FF0000"/>
                </a:solidFill>
                <a:latin typeface="Trebuchet MS" panose="020B0603020202020204" pitchFamily="34" charset="0"/>
              </a:rPr>
              <a:t>●</a:t>
            </a:r>
            <a:r>
              <a:rPr lang="zh-CN" altLang="en-US" sz="2400" b="1" dirty="0">
                <a:solidFill>
                  <a:srgbClr val="FF0000"/>
                </a:solidFill>
                <a:latin typeface="Trebuchet MS" panose="020B0603020202020204" pitchFamily="34" charset="0"/>
              </a:rPr>
              <a:t> </a:t>
            </a:r>
            <a:r>
              <a:rPr lang="en-US" altLang="zh-CN" sz="2400" dirty="0">
                <a:latin typeface="Trebuchet MS" panose="020B0603020202020204" pitchFamily="34" charset="0"/>
              </a:rPr>
              <a:t>the identity element is </a:t>
            </a:r>
            <a:r>
              <a:rPr lang="en-US" altLang="zh-CN" sz="2400" b="1" i="1" dirty="0">
                <a:latin typeface="Trebuchet MS" panose="020B0603020202020204" pitchFamily="34" charset="0"/>
              </a:rPr>
              <a:t>a</a:t>
            </a:r>
            <a:r>
              <a:rPr lang="zh-CN" altLang="en-US" sz="2400" b="1" dirty="0">
                <a:latin typeface="Trebuchet MS" panose="020B0603020202020204" pitchFamily="34" charset="0"/>
              </a:rPr>
              <a:t>，</a:t>
            </a:r>
            <a:r>
              <a:rPr lang="en-US" altLang="zh-CN" sz="2400" dirty="0">
                <a:latin typeface="Trebuchet MS" panose="020B0603020202020204" pitchFamily="34" charset="0"/>
              </a:rPr>
              <a:t>the zero element is </a:t>
            </a:r>
            <a:r>
              <a:rPr lang="en-US" altLang="zh-CN" sz="2400" b="1" i="1" dirty="0">
                <a:latin typeface="Trebuchet MS" panose="020B0603020202020204" pitchFamily="34" charset="0"/>
              </a:rPr>
              <a:t>c</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b="1" i="1" dirty="0">
                <a:latin typeface="Trebuchet MS" panose="020B0603020202020204" pitchFamily="34" charset="0"/>
              </a:rPr>
              <a:t>c </a:t>
            </a:r>
            <a:r>
              <a:rPr lang="en-US" altLang="zh-CN" sz="2400" dirty="0">
                <a:latin typeface="Trebuchet MS" panose="020B0603020202020204" pitchFamily="34" charset="0"/>
              </a:rPr>
              <a:t>are not invertible.</a:t>
            </a:r>
            <a:endParaRPr lang="en-US" altLang="zh-CN" sz="2400" b="1" dirty="0">
              <a:latin typeface="Trebuchet MS" panose="020B0603020202020204" pitchFamily="34" charset="0"/>
              <a:ea typeface="宋体" panose="02010600030101010101" pitchFamily="2" charset="-122"/>
            </a:endParaRPr>
          </a:p>
        </p:txBody>
      </p:sp>
      <p:sp>
        <p:nvSpPr>
          <p:cNvPr id="27" name="Text Box 56">
            <a:extLst>
              <a:ext uri="{FF2B5EF4-FFF2-40B4-BE49-F238E27FC236}">
                <a16:creationId xmlns:a16="http://schemas.microsoft.com/office/drawing/2014/main" id="{FE802631-AF4C-43F7-821E-585C15BA5B46}"/>
              </a:ext>
            </a:extLst>
          </p:cNvPr>
          <p:cNvSpPr txBox="1">
            <a:spLocks noChangeArrowheads="1"/>
          </p:cNvSpPr>
          <p:nvPr/>
        </p:nvSpPr>
        <p:spPr bwMode="auto">
          <a:xfrm>
            <a:off x="1106941" y="5040767"/>
            <a:ext cx="2616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chemeClr val="tx1"/>
                </a:solidFill>
                <a:latin typeface="Times New Roman" panose="02020603050405020304" pitchFamily="18" charset="0"/>
                <a:ea typeface="宋体" panose="02010600030101010101" pitchFamily="2" charset="-122"/>
              </a:rPr>
              <a:t> </a:t>
            </a:r>
            <a:endParaRPr lang="en-US" altLang="zh-CN" sz="2400" b="1" dirty="0">
              <a:solidFill>
                <a:schemeClr val="tx1"/>
              </a:solidFill>
              <a:latin typeface="Times New Roman" panose="02020603050405020304" pitchFamily="18" charset="0"/>
              <a:ea typeface="宋体" panose="02010600030101010101" pitchFamily="2" charset="-122"/>
            </a:endParaRPr>
          </a:p>
        </p:txBody>
      </p:sp>
      <p:pic>
        <p:nvPicPr>
          <p:cNvPr id="15" name="图片 14">
            <a:extLst>
              <a:ext uri="{FF2B5EF4-FFF2-40B4-BE49-F238E27FC236}">
                <a16:creationId xmlns:a16="http://schemas.microsoft.com/office/drawing/2014/main" id="{A1AE6D9F-52EE-401A-B134-F494D1E3E8F1}"/>
              </a:ext>
            </a:extLst>
          </p:cNvPr>
          <p:cNvPicPr>
            <a:picLocks noChangeAspect="1"/>
          </p:cNvPicPr>
          <p:nvPr/>
        </p:nvPicPr>
        <p:blipFill>
          <a:blip r:embed="rId5"/>
          <a:stretch>
            <a:fillRect/>
          </a:stretch>
        </p:blipFill>
        <p:spPr>
          <a:xfrm>
            <a:off x="7586330" y="801857"/>
            <a:ext cx="1521000" cy="1343334"/>
          </a:xfrm>
          <a:prstGeom prst="rect">
            <a:avLst/>
          </a:prstGeom>
        </p:spPr>
      </p:pic>
      <p:pic>
        <p:nvPicPr>
          <p:cNvPr id="17" name="图片 16">
            <a:extLst>
              <a:ext uri="{FF2B5EF4-FFF2-40B4-BE49-F238E27FC236}">
                <a16:creationId xmlns:a16="http://schemas.microsoft.com/office/drawing/2014/main" id="{94E7CDFA-5661-4D3D-8E6F-401B9AEEFC9B}"/>
              </a:ext>
            </a:extLst>
          </p:cNvPr>
          <p:cNvPicPr>
            <a:picLocks noChangeAspect="1"/>
          </p:cNvPicPr>
          <p:nvPr/>
        </p:nvPicPr>
        <p:blipFill>
          <a:blip r:embed="rId6"/>
          <a:stretch>
            <a:fillRect/>
          </a:stretch>
        </p:blipFill>
        <p:spPr>
          <a:xfrm>
            <a:off x="9373121" y="836524"/>
            <a:ext cx="1620000" cy="1308667"/>
          </a:xfrm>
          <a:prstGeom prst="rect">
            <a:avLst/>
          </a:prstGeom>
        </p:spPr>
      </p:pic>
      <p:pic>
        <p:nvPicPr>
          <p:cNvPr id="21" name="图片 20">
            <a:extLst>
              <a:ext uri="{FF2B5EF4-FFF2-40B4-BE49-F238E27FC236}">
                <a16:creationId xmlns:a16="http://schemas.microsoft.com/office/drawing/2014/main" id="{F02FE491-3660-42B8-89D0-424342FE64F5}"/>
              </a:ext>
            </a:extLst>
          </p:cNvPr>
          <p:cNvPicPr>
            <a:picLocks noChangeAspect="1"/>
          </p:cNvPicPr>
          <p:nvPr/>
        </p:nvPicPr>
        <p:blipFill>
          <a:blip r:embed="rId7"/>
          <a:stretch>
            <a:fillRect/>
          </a:stretch>
        </p:blipFill>
        <p:spPr>
          <a:xfrm>
            <a:off x="7554830" y="2072942"/>
            <a:ext cx="1584000" cy="1308667"/>
          </a:xfrm>
          <a:prstGeom prst="rect">
            <a:avLst/>
          </a:prstGeom>
        </p:spPr>
      </p:pic>
    </p:spTree>
    <p:extLst>
      <p:ext uri="{BB962C8B-B14F-4D97-AF65-F5344CB8AC3E}">
        <p14:creationId xmlns:p14="http://schemas.microsoft.com/office/powerpoint/2010/main" val="3919087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xEl>
                                              <p:pRg st="1" end="1"/>
                                            </p:txEl>
                                          </p:spTgt>
                                        </p:tgtEl>
                                        <p:attrNameLst>
                                          <p:attrName>style.visibility</p:attrName>
                                        </p:attrNameLst>
                                      </p:cBhvr>
                                      <p:to>
                                        <p:strVal val="visible"/>
                                      </p:to>
                                    </p:set>
                                    <p:animEffect transition="in" filter="fade">
                                      <p:cBhvr>
                                        <p:cTn id="14" dur="1000"/>
                                        <p:tgtEl>
                                          <p:spTgt spid="26">
                                            <p:txEl>
                                              <p:pRg st="1" end="1"/>
                                            </p:txEl>
                                          </p:spTgt>
                                        </p:tgtEl>
                                      </p:cBhvr>
                                    </p:animEffect>
                                    <p:anim calcmode="lin" valueType="num">
                                      <p:cBhvr>
                                        <p:cTn id="15" dur="100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9.1 Binary Operations and Their Properties</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 </a:t>
            </a:r>
            <a:r>
              <a:rPr lang="en-US" altLang="zh-CN" sz="2400" b="1" dirty="0">
                <a:solidFill>
                  <a:schemeClr val="bg1"/>
                </a:solidFill>
                <a:latin typeface="Trebuchet MS" panose="020B0603020202020204" pitchFamily="34" charset="0"/>
                <a:cs typeface="Times New Roman" panose="02020603050405020304" pitchFamily="18" charset="0"/>
              </a:rPr>
              <a:t>Brief summary</a:t>
            </a:r>
            <a:endParaRPr lang="zh-CN" altLang="en-US" sz="2400" b="1" dirty="0">
              <a:solidFill>
                <a:schemeClr val="bg1"/>
              </a:solidFill>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2552384204"/>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1114356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9</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Algebraic Systems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198061" y="943704"/>
            <a:ext cx="8798289" cy="43445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ct val="0"/>
              </a:spcBef>
              <a:buNone/>
            </a:pPr>
            <a:endParaRPr lang="en-US" altLang="zh-CN" b="1" dirty="0"/>
          </a:p>
          <a:p>
            <a:pPr eaLnBrk="1" hangingPunct="1">
              <a:lnSpc>
                <a:spcPct val="13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9.1 Binary Operations and Their Properties</a:t>
            </a:r>
          </a:p>
          <a:p>
            <a:pPr eaLnBrk="1" hangingPunct="1">
              <a:lnSpc>
                <a:spcPct val="13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9.2 Algebraic Systems</a:t>
            </a:r>
          </a:p>
          <a:p>
            <a:pPr eaLnBrk="1" hangingPunct="1">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9.3 Several Typical Algebraic Systems</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0491090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9.2 Algebraic Systems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p:txBody>
      </p:sp>
      <p:sp>
        <p:nvSpPr>
          <p:cNvPr id="9" name="Rectangle 3">
            <a:extLst>
              <a:ext uri="{FF2B5EF4-FFF2-40B4-BE49-F238E27FC236}">
                <a16:creationId xmlns:a16="http://schemas.microsoft.com/office/drawing/2014/main" id="{DFB26965-CE5B-4DE7-9E7F-C771435C74C9}"/>
              </a:ext>
            </a:extLst>
          </p:cNvPr>
          <p:cNvSpPr txBox="1">
            <a:spLocks noChangeArrowheads="1"/>
          </p:cNvSpPr>
          <p:nvPr/>
        </p:nvSpPr>
        <p:spPr>
          <a:xfrm>
            <a:off x="2133599" y="1066801"/>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Clr>
                <a:srgbClr val="0B61FF"/>
              </a:buClr>
              <a:buSzPct val="80000"/>
              <a:buFont typeface="Wingdings" panose="05000000000000000000" pitchFamily="2" charset="2"/>
              <a:buChar char="n"/>
            </a:pPr>
            <a:r>
              <a:rPr lang="en-US" sz="2400" dirty="0">
                <a:solidFill>
                  <a:srgbClr val="0B61FF"/>
                </a:solidFill>
                <a:latin typeface="Trebuchet MS" panose="020B0603020202020204" pitchFamily="34" charset="0"/>
              </a:rPr>
              <a:t>9.2.1 Definition and Examples of Algebraic Systems</a:t>
            </a:r>
          </a:p>
          <a:p>
            <a:pPr marL="268288" indent="-268288">
              <a:lnSpc>
                <a:spcPct val="130000"/>
              </a:lnSpc>
              <a:buClr>
                <a:srgbClr val="0B61FF"/>
              </a:buClr>
              <a:buSzPct val="80000"/>
              <a:buFont typeface="Wingdings" panose="05000000000000000000" pitchFamily="2" charset="2"/>
              <a:buChar char="n"/>
            </a:pPr>
            <a:r>
              <a:rPr lang="en-US" sz="2400" dirty="0">
                <a:latin typeface="Trebuchet MS" panose="020B0603020202020204" pitchFamily="34" charset="0"/>
              </a:rPr>
              <a:t>9.2.2 </a:t>
            </a:r>
            <a:r>
              <a:rPr lang="en-US" sz="2400" dirty="0" err="1">
                <a:latin typeface="Trebuchet MS" panose="020B0603020202020204" pitchFamily="34" charset="0"/>
              </a:rPr>
              <a:t>Subalgebraic</a:t>
            </a:r>
            <a:r>
              <a:rPr lang="en-US" sz="2400" dirty="0">
                <a:latin typeface="Trebuchet MS" panose="020B0603020202020204" pitchFamily="34" charset="0"/>
              </a:rPr>
              <a:t> Systems and Product Algebraic Systems</a:t>
            </a:r>
          </a:p>
          <a:p>
            <a:pPr>
              <a:lnSpc>
                <a:spcPct val="130000"/>
              </a:lnSpc>
              <a:buClr>
                <a:srgbClr val="0B61FF"/>
              </a:buClr>
              <a:buSzPct val="80000"/>
              <a:buFont typeface="Wingdings" panose="05000000000000000000" pitchFamily="2" charset="2"/>
              <a:buChar char="n"/>
            </a:pPr>
            <a:r>
              <a:rPr lang="en-US" sz="2400" dirty="0">
                <a:latin typeface="Trebuchet MS" panose="020B0603020202020204" pitchFamily="34" charset="0"/>
              </a:rPr>
              <a:t>9.2.3 Homomorphisms and Isomorphisms of Algebraic Systems</a:t>
            </a:r>
          </a:p>
        </p:txBody>
      </p:sp>
    </p:spTree>
    <p:extLst>
      <p:ext uri="{BB962C8B-B14F-4D97-AF65-F5344CB8AC3E}">
        <p14:creationId xmlns:p14="http://schemas.microsoft.com/office/powerpoint/2010/main" val="2033001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9.2.1 Definition and Examples of Algebraic Systems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The subject matter of algebra and its process of abstracti</a:t>
            </a:r>
            <a:r>
              <a:rPr lang="en-US" altLang="zh-CN" sz="2400" b="1" dirty="0"/>
              <a:t>on</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2" name="Text Box 3">
            <a:extLst>
              <a:ext uri="{FF2B5EF4-FFF2-40B4-BE49-F238E27FC236}">
                <a16:creationId xmlns:a16="http://schemas.microsoft.com/office/drawing/2014/main" id="{00928FC4-AE5E-4664-9342-552890A7F489}"/>
              </a:ext>
            </a:extLst>
          </p:cNvPr>
          <p:cNvSpPr txBox="1">
            <a:spLocks noChangeArrowheads="1"/>
          </p:cNvSpPr>
          <p:nvPr/>
        </p:nvSpPr>
        <p:spPr bwMode="auto">
          <a:xfrm>
            <a:off x="824682" y="912704"/>
            <a:ext cx="10061032" cy="5105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Algebra</a:t>
            </a:r>
            <a:r>
              <a:rPr lang="en-US" sz="2400" b="1" dirty="0">
                <a:latin typeface="Trebuchet MS" panose="020B0603020202020204" pitchFamily="34" charset="0"/>
              </a:rPr>
              <a:t> </a:t>
            </a:r>
            <a:r>
              <a:rPr lang="en-US" sz="2400" dirty="0">
                <a:latin typeface="Trebuchet MS" panose="020B0603020202020204" pitchFamily="34" charset="0"/>
              </a:rPr>
              <a:t>(in the broad sense), as a major branch of mathematics, studies various algebraic structures as well as related operations, equations, and theories. The objects of algebra are not limited to numbers, but extend to all kinds of abstract structures.</a:t>
            </a:r>
          </a:p>
          <a:p>
            <a:pPr marL="342900" indent="-342900">
              <a:lnSpc>
                <a:spcPct val="120000"/>
              </a:lnSpc>
              <a:buClr>
                <a:srgbClr val="0B61FF"/>
              </a:buClr>
              <a:buSzPct val="80000"/>
              <a:buFont typeface="Wingdings" panose="05000000000000000000" pitchFamily="2" charset="2"/>
              <a:buChar char="n"/>
            </a:pPr>
            <a:r>
              <a:rPr lang="en-US" sz="2400" dirty="0">
                <a:latin typeface="Trebuchet MS" panose="020B0603020202020204" pitchFamily="34" charset="0"/>
              </a:rPr>
              <a:t>The development of algebra is a gradual process of </a:t>
            </a:r>
            <a:r>
              <a:rPr lang="en-US" sz="2400" b="1" i="1" dirty="0">
                <a:solidFill>
                  <a:srgbClr val="0B61FF"/>
                </a:solidFill>
                <a:latin typeface="Trebuchet MS" panose="020B0603020202020204" pitchFamily="34" charset="0"/>
              </a:rPr>
              <a:t>abstraction and systematization </a:t>
            </a:r>
            <a:r>
              <a:rPr lang="en-US" sz="2400" dirty="0">
                <a:latin typeface="Trebuchet MS" panose="020B0603020202020204" pitchFamily="34" charset="0"/>
              </a:rPr>
              <a:t>— from the basic concepts in elementary algebra (such as addition, multiplication, variables, and polynomials), to linear algebra (vectors, matrices, and determinants), and then to the more abstract structures of higher algebra (such as groups, rings, and fields). It represents humanity’s continuous pursuit and exploration of the unknown.</a:t>
            </a:r>
          </a:p>
          <a:p>
            <a:endParaRPr lang="zh-CN" altLang="zh-CN" sz="2400" b="1" dirty="0">
              <a:latin typeface="Trebuchet MS" panose="020B0603020202020204" pitchFamily="34" charset="0"/>
            </a:endParaRPr>
          </a:p>
        </p:txBody>
      </p:sp>
    </p:spTree>
    <p:extLst>
      <p:ext uri="{BB962C8B-B14F-4D97-AF65-F5344CB8AC3E}">
        <p14:creationId xmlns:p14="http://schemas.microsoft.com/office/powerpoint/2010/main" val="11783240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9.2.1 Definition and Examples of Algebraic Systems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Algebraic structures and algebraic systems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2" name="Text Box 3">
            <a:extLst>
              <a:ext uri="{FF2B5EF4-FFF2-40B4-BE49-F238E27FC236}">
                <a16:creationId xmlns:a16="http://schemas.microsoft.com/office/drawing/2014/main" id="{00928FC4-AE5E-4664-9342-552890A7F489}"/>
              </a:ext>
            </a:extLst>
          </p:cNvPr>
          <p:cNvSpPr txBox="1">
            <a:spLocks noChangeArrowheads="1"/>
          </p:cNvSpPr>
          <p:nvPr/>
        </p:nvSpPr>
        <p:spPr bwMode="auto">
          <a:xfrm>
            <a:off x="179961" y="827826"/>
            <a:ext cx="12192000" cy="5475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174625" indent="-174625">
              <a:lnSpc>
                <a:spcPct val="101000"/>
              </a:lnSpc>
              <a:spcBef>
                <a:spcPts val="400"/>
              </a:spcBef>
              <a:buClr>
                <a:srgbClr val="0B61FF"/>
              </a:buClr>
              <a:buSzPct val="80000"/>
              <a:buFont typeface="Wingdings" panose="05000000000000000000" pitchFamily="2" charset="2"/>
              <a:buChar char="n"/>
            </a:pPr>
            <a:r>
              <a:rPr lang="en-US" sz="2400" dirty="0">
                <a:latin typeface="Trebuchet MS" panose="020B0603020202020204" pitchFamily="34" charset="0"/>
              </a:rPr>
              <a:t>An</a:t>
            </a:r>
            <a:r>
              <a:rPr lang="en-US" sz="2400" b="1" i="1" dirty="0">
                <a:solidFill>
                  <a:srgbClr val="0B61FF"/>
                </a:solidFill>
                <a:latin typeface="Trebuchet MS" panose="020B0603020202020204" pitchFamily="34" charset="0"/>
              </a:rPr>
              <a:t> algebraic structure </a:t>
            </a:r>
            <a:r>
              <a:rPr lang="en-US" sz="2400" dirty="0">
                <a:latin typeface="Trebuchet MS" panose="020B0603020202020204" pitchFamily="34" charset="0"/>
              </a:rPr>
              <a:t>(or type of algebraic system) is an </a:t>
            </a:r>
            <a:r>
              <a:rPr lang="en-US" sz="2400" b="1" dirty="0">
                <a:latin typeface="Trebuchet MS" panose="020B0603020202020204" pitchFamily="34" charset="0"/>
              </a:rPr>
              <a:t>abstract mathematical concept </a:t>
            </a:r>
            <a:r>
              <a:rPr lang="en-US" sz="2400" dirty="0">
                <a:latin typeface="Trebuchet MS" panose="020B0603020202020204" pitchFamily="34" charset="0"/>
              </a:rPr>
              <a:t>used to describe operations defined on one or more sets, along with their (abstract) properties. These operations must satisfy specific rules and axioms. Examples include algebraic structures such as groups, rings, and fields.</a:t>
            </a:r>
          </a:p>
          <a:p>
            <a:pPr marL="174625" indent="-174625">
              <a:lnSpc>
                <a:spcPct val="101000"/>
              </a:lnSpc>
              <a:spcBef>
                <a:spcPts val="400"/>
              </a:spcBef>
              <a:buClr>
                <a:srgbClr val="0B61FF"/>
              </a:buClr>
              <a:buSzPct val="80000"/>
              <a:buFont typeface="Wingdings" panose="05000000000000000000" pitchFamily="2" charset="2"/>
              <a:buChar char="n"/>
            </a:pPr>
            <a:r>
              <a:rPr lang="en-US" sz="2400" dirty="0">
                <a:latin typeface="Trebuchet MS" panose="020B0603020202020204" pitchFamily="34" charset="0"/>
              </a:rPr>
              <a:t>An </a:t>
            </a:r>
            <a:r>
              <a:rPr lang="en-US" sz="2400" b="1" i="1" dirty="0">
                <a:solidFill>
                  <a:srgbClr val="0B61FF"/>
                </a:solidFill>
                <a:latin typeface="Trebuchet MS" panose="020B0603020202020204" pitchFamily="34" charset="0"/>
              </a:rPr>
              <a:t>algebraic system </a:t>
            </a:r>
            <a:r>
              <a:rPr lang="en-US" sz="2400" dirty="0">
                <a:latin typeface="Trebuchet MS" panose="020B0603020202020204" pitchFamily="34" charset="0"/>
              </a:rPr>
              <a:t>is a concrete realization or </a:t>
            </a:r>
            <a:r>
              <a:rPr lang="en-US" sz="2400" b="1" dirty="0">
                <a:latin typeface="Trebuchet MS" panose="020B0603020202020204" pitchFamily="34" charset="0"/>
              </a:rPr>
              <a:t>instance of an algebraic structure</a:t>
            </a:r>
            <a:r>
              <a:rPr lang="en-US" sz="2400" dirty="0">
                <a:latin typeface="Trebuchet MS" panose="020B0603020202020204" pitchFamily="34" charset="0"/>
              </a:rPr>
              <a:t>, consisting of a specific set and concrete operations defined on that set.</a:t>
            </a:r>
          </a:p>
          <a:p>
            <a:pPr marL="622300" indent="-261938">
              <a:lnSpc>
                <a:spcPct val="101000"/>
              </a:lnSpc>
              <a:spcBef>
                <a:spcPts val="400"/>
              </a:spcBef>
              <a:buClr>
                <a:srgbClr val="0B61FF"/>
              </a:buClr>
              <a:buSzPct val="120000"/>
              <a:buFont typeface="Arial" panose="020B0604020202020204" pitchFamily="34" charset="0"/>
              <a:buChar char="•"/>
            </a:pPr>
            <a:r>
              <a:rPr lang="en-US" sz="2400" b="1" dirty="0">
                <a:latin typeface="Trebuchet MS" panose="020B0603020202020204" pitchFamily="34" charset="0"/>
              </a:rPr>
              <a:t>For example:</a:t>
            </a:r>
          </a:p>
          <a:p>
            <a:pPr marL="622300" indent="-174625">
              <a:lnSpc>
                <a:spcPct val="101000"/>
              </a:lnSpc>
              <a:spcBef>
                <a:spcPts val="400"/>
              </a:spcBef>
              <a:buClr>
                <a:srgbClr val="0B61FF"/>
              </a:buClr>
              <a:buSzPct val="120000"/>
              <a:buFont typeface="Trebuchet MS" panose="020B0603020202020204" pitchFamily="34" charset="0"/>
              <a:buChar char="–"/>
              <a:tabLst>
                <a:tab pos="622300" algn="l"/>
              </a:tabLst>
            </a:pPr>
            <a:r>
              <a:rPr lang="en-US" sz="2400" dirty="0">
                <a:latin typeface="Trebuchet MS" panose="020B0603020202020204" pitchFamily="34" charset="0"/>
              </a:rPr>
              <a:t>Addition on the set of </a:t>
            </a:r>
            <a:r>
              <a:rPr lang="en-US" sz="2400" b="1" i="1" dirty="0">
                <a:solidFill>
                  <a:srgbClr val="0B61FF"/>
                </a:solidFill>
                <a:latin typeface="Trebuchet MS" panose="020B0603020202020204" pitchFamily="34" charset="0"/>
              </a:rPr>
              <a:t>natural numbers </a:t>
            </a:r>
            <a:r>
              <a:rPr lang="en-US" sz="2400" b="1" dirty="0">
                <a:latin typeface="Trebuchet MS" panose="020B0603020202020204" pitchFamily="34" charset="0"/>
              </a:rPr>
              <a:t>ℕ</a:t>
            </a:r>
            <a:r>
              <a:rPr lang="en-US" sz="2400" dirty="0">
                <a:latin typeface="Trebuchet MS" panose="020B0603020202020204" pitchFamily="34" charset="0"/>
              </a:rPr>
              <a:t>.</a:t>
            </a:r>
          </a:p>
          <a:p>
            <a:pPr marL="622300" indent="-174625">
              <a:lnSpc>
                <a:spcPct val="101000"/>
              </a:lnSpc>
              <a:spcBef>
                <a:spcPts val="400"/>
              </a:spcBef>
              <a:buClr>
                <a:srgbClr val="0B61FF"/>
              </a:buClr>
              <a:buSzPct val="120000"/>
              <a:buFont typeface="Trebuchet MS" panose="020B0603020202020204" pitchFamily="34" charset="0"/>
              <a:buChar char="–"/>
              <a:tabLst>
                <a:tab pos="622300" algn="l"/>
              </a:tabLst>
            </a:pPr>
            <a:r>
              <a:rPr lang="en-US" sz="2400" dirty="0">
                <a:latin typeface="Trebuchet MS" panose="020B0603020202020204" pitchFamily="34" charset="0"/>
              </a:rPr>
              <a:t>Addition and multiplication on the </a:t>
            </a:r>
            <a:r>
              <a:rPr lang="en-US" sz="2400" b="1" i="1" dirty="0">
                <a:solidFill>
                  <a:srgbClr val="0B61FF"/>
                </a:solidFill>
                <a:latin typeface="Trebuchet MS" panose="020B0603020202020204" pitchFamily="34" charset="0"/>
              </a:rPr>
              <a:t>set of integers </a:t>
            </a:r>
            <a:r>
              <a:rPr lang="en-US" sz="2400" b="1" dirty="0">
                <a:latin typeface="Trebuchet MS" panose="020B0603020202020204" pitchFamily="34" charset="0"/>
              </a:rPr>
              <a:t>ℤ</a:t>
            </a:r>
            <a:r>
              <a:rPr lang="en-US" altLang="zh-CN" sz="2400" dirty="0">
                <a:latin typeface="Trebuchet MS" panose="020B0603020202020204" pitchFamily="34" charset="0"/>
              </a:rPr>
              <a:t>.</a:t>
            </a:r>
          </a:p>
          <a:p>
            <a:pPr marL="622300" indent="-174625">
              <a:lnSpc>
                <a:spcPct val="101000"/>
              </a:lnSpc>
              <a:spcBef>
                <a:spcPts val="400"/>
              </a:spcBef>
              <a:buClr>
                <a:srgbClr val="0B61FF"/>
              </a:buClr>
              <a:buSzPct val="120000"/>
              <a:buFont typeface="Trebuchet MS" panose="020B0603020202020204" pitchFamily="34" charset="0"/>
              <a:buChar char="–"/>
              <a:tabLst>
                <a:tab pos="622300" algn="l"/>
              </a:tabLst>
            </a:pPr>
            <a:r>
              <a:rPr lang="en-US" sz="2400" dirty="0">
                <a:latin typeface="Trebuchet MS" panose="020B0603020202020204" pitchFamily="34" charset="0"/>
              </a:rPr>
              <a:t>Addition and multiplication on the </a:t>
            </a:r>
            <a:r>
              <a:rPr lang="en-US" sz="2400" b="1" i="1" dirty="0">
                <a:solidFill>
                  <a:srgbClr val="0B61FF"/>
                </a:solidFill>
                <a:latin typeface="Trebuchet MS" panose="020B0603020202020204" pitchFamily="34" charset="0"/>
              </a:rPr>
              <a:t>set of real numbers </a:t>
            </a:r>
            <a:r>
              <a:rPr lang="en-US" sz="2400" b="1" dirty="0">
                <a:latin typeface="Trebuchet MS" panose="020B0603020202020204" pitchFamily="34" charset="0"/>
              </a:rPr>
              <a:t>ℝ</a:t>
            </a:r>
            <a:r>
              <a:rPr lang="en-US" sz="2400" dirty="0">
                <a:latin typeface="Trebuchet MS" panose="020B0603020202020204" pitchFamily="34" charset="0"/>
              </a:rPr>
              <a:t>.</a:t>
            </a:r>
          </a:p>
          <a:p>
            <a:pPr marL="622300" indent="-174625">
              <a:lnSpc>
                <a:spcPct val="101000"/>
              </a:lnSpc>
              <a:spcBef>
                <a:spcPts val="400"/>
              </a:spcBef>
              <a:buClr>
                <a:srgbClr val="0B61FF"/>
              </a:buClr>
              <a:buSzPct val="120000"/>
              <a:buFont typeface="Trebuchet MS" panose="020B0603020202020204" pitchFamily="34" charset="0"/>
              <a:buChar char="–"/>
              <a:tabLst>
                <a:tab pos="622300" algn="l"/>
              </a:tabLst>
            </a:pPr>
            <a:r>
              <a:rPr lang="en-US" sz="2400" dirty="0">
                <a:latin typeface="Trebuchet MS" panose="020B0603020202020204" pitchFamily="34" charset="0"/>
              </a:rPr>
              <a:t>Addition and multiplication on the set of </a:t>
            </a:r>
            <a:r>
              <a:rPr lang="en-US" sz="2400" b="1" i="1" dirty="0">
                <a:latin typeface="Trebuchet MS" panose="020B0603020202020204" pitchFamily="34" charset="0"/>
              </a:rPr>
              <a:t>n</a:t>
            </a:r>
            <a:r>
              <a:rPr lang="en-US" sz="2400" b="1" dirty="0">
                <a:latin typeface="Trebuchet MS" panose="020B0603020202020204" pitchFamily="34" charset="0"/>
              </a:rPr>
              <a:t>-order</a:t>
            </a:r>
            <a:r>
              <a:rPr lang="en-US" sz="2400" dirty="0">
                <a:latin typeface="Trebuchet MS" panose="020B0603020202020204" pitchFamily="34" charset="0"/>
              </a:rPr>
              <a:t> (</a:t>
            </a:r>
            <a:r>
              <a:rPr lang="en-US" sz="2400" b="1" i="1" dirty="0">
                <a:latin typeface="Trebuchet MS" panose="020B0603020202020204" pitchFamily="34" charset="0"/>
              </a:rPr>
              <a:t>n</a:t>
            </a:r>
            <a:r>
              <a:rPr lang="en-US" sz="2400" dirty="0">
                <a:latin typeface="Trebuchet MS" panose="020B0603020202020204" pitchFamily="34" charset="0"/>
              </a:rPr>
              <a:t> ≥ 2) </a:t>
            </a:r>
            <a:r>
              <a:rPr lang="en-US" sz="2400" b="1" i="1" dirty="0">
                <a:solidFill>
                  <a:srgbClr val="0B61FF"/>
                </a:solidFill>
                <a:latin typeface="Trebuchet MS" panose="020B0603020202020204" pitchFamily="34" charset="0"/>
              </a:rPr>
              <a:t>real matrices </a:t>
            </a:r>
            <a:r>
              <a:rPr lang="en-US" sz="2400" b="1" dirty="0">
                <a:latin typeface="Trebuchet MS" panose="020B0603020202020204" pitchFamily="34" charset="0"/>
              </a:rPr>
              <a:t>Mₙ(ℝ)</a:t>
            </a:r>
            <a:r>
              <a:rPr lang="en-US" sz="2400" dirty="0">
                <a:latin typeface="Trebuchet MS" panose="020B0603020202020204" pitchFamily="34" charset="0"/>
              </a:rPr>
              <a:t>.</a:t>
            </a:r>
          </a:p>
          <a:p>
            <a:pPr marL="622300" indent="-174625">
              <a:lnSpc>
                <a:spcPct val="101000"/>
              </a:lnSpc>
              <a:spcBef>
                <a:spcPts val="400"/>
              </a:spcBef>
              <a:buClr>
                <a:srgbClr val="0B61FF"/>
              </a:buClr>
              <a:buSzPct val="120000"/>
              <a:buFont typeface="Trebuchet MS" panose="020B0603020202020204" pitchFamily="34" charset="0"/>
              <a:buChar char="–"/>
              <a:tabLst>
                <a:tab pos="622300" algn="l"/>
              </a:tabLst>
            </a:pPr>
            <a:r>
              <a:rPr lang="en-US" sz="2400" dirty="0">
                <a:latin typeface="Trebuchet MS" panose="020B0603020202020204" pitchFamily="34" charset="0"/>
              </a:rPr>
              <a:t>Addition and multiplication modulo </a:t>
            </a:r>
            <a:r>
              <a:rPr lang="en-US" sz="2400" b="1" i="1" dirty="0">
                <a:latin typeface="Trebuchet MS" panose="020B0603020202020204" pitchFamily="34" charset="0"/>
              </a:rPr>
              <a:t>n</a:t>
            </a:r>
            <a:r>
              <a:rPr lang="en-US" sz="2400" dirty="0">
                <a:latin typeface="Trebuchet MS" panose="020B0603020202020204" pitchFamily="34" charset="0"/>
              </a:rPr>
              <a:t> on </a:t>
            </a:r>
            <a:r>
              <a:rPr lang="en-US" sz="2400" b="1" i="1" dirty="0">
                <a:solidFill>
                  <a:srgbClr val="0B61FF"/>
                </a:solidFill>
                <a:latin typeface="Trebuchet MS" panose="020B0603020202020204" pitchFamily="34" charset="0"/>
              </a:rPr>
              <a:t>the set </a:t>
            </a:r>
            <a:r>
              <a:rPr lang="en-US" sz="2400" b="1" dirty="0">
                <a:latin typeface="Trebuchet MS" panose="020B0603020202020204" pitchFamily="34" charset="0"/>
              </a:rPr>
              <a:t>ℤₙ</a:t>
            </a:r>
            <a:r>
              <a:rPr lang="en-US" sz="2400" dirty="0">
                <a:latin typeface="Trebuchet MS" panose="020B0603020202020204" pitchFamily="34" charset="0"/>
              </a:rPr>
              <a:t> </a:t>
            </a:r>
            <a:r>
              <a:rPr lang="en-US" sz="2400" b="1" dirty="0">
                <a:latin typeface="Trebuchet MS" panose="020B0603020202020204" pitchFamily="34" charset="0"/>
              </a:rPr>
              <a:t>= {0, 1, …, n−1}.</a:t>
            </a:r>
          </a:p>
          <a:p>
            <a:pPr marL="622300" indent="-174625">
              <a:lnSpc>
                <a:spcPct val="101000"/>
              </a:lnSpc>
              <a:spcBef>
                <a:spcPts val="400"/>
              </a:spcBef>
              <a:buClr>
                <a:srgbClr val="0B61FF"/>
              </a:buClr>
              <a:buSzPct val="120000"/>
              <a:buFont typeface="Trebuchet MS" panose="020B0603020202020204" pitchFamily="34" charset="0"/>
              <a:buChar char="–"/>
              <a:tabLst>
                <a:tab pos="622300" algn="l"/>
              </a:tabLst>
            </a:pPr>
            <a:r>
              <a:rPr lang="en-US" sz="2400" dirty="0">
                <a:latin typeface="Trebuchet MS" panose="020B0603020202020204" pitchFamily="34" charset="0"/>
              </a:rPr>
              <a:t>Union, intersection, and absolute complement on the </a:t>
            </a:r>
            <a:r>
              <a:rPr lang="en-US" sz="2400" b="1" i="1" dirty="0">
                <a:solidFill>
                  <a:srgbClr val="0B61FF"/>
                </a:solidFill>
                <a:latin typeface="Trebuchet MS" panose="020B0603020202020204" pitchFamily="34" charset="0"/>
              </a:rPr>
              <a:t>power set</a:t>
            </a:r>
            <a:r>
              <a:rPr lang="en-US" sz="2400" dirty="0">
                <a:latin typeface="Trebuchet MS" panose="020B0603020202020204" pitchFamily="34" charset="0"/>
              </a:rPr>
              <a:t> </a:t>
            </a:r>
            <a:r>
              <a:rPr lang="en-US" sz="2400" b="1" dirty="0">
                <a:latin typeface="Trebuchet MS" panose="020B0603020202020204" pitchFamily="34" charset="0"/>
              </a:rPr>
              <a:t>𝒫(S)</a:t>
            </a:r>
            <a:r>
              <a:rPr lang="en-US" sz="2400" dirty="0">
                <a:latin typeface="Trebuchet MS" panose="020B0603020202020204" pitchFamily="34" charset="0"/>
              </a:rPr>
              <a:t> of a set </a:t>
            </a:r>
            <a:r>
              <a:rPr lang="en-US" sz="2400" b="1" dirty="0">
                <a:latin typeface="Trebuchet MS" panose="020B0603020202020204" pitchFamily="34" charset="0"/>
              </a:rPr>
              <a:t>S</a:t>
            </a:r>
            <a:r>
              <a:rPr lang="en-US" sz="2400" dirty="0">
                <a:latin typeface="Trebuchet MS" panose="020B0603020202020204" pitchFamily="34" charset="0"/>
              </a:rPr>
              <a:t>.</a:t>
            </a:r>
            <a:endParaRPr lang="en-US" altLang="zh-CN" sz="2400" dirty="0">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843997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2" end="2"/>
                                            </p:txEl>
                                          </p:spTgt>
                                        </p:tgtEl>
                                        <p:attrNameLst>
                                          <p:attrName>style.visibility</p:attrName>
                                        </p:attrNameLst>
                                      </p:cBhvr>
                                      <p:to>
                                        <p:strVal val="visible"/>
                                      </p:to>
                                    </p:set>
                                    <p:animEffect transition="in" filter="fade">
                                      <p:cBhvr>
                                        <p:cTn id="14" dur="1000"/>
                                        <p:tgtEl>
                                          <p:spTgt spid="12">
                                            <p:txEl>
                                              <p:pRg st="2" end="2"/>
                                            </p:txEl>
                                          </p:spTgt>
                                        </p:tgtEl>
                                      </p:cBhvr>
                                    </p:animEffect>
                                    <p:anim calcmode="lin" valueType="num">
                                      <p:cBhvr>
                                        <p:cTn id="15"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fade">
                                      <p:cBhvr>
                                        <p:cTn id="19" dur="1000"/>
                                        <p:tgtEl>
                                          <p:spTgt spid="12">
                                            <p:txEl>
                                              <p:pRg st="3" end="3"/>
                                            </p:txEl>
                                          </p:spTgt>
                                        </p:tgtEl>
                                      </p:cBhvr>
                                    </p:animEffect>
                                    <p:anim calcmode="lin" valueType="num">
                                      <p:cBhvr>
                                        <p:cTn id="20"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2">
                                            <p:txEl>
                                              <p:pRg st="4" end="4"/>
                                            </p:txEl>
                                          </p:spTgt>
                                        </p:tgtEl>
                                        <p:attrNameLst>
                                          <p:attrName>style.visibility</p:attrName>
                                        </p:attrNameLst>
                                      </p:cBhvr>
                                      <p:to>
                                        <p:strVal val="visible"/>
                                      </p:to>
                                    </p:set>
                                    <p:animEffect transition="in" filter="fade">
                                      <p:cBhvr>
                                        <p:cTn id="26" dur="1000"/>
                                        <p:tgtEl>
                                          <p:spTgt spid="12">
                                            <p:txEl>
                                              <p:pRg st="4" end="4"/>
                                            </p:txEl>
                                          </p:spTgt>
                                        </p:tgtEl>
                                      </p:cBhvr>
                                    </p:animEffect>
                                    <p:anim calcmode="lin" valueType="num">
                                      <p:cBhvr>
                                        <p:cTn id="27"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animEffect transition="in" filter="fade">
                                      <p:cBhvr>
                                        <p:cTn id="33" dur="1000"/>
                                        <p:tgtEl>
                                          <p:spTgt spid="12">
                                            <p:txEl>
                                              <p:pRg st="5" end="5"/>
                                            </p:txEl>
                                          </p:spTgt>
                                        </p:tgtEl>
                                      </p:cBhvr>
                                    </p:animEffect>
                                    <p:anim calcmode="lin" valueType="num">
                                      <p:cBhvr>
                                        <p:cTn id="34"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2">
                                            <p:txEl>
                                              <p:pRg st="6" end="6"/>
                                            </p:txEl>
                                          </p:spTgt>
                                        </p:tgtEl>
                                        <p:attrNameLst>
                                          <p:attrName>style.visibility</p:attrName>
                                        </p:attrNameLst>
                                      </p:cBhvr>
                                      <p:to>
                                        <p:strVal val="visible"/>
                                      </p:to>
                                    </p:set>
                                    <p:animEffect transition="in" filter="fade">
                                      <p:cBhvr>
                                        <p:cTn id="40" dur="1000"/>
                                        <p:tgtEl>
                                          <p:spTgt spid="12">
                                            <p:txEl>
                                              <p:pRg st="6" end="6"/>
                                            </p:txEl>
                                          </p:spTgt>
                                        </p:tgtEl>
                                      </p:cBhvr>
                                    </p:animEffect>
                                    <p:anim calcmode="lin" valueType="num">
                                      <p:cBhvr>
                                        <p:cTn id="41"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1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2">
                                            <p:txEl>
                                              <p:pRg st="7" end="7"/>
                                            </p:txEl>
                                          </p:spTgt>
                                        </p:tgtEl>
                                        <p:attrNameLst>
                                          <p:attrName>style.visibility</p:attrName>
                                        </p:attrNameLst>
                                      </p:cBhvr>
                                      <p:to>
                                        <p:strVal val="visible"/>
                                      </p:to>
                                    </p:set>
                                    <p:animEffect transition="in" filter="fade">
                                      <p:cBhvr>
                                        <p:cTn id="47" dur="1000"/>
                                        <p:tgtEl>
                                          <p:spTgt spid="12">
                                            <p:txEl>
                                              <p:pRg st="7" end="7"/>
                                            </p:txEl>
                                          </p:spTgt>
                                        </p:tgtEl>
                                      </p:cBhvr>
                                    </p:animEffect>
                                    <p:anim calcmode="lin" valueType="num">
                                      <p:cBhvr>
                                        <p:cTn id="48"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1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2">
                                            <p:txEl>
                                              <p:pRg st="8" end="8"/>
                                            </p:txEl>
                                          </p:spTgt>
                                        </p:tgtEl>
                                        <p:attrNameLst>
                                          <p:attrName>style.visibility</p:attrName>
                                        </p:attrNameLst>
                                      </p:cBhvr>
                                      <p:to>
                                        <p:strVal val="visible"/>
                                      </p:to>
                                    </p:set>
                                    <p:animEffect transition="in" filter="fade">
                                      <p:cBhvr>
                                        <p:cTn id="54" dur="1000"/>
                                        <p:tgtEl>
                                          <p:spTgt spid="12">
                                            <p:txEl>
                                              <p:pRg st="8" end="8"/>
                                            </p:txEl>
                                          </p:spTgt>
                                        </p:tgtEl>
                                      </p:cBhvr>
                                    </p:animEffect>
                                    <p:anim calcmode="lin" valueType="num">
                                      <p:cBhvr>
                                        <p:cTn id="55" dur="1000" fill="hold"/>
                                        <p:tgtEl>
                                          <p:spTgt spid="12">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1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9.2.1 Definition and Examples of Algebraic Systems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The formal definition of an algebraic syst</a:t>
            </a:r>
            <a:r>
              <a:rPr lang="en-US" altLang="zh-CN" sz="2400" b="1" dirty="0"/>
              <a:t>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2" name="Text Box 3">
            <a:extLst>
              <a:ext uri="{FF2B5EF4-FFF2-40B4-BE49-F238E27FC236}">
                <a16:creationId xmlns:a16="http://schemas.microsoft.com/office/drawing/2014/main" id="{00928FC4-AE5E-4664-9342-552890A7F489}"/>
              </a:ext>
            </a:extLst>
          </p:cNvPr>
          <p:cNvSpPr txBox="1">
            <a:spLocks noChangeArrowheads="1"/>
          </p:cNvSpPr>
          <p:nvPr/>
        </p:nvSpPr>
        <p:spPr bwMode="auto">
          <a:xfrm>
            <a:off x="740369" y="762000"/>
            <a:ext cx="10631265" cy="553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73050" indent="-273050">
              <a:lnSpc>
                <a:spcPct val="11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ea typeface="宋体" panose="02010600030101010101" pitchFamily="2" charset="-122"/>
              </a:rPr>
              <a:t>9.9:  </a:t>
            </a:r>
            <a:r>
              <a:rPr lang="en-US" sz="2400" dirty="0">
                <a:latin typeface="Trebuchet MS" panose="020B0603020202020204" pitchFamily="34" charset="0"/>
              </a:rPr>
              <a:t>A non-empty set </a:t>
            </a:r>
            <a:r>
              <a:rPr lang="en-US" altLang="zh-CN" sz="2400" b="1" i="1" dirty="0">
                <a:solidFill>
                  <a:schemeClr val="tx1"/>
                </a:solidFill>
                <a:latin typeface="Trebuchet MS" panose="020B0603020202020204" pitchFamily="34" charset="0"/>
                <a:ea typeface="宋体" panose="02010600030101010101" pitchFamily="2" charset="-122"/>
              </a:rPr>
              <a:t>S </a:t>
            </a:r>
            <a:r>
              <a:rPr lang="en-US" sz="2400" dirty="0">
                <a:latin typeface="Trebuchet MS" panose="020B0603020202020204" pitchFamily="34" charset="0"/>
              </a:rPr>
              <a:t>together with </a:t>
            </a:r>
            <a:r>
              <a:rPr lang="en-US" sz="2400" b="1" i="1" dirty="0">
                <a:latin typeface="Trebuchet MS" panose="020B0603020202020204" pitchFamily="34" charset="0"/>
              </a:rPr>
              <a:t>k</a:t>
            </a:r>
            <a:r>
              <a:rPr lang="en-US" sz="2400" dirty="0">
                <a:latin typeface="Trebuchet MS" panose="020B0603020202020204" pitchFamily="34" charset="0"/>
              </a:rPr>
              <a:t> operations </a:t>
            </a:r>
            <a:r>
              <a:rPr lang="en-US" altLang="zh-CN" sz="2400" b="1" i="1" dirty="0">
                <a:solidFill>
                  <a:schemeClr val="tx1"/>
                </a:solidFill>
                <a:latin typeface="Trebuchet MS" panose="020B0603020202020204" pitchFamily="34" charset="0"/>
                <a:ea typeface="宋体" panose="02010600030101010101" pitchFamily="2" charset="-122"/>
              </a:rPr>
              <a:t>f</a:t>
            </a:r>
            <a:r>
              <a:rPr lang="en-US" altLang="zh-CN" sz="2400" b="1" baseline="-25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f</a:t>
            </a:r>
            <a:r>
              <a:rPr lang="en-US" altLang="zh-CN" sz="2400" b="1" baseline="-25000" dirty="0">
                <a:solidFill>
                  <a:schemeClr val="tx1"/>
                </a:solidFill>
                <a:latin typeface="Trebuchet MS" panose="020B0603020202020204" pitchFamily="34" charset="0"/>
                <a:ea typeface="宋体" panose="02010600030101010101" pitchFamily="2" charset="-122"/>
              </a:rPr>
              <a:t>2</a:t>
            </a:r>
            <a:r>
              <a:rPr lang="en-US" altLang="zh-CN" sz="2400" b="1" dirty="0">
                <a:solidFill>
                  <a:schemeClr val="tx1"/>
                </a:solidFill>
                <a:latin typeface="Trebuchet MS" panose="020B0603020202020204" pitchFamily="34" charset="0"/>
                <a:ea typeface="宋体" panose="02010600030101010101" pitchFamily="2" charset="-122"/>
              </a:rPr>
              <a:t>, … ,  </a:t>
            </a:r>
            <a:r>
              <a:rPr lang="en-US" altLang="zh-CN" sz="2400" b="1" i="1" dirty="0" err="1">
                <a:solidFill>
                  <a:schemeClr val="tx1"/>
                </a:solidFill>
                <a:latin typeface="Trebuchet MS" panose="020B0603020202020204" pitchFamily="34" charset="0"/>
                <a:ea typeface="宋体" panose="02010600030101010101" pitchFamily="2" charset="-122"/>
              </a:rPr>
              <a:t>f</a:t>
            </a:r>
            <a:r>
              <a:rPr lang="en-US" altLang="zh-CN" sz="2400" b="1" i="1" baseline="-25000" dirty="0" err="1">
                <a:solidFill>
                  <a:schemeClr val="tx1"/>
                </a:solidFill>
                <a:latin typeface="Trebuchet MS" panose="020B0603020202020204" pitchFamily="34" charset="0"/>
                <a:ea typeface="宋体" panose="02010600030101010101" pitchFamily="2" charset="-122"/>
              </a:rPr>
              <a:t>k</a:t>
            </a:r>
            <a:r>
              <a:rPr lang="en-US" altLang="zh-CN" sz="2400" b="1" i="1" baseline="-25000" dirty="0">
                <a:solidFill>
                  <a:schemeClr val="tx1"/>
                </a:solidFill>
                <a:latin typeface="Trebuchet MS" panose="020B0603020202020204" pitchFamily="34" charset="0"/>
                <a:ea typeface="宋体" panose="02010600030101010101" pitchFamily="2" charset="-122"/>
              </a:rPr>
              <a:t> </a:t>
            </a:r>
            <a:r>
              <a:rPr lang="zh-CN" altLang="en-US" sz="2400" b="1" dirty="0">
                <a:latin typeface="Trebuchet MS" panose="020B0603020202020204" pitchFamily="34" charset="0"/>
              </a:rPr>
              <a:t>（</a:t>
            </a:r>
            <a:r>
              <a:rPr lang="en-US" sz="2400" dirty="0">
                <a:latin typeface="Trebuchet MS" panose="020B0603020202020204" pitchFamily="34" charset="0"/>
              </a:rPr>
              <a:t>where each </a:t>
            </a:r>
            <a:r>
              <a:rPr lang="en-US" altLang="zh-CN" sz="2400" b="1" i="1" dirty="0">
                <a:solidFill>
                  <a:schemeClr val="tx1"/>
                </a:solidFill>
                <a:latin typeface="Trebuchet MS" panose="020B0603020202020204" pitchFamily="34" charset="0"/>
                <a:ea typeface="宋体" panose="02010600030101010101" pitchFamily="2" charset="-122"/>
              </a:rPr>
              <a:t>f</a:t>
            </a:r>
            <a:r>
              <a:rPr lang="en-US" altLang="zh-CN" sz="2400" b="1" i="1" baseline="-25000" dirty="0">
                <a:solidFill>
                  <a:schemeClr val="tx1"/>
                </a:solidFill>
                <a:latin typeface="Trebuchet MS" panose="020B0603020202020204" pitchFamily="34" charset="0"/>
                <a:ea typeface="宋体" panose="02010600030101010101" pitchFamily="2" charset="-122"/>
              </a:rPr>
              <a:t>i</a:t>
            </a:r>
            <a:r>
              <a:rPr lang="zh-CN" altLang="en-US" sz="2400" b="1" i="1" baseline="-25000" dirty="0">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n</a:t>
            </a:r>
            <a:r>
              <a:rPr lang="en-US" altLang="zh-CN" sz="2400" b="1" i="1" baseline="-25000" dirty="0" err="1">
                <a:solidFill>
                  <a:schemeClr val="tx1"/>
                </a:solidFill>
                <a:latin typeface="Trebuchet MS" panose="020B0603020202020204" pitchFamily="34" charset="0"/>
                <a:ea typeface="宋体" panose="02010600030101010101" pitchFamily="2" charset="-122"/>
              </a:rPr>
              <a:t>i</a:t>
            </a:r>
            <a:r>
              <a:rPr lang="en-US" sz="2400" dirty="0" err="1">
                <a:latin typeface="Trebuchet MS" panose="020B0603020202020204" pitchFamily="34" charset="0"/>
              </a:rPr>
              <a:t>-</a:t>
            </a:r>
            <a:r>
              <a:rPr lang="en-US" sz="2400" b="1" dirty="0" err="1">
                <a:latin typeface="Trebuchet MS" panose="020B0603020202020204" pitchFamily="34" charset="0"/>
              </a:rPr>
              <a:t>ary</a:t>
            </a:r>
            <a:r>
              <a:rPr lang="en-US" sz="2400" dirty="0">
                <a:latin typeface="Trebuchet MS" panose="020B0603020202020204" pitchFamily="34" charset="0"/>
              </a:rPr>
              <a:t> operation</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i</a:t>
            </a:r>
            <a:r>
              <a:rPr lang="en-US" altLang="zh-CN" sz="2400" b="1" dirty="0">
                <a:latin typeface="Trebuchet MS" panose="020B0603020202020204" pitchFamily="34" charset="0"/>
                <a:ea typeface="宋体" panose="02010600030101010101" pitchFamily="2" charset="-122"/>
              </a:rPr>
              <a:t>=1,2,…,</a:t>
            </a:r>
            <a:r>
              <a:rPr lang="en-US" altLang="zh-CN" sz="2400" b="1" i="1" dirty="0">
                <a:latin typeface="Trebuchet MS" panose="020B0603020202020204" pitchFamily="34" charset="0"/>
                <a:ea typeface="宋体" panose="02010600030101010101" pitchFamily="2" charset="-122"/>
              </a:rPr>
              <a:t>k</a:t>
            </a:r>
            <a:r>
              <a:rPr lang="en-US" altLang="zh-CN" sz="2400" b="1" i="1" baseline="-25000" dirty="0">
                <a:solidFill>
                  <a:schemeClr val="tx1"/>
                </a:solidFill>
                <a:latin typeface="Trebuchet MS" panose="020B0603020202020204" pitchFamily="34" charset="0"/>
                <a:ea typeface="宋体" panose="02010600030101010101" pitchFamily="2" charset="-122"/>
              </a:rPr>
              <a:t> </a:t>
            </a:r>
            <a:r>
              <a:rPr lang="zh-CN" altLang="en-US" sz="2400" b="1" dirty="0">
                <a:solidFill>
                  <a:schemeClr val="tx1"/>
                </a:solidFill>
                <a:latin typeface="Trebuchet MS" panose="020B0603020202020204" pitchFamily="34" charset="0"/>
                <a:ea typeface="宋体" panose="02010600030101010101" pitchFamily="2" charset="-122"/>
              </a:rPr>
              <a:t>）</a:t>
            </a:r>
            <a:r>
              <a:rPr lang="en-US" sz="2400" dirty="0">
                <a:latin typeface="Trebuchet MS" panose="020B0603020202020204" pitchFamily="34" charset="0"/>
              </a:rPr>
              <a:t>forms a system called an </a:t>
            </a:r>
            <a:r>
              <a:rPr lang="en-US" sz="2400" b="1" i="1" dirty="0">
                <a:solidFill>
                  <a:srgbClr val="0B61FF"/>
                </a:solidFill>
                <a:latin typeface="Trebuchet MS" panose="020B0603020202020204" pitchFamily="34" charset="0"/>
              </a:rPr>
              <a:t>algebraic system</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(or simply, an </a:t>
            </a:r>
            <a:r>
              <a:rPr lang="en-US" sz="2400" b="1" dirty="0">
                <a:latin typeface="Trebuchet MS" panose="020B0603020202020204" pitchFamily="34" charset="0"/>
              </a:rPr>
              <a:t>algebra</a:t>
            </a:r>
            <a:r>
              <a:rPr lang="en-US" sz="2400" dirty="0">
                <a:latin typeface="Trebuchet MS" panose="020B0603020202020204" pitchFamily="34" charset="0"/>
              </a:rPr>
              <a:t>), </a:t>
            </a:r>
            <a:r>
              <a:rPr lang="en-US" altLang="zh-CN" sz="2400" dirty="0">
                <a:solidFill>
                  <a:schemeClr val="tx1"/>
                </a:solidFill>
                <a:latin typeface="Trebuchet MS" panose="020B0603020202020204" pitchFamily="34" charset="0"/>
                <a:ea typeface="宋体" panose="02010600030101010101" pitchFamily="2" charset="-122"/>
              </a:rPr>
              <a:t>denoted as </a:t>
            </a:r>
            <a:r>
              <a:rPr lang="en-US" altLang="zh-CN" sz="2400" b="1" dirty="0">
                <a:solidFill>
                  <a:srgbClr val="FF0000"/>
                </a:solidFill>
                <a:latin typeface="Trebuchet MS" panose="020B0603020202020204" pitchFamily="34" charset="0"/>
                <a:ea typeface="宋体" panose="02010600030101010101" pitchFamily="2" charset="-122"/>
              </a:rPr>
              <a:t>&lt;</a:t>
            </a:r>
            <a:r>
              <a:rPr lang="en-US" altLang="zh-CN" sz="2400" b="1" i="1" dirty="0">
                <a:solidFill>
                  <a:srgbClr val="FF0000"/>
                </a:solidFill>
                <a:latin typeface="Trebuchet MS" panose="020B0603020202020204" pitchFamily="34" charset="0"/>
                <a:ea typeface="宋体" panose="02010600030101010101" pitchFamily="2" charset="-122"/>
              </a:rPr>
              <a:t>S</a:t>
            </a:r>
            <a:r>
              <a:rPr lang="en-US" altLang="zh-CN" sz="2400" b="1" dirty="0">
                <a:solidFill>
                  <a:srgbClr val="FF0000"/>
                </a:solidFill>
                <a:latin typeface="Trebuchet MS" panose="020B0603020202020204" pitchFamily="34" charset="0"/>
                <a:ea typeface="宋体" panose="02010600030101010101" pitchFamily="2" charset="-122"/>
              </a:rPr>
              <a:t>, </a:t>
            </a:r>
            <a:r>
              <a:rPr lang="en-US" altLang="zh-CN" sz="2400" b="1" i="1" dirty="0">
                <a:solidFill>
                  <a:srgbClr val="FF0000"/>
                </a:solidFill>
                <a:latin typeface="Trebuchet MS" panose="020B0603020202020204" pitchFamily="34" charset="0"/>
                <a:ea typeface="宋体" panose="02010600030101010101" pitchFamily="2" charset="-122"/>
              </a:rPr>
              <a:t>f</a:t>
            </a:r>
            <a:r>
              <a:rPr lang="en-US" altLang="zh-CN" sz="2400" b="1" baseline="-25000" dirty="0">
                <a:solidFill>
                  <a:srgbClr val="FF0000"/>
                </a:solidFill>
                <a:latin typeface="Trebuchet MS" panose="020B0603020202020204" pitchFamily="34" charset="0"/>
                <a:ea typeface="宋体" panose="02010600030101010101" pitchFamily="2" charset="-122"/>
              </a:rPr>
              <a:t>1</a:t>
            </a:r>
            <a:r>
              <a:rPr lang="en-US" altLang="zh-CN" sz="2400" b="1" dirty="0">
                <a:solidFill>
                  <a:srgbClr val="FF0000"/>
                </a:solidFill>
                <a:latin typeface="Trebuchet MS" panose="020B0603020202020204" pitchFamily="34" charset="0"/>
                <a:ea typeface="宋体" panose="02010600030101010101" pitchFamily="2" charset="-122"/>
              </a:rPr>
              <a:t>, </a:t>
            </a:r>
            <a:r>
              <a:rPr lang="en-US" altLang="zh-CN" sz="2400" b="1" i="1" dirty="0">
                <a:solidFill>
                  <a:srgbClr val="FF0000"/>
                </a:solidFill>
                <a:latin typeface="Trebuchet MS" panose="020B0603020202020204" pitchFamily="34" charset="0"/>
                <a:ea typeface="宋体" panose="02010600030101010101" pitchFamily="2" charset="-122"/>
              </a:rPr>
              <a:t>f</a:t>
            </a:r>
            <a:r>
              <a:rPr lang="en-US" altLang="zh-CN" sz="2400" b="1" baseline="-25000" dirty="0">
                <a:solidFill>
                  <a:srgbClr val="FF0000"/>
                </a:solidFill>
                <a:latin typeface="Trebuchet MS" panose="020B0603020202020204" pitchFamily="34" charset="0"/>
                <a:ea typeface="宋体" panose="02010600030101010101" pitchFamily="2" charset="-122"/>
              </a:rPr>
              <a:t>2</a:t>
            </a:r>
            <a:r>
              <a:rPr lang="en-US" altLang="zh-CN" sz="2400" b="1" dirty="0">
                <a:solidFill>
                  <a:srgbClr val="FF0000"/>
                </a:solidFill>
                <a:latin typeface="Trebuchet MS" panose="020B0603020202020204" pitchFamily="34" charset="0"/>
                <a:ea typeface="宋体" panose="02010600030101010101" pitchFamily="2" charset="-122"/>
              </a:rPr>
              <a:t>, …, </a:t>
            </a:r>
            <a:r>
              <a:rPr lang="en-US" altLang="zh-CN" sz="2400" b="1" i="1" dirty="0" err="1">
                <a:solidFill>
                  <a:srgbClr val="FF0000"/>
                </a:solidFill>
                <a:latin typeface="Trebuchet MS" panose="020B0603020202020204" pitchFamily="34" charset="0"/>
                <a:ea typeface="宋体" panose="02010600030101010101" pitchFamily="2" charset="-122"/>
              </a:rPr>
              <a:t>f</a:t>
            </a:r>
            <a:r>
              <a:rPr lang="en-US" altLang="zh-CN" sz="2400" b="1" i="1" baseline="-25000" dirty="0" err="1">
                <a:solidFill>
                  <a:srgbClr val="FF0000"/>
                </a:solidFill>
                <a:latin typeface="Trebuchet MS" panose="020B0603020202020204" pitchFamily="34" charset="0"/>
                <a:ea typeface="宋体" panose="02010600030101010101" pitchFamily="2" charset="-122"/>
              </a:rPr>
              <a:t>k</a:t>
            </a:r>
            <a:r>
              <a:rPr lang="en-US" altLang="zh-CN" sz="2400" b="1" dirty="0">
                <a:solidFill>
                  <a:srgbClr val="FF0000"/>
                </a:solidFill>
                <a:latin typeface="Trebuchet MS" panose="020B0603020202020204" pitchFamily="34" charset="0"/>
                <a:ea typeface="宋体" panose="02010600030101010101" pitchFamily="2" charset="-122"/>
              </a:rPr>
              <a:t>&gt;</a:t>
            </a:r>
            <a:r>
              <a:rPr lang="en-US" altLang="zh-CN" sz="2400" b="1" dirty="0">
                <a:latin typeface="Trebuchet MS" panose="020B0603020202020204" pitchFamily="34" charset="0"/>
                <a:ea typeface="宋体" panose="02010600030101010101" pitchFamily="2" charset="-122"/>
              </a:rPr>
              <a:t>.</a:t>
            </a:r>
            <a:r>
              <a:rPr lang="en-US" altLang="zh-CN" sz="2400" b="1" dirty="0">
                <a:solidFill>
                  <a:srgbClr val="FF0000"/>
                </a:solidFill>
                <a:latin typeface="Trebuchet MS" panose="020B0603020202020204" pitchFamily="34" charset="0"/>
                <a:ea typeface="宋体" panose="02010600030101010101" pitchFamily="2" charset="-122"/>
              </a:rPr>
              <a:t> </a:t>
            </a:r>
          </a:p>
          <a:p>
            <a:pPr marL="273050" indent="-273050">
              <a:lnSpc>
                <a:spcPct val="11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Examples</a:t>
            </a:r>
            <a:r>
              <a:rPr lang="zh-CN" altLang="en-US" sz="2400" b="1" dirty="0">
                <a:latin typeface="Trebuchet MS" panose="020B0603020202020204" pitchFamily="34" charset="0"/>
                <a:ea typeface="宋体" panose="02010600030101010101" pitchFamily="2" charset="-122"/>
              </a:rPr>
              <a:t>：</a:t>
            </a:r>
            <a:endParaRPr lang="en-US" altLang="zh-CN" sz="2400" b="1" dirty="0">
              <a:latin typeface="Trebuchet MS" panose="020B0603020202020204" pitchFamily="34" charset="0"/>
              <a:ea typeface="宋体" panose="02010600030101010101" pitchFamily="2" charset="-122"/>
            </a:endParaRPr>
          </a:p>
          <a:p>
            <a:pPr marL="342900" indent="-168275">
              <a:lnSpc>
                <a:spcPct val="110000"/>
              </a:lnSpc>
              <a:spcBef>
                <a:spcPts val="300"/>
              </a:spcBef>
              <a:buClr>
                <a:srgbClr val="0B61FF"/>
              </a:buClr>
              <a:buSzPct val="120000"/>
              <a:buFont typeface="Arial" panose="020B0604020202020204" pitchFamily="34" charset="0"/>
              <a:buChar char="•"/>
            </a:pPr>
            <a:r>
              <a:rPr lang="en-US" altLang="zh-CN" sz="2400" b="1" dirty="0">
                <a:latin typeface="Trebuchet MS" panose="020B0603020202020204" pitchFamily="34" charset="0"/>
                <a:ea typeface="宋体" panose="02010600030101010101" pitchFamily="2" charset="-122"/>
              </a:rPr>
              <a:t>&lt;N, </a:t>
            </a:r>
            <a:r>
              <a:rPr lang="en-US" altLang="zh-CN" sz="2400" b="1" dirty="0">
                <a:latin typeface="Trebuchet MS" panose="020B0603020202020204" pitchFamily="34" charset="0"/>
              </a:rPr>
              <a:t>+</a:t>
            </a:r>
            <a:r>
              <a:rPr lang="en-US" altLang="zh-CN" sz="2400" dirty="0">
                <a:latin typeface="Trebuchet MS" panose="020B0603020202020204" pitchFamily="34" charset="0"/>
              </a:rPr>
              <a:t> </a:t>
            </a:r>
            <a:r>
              <a:rPr lang="en-US" altLang="zh-CN" sz="2400" b="1" dirty="0">
                <a:latin typeface="Trebuchet MS" panose="020B0603020202020204" pitchFamily="34" charset="0"/>
                <a:ea typeface="宋体" panose="02010600030101010101" pitchFamily="2" charset="-122"/>
              </a:rPr>
              <a:t>&gt;,&lt;Z, </a:t>
            </a:r>
            <a:r>
              <a:rPr lang="en-US" altLang="zh-CN" sz="2400" b="1" dirty="0">
                <a:latin typeface="Trebuchet MS" panose="020B0603020202020204" pitchFamily="34" charset="0"/>
              </a:rPr>
              <a:t>+</a:t>
            </a:r>
            <a:r>
              <a:rPr lang="en-US" altLang="zh-CN" sz="2400" b="1" dirty="0">
                <a:latin typeface="Trebuchet MS" panose="020B0603020202020204" pitchFamily="34" charset="0"/>
                <a:ea typeface="宋体" panose="02010600030101010101" pitchFamily="2" charset="-122"/>
              </a:rPr>
              <a:t>,·&gt;,&lt;R, </a:t>
            </a:r>
            <a:r>
              <a:rPr lang="en-US" altLang="zh-CN" sz="2400" b="1" dirty="0">
                <a:latin typeface="Trebuchet MS" panose="020B0603020202020204" pitchFamily="34" charset="0"/>
              </a:rPr>
              <a:t>+</a:t>
            </a:r>
            <a:r>
              <a:rPr lang="en-US" altLang="zh-CN" sz="2400" b="1" dirty="0">
                <a:latin typeface="Trebuchet MS" panose="020B0603020202020204" pitchFamily="34" charset="0"/>
                <a:ea typeface="宋体" panose="02010600030101010101" pitchFamily="2" charset="-122"/>
              </a:rPr>
              <a:t>,·&gt; </a:t>
            </a:r>
            <a:r>
              <a:rPr lang="en-US" sz="2400" dirty="0">
                <a:latin typeface="Trebuchet MS" panose="020B0603020202020204" pitchFamily="34" charset="0"/>
              </a:rPr>
              <a:t>are algebraic systems</a:t>
            </a:r>
            <a:r>
              <a:rPr lang="en-US" altLang="zh-CN"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where  </a:t>
            </a:r>
            <a:r>
              <a:rPr lang="en-US" altLang="zh-CN" sz="2400" b="1"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ea typeface="宋体" panose="02010600030101010101" pitchFamily="2" charset="-122"/>
              </a:rPr>
              <a:t>and</a:t>
            </a: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represent the usual addition and multiplication</a:t>
            </a:r>
            <a:r>
              <a:rPr lang="en-US" altLang="zh-CN" sz="2400" b="1" dirty="0">
                <a:latin typeface="Trebuchet MS" panose="020B0603020202020204" pitchFamily="34" charset="0"/>
                <a:ea typeface="宋体" panose="02010600030101010101" pitchFamily="2" charset="-122"/>
              </a:rPr>
              <a:t>. </a:t>
            </a:r>
          </a:p>
          <a:p>
            <a:pPr marL="342900" indent="-168275">
              <a:lnSpc>
                <a:spcPct val="110000"/>
              </a:lnSpc>
              <a:spcBef>
                <a:spcPts val="300"/>
              </a:spcBef>
              <a:buClr>
                <a:srgbClr val="0B61FF"/>
              </a:buClr>
              <a:buSzPct val="120000"/>
              <a:buFont typeface="Arial" panose="020B0604020202020204" pitchFamily="34" charset="0"/>
              <a:buChar char="•"/>
            </a:pPr>
            <a:r>
              <a:rPr lang="en-US" altLang="zh-CN" sz="2400" b="1" dirty="0">
                <a:latin typeface="Trebuchet MS" panose="020B0603020202020204" pitchFamily="34" charset="0"/>
                <a:ea typeface="宋体" panose="02010600030101010101" pitchFamily="2" charset="-122"/>
              </a:rPr>
              <a:t>&lt;</a:t>
            </a:r>
            <a:r>
              <a:rPr lang="en-US" altLang="zh-CN" sz="2400" b="1" i="1" dirty="0">
                <a:latin typeface="Trebuchet MS" panose="020B0603020202020204" pitchFamily="34" charset="0"/>
                <a:ea typeface="宋体" panose="02010600030101010101" pitchFamily="2" charset="-122"/>
              </a:rPr>
              <a:t>M</a:t>
            </a:r>
            <a:r>
              <a:rPr lang="en-US" altLang="zh-CN" sz="2400" b="1" i="1" baseline="-25000" dirty="0">
                <a:latin typeface="Trebuchet MS" panose="020B0603020202020204" pitchFamily="34" charset="0"/>
                <a:ea typeface="宋体" panose="02010600030101010101" pitchFamily="2" charset="-122"/>
              </a:rPr>
              <a:t>n</a:t>
            </a:r>
            <a:r>
              <a:rPr lang="en-US" altLang="zh-CN" sz="2400" b="1" dirty="0">
                <a:latin typeface="Trebuchet MS" panose="020B0603020202020204" pitchFamily="34" charset="0"/>
                <a:ea typeface="宋体" panose="02010600030101010101" pitchFamily="2" charset="-122"/>
              </a:rPr>
              <a:t>(R), </a:t>
            </a:r>
            <a:r>
              <a:rPr lang="en-US" altLang="zh-CN" sz="2400" b="1" dirty="0">
                <a:latin typeface="Trebuchet MS" panose="020B0603020202020204" pitchFamily="34" charset="0"/>
              </a:rPr>
              <a:t>+</a:t>
            </a:r>
            <a:r>
              <a:rPr lang="en-US" altLang="zh-CN" sz="2400" b="1" dirty="0">
                <a:latin typeface="Trebuchet MS" panose="020B0603020202020204" pitchFamily="34" charset="0"/>
                <a:ea typeface="宋体" panose="02010600030101010101" pitchFamily="2" charset="-122"/>
              </a:rPr>
              <a:t>,·&gt; </a:t>
            </a:r>
            <a:r>
              <a:rPr lang="en-US" sz="2400" dirty="0">
                <a:latin typeface="Trebuchet MS" panose="020B0603020202020204" pitchFamily="34" charset="0"/>
              </a:rPr>
              <a:t>is an algebraic system</a:t>
            </a:r>
            <a:r>
              <a:rPr lang="en-US" altLang="zh-CN" sz="2400" b="1" dirty="0">
                <a:latin typeface="Trebuchet MS" panose="020B0603020202020204" pitchFamily="34" charset="0"/>
                <a:ea typeface="宋体" panose="02010600030101010101" pitchFamily="2" charset="-122"/>
              </a:rPr>
              <a:t>,</a:t>
            </a:r>
            <a:r>
              <a:rPr lang="zh-CN" altLang="en-US"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where  </a:t>
            </a:r>
            <a:r>
              <a:rPr lang="en-US" altLang="zh-CN" sz="2400" dirty="0">
                <a:latin typeface="Trebuchet MS" panose="020B0603020202020204" pitchFamily="34" charset="0"/>
                <a:ea typeface="宋体" panose="02010600030101010101" pitchFamily="2" charset="-122"/>
              </a:rPr>
              <a:t>+</a:t>
            </a:r>
            <a:r>
              <a:rPr lang="zh-CN" altLang="en-US" sz="2400" b="1"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ea typeface="宋体" panose="02010600030101010101" pitchFamily="2" charset="-122"/>
              </a:rPr>
              <a:t>and</a:t>
            </a: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ea typeface="宋体" panose="02010600030101010101" pitchFamily="2" charset="-122"/>
              </a:rPr>
              <a:t>d</a:t>
            </a:r>
            <a:r>
              <a:rPr lang="en-US" sz="2400" dirty="0">
                <a:latin typeface="Trebuchet MS" panose="020B0603020202020204" pitchFamily="34" charset="0"/>
              </a:rPr>
              <a:t>enote addition and multiplication of </a:t>
            </a:r>
            <a:r>
              <a:rPr lang="en-US" sz="2400" b="1" i="1" dirty="0" err="1">
                <a:latin typeface="Trebuchet MS" panose="020B0603020202020204" pitchFamily="34" charset="0"/>
              </a:rPr>
              <a:t>n</a:t>
            </a:r>
            <a:r>
              <a:rPr lang="en-US" sz="2400" b="1" dirty="0" err="1">
                <a:latin typeface="Trebuchet MS" panose="020B0603020202020204" pitchFamily="34" charset="0"/>
              </a:rPr>
              <a:t>×</a:t>
            </a:r>
            <a:r>
              <a:rPr lang="en-US" sz="2400" b="1" i="1" dirty="0" err="1">
                <a:latin typeface="Trebuchet MS" panose="020B0603020202020204" pitchFamily="34" charset="0"/>
              </a:rPr>
              <a:t>n</a:t>
            </a:r>
            <a:r>
              <a:rPr lang="en-US" sz="2400" dirty="0">
                <a:latin typeface="Trebuchet MS" panose="020B0603020202020204" pitchFamily="34" charset="0"/>
              </a:rPr>
              <a:t> </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n</a:t>
            </a:r>
            <a:r>
              <a:rPr lang="en-US" altLang="zh-CN" sz="2400" b="1" dirty="0">
                <a:latin typeface="Trebuchet MS" panose="020B0603020202020204" pitchFamily="34" charset="0"/>
                <a:ea typeface="宋体" panose="02010600030101010101" pitchFamily="2" charset="-122"/>
              </a:rPr>
              <a:t>≥2)</a:t>
            </a:r>
            <a:r>
              <a:rPr lang="en-US" sz="2400" dirty="0">
                <a:latin typeface="Trebuchet MS" panose="020B0603020202020204" pitchFamily="34" charset="0"/>
              </a:rPr>
              <a:t> real matrices</a:t>
            </a:r>
            <a:r>
              <a:rPr lang="en-US" altLang="zh-CN" sz="2400" b="1" dirty="0">
                <a:latin typeface="Trebuchet MS" panose="020B0603020202020204" pitchFamily="34" charset="0"/>
                <a:ea typeface="宋体" panose="02010600030101010101" pitchFamily="2" charset="-122"/>
              </a:rPr>
              <a:t>.</a:t>
            </a:r>
          </a:p>
          <a:p>
            <a:pPr marL="342900" indent="-168275">
              <a:lnSpc>
                <a:spcPct val="110000"/>
              </a:lnSpc>
              <a:spcBef>
                <a:spcPts val="300"/>
              </a:spcBef>
              <a:buClr>
                <a:srgbClr val="0B61FF"/>
              </a:buClr>
              <a:buSzPct val="120000"/>
              <a:buFont typeface="Arial" panose="020B0604020202020204" pitchFamily="34" charset="0"/>
              <a:buChar char="•"/>
            </a:pPr>
            <a:r>
              <a:rPr lang="en-US" altLang="zh-CN" sz="2400" b="1" dirty="0">
                <a:latin typeface="Trebuchet MS" panose="020B0603020202020204" pitchFamily="34" charset="0"/>
                <a:ea typeface="宋体" panose="02010600030101010101" pitchFamily="2" charset="-122"/>
              </a:rPr>
              <a:t>&lt;</a:t>
            </a:r>
            <a:r>
              <a:rPr lang="en-US" altLang="zh-CN" sz="2400" b="1" i="1" dirty="0">
                <a:latin typeface="Trebuchet MS" panose="020B0603020202020204" pitchFamily="34" charset="0"/>
                <a:ea typeface="宋体" panose="02010600030101010101" pitchFamily="2" charset="-122"/>
              </a:rPr>
              <a:t>Z</a:t>
            </a:r>
            <a:r>
              <a:rPr lang="en-US" altLang="zh-CN" sz="2400" b="1" i="1" baseline="-25000" dirty="0">
                <a:latin typeface="Trebuchet MS" panose="020B0603020202020204" pitchFamily="34" charset="0"/>
                <a:ea typeface="宋体" panose="02010600030101010101" pitchFamily="2" charset="-122"/>
              </a:rPr>
              <a:t>n</a:t>
            </a:r>
            <a:r>
              <a:rPr lang="en-US" altLang="zh-CN" sz="2400" b="1" dirty="0">
                <a:latin typeface="Trebuchet MS" panose="020B0603020202020204" pitchFamily="34" charset="0"/>
                <a:ea typeface="宋体" panose="02010600030101010101" pitchFamily="2" charset="-12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&gt;</a:t>
            </a:r>
            <a:r>
              <a:rPr lang="en-US" sz="2400" dirty="0">
                <a:latin typeface="Trebuchet MS" panose="020B0603020202020204" pitchFamily="34" charset="0"/>
              </a:rPr>
              <a:t>is an algebraic system</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Z</a:t>
            </a:r>
            <a:r>
              <a:rPr lang="en-US" altLang="zh-CN" sz="2400" b="1" i="1" baseline="-25000" dirty="0">
                <a:latin typeface="Trebuchet MS" panose="020B0603020202020204" pitchFamily="34" charset="0"/>
                <a:ea typeface="宋体" panose="02010600030101010101" pitchFamily="2" charset="-122"/>
              </a:rPr>
              <a:t>n</a:t>
            </a:r>
            <a:r>
              <a:rPr lang="zh-CN" altLang="en-US" sz="2400" b="1" dirty="0">
                <a:latin typeface="Trebuchet MS" panose="020B0603020202020204" pitchFamily="34" charset="0"/>
                <a:ea typeface="宋体" panose="02010600030101010101" pitchFamily="2" charset="-122"/>
              </a:rPr>
              <a:t>＝</a:t>
            </a:r>
            <a:r>
              <a:rPr lang="en-US" altLang="zh-CN" sz="2400" b="1" dirty="0">
                <a:latin typeface="Trebuchet MS" panose="020B0603020202020204" pitchFamily="34" charset="0"/>
                <a:ea typeface="宋体" panose="02010600030101010101" pitchFamily="2" charset="-122"/>
              </a:rPr>
              <a:t>{ 0, 1, … , </a:t>
            </a:r>
            <a:r>
              <a:rPr lang="en-US" altLang="zh-CN" sz="2400" b="1" i="1" dirty="0">
                <a:latin typeface="Trebuchet MS" panose="020B0603020202020204" pitchFamily="34" charset="0"/>
                <a:ea typeface="宋体" panose="02010600030101010101" pitchFamily="2" charset="-122"/>
              </a:rPr>
              <a:t>n</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ea typeface="宋体" panose="02010600030101010101" pitchFamily="2" charset="-122"/>
              </a:rPr>
              <a:t>1 },</a:t>
            </a:r>
            <a:r>
              <a:rPr lang="zh-CN" altLang="en-US" sz="2400" b="1" dirty="0">
                <a:latin typeface="Trebuchet MS" panose="020B0603020202020204" pitchFamily="34" charset="0"/>
                <a:ea typeface="宋体" panose="02010600030101010101" pitchFamily="2" charset="-122"/>
              </a:rPr>
              <a:t> </a:t>
            </a:r>
            <a:r>
              <a:rPr lang="zh-CN" altLang="en-US"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dirty="0">
                <a:latin typeface="Trebuchet MS" panose="020B0603020202020204" pitchFamily="34" charset="0"/>
              </a:rPr>
              <a:t> and </a:t>
            </a:r>
            <a:r>
              <a:rPr lang="zh-CN" altLang="en-US" sz="2400" b="1" dirty="0">
                <a:latin typeface="Trebuchet MS" panose="020B0603020202020204" pitchFamily="34" charset="0"/>
                <a:ea typeface="宋体" panose="02010600030101010101" pitchFamily="2" charset="-122"/>
                <a:sym typeface="Symbol" panose="05050102010706020507" pitchFamily="18" charset="2"/>
              </a:rPr>
              <a:t> </a:t>
            </a:r>
            <a:r>
              <a:rPr lang="en-US" sz="2400" dirty="0">
                <a:latin typeface="Trebuchet MS" panose="020B0603020202020204" pitchFamily="34" charset="0"/>
              </a:rPr>
              <a:t>denote addition and multiplication modulo </a:t>
            </a:r>
            <a:r>
              <a:rPr lang="en-US" altLang="zh-CN" sz="2400" b="1" i="1" dirty="0">
                <a:latin typeface="Trebuchet MS" panose="020B0603020202020204" pitchFamily="34" charset="0"/>
                <a:ea typeface="宋体" panose="02010600030101010101" pitchFamily="2" charset="-122"/>
              </a:rPr>
              <a:t>n</a:t>
            </a:r>
            <a:r>
              <a:rPr lang="zh-CN" altLang="en-US" sz="2400" b="1" dirty="0">
                <a:latin typeface="Trebuchet MS" panose="020B0603020202020204" pitchFamily="34" charset="0"/>
                <a:ea typeface="宋体" panose="02010600030101010101" pitchFamily="2" charset="-122"/>
              </a:rPr>
              <a:t>，</a:t>
            </a:r>
            <a:r>
              <a:rPr lang="en-US" sz="2400" dirty="0">
                <a:latin typeface="Trebuchet MS" panose="020B0603020202020204" pitchFamily="34" charset="0"/>
              </a:rPr>
              <a:t>for </a:t>
            </a:r>
            <a:r>
              <a:rPr lang="en-US" altLang="zh-CN" sz="2400" b="1" i="1" dirty="0">
                <a:latin typeface="Trebuchet MS" panose="020B0603020202020204" pitchFamily="34" charset="0"/>
                <a:ea typeface="宋体" panose="02010600030101010101" pitchFamily="2" charset="-122"/>
              </a:rPr>
              <a:t>x</a:t>
            </a:r>
            <a:r>
              <a:rPr lang="en-US" altLang="zh-CN" sz="2400" b="1" dirty="0">
                <a:latin typeface="Trebuchet MS" panose="020B0603020202020204" pitchFamily="34" charset="0"/>
                <a:ea typeface="宋体" panose="02010600030101010101" pitchFamily="2" charset="-122"/>
              </a:rPr>
              <a:t>, </a:t>
            </a:r>
            <a:r>
              <a:rPr lang="en-US" altLang="zh-CN" sz="2400" b="1" i="1" dirty="0" err="1">
                <a:latin typeface="Trebuchet MS" panose="020B0603020202020204" pitchFamily="34" charset="0"/>
                <a:ea typeface="宋体" panose="02010600030101010101" pitchFamily="2" charset="-122"/>
              </a:rPr>
              <a:t>y</a:t>
            </a:r>
            <a:r>
              <a:rPr lang="en-US" altLang="zh-CN" sz="2400" b="1" dirty="0" err="1">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Z</a:t>
            </a:r>
            <a:r>
              <a:rPr lang="en-US" altLang="zh-CN" sz="2400" b="1" i="1" baseline="-25000" dirty="0" err="1">
                <a:latin typeface="Trebuchet MS" panose="020B0603020202020204" pitchFamily="34" charset="0"/>
                <a:ea typeface="宋体" panose="02010600030101010101" pitchFamily="2" charset="-122"/>
              </a:rPr>
              <a:t>n</a:t>
            </a:r>
            <a:r>
              <a:rPr lang="zh-CN" altLang="en-US" sz="2400" b="1" dirty="0">
                <a:latin typeface="Trebuchet MS" panose="020B0603020202020204" pitchFamily="34" charset="0"/>
                <a:ea typeface="宋体" panose="02010600030101010101" pitchFamily="2" charset="-122"/>
              </a:rPr>
              <a:t>，                    </a:t>
            </a:r>
            <a:r>
              <a:rPr lang="en-US" altLang="zh-CN" sz="2400" b="1" i="1" dirty="0" err="1">
                <a:latin typeface="Trebuchet MS" panose="020B0603020202020204" pitchFamily="34" charset="0"/>
                <a:ea typeface="宋体" panose="02010600030101010101" pitchFamily="2" charset="-122"/>
              </a:rPr>
              <a:t>x</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x</a:t>
            </a:r>
            <a:r>
              <a:rPr lang="zh-CN" altLang="en-US"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)mod </a:t>
            </a:r>
            <a:r>
              <a:rPr lang="en-US" altLang="zh-CN" sz="2400" b="1" i="1" dirty="0">
                <a:latin typeface="Trebuchet MS" panose="020B0603020202020204" pitchFamily="34" charset="0"/>
                <a:ea typeface="宋体" panose="02010600030101010101" pitchFamily="2" charset="-122"/>
              </a:rPr>
              <a:t>n</a:t>
            </a:r>
            <a:r>
              <a:rPr lang="zh-CN" altLang="en-US" sz="2400" b="1" dirty="0">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x</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rPr>
              <a:t>y</a:t>
            </a:r>
            <a:r>
              <a:rPr lang="en-US" altLang="zh-CN" sz="2400" b="1" dirty="0">
                <a:latin typeface="Trebuchet MS" panose="020B0603020202020204" pitchFamily="34" charset="0"/>
                <a:ea typeface="宋体" panose="02010600030101010101" pitchFamily="2" charset="-122"/>
              </a:rPr>
              <a:t>=(</a:t>
            </a:r>
            <a:r>
              <a:rPr lang="en-US" altLang="zh-CN" sz="2400" b="1" i="1" dirty="0" err="1">
                <a:latin typeface="Trebuchet MS" panose="020B0603020202020204" pitchFamily="34" charset="0"/>
                <a:ea typeface="宋体" panose="02010600030101010101" pitchFamily="2" charset="-122"/>
              </a:rPr>
              <a:t>xy</a:t>
            </a:r>
            <a:r>
              <a:rPr lang="en-US" altLang="zh-CN" sz="2400" b="1" dirty="0">
                <a:latin typeface="Trebuchet MS" panose="020B0603020202020204" pitchFamily="34" charset="0"/>
                <a:ea typeface="宋体" panose="02010600030101010101" pitchFamily="2" charset="-122"/>
              </a:rPr>
              <a:t>) mod </a:t>
            </a:r>
            <a:r>
              <a:rPr lang="en-US" altLang="zh-CN" sz="2400" b="1" i="1" dirty="0">
                <a:latin typeface="Trebuchet MS" panose="020B0603020202020204" pitchFamily="34" charset="0"/>
                <a:ea typeface="宋体" panose="02010600030101010101" pitchFamily="2" charset="-122"/>
              </a:rPr>
              <a:t>n.</a:t>
            </a:r>
          </a:p>
          <a:p>
            <a:pPr marL="342900" indent="-168275">
              <a:lnSpc>
                <a:spcPct val="110000"/>
              </a:lnSpc>
              <a:spcBef>
                <a:spcPts val="300"/>
              </a:spcBef>
              <a:buClr>
                <a:srgbClr val="0B61FF"/>
              </a:buClr>
              <a:buSzPct val="120000"/>
              <a:buFont typeface="Arial" panose="020B0604020202020204" pitchFamily="34" charset="0"/>
              <a:buChar char="•"/>
            </a:pPr>
            <a:r>
              <a:rPr lang="en-US" altLang="zh-CN" sz="2400" b="1" dirty="0">
                <a:latin typeface="Trebuchet MS" panose="020B0603020202020204" pitchFamily="34" charset="0"/>
                <a:ea typeface="宋体" panose="02010600030101010101" pitchFamily="2" charset="-122"/>
              </a:rPr>
              <a:t>&lt;</a:t>
            </a:r>
            <a:r>
              <a:rPr lang="en-US" altLang="zh-CN" sz="2400" b="1" i="1" dirty="0">
                <a:latin typeface="Trebuchet MS" panose="020B0603020202020204" pitchFamily="34" charset="0"/>
                <a:ea typeface="宋体" panose="02010600030101010101" pitchFamily="2" charset="-122"/>
              </a:rPr>
              <a:t>P</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rPr>
              <a:t>S</a:t>
            </a:r>
            <a:r>
              <a:rPr lang="en-US" altLang="zh-CN" sz="2400" b="1" dirty="0">
                <a:latin typeface="Trebuchet MS" panose="020B0603020202020204" pitchFamily="34" charset="0"/>
                <a:ea typeface="宋体" panose="02010600030101010101" pitchFamily="2" charset="-122"/>
              </a:rPr>
              <a:t>),∪,∩,~&gt;</a:t>
            </a:r>
            <a:r>
              <a:rPr lang="en-US" sz="2400" dirty="0">
                <a:latin typeface="Trebuchet MS" panose="020B0603020202020204" pitchFamily="34" charset="0"/>
              </a:rPr>
              <a:t>is also an algebraic system</a:t>
            </a:r>
            <a:r>
              <a:rPr lang="en-US" altLang="zh-CN" sz="2400" b="1" dirty="0">
                <a:latin typeface="Trebuchet MS" panose="020B0603020202020204" pitchFamily="34" charset="0"/>
                <a:ea typeface="宋体" panose="02010600030101010101" pitchFamily="2" charset="-122"/>
              </a:rPr>
              <a:t>,</a:t>
            </a:r>
            <a:r>
              <a:rPr lang="zh-CN" altLang="en-US" sz="2400" b="1"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ea typeface="宋体" panose="02010600030101010101" pitchFamily="2" charset="-122"/>
              </a:rPr>
              <a:t>and</a:t>
            </a:r>
            <a:r>
              <a:rPr lang="en-US" altLang="zh-CN" sz="2400" b="1" dirty="0">
                <a:latin typeface="Trebuchet MS" panose="020B0603020202020204" pitchFamily="34" charset="0"/>
                <a:ea typeface="宋体" panose="02010600030101010101" pitchFamily="2" charset="-122"/>
              </a:rPr>
              <a:t> </a:t>
            </a:r>
            <a:r>
              <a:rPr lang="zh-CN" altLang="en-US"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are union and intersection, and </a:t>
            </a:r>
            <a:r>
              <a:rPr lang="en-US" altLang="zh-CN"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is the absolute complement.</a:t>
            </a:r>
            <a:endParaRPr lang="zh-CN" altLang="en-US" sz="2400" b="1" dirty="0">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40433325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1000"/>
                                        <p:tgtEl>
                                          <p:spTgt spid="12">
                                            <p:txEl>
                                              <p:pRg st="2" end="2"/>
                                            </p:txEl>
                                          </p:spTgt>
                                        </p:tgtEl>
                                      </p:cBhvr>
                                    </p:animEffect>
                                    <p:anim calcmode="lin" valueType="num">
                                      <p:cBhvr>
                                        <p:cTn id="13"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fade">
                                      <p:cBhvr>
                                        <p:cTn id="19" dur="1000"/>
                                        <p:tgtEl>
                                          <p:spTgt spid="12">
                                            <p:txEl>
                                              <p:pRg st="3" end="3"/>
                                            </p:txEl>
                                          </p:spTgt>
                                        </p:tgtEl>
                                      </p:cBhvr>
                                    </p:animEffect>
                                    <p:anim calcmode="lin" valueType="num">
                                      <p:cBhvr>
                                        <p:cTn id="20"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2">
                                            <p:txEl>
                                              <p:pRg st="4" end="4"/>
                                            </p:txEl>
                                          </p:spTgt>
                                        </p:tgtEl>
                                        <p:attrNameLst>
                                          <p:attrName>style.visibility</p:attrName>
                                        </p:attrNameLst>
                                      </p:cBhvr>
                                      <p:to>
                                        <p:strVal val="visible"/>
                                      </p:to>
                                    </p:set>
                                    <p:animEffect transition="in" filter="fade">
                                      <p:cBhvr>
                                        <p:cTn id="26" dur="1000"/>
                                        <p:tgtEl>
                                          <p:spTgt spid="12">
                                            <p:txEl>
                                              <p:pRg st="4" end="4"/>
                                            </p:txEl>
                                          </p:spTgt>
                                        </p:tgtEl>
                                      </p:cBhvr>
                                    </p:animEffect>
                                    <p:anim calcmode="lin" valueType="num">
                                      <p:cBhvr>
                                        <p:cTn id="27"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animEffect transition="in" filter="fade">
                                      <p:cBhvr>
                                        <p:cTn id="33" dur="1000"/>
                                        <p:tgtEl>
                                          <p:spTgt spid="12">
                                            <p:txEl>
                                              <p:pRg st="5" end="5"/>
                                            </p:txEl>
                                          </p:spTgt>
                                        </p:tgtEl>
                                      </p:cBhvr>
                                    </p:animEffect>
                                    <p:anim calcmode="lin" valueType="num">
                                      <p:cBhvr>
                                        <p:cTn id="34"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9.2.1 Definition and Examples of Algebraic Systems</a:t>
            </a:r>
            <a:endParaRPr lang="en-US" altLang="zh-CN" sz="2000" b="1" dirty="0">
              <a:latin typeface="Times New Roman" panose="02020603050405020304" pitchFamily="18"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 The constituent elements of an algebraic system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2" name="Text Box 3">
            <a:extLst>
              <a:ext uri="{FF2B5EF4-FFF2-40B4-BE49-F238E27FC236}">
                <a16:creationId xmlns:a16="http://schemas.microsoft.com/office/drawing/2014/main" id="{00928FC4-AE5E-4664-9342-552890A7F489}"/>
              </a:ext>
            </a:extLst>
          </p:cNvPr>
          <p:cNvSpPr txBox="1">
            <a:spLocks noChangeArrowheads="1"/>
          </p:cNvSpPr>
          <p:nvPr/>
        </p:nvSpPr>
        <p:spPr bwMode="auto">
          <a:xfrm>
            <a:off x="824682" y="728488"/>
            <a:ext cx="10576135" cy="5825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534988" indent="-534988">
              <a:lnSpc>
                <a:spcPct val="120000"/>
              </a:lnSpc>
            </a:pPr>
            <a:r>
              <a:rPr lang="en-US" sz="2400" b="1" dirty="0">
                <a:solidFill>
                  <a:srgbClr val="0B61FF"/>
                </a:solidFill>
                <a:latin typeface="Trebuchet MS" panose="020B0603020202020204" pitchFamily="34" charset="0"/>
              </a:rPr>
              <a:t>(1) </a:t>
            </a:r>
            <a:r>
              <a:rPr lang="en-US" sz="2400" dirty="0">
                <a:latin typeface="Trebuchet MS" panose="020B0603020202020204" pitchFamily="34" charset="0"/>
              </a:rPr>
              <a:t>A </a:t>
            </a:r>
            <a:r>
              <a:rPr lang="en-US" sz="2400" b="1" i="1" dirty="0">
                <a:solidFill>
                  <a:srgbClr val="0B61FF"/>
                </a:solidFill>
                <a:latin typeface="Trebuchet MS" panose="020B0603020202020204" pitchFamily="34" charset="0"/>
              </a:rPr>
              <a:t>basic set </a:t>
            </a:r>
            <a:r>
              <a:rPr lang="en-US" sz="2400" b="1" dirty="0">
                <a:latin typeface="Trebuchet MS" panose="020B0603020202020204" pitchFamily="34" charset="0"/>
              </a:rPr>
              <a:t>(carrier set)</a:t>
            </a:r>
            <a:r>
              <a:rPr lang="en-US" sz="2400" dirty="0">
                <a:latin typeface="Trebuchet MS" panose="020B0603020202020204" pitchFamily="34" charset="0"/>
              </a:rPr>
              <a:t> that contains all the elements. For example, in the ring of integers, the set is the set of all integers </a:t>
            </a:r>
            <a:r>
              <a:rPr lang="en-US" altLang="zh-CN" sz="2400" b="1" dirty="0">
                <a:solidFill>
                  <a:schemeClr val="tx1"/>
                </a:solidFill>
                <a:latin typeface="Trebuchet MS" panose="020B0603020202020204" pitchFamily="34" charset="0"/>
                <a:ea typeface="宋体" panose="02010600030101010101" pitchFamily="2" charset="-122"/>
              </a:rPr>
              <a:t>Z</a:t>
            </a: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a:t>
            </a:r>
          </a:p>
          <a:p>
            <a:pPr marL="534988" indent="-534988">
              <a:lnSpc>
                <a:spcPct val="120000"/>
              </a:lnSpc>
            </a:pPr>
            <a:r>
              <a:rPr lang="en-US" altLang="zh-CN" sz="2400" b="1" dirty="0">
                <a:solidFill>
                  <a:srgbClr val="0B61FF"/>
                </a:solidFill>
                <a:latin typeface="Trebuchet MS" panose="020B0603020202020204" pitchFamily="34" charset="0"/>
              </a:rPr>
              <a:t>(2) </a:t>
            </a:r>
            <a:r>
              <a:rPr lang="en-US" sz="2400" b="1" i="1" dirty="0">
                <a:solidFill>
                  <a:srgbClr val="0B61FF"/>
                </a:solidFill>
                <a:latin typeface="Trebuchet MS" panose="020B0603020202020204" pitchFamily="34" charset="0"/>
              </a:rPr>
              <a:t>Operations</a:t>
            </a:r>
            <a:r>
              <a:rPr lang="en-US" sz="2400" dirty="0">
                <a:latin typeface="Trebuchet MS" panose="020B0603020202020204" pitchFamily="34" charset="0"/>
              </a:rPr>
              <a:t> defined on the set. Common operations include unary and binary operations.</a:t>
            </a:r>
            <a:endParaRPr lang="en-US" altLang="zh-CN" sz="2400" b="1" dirty="0">
              <a:solidFill>
                <a:schemeClr val="tx1"/>
              </a:solidFill>
              <a:latin typeface="Trebuchet MS" panose="020B0603020202020204" pitchFamily="34" charset="0"/>
              <a:ea typeface="宋体" panose="02010600030101010101" pitchFamily="2" charset="-122"/>
            </a:endParaRPr>
          </a:p>
          <a:p>
            <a:pPr marL="534988" indent="-534988">
              <a:lnSpc>
                <a:spcPct val="120000"/>
              </a:lnSpc>
            </a:pPr>
            <a:r>
              <a:rPr lang="en-US" altLang="zh-CN" sz="2400" b="1" dirty="0">
                <a:solidFill>
                  <a:srgbClr val="0B61FF"/>
                </a:solidFill>
                <a:latin typeface="Trebuchet MS" panose="020B0603020202020204" pitchFamily="34" charset="0"/>
              </a:rPr>
              <a:t>(3) </a:t>
            </a:r>
            <a:r>
              <a:rPr lang="en-US" sz="2400" dirty="0">
                <a:latin typeface="Trebuchet MS" panose="020B0603020202020204" pitchFamily="34" charset="0"/>
              </a:rPr>
              <a:t>Some algebraic systems require the definition of certain </a:t>
            </a:r>
            <a:r>
              <a:rPr lang="en-US" sz="2400" b="1" i="1" dirty="0">
                <a:solidFill>
                  <a:srgbClr val="0B61FF"/>
                </a:solidFill>
                <a:latin typeface="Trebuchet MS" panose="020B0603020202020204" pitchFamily="34" charset="0"/>
              </a:rPr>
              <a:t>special elements or algebraic constants</a:t>
            </a:r>
            <a:r>
              <a:rPr lang="en-US" sz="2400" dirty="0">
                <a:latin typeface="Trebuchet MS" panose="020B0603020202020204" pitchFamily="34" charset="0"/>
              </a:rPr>
              <a:t> (such as the </a:t>
            </a:r>
            <a:r>
              <a:rPr lang="en-US" sz="2400" b="1" dirty="0">
                <a:latin typeface="Trebuchet MS" panose="020B0603020202020204" pitchFamily="34" charset="0"/>
              </a:rPr>
              <a:t>zero element </a:t>
            </a:r>
            <a:r>
              <a:rPr lang="en-US" sz="2400" dirty="0">
                <a:latin typeface="Trebuchet MS" panose="020B0603020202020204" pitchFamily="34" charset="0"/>
              </a:rPr>
              <a:t>or </a:t>
            </a:r>
            <a:r>
              <a:rPr lang="en-US" sz="2400" b="1" dirty="0">
                <a:latin typeface="Trebuchet MS" panose="020B0603020202020204" pitchFamily="34" charset="0"/>
              </a:rPr>
              <a:t>identity element </a:t>
            </a:r>
            <a:r>
              <a:rPr lang="en-US" sz="2400" dirty="0">
                <a:latin typeface="Trebuchet MS" panose="020B0603020202020204" pitchFamily="34" charset="0"/>
              </a:rPr>
              <a:t>for a binary operation). For example, the element </a:t>
            </a:r>
            <a:r>
              <a:rPr lang="en-US" sz="2400" b="1" dirty="0">
                <a:latin typeface="Trebuchet MS" panose="020B0603020202020204" pitchFamily="34" charset="0"/>
              </a:rPr>
              <a:t>0</a:t>
            </a:r>
            <a:r>
              <a:rPr lang="en-US" sz="2400" dirty="0">
                <a:latin typeface="Trebuchet MS" panose="020B0603020202020204" pitchFamily="34" charset="0"/>
              </a:rPr>
              <a:t> in integer addition, or the element </a:t>
            </a:r>
            <a:r>
              <a:rPr lang="en-US" sz="2400" b="1" dirty="0">
                <a:latin typeface="Trebuchet MS" panose="020B0603020202020204" pitchFamily="34" charset="0"/>
              </a:rPr>
              <a:t>1</a:t>
            </a:r>
            <a:r>
              <a:rPr lang="en-US" sz="2400" dirty="0">
                <a:latin typeface="Trebuchet MS" panose="020B0603020202020204" pitchFamily="34" charset="0"/>
              </a:rPr>
              <a:t> in integer multiplication.</a:t>
            </a:r>
          </a:p>
          <a:p>
            <a:pPr marL="534988" indent="-534988">
              <a:lnSpc>
                <a:spcPct val="120000"/>
              </a:lnSpc>
            </a:pPr>
            <a:r>
              <a:rPr lang="en-US" altLang="zh-CN" sz="2400" b="1" dirty="0">
                <a:solidFill>
                  <a:srgbClr val="0B61FF"/>
                </a:solidFill>
                <a:latin typeface="Trebuchet MS" panose="020B0603020202020204" pitchFamily="34" charset="0"/>
              </a:rPr>
              <a:t>(4) </a:t>
            </a:r>
            <a:r>
              <a:rPr lang="en-US" sz="2400" dirty="0">
                <a:latin typeface="Trebuchet MS" panose="020B0603020202020204" pitchFamily="34" charset="0"/>
              </a:rPr>
              <a:t>Certain operations may require the existence of </a:t>
            </a:r>
            <a:r>
              <a:rPr lang="en-US" sz="2400" b="1" i="1" dirty="0">
                <a:solidFill>
                  <a:srgbClr val="0B61FF"/>
                </a:solidFill>
                <a:latin typeface="Trebuchet MS" panose="020B0603020202020204" pitchFamily="34" charset="0"/>
              </a:rPr>
              <a:t>inverse elements</a:t>
            </a:r>
            <a:r>
              <a:rPr lang="en-US" sz="2400"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For example, for an integer </a:t>
            </a:r>
            <a:r>
              <a:rPr lang="en-US" sz="2400" b="1" i="1" dirty="0">
                <a:latin typeface="Trebuchet MS" panose="020B0603020202020204" pitchFamily="34" charset="0"/>
              </a:rPr>
              <a:t>n</a:t>
            </a:r>
            <a:r>
              <a:rPr lang="en-US" sz="2400" dirty="0">
                <a:latin typeface="Trebuchet MS" panose="020B0603020202020204" pitchFamily="34" charset="0"/>
              </a:rPr>
              <a:t>, its additive inverse is </a:t>
            </a:r>
            <a:r>
              <a:rPr lang="en-US" sz="2400" b="1" i="1" dirty="0">
                <a:latin typeface="Trebuchet MS" panose="020B0603020202020204" pitchFamily="34" charset="0"/>
              </a:rPr>
              <a:t>−n</a:t>
            </a:r>
            <a:r>
              <a:rPr lang="en-US" sz="2400" dirty="0">
                <a:latin typeface="Trebuchet MS" panose="020B0603020202020204" pitchFamily="34" charset="0"/>
              </a:rPr>
              <a:t>.</a:t>
            </a:r>
          </a:p>
          <a:p>
            <a:pPr marL="534988" indent="-534988">
              <a:lnSpc>
                <a:spcPct val="120000"/>
              </a:lnSpc>
            </a:pPr>
            <a:r>
              <a:rPr lang="en-US" altLang="zh-CN" sz="2400" b="1" dirty="0">
                <a:solidFill>
                  <a:srgbClr val="0B61FF"/>
                </a:solidFill>
                <a:latin typeface="Trebuchet MS" panose="020B0603020202020204" pitchFamily="34" charset="0"/>
              </a:rPr>
              <a:t>(5) </a:t>
            </a:r>
            <a:r>
              <a:rPr lang="en-US" sz="2400" dirty="0">
                <a:latin typeface="Trebuchet MS" panose="020B0603020202020204" pitchFamily="34" charset="0"/>
              </a:rPr>
              <a:t>An algebraic system typically comes with a set of </a:t>
            </a:r>
            <a:r>
              <a:rPr lang="en-US" sz="2400" b="1" i="1" dirty="0">
                <a:solidFill>
                  <a:srgbClr val="0B61FF"/>
                </a:solidFill>
                <a:latin typeface="Trebuchet MS" panose="020B0603020202020204" pitchFamily="34" charset="0"/>
              </a:rPr>
              <a:t>axioms</a:t>
            </a:r>
            <a:r>
              <a:rPr lang="en-US" sz="2400" dirty="0">
                <a:latin typeface="Trebuchet MS" panose="020B0603020202020204" pitchFamily="34" charset="0"/>
              </a:rPr>
              <a:t> that must be satisfied, such as the associative law, commutative law, and distributive law.</a:t>
            </a:r>
          </a:p>
        </p:txBody>
      </p:sp>
    </p:spTree>
    <p:extLst>
      <p:ext uri="{BB962C8B-B14F-4D97-AF65-F5344CB8AC3E}">
        <p14:creationId xmlns:p14="http://schemas.microsoft.com/office/powerpoint/2010/main" val="1573358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2" end="2"/>
                                            </p:txEl>
                                          </p:spTgt>
                                        </p:tgtEl>
                                        <p:attrNameLst>
                                          <p:attrName>style.visibility</p:attrName>
                                        </p:attrNameLst>
                                      </p:cBhvr>
                                      <p:to>
                                        <p:strVal val="visible"/>
                                      </p:to>
                                    </p:set>
                                    <p:animEffect transition="in" filter="fade">
                                      <p:cBhvr>
                                        <p:cTn id="14" dur="1000"/>
                                        <p:tgtEl>
                                          <p:spTgt spid="12">
                                            <p:txEl>
                                              <p:pRg st="2" end="2"/>
                                            </p:txEl>
                                          </p:spTgt>
                                        </p:tgtEl>
                                      </p:cBhvr>
                                    </p:animEffect>
                                    <p:anim calcmode="lin" valueType="num">
                                      <p:cBhvr>
                                        <p:cTn id="15"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animEffect transition="in" filter="fade">
                                      <p:cBhvr>
                                        <p:cTn id="21" dur="1000"/>
                                        <p:tgtEl>
                                          <p:spTgt spid="12">
                                            <p:txEl>
                                              <p:pRg st="3" end="3"/>
                                            </p:txEl>
                                          </p:spTgt>
                                        </p:tgtEl>
                                      </p:cBhvr>
                                    </p:animEffect>
                                    <p:anim calcmode="lin" valueType="num">
                                      <p:cBhvr>
                                        <p:cTn id="22"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
                                            <p:txEl>
                                              <p:pRg st="4" end="4"/>
                                            </p:txEl>
                                          </p:spTgt>
                                        </p:tgtEl>
                                        <p:attrNameLst>
                                          <p:attrName>style.visibility</p:attrName>
                                        </p:attrNameLst>
                                      </p:cBhvr>
                                      <p:to>
                                        <p:strVal val="visible"/>
                                      </p:to>
                                    </p:set>
                                    <p:animEffect transition="in" filter="fade">
                                      <p:cBhvr>
                                        <p:cTn id="28" dur="1000"/>
                                        <p:tgtEl>
                                          <p:spTgt spid="12">
                                            <p:txEl>
                                              <p:pRg st="4" end="4"/>
                                            </p:txEl>
                                          </p:spTgt>
                                        </p:tgtEl>
                                      </p:cBhvr>
                                    </p:animEffect>
                                    <p:anim calcmode="lin" valueType="num">
                                      <p:cBhvr>
                                        <p:cTn id="29"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9.2.1 Definition and Examples of Algebraic Systems</a:t>
            </a:r>
            <a:endParaRPr lang="en-US" altLang="zh-CN" sz="2000" b="1" dirty="0">
              <a:latin typeface="Times New Roman" panose="02020603050405020304" pitchFamily="18"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rPr>
              <a:t> The constituent elements of an algebraic system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2" name="Text Box 3">
            <a:extLst>
              <a:ext uri="{FF2B5EF4-FFF2-40B4-BE49-F238E27FC236}">
                <a16:creationId xmlns:a16="http://schemas.microsoft.com/office/drawing/2014/main" id="{00928FC4-AE5E-4664-9342-552890A7F489}"/>
              </a:ext>
            </a:extLst>
          </p:cNvPr>
          <p:cNvSpPr txBox="1">
            <a:spLocks noChangeArrowheads="1"/>
          </p:cNvSpPr>
          <p:nvPr/>
        </p:nvSpPr>
        <p:spPr bwMode="auto">
          <a:xfrm>
            <a:off x="824682" y="843535"/>
            <a:ext cx="9372478" cy="5059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73050" indent="-273050">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Note: </a:t>
            </a:r>
            <a:r>
              <a:rPr lang="en-US" sz="2400" dirty="0">
                <a:latin typeface="Trebuchet MS" panose="020B0603020202020204" pitchFamily="34" charset="0"/>
              </a:rPr>
              <a:t>In addition to these basic components, different algebraic structures (such as </a:t>
            </a:r>
            <a:r>
              <a:rPr lang="en-US" sz="2400" i="1" dirty="0">
                <a:latin typeface="Trebuchet MS" panose="020B0603020202020204" pitchFamily="34" charset="0"/>
              </a:rPr>
              <a:t>groups, rings, fields, vector spaces</a:t>
            </a:r>
            <a:r>
              <a:rPr lang="en-US" sz="2400" dirty="0">
                <a:latin typeface="Trebuchet MS" panose="020B0603020202020204" pitchFamily="34" charset="0"/>
              </a:rPr>
              <a:t>) also have their own </a:t>
            </a:r>
            <a:r>
              <a:rPr lang="en-US" sz="2400" b="1" i="1" dirty="0">
                <a:solidFill>
                  <a:srgbClr val="0B61FF"/>
                </a:solidFill>
                <a:latin typeface="Trebuchet MS" panose="020B0603020202020204" pitchFamily="34" charset="0"/>
              </a:rPr>
              <a:t>specific components and axioms</a:t>
            </a:r>
            <a:r>
              <a:rPr lang="en-US" sz="2400" dirty="0">
                <a:latin typeface="Trebuchet MS" panose="020B0603020202020204" pitchFamily="34" charset="0"/>
              </a:rPr>
              <a:t> that must be satisfied.</a:t>
            </a:r>
          </a:p>
          <a:p>
            <a:pPr marL="273050" indent="-273050">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marL="534988" indent="-261938">
              <a:lnSpc>
                <a:spcPct val="120000"/>
              </a:lnSpc>
              <a:spcBef>
                <a:spcPts val="600"/>
              </a:spcBef>
              <a:buClr>
                <a:srgbClr val="0B61FF"/>
              </a:buClr>
              <a:buSzPct val="120000"/>
              <a:buFont typeface="Arial" panose="020B0604020202020204" pitchFamily="34" charset="0"/>
              <a:buChar char="•"/>
            </a:pPr>
            <a:r>
              <a:rPr lang="en-US" altLang="zh-CN" sz="2400" b="1" dirty="0">
                <a:latin typeface="Trebuchet MS" panose="020B0603020202020204" pitchFamily="34" charset="0"/>
              </a:rPr>
              <a:t>&lt;Z, +</a:t>
            </a:r>
            <a:r>
              <a:rPr lang="en-US" altLang="zh-CN" sz="2400" dirty="0">
                <a:latin typeface="Trebuchet MS" panose="020B0603020202020204" pitchFamily="34" charset="0"/>
              </a:rPr>
              <a:t> </a:t>
            </a:r>
            <a:r>
              <a:rPr lang="en-US" altLang="zh-CN" sz="2400" b="1" dirty="0">
                <a:latin typeface="Trebuchet MS" panose="020B0603020202020204" pitchFamily="34" charset="0"/>
              </a:rPr>
              <a:t>&gt;</a:t>
            </a:r>
            <a:r>
              <a:rPr lang="en-US" altLang="zh-CN" sz="2400" dirty="0">
                <a:latin typeface="Trebuchet MS" panose="020B0603020202020204" pitchFamily="34" charset="0"/>
              </a:rPr>
              <a:t>has the identity element </a:t>
            </a:r>
            <a:r>
              <a:rPr lang="en-US" altLang="zh-CN" sz="2400" b="1" dirty="0">
                <a:latin typeface="Trebuchet MS" panose="020B0603020202020204" pitchFamily="34" charset="0"/>
              </a:rPr>
              <a:t>0,</a:t>
            </a:r>
            <a:r>
              <a:rPr lang="en-US" altLang="zh-CN" sz="2400" dirty="0">
                <a:latin typeface="Trebuchet MS" panose="020B0603020202020204" pitchFamily="34" charset="0"/>
              </a:rPr>
              <a:t>and can also be written as </a:t>
            </a:r>
            <a:r>
              <a:rPr lang="en-US" altLang="zh-CN" sz="2400" b="1" dirty="0">
                <a:solidFill>
                  <a:srgbClr val="0B61FF"/>
                </a:solidFill>
                <a:latin typeface="Trebuchet MS" panose="020B0603020202020204" pitchFamily="34" charset="0"/>
              </a:rPr>
              <a:t>&lt;Z, + ,0 &gt;.</a:t>
            </a:r>
          </a:p>
          <a:p>
            <a:pPr marL="534988" indent="-261938">
              <a:lnSpc>
                <a:spcPct val="120000"/>
              </a:lnSpc>
              <a:spcBef>
                <a:spcPts val="600"/>
              </a:spcBef>
              <a:buClr>
                <a:srgbClr val="0B61FF"/>
              </a:buClr>
              <a:buSzPct val="120000"/>
              <a:buFont typeface="Arial" panose="020B0604020202020204" pitchFamily="34" charset="0"/>
              <a:buChar char="•"/>
            </a:pPr>
            <a:r>
              <a:rPr lang="en-US" altLang="zh-CN" sz="2400" b="1" dirty="0">
                <a:latin typeface="Trebuchet MS" panose="020B0603020202020204" pitchFamily="34" charset="0"/>
              </a:rPr>
              <a:t>&lt;</a:t>
            </a:r>
            <a:r>
              <a:rPr lang="en-US" altLang="zh-CN" sz="2400" b="1" i="1" dirty="0">
                <a:latin typeface="Trebuchet MS" panose="020B0603020202020204" pitchFamily="34" charset="0"/>
              </a:rPr>
              <a:t>P</a:t>
            </a:r>
            <a:r>
              <a:rPr lang="en-US" altLang="zh-CN" sz="2400" b="1" dirty="0">
                <a:latin typeface="Trebuchet MS" panose="020B0603020202020204" pitchFamily="34" charset="0"/>
              </a:rPr>
              <a:t>(</a:t>
            </a:r>
            <a:r>
              <a:rPr lang="en-US" altLang="zh-CN" sz="2400" b="1" i="1" dirty="0">
                <a:latin typeface="Trebuchet MS" panose="020B0603020202020204" pitchFamily="34" charset="0"/>
              </a:rPr>
              <a:t>S</a:t>
            </a:r>
            <a:r>
              <a:rPr lang="en-US" altLang="zh-CN" sz="2400" b="1" dirty="0">
                <a:latin typeface="Trebuchet MS" panose="020B0603020202020204" pitchFamily="34" charset="0"/>
              </a:rPr>
              <a:t>),∪,∩,~&gt; </a:t>
            </a:r>
            <a:r>
              <a:rPr lang="en-US" altLang="zh-CN" sz="2400" dirty="0">
                <a:latin typeface="Trebuchet MS" panose="020B0603020202020204" pitchFamily="34" charset="0"/>
              </a:rPr>
              <a:t>the identity elements for </a:t>
            </a:r>
            <a:r>
              <a:rPr lang="en-US" altLang="zh-CN" sz="2400" b="1" dirty="0">
                <a:latin typeface="Trebuchet MS" panose="020B0603020202020204" pitchFamily="34" charset="0"/>
              </a:rPr>
              <a:t>∪ </a:t>
            </a:r>
            <a:r>
              <a:rPr lang="en-US" altLang="zh-CN" sz="2400" dirty="0">
                <a:latin typeface="Trebuchet MS" panose="020B0603020202020204" pitchFamily="34" charset="0"/>
              </a:rPr>
              <a:t>and </a:t>
            </a:r>
            <a:r>
              <a:rPr lang="en-US" altLang="zh-CN" sz="2400" b="1" dirty="0">
                <a:latin typeface="Trebuchet MS" panose="020B0603020202020204" pitchFamily="34" charset="0"/>
              </a:rPr>
              <a:t>∩ </a:t>
            </a:r>
            <a:r>
              <a:rPr lang="en-US" altLang="zh-CN" sz="2400" dirty="0">
                <a:latin typeface="Trebuchet MS" panose="020B0603020202020204" pitchFamily="34" charset="0"/>
              </a:rPr>
              <a:t>are the empty set </a:t>
            </a:r>
            <a:r>
              <a:rPr lang="zh-CN" altLang="en-US" sz="2400" b="1" dirty="0">
                <a:latin typeface="Trebuchet MS" panose="020B0603020202020204" pitchFamily="34" charset="0"/>
                <a:sym typeface="Symbol" panose="05050102010706020507" pitchFamily="18" charset="2"/>
              </a:rPr>
              <a:t> </a:t>
            </a:r>
            <a:r>
              <a:rPr lang="en-US" altLang="zh-CN" sz="2400" dirty="0">
                <a:latin typeface="Trebuchet MS" panose="020B0603020202020204" pitchFamily="34" charset="0"/>
              </a:rPr>
              <a:t>and the universal set </a:t>
            </a:r>
            <a:r>
              <a:rPr lang="en-US" altLang="zh-CN" sz="2400" b="1" i="1" dirty="0">
                <a:latin typeface="Trebuchet MS" panose="020B0603020202020204" pitchFamily="34" charset="0"/>
              </a:rPr>
              <a:t>S </a:t>
            </a:r>
            <a:r>
              <a:rPr lang="en-US" altLang="zh-CN" sz="2400" dirty="0">
                <a:latin typeface="Trebuchet MS" panose="020B0603020202020204" pitchFamily="34" charset="0"/>
              </a:rPr>
              <a:t>, respectively. It can also be written as </a:t>
            </a:r>
            <a:r>
              <a:rPr lang="en-US" altLang="zh-CN" sz="2400" b="1" dirty="0">
                <a:solidFill>
                  <a:srgbClr val="0B61FF"/>
                </a:solidFill>
                <a:latin typeface="Trebuchet MS" panose="020B0603020202020204" pitchFamily="34" charset="0"/>
              </a:rPr>
              <a:t>&lt;</a:t>
            </a:r>
            <a:r>
              <a:rPr lang="en-US" altLang="zh-CN" sz="2400" b="1" i="1" dirty="0">
                <a:solidFill>
                  <a:srgbClr val="0B61FF"/>
                </a:solidFill>
                <a:latin typeface="Trebuchet MS" panose="020B0603020202020204" pitchFamily="34" charset="0"/>
              </a:rPr>
              <a:t>P</a:t>
            </a:r>
            <a:r>
              <a:rPr lang="en-US" altLang="zh-CN" sz="2400" b="1" dirty="0">
                <a:solidFill>
                  <a:srgbClr val="0B61FF"/>
                </a:solidFill>
                <a:latin typeface="Trebuchet MS" panose="020B0603020202020204" pitchFamily="34" charset="0"/>
              </a:rPr>
              <a:t>(</a:t>
            </a:r>
            <a:r>
              <a:rPr lang="en-US" altLang="zh-CN" sz="2400" b="1" i="1" dirty="0">
                <a:solidFill>
                  <a:srgbClr val="0B61FF"/>
                </a:solidFill>
                <a:latin typeface="Trebuchet MS" panose="020B0603020202020204" pitchFamily="34" charset="0"/>
              </a:rPr>
              <a:t>S</a:t>
            </a:r>
            <a:r>
              <a:rPr lang="en-US" altLang="zh-CN" sz="2400" b="1" dirty="0">
                <a:solidFill>
                  <a:srgbClr val="0B61FF"/>
                </a:solidFill>
                <a:latin typeface="Trebuchet MS" panose="020B0603020202020204" pitchFamily="34" charset="0"/>
              </a:rPr>
              <a:t>),∪,∩,~,</a:t>
            </a:r>
            <a:r>
              <a:rPr lang="zh-CN" altLang="en-US" sz="2400" b="1" dirty="0">
                <a:solidFill>
                  <a:srgbClr val="0B61FF"/>
                </a:solidFill>
                <a:latin typeface="Trebuchet MS" panose="020B0603020202020204" pitchFamily="34" charset="0"/>
                <a:sym typeface="Symbol" panose="05050102010706020507" pitchFamily="18" charset="2"/>
              </a:rPr>
              <a:t> </a:t>
            </a:r>
            <a:r>
              <a:rPr lang="en-US" altLang="zh-CN" sz="2400" b="1" dirty="0">
                <a:solidFill>
                  <a:srgbClr val="0B61FF"/>
                </a:solidFill>
                <a:latin typeface="Trebuchet MS" panose="020B0603020202020204" pitchFamily="34" charset="0"/>
              </a:rPr>
              <a:t> ,</a:t>
            </a:r>
            <a:r>
              <a:rPr lang="en-US" altLang="zh-CN" sz="2400" b="1" i="1" dirty="0">
                <a:solidFill>
                  <a:srgbClr val="0B61FF"/>
                </a:solidFill>
                <a:latin typeface="Trebuchet MS" panose="020B0603020202020204" pitchFamily="34" charset="0"/>
              </a:rPr>
              <a:t> S </a:t>
            </a:r>
            <a:r>
              <a:rPr lang="en-US" altLang="zh-CN" sz="2400" b="1" dirty="0">
                <a:solidFill>
                  <a:srgbClr val="0B61FF"/>
                </a:solidFill>
                <a:latin typeface="Trebuchet MS" panose="020B0603020202020204" pitchFamily="34" charset="0"/>
              </a:rPr>
              <a:t>&gt;</a:t>
            </a:r>
            <a:r>
              <a:rPr lang="en-US" altLang="zh-CN" sz="2400" b="1" dirty="0">
                <a:latin typeface="Trebuchet MS" panose="020B0603020202020204" pitchFamily="34" charset="0"/>
              </a:rPr>
              <a:t>. </a:t>
            </a:r>
            <a:endParaRPr lang="en-US" sz="2400" dirty="0">
              <a:latin typeface="Trebuchet MS" panose="020B0603020202020204" pitchFamily="34" charset="0"/>
            </a:endParaRPr>
          </a:p>
        </p:txBody>
      </p:sp>
    </p:spTree>
    <p:extLst>
      <p:ext uri="{BB962C8B-B14F-4D97-AF65-F5344CB8AC3E}">
        <p14:creationId xmlns:p14="http://schemas.microsoft.com/office/powerpoint/2010/main" val="114073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1000"/>
                                        <p:tgtEl>
                                          <p:spTgt spid="12">
                                            <p:txEl>
                                              <p:pRg st="2" end="2"/>
                                            </p:txEl>
                                          </p:spTgt>
                                        </p:tgtEl>
                                      </p:cBhvr>
                                    </p:animEffect>
                                    <p:anim calcmode="lin" valueType="num">
                                      <p:cBhvr>
                                        <p:cTn id="13"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fade">
                                      <p:cBhvr>
                                        <p:cTn id="19" dur="1000"/>
                                        <p:tgtEl>
                                          <p:spTgt spid="12">
                                            <p:txEl>
                                              <p:pRg st="3" end="3"/>
                                            </p:txEl>
                                          </p:spTgt>
                                        </p:tgtEl>
                                      </p:cBhvr>
                                    </p:animEffect>
                                    <p:anim calcmode="lin" valueType="num">
                                      <p:cBhvr>
                                        <p:cTn id="20"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9.2 Algebraic Systems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p:txBody>
      </p:sp>
      <p:sp>
        <p:nvSpPr>
          <p:cNvPr id="9" name="Rectangle 3">
            <a:extLst>
              <a:ext uri="{FF2B5EF4-FFF2-40B4-BE49-F238E27FC236}">
                <a16:creationId xmlns:a16="http://schemas.microsoft.com/office/drawing/2014/main" id="{DFB26965-CE5B-4DE7-9E7F-C771435C74C9}"/>
              </a:ext>
            </a:extLst>
          </p:cNvPr>
          <p:cNvSpPr txBox="1">
            <a:spLocks noChangeArrowheads="1"/>
          </p:cNvSpPr>
          <p:nvPr/>
        </p:nvSpPr>
        <p:spPr>
          <a:xfrm>
            <a:off x="2133599" y="1066801"/>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9.2.1 Definition and Examples of Algebraic Systems</a:t>
            </a:r>
          </a:p>
          <a:p>
            <a:pPr marL="268288" indent="-268288">
              <a:lnSpc>
                <a:spcPct val="13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9.2.2 Sub-algebraic Systems and Product Algebraic Systems</a:t>
            </a:r>
          </a:p>
          <a:p>
            <a:pPr>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9.2.3 Homomorphisms and Isomorphisms of Algebraic Systems</a:t>
            </a:r>
          </a:p>
        </p:txBody>
      </p:sp>
    </p:spTree>
    <p:extLst>
      <p:ext uri="{BB962C8B-B14F-4D97-AF65-F5344CB8AC3E}">
        <p14:creationId xmlns:p14="http://schemas.microsoft.com/office/powerpoint/2010/main" val="18452997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9.2.2 </a:t>
            </a:r>
            <a:r>
              <a:rPr lang="en-US" altLang="zh-CN" sz="2000" b="1" dirty="0" err="1">
                <a:solidFill>
                  <a:schemeClr val="bg1"/>
                </a:solidFill>
                <a:latin typeface="Trebuchet MS" panose="020B0603020202020204" pitchFamily="34" charset="0"/>
              </a:rPr>
              <a:t>Subalgebraic</a:t>
            </a:r>
            <a:r>
              <a:rPr lang="en-US" altLang="zh-CN" sz="2000" b="1" dirty="0">
                <a:solidFill>
                  <a:schemeClr val="bg1"/>
                </a:solidFill>
                <a:latin typeface="Trebuchet MS" panose="020B0603020202020204" pitchFamily="34" charset="0"/>
              </a:rPr>
              <a:t> Systems and Product Algebraic Systems</a:t>
            </a:r>
            <a:endParaRPr lang="en-US" altLang="zh-CN" sz="20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err="1">
                <a:solidFill>
                  <a:schemeClr val="bg1"/>
                </a:solidFill>
                <a:latin typeface="Trebuchet MS" panose="020B0603020202020204" pitchFamily="34" charset="0"/>
              </a:rPr>
              <a:t>Subalgebraic</a:t>
            </a:r>
            <a:r>
              <a:rPr lang="en-US" altLang="zh-CN" sz="2400" b="1" dirty="0">
                <a:solidFill>
                  <a:schemeClr val="bg1"/>
                </a:solidFill>
                <a:latin typeface="Trebuchet MS" panose="020B0603020202020204" pitchFamily="34" charset="0"/>
              </a:rPr>
              <a:t> system </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4" name="Text Box 3">
            <a:extLst>
              <a:ext uri="{FF2B5EF4-FFF2-40B4-BE49-F238E27FC236}">
                <a16:creationId xmlns:a16="http://schemas.microsoft.com/office/drawing/2014/main" id="{F666CFFB-C132-4EA3-AF0E-6A3817B86268}"/>
              </a:ext>
            </a:extLst>
          </p:cNvPr>
          <p:cNvSpPr txBox="1">
            <a:spLocks noChangeArrowheads="1"/>
          </p:cNvSpPr>
          <p:nvPr/>
        </p:nvSpPr>
        <p:spPr bwMode="auto">
          <a:xfrm>
            <a:off x="1128409" y="777807"/>
            <a:ext cx="9260731" cy="497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a:defRPr>
                <a:solidFill>
                  <a:schemeClr val="accent2"/>
                </a:solidFill>
                <a:latin typeface="Arial" panose="020B0604020202020204" pitchFamily="34" charset="0"/>
                <a:ea typeface="华文行楷" panose="02010800040101010101" pitchFamily="2" charset="-122"/>
              </a:defRPr>
            </a:lvl1pPr>
            <a:lvl2pPr>
              <a:defRPr>
                <a:solidFill>
                  <a:schemeClr val="accent2"/>
                </a:solidFill>
                <a:latin typeface="Arial" panose="020B0604020202020204" pitchFamily="34" charset="0"/>
                <a:ea typeface="华文行楷" panose="02010800040101010101" pitchFamily="2" charset="-122"/>
              </a:defRPr>
            </a:lvl2pPr>
            <a:lvl3pPr>
              <a:defRPr>
                <a:solidFill>
                  <a:schemeClr val="accent2"/>
                </a:solidFill>
                <a:latin typeface="Arial" panose="020B0604020202020204" pitchFamily="34" charset="0"/>
                <a:ea typeface="华文行楷" panose="02010800040101010101" pitchFamily="2" charset="-122"/>
              </a:defRPr>
            </a:lvl3pPr>
            <a:lvl4pPr>
              <a:defRPr>
                <a:solidFill>
                  <a:schemeClr val="accent2"/>
                </a:solidFill>
                <a:latin typeface="Arial" panose="020B0604020202020204" pitchFamily="34" charset="0"/>
                <a:ea typeface="华文行楷" panose="02010800040101010101" pitchFamily="2" charset="-122"/>
              </a:defRPr>
            </a:lvl4pPr>
            <a:lvl5pPr>
              <a:defRPr>
                <a:solidFill>
                  <a:schemeClr val="accent2"/>
                </a:solidFill>
                <a:latin typeface="Arial" panose="020B0604020202020204" pitchFamily="34" charset="0"/>
                <a:ea typeface="华文行楷" panose="02010800040101010101" pitchFamily="2" charset="-122"/>
              </a:defRPr>
            </a:lvl5pPr>
            <a:lvl6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nSpc>
                <a:spcPct val="120000"/>
              </a:lnSpc>
              <a:spcBef>
                <a:spcPts val="300"/>
              </a:spcBef>
              <a:buClr>
                <a:srgbClr val="0B61FF"/>
              </a:buClr>
              <a:buSzPct val="80000"/>
              <a:buFont typeface="Wingdings" panose="05000000000000000000" pitchFamily="2" charset="2"/>
              <a:buChar char="n"/>
              <a:tabLst>
                <a:tab pos="273050" algn="l"/>
              </a:tabLst>
            </a:pPr>
            <a:r>
              <a:rPr lang="en-US" sz="2400" b="1" dirty="0">
                <a:solidFill>
                  <a:schemeClr val="tx1"/>
                </a:solidFill>
                <a:latin typeface="Trebuchet MS" panose="020B0603020202020204" pitchFamily="34" charset="0"/>
              </a:rPr>
              <a:t>Definition </a:t>
            </a:r>
            <a:r>
              <a:rPr lang="en-US" altLang="zh-CN" sz="2400" b="1" dirty="0">
                <a:solidFill>
                  <a:schemeClr val="tx1"/>
                </a:solidFill>
                <a:latin typeface="Trebuchet MS" panose="020B0603020202020204" pitchFamily="34" charset="0"/>
                <a:ea typeface="宋体" panose="02010600030101010101" pitchFamily="2" charset="-122"/>
              </a:rPr>
              <a:t>9.10:  </a:t>
            </a:r>
            <a:r>
              <a:rPr lang="en-US" altLang="zh-CN" sz="2400" dirty="0">
                <a:solidFill>
                  <a:schemeClr val="tx1"/>
                </a:solidFill>
                <a:latin typeface="Trebuchet MS" panose="020B0603020202020204" pitchFamily="34" charset="0"/>
                <a:ea typeface="宋体" panose="02010600030101010101" pitchFamily="2" charset="-122"/>
              </a:rPr>
              <a:t>Let</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V</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a:solidFill>
                  <a:schemeClr val="tx1"/>
                </a:solidFill>
                <a:latin typeface="Trebuchet MS" panose="020B0603020202020204" pitchFamily="34" charset="0"/>
                <a:ea typeface="宋体" panose="02010600030101010101" pitchFamily="2" charset="-122"/>
              </a:rPr>
              <a:t>S</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f</a:t>
            </a:r>
            <a:r>
              <a:rPr lang="en-US" altLang="zh-CN" sz="2400" b="1" baseline="-25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f</a:t>
            </a:r>
            <a:r>
              <a:rPr lang="en-US" altLang="zh-CN" sz="2400" b="1" baseline="-25000" dirty="0">
                <a:solidFill>
                  <a:schemeClr val="tx1"/>
                </a:solidFill>
                <a:latin typeface="Trebuchet MS" panose="020B0603020202020204" pitchFamily="34" charset="0"/>
                <a:ea typeface="宋体" panose="02010600030101010101" pitchFamily="2" charset="-122"/>
              </a:rPr>
              <a:t>2</a:t>
            </a:r>
            <a:r>
              <a:rPr lang="en-US" altLang="zh-CN" sz="2400" b="1" dirty="0">
                <a:solidFill>
                  <a:schemeClr val="tx1"/>
                </a:solidFill>
                <a:latin typeface="Trebuchet MS" panose="020B0603020202020204" pitchFamily="34" charset="0"/>
                <a:ea typeface="宋体" panose="02010600030101010101" pitchFamily="2" charset="-122"/>
              </a:rPr>
              <a:t>,  … ,  </a:t>
            </a:r>
            <a:r>
              <a:rPr lang="en-US" altLang="zh-CN" sz="2400" b="1" i="1" dirty="0" err="1">
                <a:solidFill>
                  <a:schemeClr val="tx1"/>
                </a:solidFill>
                <a:latin typeface="Trebuchet MS" panose="020B0603020202020204" pitchFamily="34" charset="0"/>
                <a:ea typeface="宋体" panose="02010600030101010101" pitchFamily="2" charset="-122"/>
              </a:rPr>
              <a:t>f</a:t>
            </a:r>
            <a:r>
              <a:rPr lang="en-US" altLang="zh-CN" sz="2400" b="1" i="1" baseline="-25000" dirty="0" err="1">
                <a:solidFill>
                  <a:schemeClr val="tx1"/>
                </a:solidFill>
                <a:latin typeface="Trebuchet MS" panose="020B0603020202020204" pitchFamily="34" charset="0"/>
                <a:ea typeface="宋体" panose="02010600030101010101" pitchFamily="2" charset="-122"/>
              </a:rPr>
              <a:t>k</a:t>
            </a:r>
            <a:r>
              <a:rPr lang="en-US" altLang="zh-CN" sz="2400" b="1" dirty="0">
                <a:solidFill>
                  <a:schemeClr val="tx1"/>
                </a:solidFill>
                <a:latin typeface="Trebuchet MS" panose="020B0603020202020204" pitchFamily="34" charset="0"/>
                <a:ea typeface="宋体" panose="02010600030101010101" pitchFamily="2" charset="-122"/>
              </a:rPr>
              <a:t>&gt; </a:t>
            </a:r>
            <a:r>
              <a:rPr lang="en-US" sz="2400" dirty="0">
                <a:solidFill>
                  <a:schemeClr val="tx1"/>
                </a:solidFill>
                <a:latin typeface="Trebuchet MS" panose="020B0603020202020204" pitchFamily="34" charset="0"/>
              </a:rPr>
              <a:t>be an algebraic system, and let </a:t>
            </a:r>
            <a:r>
              <a:rPr lang="en-US" altLang="zh-CN" sz="2400" b="1" i="1" dirty="0">
                <a:solidFill>
                  <a:schemeClr val="tx1"/>
                </a:solidFill>
                <a:latin typeface="Trebuchet MS" panose="020B0603020202020204" pitchFamily="34" charset="0"/>
                <a:ea typeface="宋体" panose="02010600030101010101" pitchFamily="2" charset="-122"/>
              </a:rPr>
              <a:t>B</a:t>
            </a:r>
            <a:r>
              <a:rPr lang="en-US" sz="2400" dirty="0">
                <a:solidFill>
                  <a:schemeClr val="tx1"/>
                </a:solidFill>
                <a:latin typeface="Trebuchet MS" panose="020B0603020202020204" pitchFamily="34" charset="0"/>
              </a:rPr>
              <a:t> be a non-empty subset of </a:t>
            </a:r>
            <a:r>
              <a:rPr lang="en-US" altLang="zh-CN" sz="2400" b="1" i="1" dirty="0">
                <a:solidFill>
                  <a:schemeClr val="tx1"/>
                </a:solidFill>
                <a:latin typeface="Trebuchet MS" panose="020B0603020202020204" pitchFamily="34" charset="0"/>
                <a:ea typeface="宋体" panose="02010600030101010101" pitchFamily="2" charset="-122"/>
              </a:rPr>
              <a:t>S</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solidFill>
                  <a:schemeClr val="tx1"/>
                </a:solidFill>
                <a:latin typeface="Trebuchet MS" panose="020B0603020202020204" pitchFamily="34" charset="0"/>
              </a:rPr>
              <a:t>If </a:t>
            </a:r>
            <a:r>
              <a:rPr lang="en-US" altLang="zh-CN" sz="2400" b="1" i="1" dirty="0">
                <a:solidFill>
                  <a:schemeClr val="tx1"/>
                </a:solidFill>
                <a:latin typeface="Trebuchet MS" panose="020B0603020202020204" pitchFamily="34" charset="0"/>
                <a:ea typeface="宋体" panose="02010600030101010101" pitchFamily="2" charset="-122"/>
              </a:rPr>
              <a:t>B</a:t>
            </a:r>
            <a:r>
              <a:rPr lang="en-US" sz="2400" dirty="0">
                <a:solidFill>
                  <a:schemeClr val="tx1"/>
                </a:solidFill>
                <a:latin typeface="Trebuchet MS" panose="020B0603020202020204" pitchFamily="34" charset="0"/>
              </a:rPr>
              <a:t> is closed under all operations </a:t>
            </a:r>
            <a:r>
              <a:rPr lang="en-US" altLang="zh-CN" sz="2400" b="1" i="1" dirty="0">
                <a:solidFill>
                  <a:schemeClr val="tx1"/>
                </a:solidFill>
                <a:latin typeface="Trebuchet MS" panose="020B0603020202020204" pitchFamily="34" charset="0"/>
                <a:ea typeface="宋体" panose="02010600030101010101" pitchFamily="2" charset="-122"/>
              </a:rPr>
              <a:t>f</a:t>
            </a:r>
            <a:r>
              <a:rPr lang="en-US" altLang="zh-CN" sz="2400" b="1" baseline="-25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f</a:t>
            </a:r>
            <a:r>
              <a:rPr lang="en-US" altLang="zh-CN" sz="2400" b="1" baseline="-25000" dirty="0">
                <a:solidFill>
                  <a:schemeClr val="tx1"/>
                </a:solidFill>
                <a:latin typeface="Trebuchet MS" panose="020B0603020202020204" pitchFamily="34" charset="0"/>
                <a:ea typeface="宋体" panose="02010600030101010101" pitchFamily="2" charset="-122"/>
              </a:rPr>
              <a:t>2</a:t>
            </a:r>
            <a:r>
              <a:rPr lang="en-US" altLang="zh-CN" sz="2400" b="1" dirty="0">
                <a:solidFill>
                  <a:schemeClr val="tx1"/>
                </a:solidFill>
                <a:latin typeface="Trebuchet MS" panose="020B0603020202020204" pitchFamily="34" charset="0"/>
                <a:ea typeface="宋体" panose="02010600030101010101" pitchFamily="2" charset="-122"/>
              </a:rPr>
              <a:t>, … , </a:t>
            </a:r>
            <a:r>
              <a:rPr lang="en-US" altLang="zh-CN" sz="2400" b="1" i="1" dirty="0" err="1">
                <a:solidFill>
                  <a:schemeClr val="tx1"/>
                </a:solidFill>
                <a:latin typeface="Trebuchet MS" panose="020B0603020202020204" pitchFamily="34" charset="0"/>
                <a:ea typeface="宋体" panose="02010600030101010101" pitchFamily="2" charset="-122"/>
              </a:rPr>
              <a:t>f</a:t>
            </a:r>
            <a:r>
              <a:rPr lang="en-US" altLang="zh-CN" sz="2400" b="1" i="1" baseline="-25000" dirty="0" err="1">
                <a:solidFill>
                  <a:schemeClr val="tx1"/>
                </a:solidFill>
                <a:latin typeface="Trebuchet MS" panose="020B0603020202020204" pitchFamily="34" charset="0"/>
                <a:ea typeface="宋体" panose="02010600030101010101" pitchFamily="2" charset="-122"/>
              </a:rPr>
              <a:t>k</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B </a:t>
            </a:r>
            <a:r>
              <a:rPr lang="en-US" altLang="zh-CN" sz="2400" dirty="0">
                <a:solidFill>
                  <a:schemeClr val="tx1"/>
                </a:solidFill>
                <a:latin typeface="Trebuchet MS" panose="020B0603020202020204" pitchFamily="34" charset="0"/>
                <a:ea typeface="宋体" panose="02010600030101010101" pitchFamily="2" charset="-122"/>
              </a:rPr>
              <a:t>and</a:t>
            </a:r>
            <a:r>
              <a:rPr lang="zh-CN" altLang="en-US" sz="2400" b="1" i="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S</a:t>
            </a:r>
            <a:r>
              <a:rPr lang="en-US" sz="2400" dirty="0">
                <a:solidFill>
                  <a:schemeClr val="tx1"/>
                </a:solidFill>
                <a:latin typeface="Trebuchet MS" panose="020B0603020202020204" pitchFamily="34" charset="0"/>
              </a:rPr>
              <a:t> share the same algebraic constants, then</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&lt;</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f</a:t>
            </a:r>
            <a:r>
              <a:rPr lang="en-US" altLang="zh-CN" sz="2400" b="1" baseline="-25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f</a:t>
            </a:r>
            <a:r>
              <a:rPr lang="en-US" altLang="zh-CN" sz="2400" b="1" baseline="-25000" dirty="0">
                <a:solidFill>
                  <a:schemeClr val="tx1"/>
                </a:solidFill>
                <a:latin typeface="Trebuchet MS" panose="020B0603020202020204" pitchFamily="34" charset="0"/>
                <a:ea typeface="宋体" panose="02010600030101010101" pitchFamily="2" charset="-122"/>
              </a:rPr>
              <a:t>2</a:t>
            </a:r>
            <a:r>
              <a:rPr lang="en-US" altLang="zh-CN" sz="2400" b="1" dirty="0">
                <a:solidFill>
                  <a:schemeClr val="tx1"/>
                </a:solidFill>
                <a:latin typeface="Trebuchet MS" panose="020B0603020202020204" pitchFamily="34" charset="0"/>
                <a:ea typeface="宋体" panose="02010600030101010101" pitchFamily="2" charset="-122"/>
              </a:rPr>
              <a:t>, … , </a:t>
            </a:r>
            <a:r>
              <a:rPr lang="en-US" altLang="zh-CN" sz="2400" b="1" i="1" dirty="0" err="1">
                <a:solidFill>
                  <a:schemeClr val="tx1"/>
                </a:solidFill>
                <a:latin typeface="Trebuchet MS" panose="020B0603020202020204" pitchFamily="34" charset="0"/>
                <a:ea typeface="宋体" panose="02010600030101010101" pitchFamily="2" charset="-122"/>
              </a:rPr>
              <a:t>f</a:t>
            </a:r>
            <a:r>
              <a:rPr lang="en-US" altLang="zh-CN" sz="2400" b="1" i="1" baseline="-25000" dirty="0" err="1">
                <a:solidFill>
                  <a:schemeClr val="tx1"/>
                </a:solidFill>
                <a:latin typeface="Trebuchet MS" panose="020B0603020202020204" pitchFamily="34" charset="0"/>
                <a:ea typeface="宋体" panose="02010600030101010101" pitchFamily="2" charset="-122"/>
              </a:rPr>
              <a:t>k</a:t>
            </a:r>
            <a:r>
              <a:rPr lang="en-US" altLang="zh-CN" sz="2400" b="1" dirty="0">
                <a:solidFill>
                  <a:schemeClr val="tx1"/>
                </a:solidFill>
                <a:latin typeface="Trebuchet MS" panose="020B0603020202020204" pitchFamily="34" charset="0"/>
                <a:ea typeface="宋体" panose="02010600030101010101" pitchFamily="2" charset="-122"/>
              </a:rPr>
              <a:t>&gt; </a:t>
            </a:r>
            <a:r>
              <a:rPr lang="en-US" sz="2400" dirty="0">
                <a:solidFill>
                  <a:schemeClr val="tx1"/>
                </a:solidFill>
                <a:latin typeface="Trebuchet MS" panose="020B0603020202020204" pitchFamily="34" charset="0"/>
              </a:rPr>
              <a:t>is called a </a:t>
            </a:r>
            <a:r>
              <a:rPr lang="en-US" sz="2400" b="1" i="1" dirty="0">
                <a:solidFill>
                  <a:srgbClr val="0B61FF"/>
                </a:solidFill>
                <a:latin typeface="Trebuchet MS" panose="020B0603020202020204" pitchFamily="34" charset="0"/>
              </a:rPr>
              <a:t>sub-algebraic system</a:t>
            </a:r>
            <a:r>
              <a:rPr lang="en-US" sz="2400" i="1" dirty="0">
                <a:solidFill>
                  <a:srgbClr val="0B61FF"/>
                </a:solidFill>
                <a:latin typeface="Trebuchet MS" panose="020B0603020202020204" pitchFamily="34" charset="0"/>
              </a:rPr>
              <a:t> </a:t>
            </a:r>
            <a:r>
              <a:rPr lang="en-US" sz="2400" dirty="0">
                <a:solidFill>
                  <a:schemeClr val="tx1"/>
                </a:solidFill>
                <a:latin typeface="Trebuchet MS" panose="020B0603020202020204" pitchFamily="34" charset="0"/>
              </a:rPr>
              <a:t>(or simply, a </a:t>
            </a:r>
            <a:r>
              <a:rPr lang="en-US" sz="2400" b="1" dirty="0">
                <a:solidFill>
                  <a:schemeClr val="tx1"/>
                </a:solidFill>
                <a:latin typeface="Trebuchet MS" panose="020B0603020202020204" pitchFamily="34" charset="0"/>
              </a:rPr>
              <a:t>subalgebra</a:t>
            </a:r>
            <a:r>
              <a:rPr lang="en-US" sz="2400" dirty="0">
                <a:solidFill>
                  <a:schemeClr val="tx1"/>
                </a:solidFill>
                <a:latin typeface="Trebuchet MS" panose="020B0603020202020204" pitchFamily="34" charset="0"/>
              </a:rPr>
              <a:t>) of </a:t>
            </a:r>
            <a:r>
              <a:rPr lang="en-US" altLang="zh-CN" sz="2400" b="1" i="1" dirty="0">
                <a:solidFill>
                  <a:schemeClr val="tx1"/>
                </a:solidFill>
                <a:latin typeface="Trebuchet MS" panose="020B0603020202020204" pitchFamily="34" charset="0"/>
                <a:ea typeface="宋体" panose="02010600030101010101" pitchFamily="2" charset="-122"/>
              </a:rPr>
              <a:t>V</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solidFill>
                  <a:schemeClr val="tx1"/>
                </a:solidFill>
                <a:latin typeface="Trebuchet MS" panose="020B0603020202020204" pitchFamily="34" charset="0"/>
              </a:rPr>
              <a:t>Sometimes, the sub-algebraic system is simply denoted by </a:t>
            </a:r>
            <a:r>
              <a:rPr lang="en-US" altLang="zh-CN" sz="2400" b="1" i="1" dirty="0">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a:t>
            </a:r>
          </a:p>
          <a:p>
            <a:pPr>
              <a:lnSpc>
                <a:spcPct val="120000"/>
              </a:lnSpc>
              <a:spcBef>
                <a:spcPts val="300"/>
              </a:spcBef>
              <a:buClr>
                <a:srgbClr val="0B61FF"/>
              </a:buClr>
              <a:buSzPct val="80000"/>
              <a:buFont typeface="Wingdings" panose="05000000000000000000" pitchFamily="2" charset="2"/>
              <a:buChar char="n"/>
              <a:tabLst>
                <a:tab pos="273050" algn="l"/>
              </a:tabLst>
            </a:pPr>
            <a:r>
              <a:rPr lang="en-US" altLang="zh-CN" sz="2400" b="1" dirty="0">
                <a:solidFill>
                  <a:schemeClr val="tx1"/>
                </a:solidFill>
                <a:latin typeface="Trebuchet MS" panose="020B0603020202020204" pitchFamily="34" charset="0"/>
              </a:rPr>
              <a:t>Example</a:t>
            </a:r>
            <a:r>
              <a:rPr lang="zh-CN" altLang="en-US" sz="2400" b="1" dirty="0">
                <a:solidFill>
                  <a:schemeClr val="tx1"/>
                </a:solidFill>
                <a:latin typeface="Trebuchet MS" panose="020B0603020202020204" pitchFamily="34" charset="0"/>
                <a:ea typeface="宋体" panose="02010600030101010101" pitchFamily="2" charset="-122"/>
              </a:rPr>
              <a:t>：</a:t>
            </a:r>
            <a:endParaRPr lang="en-US" altLang="zh-CN" sz="2400" b="1" dirty="0">
              <a:solidFill>
                <a:schemeClr val="tx1"/>
              </a:solidFill>
              <a:latin typeface="Trebuchet MS" panose="020B0603020202020204" pitchFamily="34" charset="0"/>
              <a:ea typeface="宋体" panose="02010600030101010101" pitchFamily="2" charset="-122"/>
            </a:endParaRPr>
          </a:p>
          <a:p>
            <a:pPr indent="-168275">
              <a:lnSpc>
                <a:spcPct val="120000"/>
              </a:lnSpc>
              <a:spcBef>
                <a:spcPts val="300"/>
              </a:spcBef>
              <a:buClr>
                <a:srgbClr val="0B61FF"/>
              </a:buClr>
              <a:buSzPct val="120000"/>
              <a:buFont typeface="Arial" panose="020B0604020202020204" pitchFamily="34" charset="0"/>
              <a:buChar char="•"/>
              <a:tabLst>
                <a:tab pos="273050" algn="l"/>
              </a:tabLst>
            </a:pP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&lt; N,</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&gt; </a:t>
            </a:r>
            <a:r>
              <a:rPr lang="en-US" altLang="zh-CN" sz="2400" dirty="0">
                <a:solidFill>
                  <a:schemeClr val="tx1"/>
                </a:solidFill>
                <a:latin typeface="Trebuchet MS" panose="020B0603020202020204" pitchFamily="34" charset="0"/>
              </a:rPr>
              <a:t>is a subalgebra of </a:t>
            </a:r>
            <a:r>
              <a:rPr lang="en-US" altLang="zh-CN" sz="2400" b="1" dirty="0">
                <a:solidFill>
                  <a:schemeClr val="tx1"/>
                </a:solidFill>
                <a:latin typeface="Trebuchet MS" panose="020B0603020202020204" pitchFamily="34" charset="0"/>
                <a:ea typeface="宋体" panose="02010600030101010101" pitchFamily="2" charset="-122"/>
              </a:rPr>
              <a:t>&lt;Z,</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&gt;.</a:t>
            </a:r>
          </a:p>
          <a:p>
            <a:pPr indent="-168275">
              <a:lnSpc>
                <a:spcPct val="120000"/>
              </a:lnSpc>
              <a:spcBef>
                <a:spcPts val="300"/>
              </a:spcBef>
              <a:buClr>
                <a:srgbClr val="0B61FF"/>
              </a:buClr>
              <a:buSzPct val="120000"/>
              <a:buFont typeface="Arial" panose="020B0604020202020204" pitchFamily="34" charset="0"/>
              <a:buChar char="•"/>
              <a:tabLst>
                <a:tab pos="273050" algn="l"/>
              </a:tabLst>
            </a:pPr>
            <a:r>
              <a:rPr lang="en-US" altLang="zh-CN" sz="2400" b="1" dirty="0">
                <a:solidFill>
                  <a:schemeClr val="tx1"/>
                </a:solidFill>
                <a:latin typeface="Trebuchet MS" panose="020B0603020202020204" pitchFamily="34" charset="0"/>
                <a:ea typeface="宋体" panose="02010600030101010101" pitchFamily="2" charset="-122"/>
              </a:rPr>
              <a:t> &lt; N,</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 ,0 &gt; </a:t>
            </a:r>
            <a:r>
              <a:rPr lang="en-US" altLang="zh-CN" sz="2400" dirty="0">
                <a:solidFill>
                  <a:schemeClr val="tx1"/>
                </a:solidFill>
                <a:latin typeface="Trebuchet MS" panose="020B0603020202020204" pitchFamily="34" charset="0"/>
              </a:rPr>
              <a:t>is also a subalgebra of </a:t>
            </a:r>
            <a:r>
              <a:rPr lang="en-US" altLang="zh-CN" sz="2400" b="1" dirty="0">
                <a:solidFill>
                  <a:schemeClr val="tx1"/>
                </a:solidFill>
                <a:latin typeface="Trebuchet MS" panose="020B0603020202020204" pitchFamily="34" charset="0"/>
                <a:ea typeface="宋体" panose="02010600030101010101" pitchFamily="2" charset="-122"/>
              </a:rPr>
              <a:t>&lt;Z,</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,0&gt;</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dirty="0">
                <a:solidFill>
                  <a:schemeClr val="tx1"/>
                </a:solidFill>
                <a:latin typeface="Trebuchet MS" panose="020B0603020202020204" pitchFamily="34" charset="0"/>
              </a:rPr>
              <a:t>because </a:t>
            </a:r>
            <a:r>
              <a:rPr lang="en-US" altLang="zh-CN" sz="2400" b="1" dirty="0">
                <a:solidFill>
                  <a:schemeClr val="tx1"/>
                </a:solidFill>
                <a:latin typeface="Trebuchet MS" panose="020B0603020202020204" pitchFamily="34" charset="0"/>
              </a:rPr>
              <a:t>N</a:t>
            </a:r>
            <a:r>
              <a:rPr lang="en-US" altLang="zh-CN" sz="2400" dirty="0">
                <a:solidFill>
                  <a:schemeClr val="tx1"/>
                </a:solidFill>
                <a:latin typeface="Trebuchet MS" panose="020B0603020202020204" pitchFamily="34" charset="0"/>
              </a:rPr>
              <a:t> is closed under + and has the same algebraic constants</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a:t>
            </a:r>
          </a:p>
          <a:p>
            <a:pPr>
              <a:lnSpc>
                <a:spcPct val="110000"/>
              </a:lnSpc>
              <a:buClr>
                <a:srgbClr val="0B61FF"/>
              </a:buClr>
              <a:buSzPct val="80000"/>
              <a:buFont typeface="Wingdings" panose="05000000000000000000" pitchFamily="2" charset="2"/>
              <a:buChar char="n"/>
              <a:tabLst>
                <a:tab pos="273050" algn="l"/>
              </a:tabLst>
            </a:pPr>
            <a:endParaRPr lang="en-US" altLang="zh-CN" sz="2400" b="1" dirty="0">
              <a:solidFill>
                <a:schemeClr val="tx1"/>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32110418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fade">
                                      <p:cBhvr>
                                        <p:cTn id="12" dur="1000"/>
                                        <p:tgtEl>
                                          <p:spTgt spid="14">
                                            <p:txEl>
                                              <p:pRg st="2" end="2"/>
                                            </p:txEl>
                                          </p:spTgt>
                                        </p:tgtEl>
                                      </p:cBhvr>
                                    </p:animEffect>
                                    <p:anim calcmode="lin" valueType="num">
                                      <p:cBhvr>
                                        <p:cTn id="13"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Effect transition="in" filter="fade">
                                      <p:cBhvr>
                                        <p:cTn id="19" dur="1000"/>
                                        <p:tgtEl>
                                          <p:spTgt spid="14">
                                            <p:txEl>
                                              <p:pRg st="3" end="3"/>
                                            </p:txEl>
                                          </p:spTgt>
                                        </p:tgtEl>
                                      </p:cBhvr>
                                    </p:animEffect>
                                    <p:anim calcmode="lin" valueType="num">
                                      <p:cBhvr>
                                        <p:cTn id="20"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9.2.2 </a:t>
            </a:r>
            <a:r>
              <a:rPr lang="en-US" altLang="zh-CN" sz="2000" b="1" dirty="0" err="1">
                <a:solidFill>
                  <a:schemeClr val="bg1"/>
                </a:solidFill>
                <a:latin typeface="Trebuchet MS" panose="020B0603020202020204" pitchFamily="34" charset="0"/>
              </a:rPr>
              <a:t>Subalgebraic</a:t>
            </a:r>
            <a:r>
              <a:rPr lang="en-US" altLang="zh-CN" sz="2000" b="1" dirty="0">
                <a:solidFill>
                  <a:schemeClr val="bg1"/>
                </a:solidFill>
                <a:latin typeface="Trebuchet MS" panose="020B0603020202020204" pitchFamily="34" charset="0"/>
              </a:rPr>
              <a:t> Systems and Product Algebraic Systems</a:t>
            </a:r>
            <a:endParaRPr lang="en-US" altLang="zh-CN" sz="20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err="1">
                <a:solidFill>
                  <a:schemeClr val="bg1"/>
                </a:solidFill>
                <a:latin typeface="Trebuchet MS" panose="020B0603020202020204" pitchFamily="34" charset="0"/>
              </a:rPr>
              <a:t>Subalgebraic</a:t>
            </a:r>
            <a:r>
              <a:rPr lang="en-US" altLang="zh-CN" sz="2400" b="1" dirty="0">
                <a:solidFill>
                  <a:schemeClr val="bg1"/>
                </a:solidFill>
                <a:latin typeface="Trebuchet MS" panose="020B0603020202020204" pitchFamily="34" charset="0"/>
              </a:rPr>
              <a:t> system(</a:t>
            </a:r>
            <a:r>
              <a:rPr lang="en-US" altLang="zh-CN" sz="2400" b="1" dirty="0">
                <a:solidFill>
                  <a:srgbClr val="C00000"/>
                </a:solidFill>
                <a:latin typeface="Trebuchet MS" panose="020B0603020202020204" pitchFamily="34" charset="0"/>
              </a:rPr>
              <a:t>e.g.</a:t>
            </a:r>
            <a:r>
              <a:rPr lang="en-US" altLang="zh-CN" sz="2400" b="1" dirty="0">
                <a:solidFill>
                  <a:schemeClr val="bg1"/>
                </a:solidFill>
                <a:latin typeface="Trebuchet MS" panose="020B0603020202020204" pitchFamily="34" charset="0"/>
              </a:rPr>
              <a:t>)</a:t>
            </a:r>
            <a:endParaRPr lang="zh-CN" altLang="en-US" sz="2400" b="1" dirty="0">
              <a:solidFill>
                <a:schemeClr val="bg1"/>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4" name="Text Box 3">
            <a:extLst>
              <a:ext uri="{FF2B5EF4-FFF2-40B4-BE49-F238E27FC236}">
                <a16:creationId xmlns:a16="http://schemas.microsoft.com/office/drawing/2014/main" id="{F666CFFB-C132-4EA3-AF0E-6A3817B86268}"/>
              </a:ext>
            </a:extLst>
          </p:cNvPr>
          <p:cNvSpPr txBox="1">
            <a:spLocks noChangeArrowheads="1"/>
          </p:cNvSpPr>
          <p:nvPr/>
        </p:nvSpPr>
        <p:spPr bwMode="auto">
          <a:xfrm>
            <a:off x="1095464" y="777807"/>
            <a:ext cx="10733984" cy="4912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a:defRPr>
                <a:solidFill>
                  <a:schemeClr val="accent2"/>
                </a:solidFill>
                <a:latin typeface="Arial" panose="020B0604020202020204" pitchFamily="34" charset="0"/>
                <a:ea typeface="华文行楷" panose="02010800040101010101" pitchFamily="2" charset="-122"/>
              </a:defRPr>
            </a:lvl1pPr>
            <a:lvl2pPr>
              <a:defRPr>
                <a:solidFill>
                  <a:schemeClr val="accent2"/>
                </a:solidFill>
                <a:latin typeface="Arial" panose="020B0604020202020204" pitchFamily="34" charset="0"/>
                <a:ea typeface="华文行楷" panose="02010800040101010101" pitchFamily="2" charset="-122"/>
              </a:defRPr>
            </a:lvl2pPr>
            <a:lvl3pPr>
              <a:defRPr>
                <a:solidFill>
                  <a:schemeClr val="accent2"/>
                </a:solidFill>
                <a:latin typeface="Arial" panose="020B0604020202020204" pitchFamily="34" charset="0"/>
                <a:ea typeface="华文行楷" panose="02010800040101010101" pitchFamily="2" charset="-122"/>
              </a:defRPr>
            </a:lvl3pPr>
            <a:lvl4pPr>
              <a:defRPr>
                <a:solidFill>
                  <a:schemeClr val="accent2"/>
                </a:solidFill>
                <a:latin typeface="Arial" panose="020B0604020202020204" pitchFamily="34" charset="0"/>
                <a:ea typeface="华文行楷" panose="02010800040101010101" pitchFamily="2" charset="-122"/>
              </a:defRPr>
            </a:lvl4pPr>
            <a:lvl5pPr>
              <a:defRPr>
                <a:solidFill>
                  <a:schemeClr val="accent2"/>
                </a:solidFill>
                <a:latin typeface="Arial" panose="020B0604020202020204" pitchFamily="34" charset="0"/>
                <a:ea typeface="华文行楷" panose="02010800040101010101" pitchFamily="2" charset="-122"/>
              </a:defRPr>
            </a:lvl5pPr>
            <a:lvl6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nSpc>
                <a:spcPct val="120000"/>
              </a:lnSpc>
              <a:spcBef>
                <a:spcPts val="600"/>
              </a:spcBef>
              <a:buClr>
                <a:srgbClr val="0B61FF"/>
              </a:buClr>
              <a:buSzPct val="80000"/>
              <a:buFont typeface="Wingdings" panose="05000000000000000000" pitchFamily="2" charset="2"/>
              <a:buChar char="n"/>
              <a:tabLst>
                <a:tab pos="273050" algn="l"/>
              </a:tabLst>
            </a:pPr>
            <a:r>
              <a:rPr lang="en-US" altLang="zh-CN" sz="2400" b="1" dirty="0">
                <a:solidFill>
                  <a:schemeClr val="tx1"/>
                </a:solidFill>
                <a:latin typeface="Trebuchet MS" panose="020B0603020202020204" pitchFamily="34" charset="0"/>
              </a:rPr>
              <a:t>Example</a:t>
            </a:r>
            <a:r>
              <a:rPr lang="zh-CN" altLang="en-US" sz="2400" b="1" dirty="0">
                <a:solidFill>
                  <a:schemeClr val="tx1"/>
                </a:solidFill>
                <a:latin typeface="Trebuchet MS" panose="020B0603020202020204" pitchFamily="34" charset="0"/>
                <a:ea typeface="宋体" panose="02010600030101010101" pitchFamily="2" charset="-122"/>
              </a:rPr>
              <a:t>：</a:t>
            </a:r>
            <a:endParaRPr lang="en-US" altLang="zh-CN" sz="2400" b="1" dirty="0">
              <a:solidFill>
                <a:schemeClr val="tx1"/>
              </a:solidFill>
              <a:latin typeface="Trebuchet MS" panose="020B0603020202020204" pitchFamily="34" charset="0"/>
              <a:ea typeface="宋体" panose="02010600030101010101" pitchFamily="2" charset="-122"/>
            </a:endParaRPr>
          </a:p>
          <a:p>
            <a:pPr indent="-168275">
              <a:lnSpc>
                <a:spcPct val="120000"/>
              </a:lnSpc>
              <a:spcBef>
                <a:spcPts val="600"/>
              </a:spcBef>
              <a:buClr>
                <a:srgbClr val="0B61FF"/>
              </a:buClr>
              <a:buSzPct val="120000"/>
              <a:buFont typeface="Arial" panose="020B0604020202020204" pitchFamily="34" charset="0"/>
              <a:buChar char="•"/>
              <a:tabLst>
                <a:tab pos="273050" algn="l"/>
              </a:tabLst>
            </a:pPr>
            <a:r>
              <a:rPr lang="en-US" altLang="zh-CN" sz="2400" b="1" dirty="0">
                <a:solidFill>
                  <a:schemeClr val="tx1"/>
                </a:solidFill>
                <a:latin typeface="Trebuchet MS" panose="020B0603020202020204" pitchFamily="34" charset="0"/>
                <a:ea typeface="宋体" panose="02010600030101010101" pitchFamily="2" charset="-122"/>
              </a:rPr>
              <a:t>&lt; N</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{0},</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&gt;</a:t>
            </a:r>
            <a:r>
              <a:rPr lang="zh-CN" altLang="en-US" sz="2400" b="1" i="1" dirty="0">
                <a:solidFill>
                  <a:schemeClr val="tx1"/>
                </a:solidFill>
                <a:latin typeface="Trebuchet MS" panose="020B0603020202020204" pitchFamily="34" charset="0"/>
                <a:ea typeface="宋体" panose="02010600030101010101" pitchFamily="2" charset="-122"/>
              </a:rPr>
              <a:t> </a:t>
            </a:r>
            <a:r>
              <a:rPr lang="en-US" altLang="zh-CN" sz="2400" dirty="0">
                <a:solidFill>
                  <a:schemeClr val="tx1"/>
                </a:solidFill>
                <a:latin typeface="Trebuchet MS" panose="020B0603020202020204" pitchFamily="34" charset="0"/>
              </a:rPr>
              <a:t>is a subalgebra of  </a:t>
            </a:r>
            <a:r>
              <a:rPr lang="en-US" altLang="zh-CN" sz="2400" b="1" dirty="0">
                <a:solidFill>
                  <a:schemeClr val="tx1"/>
                </a:solidFill>
                <a:latin typeface="Trebuchet MS" panose="020B0603020202020204" pitchFamily="34" charset="0"/>
                <a:ea typeface="宋体" panose="02010600030101010101" pitchFamily="2" charset="-122"/>
              </a:rPr>
              <a:t>&lt;Z,</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&gt;</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dirty="0">
                <a:solidFill>
                  <a:schemeClr val="tx1"/>
                </a:solidFill>
                <a:latin typeface="Trebuchet MS" panose="020B0603020202020204" pitchFamily="34" charset="0"/>
              </a:rPr>
              <a:t>but not a subalgebra of</a:t>
            </a:r>
            <a:r>
              <a:rPr lang="en-US" altLang="zh-CN" sz="2400" b="1" dirty="0">
                <a:solidFill>
                  <a:schemeClr val="tx1"/>
                </a:solidFill>
                <a:latin typeface="Trebuchet MS" panose="020B0603020202020204" pitchFamily="34" charset="0"/>
                <a:ea typeface="宋体" panose="02010600030101010101" pitchFamily="2" charset="-122"/>
              </a:rPr>
              <a:t>&lt;Z,</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rPr>
              <a:t>,0&gt;</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dirty="0">
                <a:solidFill>
                  <a:schemeClr val="tx1"/>
                </a:solidFill>
                <a:latin typeface="Trebuchet MS" panose="020B0603020202020204" pitchFamily="34" charset="0"/>
              </a:rPr>
              <a:t>because the algebraic constant </a:t>
            </a:r>
            <a:r>
              <a:rPr lang="en-US" altLang="zh-CN" sz="2400" b="1" dirty="0">
                <a:solidFill>
                  <a:schemeClr val="tx1"/>
                </a:solidFill>
                <a:latin typeface="Trebuchet MS" panose="020B0603020202020204" pitchFamily="34" charset="0"/>
              </a:rPr>
              <a:t>0</a:t>
            </a:r>
            <a:r>
              <a:rPr lang="en-US" altLang="zh-CN" sz="2400" dirty="0">
                <a:solidFill>
                  <a:schemeClr val="tx1"/>
                </a:solidFill>
                <a:latin typeface="Trebuchet MS" panose="020B0603020202020204" pitchFamily="34" charset="0"/>
              </a:rPr>
              <a:t> is not included in </a:t>
            </a:r>
            <a:r>
              <a:rPr lang="en-US" altLang="zh-CN" sz="2400" b="1" dirty="0">
                <a:solidFill>
                  <a:schemeClr val="tx1"/>
                </a:solidFill>
                <a:latin typeface="Trebuchet MS" panose="020B0603020202020204" pitchFamily="34" charset="0"/>
                <a:ea typeface="宋体" panose="02010600030101010101" pitchFamily="2" charset="-122"/>
              </a:rPr>
              <a:t>N</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{0}).</a:t>
            </a:r>
          </a:p>
          <a:p>
            <a:pPr marL="360363" indent="-360363">
              <a:lnSpc>
                <a:spcPct val="120000"/>
              </a:lnSpc>
              <a:spcBef>
                <a:spcPts val="600"/>
              </a:spcBef>
              <a:buClr>
                <a:srgbClr val="0B61FF"/>
              </a:buClr>
              <a:buSzPct val="80000"/>
              <a:buFont typeface="Wingdings" panose="05000000000000000000" pitchFamily="2" charset="2"/>
              <a:buChar char="n"/>
              <a:tabLst>
                <a:tab pos="273050" algn="l"/>
              </a:tabLst>
            </a:pPr>
            <a:r>
              <a:rPr lang="en-US" altLang="zh-CN" sz="2400" b="1" dirty="0">
                <a:solidFill>
                  <a:schemeClr val="tx1"/>
                </a:solidFill>
                <a:latin typeface="Trebuchet MS" panose="020B0603020202020204" pitchFamily="34" charset="0"/>
              </a:rPr>
              <a:t>Notes: </a:t>
            </a:r>
          </a:p>
          <a:p>
            <a:pPr marL="534988" indent="-360363">
              <a:lnSpc>
                <a:spcPct val="120000"/>
              </a:lnSpc>
              <a:spcBef>
                <a:spcPts val="600"/>
              </a:spcBef>
              <a:buClr>
                <a:srgbClr val="0B61FF"/>
              </a:buClr>
              <a:buSzPct val="80000"/>
              <a:tabLst>
                <a:tab pos="273050" algn="l"/>
              </a:tabLst>
            </a:pPr>
            <a:r>
              <a:rPr lang="en-US" altLang="zh-CN" sz="2400" b="1" dirty="0">
                <a:solidFill>
                  <a:srgbClr val="0B61FF"/>
                </a:solidFill>
                <a:latin typeface="宋体" panose="02010600030101010101" pitchFamily="2" charset="-122"/>
                <a:ea typeface="宋体" panose="02010600030101010101" pitchFamily="2" charset="-122"/>
              </a:rPr>
              <a:t>① </a:t>
            </a:r>
            <a:r>
              <a:rPr lang="en-US" altLang="zh-CN" sz="2400" dirty="0">
                <a:solidFill>
                  <a:schemeClr val="tx1"/>
                </a:solidFill>
                <a:latin typeface="Trebuchet MS" panose="020B0603020202020204" pitchFamily="34" charset="0"/>
              </a:rPr>
              <a:t>A subalgebra and its original algebra are the </a:t>
            </a:r>
            <a:r>
              <a:rPr lang="en-US" altLang="zh-CN" sz="2400" b="1" i="1" dirty="0">
                <a:solidFill>
                  <a:srgbClr val="0B61FF"/>
                </a:solidFill>
                <a:latin typeface="Trebuchet MS" panose="020B0603020202020204" pitchFamily="34" charset="0"/>
              </a:rPr>
              <a:t>same type of algebraic system</a:t>
            </a:r>
            <a:r>
              <a:rPr lang="en-US" altLang="zh-CN" sz="2400" dirty="0">
                <a:solidFill>
                  <a:schemeClr val="tx1"/>
                </a:solidFill>
                <a:latin typeface="Trebuchet MS" panose="020B0603020202020204" pitchFamily="34" charset="0"/>
              </a:rPr>
              <a:t> (they share the same algebraic constants, the same number of operations, and the same operational properties).</a:t>
            </a:r>
          </a:p>
          <a:p>
            <a:pPr marL="534988" indent="-360363">
              <a:lnSpc>
                <a:spcPct val="120000"/>
              </a:lnSpc>
              <a:spcBef>
                <a:spcPts val="600"/>
              </a:spcBef>
              <a:buClr>
                <a:srgbClr val="0B61FF"/>
              </a:buClr>
              <a:buSzPct val="80000"/>
              <a:tabLst>
                <a:tab pos="273050" algn="l"/>
              </a:tabLst>
            </a:pPr>
            <a:r>
              <a:rPr lang="en-US" altLang="zh-CN" sz="2400" b="1" dirty="0">
                <a:solidFill>
                  <a:srgbClr val="0B61FF"/>
                </a:solidFill>
                <a:latin typeface="宋体" panose="02010600030101010101" pitchFamily="2" charset="-122"/>
                <a:ea typeface="宋体" panose="02010600030101010101" pitchFamily="2" charset="-122"/>
              </a:rPr>
              <a:t>② </a:t>
            </a:r>
            <a:r>
              <a:rPr lang="en-US" altLang="zh-CN" sz="2400" dirty="0">
                <a:solidFill>
                  <a:schemeClr val="tx1"/>
                </a:solidFill>
                <a:latin typeface="Trebuchet MS" panose="020B0603020202020204" pitchFamily="34" charset="0"/>
              </a:rPr>
              <a:t>Every algebraic system </a:t>
            </a:r>
            <a:r>
              <a:rPr lang="en-US" altLang="zh-CN" sz="2400" b="1" i="1" dirty="0">
                <a:solidFill>
                  <a:schemeClr val="tx1"/>
                </a:solidFill>
                <a:latin typeface="Trebuchet MS" panose="020B0603020202020204" pitchFamily="34" charset="0"/>
              </a:rPr>
              <a:t>V</a:t>
            </a:r>
            <a:r>
              <a:rPr lang="en-US" altLang="zh-CN" sz="2400" dirty="0">
                <a:solidFill>
                  <a:schemeClr val="tx1"/>
                </a:solidFill>
                <a:latin typeface="Trebuchet MS" panose="020B0603020202020204" pitchFamily="34" charset="0"/>
              </a:rPr>
              <a:t> always has </a:t>
            </a:r>
            <a:r>
              <a:rPr lang="en-US" altLang="zh-CN" sz="2400" b="1" i="1" dirty="0">
                <a:solidFill>
                  <a:srgbClr val="0B61FF"/>
                </a:solidFill>
                <a:latin typeface="Trebuchet MS" panose="020B0603020202020204" pitchFamily="34" charset="0"/>
              </a:rPr>
              <a:t>at least one </a:t>
            </a:r>
            <a:r>
              <a:rPr lang="en-US" altLang="zh-CN" sz="2400" b="1" i="1" dirty="0" err="1">
                <a:solidFill>
                  <a:srgbClr val="0B61FF"/>
                </a:solidFill>
                <a:latin typeface="Trebuchet MS" panose="020B0603020202020204" pitchFamily="34" charset="0"/>
              </a:rPr>
              <a:t>subalgebraic</a:t>
            </a:r>
            <a:r>
              <a:rPr lang="en-US" altLang="zh-CN" sz="2400" b="1" i="1" dirty="0">
                <a:solidFill>
                  <a:srgbClr val="0B61FF"/>
                </a:solidFill>
                <a:latin typeface="Trebuchet MS" panose="020B0603020202020204" pitchFamily="34" charset="0"/>
              </a:rPr>
              <a:t> system</a:t>
            </a:r>
            <a:r>
              <a:rPr lang="en-US" altLang="zh-CN" sz="2400" dirty="0">
                <a:solidFill>
                  <a:schemeClr val="tx1"/>
                </a:solidFill>
                <a:latin typeface="Trebuchet MS" panose="020B0603020202020204" pitchFamily="34" charset="0"/>
              </a:rPr>
              <a:t>.</a:t>
            </a:r>
          </a:p>
          <a:p>
            <a:pPr>
              <a:lnSpc>
                <a:spcPct val="110000"/>
              </a:lnSpc>
              <a:buClr>
                <a:srgbClr val="0B61FF"/>
              </a:buClr>
              <a:buSzPct val="80000"/>
              <a:buFont typeface="Wingdings" panose="05000000000000000000" pitchFamily="2" charset="2"/>
              <a:buChar char="n"/>
              <a:tabLst>
                <a:tab pos="273050" algn="l"/>
              </a:tabLst>
            </a:pPr>
            <a:endParaRPr lang="en-US" altLang="zh-CN" sz="2400" b="1" dirty="0">
              <a:solidFill>
                <a:schemeClr val="tx1"/>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33712457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animEffect transition="in" filter="fade">
                                      <p:cBhvr>
                                        <p:cTn id="7" dur="1000"/>
                                        <p:tgtEl>
                                          <p:spTgt spid="14">
                                            <p:txEl>
                                              <p:pRg st="2" end="2"/>
                                            </p:txEl>
                                          </p:spTgt>
                                        </p:tgtEl>
                                      </p:cBhvr>
                                    </p:animEffect>
                                    <p:anim calcmode="lin" valueType="num">
                                      <p:cBhvr>
                                        <p:cTn id="8"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3" end="3"/>
                                            </p:txEl>
                                          </p:spTgt>
                                        </p:tgtEl>
                                        <p:attrNameLst>
                                          <p:attrName>style.visibility</p:attrName>
                                        </p:attrNameLst>
                                      </p:cBhvr>
                                      <p:to>
                                        <p:strVal val="visible"/>
                                      </p:to>
                                    </p:set>
                                    <p:animEffect transition="in" filter="fade">
                                      <p:cBhvr>
                                        <p:cTn id="12" dur="1000"/>
                                        <p:tgtEl>
                                          <p:spTgt spid="14">
                                            <p:txEl>
                                              <p:pRg st="3" end="3"/>
                                            </p:txEl>
                                          </p:spTgt>
                                        </p:tgtEl>
                                      </p:cBhvr>
                                    </p:animEffect>
                                    <p:anim calcmode="lin" valueType="num">
                                      <p:cBhvr>
                                        <p:cTn id="13"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animEffect transition="in" filter="fade">
                                      <p:cBhvr>
                                        <p:cTn id="19" dur="1000"/>
                                        <p:tgtEl>
                                          <p:spTgt spid="14">
                                            <p:txEl>
                                              <p:pRg st="4" end="4"/>
                                            </p:txEl>
                                          </p:spTgt>
                                        </p:tgtEl>
                                      </p:cBhvr>
                                    </p:animEffect>
                                    <p:anim calcmode="lin" valueType="num">
                                      <p:cBhvr>
                                        <p:cTn id="20"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9.2.2 </a:t>
            </a:r>
            <a:r>
              <a:rPr lang="en-US" altLang="zh-CN" sz="2000" b="1" dirty="0" err="1">
                <a:solidFill>
                  <a:schemeClr val="bg1"/>
                </a:solidFill>
                <a:latin typeface="Trebuchet MS" panose="020B0603020202020204" pitchFamily="34" charset="0"/>
              </a:rPr>
              <a:t>Subalgebraic</a:t>
            </a:r>
            <a:r>
              <a:rPr lang="en-US" altLang="zh-CN" sz="2000" b="1" dirty="0">
                <a:solidFill>
                  <a:schemeClr val="bg1"/>
                </a:solidFill>
                <a:latin typeface="Trebuchet MS" panose="020B0603020202020204" pitchFamily="34" charset="0"/>
              </a:rPr>
              <a:t> Systems and Product Algebraic Systems</a:t>
            </a:r>
            <a:endParaRPr lang="en-US" altLang="zh-CN" sz="2000" b="1" dirty="0">
              <a:solidFill>
                <a:schemeClr val="bg1"/>
              </a:solidFill>
              <a:latin typeface="Times New Roman" panose="02020603050405020304" pitchFamily="18" charset="0"/>
              <a:cs typeface="Times New Roman" panose="02020603050405020304" pitchFamily="18" charset="0"/>
            </a:endParaRPr>
          </a:p>
          <a:p>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solidFill>
                  <a:schemeClr val="bg1"/>
                </a:solidFill>
                <a:latin typeface="Times New Roman" panose="02020603050405020304" pitchFamily="18" charset="0"/>
                <a:cs typeface="Times New Roman" panose="02020603050405020304" pitchFamily="18" charset="0"/>
              </a:rPr>
              <a:t> </a:t>
            </a:r>
            <a:r>
              <a:rPr lang="en-US" altLang="zh-CN" sz="2400" b="1" dirty="0">
                <a:latin typeface="Trebuchet MS" panose="020B0603020202020204" pitchFamily="34" charset="0"/>
              </a:rPr>
              <a:t>Trivial subalgebra and proper subalgebra</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Text Box 3">
            <a:extLst>
              <a:ext uri="{FF2B5EF4-FFF2-40B4-BE49-F238E27FC236}">
                <a16:creationId xmlns:a16="http://schemas.microsoft.com/office/drawing/2014/main" id="{331E83C1-49A2-4707-B537-4DD28091F2DB}"/>
              </a:ext>
            </a:extLst>
          </p:cNvPr>
          <p:cNvSpPr txBox="1">
            <a:spLocks noChangeArrowheads="1"/>
          </p:cNvSpPr>
          <p:nvPr/>
        </p:nvSpPr>
        <p:spPr bwMode="auto">
          <a:xfrm>
            <a:off x="1023257" y="761999"/>
            <a:ext cx="9498153" cy="547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sz="2400" dirty="0">
                <a:latin typeface="Trebuchet MS" panose="020B0603020202020204" pitchFamily="34" charset="0"/>
              </a:rPr>
              <a:t>The </a:t>
            </a:r>
            <a:r>
              <a:rPr lang="en-US" sz="2400" b="1" i="1" dirty="0">
                <a:solidFill>
                  <a:srgbClr val="0B61FF"/>
                </a:solidFill>
                <a:latin typeface="Trebuchet MS" panose="020B0603020202020204" pitchFamily="34" charset="0"/>
              </a:rPr>
              <a:t>largest subalgebra</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is simply </a:t>
            </a:r>
            <a:r>
              <a:rPr lang="en-US" sz="2400" b="1" i="1" dirty="0">
                <a:latin typeface="Trebuchet MS" panose="020B0603020202020204" pitchFamily="34" charset="0"/>
              </a:rPr>
              <a:t>V</a:t>
            </a:r>
            <a:r>
              <a:rPr lang="en-US" sz="2400" i="1" dirty="0">
                <a:latin typeface="Trebuchet MS" panose="020B0603020202020204" pitchFamily="34" charset="0"/>
              </a:rPr>
              <a:t> </a:t>
            </a:r>
            <a:r>
              <a:rPr lang="en-US" sz="2400" dirty="0">
                <a:latin typeface="Trebuchet MS" panose="020B0603020202020204" pitchFamily="34" charset="0"/>
              </a:rPr>
              <a:t>itself.</a:t>
            </a:r>
          </a:p>
          <a:p>
            <a:pPr marL="342900" indent="-342900">
              <a:lnSpc>
                <a:spcPct val="120000"/>
              </a:lnSpc>
              <a:buClr>
                <a:srgbClr val="0B61FF"/>
              </a:buClr>
              <a:buSzPct val="80000"/>
              <a:buFont typeface="Wingdings" panose="05000000000000000000" pitchFamily="2" charset="2"/>
              <a:buChar char="n"/>
            </a:pPr>
            <a:r>
              <a:rPr lang="en-US" sz="2400" dirty="0">
                <a:latin typeface="Trebuchet MS" panose="020B0603020202020204" pitchFamily="34" charset="0"/>
              </a:rPr>
              <a:t>The </a:t>
            </a:r>
            <a:r>
              <a:rPr lang="en-US" sz="2400" b="1" i="1" dirty="0">
                <a:solidFill>
                  <a:srgbClr val="0B61FF"/>
                </a:solidFill>
                <a:latin typeface="Trebuchet MS" panose="020B0603020202020204" pitchFamily="34" charset="0"/>
              </a:rPr>
              <a:t>smallest subalgebra </a:t>
            </a:r>
            <a:r>
              <a:rPr lang="en-US" sz="2400" dirty="0">
                <a:latin typeface="Trebuchet MS" panose="020B0603020202020204" pitchFamily="34" charset="0"/>
              </a:rPr>
              <a:t>is the set </a:t>
            </a:r>
            <a:r>
              <a:rPr lang="en-US" altLang="zh-CN" sz="2400" b="1" i="1" dirty="0">
                <a:solidFill>
                  <a:schemeClr val="tx1"/>
                </a:solidFill>
                <a:latin typeface="Trebuchet MS" panose="020B0603020202020204" pitchFamily="34" charset="0"/>
                <a:ea typeface="宋体" panose="02010600030101010101" pitchFamily="2" charset="-122"/>
              </a:rPr>
              <a:t>B</a:t>
            </a:r>
            <a:r>
              <a:rPr lang="en-US" sz="2400" dirty="0">
                <a:latin typeface="Trebuchet MS" panose="020B0603020202020204" pitchFamily="34" charset="0"/>
              </a:rPr>
              <a:t> formed by all the algebraic constants in </a:t>
            </a:r>
            <a:r>
              <a:rPr lang="en-US" altLang="zh-CN" sz="2400" b="1" i="1" dirty="0">
                <a:solidFill>
                  <a:schemeClr val="tx1"/>
                </a:solidFill>
                <a:latin typeface="Trebuchet MS" panose="020B0603020202020204" pitchFamily="34" charset="0"/>
                <a:ea typeface="宋体" panose="02010600030101010101" pitchFamily="2" charset="-122"/>
              </a:rPr>
              <a:t>V</a:t>
            </a:r>
            <a:r>
              <a:rPr lang="en-US" sz="2400" dirty="0">
                <a:latin typeface="Trebuchet MS" panose="020B0603020202020204" pitchFamily="34" charset="0"/>
              </a:rPr>
              <a:t>, provided that </a:t>
            </a:r>
            <a:r>
              <a:rPr lang="en-US" altLang="zh-CN" sz="2400" b="1" i="1" dirty="0">
                <a:solidFill>
                  <a:schemeClr val="tx1"/>
                </a:solidFill>
                <a:latin typeface="Trebuchet MS" panose="020B0603020202020204" pitchFamily="34" charset="0"/>
                <a:ea typeface="宋体" panose="02010600030101010101" pitchFamily="2" charset="-122"/>
              </a:rPr>
              <a:t>B</a:t>
            </a:r>
            <a:r>
              <a:rPr lang="en-US" sz="2400" dirty="0">
                <a:latin typeface="Trebuchet MS" panose="020B0603020202020204" pitchFamily="34" charset="0"/>
              </a:rPr>
              <a:t> is closed under all operations in </a:t>
            </a:r>
            <a:r>
              <a:rPr lang="en-US" altLang="zh-CN" sz="2400" b="1" i="1" dirty="0">
                <a:solidFill>
                  <a:schemeClr val="tx1"/>
                </a:solidFill>
                <a:latin typeface="Trebuchet MS" panose="020B0603020202020204" pitchFamily="34" charset="0"/>
                <a:ea typeface="宋体" panose="02010600030101010101" pitchFamily="2" charset="-122"/>
              </a:rPr>
              <a:t>V</a:t>
            </a:r>
            <a:r>
              <a:rPr lang="en-US" altLang="zh-CN" sz="2400" dirty="0">
                <a:latin typeface="Trebuchet MS" panose="020B0603020202020204" pitchFamily="34" charset="0"/>
              </a:rPr>
              <a:t>, </a:t>
            </a:r>
            <a:r>
              <a:rPr lang="en-US" sz="2400" dirty="0">
                <a:latin typeface="Trebuchet MS" panose="020B0603020202020204" pitchFamily="34" charset="0"/>
              </a:rPr>
              <a:t>in this case, </a:t>
            </a:r>
            <a:r>
              <a:rPr lang="en-US" sz="2400" b="1" i="1" dirty="0">
                <a:latin typeface="Trebuchet MS" panose="020B0603020202020204" pitchFamily="34" charset="0"/>
              </a:rPr>
              <a:t>B</a:t>
            </a:r>
            <a:r>
              <a:rPr lang="en-US" sz="2400" dirty="0">
                <a:latin typeface="Trebuchet MS" panose="020B0603020202020204" pitchFamily="34" charset="0"/>
              </a:rPr>
              <a:t> constitutes the smallest subalgebra of </a:t>
            </a:r>
            <a:r>
              <a:rPr lang="en-US" sz="2400" b="1" i="1" dirty="0">
                <a:latin typeface="Trebuchet MS" panose="020B0603020202020204" pitchFamily="34" charset="0"/>
              </a:rPr>
              <a:t>V</a:t>
            </a:r>
            <a:r>
              <a:rPr lang="en-US" sz="2400" dirty="0">
                <a:latin typeface="Trebuchet MS" panose="020B0603020202020204" pitchFamily="34" charset="0"/>
              </a:rPr>
              <a:t>.</a:t>
            </a:r>
          </a:p>
          <a:p>
            <a:pPr marL="342900" indent="-342900">
              <a:lnSpc>
                <a:spcPct val="120000"/>
              </a:lnSpc>
              <a:buClr>
                <a:srgbClr val="0B61FF"/>
              </a:buClr>
              <a:buSzPct val="80000"/>
              <a:buFont typeface="Wingdings" panose="05000000000000000000" pitchFamily="2" charset="2"/>
              <a:buChar char="n"/>
            </a:pPr>
            <a:r>
              <a:rPr lang="en-US" sz="2400" dirty="0">
                <a:latin typeface="Trebuchet MS" panose="020B0603020202020204" pitchFamily="34" charset="0"/>
              </a:rPr>
              <a:t>The </a:t>
            </a:r>
            <a:r>
              <a:rPr lang="en-US" sz="2400" b="1" i="1" dirty="0">
                <a:solidFill>
                  <a:srgbClr val="0B61FF"/>
                </a:solidFill>
                <a:latin typeface="Trebuchet MS" panose="020B0603020202020204" pitchFamily="34" charset="0"/>
              </a:rPr>
              <a:t>trivial subalgebras</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refer to the largest and smallest subalgebras of  </a:t>
            </a:r>
            <a:r>
              <a:rPr lang="en-US" altLang="zh-CN" sz="2400" b="1" i="1" dirty="0">
                <a:solidFill>
                  <a:schemeClr val="tx1"/>
                </a:solidFill>
                <a:latin typeface="Trebuchet MS" panose="020B0603020202020204" pitchFamily="34" charset="0"/>
                <a:ea typeface="宋体" panose="02010600030101010101" pitchFamily="2" charset="-122"/>
              </a:rPr>
              <a:t>V.</a:t>
            </a:r>
          </a:p>
          <a:p>
            <a:pPr marL="342900" indent="-342900">
              <a:lnSpc>
                <a:spcPct val="120000"/>
              </a:lnSpc>
              <a:buClr>
                <a:srgbClr val="0B61FF"/>
              </a:buClr>
              <a:buSzPct val="80000"/>
              <a:buFont typeface="Wingdings" panose="05000000000000000000" pitchFamily="2" charset="2"/>
              <a:buChar char="n"/>
            </a:pPr>
            <a:r>
              <a:rPr lang="en-US" sz="2400" dirty="0">
                <a:latin typeface="Trebuchet MS" panose="020B0603020202020204" pitchFamily="34" charset="0"/>
              </a:rPr>
              <a:t>A </a:t>
            </a:r>
            <a:r>
              <a:rPr lang="en-US" sz="2400" b="1" i="1" dirty="0">
                <a:solidFill>
                  <a:srgbClr val="0B61FF"/>
                </a:solidFill>
                <a:latin typeface="Trebuchet MS" panose="020B0603020202020204" pitchFamily="34" charset="0"/>
              </a:rPr>
              <a:t>proper subalgebra</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refers to a subalgebra </a:t>
            </a:r>
            <a:r>
              <a:rPr lang="en-US" sz="2400" b="1" i="1" dirty="0">
                <a:latin typeface="Trebuchet MS" panose="020B0603020202020204" pitchFamily="34" charset="0"/>
              </a:rPr>
              <a:t>B</a:t>
            </a:r>
            <a:r>
              <a:rPr lang="en-US" sz="2400" dirty="0">
                <a:latin typeface="Trebuchet MS" panose="020B0603020202020204" pitchFamily="34" charset="0"/>
              </a:rPr>
              <a:t> where </a:t>
            </a:r>
            <a:r>
              <a:rPr lang="en-US" sz="2400" b="1" dirty="0">
                <a:latin typeface="Trebuchet MS" panose="020B0603020202020204" pitchFamily="34" charset="0"/>
              </a:rPr>
              <a:t>B</a:t>
            </a:r>
            <a:r>
              <a:rPr lang="en-US" sz="2400" dirty="0">
                <a:latin typeface="Trebuchet MS" panose="020B0603020202020204" pitchFamily="34" charset="0"/>
              </a:rPr>
              <a:t> is a proper subset of </a:t>
            </a:r>
            <a:r>
              <a:rPr lang="en-US" sz="2400" b="1" i="1" dirty="0">
                <a:latin typeface="Trebuchet MS" panose="020B0603020202020204" pitchFamily="34" charset="0"/>
              </a:rPr>
              <a:t>S</a:t>
            </a:r>
            <a:r>
              <a:rPr lang="en-US" sz="2400" dirty="0">
                <a:latin typeface="Trebuchet MS" panose="020B0603020202020204" pitchFamily="34" charset="0"/>
              </a:rPr>
              <a:t>, that is, </a:t>
            </a:r>
            <a:r>
              <a:rPr lang="en-US" sz="2400" b="1" i="1" dirty="0">
                <a:latin typeface="Trebuchet MS" panose="020B0603020202020204" pitchFamily="34" charset="0"/>
              </a:rPr>
              <a:t>B</a:t>
            </a:r>
            <a:r>
              <a:rPr lang="en-US" sz="2400" dirty="0">
                <a:latin typeface="Trebuchet MS" panose="020B0603020202020204" pitchFamily="34" charset="0"/>
              </a:rPr>
              <a:t> forms a proper subalgebra of </a:t>
            </a:r>
            <a:r>
              <a:rPr lang="en-US" altLang="zh-CN" sz="2400" b="1" i="1" dirty="0">
                <a:solidFill>
                  <a:schemeClr val="tx1"/>
                </a:solidFill>
                <a:latin typeface="Trebuchet MS" panose="020B0603020202020204" pitchFamily="34" charset="0"/>
                <a:ea typeface="宋体" panose="02010600030101010101" pitchFamily="2" charset="-122"/>
              </a:rPr>
              <a:t>V.</a:t>
            </a:r>
          </a:p>
          <a:p>
            <a:pPr marL="342900" indent="-342900">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lang="en-US" altLang="zh-CN" sz="2400" b="1" dirty="0">
                <a:latin typeface="Trebuchet MS" panose="020B0603020202020204" pitchFamily="34" charset="0"/>
                <a:ea typeface="宋体" panose="02010600030101010101" pitchFamily="2" charset="-122"/>
              </a:rPr>
              <a:t>: </a:t>
            </a:r>
            <a:r>
              <a:rPr lang="en-US" sz="2400" dirty="0">
                <a:latin typeface="Trebuchet MS" panose="020B0603020202020204" pitchFamily="34" charset="0"/>
              </a:rPr>
              <a:t>Let </a:t>
            </a:r>
            <a:r>
              <a:rPr lang="en-US" altLang="zh-CN" sz="2400" b="1" i="1" dirty="0">
                <a:solidFill>
                  <a:schemeClr val="tx1"/>
                </a:solidFill>
                <a:latin typeface="Trebuchet MS" panose="020B0603020202020204" pitchFamily="34" charset="0"/>
                <a:ea typeface="宋体" panose="02010600030101010101" pitchFamily="2" charset="-122"/>
              </a:rPr>
              <a:t>V</a:t>
            </a:r>
            <a:r>
              <a:rPr lang="en-US" altLang="zh-CN" sz="2400" b="1" dirty="0">
                <a:solidFill>
                  <a:schemeClr val="tx1"/>
                </a:solidFill>
                <a:latin typeface="Trebuchet MS" panose="020B0603020202020204" pitchFamily="34" charset="0"/>
                <a:ea typeface="宋体" panose="02010600030101010101" pitchFamily="2" charset="-122"/>
              </a:rPr>
              <a:t>=&lt;Z,+,0&gt;</a:t>
            </a:r>
            <a:r>
              <a:rPr lang="zh-CN" altLang="en-US" sz="2400" b="1" dirty="0">
                <a:solidFill>
                  <a:schemeClr val="tx1"/>
                </a:solidFill>
                <a:latin typeface="Trebuchet MS" panose="020B0603020202020204" pitchFamily="34" charset="0"/>
                <a:ea typeface="宋体" panose="02010600030101010101" pitchFamily="2" charset="-122"/>
              </a:rPr>
              <a:t>，</a:t>
            </a:r>
            <a:r>
              <a:rPr lang="en-US" sz="2400" dirty="0">
                <a:latin typeface="Trebuchet MS" panose="020B0603020202020204" pitchFamily="34" charset="0"/>
              </a:rPr>
              <a:t>and define</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n</a:t>
            </a:r>
            <a:r>
              <a:rPr lang="en-US" altLang="zh-CN" sz="2400" b="1" dirty="0" err="1">
                <a:solidFill>
                  <a:schemeClr val="tx1"/>
                </a:solidFill>
                <a:latin typeface="Trebuchet MS" panose="020B0603020202020204" pitchFamily="34" charset="0"/>
                <a:ea typeface="宋体" panose="02010600030101010101" pitchFamily="2" charset="-122"/>
              </a:rPr>
              <a:t>Z</a:t>
            </a:r>
            <a:r>
              <a:rPr lang="en-US" altLang="zh-CN" sz="2400" b="1" i="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 { </a:t>
            </a:r>
            <a:r>
              <a:rPr lang="en-US" altLang="zh-CN" sz="2400" b="1" i="1" dirty="0" err="1">
                <a:solidFill>
                  <a:schemeClr val="tx1"/>
                </a:solidFill>
                <a:latin typeface="Trebuchet MS" panose="020B0603020202020204" pitchFamily="34" charset="0"/>
                <a:ea typeface="宋体" panose="02010600030101010101" pitchFamily="2" charset="-122"/>
              </a:rPr>
              <a:t>nz</a:t>
            </a:r>
            <a:r>
              <a:rPr lang="en-US" altLang="zh-CN" sz="2400" b="1" i="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z</a:t>
            </a:r>
            <a:r>
              <a:rPr lang="en-US" altLang="zh-CN" sz="2400" b="1" dirty="0" err="1">
                <a:solidFill>
                  <a:schemeClr val="tx1"/>
                </a:solidFill>
                <a:latin typeface="Trebuchet MS" panose="020B0603020202020204" pitchFamily="34" charset="0"/>
                <a:ea typeface="宋体" panose="02010600030101010101" pitchFamily="2" charset="-122"/>
              </a:rPr>
              <a:t>∈Z</a:t>
            </a:r>
            <a:r>
              <a:rPr lang="en-US" altLang="zh-CN" sz="2400" b="1" dirty="0">
                <a:solidFill>
                  <a:schemeClr val="tx1"/>
                </a:solidFill>
                <a:latin typeface="Trebuchet MS" panose="020B0603020202020204" pitchFamily="34" charset="0"/>
                <a:ea typeface="宋体" panose="02010600030101010101" pitchFamily="2" charset="-122"/>
              </a:rPr>
              <a:t>}</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i="1" dirty="0">
                <a:solidFill>
                  <a:schemeClr val="tx1"/>
                </a:solidFill>
                <a:latin typeface="Trebuchet MS" panose="020B0603020202020204" pitchFamily="34" charset="0"/>
                <a:ea typeface="宋体" panose="02010600030101010101" pitchFamily="2" charset="-122"/>
              </a:rPr>
              <a:t>n </a:t>
            </a:r>
            <a:r>
              <a:rPr lang="en-US" sz="2400" dirty="0">
                <a:latin typeface="Trebuchet MS" panose="020B0603020202020204" pitchFamily="34" charset="0"/>
              </a:rPr>
              <a:t>is a natural number</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dirty="0">
                <a:latin typeface="Trebuchet MS" panose="020B0603020202020204" pitchFamily="34" charset="0"/>
                <a:ea typeface="宋体" panose="02010600030101010101" pitchFamily="2" charset="-122"/>
              </a:rPr>
              <a:t>then</a:t>
            </a:r>
            <a:r>
              <a:rPr lang="zh-CN" altLang="en-US" sz="2400" b="1" dirty="0">
                <a:latin typeface="Trebuchet MS" panose="020B0603020202020204" pitchFamily="34" charset="0"/>
                <a:ea typeface="宋体" panose="02010600030101010101" pitchFamily="2" charset="-122"/>
              </a:rPr>
              <a:t> </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err="1">
                <a:solidFill>
                  <a:schemeClr val="tx1"/>
                </a:solidFill>
                <a:latin typeface="Trebuchet MS" panose="020B0603020202020204" pitchFamily="34" charset="0"/>
                <a:ea typeface="宋体" panose="02010600030101010101" pitchFamily="2" charset="-122"/>
              </a:rPr>
              <a:t>n</a:t>
            </a:r>
            <a:r>
              <a:rPr lang="en-US" altLang="zh-CN" sz="2400" b="1" dirty="0" err="1">
                <a:solidFill>
                  <a:schemeClr val="tx1"/>
                </a:solidFill>
                <a:latin typeface="Trebuchet MS" panose="020B0603020202020204" pitchFamily="34" charset="0"/>
                <a:ea typeface="宋体" panose="02010600030101010101" pitchFamily="2" charset="-122"/>
              </a:rPr>
              <a:t>Z</a:t>
            </a:r>
            <a:r>
              <a:rPr lang="en-US" altLang="zh-CN" sz="2400" b="1" i="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is a subalgebra of</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V </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ea typeface="宋体" panose="02010600030101010101" pitchFamily="2" charset="-122"/>
              </a:rPr>
              <a:t>when</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n </a:t>
            </a:r>
            <a:r>
              <a:rPr lang="en-US" altLang="zh-CN" sz="2400" b="1" dirty="0">
                <a:solidFill>
                  <a:schemeClr val="tx1"/>
                </a:solidFill>
                <a:latin typeface="Trebuchet MS" panose="020B0603020202020204" pitchFamily="34" charset="0"/>
                <a:ea typeface="宋体" panose="02010600030101010101" pitchFamily="2" charset="-122"/>
              </a:rPr>
              <a:t>= 1 </a:t>
            </a:r>
            <a:r>
              <a:rPr lang="en-US" altLang="zh-CN" sz="2400" b="1" dirty="0">
                <a:latin typeface="Trebuchet MS" panose="020B0603020202020204" pitchFamily="34" charset="0"/>
                <a:ea typeface="宋体" panose="02010600030101010101" pitchFamily="2" charset="-122"/>
              </a:rPr>
              <a:t>or</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rPr>
              <a:t>0 </a:t>
            </a:r>
            <a:r>
              <a:rPr lang="zh-CN" altLang="en-US"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n</a:t>
            </a:r>
            <a:r>
              <a:rPr lang="en-US" altLang="zh-CN" sz="2400" b="1" dirty="0" err="1">
                <a:solidFill>
                  <a:schemeClr val="tx1"/>
                </a:solidFill>
                <a:latin typeface="Trebuchet MS" panose="020B0603020202020204" pitchFamily="34" charset="0"/>
                <a:ea typeface="宋体" panose="02010600030101010101" pitchFamily="2" charset="-122"/>
              </a:rPr>
              <a:t>Z</a:t>
            </a:r>
            <a:r>
              <a:rPr lang="en-US" altLang="zh-CN" sz="2400" b="1" i="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is a trivial subalgebra of </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V </a:t>
            </a:r>
            <a:r>
              <a:rPr lang="zh-CN" altLang="en-US" sz="2400" b="1" dirty="0">
                <a:solidFill>
                  <a:schemeClr val="tx1"/>
                </a:solidFill>
                <a:latin typeface="Trebuchet MS" panose="020B0603020202020204" pitchFamily="34" charset="0"/>
                <a:ea typeface="宋体" panose="02010600030101010101" pitchFamily="2" charset="-122"/>
              </a:rPr>
              <a:t>，</a:t>
            </a:r>
            <a:r>
              <a:rPr lang="en-US" sz="2400" dirty="0">
                <a:latin typeface="Trebuchet MS" panose="020B0603020202020204" pitchFamily="34" charset="0"/>
              </a:rPr>
              <a:t>for all other </a:t>
            </a:r>
            <a:r>
              <a:rPr lang="en-US" altLang="zh-CN" sz="2400" b="1" i="1" dirty="0">
                <a:solidFill>
                  <a:schemeClr val="tx1"/>
                </a:solidFill>
                <a:latin typeface="Trebuchet MS" panose="020B0603020202020204" pitchFamily="34" charset="0"/>
                <a:ea typeface="宋体" panose="02010600030101010101" pitchFamily="2" charset="-122"/>
              </a:rPr>
              <a:t>n, </a:t>
            </a:r>
            <a:r>
              <a:rPr lang="en-US" altLang="zh-CN" sz="2400" b="1" i="1" dirty="0" err="1">
                <a:solidFill>
                  <a:schemeClr val="tx1"/>
                </a:solidFill>
                <a:latin typeface="Trebuchet MS" panose="020B0603020202020204" pitchFamily="34" charset="0"/>
                <a:ea typeface="宋体" panose="02010600030101010101" pitchFamily="2" charset="-122"/>
              </a:rPr>
              <a:t>n</a:t>
            </a:r>
            <a:r>
              <a:rPr lang="en-US" altLang="zh-CN" sz="2400" b="1" dirty="0" err="1">
                <a:solidFill>
                  <a:schemeClr val="tx1"/>
                </a:solidFill>
                <a:latin typeface="Trebuchet MS" panose="020B0603020202020204" pitchFamily="34" charset="0"/>
                <a:ea typeface="宋体" panose="02010600030101010101" pitchFamily="2" charset="-122"/>
              </a:rPr>
              <a:t>Z</a:t>
            </a:r>
            <a:r>
              <a:rPr lang="en-US" altLang="zh-CN" sz="2400" b="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is a nontrivial proper subalgebra of </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i="1" dirty="0">
                <a:solidFill>
                  <a:schemeClr val="tx1"/>
                </a:solidFill>
                <a:latin typeface="Trebuchet MS" panose="020B0603020202020204" pitchFamily="34" charset="0"/>
                <a:ea typeface="宋体" panose="02010600030101010101" pitchFamily="2" charset="-122"/>
              </a:rPr>
              <a:t>V </a:t>
            </a:r>
            <a:r>
              <a:rPr lang="en-US" altLang="zh-CN" sz="2400" b="1" dirty="0">
                <a:solidFill>
                  <a:schemeClr val="tx1"/>
                </a:solidFill>
                <a:latin typeface="Trebuchet MS" panose="020B0603020202020204" pitchFamily="34" charset="0"/>
                <a:ea typeface="宋体" panose="02010600030101010101" pitchFamily="2" charset="-122"/>
              </a:rPr>
              <a:t>. </a:t>
            </a:r>
          </a:p>
          <a:p>
            <a:pPr>
              <a:lnSpc>
                <a:spcPct val="110000"/>
              </a:lnSpc>
            </a:pPr>
            <a:endParaRPr lang="en-US" altLang="zh-CN" sz="2400" b="1" dirty="0">
              <a:solidFill>
                <a:schemeClr val="tx1"/>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2626095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animEffect transition="in" filter="fade">
                                      <p:cBhvr>
                                        <p:cTn id="21" dur="1000"/>
                                        <p:tgtEl>
                                          <p:spTgt spid="10">
                                            <p:txEl>
                                              <p:pRg st="3" end="3"/>
                                            </p:txEl>
                                          </p:spTgt>
                                        </p:tgtEl>
                                      </p:cBhvr>
                                    </p:animEffect>
                                    <p:anim calcmode="lin" valueType="num">
                                      <p:cBhvr>
                                        <p:cTn id="22"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Effect transition="in" filter="fade">
                                      <p:cBhvr>
                                        <p:cTn id="28" dur="1000"/>
                                        <p:tgtEl>
                                          <p:spTgt spid="10">
                                            <p:txEl>
                                              <p:pRg st="4" end="4"/>
                                            </p:txEl>
                                          </p:spTgt>
                                        </p:tgtEl>
                                      </p:cBhvr>
                                    </p:animEffect>
                                    <p:anim calcmode="lin" valueType="num">
                                      <p:cBhvr>
                                        <p:cTn id="29"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9.2.2 </a:t>
            </a:r>
            <a:r>
              <a:rPr lang="en-US" altLang="zh-CN" sz="2000" b="1" dirty="0" err="1">
                <a:solidFill>
                  <a:schemeClr val="bg1"/>
                </a:solidFill>
                <a:latin typeface="Trebuchet MS" panose="020B0603020202020204" pitchFamily="34" charset="0"/>
              </a:rPr>
              <a:t>Subalgebraic</a:t>
            </a:r>
            <a:r>
              <a:rPr lang="en-US" altLang="zh-CN" sz="2000" b="1" dirty="0">
                <a:solidFill>
                  <a:schemeClr val="bg1"/>
                </a:solidFill>
                <a:latin typeface="Trebuchet MS" panose="020B0603020202020204" pitchFamily="34" charset="0"/>
              </a:rPr>
              <a:t> Systems and Product Algebraic Systems</a:t>
            </a:r>
            <a:endParaRPr lang="en-US" altLang="zh-CN" sz="2000" b="1" dirty="0">
              <a:solidFill>
                <a:schemeClr val="bg1"/>
              </a:solidFill>
              <a:latin typeface="Times New Roman" panose="02020603050405020304" pitchFamily="18" charset="0"/>
              <a:cs typeface="Times New Roman" panose="02020603050405020304" pitchFamily="18" charset="0"/>
            </a:endParaRPr>
          </a:p>
          <a:p>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solidFill>
                  <a:schemeClr val="bg1"/>
                </a:solidFill>
                <a:latin typeface="Times New Roman" panose="02020603050405020304" pitchFamily="18" charset="0"/>
                <a:cs typeface="Times New Roman" panose="02020603050405020304" pitchFamily="18" charset="0"/>
              </a:rPr>
              <a:t> </a:t>
            </a:r>
            <a:r>
              <a:rPr lang="en-US" altLang="zh-CN" sz="2400" b="1" dirty="0">
                <a:solidFill>
                  <a:schemeClr val="bg1"/>
                </a:solidFill>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rPr>
              <a:t>roduct algebra </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6" name="Rectangle 3">
            <a:extLst>
              <a:ext uri="{FF2B5EF4-FFF2-40B4-BE49-F238E27FC236}">
                <a16:creationId xmlns:a16="http://schemas.microsoft.com/office/drawing/2014/main" id="{77B9A1E1-9ECC-4F5E-807F-138BB1A8F431}"/>
              </a:ext>
            </a:extLst>
          </p:cNvPr>
          <p:cNvSpPr>
            <a:spLocks noGrp="1" noChangeArrowheads="1"/>
          </p:cNvSpPr>
          <p:nvPr>
            <p:ph idx="1"/>
          </p:nvPr>
        </p:nvSpPr>
        <p:spPr>
          <a:xfrm>
            <a:off x="824681" y="806179"/>
            <a:ext cx="9941063" cy="5767520"/>
          </a:xfrm>
        </p:spPr>
        <p:txBody>
          <a:bodyPr>
            <a:noAutofit/>
          </a:bodyPr>
          <a:lstStyle/>
          <a:p>
            <a:pPr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cs typeface="Times New Roman" panose="02020603050405020304" pitchFamily="18" charset="0"/>
              </a:rPr>
              <a:t>9.11:  </a:t>
            </a:r>
            <a:r>
              <a:rPr lang="en-US" altLang="zh-CN" sz="2400" dirty="0">
                <a:latin typeface="Trebuchet MS" panose="020B0603020202020204" pitchFamily="34" charset="0"/>
                <a:cs typeface="Times New Roman" panose="02020603050405020304" pitchFamily="18" charset="0"/>
              </a:rPr>
              <a:t>Let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S</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,∘&gt;</a:t>
            </a:r>
            <a:r>
              <a:rPr lang="zh-CN" altLang="en-US"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zh-CN" altLang="en-US" sz="2400"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S</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a:t>
            </a:r>
            <a:r>
              <a:rPr lang="en-US" sz="2400" dirty="0">
                <a:latin typeface="Trebuchet MS" panose="020B0603020202020204" pitchFamily="34" charset="0"/>
              </a:rPr>
              <a:t>be algebraic systems</a:t>
            </a:r>
            <a:r>
              <a:rPr lang="zh-CN" altLang="en-US"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are binary operations.</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The </a:t>
            </a:r>
            <a:r>
              <a:rPr lang="en-US" sz="2400" b="1" i="1" dirty="0">
                <a:solidFill>
                  <a:srgbClr val="0B61FF"/>
                </a:solidFill>
                <a:latin typeface="Trebuchet MS" panose="020B0603020202020204" pitchFamily="34" charset="0"/>
              </a:rPr>
              <a:t>product algebra</a:t>
            </a:r>
            <a:r>
              <a:rPr lang="en-US" sz="2400" i="1" dirty="0">
                <a:solidFill>
                  <a:srgbClr val="0B61FF"/>
                </a:solidFill>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  </a:t>
            </a:r>
            <a:r>
              <a:rPr lang="en-US" sz="2400" dirty="0">
                <a:latin typeface="Trebuchet MS" panose="020B0603020202020204" pitchFamily="34" charset="0"/>
              </a:rPr>
              <a:t>is an algebraic system with a binary operation, defined as </a:t>
            </a:r>
            <a:r>
              <a:rPr lang="en-US" altLang="zh-CN" sz="2400" b="1" i="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2 </a:t>
            </a:r>
            <a:r>
              <a:rPr lang="en-US" altLang="zh-CN" sz="2400" b="1" dirty="0">
                <a:solidFill>
                  <a:srgbClr val="FF0000"/>
                </a:solidFill>
                <a:latin typeface="Trebuchet MS" panose="020B0603020202020204" pitchFamily="34" charset="0"/>
                <a:cs typeface="Times New Roman" panose="02020603050405020304" pitchFamily="18" charset="0"/>
              </a:rPr>
              <a:t>=&lt;</a:t>
            </a:r>
            <a:r>
              <a:rPr lang="en-US" altLang="zh-CN" sz="2400" b="1" i="1" dirty="0">
                <a:solidFill>
                  <a:srgbClr val="FF0000"/>
                </a:solidFill>
                <a:latin typeface="Trebuchet MS" panose="020B0603020202020204" pitchFamily="34" charset="0"/>
                <a:cs typeface="Times New Roman" panose="02020603050405020304" pitchFamily="18" charset="0"/>
              </a:rPr>
              <a:t>S</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sym typeface="Symbol" panose="05050102010706020507" pitchFamily="18" charset="2"/>
              </a:rPr>
              <a:t> </a:t>
            </a:r>
            <a:r>
              <a:rPr lang="en-US" altLang="zh-CN" sz="2400" b="1" dirty="0">
                <a:solidFill>
                  <a:srgbClr val="FF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&gt;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where </a:t>
            </a:r>
            <a:r>
              <a:rPr lang="en-US" altLang="zh-CN" sz="2400" b="1" i="1" dirty="0">
                <a:latin typeface="Trebuchet MS" panose="020B0603020202020204" pitchFamily="34" charset="0"/>
                <a:cs typeface="Times New Roman" panose="02020603050405020304" pitchFamily="18" charset="0"/>
              </a:rPr>
              <a:t>S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S</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S</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and for all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S</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S</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sz="2400" dirty="0">
                <a:latin typeface="Trebuchet MS" panose="020B0603020202020204" pitchFamily="34" charset="0"/>
              </a:rPr>
              <a:t>we have</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a:t>
            </a:r>
            <a:r>
              <a:rPr lang="en-US" altLang="zh-CN" sz="2400" b="1" dirty="0">
                <a:solidFill>
                  <a:srgbClr val="FF0000"/>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a:t>
            </a:r>
          </a:p>
          <a:p>
            <a:pPr eaLnBrk="1" hangingPunct="1">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en-US" altLang="zh-CN" sz="2400" dirty="0">
                <a:latin typeface="Trebuchet MS" panose="020B0603020202020204" pitchFamily="34" charset="0"/>
              </a:rPr>
              <a:t>Consider integer addition </a:t>
            </a:r>
            <a:r>
              <a:rPr lang="en-US" altLang="zh-CN" sz="2400" b="1" i="1" dirty="0">
                <a:latin typeface="Trebuchet MS" panose="020B0603020202020204" pitchFamily="34" charset="0"/>
                <a:sym typeface="Symbol" panose="05050102010706020507" pitchFamily="18" charset="2"/>
              </a:rPr>
              <a:t>V</a:t>
            </a:r>
            <a:r>
              <a:rPr lang="en-US" altLang="zh-CN" sz="2400" b="1" baseline="-25000" dirty="0">
                <a:latin typeface="Trebuchet MS" panose="020B0603020202020204" pitchFamily="34" charset="0"/>
                <a:sym typeface="Symbol" panose="05050102010706020507" pitchFamily="18" charset="2"/>
              </a:rPr>
              <a:t>1</a:t>
            </a:r>
            <a:r>
              <a:rPr lang="en-US" altLang="zh-CN" sz="2400" b="1" dirty="0">
                <a:latin typeface="Trebuchet MS" panose="020B0603020202020204" pitchFamily="34" charset="0"/>
                <a:sym typeface="Symbol" panose="05050102010706020507" pitchFamily="18" charset="2"/>
              </a:rPr>
              <a:t>=&lt;Z,+&gt; </a:t>
            </a:r>
            <a:r>
              <a:rPr lang="en-US" altLang="zh-CN" sz="2400" dirty="0">
                <a:latin typeface="Trebuchet MS" panose="020B0603020202020204" pitchFamily="34" charset="0"/>
              </a:rPr>
              <a:t>and matrix multiplication </a:t>
            </a:r>
            <a:r>
              <a:rPr lang="en-US" altLang="zh-CN" sz="2400" b="1" i="1" dirty="0">
                <a:latin typeface="Trebuchet MS" panose="020B0603020202020204" pitchFamily="34" charset="0"/>
                <a:sym typeface="Symbol" panose="05050102010706020507" pitchFamily="18" charset="2"/>
              </a:rPr>
              <a:t>V</a:t>
            </a:r>
            <a:r>
              <a:rPr lang="en-US" altLang="zh-CN" sz="2400" b="1" baseline="-25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=&lt;</a:t>
            </a:r>
            <a:r>
              <a:rPr lang="en-US" altLang="zh-CN" sz="2400" b="1" i="1" dirty="0">
                <a:latin typeface="Trebuchet MS" panose="020B0603020202020204" pitchFamily="34" charset="0"/>
                <a:sym typeface="Symbol" panose="05050102010706020507" pitchFamily="18" charset="2"/>
              </a:rPr>
              <a:t>M</a:t>
            </a:r>
            <a:r>
              <a:rPr lang="en-US" altLang="zh-CN" sz="2400" b="1" baseline="-25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(R), ∙ &gt;, </a:t>
            </a:r>
          </a:p>
          <a:p>
            <a:pPr marL="895350" indent="-622300" eaLnBrk="1" hangingPunct="1">
              <a:lnSpc>
                <a:spcPct val="120000"/>
              </a:lnSpc>
              <a:spcBef>
                <a:spcPts val="300"/>
              </a:spcBef>
              <a:buClr>
                <a:srgbClr val="0B61FF"/>
              </a:buClr>
              <a:buSzPct val="80000"/>
              <a:buNone/>
            </a:pPr>
            <a:r>
              <a:rPr lang="en-US" altLang="zh-CN" sz="2400" dirty="0">
                <a:latin typeface="Trebuchet MS" panose="020B0603020202020204" pitchFamily="34" charset="0"/>
                <a:sym typeface="Symbol" panose="05050102010706020507" pitchFamily="18" charset="2"/>
              </a:rPr>
              <a:t>t</a:t>
            </a:r>
            <a:r>
              <a:rPr lang="en-US" altLang="zh-CN" sz="2400" dirty="0">
                <a:latin typeface="Trebuchet MS" panose="020B0603020202020204" pitchFamily="34" charset="0"/>
              </a:rPr>
              <a:t>hen</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sym typeface="Symbol" panose="05050102010706020507" pitchFamily="18" charset="2"/>
              </a:rPr>
              <a:t>&lt; Z</a:t>
            </a:r>
            <a:r>
              <a:rPr lang="en-US" altLang="zh-CN" sz="2400" b="1" i="1" dirty="0">
                <a:latin typeface="Trebuchet MS" panose="020B0603020202020204" pitchFamily="34" charset="0"/>
                <a:sym typeface="Symbol" panose="05050102010706020507" pitchFamily="18" charset="2"/>
              </a:rPr>
              <a:t>M</a:t>
            </a:r>
            <a:r>
              <a:rPr lang="en-US" altLang="zh-CN" sz="2400" b="1" baseline="-25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(R), </a:t>
            </a:r>
            <a:r>
              <a:rPr lang="en-US" altLang="zh-CN" sz="2400" b="1" dirty="0">
                <a:solidFill>
                  <a:srgbClr val="FF0000"/>
                </a:solidFill>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sym typeface="Symbol" panose="05050102010706020507" pitchFamily="18" charset="2"/>
              </a:rPr>
              <a:t>&gt;</a:t>
            </a:r>
            <a:r>
              <a:rPr lang="zh-CN" altLang="en-US" sz="2400" b="1" dirty="0">
                <a:latin typeface="Trebuchet MS" panose="020B0603020202020204" pitchFamily="34" charset="0"/>
                <a:sym typeface="Symbol" panose="05050102010706020507" pitchFamily="18" charset="2"/>
              </a:rPr>
              <a:t> ，</a:t>
            </a:r>
            <a:endParaRPr lang="en-US" altLang="zh-CN" sz="2400" b="1" dirty="0">
              <a:latin typeface="Trebuchet MS" panose="020B0603020202020204" pitchFamily="34" charset="0"/>
              <a:sym typeface="Symbol" panose="05050102010706020507" pitchFamily="18" charset="2"/>
            </a:endParaRPr>
          </a:p>
          <a:p>
            <a:pPr marL="895350" indent="-622300" eaLnBrk="1" hangingPunct="1">
              <a:lnSpc>
                <a:spcPct val="120000"/>
              </a:lnSpc>
              <a:spcBef>
                <a:spcPts val="300"/>
              </a:spcBef>
              <a:buClr>
                <a:srgbClr val="0B61FF"/>
              </a:buClr>
              <a:buSzPct val="80000"/>
              <a:buNone/>
            </a:pPr>
            <a:r>
              <a:rPr lang="en-US" altLang="zh-CN" sz="2400" dirty="0">
                <a:latin typeface="Trebuchet MS" panose="020B0603020202020204" pitchFamily="34" charset="0"/>
              </a:rPr>
              <a:t>and for all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&gt;Z</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(R) , </a:t>
            </a:r>
          </a:p>
          <a:p>
            <a:pPr marL="895350" indent="-622300" eaLnBrk="1" hangingPunct="1">
              <a:lnSpc>
                <a:spcPct val="120000"/>
              </a:lnSpc>
              <a:spcBef>
                <a:spcPts val="300"/>
              </a:spcBef>
              <a:buClr>
                <a:srgbClr val="0B61FF"/>
              </a:buClr>
              <a:buSzPct val="80000"/>
              <a:buNone/>
            </a:pPr>
            <a:r>
              <a:rPr lang="en-US" altLang="zh-CN" sz="2400" dirty="0">
                <a:latin typeface="Trebuchet MS" panose="020B0603020202020204" pitchFamily="34" charset="0"/>
              </a:rPr>
              <a:t>we have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 &lt;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 . </a:t>
            </a:r>
          </a:p>
          <a:p>
            <a:pPr marL="895350" indent="-622300" eaLnBrk="1" hangingPunct="1">
              <a:lnSpc>
                <a:spcPct val="120000"/>
              </a:lnSpc>
              <a:spcBef>
                <a:spcPts val="300"/>
              </a:spcBef>
              <a:buClr>
                <a:srgbClr val="0B61FF"/>
              </a:buClr>
              <a:buSzPct val="80000"/>
              <a:buNone/>
            </a:pPr>
            <a:endParaRPr lang="en-US" altLang="zh-CN" sz="2400" dirty="0">
              <a:latin typeface="Trebuchet MS" panose="020B0603020202020204" pitchFamily="34" charset="0"/>
              <a:cs typeface="Times New Roman" panose="02020603050405020304" pitchFamily="18" charset="0"/>
              <a:sym typeface="Symbol" panose="05050102010706020507" pitchFamily="18" charset="2"/>
            </a:endParaRPr>
          </a:p>
          <a:p>
            <a:pPr marL="0" indent="174625" eaLnBrk="1" hangingPunct="1">
              <a:lnSpc>
                <a:spcPct val="120000"/>
              </a:lnSpc>
              <a:spcBef>
                <a:spcPts val="300"/>
              </a:spcBef>
              <a:buClr>
                <a:srgbClr val="0B61FF"/>
              </a:buClr>
              <a:buSzPct val="80000"/>
              <a:buNone/>
            </a:pPr>
            <a:r>
              <a:rPr lang="en-US" altLang="zh-CN" sz="2400" dirty="0">
                <a:latin typeface="Trebuchet MS" panose="020B0603020202020204" pitchFamily="34" charset="0"/>
              </a:rPr>
              <a:t>For example</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p>
          <a:p>
            <a:pPr eaLnBrk="1" hangingPunct="1">
              <a:lnSpc>
                <a:spcPct val="120000"/>
              </a:lnSpc>
              <a:spcBef>
                <a:spcPts val="0"/>
              </a:spcBef>
              <a:buClr>
                <a:srgbClr val="0B61FF"/>
              </a:buClr>
              <a:buSzPct val="80000"/>
              <a:buFont typeface="Wingdings" panose="05000000000000000000" pitchFamily="2" charset="2"/>
              <a:buChar char="n"/>
            </a:pP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p:txBody>
      </p:sp>
      <p:sp>
        <p:nvSpPr>
          <p:cNvPr id="14" name="Rectangle 3">
            <a:extLst>
              <a:ext uri="{FF2B5EF4-FFF2-40B4-BE49-F238E27FC236}">
                <a16:creationId xmlns:a16="http://schemas.microsoft.com/office/drawing/2014/main" id="{2BF89B02-EFAF-48AC-92E4-6B60ABA34FB9}"/>
              </a:ext>
            </a:extLst>
          </p:cNvPr>
          <p:cNvSpPr txBox="1">
            <a:spLocks noChangeArrowheads="1"/>
          </p:cNvSpPr>
          <p:nvPr/>
        </p:nvSpPr>
        <p:spPr>
          <a:xfrm>
            <a:off x="1306286" y="5651770"/>
            <a:ext cx="9459459" cy="15607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Tx/>
              <a:buNone/>
            </a:pPr>
            <a:endParaRPr lang="en-US" altLang="zh-CN" sz="2400" b="1" dirty="0">
              <a:solidFill>
                <a:srgbClr val="00B0F0"/>
              </a:solidFill>
              <a:latin typeface="Times New Roman" panose="02020603050405020304" pitchFamily="18" charset="0"/>
              <a:cs typeface="Times New Roman" panose="02020603050405020304" pitchFamily="18" charset="0"/>
            </a:endParaRPr>
          </a:p>
        </p:txBody>
      </p:sp>
      <p:graphicFrame>
        <p:nvGraphicFramePr>
          <p:cNvPr id="4" name="对象 3">
            <a:extLst>
              <a:ext uri="{FF2B5EF4-FFF2-40B4-BE49-F238E27FC236}">
                <a16:creationId xmlns:a16="http://schemas.microsoft.com/office/drawing/2014/main" id="{8C0A9D82-5078-4304-A958-DE3508BDA3EA}"/>
              </a:ext>
            </a:extLst>
          </p:cNvPr>
          <p:cNvGraphicFramePr>
            <a:graphicFrameLocks noChangeAspect="1"/>
          </p:cNvGraphicFramePr>
          <p:nvPr/>
        </p:nvGraphicFramePr>
        <p:xfrm>
          <a:off x="3027704" y="5744281"/>
          <a:ext cx="5158694" cy="815406"/>
        </p:xfrm>
        <a:graphic>
          <a:graphicData uri="http://schemas.openxmlformats.org/presentationml/2006/ole">
            <mc:AlternateContent xmlns:mc="http://schemas.openxmlformats.org/markup-compatibility/2006">
              <mc:Choice xmlns:v="urn:schemas-microsoft-com:vml" Requires="v">
                <p:oleObj spid="_x0000_s3076" name="Equation" r:id="rId6" imgW="5905580" imgH="933507" progId="Equation.DSMT4">
                  <p:embed/>
                </p:oleObj>
              </mc:Choice>
              <mc:Fallback>
                <p:oleObj name="Equation" r:id="rId6" imgW="5905580" imgH="933507" progId="Equation.DSMT4">
                  <p:embed/>
                  <p:pic>
                    <p:nvPicPr>
                      <p:cNvPr id="4" name="对象 3">
                        <a:extLst>
                          <a:ext uri="{FF2B5EF4-FFF2-40B4-BE49-F238E27FC236}">
                            <a16:creationId xmlns:a16="http://schemas.microsoft.com/office/drawing/2014/main" id="{8C0A9D82-5078-4304-A958-DE3508BDA3EA}"/>
                          </a:ext>
                        </a:extLst>
                      </p:cNvPr>
                      <p:cNvPicPr/>
                      <p:nvPr/>
                    </p:nvPicPr>
                    <p:blipFill>
                      <a:blip r:embed="rId7"/>
                      <a:stretch>
                        <a:fillRect/>
                      </a:stretch>
                    </p:blipFill>
                    <p:spPr>
                      <a:xfrm>
                        <a:off x="3027704" y="5744281"/>
                        <a:ext cx="5158694" cy="815406"/>
                      </a:xfrm>
                      <a:prstGeom prst="rect">
                        <a:avLst/>
                      </a:prstGeom>
                    </p:spPr>
                  </p:pic>
                </p:oleObj>
              </mc:Fallback>
            </mc:AlternateContent>
          </a:graphicData>
        </a:graphic>
      </p:graphicFrame>
    </p:spTree>
    <p:extLst>
      <p:ext uri="{BB962C8B-B14F-4D97-AF65-F5344CB8AC3E}">
        <p14:creationId xmlns:p14="http://schemas.microsoft.com/office/powerpoint/2010/main" val="5736137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fade">
                                      <p:cBhvr>
                                        <p:cTn id="7" dur="1000"/>
                                        <p:tgtEl>
                                          <p:spTgt spid="16">
                                            <p:txEl>
                                              <p:pRg st="1" end="1"/>
                                            </p:txEl>
                                          </p:spTgt>
                                        </p:tgtEl>
                                      </p:cBhvr>
                                    </p:animEffect>
                                    <p:anim calcmode="lin" valueType="num">
                                      <p:cBhvr>
                                        <p:cTn id="8"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xEl>
                                              <p:pRg st="2" end="2"/>
                                            </p:txEl>
                                          </p:spTgt>
                                        </p:tgtEl>
                                        <p:attrNameLst>
                                          <p:attrName>style.visibility</p:attrName>
                                        </p:attrNameLst>
                                      </p:cBhvr>
                                      <p:to>
                                        <p:strVal val="visible"/>
                                      </p:to>
                                    </p:set>
                                    <p:animEffect transition="in" filter="fade">
                                      <p:cBhvr>
                                        <p:cTn id="12" dur="1000"/>
                                        <p:tgtEl>
                                          <p:spTgt spid="16">
                                            <p:txEl>
                                              <p:pRg st="2" end="2"/>
                                            </p:txEl>
                                          </p:spTgt>
                                        </p:tgtEl>
                                      </p:cBhvr>
                                    </p:animEffect>
                                    <p:anim calcmode="lin" valueType="num">
                                      <p:cBhvr>
                                        <p:cTn id="13"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fade">
                                      <p:cBhvr>
                                        <p:cTn id="19" dur="1000"/>
                                        <p:tgtEl>
                                          <p:spTgt spid="16">
                                            <p:txEl>
                                              <p:pRg st="3" end="3"/>
                                            </p:txEl>
                                          </p:spTgt>
                                        </p:tgtEl>
                                      </p:cBhvr>
                                    </p:animEffect>
                                    <p:anim calcmode="lin" valueType="num">
                                      <p:cBhvr>
                                        <p:cTn id="20" dur="1000" fill="hold"/>
                                        <p:tgtEl>
                                          <p:spTgt spid="16">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6">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6">
                                            <p:txEl>
                                              <p:pRg st="4" end="4"/>
                                            </p:txEl>
                                          </p:spTgt>
                                        </p:tgtEl>
                                        <p:attrNameLst>
                                          <p:attrName>style.visibility</p:attrName>
                                        </p:attrNameLst>
                                      </p:cBhvr>
                                      <p:to>
                                        <p:strVal val="visible"/>
                                      </p:to>
                                    </p:set>
                                    <p:animEffect transition="in" filter="fade">
                                      <p:cBhvr>
                                        <p:cTn id="24" dur="1000"/>
                                        <p:tgtEl>
                                          <p:spTgt spid="16">
                                            <p:txEl>
                                              <p:pRg st="4" end="4"/>
                                            </p:txEl>
                                          </p:spTgt>
                                        </p:tgtEl>
                                      </p:cBhvr>
                                    </p:animEffect>
                                    <p:anim calcmode="lin" valueType="num">
                                      <p:cBhvr>
                                        <p:cTn id="25" dur="1000" fill="hold"/>
                                        <p:tgtEl>
                                          <p:spTgt spid="16">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Effect transition="in" filter="fade">
                                      <p:cBhvr>
                                        <p:cTn id="31" dur="1000"/>
                                        <p:tgtEl>
                                          <p:spTgt spid="16">
                                            <p:txEl>
                                              <p:pRg st="6" end="6"/>
                                            </p:txEl>
                                          </p:spTgt>
                                        </p:tgtEl>
                                      </p:cBhvr>
                                    </p:animEffect>
                                    <p:anim calcmode="lin" valueType="num">
                                      <p:cBhvr>
                                        <p:cTn id="32" dur="1000" fill="hold"/>
                                        <p:tgtEl>
                                          <p:spTgt spid="16">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16">
                                            <p:txEl>
                                              <p:pRg st="6" end="6"/>
                                            </p:txEl>
                                          </p:spTgt>
                                        </p:tgtEl>
                                        <p:attrNameLst>
                                          <p:attrName>ppt_y</p:attrName>
                                        </p:attrNameLst>
                                      </p:cBhvr>
                                      <p:tavLst>
                                        <p:tav tm="0">
                                          <p:val>
                                            <p:strVal val="#ppt_y+.1"/>
                                          </p:val>
                                        </p:tav>
                                        <p:tav tm="100000">
                                          <p:val>
                                            <p:strVal val="#ppt_y"/>
                                          </p:val>
                                        </p:tav>
                                      </p:tavLst>
                                    </p:anim>
                                  </p:childTnLst>
                                </p:cTn>
                              </p:par>
                              <p:par>
                                <p:cTn id="34" presetID="2" presetClass="entr" presetSubtype="2"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additive="base">
                                        <p:cTn id="36" dur="500" fill="hold"/>
                                        <p:tgtEl>
                                          <p:spTgt spid="4"/>
                                        </p:tgtEl>
                                        <p:attrNameLst>
                                          <p:attrName>ppt_x</p:attrName>
                                        </p:attrNameLst>
                                      </p:cBhvr>
                                      <p:tavLst>
                                        <p:tav tm="0">
                                          <p:val>
                                            <p:strVal val="1+#ppt_w/2"/>
                                          </p:val>
                                        </p:tav>
                                        <p:tav tm="100000">
                                          <p:val>
                                            <p:strVal val="#ppt_x"/>
                                          </p:val>
                                        </p:tav>
                                      </p:tavLst>
                                    </p:anim>
                                    <p:anim calcmode="lin" valueType="num">
                                      <p:cBhvr additive="base">
                                        <p:cTn id="37"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chemeClr val="bg1"/>
                </a:solidFill>
                <a:latin typeface="Trebuchet MS" panose="020B0603020202020204" pitchFamily="34" charset="0"/>
              </a:rPr>
              <a:t>9.2.2 </a:t>
            </a:r>
            <a:r>
              <a:rPr lang="en-US" altLang="zh-CN" sz="2000" b="1" dirty="0" err="1">
                <a:solidFill>
                  <a:schemeClr val="bg1"/>
                </a:solidFill>
                <a:latin typeface="Trebuchet MS" panose="020B0603020202020204" pitchFamily="34" charset="0"/>
              </a:rPr>
              <a:t>Subalgebraic</a:t>
            </a:r>
            <a:r>
              <a:rPr lang="en-US" altLang="zh-CN" sz="2000" b="1" dirty="0">
                <a:solidFill>
                  <a:schemeClr val="bg1"/>
                </a:solidFill>
                <a:latin typeface="Trebuchet MS" panose="020B0603020202020204" pitchFamily="34" charset="0"/>
              </a:rPr>
              <a:t> Systems and Product Algebraic Systems</a:t>
            </a:r>
            <a:endParaRPr lang="en-US" altLang="zh-CN" sz="2000" b="1" dirty="0">
              <a:solidFill>
                <a:schemeClr val="bg1"/>
              </a:solidFill>
              <a:latin typeface="Times New Roman" panose="02020603050405020304" pitchFamily="18" charset="0"/>
              <a:cs typeface="Times New Roman" panose="02020603050405020304" pitchFamily="18" charset="0"/>
            </a:endParaRPr>
          </a:p>
          <a:p>
            <a:r>
              <a:rPr lang="en-US" altLang="zh-CN" sz="2000" b="1" dirty="0">
                <a:solidFill>
                  <a:schemeClr val="bg1"/>
                </a:solidFill>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chemeClr val="bg1"/>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properties of product algebras </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4" name="Rectangle 3">
            <a:extLst>
              <a:ext uri="{FF2B5EF4-FFF2-40B4-BE49-F238E27FC236}">
                <a16:creationId xmlns:a16="http://schemas.microsoft.com/office/drawing/2014/main" id="{2851A222-C357-41A9-8957-570B8AC79A0F}"/>
              </a:ext>
            </a:extLst>
          </p:cNvPr>
          <p:cNvSpPr>
            <a:spLocks noGrp="1" noChangeArrowheads="1"/>
          </p:cNvSpPr>
          <p:nvPr>
            <p:ph idx="1"/>
          </p:nvPr>
        </p:nvSpPr>
        <p:spPr>
          <a:xfrm>
            <a:off x="655398" y="877660"/>
            <a:ext cx="10881204" cy="5237390"/>
          </a:xfrm>
        </p:spPr>
        <p:txBody>
          <a:bodyPr>
            <a:noAutofit/>
          </a:bodyPr>
          <a:lstStyle/>
          <a:p>
            <a:pPr eaLnBrk="1" hangingPunct="1">
              <a:lnSpc>
                <a:spcPct val="12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Let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S</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,∘&gt;</a:t>
            </a:r>
            <a:r>
              <a:rPr lang="zh-CN" altLang="en-US"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S</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a:t>
            </a:r>
            <a:r>
              <a:rPr lang="en-US" sz="2400" dirty="0">
                <a:latin typeface="Trebuchet MS" panose="020B0603020202020204" pitchFamily="34" charset="0"/>
              </a:rPr>
              <a:t>be algebraic systems, where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and</a:t>
            </a:r>
            <a:r>
              <a:rPr lang="zh-CN" altLang="en-US" sz="2400"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are binary operations.</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The product algebra is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S</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S</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FF0000"/>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a:t>
            </a:r>
          </a:p>
          <a:p>
            <a:pPr marL="622300" indent="-447675" eaLnBrk="1" hangingPunct="1">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If</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are</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b="1" dirty="0">
                <a:latin typeface="Trebuchet MS" panose="020B0603020202020204" pitchFamily="34" charset="0"/>
              </a:rPr>
              <a:t>commutative</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 then the operation </a:t>
            </a:r>
            <a:r>
              <a:rPr lang="en-US" altLang="zh-CN" sz="2400" b="1" dirty="0">
                <a:solidFill>
                  <a:srgbClr val="FF0000"/>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sz="2400" dirty="0">
                <a:latin typeface="Trebuchet MS" panose="020B0603020202020204" pitchFamily="34" charset="0"/>
              </a:rPr>
              <a:t>is also </a:t>
            </a:r>
            <a:r>
              <a:rPr lang="en-US" sz="2400" b="1" i="1" dirty="0">
                <a:solidFill>
                  <a:srgbClr val="0B61FF"/>
                </a:solidFill>
                <a:latin typeface="Trebuchet MS" panose="020B0603020202020204" pitchFamily="34" charset="0"/>
              </a:rPr>
              <a:t>commutative</a:t>
            </a:r>
            <a:r>
              <a:rPr lang="en-US" sz="2400" dirty="0">
                <a:latin typeface="Trebuchet MS" panose="020B0603020202020204" pitchFamily="34" charset="0"/>
              </a:rPr>
              <a:t>.</a:t>
            </a:r>
          </a:p>
          <a:p>
            <a:pPr marL="622300" indent="-447675" eaLnBrk="1" hangingPunct="1">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(2)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If</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are </a:t>
            </a:r>
            <a:r>
              <a:rPr lang="en-US" sz="2400" b="1" dirty="0">
                <a:latin typeface="Trebuchet MS" panose="020B0603020202020204" pitchFamily="34" charset="0"/>
              </a:rPr>
              <a:t>associative</a:t>
            </a:r>
            <a:r>
              <a:rPr lang="en-US" sz="2400" dirty="0">
                <a:latin typeface="Trebuchet MS" panose="020B0603020202020204" pitchFamily="34" charset="0"/>
              </a:rPr>
              <a:t>, then the operation </a:t>
            </a:r>
            <a:r>
              <a:rPr lang="en-US" altLang="zh-CN" sz="2400" dirty="0">
                <a:solidFill>
                  <a:srgbClr val="FF0000"/>
                </a:solidFill>
                <a:latin typeface="Trebuchet MS" panose="020B0603020202020204" pitchFamily="34" charset="0"/>
              </a:rPr>
              <a:t>•</a:t>
            </a:r>
            <a:r>
              <a:rPr lang="en-US" altLang="zh-CN" sz="2400" dirty="0">
                <a:latin typeface="Trebuchet MS" panose="020B0603020202020204" pitchFamily="34" charset="0"/>
              </a:rPr>
              <a:t> </a:t>
            </a:r>
            <a:r>
              <a:rPr lang="en-US" sz="2400" dirty="0">
                <a:latin typeface="Trebuchet MS" panose="020B0603020202020204" pitchFamily="34" charset="0"/>
              </a:rPr>
              <a:t>is also </a:t>
            </a:r>
            <a:r>
              <a:rPr lang="en-US" sz="2400" b="1" i="1" dirty="0">
                <a:solidFill>
                  <a:srgbClr val="0B61FF"/>
                </a:solidFill>
                <a:latin typeface="Trebuchet MS" panose="020B0603020202020204" pitchFamily="34" charset="0"/>
              </a:rPr>
              <a:t>associative</a:t>
            </a:r>
            <a:r>
              <a:rPr lang="en-US" sz="2400" dirty="0">
                <a:latin typeface="Trebuchet MS" panose="020B0603020202020204" pitchFamily="34" charset="0"/>
              </a:rPr>
              <a:t>.</a:t>
            </a:r>
            <a:r>
              <a:rPr lang="zh-CN" altLang="en-US" sz="2400" dirty="0">
                <a:latin typeface="Trebuchet MS" panose="020B0603020202020204" pitchFamily="34" charset="0"/>
                <a:sym typeface="Symbol" panose="05050102010706020507" pitchFamily="18" charset="2"/>
              </a:rPr>
              <a:t>  </a:t>
            </a:r>
            <a:endParaRPr lang="en-US" altLang="zh-CN" sz="2400" dirty="0">
              <a:latin typeface="Trebuchet MS" panose="020B0603020202020204" pitchFamily="34" charset="0"/>
              <a:sym typeface="Symbol" panose="05050102010706020507" pitchFamily="18" charset="2"/>
            </a:endParaRPr>
          </a:p>
          <a:p>
            <a:pPr marL="622300" indent="-447675" eaLnBrk="1" hangingPunct="1">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(3)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If</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are </a:t>
            </a:r>
            <a:r>
              <a:rPr lang="en-US" sz="2400" b="1" dirty="0">
                <a:latin typeface="Trebuchet MS" panose="020B0603020202020204" pitchFamily="34" charset="0"/>
              </a:rPr>
              <a:t>idempotent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then the operation </a:t>
            </a:r>
            <a:r>
              <a:rPr lang="en-US" altLang="zh-CN" sz="2400" b="1" dirty="0">
                <a:solidFill>
                  <a:srgbClr val="FF0000"/>
                </a:solidFill>
                <a:latin typeface="Trebuchet MS" panose="020B0603020202020204" pitchFamily="34" charset="0"/>
                <a:ea typeface="Cambria Math" panose="02040503050406030204" pitchFamily="18" charset="0"/>
                <a:cs typeface="Times New Roman" panose="02020603050405020304" pitchFamily="18" charset="0"/>
              </a:rPr>
              <a:t>•</a:t>
            </a:r>
            <a:r>
              <a:rPr lang="en-US" sz="2400" dirty="0">
                <a:latin typeface="Trebuchet MS" panose="020B0603020202020204" pitchFamily="34" charset="0"/>
              </a:rPr>
              <a:t> is also </a:t>
            </a:r>
            <a:r>
              <a:rPr lang="en-US" sz="2400" b="1" i="1" dirty="0">
                <a:solidFill>
                  <a:srgbClr val="0B61FF"/>
                </a:solidFill>
                <a:latin typeface="Trebuchet MS" panose="020B0603020202020204" pitchFamily="34" charset="0"/>
              </a:rPr>
              <a:t>idempotent</a:t>
            </a:r>
            <a:r>
              <a:rPr lang="en-US" sz="2400" dirty="0">
                <a:latin typeface="Trebuchet MS" panose="020B0603020202020204" pitchFamily="34" charset="0"/>
              </a:rPr>
              <a:t>.</a:t>
            </a:r>
          </a:p>
          <a:p>
            <a:pPr marL="622300" indent="-447675">
              <a:lnSpc>
                <a:spcPct val="120000"/>
              </a:lnSpc>
              <a:spcBef>
                <a:spcPts val="300"/>
              </a:spcBef>
              <a:buClr>
                <a:srgbClr val="0B61FF"/>
              </a:buClr>
              <a:buSzPct val="80000"/>
              <a:buNone/>
            </a:pP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4)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If</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have respective </a:t>
            </a:r>
            <a:r>
              <a:rPr lang="en-US" sz="2400" b="1" dirty="0">
                <a:latin typeface="Trebuchet MS" panose="020B0603020202020204" pitchFamily="34" charset="0"/>
              </a:rPr>
              <a:t>identity elem</a:t>
            </a:r>
            <a:r>
              <a:rPr lang="en-US" sz="2400" dirty="0">
                <a:latin typeface="Trebuchet MS" panose="020B0603020202020204" pitchFamily="34" charset="0"/>
              </a:rPr>
              <a:t>ents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e</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and</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e</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sz="2400" dirty="0">
                <a:latin typeface="Trebuchet MS" panose="020B0603020202020204" pitchFamily="34" charset="0"/>
              </a:rPr>
              <a:t> then the operation </a:t>
            </a:r>
            <a:r>
              <a:rPr lang="en-US" altLang="zh-CN" sz="2400" b="1" dirty="0">
                <a:solidFill>
                  <a:srgbClr val="FF0000"/>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sz="2400" dirty="0">
                <a:latin typeface="Trebuchet MS" panose="020B0603020202020204" pitchFamily="34" charset="0"/>
              </a:rPr>
              <a:t>also has an </a:t>
            </a:r>
            <a:r>
              <a:rPr lang="en-US" sz="2400" b="1" i="1" dirty="0">
                <a:solidFill>
                  <a:srgbClr val="0B61FF"/>
                </a:solidFill>
                <a:latin typeface="Trebuchet MS" panose="020B0603020202020204" pitchFamily="34" charset="0"/>
              </a:rPr>
              <a:t>identity elemen</a:t>
            </a:r>
            <a:r>
              <a:rPr lang="en-US" altLang="zh-CN" sz="2400" b="1" i="1" dirty="0">
                <a:solidFill>
                  <a:srgbClr val="0B61FF"/>
                </a:solidFill>
                <a:latin typeface="Trebuchet MS" panose="020B0603020202020204" pitchFamily="34" charset="0"/>
              </a:rPr>
              <a:t>ts</a:t>
            </a:r>
            <a:r>
              <a:rPr lang="en-US" sz="2400" b="1" i="1" dirty="0">
                <a:solidFill>
                  <a:srgbClr val="0B61FF"/>
                </a:solidFill>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e</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e</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a:t>
            </a:r>
          </a:p>
          <a:p>
            <a:pPr marL="622300" indent="-447675">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(5)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If</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zh-CN" altLang="en-US"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have respective </a:t>
            </a:r>
            <a:r>
              <a:rPr lang="en-US" sz="2400" b="1" dirty="0">
                <a:latin typeface="Trebuchet MS" panose="020B0603020202020204" pitchFamily="34" charset="0"/>
              </a:rPr>
              <a:t>zero elements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and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 then the operation  </a:t>
            </a:r>
            <a:r>
              <a:rPr lang="en-US" altLang="zh-CN" sz="2400" b="1" dirty="0">
                <a:solidFill>
                  <a:srgbClr val="FF0000"/>
                </a:solidFill>
                <a:latin typeface="Trebuchet MS" panose="020B0603020202020204" pitchFamily="34" charset="0"/>
                <a:ea typeface="Cambria Math" panose="02040503050406030204" pitchFamily="18" charset="0"/>
                <a:cs typeface="Times New Roman" panose="02020603050405020304" pitchFamily="18" charset="0"/>
              </a:rPr>
              <a:t>• </a:t>
            </a:r>
            <a:r>
              <a:rPr lang="en-US" sz="2400" dirty="0">
                <a:latin typeface="Trebuchet MS" panose="020B0603020202020204" pitchFamily="34" charset="0"/>
              </a:rPr>
              <a:t>also has a </a:t>
            </a:r>
            <a:r>
              <a:rPr lang="en-US" sz="2400" b="1" i="1" dirty="0">
                <a:solidFill>
                  <a:srgbClr val="0B61FF"/>
                </a:solidFill>
                <a:latin typeface="Trebuchet MS" panose="020B0603020202020204" pitchFamily="34" charset="0"/>
              </a:rPr>
              <a:t>zero element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&lt;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a:t>
            </a:r>
          </a:p>
          <a:p>
            <a:pPr marL="622300" indent="-447675">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(6) </a:t>
            </a:r>
            <a:r>
              <a:rPr lang="en-US" sz="2400" dirty="0">
                <a:latin typeface="Trebuchet MS" panose="020B0603020202020204" pitchFamily="34" charset="0"/>
              </a:rPr>
              <a:t>If</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 </a:t>
            </a:r>
            <a:r>
              <a:rPr lang="en-US" sz="2400" dirty="0">
                <a:latin typeface="Trebuchet MS" panose="020B0603020202020204" pitchFamily="34" charset="0"/>
              </a:rPr>
              <a:t>has an </a:t>
            </a:r>
            <a:r>
              <a:rPr lang="en-US" sz="2400" b="1" dirty="0">
                <a:latin typeface="Trebuchet MS" panose="020B0603020202020204" pitchFamily="34" charset="0"/>
              </a:rPr>
              <a:t>invers</a:t>
            </a:r>
            <a:r>
              <a:rPr lang="en-US" sz="2400" dirty="0">
                <a:latin typeface="Trebuchet MS" panose="020B0603020202020204" pitchFamily="34" charset="0"/>
              </a:rPr>
              <a:t>e </a:t>
            </a:r>
            <a:r>
              <a:rPr lang="en-US" altLang="zh-CN" sz="2400" b="1" i="1" dirty="0">
                <a:latin typeface="Trebuchet MS" panose="020B0603020202020204" pitchFamily="34" charset="0"/>
                <a:cs typeface="Times New Roman" panose="02020603050405020304" pitchFamily="18" charset="0"/>
              </a:rPr>
              <a:t>x</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with respect to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 and </a:t>
            </a:r>
            <a:r>
              <a:rPr lang="en-US" altLang="zh-CN" sz="2400" b="1" i="1" dirty="0">
                <a:latin typeface="Trebuchet MS" panose="020B0603020202020204" pitchFamily="34" charset="0"/>
                <a:cs typeface="Times New Roman" panose="02020603050405020304" pitchFamily="18" charset="0"/>
              </a:rPr>
              <a:t>y </a:t>
            </a:r>
            <a:r>
              <a:rPr lang="en-US" sz="2400" dirty="0">
                <a:latin typeface="Trebuchet MS" panose="020B0603020202020204" pitchFamily="34" charset="0"/>
              </a:rPr>
              <a:t> has an </a:t>
            </a:r>
            <a:r>
              <a:rPr lang="en-US" sz="2400" b="1" dirty="0">
                <a:latin typeface="Trebuchet MS" panose="020B0603020202020204" pitchFamily="34" charset="0"/>
              </a:rPr>
              <a:t>inverse</a:t>
            </a:r>
            <a:r>
              <a:rPr lang="en-US" sz="2400"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1 </a:t>
            </a:r>
            <a:r>
              <a:rPr lang="en-US" sz="2400" dirty="0">
                <a:latin typeface="Trebuchet MS" panose="020B0603020202020204" pitchFamily="34" charset="0"/>
              </a:rPr>
              <a:t>with respect to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then </a:t>
            </a:r>
            <a:r>
              <a:rPr lang="en-US" sz="2400" b="1" dirty="0">
                <a:latin typeface="Trebuchet MS" panose="020B0603020202020204" pitchFamily="34" charset="0"/>
              </a:rPr>
              <a:t>⟨</a:t>
            </a:r>
            <a:r>
              <a:rPr lang="en-US" sz="2400" b="1" i="1" dirty="0" err="1">
                <a:latin typeface="Trebuchet MS" panose="020B0603020202020204" pitchFamily="34" charset="0"/>
              </a:rPr>
              <a:t>x</a:t>
            </a:r>
            <a:r>
              <a:rPr lang="en-US" sz="2400" b="1" dirty="0" err="1">
                <a:latin typeface="Trebuchet MS" panose="020B0603020202020204" pitchFamily="34" charset="0"/>
              </a:rPr>
              <a:t>,</a:t>
            </a:r>
            <a:r>
              <a:rPr lang="en-US" sz="2400" b="1" i="1" dirty="0" err="1">
                <a:latin typeface="Trebuchet MS" panose="020B0603020202020204" pitchFamily="34" charset="0"/>
              </a:rPr>
              <a:t>y</a:t>
            </a:r>
            <a:r>
              <a:rPr lang="en-US" sz="2400" b="1" dirty="0">
                <a:latin typeface="Trebuchet MS" panose="020B0603020202020204" pitchFamily="34" charset="0"/>
              </a:rPr>
              <a:t>⟩</a:t>
            </a:r>
            <a:r>
              <a:rPr lang="en-US" sz="2400" dirty="0">
                <a:latin typeface="Trebuchet MS" panose="020B0603020202020204" pitchFamily="34" charset="0"/>
              </a:rPr>
              <a:t> has an </a:t>
            </a:r>
            <a:r>
              <a:rPr lang="en-US" sz="2400" b="1" i="1" dirty="0">
                <a:solidFill>
                  <a:srgbClr val="0B61FF"/>
                </a:solidFill>
                <a:latin typeface="Trebuchet MS" panose="020B0603020202020204" pitchFamily="34" charset="0"/>
              </a:rPr>
              <a:t>inverse</a:t>
            </a:r>
            <a:r>
              <a:rPr lang="en-US" sz="2400" dirty="0">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&lt;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a:t>
            </a:r>
            <a:r>
              <a:rPr lang="en-US" sz="2400" dirty="0">
                <a:latin typeface="Trebuchet MS" panose="020B0603020202020204" pitchFamily="34" charset="0"/>
              </a:rPr>
              <a:t>with respect to </a:t>
            </a:r>
            <a:r>
              <a:rPr lang="en-US" altLang="zh-CN" sz="2400" b="1" dirty="0">
                <a:solidFill>
                  <a:srgbClr val="FF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a:t>
            </a:r>
            <a:endParaRPr lang="en-US" altLang="zh-CN" sz="2400" b="1" dirty="0">
              <a:latin typeface="Trebuchet MS" panose="020B0603020202020204" pitchFamily="34" charset="0"/>
              <a:ea typeface="Cambria Math" panose="020405030504060302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1989915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animEffect transition="in" filter="fade">
                                      <p:cBhvr>
                                        <p:cTn id="35" dur="1000"/>
                                        <p:tgtEl>
                                          <p:spTgt spid="14">
                                            <p:txEl>
                                              <p:pRg st="5" end="5"/>
                                            </p:txEl>
                                          </p:spTgt>
                                        </p:tgtEl>
                                      </p:cBhvr>
                                    </p:animEffect>
                                    <p:anim calcmode="lin" valueType="num">
                                      <p:cBhvr>
                                        <p:cTn id="36"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6" end="6"/>
                                            </p:txEl>
                                          </p:spTgt>
                                        </p:tgtEl>
                                        <p:attrNameLst>
                                          <p:attrName>style.visibility</p:attrName>
                                        </p:attrNameLst>
                                      </p:cBhvr>
                                      <p:to>
                                        <p:strVal val="visible"/>
                                      </p:to>
                                    </p:set>
                                    <p:animEffect transition="in" filter="fade">
                                      <p:cBhvr>
                                        <p:cTn id="42" dur="1000"/>
                                        <p:tgtEl>
                                          <p:spTgt spid="14">
                                            <p:txEl>
                                              <p:pRg st="6" end="6"/>
                                            </p:txEl>
                                          </p:spTgt>
                                        </p:tgtEl>
                                      </p:cBhvr>
                                    </p:animEffect>
                                    <p:anim calcmode="lin" valueType="num">
                                      <p:cBhvr>
                                        <p:cTn id="43"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9.2 Algebraic Systems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p:txBody>
      </p:sp>
      <p:sp>
        <p:nvSpPr>
          <p:cNvPr id="9" name="Rectangle 3">
            <a:extLst>
              <a:ext uri="{FF2B5EF4-FFF2-40B4-BE49-F238E27FC236}">
                <a16:creationId xmlns:a16="http://schemas.microsoft.com/office/drawing/2014/main" id="{DFB26965-CE5B-4DE7-9E7F-C771435C74C9}"/>
              </a:ext>
            </a:extLst>
          </p:cNvPr>
          <p:cNvSpPr txBox="1">
            <a:spLocks noChangeArrowheads="1"/>
          </p:cNvSpPr>
          <p:nvPr/>
        </p:nvSpPr>
        <p:spPr>
          <a:xfrm>
            <a:off x="2133599" y="1066801"/>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9.2.1 Definition and Examples of Algebraic Systems</a:t>
            </a:r>
          </a:p>
          <a:p>
            <a:pPr marL="268288" indent="-268288">
              <a:lnSpc>
                <a:spcPct val="13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9.2.2 </a:t>
            </a:r>
            <a:r>
              <a:rPr lang="en-US" sz="2400" b="1" dirty="0" err="1">
                <a:solidFill>
                  <a:schemeClr val="bg2">
                    <a:lumMod val="50000"/>
                  </a:schemeClr>
                </a:solidFill>
                <a:latin typeface="Trebuchet MS" panose="020B0603020202020204" pitchFamily="34" charset="0"/>
              </a:rPr>
              <a:t>Subalgebraic</a:t>
            </a:r>
            <a:r>
              <a:rPr lang="en-US" sz="2400" b="1" dirty="0">
                <a:solidFill>
                  <a:schemeClr val="bg2">
                    <a:lumMod val="50000"/>
                  </a:schemeClr>
                </a:solidFill>
                <a:latin typeface="Trebuchet MS" panose="020B0603020202020204" pitchFamily="34" charset="0"/>
              </a:rPr>
              <a:t> Systems and Product Algebraic Systems</a:t>
            </a:r>
          </a:p>
          <a:p>
            <a:pPr>
              <a:lnSpc>
                <a:spcPct val="13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9.2.3 Homomorphisms and Isomorphisms of Algebraic Systems</a:t>
            </a:r>
          </a:p>
        </p:txBody>
      </p:sp>
    </p:spTree>
    <p:extLst>
      <p:ext uri="{BB962C8B-B14F-4D97-AF65-F5344CB8AC3E}">
        <p14:creationId xmlns:p14="http://schemas.microsoft.com/office/powerpoint/2010/main" val="41335877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9.2.3 Homomorphisms and Isomorphisms of Algebraic Systems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6" name="Rectangle 3">
            <a:extLst>
              <a:ext uri="{FF2B5EF4-FFF2-40B4-BE49-F238E27FC236}">
                <a16:creationId xmlns:a16="http://schemas.microsoft.com/office/drawing/2014/main" id="{E8BEC4A1-23DA-4FF0-961C-DEF91B4AEDB6}"/>
              </a:ext>
            </a:extLst>
          </p:cNvPr>
          <p:cNvSpPr>
            <a:spLocks noGrp="1" noChangeArrowheads="1"/>
          </p:cNvSpPr>
          <p:nvPr>
            <p:ph idx="1"/>
          </p:nvPr>
        </p:nvSpPr>
        <p:spPr>
          <a:xfrm>
            <a:off x="1480458" y="1175656"/>
            <a:ext cx="7772400" cy="4114800"/>
          </a:xfrm>
        </p:spPr>
        <p:txBody>
          <a:bodyPr>
            <a:noAutofit/>
          </a:bodyPr>
          <a:lstStyle/>
          <a:p>
            <a:pPr>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Definition of Homomorphism</a:t>
            </a:r>
          </a:p>
          <a:p>
            <a:pPr eaLnBrk="1" hangingPunct="1">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Classification of Homomorphisms</a:t>
            </a:r>
          </a:p>
          <a:p>
            <a:pPr marL="450850" indent="-269875" eaLnBrk="1" hangingPunct="1">
              <a:lnSpc>
                <a:spcPct val="130000"/>
              </a:lnSpc>
              <a:buClr>
                <a:srgbClr val="0B61FF"/>
              </a:buClr>
              <a:buSzPct val="120000"/>
              <a:tabLst>
                <a:tab pos="450850" algn="l"/>
              </a:tabLst>
            </a:pPr>
            <a:r>
              <a:rPr lang="en-US" sz="2400" dirty="0">
                <a:latin typeface="Trebuchet MS" panose="020B0603020202020204" pitchFamily="34" charset="0"/>
              </a:rPr>
              <a:t>Monomorphism, Epimorphism, Isomorphism</a:t>
            </a:r>
          </a:p>
          <a:p>
            <a:pPr marL="450850" indent="-269875" eaLnBrk="1" hangingPunct="1">
              <a:lnSpc>
                <a:spcPct val="130000"/>
              </a:lnSpc>
              <a:buClr>
                <a:srgbClr val="0B61FF"/>
              </a:buClr>
              <a:buSzPct val="120000"/>
              <a:tabLst>
                <a:tab pos="450850" algn="l"/>
              </a:tabLst>
            </a:pPr>
            <a:r>
              <a:rPr lang="en-US" sz="2400" dirty="0">
                <a:latin typeface="Trebuchet MS" panose="020B0603020202020204" pitchFamily="34" charset="0"/>
              </a:rPr>
              <a:t>Endomorphism</a:t>
            </a:r>
          </a:p>
          <a:p>
            <a:pPr eaLnBrk="1" hangingPunct="1">
              <a:lnSpc>
                <a:spcPct val="130000"/>
              </a:lnSpc>
              <a:buClr>
                <a:srgbClr val="0B61FF"/>
              </a:buClr>
              <a:buSzPct val="80000"/>
              <a:buFont typeface="Wingdings" panose="05000000000000000000" pitchFamily="2" charset="2"/>
              <a:buChar char="n"/>
            </a:pPr>
            <a:r>
              <a:rPr lang="en-US" sz="2400" dirty="0">
                <a:latin typeface="Trebuchet MS" panose="020B0603020202020204" pitchFamily="34" charset="0"/>
              </a:rPr>
              <a:t>E</a:t>
            </a:r>
            <a:r>
              <a:rPr lang="en-US" sz="2400" b="1" dirty="0">
                <a:latin typeface="Trebuchet MS" panose="020B0603020202020204" pitchFamily="34" charset="0"/>
              </a:rPr>
              <a:t>xamples of Homomorphisms</a:t>
            </a:r>
          </a:p>
          <a:p>
            <a:pPr>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Properties of </a:t>
            </a:r>
            <a:r>
              <a:rPr lang="en-US" altLang="zh-CN" sz="2400" b="1" dirty="0">
                <a:latin typeface="Trebuchet MS" panose="020B0603020202020204" pitchFamily="34" charset="0"/>
              </a:rPr>
              <a:t>Epimorphism</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039521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9.2.3 Homomorphisms and Isomorphisms of Algebraic Systems</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solidFill>
                  <a:srgbClr val="C00000"/>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Definition of homomorphism</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2" name="Text Box 6">
            <a:extLst>
              <a:ext uri="{FF2B5EF4-FFF2-40B4-BE49-F238E27FC236}">
                <a16:creationId xmlns:a16="http://schemas.microsoft.com/office/drawing/2014/main" id="{67CD733F-39AD-4D37-93CC-B488E3A7D101}"/>
              </a:ext>
            </a:extLst>
          </p:cNvPr>
          <p:cNvSpPr txBox="1">
            <a:spLocks noChangeArrowheads="1"/>
          </p:cNvSpPr>
          <p:nvPr/>
        </p:nvSpPr>
        <p:spPr bwMode="auto">
          <a:xfrm>
            <a:off x="762056" y="702119"/>
            <a:ext cx="10523241" cy="2017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9.12:  </a:t>
            </a:r>
            <a:r>
              <a:rPr lang="en-US" sz="2400" dirty="0">
                <a:latin typeface="Trebuchet MS" panose="020B0603020202020204" pitchFamily="34" charset="0"/>
              </a:rPr>
              <a:t>Let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and</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&gt; </a:t>
            </a:r>
            <a:r>
              <a:rPr lang="en-US" sz="2400" dirty="0">
                <a:latin typeface="Trebuchet MS" panose="020B0603020202020204" pitchFamily="34" charset="0"/>
              </a:rPr>
              <a:t>be algebraic systems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where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and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are binary operations.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If there exists a mapping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f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S</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1</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S</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2</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such that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x,y</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S</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1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f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x</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y</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f</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x</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f</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y</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then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f</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 is called a </a:t>
            </a:r>
            <a:r>
              <a:rPr lang="en-US" sz="2400" b="1" i="1" dirty="0">
                <a:solidFill>
                  <a:srgbClr val="FF0000"/>
                </a:solidFill>
                <a:latin typeface="Trebuchet MS" panose="020B0603020202020204" pitchFamily="34" charset="0"/>
              </a:rPr>
              <a:t>homo</a:t>
            </a:r>
            <a:r>
              <a:rPr lang="en-US" sz="2400" b="1" i="1" dirty="0">
                <a:solidFill>
                  <a:srgbClr val="0B61FF"/>
                </a:solidFill>
                <a:latin typeface="Trebuchet MS" panose="020B0603020202020204" pitchFamily="34" charset="0"/>
              </a:rPr>
              <a:t>morphism</a:t>
            </a:r>
            <a:r>
              <a:rPr lang="en-US" sz="2400" dirty="0">
                <a:latin typeface="Trebuchet MS" panose="020B0603020202020204" pitchFamily="34" charset="0"/>
              </a:rPr>
              <a:t> from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V</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1</a:t>
            </a:r>
            <a:r>
              <a:rPr lang="en-US" sz="2400" dirty="0">
                <a:latin typeface="Trebuchet MS" panose="020B0603020202020204" pitchFamily="34" charset="0"/>
              </a:rPr>
              <a:t>​ to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V</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2</a:t>
            </a:r>
            <a:r>
              <a:rPr lang="en-US" sz="2400" dirty="0">
                <a:latin typeface="Trebuchet MS" panose="020B0603020202020204" pitchFamily="34" charset="0"/>
              </a:rPr>
              <a:t>​, or simply a </a:t>
            </a:r>
            <a:r>
              <a:rPr lang="en-US" sz="2400" b="1" dirty="0">
                <a:latin typeface="Trebuchet MS" panose="020B0603020202020204" pitchFamily="34" charset="0"/>
              </a:rPr>
              <a:t>homomorphism</a:t>
            </a:r>
            <a:r>
              <a:rPr lang="en-US" sz="2400" dirty="0">
                <a:latin typeface="Trebuchet MS" panose="020B0603020202020204" pitchFamily="34" charset="0"/>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p>
        </p:txBody>
      </p:sp>
      <p:grpSp>
        <p:nvGrpSpPr>
          <p:cNvPr id="3" name="组合 2">
            <a:extLst>
              <a:ext uri="{FF2B5EF4-FFF2-40B4-BE49-F238E27FC236}">
                <a16:creationId xmlns:a16="http://schemas.microsoft.com/office/drawing/2014/main" id="{98006E0D-50FF-4475-85A4-5701A2D423F7}"/>
              </a:ext>
            </a:extLst>
          </p:cNvPr>
          <p:cNvGrpSpPr/>
          <p:nvPr/>
        </p:nvGrpSpPr>
        <p:grpSpPr>
          <a:xfrm>
            <a:off x="1513847" y="2773303"/>
            <a:ext cx="7792909" cy="3159578"/>
            <a:chOff x="1638124" y="3219451"/>
            <a:chExt cx="7345362" cy="3105150"/>
          </a:xfrm>
        </p:grpSpPr>
        <p:sp>
          <p:nvSpPr>
            <p:cNvPr id="15" name="Oval 4">
              <a:extLst>
                <a:ext uri="{FF2B5EF4-FFF2-40B4-BE49-F238E27FC236}">
                  <a16:creationId xmlns:a16="http://schemas.microsoft.com/office/drawing/2014/main" id="{D85AAD59-F60F-45EF-9E93-0F9165F934C6}"/>
                </a:ext>
              </a:extLst>
            </p:cNvPr>
            <p:cNvSpPr>
              <a:spLocks noChangeArrowheads="1"/>
            </p:cNvSpPr>
            <p:nvPr/>
          </p:nvSpPr>
          <p:spPr bwMode="auto">
            <a:xfrm>
              <a:off x="1638124" y="3228976"/>
              <a:ext cx="2232025" cy="3095625"/>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dirty="0"/>
            </a:p>
          </p:txBody>
        </p:sp>
        <p:sp>
          <p:nvSpPr>
            <p:cNvPr id="16" name="Text Box 6">
              <a:extLst>
                <a:ext uri="{FF2B5EF4-FFF2-40B4-BE49-F238E27FC236}">
                  <a16:creationId xmlns:a16="http://schemas.microsoft.com/office/drawing/2014/main" id="{0E53A69A-E6EA-4352-A32A-04FF0EC2BEC8}"/>
                </a:ext>
              </a:extLst>
            </p:cNvPr>
            <p:cNvSpPr txBox="1">
              <a:spLocks noChangeArrowheads="1"/>
            </p:cNvSpPr>
            <p:nvPr/>
          </p:nvSpPr>
          <p:spPr bwMode="auto">
            <a:xfrm>
              <a:off x="2244549" y="3778251"/>
              <a:ext cx="9350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i="1">
                  <a:latin typeface="Times New Roman" panose="02020603050405020304" pitchFamily="18" charset="0"/>
                </a:rPr>
                <a:t>x</a:t>
              </a:r>
              <a:r>
                <a:rPr lang="en-US" altLang="zh-CN" sz="2800" b="1" baseline="-25000"/>
                <a:t> </a:t>
              </a:r>
              <a:r>
                <a:rPr lang="en-US" altLang="zh-CN"/>
                <a:t> ●</a:t>
              </a:r>
            </a:p>
          </p:txBody>
        </p:sp>
        <p:sp>
          <p:nvSpPr>
            <p:cNvPr id="17" name="Text Box 9">
              <a:extLst>
                <a:ext uri="{FF2B5EF4-FFF2-40B4-BE49-F238E27FC236}">
                  <a16:creationId xmlns:a16="http://schemas.microsoft.com/office/drawing/2014/main" id="{FBF76025-96B0-46D2-8F7C-8D17877630B0}"/>
                </a:ext>
              </a:extLst>
            </p:cNvPr>
            <p:cNvSpPr txBox="1">
              <a:spLocks noChangeArrowheads="1"/>
            </p:cNvSpPr>
            <p:nvPr/>
          </p:nvSpPr>
          <p:spPr bwMode="auto">
            <a:xfrm>
              <a:off x="2244549" y="4289426"/>
              <a:ext cx="9350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i="1">
                  <a:latin typeface="Times New Roman" panose="02020603050405020304" pitchFamily="18" charset="0"/>
                </a:rPr>
                <a:t>y</a:t>
              </a:r>
              <a:r>
                <a:rPr lang="en-US" altLang="zh-CN" sz="2800" b="1"/>
                <a:t> </a:t>
              </a:r>
              <a:r>
                <a:rPr lang="en-US" altLang="zh-CN" b="1"/>
                <a:t> </a:t>
              </a:r>
              <a:r>
                <a:rPr lang="en-US" altLang="zh-CN"/>
                <a:t>●</a:t>
              </a:r>
            </a:p>
          </p:txBody>
        </p:sp>
        <p:sp>
          <p:nvSpPr>
            <p:cNvPr id="19" name="Text Box 11">
              <a:extLst>
                <a:ext uri="{FF2B5EF4-FFF2-40B4-BE49-F238E27FC236}">
                  <a16:creationId xmlns:a16="http://schemas.microsoft.com/office/drawing/2014/main" id="{FDC8BA6C-49FE-4C79-B037-2530FB073070}"/>
                </a:ext>
              </a:extLst>
            </p:cNvPr>
            <p:cNvSpPr txBox="1">
              <a:spLocks noChangeArrowheads="1"/>
            </p:cNvSpPr>
            <p:nvPr/>
          </p:nvSpPr>
          <p:spPr bwMode="auto">
            <a:xfrm>
              <a:off x="1854024" y="5387976"/>
              <a:ext cx="12239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i="1">
                  <a:latin typeface="Times New Roman" panose="02020603050405020304" pitchFamily="18" charset="0"/>
                  <a:sym typeface="Symbol" panose="05050102010706020507" pitchFamily="18" charset="2"/>
                </a:rPr>
                <a:t>x</a:t>
              </a:r>
              <a:r>
                <a:rPr lang="en-US" altLang="zh-CN" sz="2800" b="1">
                  <a:latin typeface="Times New Roman" panose="02020603050405020304" pitchFamily="18" charset="0"/>
                </a:rPr>
                <a:t>∘</a:t>
              </a:r>
              <a:r>
                <a:rPr lang="en-US" altLang="zh-CN" sz="2800" b="1" i="1">
                  <a:latin typeface="Times New Roman" panose="02020603050405020304" pitchFamily="18" charset="0"/>
                  <a:sym typeface="Symbol" panose="05050102010706020507" pitchFamily="18" charset="2"/>
                </a:rPr>
                <a:t>y</a:t>
              </a:r>
              <a:r>
                <a:rPr lang="en-US" altLang="zh-CN" sz="2800"/>
                <a:t>  </a:t>
              </a:r>
              <a:r>
                <a:rPr lang="en-US" altLang="zh-CN"/>
                <a:t>●</a:t>
              </a:r>
            </a:p>
          </p:txBody>
        </p:sp>
        <p:grpSp>
          <p:nvGrpSpPr>
            <p:cNvPr id="21" name="Group 34">
              <a:extLst>
                <a:ext uri="{FF2B5EF4-FFF2-40B4-BE49-F238E27FC236}">
                  <a16:creationId xmlns:a16="http://schemas.microsoft.com/office/drawing/2014/main" id="{702151CF-6C24-4CE2-8E52-6CA6BA649210}"/>
                </a:ext>
              </a:extLst>
            </p:cNvPr>
            <p:cNvGrpSpPr>
              <a:grpSpLocks/>
            </p:cNvGrpSpPr>
            <p:nvPr/>
          </p:nvGrpSpPr>
          <p:grpSpPr bwMode="auto">
            <a:xfrm>
              <a:off x="2323924" y="4759326"/>
              <a:ext cx="393700" cy="628650"/>
              <a:chOff x="1595" y="2434"/>
              <a:chExt cx="248" cy="396"/>
            </a:xfrm>
          </p:grpSpPr>
          <p:sp>
            <p:nvSpPr>
              <p:cNvPr id="32" name="Line 16">
                <a:extLst>
                  <a:ext uri="{FF2B5EF4-FFF2-40B4-BE49-F238E27FC236}">
                    <a16:creationId xmlns:a16="http://schemas.microsoft.com/office/drawing/2014/main" id="{6B37066A-E70F-4570-8389-981405CE84B6}"/>
                  </a:ext>
                </a:extLst>
              </p:cNvPr>
              <p:cNvSpPr>
                <a:spLocks noChangeShapeType="1"/>
              </p:cNvSpPr>
              <p:nvPr/>
            </p:nvSpPr>
            <p:spPr bwMode="auto">
              <a:xfrm>
                <a:off x="1843" y="2467"/>
                <a:ext cx="0" cy="363"/>
              </a:xfrm>
              <a:prstGeom prst="line">
                <a:avLst/>
              </a:prstGeom>
              <a:noFill/>
              <a:ln w="38100">
                <a:solidFill>
                  <a:srgbClr val="3399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Text Box 17">
                <a:extLst>
                  <a:ext uri="{FF2B5EF4-FFF2-40B4-BE49-F238E27FC236}">
                    <a16:creationId xmlns:a16="http://schemas.microsoft.com/office/drawing/2014/main" id="{AD133C20-DCDA-4F73-AB7D-A4B661623B69}"/>
                  </a:ext>
                </a:extLst>
              </p:cNvPr>
              <p:cNvSpPr txBox="1">
                <a:spLocks noChangeArrowheads="1"/>
              </p:cNvSpPr>
              <p:nvPr/>
            </p:nvSpPr>
            <p:spPr bwMode="auto">
              <a:xfrm>
                <a:off x="1595" y="2434"/>
                <a:ext cx="21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Times New Roman" panose="02020603050405020304" pitchFamily="18" charset="0"/>
                    <a:cs typeface="Lucida Sans Unicode" panose="020B0602030504020204" pitchFamily="34" charset="0"/>
                  </a:rPr>
                  <a:t>∘</a:t>
                </a:r>
                <a:endParaRPr lang="en-US" altLang="zh-CN" sz="2800" b="1" i="1" baseline="-25000">
                  <a:latin typeface="Times New Roman" panose="02020603050405020304" pitchFamily="18" charset="0"/>
                </a:endParaRPr>
              </a:p>
            </p:txBody>
          </p:sp>
        </p:grpSp>
        <p:sp>
          <p:nvSpPr>
            <p:cNvPr id="23" name="Oval 19">
              <a:extLst>
                <a:ext uri="{FF2B5EF4-FFF2-40B4-BE49-F238E27FC236}">
                  <a16:creationId xmlns:a16="http://schemas.microsoft.com/office/drawing/2014/main" id="{F2BE6BF7-C1EA-46C4-B6E8-D0F29FE4FE04}"/>
                </a:ext>
              </a:extLst>
            </p:cNvPr>
            <p:cNvSpPr>
              <a:spLocks noChangeArrowheads="1"/>
            </p:cNvSpPr>
            <p:nvPr/>
          </p:nvSpPr>
          <p:spPr bwMode="auto">
            <a:xfrm>
              <a:off x="5124274" y="3219451"/>
              <a:ext cx="2232025" cy="310515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25" name="Line 32">
              <a:extLst>
                <a:ext uri="{FF2B5EF4-FFF2-40B4-BE49-F238E27FC236}">
                  <a16:creationId xmlns:a16="http://schemas.microsoft.com/office/drawing/2014/main" id="{CA1506F5-D0BD-4292-B540-4D2FCE618199}"/>
                </a:ext>
              </a:extLst>
            </p:cNvPr>
            <p:cNvSpPr>
              <a:spLocks noChangeShapeType="1"/>
            </p:cNvSpPr>
            <p:nvPr/>
          </p:nvSpPr>
          <p:spPr bwMode="auto">
            <a:xfrm>
              <a:off x="3027186" y="5692776"/>
              <a:ext cx="2735263"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Text Box 20">
              <a:extLst>
                <a:ext uri="{FF2B5EF4-FFF2-40B4-BE49-F238E27FC236}">
                  <a16:creationId xmlns:a16="http://schemas.microsoft.com/office/drawing/2014/main" id="{32C82983-399D-48C7-A8E8-3D475E3CC0C9}"/>
                </a:ext>
              </a:extLst>
            </p:cNvPr>
            <p:cNvSpPr txBox="1">
              <a:spLocks noChangeArrowheads="1"/>
            </p:cNvSpPr>
            <p:nvPr/>
          </p:nvSpPr>
          <p:spPr bwMode="auto">
            <a:xfrm>
              <a:off x="5700536" y="3849688"/>
              <a:ext cx="1503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 </a:t>
              </a:r>
              <a:r>
                <a:rPr lang="en-US" altLang="zh-CN" sz="2400" b="1" i="1">
                  <a:latin typeface="Times New Roman" panose="02020603050405020304" pitchFamily="18" charset="0"/>
                </a:rPr>
                <a:t>f</a:t>
              </a:r>
              <a:r>
                <a:rPr lang="en-US" altLang="zh-CN" sz="2400" b="1">
                  <a:latin typeface="Times New Roman" panose="02020603050405020304" pitchFamily="18" charset="0"/>
                </a:rPr>
                <a:t>(</a:t>
              </a:r>
              <a:r>
                <a:rPr lang="en-US" altLang="zh-CN" sz="2400" b="1" i="1">
                  <a:latin typeface="Times New Roman" panose="02020603050405020304" pitchFamily="18" charset="0"/>
                </a:rPr>
                <a:t>x</a:t>
              </a:r>
              <a:r>
                <a:rPr lang="en-US" altLang="zh-CN" sz="2400" b="1">
                  <a:latin typeface="Times New Roman" panose="02020603050405020304" pitchFamily="18" charset="0"/>
                </a:rPr>
                <a:t>)</a:t>
              </a:r>
            </a:p>
          </p:txBody>
        </p:sp>
        <p:sp>
          <p:nvSpPr>
            <p:cNvPr id="27" name="Text Box 27">
              <a:extLst>
                <a:ext uri="{FF2B5EF4-FFF2-40B4-BE49-F238E27FC236}">
                  <a16:creationId xmlns:a16="http://schemas.microsoft.com/office/drawing/2014/main" id="{BBC9188C-ACE9-4B2A-BF0F-9F65949D1A92}"/>
                </a:ext>
              </a:extLst>
            </p:cNvPr>
            <p:cNvSpPr txBox="1">
              <a:spLocks noChangeArrowheads="1"/>
            </p:cNvSpPr>
            <p:nvPr/>
          </p:nvSpPr>
          <p:spPr bwMode="auto">
            <a:xfrm>
              <a:off x="5700536" y="4244976"/>
              <a:ext cx="1287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 </a:t>
              </a:r>
              <a:r>
                <a:rPr lang="en-US" altLang="zh-CN" sz="2400" b="1" i="1" dirty="0">
                  <a:latin typeface="Times New Roman" panose="02020603050405020304" pitchFamily="18" charset="0"/>
                </a:rPr>
                <a:t>f</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y</a:t>
              </a:r>
              <a:r>
                <a:rPr lang="en-US" altLang="zh-CN" sz="2400" b="1" dirty="0">
                  <a:latin typeface="Times New Roman" panose="02020603050405020304" pitchFamily="18" charset="0"/>
                </a:rPr>
                <a:t>)</a:t>
              </a:r>
            </a:p>
          </p:txBody>
        </p:sp>
        <p:sp>
          <p:nvSpPr>
            <p:cNvPr id="28" name="Line 29">
              <a:extLst>
                <a:ext uri="{FF2B5EF4-FFF2-40B4-BE49-F238E27FC236}">
                  <a16:creationId xmlns:a16="http://schemas.microsoft.com/office/drawing/2014/main" id="{48E0970F-6681-41AC-A0E3-598F4EA79440}"/>
                </a:ext>
              </a:extLst>
            </p:cNvPr>
            <p:cNvSpPr>
              <a:spLocks noChangeShapeType="1"/>
            </p:cNvSpPr>
            <p:nvPr/>
          </p:nvSpPr>
          <p:spPr bwMode="auto">
            <a:xfrm>
              <a:off x="2965274" y="4065588"/>
              <a:ext cx="2735262"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30">
              <a:extLst>
                <a:ext uri="{FF2B5EF4-FFF2-40B4-BE49-F238E27FC236}">
                  <a16:creationId xmlns:a16="http://schemas.microsoft.com/office/drawing/2014/main" id="{7FF8F96F-91C1-41FC-8B3B-BCABCED7E980}"/>
                </a:ext>
              </a:extLst>
            </p:cNvPr>
            <p:cNvSpPr>
              <a:spLocks noChangeShapeType="1"/>
            </p:cNvSpPr>
            <p:nvPr/>
          </p:nvSpPr>
          <p:spPr bwMode="auto">
            <a:xfrm>
              <a:off x="2965274" y="4595813"/>
              <a:ext cx="2735262"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16">
              <a:extLst>
                <a:ext uri="{FF2B5EF4-FFF2-40B4-BE49-F238E27FC236}">
                  <a16:creationId xmlns:a16="http://schemas.microsoft.com/office/drawing/2014/main" id="{C360BCAD-F7D7-4AD1-8968-4E9815C43146}"/>
                </a:ext>
              </a:extLst>
            </p:cNvPr>
            <p:cNvSpPr>
              <a:spLocks noChangeShapeType="1"/>
            </p:cNvSpPr>
            <p:nvPr/>
          </p:nvSpPr>
          <p:spPr bwMode="auto">
            <a:xfrm>
              <a:off x="5886274" y="4811713"/>
              <a:ext cx="0" cy="649288"/>
            </a:xfrm>
            <a:prstGeom prst="line">
              <a:avLst/>
            </a:prstGeom>
            <a:noFill/>
            <a:ln w="38100">
              <a:solidFill>
                <a:srgbClr val="3399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Text Box 17">
              <a:extLst>
                <a:ext uri="{FF2B5EF4-FFF2-40B4-BE49-F238E27FC236}">
                  <a16:creationId xmlns:a16="http://schemas.microsoft.com/office/drawing/2014/main" id="{85F85C07-283D-4141-B185-275E04DED028}"/>
                </a:ext>
              </a:extLst>
            </p:cNvPr>
            <p:cNvSpPr txBox="1">
              <a:spLocks noChangeArrowheads="1"/>
            </p:cNvSpPr>
            <p:nvPr/>
          </p:nvSpPr>
          <p:spPr bwMode="auto">
            <a:xfrm>
              <a:off x="5957711" y="4740276"/>
              <a:ext cx="365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Times New Roman" panose="02020603050405020304" pitchFamily="18" charset="0"/>
                  <a:sym typeface="Symbol" panose="05050102010706020507" pitchFamily="18" charset="2"/>
                </a:rPr>
                <a:t></a:t>
              </a:r>
              <a:endParaRPr lang="en-US" altLang="zh-CN" sz="2800" b="1" i="1" baseline="-25000">
                <a:latin typeface="Times New Roman" panose="02020603050405020304" pitchFamily="18" charset="0"/>
              </a:endParaRPr>
            </a:p>
          </p:txBody>
        </p:sp>
        <p:sp>
          <p:nvSpPr>
            <p:cNvPr id="24" name="Text Box 23">
              <a:extLst>
                <a:ext uri="{FF2B5EF4-FFF2-40B4-BE49-F238E27FC236}">
                  <a16:creationId xmlns:a16="http://schemas.microsoft.com/office/drawing/2014/main" id="{D14F8917-0F07-42E3-9B9F-188504366EFD}"/>
                </a:ext>
              </a:extLst>
            </p:cNvPr>
            <p:cNvSpPr txBox="1">
              <a:spLocks noChangeArrowheads="1"/>
            </p:cNvSpPr>
            <p:nvPr/>
          </p:nvSpPr>
          <p:spPr bwMode="auto">
            <a:xfrm>
              <a:off x="5383036" y="5461001"/>
              <a:ext cx="36004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     ● </a:t>
              </a:r>
              <a:r>
                <a:rPr lang="en-US" altLang="zh-CN" sz="2800" b="1" i="1" dirty="0">
                  <a:latin typeface="Times New Roman" panose="02020603050405020304" pitchFamily="18" charset="0"/>
                  <a:cs typeface="Times New Roman" panose="02020603050405020304" pitchFamily="18" charset="0"/>
                </a:rPr>
                <a:t>f</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cs typeface="Times New Roman" panose="02020603050405020304" pitchFamily="18" charset="0"/>
                  <a:sym typeface="Symbol" panose="05050102010706020507" pitchFamily="18" charset="2"/>
                </a:rPr>
                <a:t>y</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cs typeface="Times New Roman" panose="02020603050405020304" pitchFamily="18" charset="0"/>
                  <a:sym typeface="Symbol" panose="05050102010706020507" pitchFamily="18" charset="2"/>
                </a:rPr>
                <a:t>f</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sz="2800" b="1" dirty="0" err="1">
                  <a:latin typeface="Times New Roman" panose="02020603050405020304" pitchFamily="18" charset="0"/>
                  <a:cs typeface="Times New Roman" panose="02020603050405020304" pitchFamily="18" charset="0"/>
                </a:rPr>
                <a:t>∘</a:t>
              </a:r>
              <a:r>
                <a:rPr lang="en-US" altLang="zh-CN" sz="2800" b="1" i="1" dirty="0" err="1">
                  <a:latin typeface="Times New Roman" panose="02020603050405020304" pitchFamily="18" charset="0"/>
                  <a:cs typeface="Times New Roman" panose="02020603050405020304" pitchFamily="18" charset="0"/>
                  <a:sym typeface="Symbol" panose="05050102010706020507" pitchFamily="18" charset="2"/>
                </a:rPr>
                <a:t>y</a:t>
              </a:r>
              <a:r>
                <a:rPr lang="en-US" altLang="zh-CN" sz="2800" b="1" dirty="0">
                  <a:latin typeface="Times New Roman" panose="02020603050405020304" pitchFamily="18" charset="0"/>
                  <a:cs typeface="Times New Roman" panose="02020603050405020304" pitchFamily="18" charset="0"/>
                </a:rPr>
                <a:t>)</a:t>
              </a:r>
            </a:p>
          </p:txBody>
        </p:sp>
      </p:grpSp>
    </p:spTree>
    <p:extLst>
      <p:ext uri="{BB962C8B-B14F-4D97-AF65-F5344CB8AC3E}">
        <p14:creationId xmlns:p14="http://schemas.microsoft.com/office/powerpoint/2010/main" val="2147347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homomorphism of algebraic systems (groups)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1" name="Text Box 3">
            <a:extLst>
              <a:ext uri="{FF2B5EF4-FFF2-40B4-BE49-F238E27FC236}">
                <a16:creationId xmlns:a16="http://schemas.microsoft.com/office/drawing/2014/main" id="{B4077D97-DE78-4FF2-9F09-FB2B78484265}"/>
              </a:ext>
            </a:extLst>
          </p:cNvPr>
          <p:cNvSpPr txBox="1">
            <a:spLocks noChangeArrowheads="1"/>
          </p:cNvSpPr>
          <p:nvPr/>
        </p:nvSpPr>
        <p:spPr bwMode="auto">
          <a:xfrm>
            <a:off x="860976" y="794338"/>
            <a:ext cx="10441010" cy="5267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marL="342900" indent="-342900">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en-US" altLang="zh-CN"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=&lt;R*,</a:t>
            </a:r>
            <a:r>
              <a:rPr lang="en-US" altLang="zh-CN" sz="32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&gt;, </a:t>
            </a:r>
            <a:r>
              <a:rPr lang="en-US" altLang="zh-CN" sz="2400" dirty="0">
                <a:latin typeface="Trebuchet MS" panose="020B0603020202020204" pitchFamily="34" charset="0"/>
              </a:rPr>
              <a:t>determine which of the following functions are homomorphisms of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V</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a:t>
            </a:r>
          </a:p>
          <a:p>
            <a:pPr>
              <a:lnSpc>
                <a:spcPct val="110000"/>
              </a:lnSpc>
            </a:pP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(1)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(2)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(3)</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p>
          <a:p>
            <a:pPr>
              <a:lnSpc>
                <a:spcPct val="110000"/>
              </a:lnSpc>
            </a:pP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(4)</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(5)</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(6)</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+1</a:t>
            </a:r>
          </a:p>
          <a:p>
            <a:pPr marL="342900" indent="-342900">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Solution: </a:t>
            </a:r>
            <a:r>
              <a:rPr lang="en-US" altLang="zh-CN" sz="2400" dirty="0">
                <a:latin typeface="Trebuchet MS" panose="020B0603020202020204" pitchFamily="34" charset="0"/>
              </a:rPr>
              <a:t>Analyze whether the function satisfies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zh-CN"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for all </a:t>
            </a:r>
            <a:r>
              <a:rPr lang="en-US" altLang="zh-CN" sz="2400" b="1" i="1" dirty="0" err="1">
                <a:latin typeface="Trebuchet MS" panose="020B0603020202020204" pitchFamily="34" charset="0"/>
              </a:rPr>
              <a:t>x,y</a:t>
            </a:r>
            <a:r>
              <a:rPr lang="en-US" altLang="zh-CN" sz="2400" dirty="0">
                <a:latin typeface="Trebuchet MS" panose="020B0603020202020204" pitchFamily="34" charset="0"/>
              </a:rPr>
              <a:t> in the nonzero real numbers set </a:t>
            </a:r>
            <a:r>
              <a:rPr lang="en-US" altLang="zh-CN" sz="2400" b="1" dirty="0">
                <a:latin typeface="Trebuchet MS" panose="020B0603020202020204" pitchFamily="34" charset="0"/>
                <a:cs typeface="Times New Roman" panose="02020603050405020304" pitchFamily="18" charset="0"/>
              </a:rPr>
              <a:t>R* .</a:t>
            </a:r>
            <a:endParaRPr lang="en-US" altLang="zh-CN" sz="2400" b="1" dirty="0">
              <a:latin typeface="Trebuchet MS" panose="020B0603020202020204" pitchFamily="34" charset="0"/>
            </a:endParaRPr>
          </a:p>
          <a:p>
            <a:pPr indent="265113">
              <a:lnSpc>
                <a:spcPct val="110000"/>
              </a:lnSpc>
            </a:pPr>
            <a:r>
              <a:rPr lang="en-US" altLang="zh-CN" sz="2400" b="1" dirty="0">
                <a:solidFill>
                  <a:srgbClr val="0B61FF"/>
                </a:solidFill>
                <a:latin typeface="Trebuchet MS" panose="020B0603020202020204" pitchFamily="34" charset="0"/>
              </a:rPr>
              <a:t>(1)</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 = |</a:t>
            </a:r>
            <a:r>
              <a:rPr lang="en-US" altLang="zh-CN" sz="2400" b="1" i="1" dirty="0" err="1">
                <a:latin typeface="Trebuchet MS" panose="020B0603020202020204" pitchFamily="34" charset="0"/>
              </a:rPr>
              <a:t>x</a:t>
            </a:r>
            <a:r>
              <a:rPr lang="en-US" altLang="zh-CN" sz="2400" b="1" i="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y</a:t>
            </a:r>
            <a:r>
              <a:rPr lang="en-US" altLang="zh-CN" sz="2400" b="1" dirty="0">
                <a:latin typeface="Trebuchet MS" panose="020B0603020202020204" pitchFamily="34" charset="0"/>
              </a:rPr>
              <a:t>| = |</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y</a:t>
            </a:r>
            <a:r>
              <a:rPr lang="en-US" altLang="zh-CN" sz="2400" b="1" dirty="0">
                <a:latin typeface="Trebuchet MS" panose="020B0603020202020204" pitchFamily="34" charset="0"/>
                <a:sym typeface="Symbol" panose="05050102010706020507" pitchFamily="18" charset="2"/>
              </a:rPr>
              <a:t>| = </a:t>
            </a:r>
            <a:r>
              <a:rPr lang="en-US" altLang="zh-CN" sz="2400" b="1" i="1" dirty="0">
                <a:latin typeface="Trebuchet MS" panose="020B0603020202020204" pitchFamily="34" charset="0"/>
                <a:sym typeface="Symbol" panose="05050102010706020507" pitchFamily="18" charset="2"/>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x</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f</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 		</a:t>
            </a:r>
            <a:r>
              <a:rPr lang="en-US" altLang="zh-CN" sz="2400" dirty="0">
                <a:solidFill>
                  <a:srgbClr val="0B61FF"/>
                </a:solidFill>
                <a:latin typeface="Trebuchet MS" panose="020B0603020202020204" pitchFamily="34" charset="0"/>
              </a:rPr>
              <a:t>homomorphisms</a:t>
            </a:r>
            <a:endParaRPr lang="en-US" altLang="zh-CN" sz="2400" b="1" dirty="0">
              <a:solidFill>
                <a:srgbClr val="0B61FF"/>
              </a:solidFill>
              <a:latin typeface="Trebuchet MS" panose="020B0603020202020204" pitchFamily="34" charset="0"/>
            </a:endParaRPr>
          </a:p>
          <a:p>
            <a:pPr indent="265113">
              <a:lnSpc>
                <a:spcPct val="110000"/>
              </a:lnSpc>
            </a:pPr>
            <a:r>
              <a:rPr lang="en-US" altLang="zh-CN" sz="2400" b="1" dirty="0">
                <a:solidFill>
                  <a:srgbClr val="0B61FF"/>
                </a:solidFill>
                <a:latin typeface="Trebuchet MS" panose="020B0603020202020204" pitchFamily="34" charset="0"/>
              </a:rPr>
              <a:t>(2)</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rPr>
              <a:t>f</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zh-CN" altLang="zh-CN" sz="2400" b="1" i="1" dirty="0">
                <a:latin typeface="Trebuchet MS" panose="020B0603020202020204" pitchFamily="34" charset="0"/>
              </a:rPr>
              <a:t>⋅</a:t>
            </a:r>
            <a:r>
              <a:rPr lang="en-US" altLang="zh-CN" sz="2400" b="1" i="1" dirty="0">
                <a:latin typeface="Trebuchet MS" panose="020B0603020202020204" pitchFamily="34" charset="0"/>
              </a:rPr>
              <a:t>y</a:t>
            </a:r>
            <a:r>
              <a:rPr lang="en-US" altLang="zh-CN" sz="2400" b="1" dirty="0">
                <a:latin typeface="Trebuchet MS" panose="020B0603020202020204" pitchFamily="34" charset="0"/>
              </a:rPr>
              <a:t>)</a:t>
            </a:r>
            <a:r>
              <a:rPr lang="en-US" altLang="zh-CN" sz="2400" b="1" i="1" dirty="0">
                <a:latin typeface="Trebuchet MS" panose="020B0603020202020204" pitchFamily="34" charset="0"/>
              </a:rPr>
              <a:t>=2(x</a:t>
            </a:r>
            <a:r>
              <a:rPr lang="zh-CN" altLang="zh-CN" sz="2400" b="1" i="1" dirty="0">
                <a:latin typeface="Trebuchet MS" panose="020B0603020202020204" pitchFamily="34" charset="0"/>
              </a:rPr>
              <a:t>⋅</a:t>
            </a:r>
            <a:r>
              <a:rPr lang="en-US" altLang="zh-CN" sz="2400" b="1" i="1" dirty="0">
                <a:latin typeface="Trebuchet MS" panose="020B0603020202020204" pitchFamily="34" charset="0"/>
              </a:rPr>
              <a:t>y) </a:t>
            </a:r>
            <a:r>
              <a:rPr lang="zh-CN"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)=4</a:t>
            </a:r>
            <a:r>
              <a:rPr lang="en-US" altLang="zh-CN" sz="2400" b="1" i="1" dirty="0">
                <a:latin typeface="Trebuchet MS" panose="020B0603020202020204" pitchFamily="34" charset="0"/>
                <a:cs typeface="Times New Roman" panose="02020603050405020304" pitchFamily="18" charset="0"/>
              </a:rPr>
              <a:t>xy            </a:t>
            </a:r>
            <a:r>
              <a:rPr lang="en-US" altLang="zh-CN" sz="2400" dirty="0">
                <a:latin typeface="Trebuchet MS" panose="020B0603020202020204" pitchFamily="34" charset="0"/>
              </a:rPr>
              <a:t>non-homomorphic</a:t>
            </a:r>
            <a:endParaRPr lang="en-US" altLang="zh-CN" sz="2400" b="1" i="1" dirty="0">
              <a:latin typeface="Trebuchet MS" panose="020B0603020202020204" pitchFamily="34" charset="0"/>
              <a:cs typeface="Times New Roman" panose="02020603050405020304" pitchFamily="18" charset="0"/>
            </a:endParaRPr>
          </a:p>
          <a:p>
            <a:pPr indent="265113">
              <a:lnSpc>
                <a:spcPct val="110000"/>
              </a:lnSpc>
            </a:pPr>
            <a:r>
              <a:rPr lang="en-US" altLang="zh-CN" sz="2400" b="1" dirty="0">
                <a:solidFill>
                  <a:srgbClr val="0B61FF"/>
                </a:solidFill>
                <a:latin typeface="Trebuchet MS" panose="020B0603020202020204" pitchFamily="34" charset="0"/>
              </a:rPr>
              <a:t>(3)</a:t>
            </a:r>
            <a:r>
              <a:rPr lang="en-US" altLang="zh-CN" sz="2400" b="1" dirty="0">
                <a:latin typeface="Trebuchet MS" panose="020B0603020202020204" pitchFamily="34" charset="0"/>
                <a:cs typeface="Times New Roman" panose="02020603050405020304" pitchFamily="18" charset="0"/>
              </a:rPr>
              <a:t>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a:t>
            </a:r>
            <a:r>
              <a:rPr lang="en-US" altLang="zh-CN" sz="2400" b="1" kern="100" baseline="30000" dirty="0">
                <a:latin typeface="Trebuchet MS" panose="020B0603020202020204" pitchFamily="34" charset="0"/>
                <a:cs typeface="Times New Roman" panose="02020603050405020304" pitchFamily="18" charset="0"/>
              </a:rPr>
              <a:t>2</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baseline="30000" dirty="0">
                <a:latin typeface="Trebuchet MS" panose="020B0603020202020204" pitchFamily="34" charset="0"/>
                <a:cs typeface="Times New Roman" panose="02020603050405020304" pitchFamily="18" charset="0"/>
              </a:rPr>
              <a:t>2</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y</a:t>
            </a:r>
            <a:r>
              <a:rPr lang="en-US" altLang="zh-CN" sz="2400" b="1" kern="100" baseline="30000" dirty="0">
                <a:latin typeface="Trebuchet MS" panose="020B0603020202020204" pitchFamily="34" charset="0"/>
                <a:cs typeface="Times New Roman" panose="02020603050405020304" pitchFamily="18" charset="0"/>
              </a:rPr>
              <a:t>2 		              </a:t>
            </a:r>
            <a:r>
              <a:rPr lang="en-US" altLang="zh-CN" sz="2400" dirty="0">
                <a:solidFill>
                  <a:srgbClr val="0B61FF"/>
                </a:solidFill>
                <a:latin typeface="Trebuchet MS" panose="020B0603020202020204" pitchFamily="34" charset="0"/>
              </a:rPr>
              <a:t>homomorphisms</a:t>
            </a:r>
          </a:p>
          <a:p>
            <a:pPr indent="265113">
              <a:lnSpc>
                <a:spcPct val="110000"/>
              </a:lnSpc>
            </a:pPr>
            <a:r>
              <a:rPr lang="en-US" altLang="zh-CN" sz="2400" b="1" dirty="0">
                <a:solidFill>
                  <a:srgbClr val="0B61FF"/>
                </a:solidFill>
                <a:latin typeface="Trebuchet MS" panose="020B0603020202020204" pitchFamily="34" charset="0"/>
              </a:rPr>
              <a:t>(4)</a:t>
            </a:r>
            <a:r>
              <a:rPr lang="en-US" altLang="zh-CN" sz="2400" b="1" dirty="0">
                <a:latin typeface="Trebuchet MS" panose="020B0603020202020204" pitchFamily="34" charset="0"/>
                <a:cs typeface="Times New Roman" panose="02020603050405020304" pitchFamily="18" charset="0"/>
              </a:rPr>
              <a:t>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 1/(</a:t>
            </a:r>
            <a:r>
              <a:rPr lang="en-US" altLang="zh-CN" sz="2400" b="1" i="1" kern="100" dirty="0">
                <a:latin typeface="Trebuchet MS" panose="020B0603020202020204" pitchFamily="34" charset="0"/>
                <a:cs typeface="Times New Roman" panose="02020603050405020304" pitchFamily="18" charset="0"/>
              </a:rPr>
              <a:t>x</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 1/</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kern="100" dirty="0">
                <a:latin typeface="Trebuchet MS" panose="020B0603020202020204" pitchFamily="34" charset="0"/>
                <a:cs typeface="Times New Roman" panose="02020603050405020304" pitchFamily="18" charset="0"/>
              </a:rPr>
              <a:t>1/</a:t>
            </a:r>
            <a:r>
              <a:rPr lang="en-US" altLang="zh-CN" sz="2400" b="1" i="1" kern="100" dirty="0">
                <a:latin typeface="Trebuchet MS" panose="020B0603020202020204" pitchFamily="34" charset="0"/>
                <a:cs typeface="Times New Roman" panose="02020603050405020304" pitchFamily="18" charset="0"/>
              </a:rPr>
              <a:t>y 		          </a:t>
            </a:r>
            <a:r>
              <a:rPr lang="en-US" altLang="zh-CN" sz="2400" dirty="0">
                <a:solidFill>
                  <a:srgbClr val="0B61FF"/>
                </a:solidFill>
                <a:latin typeface="Trebuchet MS" panose="020B0603020202020204" pitchFamily="34" charset="0"/>
              </a:rPr>
              <a:t>homomorphisms</a:t>
            </a:r>
          </a:p>
          <a:p>
            <a:pPr indent="265113">
              <a:lnSpc>
                <a:spcPct val="110000"/>
              </a:lnSpc>
            </a:pPr>
            <a:r>
              <a:rPr lang="en-US" altLang="zh-CN" sz="2400" b="1" dirty="0">
                <a:solidFill>
                  <a:srgbClr val="0B61FF"/>
                </a:solidFill>
                <a:latin typeface="Trebuchet MS" panose="020B0603020202020204" pitchFamily="34" charset="0"/>
              </a:rPr>
              <a:t>(5)</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zh-CN" altLang="zh-CN" sz="2400" b="1"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zh-CN" altLang="zh-CN" sz="2400" b="1"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 ≠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xy</a:t>
            </a:r>
            <a:r>
              <a:rPr lang="en-US" altLang="zh-CN" sz="2400" b="1" i="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non-homomorphic</a:t>
            </a:r>
            <a:endParaRPr lang="en-US" altLang="zh-CN" sz="2400" b="1" i="1" dirty="0">
              <a:latin typeface="Trebuchet MS" panose="020B0603020202020204" pitchFamily="34" charset="0"/>
              <a:cs typeface="Times New Roman" panose="02020603050405020304" pitchFamily="18" charset="0"/>
            </a:endParaRPr>
          </a:p>
          <a:p>
            <a:pPr indent="265113">
              <a:lnSpc>
                <a:spcPct val="110000"/>
              </a:lnSpc>
            </a:pPr>
            <a:r>
              <a:rPr lang="en-US" altLang="zh-CN" sz="2400" b="1" dirty="0">
                <a:solidFill>
                  <a:srgbClr val="0B61FF"/>
                </a:solidFill>
                <a:latin typeface="Trebuchet MS" panose="020B0603020202020204" pitchFamily="34" charset="0"/>
              </a:rPr>
              <a:t>(6)</a:t>
            </a:r>
            <a:r>
              <a:rPr lang="en-US" altLang="zh-CN" sz="2400" b="1" i="1" dirty="0">
                <a:latin typeface="Trebuchet MS" panose="020B0603020202020204" pitchFamily="34" charset="0"/>
                <a:cs typeface="Times New Roman" panose="02020603050405020304" pitchFamily="18" charset="0"/>
              </a:rPr>
              <a:t> 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zh-CN" altLang="zh-CN" sz="2400" b="1"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zh-CN" altLang="zh-CN" sz="2400" b="1"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+1</a:t>
            </a:r>
            <a:r>
              <a:rPr lang="zh-CN"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+1)</a:t>
            </a:r>
            <a:r>
              <a:rPr lang="zh-CN" altLang="zh-CN" sz="2400" b="1"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rPr>
              <a:t>xy</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+1 </a:t>
            </a:r>
            <a:r>
              <a:rPr lang="en-US" altLang="zh-CN" sz="2400" dirty="0">
                <a:latin typeface="Trebuchet MS" panose="020B0603020202020204" pitchFamily="34" charset="0"/>
              </a:rPr>
              <a:t>non-homomorphic</a:t>
            </a:r>
            <a:endParaRPr lang="en-US" altLang="zh-CN" sz="2400" b="1" dirty="0">
              <a:latin typeface="Trebuchet MS" panose="020B0603020202020204" pitchFamily="34" charset="0"/>
              <a:cs typeface="Times New Roman" panose="02020603050405020304" pitchFamily="18" charset="0"/>
            </a:endParaRPr>
          </a:p>
          <a:p>
            <a:pPr>
              <a:lnSpc>
                <a:spcPct val="120000"/>
              </a:lnSpc>
            </a:pPr>
            <a:endParaRPr lang="en-US" altLang="zh-CN" sz="2400" b="1" dirty="0">
              <a:latin typeface="Trebuchet MS" panose="020B0603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86668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3" end="3"/>
                                            </p:txEl>
                                          </p:spTgt>
                                        </p:tgtEl>
                                        <p:attrNameLst>
                                          <p:attrName>style.visibility</p:attrName>
                                        </p:attrNameLst>
                                      </p:cBhvr>
                                      <p:to>
                                        <p:strVal val="visible"/>
                                      </p:to>
                                    </p:set>
                                    <p:animEffect transition="in" filter="fade">
                                      <p:cBhvr>
                                        <p:cTn id="7" dur="1000"/>
                                        <p:tgtEl>
                                          <p:spTgt spid="11">
                                            <p:txEl>
                                              <p:pRg st="3" end="3"/>
                                            </p:txEl>
                                          </p:spTgt>
                                        </p:tgtEl>
                                      </p:cBhvr>
                                    </p:animEffect>
                                    <p:anim calcmode="lin" valueType="num">
                                      <p:cBhvr>
                                        <p:cTn id="8"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4" end="4"/>
                                            </p:txEl>
                                          </p:spTgt>
                                        </p:tgtEl>
                                        <p:attrNameLst>
                                          <p:attrName>style.visibility</p:attrName>
                                        </p:attrNameLst>
                                      </p:cBhvr>
                                      <p:to>
                                        <p:strVal val="visible"/>
                                      </p:to>
                                    </p:set>
                                    <p:animEffect transition="in" filter="fade">
                                      <p:cBhvr>
                                        <p:cTn id="14" dur="1000"/>
                                        <p:tgtEl>
                                          <p:spTgt spid="11">
                                            <p:txEl>
                                              <p:pRg st="4" end="4"/>
                                            </p:txEl>
                                          </p:spTgt>
                                        </p:tgtEl>
                                      </p:cBhvr>
                                    </p:animEffect>
                                    <p:anim calcmode="lin" valueType="num">
                                      <p:cBhvr>
                                        <p:cTn id="15"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xEl>
                                              <p:pRg st="5" end="5"/>
                                            </p:txEl>
                                          </p:spTgt>
                                        </p:tgtEl>
                                        <p:attrNameLst>
                                          <p:attrName>style.visibility</p:attrName>
                                        </p:attrNameLst>
                                      </p:cBhvr>
                                      <p:to>
                                        <p:strVal val="visible"/>
                                      </p:to>
                                    </p:set>
                                    <p:animEffect transition="in" filter="fade">
                                      <p:cBhvr>
                                        <p:cTn id="21" dur="1000"/>
                                        <p:tgtEl>
                                          <p:spTgt spid="11">
                                            <p:txEl>
                                              <p:pRg st="5" end="5"/>
                                            </p:txEl>
                                          </p:spTgt>
                                        </p:tgtEl>
                                      </p:cBhvr>
                                    </p:animEffect>
                                    <p:anim calcmode="lin" valueType="num">
                                      <p:cBhvr>
                                        <p:cTn id="22"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xEl>
                                              <p:pRg st="6" end="6"/>
                                            </p:txEl>
                                          </p:spTgt>
                                        </p:tgtEl>
                                        <p:attrNameLst>
                                          <p:attrName>style.visibility</p:attrName>
                                        </p:attrNameLst>
                                      </p:cBhvr>
                                      <p:to>
                                        <p:strVal val="visible"/>
                                      </p:to>
                                    </p:set>
                                    <p:animEffect transition="in" filter="fade">
                                      <p:cBhvr>
                                        <p:cTn id="28" dur="1000"/>
                                        <p:tgtEl>
                                          <p:spTgt spid="11">
                                            <p:txEl>
                                              <p:pRg st="6" end="6"/>
                                            </p:txEl>
                                          </p:spTgt>
                                        </p:tgtEl>
                                      </p:cBhvr>
                                    </p:animEffect>
                                    <p:anim calcmode="lin" valueType="num">
                                      <p:cBhvr>
                                        <p:cTn id="29"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1">
                                            <p:txEl>
                                              <p:pRg st="7" end="7"/>
                                            </p:txEl>
                                          </p:spTgt>
                                        </p:tgtEl>
                                        <p:attrNameLst>
                                          <p:attrName>style.visibility</p:attrName>
                                        </p:attrNameLst>
                                      </p:cBhvr>
                                      <p:to>
                                        <p:strVal val="visible"/>
                                      </p:to>
                                    </p:set>
                                    <p:animEffect transition="in" filter="fade">
                                      <p:cBhvr>
                                        <p:cTn id="35" dur="1000"/>
                                        <p:tgtEl>
                                          <p:spTgt spid="11">
                                            <p:txEl>
                                              <p:pRg st="7" end="7"/>
                                            </p:txEl>
                                          </p:spTgt>
                                        </p:tgtEl>
                                      </p:cBhvr>
                                    </p:animEffect>
                                    <p:anim calcmode="lin" valueType="num">
                                      <p:cBhvr>
                                        <p:cTn id="36"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1">
                                            <p:txEl>
                                              <p:pRg st="8" end="8"/>
                                            </p:txEl>
                                          </p:spTgt>
                                        </p:tgtEl>
                                        <p:attrNameLst>
                                          <p:attrName>style.visibility</p:attrName>
                                        </p:attrNameLst>
                                      </p:cBhvr>
                                      <p:to>
                                        <p:strVal val="visible"/>
                                      </p:to>
                                    </p:set>
                                    <p:animEffect transition="in" filter="fade">
                                      <p:cBhvr>
                                        <p:cTn id="42" dur="1000"/>
                                        <p:tgtEl>
                                          <p:spTgt spid="11">
                                            <p:txEl>
                                              <p:pRg st="8" end="8"/>
                                            </p:txEl>
                                          </p:spTgt>
                                        </p:tgtEl>
                                      </p:cBhvr>
                                    </p:animEffect>
                                    <p:anim calcmode="lin" valueType="num">
                                      <p:cBhvr>
                                        <p:cTn id="43" dur="1000" fill="hold"/>
                                        <p:tgtEl>
                                          <p:spTgt spid="11">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11">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1">
                                            <p:txEl>
                                              <p:pRg st="9" end="9"/>
                                            </p:txEl>
                                          </p:spTgt>
                                        </p:tgtEl>
                                        <p:attrNameLst>
                                          <p:attrName>style.visibility</p:attrName>
                                        </p:attrNameLst>
                                      </p:cBhvr>
                                      <p:to>
                                        <p:strVal val="visible"/>
                                      </p:to>
                                    </p:set>
                                    <p:animEffect transition="in" filter="fade">
                                      <p:cBhvr>
                                        <p:cTn id="49" dur="1000"/>
                                        <p:tgtEl>
                                          <p:spTgt spid="11">
                                            <p:txEl>
                                              <p:pRg st="9" end="9"/>
                                            </p:txEl>
                                          </p:spTgt>
                                        </p:tgtEl>
                                      </p:cBhvr>
                                    </p:animEffect>
                                    <p:anim calcmode="lin" valueType="num">
                                      <p:cBhvr>
                                        <p:cTn id="50" dur="1000" fill="hold"/>
                                        <p:tgtEl>
                                          <p:spTgt spid="11">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1">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Homomorphisms and Monomorphisms of Algebraic Systems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24" name="Text Box 3">
            <a:extLst>
              <a:ext uri="{FF2B5EF4-FFF2-40B4-BE49-F238E27FC236}">
                <a16:creationId xmlns:a16="http://schemas.microsoft.com/office/drawing/2014/main" id="{E8567710-70AA-47FC-99EC-AE8139A38990}"/>
              </a:ext>
            </a:extLst>
          </p:cNvPr>
          <p:cNvSpPr txBox="1">
            <a:spLocks noChangeArrowheads="1"/>
          </p:cNvSpPr>
          <p:nvPr/>
        </p:nvSpPr>
        <p:spPr bwMode="auto">
          <a:xfrm>
            <a:off x="728993" y="758765"/>
            <a:ext cx="10925035" cy="5475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nSpc>
                <a:spcPct val="105000"/>
              </a:lnSpc>
              <a:buClr>
                <a:srgbClr val="0B61FF"/>
              </a:buClr>
              <a:buSzPct val="80000"/>
              <a:buFont typeface="Wingdings" panose="05000000000000000000" pitchFamily="2" charset="2"/>
              <a:buChar char="n"/>
            </a:pPr>
            <a:r>
              <a:rPr lang="en-US" altLang="zh-CN" sz="2400" dirty="0">
                <a:latin typeface="Trebuchet MS" panose="020B0603020202020204" pitchFamily="34" charset="0"/>
              </a:rPr>
              <a:t>Let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be a </a:t>
            </a:r>
            <a:r>
              <a:rPr lang="en-US" altLang="zh-CN" sz="2400" b="1" i="1" dirty="0">
                <a:solidFill>
                  <a:srgbClr val="FF0000"/>
                </a:solidFill>
                <a:latin typeface="Trebuchet MS" panose="020B0603020202020204" pitchFamily="34" charset="0"/>
              </a:rPr>
              <a:t>homo</a:t>
            </a:r>
            <a:r>
              <a:rPr lang="en-US" altLang="zh-CN" sz="2400" b="1" i="1" dirty="0">
                <a:solidFill>
                  <a:srgbClr val="0B61FF"/>
                </a:solidFill>
                <a:latin typeface="Trebuchet MS" panose="020B0603020202020204" pitchFamily="34" charset="0"/>
              </a:rPr>
              <a:t>morphism</a:t>
            </a:r>
            <a:r>
              <a:rPr lang="en-US" altLang="zh-CN" sz="2400" dirty="0">
                <a:latin typeface="Trebuchet MS" panose="020B0603020202020204" pitchFamily="34" charset="0"/>
              </a:rPr>
              <a:t> from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&gt;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to</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&gt;, i</a:t>
            </a:r>
            <a:r>
              <a:rPr lang="en-US" altLang="zh-CN" sz="2400" dirty="0">
                <a:latin typeface="Trebuchet MS" panose="020B0603020202020204" pitchFamily="34" charset="0"/>
              </a:rPr>
              <a:t>f </a:t>
            </a:r>
            <a:r>
              <a:rPr lang="en-US" altLang="zh-CN" sz="2400" b="1" i="1" kern="100" dirty="0">
                <a:effectLst/>
                <a:latin typeface="Trebuchet MS" panose="020B0603020202020204" pitchFamily="34" charset="0"/>
                <a:ea typeface="华文楷体" panose="02010600040101010101" pitchFamily="2" charset="-122"/>
                <a:cs typeface="Times New Roman" panose="02020603050405020304" pitchFamily="18" charset="0"/>
              </a:rPr>
              <a:t>f</a:t>
            </a:r>
            <a:r>
              <a:rPr lang="en-US" altLang="zh-CN" sz="2400" dirty="0">
                <a:latin typeface="Trebuchet MS" panose="020B0603020202020204" pitchFamily="34" charset="0"/>
              </a:rPr>
              <a:t> is injective (one-to-one), then </a:t>
            </a:r>
            <a:r>
              <a:rPr lang="en-US" altLang="zh-CN" sz="2400" b="1" i="1" kern="100" dirty="0">
                <a:effectLst/>
                <a:latin typeface="Trebuchet MS" panose="020B0603020202020204" pitchFamily="34" charset="0"/>
                <a:ea typeface="华文楷体" panose="02010600040101010101" pitchFamily="2" charset="-122"/>
                <a:cs typeface="Times New Roman" panose="02020603050405020304" pitchFamily="18" charset="0"/>
              </a:rPr>
              <a:t>f</a:t>
            </a:r>
            <a:r>
              <a:rPr lang="en-US" altLang="zh-CN" sz="2400" dirty="0">
                <a:latin typeface="Trebuchet MS" panose="020B0603020202020204" pitchFamily="34" charset="0"/>
              </a:rPr>
              <a:t> is called a </a:t>
            </a:r>
            <a:r>
              <a:rPr lang="en-US" altLang="zh-CN" sz="2400" b="1" i="1" dirty="0">
                <a:solidFill>
                  <a:srgbClr val="FF0000"/>
                </a:solidFill>
                <a:latin typeface="Trebuchet MS" panose="020B0603020202020204" pitchFamily="34" charset="0"/>
              </a:rPr>
              <a:t>mono</a:t>
            </a:r>
            <a:r>
              <a:rPr lang="en-US" altLang="zh-CN" sz="2400" b="1" i="1" dirty="0">
                <a:solidFill>
                  <a:srgbClr val="0B61FF"/>
                </a:solidFill>
                <a:latin typeface="Trebuchet MS" panose="020B0603020202020204" pitchFamily="34" charset="0"/>
              </a:rPr>
              <a:t>morphism</a:t>
            </a:r>
            <a:r>
              <a:rPr lang="en-US" altLang="zh-CN" sz="2400" dirty="0">
                <a:latin typeface="Trebuchet MS" panose="020B0603020202020204" pitchFamily="34" charset="0"/>
              </a:rPr>
              <a:t>.</a:t>
            </a:r>
          </a:p>
          <a:p>
            <a:pPr marL="360363" indent="-184150">
              <a:lnSpc>
                <a:spcPct val="105000"/>
              </a:lnSpc>
              <a:buClr>
                <a:srgbClr val="0B61FF"/>
              </a:buClr>
              <a:buSzPct val="120000"/>
              <a:buFont typeface="Arial" panose="020B0604020202020204" pitchFamily="34" charset="0"/>
              <a:buChar char="•"/>
              <a:tabLst>
                <a:tab pos="176213" algn="l"/>
              </a:tabLst>
            </a:pPr>
            <a:r>
              <a:rPr lang="en-US" altLang="zh-CN" sz="2400" b="1" dirty="0">
                <a:latin typeface="Trebuchet MS" panose="020B0603020202020204" pitchFamily="34" charset="0"/>
              </a:rPr>
              <a:t>Note</a:t>
            </a:r>
            <a:r>
              <a:rPr lang="en-US" altLang="zh-CN" sz="2400" b="1" dirty="0">
                <a:latin typeface="Trebuchet MS" panose="020B0603020202020204" pitchFamily="34" charset="0"/>
                <a:ea typeface="华文楷体" panose="02010600040101010101" pitchFamily="2" charset="-122"/>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zh-CN" altLang="en-US"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being injective (or a one-to-one mapping) means that for any </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x</a:t>
            </a:r>
            <a:r>
              <a:rPr lang="en-US" altLang="zh-CN" sz="2400" b="1" baseline="-25000" dirty="0">
                <a:latin typeface="Trebuchet MS" panose="020B0603020202020204" pitchFamily="34" charset="0"/>
                <a:ea typeface="华文楷体" panose="02010600040101010101" pitchFamily="2" charset="-122"/>
                <a:cs typeface="Times New Roman" panose="02020603050405020304" pitchFamily="18" charset="0"/>
              </a:rPr>
              <a:t>1</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​,x</a:t>
            </a:r>
            <a:r>
              <a:rPr lang="en-US" altLang="zh-CN" sz="2400" b="1" baseline="-25000" dirty="0">
                <a:latin typeface="Trebuchet MS" panose="020B0603020202020204" pitchFamily="34" charset="0"/>
                <a:ea typeface="华文楷体" panose="02010600040101010101" pitchFamily="2" charset="-122"/>
                <a:cs typeface="Times New Roman" panose="02020603050405020304" pitchFamily="18" charset="0"/>
              </a:rPr>
              <a:t>2</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a:t>
            </a:r>
            <a:r>
              <a:rPr lang="en-US" altLang="zh-CN" sz="2400" b="1" kern="100" dirty="0">
                <a:latin typeface="Trebuchet MS" panose="020B0603020202020204" pitchFamily="34" charset="0"/>
                <a:ea typeface="华文楷体" panose="02010600040101010101" pitchFamily="2" charset="-122"/>
                <a:cs typeface="Times New Roman" panose="02020603050405020304" pitchFamily="18" charset="0"/>
              </a:rPr>
              <a:t>∈</a:t>
            </a:r>
            <a:r>
              <a:rPr lang="zh-CN"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S</a:t>
            </a:r>
            <a:r>
              <a:rPr lang="en-US" altLang="zh-CN" sz="2400" b="1" baseline="-25000" dirty="0">
                <a:latin typeface="Trebuchet MS" panose="020B0603020202020204" pitchFamily="34" charset="0"/>
                <a:ea typeface="华文楷体" panose="02010600040101010101" pitchFamily="2" charset="-122"/>
                <a:cs typeface="Times New Roman" panose="02020603050405020304" pitchFamily="18" charset="0"/>
              </a:rPr>
              <a:t>1</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a:t>
            </a:r>
            <a:r>
              <a:rPr lang="en-US" altLang="zh-CN" sz="2400" b="1" kern="100" dirty="0">
                <a:latin typeface="Trebuchet MS" panose="020B0603020202020204" pitchFamily="34" charset="0"/>
                <a:ea typeface="华文楷体" panose="02010600040101010101" pitchFamily="2" charset="-122"/>
                <a:cs typeface="Times New Roman" panose="02020603050405020304" pitchFamily="18" charset="0"/>
              </a:rPr>
              <a:t>,</a:t>
            </a:r>
            <a:r>
              <a:rPr lang="en-US" altLang="zh-CN" sz="2400" dirty="0">
                <a:latin typeface="Trebuchet MS" panose="020B0603020202020204" pitchFamily="34" charset="0"/>
              </a:rPr>
              <a:t>  if</a:t>
            </a:r>
            <a:r>
              <a:rPr lang="zh-CN" altLang="zh-CN" sz="2400" b="1" kern="100" dirty="0">
                <a:latin typeface="Trebuchet MS" panose="020B0603020202020204" pitchFamily="34" charset="0"/>
                <a:ea typeface="华文楷体" panose="02010600040101010101" pitchFamily="2" charset="-122"/>
                <a:cs typeface="Times New Roman" panose="02020603050405020304" pitchFamily="18" charset="0"/>
              </a:rPr>
              <a:t> </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f</a:t>
            </a:r>
            <a:r>
              <a:rPr lang="en-US" altLang="zh-CN" sz="2400" b="1" kern="100" dirty="0">
                <a:latin typeface="Trebuchet MS" panose="020B0603020202020204" pitchFamily="34" charset="0"/>
                <a:ea typeface="华文楷体" panose="02010600040101010101" pitchFamily="2" charset="-122"/>
                <a:cs typeface="Times New Roman" panose="02020603050405020304" pitchFamily="18" charset="0"/>
              </a:rPr>
              <a:t>(</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x</a:t>
            </a:r>
            <a:r>
              <a:rPr lang="en-US" altLang="zh-CN" sz="2400" b="1" baseline="-25000" dirty="0">
                <a:latin typeface="Trebuchet MS" panose="020B0603020202020204" pitchFamily="34" charset="0"/>
                <a:ea typeface="华文楷体" panose="02010600040101010101" pitchFamily="2" charset="-122"/>
                <a:cs typeface="Times New Roman" panose="02020603050405020304" pitchFamily="18" charset="0"/>
              </a:rPr>
              <a:t>1</a:t>
            </a:r>
            <a:r>
              <a:rPr lang="en-US" altLang="zh-CN" sz="2400" b="1" kern="100" dirty="0">
                <a:latin typeface="Trebuchet MS" panose="020B0603020202020204" pitchFamily="34" charset="0"/>
                <a:ea typeface="华文楷体" panose="02010600040101010101" pitchFamily="2" charset="-122"/>
                <a:cs typeface="Times New Roman" panose="02020603050405020304" pitchFamily="18" charset="0"/>
              </a:rPr>
              <a:t>​)</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=f</a:t>
            </a:r>
            <a:r>
              <a:rPr lang="en-US" altLang="zh-CN" sz="2400" b="1" kern="100" dirty="0">
                <a:latin typeface="Trebuchet MS" panose="020B0603020202020204" pitchFamily="34" charset="0"/>
                <a:ea typeface="华文楷体" panose="02010600040101010101" pitchFamily="2" charset="-122"/>
                <a:cs typeface="Times New Roman" panose="02020603050405020304" pitchFamily="18" charset="0"/>
              </a:rPr>
              <a:t> (</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x</a:t>
            </a:r>
            <a:r>
              <a:rPr lang="en-US" altLang="zh-CN" sz="2400" b="1" baseline="-25000" dirty="0">
                <a:latin typeface="Trebuchet MS" panose="020B0603020202020204" pitchFamily="34" charset="0"/>
                <a:ea typeface="华文楷体" panose="02010600040101010101" pitchFamily="2" charset="-122"/>
                <a:cs typeface="Times New Roman" panose="02020603050405020304" pitchFamily="18" charset="0"/>
              </a:rPr>
              <a:t>2</a:t>
            </a:r>
            <a:r>
              <a:rPr lang="en-US" altLang="zh-CN" sz="2400" b="1" kern="100" dirty="0">
                <a:latin typeface="Trebuchet MS" panose="020B0603020202020204" pitchFamily="34" charset="0"/>
                <a:ea typeface="华文楷体" panose="02010600040101010101" pitchFamily="2" charset="-122"/>
                <a:cs typeface="Times New Roman" panose="02020603050405020304" pitchFamily="18" charset="0"/>
              </a:rPr>
              <a:t>​)</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 </a:t>
            </a:r>
            <a:r>
              <a:rPr lang="en-US" altLang="zh-CN" sz="2400" dirty="0">
                <a:latin typeface="Trebuchet MS" panose="020B0603020202020204" pitchFamily="34" charset="0"/>
              </a:rPr>
              <a:t>then </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x</a:t>
            </a:r>
            <a:r>
              <a:rPr lang="en-US" altLang="zh-CN" sz="2400" b="1" baseline="-25000" dirty="0">
                <a:latin typeface="Trebuchet MS" panose="020B0603020202020204" pitchFamily="34" charset="0"/>
                <a:ea typeface="华文楷体" panose="02010600040101010101" pitchFamily="2" charset="-122"/>
                <a:cs typeface="Times New Roman" panose="02020603050405020304" pitchFamily="18" charset="0"/>
              </a:rPr>
              <a:t>1</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=x</a:t>
            </a:r>
            <a:r>
              <a:rPr lang="en-US" altLang="zh-CN" sz="2400" b="1" baseline="-25000" dirty="0">
                <a:latin typeface="Trebuchet MS" panose="020B0603020202020204" pitchFamily="34" charset="0"/>
                <a:ea typeface="华文楷体" panose="02010600040101010101" pitchFamily="2" charset="-122"/>
                <a:cs typeface="Times New Roman" panose="02020603050405020304" pitchFamily="18" charset="0"/>
              </a:rPr>
              <a:t>2 </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 </a:t>
            </a:r>
          </a:p>
          <a:p>
            <a:pPr marL="342900" indent="-342900">
              <a:lnSpc>
                <a:spcPct val="105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Let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1 </a:t>
            </a:r>
            <a:r>
              <a:rPr lang="en-US" altLang="zh-CN" sz="2400" b="1" kern="100"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&lt;R*,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&gt;,</a:t>
            </a:r>
            <a:r>
              <a:rPr lang="en-US" altLang="zh-CN" sz="2400" b="1" kern="100"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2 </a:t>
            </a:r>
            <a:r>
              <a:rPr lang="en-US" altLang="zh-CN" sz="2400" b="1" kern="1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&lt;R*,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&gt;,</a:t>
            </a:r>
            <a:r>
              <a:rPr lang="en-US" altLang="zh-CN" sz="2400" b="1" kern="1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and define the mapping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R*</a:t>
            </a:r>
            <a:r>
              <a:rPr lang="en-US" altLang="zh-CN" sz="2400" b="1" kern="100"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R*</a:t>
            </a:r>
            <a:r>
              <a:rPr lang="en-US" altLang="zh-CN" sz="2400" b="1" kern="100" dirty="0">
                <a:latin typeface="Trebuchet MS" panose="020B0603020202020204" pitchFamily="34" charset="0"/>
                <a:cs typeface="Times New Roman" panose="02020603050405020304" pitchFamily="18" charset="0"/>
              </a:rPr>
              <a:t> </a:t>
            </a:r>
            <a:r>
              <a:rPr lang="zh-CN" altLang="zh-CN" sz="2400" b="1" kern="100" dirty="0">
                <a:latin typeface="Trebuchet MS" panose="020B0603020202020204" pitchFamily="34" charset="0"/>
                <a:cs typeface="Times New Roman" panose="02020603050405020304" pitchFamily="18" charset="0"/>
              </a:rPr>
              <a:t>为</a:t>
            </a:r>
            <a:r>
              <a:rPr lang="en-US" altLang="zh-CN" sz="2400" b="1" kern="100" dirty="0">
                <a:latin typeface="Trebuchet MS" panose="020B0603020202020204" pitchFamily="34" charset="0"/>
                <a:cs typeface="Times New Roman" panose="02020603050405020304" pitchFamily="18" charset="0"/>
              </a:rPr>
              <a:t>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i="1" kern="100" baseline="30000" dirty="0">
                <a:latin typeface="Trebuchet MS" panose="020B0603020202020204" pitchFamily="34" charset="0"/>
                <a:cs typeface="Times New Roman" panose="02020603050405020304" pitchFamily="18" charset="0"/>
              </a:rPr>
              <a:t>2</a:t>
            </a:r>
            <a:r>
              <a:rPr lang="en-US" altLang="zh-CN" sz="2400" b="1" kern="100" dirty="0">
                <a:latin typeface="Trebuchet MS" panose="020B0603020202020204" pitchFamily="34" charset="0"/>
                <a:cs typeface="Times New Roman" panose="02020603050405020304" pitchFamily="18" charset="0"/>
              </a:rPr>
              <a:t>.  </a:t>
            </a:r>
            <a:r>
              <a:rPr lang="en-US" altLang="zh-CN" sz="2400" kern="100" dirty="0">
                <a:latin typeface="Trebuchet MS" panose="020B0603020202020204" pitchFamily="34" charset="0"/>
                <a:cs typeface="Times New Roman" panose="02020603050405020304" pitchFamily="18" charset="0"/>
              </a:rPr>
              <a:t>Is</a:t>
            </a:r>
            <a:r>
              <a:rPr lang="en-US" altLang="zh-CN" sz="2400" b="1" kern="100" dirty="0">
                <a:latin typeface="Trebuchet MS" panose="020B0603020202020204" pitchFamily="34" charset="0"/>
                <a:cs typeface="Times New Roman" panose="02020603050405020304" pitchFamily="18" charset="0"/>
              </a:rPr>
              <a:t> </a:t>
            </a:r>
            <a:r>
              <a:rPr lang="en-US" altLang="zh-CN" sz="2400" b="1" i="1" kern="100" dirty="0">
                <a:latin typeface="Trebuchet MS" panose="020B0603020202020204" pitchFamily="34" charset="0"/>
                <a:cs typeface="Times New Roman" panose="02020603050405020304" pitchFamily="18" charset="0"/>
              </a:rPr>
              <a:t>f </a:t>
            </a:r>
            <a:r>
              <a:rPr lang="en-US" altLang="zh-CN" sz="2400" dirty="0">
                <a:latin typeface="Trebuchet MS" panose="020B0603020202020204" pitchFamily="34" charset="0"/>
              </a:rPr>
              <a:t>a monomorphism </a:t>
            </a:r>
            <a:r>
              <a:rPr lang="zh-CN" altLang="en-US" sz="2400" b="1" kern="100" dirty="0">
                <a:latin typeface="Trebuchet MS" panose="020B0603020202020204" pitchFamily="34" charset="0"/>
                <a:cs typeface="Times New Roman" panose="02020603050405020304" pitchFamily="18" charset="0"/>
              </a:rPr>
              <a:t>？</a:t>
            </a:r>
            <a:endParaRPr lang="en-US" altLang="zh-CN" sz="2400" b="1" kern="100" dirty="0">
              <a:latin typeface="Trebuchet MS" panose="020B0603020202020204" pitchFamily="34" charset="0"/>
              <a:cs typeface="Times New Roman" panose="02020603050405020304" pitchFamily="18" charset="0"/>
            </a:endParaRPr>
          </a:p>
          <a:p>
            <a:pPr marL="342900" indent="-166688">
              <a:lnSpc>
                <a:spcPct val="105000"/>
              </a:lnSpc>
              <a:buClr>
                <a:srgbClr val="0B61FF"/>
              </a:buClr>
              <a:buSzPct val="120000"/>
              <a:buFont typeface="Arial" panose="020B0604020202020204" pitchFamily="34" charset="0"/>
              <a:buChar char="•"/>
              <a:tabLst>
                <a:tab pos="176213" algn="l"/>
              </a:tabLst>
            </a:pPr>
            <a:r>
              <a:rPr lang="en-US" altLang="zh-CN" sz="2400" dirty="0">
                <a:latin typeface="Trebuchet MS" panose="020B0603020202020204" pitchFamily="34" charset="0"/>
              </a:rPr>
              <a:t>We need to verify the homomorphism property and injectivity.</a:t>
            </a:r>
          </a:p>
          <a:p>
            <a:pPr marL="342900" indent="-166688">
              <a:lnSpc>
                <a:spcPct val="105000"/>
              </a:lnSpc>
              <a:buClr>
                <a:srgbClr val="0B61FF"/>
              </a:buClr>
              <a:buSzPct val="120000"/>
              <a:buFont typeface="Arial" panose="020B0604020202020204" pitchFamily="34" charset="0"/>
              <a:buChar char="•"/>
              <a:tabLst>
                <a:tab pos="176213" algn="l"/>
              </a:tabLst>
            </a:pPr>
            <a:r>
              <a:rPr lang="en-US" altLang="zh-CN" sz="2400" b="1" dirty="0">
                <a:latin typeface="Trebuchet MS" panose="020B0603020202020204" pitchFamily="34" charset="0"/>
              </a:rPr>
              <a:t>Homomorphism</a:t>
            </a:r>
            <a:r>
              <a:rPr lang="en-US" altLang="zh-CN" sz="2400" b="1" kern="1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We need to check whether for all </a:t>
            </a:r>
            <a:r>
              <a:rPr lang="en-US" altLang="zh-CN" sz="2400" b="1" i="1" kern="100" dirty="0" err="1">
                <a:latin typeface="Trebuchet MS" panose="020B0603020202020204" pitchFamily="34" charset="0"/>
                <a:cs typeface="Times New Roman" panose="02020603050405020304" pitchFamily="18" charset="0"/>
              </a:rPr>
              <a:t>x</a:t>
            </a:r>
            <a:r>
              <a:rPr lang="en-US" altLang="zh-CN" sz="2400" b="1" kern="100" dirty="0" err="1">
                <a:latin typeface="Trebuchet MS" panose="020B0603020202020204" pitchFamily="34" charset="0"/>
                <a:cs typeface="Times New Roman" panose="02020603050405020304" pitchFamily="18" charset="0"/>
              </a:rPr>
              <a:t>,</a:t>
            </a:r>
            <a:r>
              <a:rPr lang="en-US" altLang="zh-CN" sz="2400" b="1" i="1" kern="100" dirty="0" err="1">
                <a:latin typeface="Trebuchet MS" panose="020B0603020202020204" pitchFamily="34" charset="0"/>
                <a:cs typeface="Times New Roman" panose="02020603050405020304" pitchFamily="18" charset="0"/>
              </a:rPr>
              <a:t>y</a:t>
            </a:r>
            <a:r>
              <a:rPr lang="zh-CN" altLang="zh-CN" sz="2400" b="1" kern="100"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R*,</a:t>
            </a:r>
            <a:r>
              <a:rPr lang="en-US" altLang="zh-CN" sz="2400" dirty="0">
                <a:latin typeface="Trebuchet MS" panose="020B0603020202020204" pitchFamily="34" charset="0"/>
              </a:rPr>
              <a:t> the equation </a:t>
            </a:r>
            <a:r>
              <a:rPr lang="zh-CN" altLang="zh-CN" sz="2400" b="1" i="1" kern="100" dirty="0">
                <a:latin typeface="Trebuchet MS" panose="020B0603020202020204" pitchFamily="34" charset="0"/>
                <a:ea typeface="KaTeX_Math"/>
                <a:cs typeface="Times New Roman" panose="02020603050405020304" pitchFamily="18" charset="0"/>
              </a:rPr>
              <a:t> </a:t>
            </a:r>
            <a:r>
              <a:rPr lang="en-US" altLang="zh-CN" sz="2400" b="1" i="1" kern="100" dirty="0">
                <a:latin typeface="Trebuchet MS" panose="020B0603020202020204" pitchFamily="34" charset="0"/>
                <a:ea typeface="KaTeX_Math"/>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zh-CN" altLang="zh-CN" sz="2400" b="1" i="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ea typeface="MS Gothic" panose="020B0609070205080204" pitchFamily="49" charset="-128"/>
                <a:cs typeface="Times New Roman" panose="02020603050405020304" pitchFamily="18" charset="0"/>
              </a:rPr>
              <a:t> </a:t>
            </a:r>
            <a:r>
              <a:rPr lang="zh-CN"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a:t>
            </a:r>
            <a:r>
              <a:rPr lang="zh-CN"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zh-CN" altLang="zh-CN" sz="2400" b="1" i="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ea typeface="MS Gothic" panose="020B0609070205080204" pitchFamily="49" charset="-128"/>
                <a:cs typeface="Times New Roman" panose="02020603050405020304" pitchFamily="18" charset="0"/>
              </a:rPr>
              <a:t> </a:t>
            </a:r>
            <a:r>
              <a:rPr lang="zh-CN"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a:t>
            </a:r>
            <a:r>
              <a:rPr lang="zh-CN" altLang="zh-CN" sz="2400" b="1" i="1" kern="1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holds. </a:t>
            </a:r>
            <a:r>
              <a:rPr lang="en-US" altLang="zh-CN" sz="2400" b="1" dirty="0">
                <a:solidFill>
                  <a:srgbClr val="0B61FF"/>
                </a:solidFill>
                <a:latin typeface="宋体" panose="02010600030101010101" pitchFamily="2" charset="-122"/>
                <a:ea typeface="宋体" panose="02010600030101010101" pitchFamily="2" charset="-122"/>
              </a:rPr>
              <a:t> </a:t>
            </a:r>
            <a:r>
              <a:rPr lang="en-US" altLang="zh-CN" sz="2400" dirty="0">
                <a:latin typeface="Trebuchet MS" panose="020B0603020202020204" pitchFamily="34" charset="0"/>
              </a:rPr>
              <a:t>Since </a:t>
            </a:r>
            <a:r>
              <a:rPr lang="en-US" altLang="zh-CN" sz="2400" b="1" i="1" kern="100" dirty="0">
                <a:latin typeface="Trebuchet MS" panose="020B0603020202020204" pitchFamily="34" charset="0"/>
                <a:ea typeface="KaTeX_Math"/>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zh-CN" altLang="zh-CN" sz="2400" b="1" i="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ea typeface="MS Gothic" panose="020B0609070205080204" pitchFamily="49" charset="-128"/>
                <a:cs typeface="Times New Roman" panose="02020603050405020304" pitchFamily="18" charset="0"/>
              </a:rPr>
              <a:t> </a:t>
            </a:r>
            <a:r>
              <a:rPr lang="zh-CN"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 </a:t>
            </a:r>
            <a:r>
              <a:rPr lang="zh-CN"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zh-CN" altLang="zh-CN" sz="2400" b="1" i="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ea typeface="MS Gothic" panose="020B0609070205080204" pitchFamily="49" charset="-128"/>
                <a:cs typeface="Times New Roman" panose="02020603050405020304" pitchFamily="18" charset="0"/>
              </a:rPr>
              <a:t> </a:t>
            </a:r>
            <a:r>
              <a:rPr lang="zh-CN"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a:t>
            </a:r>
            <a:r>
              <a:rPr lang="en-US" altLang="zh-CN" sz="2400" b="1" kern="100" baseline="30000" dirty="0">
                <a:latin typeface="Trebuchet MS" panose="020B0603020202020204" pitchFamily="34" charset="0"/>
                <a:cs typeface="Times New Roman" panose="02020603050405020304" pitchFamily="18" charset="0"/>
              </a:rPr>
              <a:t>2</a:t>
            </a:r>
            <a:r>
              <a:rPr lang="zh-CN" altLang="zh-CN" sz="2400" b="1" kern="100" baseline="30000" dirty="0">
                <a:latin typeface="Trebuchet MS" panose="020B0603020202020204" pitchFamily="34" charset="0"/>
                <a:cs typeface="Times New Roman" panose="02020603050405020304" pitchFamily="18" charset="0"/>
              </a:rPr>
              <a:t> </a:t>
            </a:r>
            <a:r>
              <a:rPr lang="zh-CN" altLang="zh-CN" sz="2400" b="1" kern="100" dirty="0">
                <a:latin typeface="Trebuchet MS" panose="020B0603020202020204" pitchFamily="34" charset="0"/>
                <a:cs typeface="Times New Roman" panose="02020603050405020304" pitchFamily="18" charset="0"/>
              </a:rPr>
              <a:t>= </a:t>
            </a:r>
            <a:r>
              <a:rPr lang="zh-CN"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zh-CN" altLang="zh-CN" sz="2400" b="1" i="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latin typeface="Trebuchet MS" panose="020B0603020202020204" pitchFamily="34" charset="0"/>
                <a:ea typeface="MS Gothic" panose="020B0609070205080204" pitchFamily="49" charset="-128"/>
                <a:cs typeface="Times New Roman" panose="02020603050405020304" pitchFamily="18" charset="0"/>
              </a:rPr>
              <a:t> </a:t>
            </a:r>
            <a:r>
              <a:rPr lang="zh-CN"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y</a:t>
            </a:r>
            <a:r>
              <a:rPr lang="en-US" altLang="zh-CN" sz="2400" b="1" kern="100" dirty="0">
                <a:latin typeface="Trebuchet MS" panose="020B0603020202020204" pitchFamily="34" charset="0"/>
                <a:cs typeface="Times New Roman" panose="02020603050405020304" pitchFamily="18" charset="0"/>
              </a:rPr>
              <a:t>)</a:t>
            </a:r>
            <a:r>
              <a:rPr lang="zh-CN" altLang="zh-CN" sz="2400" b="1" i="1" kern="100" dirty="0">
                <a:latin typeface="Trebuchet MS" panose="020B0603020202020204" pitchFamily="34" charset="0"/>
                <a:cs typeface="Times New Roman" panose="02020603050405020304" pitchFamily="18" charset="0"/>
              </a:rPr>
              <a:t> </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 x</a:t>
            </a:r>
            <a:r>
              <a:rPr lang="en-US" altLang="zh-CN" sz="2400" b="1" i="1" kern="100" baseline="30000" dirty="0">
                <a:latin typeface="Trebuchet MS" panose="020B0603020202020204" pitchFamily="34" charset="0"/>
                <a:cs typeface="Times New Roman" panose="02020603050405020304" pitchFamily="18" charset="0"/>
              </a:rPr>
              <a:t>2 </a:t>
            </a:r>
            <a:r>
              <a:rPr lang="zh-CN" altLang="zh-CN" sz="2400" b="1" kern="100" dirty="0">
                <a:latin typeface="Trebuchet MS" panose="020B0603020202020204" pitchFamily="34" charset="0"/>
                <a:cs typeface="Times New Roman" panose="02020603050405020304" pitchFamily="18" charset="0"/>
              </a:rPr>
              <a:t>⋅</a:t>
            </a:r>
            <a:r>
              <a:rPr lang="zh-CN" altLang="zh-CN" sz="2400" b="1" i="1" kern="100" dirty="0">
                <a:latin typeface="Trebuchet MS" panose="020B0603020202020204" pitchFamily="34" charset="0"/>
                <a:cs typeface="Times New Roman" panose="02020603050405020304" pitchFamily="18" charset="0"/>
              </a:rPr>
              <a:t>y</a:t>
            </a:r>
            <a:r>
              <a:rPr lang="en-US" altLang="zh-CN" sz="2400" b="1" i="1" kern="100" baseline="30000" dirty="0">
                <a:latin typeface="Trebuchet MS" panose="020B0603020202020204" pitchFamily="34" charset="0"/>
                <a:cs typeface="Times New Roman" panose="02020603050405020304" pitchFamily="18" charset="0"/>
              </a:rPr>
              <a:t>2</a:t>
            </a:r>
            <a:r>
              <a:rPr lang="zh-CN" altLang="zh-CN" sz="2400" b="1" kern="100" baseline="300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 </a:t>
            </a:r>
            <a:r>
              <a:rPr lang="en-US" altLang="zh-CN" sz="2400" b="1" dirty="0">
                <a:latin typeface="Trebuchet MS" panose="020B0603020202020204" pitchFamily="34" charset="0"/>
              </a:rPr>
              <a:t>t</a:t>
            </a:r>
            <a:r>
              <a:rPr lang="en-US" altLang="zh-CN" sz="2400" b="1" kern="100" dirty="0">
                <a:latin typeface="Trebuchet MS" panose="020B0603020202020204" pitchFamily="34" charset="0"/>
                <a:cs typeface="Times New Roman" panose="02020603050405020304" pitchFamily="18" charset="0"/>
              </a:rPr>
              <a:t>hus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i="1" kern="100" baseline="30000" dirty="0">
                <a:latin typeface="Trebuchet MS" panose="020B0603020202020204" pitchFamily="34" charset="0"/>
                <a:cs typeface="Times New Roman" panose="02020603050405020304" pitchFamily="18" charset="0"/>
              </a:rPr>
              <a:t>2</a:t>
            </a:r>
            <a:r>
              <a:rPr lang="en-US" altLang="zh-CN" sz="2400" dirty="0">
                <a:latin typeface="Trebuchet MS" panose="020B0603020202020204" pitchFamily="34" charset="0"/>
              </a:rPr>
              <a:t> satisfies the </a:t>
            </a:r>
            <a:r>
              <a:rPr lang="en-US" altLang="zh-CN" sz="2400" b="1" i="1" dirty="0">
                <a:solidFill>
                  <a:srgbClr val="0B61FF"/>
                </a:solidFill>
                <a:latin typeface="Trebuchet MS" panose="020B0603020202020204" pitchFamily="34" charset="0"/>
              </a:rPr>
              <a:t>homomorphism</a:t>
            </a:r>
            <a:r>
              <a:rPr lang="en-US" altLang="zh-CN" sz="2400" dirty="0">
                <a:latin typeface="Trebuchet MS" panose="020B0603020202020204" pitchFamily="34" charset="0"/>
              </a:rPr>
              <a:t> property </a:t>
            </a:r>
            <a:r>
              <a:rPr lang="en-US" altLang="zh-CN" sz="2400" b="1" kern="100" dirty="0">
                <a:latin typeface="Trebuchet MS" panose="020B0603020202020204" pitchFamily="34" charset="0"/>
                <a:cs typeface="Times New Roman" panose="02020603050405020304" pitchFamily="18" charset="0"/>
              </a:rPr>
              <a:t>.</a:t>
            </a:r>
          </a:p>
          <a:p>
            <a:pPr marL="342900" indent="-166688">
              <a:lnSpc>
                <a:spcPct val="105000"/>
              </a:lnSpc>
              <a:buClr>
                <a:srgbClr val="0B61FF"/>
              </a:buClr>
              <a:buSzPct val="120000"/>
              <a:buFont typeface="Arial" panose="020B0604020202020204" pitchFamily="34" charset="0"/>
              <a:buChar char="•"/>
              <a:tabLst>
                <a:tab pos="176213" algn="l"/>
              </a:tabLst>
            </a:pPr>
            <a:r>
              <a:rPr lang="en-US" altLang="zh-CN" sz="2400" b="1" dirty="0">
                <a:latin typeface="Trebuchet MS" panose="020B0603020202020204" pitchFamily="34" charset="0"/>
              </a:rPr>
              <a:t>Injectivity: </a:t>
            </a:r>
            <a:r>
              <a:rPr lang="en-US" altLang="zh-CN" sz="2400" dirty="0">
                <a:latin typeface="Trebuchet MS" panose="020B0603020202020204" pitchFamily="34" charset="0"/>
              </a:rPr>
              <a:t>We need to check whether for all </a:t>
            </a:r>
            <a:r>
              <a:rPr lang="en-US" altLang="zh-CN" sz="2400" b="1" i="1" dirty="0">
                <a:latin typeface="Trebuchet MS" panose="020B0603020202020204" pitchFamily="34" charset="0"/>
                <a:cs typeface="Times New Roman" panose="02020603050405020304" pitchFamily="18" charset="0"/>
              </a:rPr>
              <a:t>x</a:t>
            </a:r>
            <a:r>
              <a:rPr lang="en-US" altLang="zh-CN" sz="2400" b="1" i="1" baseline="-25000"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rPr>
              <a:t>, x</a:t>
            </a:r>
            <a:r>
              <a:rPr lang="en-US" altLang="zh-CN" sz="2400" b="1" i="1" baseline="-25000"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R</a:t>
            </a:r>
            <a:r>
              <a:rPr lang="en-US" altLang="zh-CN" sz="2400" b="1" i="1" baseline="30000"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a:t>
            </a:r>
            <a:r>
              <a:rPr lang="en-US" altLang="zh-CN" sz="2400" dirty="0" err="1">
                <a:latin typeface="Trebuchet MS" panose="020B0603020202020204" pitchFamily="34" charset="0"/>
              </a:rPr>
              <a:t>if</a:t>
            </a:r>
            <a:r>
              <a:rPr lang="en-US" altLang="zh-CN" sz="2400"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 </a:t>
            </a:r>
            <a:r>
              <a:rPr lang="zh-CN"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i="1" baseline="-25000" dirty="0">
                <a:latin typeface="Trebuchet MS" panose="020B0603020202020204" pitchFamily="34" charset="0"/>
                <a:cs typeface="Times New Roman" panose="02020603050405020304" pitchFamily="18" charset="0"/>
              </a:rPr>
              <a:t>1</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ea typeface="MS Gothic" panose="020B0609070205080204" pitchFamily="49" charset="-128"/>
                <a:cs typeface="Times New Roman" panose="02020603050405020304" pitchFamily="18" charset="0"/>
              </a:rPr>
              <a:t>=</a:t>
            </a:r>
            <a:r>
              <a:rPr lang="zh-CN"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i="1" baseline="-25000"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a:t>
            </a:r>
            <a:r>
              <a:rPr lang="en-US" altLang="zh-CN" sz="2400" b="1" kern="100" dirty="0">
                <a:latin typeface="Trebuchet MS" panose="020B0603020202020204" pitchFamily="34" charset="0"/>
                <a:cs typeface="Times New Roman" panose="02020603050405020304" pitchFamily="18" charset="0"/>
              </a:rPr>
              <a:t>)</a:t>
            </a:r>
            <a:r>
              <a:rPr lang="zh-CN" altLang="zh-CN" sz="2400" b="1" i="1" kern="100"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then</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 x</a:t>
            </a:r>
            <a:r>
              <a:rPr lang="en-US" altLang="zh-CN" sz="2400" b="1" i="1" baseline="-25000"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rPr>
              <a:t>=x</a:t>
            </a:r>
            <a:r>
              <a:rPr lang="en-US" altLang="zh-CN" sz="2400" b="1" i="1" baseline="-25000" dirty="0">
                <a:latin typeface="Trebuchet MS" panose="020B0603020202020204" pitchFamily="34" charset="0"/>
                <a:cs typeface="Times New Roman" panose="02020603050405020304" pitchFamily="18" charset="0"/>
              </a:rPr>
              <a:t>2 </a:t>
            </a:r>
            <a:r>
              <a:rPr lang="en-US" altLang="zh-CN" sz="2400" b="1" i="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a:t>
            </a:r>
            <a:r>
              <a:rPr lang="en-US" altLang="zh-CN" sz="2400" i="1" baseline="-250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For example, if </a:t>
            </a:r>
            <a:r>
              <a:rPr lang="en-US" altLang="zh-CN" sz="2400" b="1" i="1" dirty="0">
                <a:latin typeface="Trebuchet MS" panose="020B0603020202020204" pitchFamily="34" charset="0"/>
                <a:cs typeface="Times New Roman" panose="02020603050405020304" pitchFamily="18" charset="0"/>
              </a:rPr>
              <a:t>x</a:t>
            </a:r>
            <a:r>
              <a:rPr lang="en-US" altLang="zh-CN" sz="2400" b="1" i="1" baseline="-25000" dirty="0">
                <a:latin typeface="Trebuchet MS" panose="020B0603020202020204" pitchFamily="34" charset="0"/>
                <a:cs typeface="Times New Roman" panose="02020603050405020304" pitchFamily="18" charset="0"/>
              </a:rPr>
              <a:t>1 </a:t>
            </a:r>
            <a:r>
              <a:rPr lang="en-US" altLang="zh-CN" sz="2400" b="1" kern="100" baseline="-25000" dirty="0">
                <a:latin typeface="Trebuchet MS" panose="020B0603020202020204" pitchFamily="34" charset="0"/>
                <a:cs typeface="Times New Roman" panose="02020603050405020304" pitchFamily="18" charset="0"/>
              </a:rPr>
              <a:t>​</a:t>
            </a:r>
            <a:r>
              <a:rPr lang="en-US" altLang="zh-CN" sz="2400" b="1" kern="100" dirty="0">
                <a:latin typeface="Trebuchet MS" panose="020B0603020202020204" pitchFamily="34" charset="0"/>
                <a:cs typeface="Times New Roman" panose="02020603050405020304" pitchFamily="18" charset="0"/>
              </a:rPr>
              <a:t>=−1 </a:t>
            </a:r>
            <a:r>
              <a:rPr lang="zh-CN" altLang="en-US" sz="2400" b="1" kern="100"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i="1" baseline="-25000"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a:t>
            </a:r>
            <a:r>
              <a:rPr lang="en-US" altLang="zh-CN" sz="2400" b="1" kern="100" dirty="0">
                <a:latin typeface="Trebuchet MS" panose="020B0603020202020204" pitchFamily="34" charset="0"/>
                <a:cs typeface="Times New Roman" panose="02020603050405020304" pitchFamily="18" charset="0"/>
              </a:rPr>
              <a:t>=1，</a:t>
            </a:r>
            <a:r>
              <a:rPr lang="en-US" altLang="zh-CN" sz="2400" dirty="0">
                <a:latin typeface="Trebuchet MS" panose="020B0603020202020204" pitchFamily="34" charset="0"/>
              </a:rPr>
              <a:t> we have</a:t>
            </a:r>
            <a:r>
              <a:rPr lang="en-US" altLang="zh-CN" sz="2400" b="1" i="1" dirty="0">
                <a:latin typeface="Trebuchet MS" panose="020B0603020202020204" pitchFamily="34" charset="0"/>
                <a:cs typeface="Times New Roman" panose="02020603050405020304" pitchFamily="18" charset="0"/>
              </a:rPr>
              <a:t> x</a:t>
            </a:r>
            <a:r>
              <a:rPr lang="en-US" altLang="zh-CN" sz="2400" b="1" i="1" baseline="-25000" dirty="0">
                <a:latin typeface="Trebuchet MS" panose="020B0603020202020204" pitchFamily="34" charset="0"/>
                <a:cs typeface="Times New Roman" panose="02020603050405020304" pitchFamily="18" charset="0"/>
              </a:rPr>
              <a:t>1</a:t>
            </a:r>
            <a:r>
              <a:rPr lang="en-US" altLang="zh-CN" sz="2400" b="1" kern="100" baseline="30000" dirty="0">
                <a:latin typeface="Trebuchet MS" panose="020B0603020202020204" pitchFamily="34" charset="0"/>
                <a:cs typeface="Times New Roman" panose="02020603050405020304" pitchFamily="18" charset="0"/>
              </a:rPr>
              <a:t>2</a:t>
            </a:r>
            <a:r>
              <a:rPr lang="en-US" altLang="zh-CN" sz="2400" b="1" kern="100"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x</a:t>
            </a:r>
            <a:r>
              <a:rPr lang="en-US" altLang="zh-CN" sz="2400" b="1" i="1" baseline="-25000" dirty="0">
                <a:latin typeface="Trebuchet MS" panose="020B0603020202020204" pitchFamily="34" charset="0"/>
                <a:cs typeface="Times New Roman" panose="02020603050405020304" pitchFamily="18" charset="0"/>
              </a:rPr>
              <a:t>2</a:t>
            </a:r>
            <a:r>
              <a:rPr lang="en-US" altLang="zh-CN" sz="2400" b="1" kern="100" baseline="30000" dirty="0">
                <a:latin typeface="Trebuchet MS" panose="020B0603020202020204" pitchFamily="34" charset="0"/>
                <a:cs typeface="Times New Roman" panose="02020603050405020304" pitchFamily="18" charset="0"/>
              </a:rPr>
              <a:t>2 </a:t>
            </a:r>
            <a:r>
              <a:rPr lang="en-US" altLang="zh-CN" sz="2400" b="1" kern="100" dirty="0">
                <a:latin typeface="Trebuchet MS" panose="020B0603020202020204" pitchFamily="34" charset="0"/>
                <a:cs typeface="Times New Roman" panose="02020603050405020304" pitchFamily="18" charset="0"/>
              </a:rPr>
              <a:t>=1，but</a:t>
            </a:r>
            <a:r>
              <a:rPr lang="en-US" altLang="zh-CN" sz="2400" b="1" i="1" dirty="0">
                <a:latin typeface="Trebuchet MS" panose="020B0603020202020204" pitchFamily="34" charset="0"/>
                <a:cs typeface="Times New Roman" panose="02020603050405020304" pitchFamily="18" charset="0"/>
              </a:rPr>
              <a:t> x</a:t>
            </a:r>
            <a:r>
              <a:rPr lang="en-US" altLang="zh-CN" sz="2400" b="1" i="1" baseline="-25000" dirty="0">
                <a:latin typeface="Trebuchet MS" panose="020B0603020202020204" pitchFamily="34" charset="0"/>
                <a:cs typeface="Times New Roman" panose="02020603050405020304" pitchFamily="18" charset="0"/>
              </a:rPr>
              <a:t>1 </a:t>
            </a:r>
            <a:r>
              <a:rPr lang="en-US" altLang="zh-CN" sz="2400" b="1" kern="100"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x</a:t>
            </a:r>
            <a:r>
              <a:rPr lang="en-US" altLang="zh-CN" sz="2400" b="1" i="1" baseline="-25000" dirty="0">
                <a:latin typeface="Trebuchet MS" panose="020B0603020202020204" pitchFamily="34" charset="0"/>
                <a:cs typeface="Times New Roman" panose="02020603050405020304" pitchFamily="18" charset="0"/>
              </a:rPr>
              <a:t>2</a:t>
            </a:r>
            <a:r>
              <a:rPr lang="en-US" altLang="zh-CN" sz="2400" b="1" kern="100"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Therefore, the mapping </a:t>
            </a:r>
            <a:r>
              <a:rPr lang="en-US" altLang="zh-CN" sz="2400" b="1" kern="100" dirty="0">
                <a:latin typeface="Trebuchet MS" panose="020B0603020202020204" pitchFamily="34" charset="0"/>
                <a:cs typeface="Times New Roman" panose="02020603050405020304" pitchFamily="18" charset="0"/>
              </a:rPr>
              <a:t>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i="1" kern="100" baseline="30000" dirty="0">
                <a:latin typeface="Trebuchet MS" panose="020B0603020202020204" pitchFamily="34" charset="0"/>
                <a:cs typeface="Times New Roman" panose="02020603050405020304" pitchFamily="18" charset="0"/>
              </a:rPr>
              <a:t>2 </a:t>
            </a:r>
            <a:r>
              <a:rPr lang="en-US" altLang="zh-CN" sz="2400" dirty="0">
                <a:latin typeface="Trebuchet MS" panose="020B0603020202020204" pitchFamily="34" charset="0"/>
              </a:rPr>
              <a:t>is </a:t>
            </a:r>
            <a:r>
              <a:rPr lang="en-US" altLang="zh-CN" sz="2400" b="1" i="1" dirty="0">
                <a:solidFill>
                  <a:srgbClr val="0B61FF"/>
                </a:solidFill>
                <a:latin typeface="Trebuchet MS" panose="020B0603020202020204" pitchFamily="34" charset="0"/>
              </a:rPr>
              <a:t>not injective </a:t>
            </a:r>
            <a:r>
              <a:rPr lang="en-US" altLang="zh-CN" sz="2400" b="1" kern="100" dirty="0">
                <a:latin typeface="Trebuchet MS" panose="020B0603020202020204" pitchFamily="34" charset="0"/>
                <a:cs typeface="Times New Roman" panose="02020603050405020304" pitchFamily="18" charset="0"/>
              </a:rPr>
              <a:t>.</a:t>
            </a:r>
          </a:p>
          <a:p>
            <a:pPr marL="342900" indent="-166688">
              <a:lnSpc>
                <a:spcPct val="105000"/>
              </a:lnSpc>
              <a:buClr>
                <a:srgbClr val="0B61FF"/>
              </a:buClr>
              <a:buSzPct val="120000"/>
              <a:buFont typeface="Arial" panose="020B0604020202020204" pitchFamily="34" charset="0"/>
              <a:buChar char="•"/>
              <a:tabLst>
                <a:tab pos="176213" algn="l"/>
              </a:tabLst>
            </a:pPr>
            <a:r>
              <a:rPr lang="en-US" altLang="zh-CN" sz="2400" b="1" dirty="0">
                <a:latin typeface="Trebuchet MS" panose="020B0603020202020204" pitchFamily="34" charset="0"/>
              </a:rPr>
              <a:t>Conclusion</a:t>
            </a:r>
            <a:r>
              <a:rPr lang="en-US" altLang="zh-CN" sz="2400" b="1" kern="100" dirty="0">
                <a:latin typeface="Trebuchet MS" panose="020B0603020202020204" pitchFamily="34" charset="0"/>
                <a:cs typeface="Times New Roman" panose="02020603050405020304" pitchFamily="18" charset="0"/>
              </a:rPr>
              <a:t>: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i="1" kern="100" baseline="30000" dirty="0">
                <a:latin typeface="Trebuchet MS" panose="020B0603020202020204" pitchFamily="34" charset="0"/>
                <a:cs typeface="Times New Roman" panose="02020603050405020304" pitchFamily="18" charset="0"/>
              </a:rPr>
              <a:t>2  </a:t>
            </a:r>
            <a:r>
              <a:rPr lang="en-US" altLang="zh-CN" sz="2400" dirty="0">
                <a:latin typeface="Trebuchet MS" panose="020B0603020202020204" pitchFamily="34" charset="0"/>
              </a:rPr>
              <a:t>is a homomorphism, but it is </a:t>
            </a:r>
            <a:r>
              <a:rPr lang="en-US" altLang="zh-CN" sz="2400" b="1" dirty="0">
                <a:latin typeface="Trebuchet MS" panose="020B0603020202020204" pitchFamily="34" charset="0"/>
              </a:rPr>
              <a:t>not</a:t>
            </a:r>
            <a:r>
              <a:rPr lang="en-US" altLang="zh-CN" sz="2400" dirty="0">
                <a:latin typeface="Trebuchet MS" panose="020B0603020202020204" pitchFamily="34" charset="0"/>
              </a:rPr>
              <a:t> a monomorphism.</a:t>
            </a:r>
            <a:endParaRPr lang="en-US" altLang="zh-CN" sz="2400" b="1" kern="100" dirty="0">
              <a:latin typeface="Trebuchet MS" panose="020B0603020202020204" pitchFamily="34" charset="0"/>
              <a:cs typeface="Times New Roman" panose="02020603050405020304" pitchFamily="18" charset="0"/>
            </a:endParaRPr>
          </a:p>
          <a:p>
            <a:pPr>
              <a:lnSpc>
                <a:spcPct val="110000"/>
              </a:lnSpc>
            </a:pPr>
            <a:endParaRPr lang="en-US" altLang="zh-CN" sz="2400" b="1" dirty="0">
              <a:solidFill>
                <a:schemeClr val="tx1"/>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3911795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animEffect transition="in" filter="fade">
                                      <p:cBhvr>
                                        <p:cTn id="7" dur="1000"/>
                                        <p:tgtEl>
                                          <p:spTgt spid="24">
                                            <p:txEl>
                                              <p:pRg st="1" end="1"/>
                                            </p:txEl>
                                          </p:spTgt>
                                        </p:tgtEl>
                                      </p:cBhvr>
                                    </p:animEffect>
                                    <p:anim calcmode="lin" valueType="num">
                                      <p:cBhvr>
                                        <p:cTn id="8" dur="100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xEl>
                                              <p:pRg st="2" end="2"/>
                                            </p:txEl>
                                          </p:spTgt>
                                        </p:tgtEl>
                                        <p:attrNameLst>
                                          <p:attrName>style.visibility</p:attrName>
                                        </p:attrNameLst>
                                      </p:cBhvr>
                                      <p:to>
                                        <p:strVal val="visible"/>
                                      </p:to>
                                    </p:set>
                                    <p:animEffect transition="in" filter="fade">
                                      <p:cBhvr>
                                        <p:cTn id="14" dur="1000"/>
                                        <p:tgtEl>
                                          <p:spTgt spid="24">
                                            <p:txEl>
                                              <p:pRg st="2" end="2"/>
                                            </p:txEl>
                                          </p:spTgt>
                                        </p:tgtEl>
                                      </p:cBhvr>
                                    </p:animEffect>
                                    <p:anim calcmode="lin" valueType="num">
                                      <p:cBhvr>
                                        <p:cTn id="15" dur="1000" fill="hold"/>
                                        <p:tgtEl>
                                          <p:spTgt spid="2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4">
                                            <p:txEl>
                                              <p:pRg st="3" end="3"/>
                                            </p:txEl>
                                          </p:spTgt>
                                        </p:tgtEl>
                                        <p:attrNameLst>
                                          <p:attrName>style.visibility</p:attrName>
                                        </p:attrNameLst>
                                      </p:cBhvr>
                                      <p:to>
                                        <p:strVal val="visible"/>
                                      </p:to>
                                    </p:set>
                                    <p:animEffect transition="in" filter="fade">
                                      <p:cBhvr>
                                        <p:cTn id="21" dur="1000"/>
                                        <p:tgtEl>
                                          <p:spTgt spid="24">
                                            <p:txEl>
                                              <p:pRg st="3" end="3"/>
                                            </p:txEl>
                                          </p:spTgt>
                                        </p:tgtEl>
                                      </p:cBhvr>
                                    </p:animEffect>
                                    <p:anim calcmode="lin" valueType="num">
                                      <p:cBhvr>
                                        <p:cTn id="22" dur="1000" fill="hold"/>
                                        <p:tgtEl>
                                          <p:spTgt spid="2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4">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24">
                                            <p:txEl>
                                              <p:pRg st="4" end="4"/>
                                            </p:txEl>
                                          </p:spTgt>
                                        </p:tgtEl>
                                        <p:attrNameLst>
                                          <p:attrName>style.visibility</p:attrName>
                                        </p:attrNameLst>
                                      </p:cBhvr>
                                      <p:to>
                                        <p:strVal val="visible"/>
                                      </p:to>
                                    </p:set>
                                    <p:animEffect transition="in" filter="fade">
                                      <p:cBhvr>
                                        <p:cTn id="26" dur="1000"/>
                                        <p:tgtEl>
                                          <p:spTgt spid="24">
                                            <p:txEl>
                                              <p:pRg st="4" end="4"/>
                                            </p:txEl>
                                          </p:spTgt>
                                        </p:tgtEl>
                                      </p:cBhvr>
                                    </p:animEffect>
                                    <p:anim calcmode="lin" valueType="num">
                                      <p:cBhvr>
                                        <p:cTn id="27" dur="1000" fill="hold"/>
                                        <p:tgtEl>
                                          <p:spTgt spid="24">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2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4">
                                            <p:txEl>
                                              <p:pRg st="5" end="5"/>
                                            </p:txEl>
                                          </p:spTgt>
                                        </p:tgtEl>
                                        <p:attrNameLst>
                                          <p:attrName>style.visibility</p:attrName>
                                        </p:attrNameLst>
                                      </p:cBhvr>
                                      <p:to>
                                        <p:strVal val="visible"/>
                                      </p:to>
                                    </p:set>
                                    <p:animEffect transition="in" filter="fade">
                                      <p:cBhvr>
                                        <p:cTn id="33" dur="1000"/>
                                        <p:tgtEl>
                                          <p:spTgt spid="24">
                                            <p:txEl>
                                              <p:pRg st="5" end="5"/>
                                            </p:txEl>
                                          </p:spTgt>
                                        </p:tgtEl>
                                      </p:cBhvr>
                                    </p:animEffect>
                                    <p:anim calcmode="lin" valueType="num">
                                      <p:cBhvr>
                                        <p:cTn id="34" dur="1000" fill="hold"/>
                                        <p:tgtEl>
                                          <p:spTgt spid="24">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2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4">
                                            <p:txEl>
                                              <p:pRg st="6" end="6"/>
                                            </p:txEl>
                                          </p:spTgt>
                                        </p:tgtEl>
                                        <p:attrNameLst>
                                          <p:attrName>style.visibility</p:attrName>
                                        </p:attrNameLst>
                                      </p:cBhvr>
                                      <p:to>
                                        <p:strVal val="visible"/>
                                      </p:to>
                                    </p:set>
                                    <p:animEffect transition="in" filter="fade">
                                      <p:cBhvr>
                                        <p:cTn id="40" dur="1000"/>
                                        <p:tgtEl>
                                          <p:spTgt spid="24">
                                            <p:txEl>
                                              <p:pRg st="6" end="6"/>
                                            </p:txEl>
                                          </p:spTgt>
                                        </p:tgtEl>
                                      </p:cBhvr>
                                    </p:animEffect>
                                    <p:anim calcmode="lin" valueType="num">
                                      <p:cBhvr>
                                        <p:cTn id="41" dur="1000" fill="hold"/>
                                        <p:tgtEl>
                                          <p:spTgt spid="24">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2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9.2.3 Homomorphisms and Isomorphisms of Algebraic Systems</a:t>
            </a:r>
            <a:endParaRPr lang="en-US" altLang="zh-CN" b="1" dirty="0">
              <a:latin typeface="Trebuchet MS" panose="020B0603020202020204" pitchFamily="34"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Surjective homomorphism of algebraic systems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mc:AlternateContent xmlns:mc="http://schemas.openxmlformats.org/markup-compatibility/2006" xmlns:a14="http://schemas.microsoft.com/office/drawing/2010/main">
        <mc:Choice Requires="a14">
          <p:sp>
            <p:nvSpPr>
              <p:cNvPr id="24" name="Text Box 3">
                <a:extLst>
                  <a:ext uri="{FF2B5EF4-FFF2-40B4-BE49-F238E27FC236}">
                    <a16:creationId xmlns:a16="http://schemas.microsoft.com/office/drawing/2014/main" id="{E8567710-70AA-47FC-99EC-AE8139A38990}"/>
                  </a:ext>
                </a:extLst>
              </p:cNvPr>
              <p:cNvSpPr txBox="1">
                <a:spLocks noChangeArrowheads="1"/>
              </p:cNvSpPr>
              <p:nvPr/>
            </p:nvSpPr>
            <p:spPr bwMode="auto">
              <a:xfrm>
                <a:off x="824682" y="826193"/>
                <a:ext cx="10627278" cy="489515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o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Let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be a homomorphism from</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to</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&gt;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rPr>
                  <a:t>if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dirty="0">
                    <a:latin typeface="Trebuchet MS" panose="020B0603020202020204" pitchFamily="34" charset="0"/>
                  </a:rPr>
                  <a:t>  is surjective (onto) </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then </a:t>
                </a:r>
                <a:r>
                  <a:rPr lang="en-US" altLang="zh-CN" sz="2400" b="1" i="1" dirty="0">
                    <a:latin typeface="Trebuchet MS" panose="020B0603020202020204" pitchFamily="34" charset="0"/>
                  </a:rPr>
                  <a:t>f</a:t>
                </a:r>
                <a:r>
                  <a:rPr lang="en-US" altLang="zh-CN" sz="2400" dirty="0">
                    <a:latin typeface="Trebuchet MS" panose="020B0603020202020204" pitchFamily="34" charset="0"/>
                  </a:rPr>
                  <a:t> is called an </a:t>
                </a:r>
                <a:r>
                  <a:rPr lang="en-US" altLang="zh-CN" sz="2400" b="1" i="1" dirty="0">
                    <a:solidFill>
                      <a:srgbClr val="FF0000"/>
                    </a:solidFill>
                    <a:latin typeface="Trebuchet MS" panose="020B0603020202020204" pitchFamily="34" charset="0"/>
                  </a:rPr>
                  <a:t>epi</a:t>
                </a:r>
                <a:r>
                  <a:rPr lang="en-US" altLang="zh-CN" sz="2400" b="1" i="1" dirty="0">
                    <a:solidFill>
                      <a:srgbClr val="0B61FF"/>
                    </a:solidFill>
                    <a:latin typeface="Trebuchet MS" panose="020B0603020202020204" pitchFamily="34" charset="0"/>
                  </a:rPr>
                  <a:t>morphism</a:t>
                </a:r>
                <a:r>
                  <a:rPr lang="en-US" altLang="zh-CN" sz="2400" dirty="0">
                    <a:latin typeface="Trebuchet MS" panose="020B0603020202020204" pitchFamily="34" charset="0"/>
                  </a:rPr>
                  <a:t>. In this case, </a:t>
                </a:r>
                <a:r>
                  <a:rPr lang="en-US" altLang="zh-CN" sz="2400" b="1" i="1" dirty="0">
                    <a:latin typeface="Trebuchet MS" panose="020B0603020202020204" pitchFamily="34" charset="0"/>
                  </a:rPr>
                  <a:t>V</a:t>
                </a:r>
                <a:r>
                  <a:rPr lang="en-US" altLang="zh-CN" sz="2400" b="1" baseline="-25000" dirty="0">
                    <a:latin typeface="Trebuchet MS" panose="020B0603020202020204" pitchFamily="34" charset="0"/>
                  </a:rPr>
                  <a:t>2 </a:t>
                </a:r>
                <a:r>
                  <a:rPr lang="en-US" altLang="zh-CN" sz="2400" dirty="0">
                    <a:latin typeface="Trebuchet MS" panose="020B0603020202020204" pitchFamily="34" charset="0"/>
                  </a:rPr>
                  <a:t>is called the </a:t>
                </a:r>
                <a:r>
                  <a:rPr lang="en-US" altLang="zh-CN" sz="2400" b="1" dirty="0">
                    <a:latin typeface="Trebuchet MS" panose="020B0603020202020204" pitchFamily="34" charset="0"/>
                  </a:rPr>
                  <a:t>homomorphic image </a:t>
                </a:r>
                <a:r>
                  <a:rPr lang="en-US" altLang="zh-CN" sz="2400" dirty="0">
                    <a:latin typeface="Trebuchet MS" panose="020B0603020202020204" pitchFamily="34" charset="0"/>
                  </a:rPr>
                  <a:t>of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latin typeface="Trebuchet MS" panose="020B0603020202020204" pitchFamily="34" charset="0"/>
                  </a:rPr>
                  <a:t>, </a:t>
                </a:r>
                <a:r>
                  <a:rPr lang="en-US" altLang="zh-CN" sz="2400" dirty="0">
                    <a:latin typeface="Trebuchet MS" panose="020B0603020202020204" pitchFamily="34" charset="0"/>
                  </a:rPr>
                  <a:t>denoted</a:t>
                </a:r>
                <a:r>
                  <a:rPr lang="en-US" altLang="zh-CN" sz="2400" b="1" dirty="0">
                    <a:latin typeface="Trebuchet MS" panose="020B0603020202020204" pitchFamily="34" charset="0"/>
                  </a:rPr>
                  <a:t> </a:t>
                </a:r>
                <a:r>
                  <a:rPr lang="zh-CN" altLang="en-US" sz="2400" b="1" dirty="0">
                    <a:latin typeface="Trebuchet MS" panose="020B0603020202020204" pitchFamily="34" charset="0"/>
                  </a:rPr>
                  <a:t> </a:t>
                </a:r>
                <a:r>
                  <a:rPr lang="en-US" altLang="zh-CN" sz="2400" b="1" i="1" dirty="0">
                    <a:solidFill>
                      <a:srgbClr val="FF0000"/>
                    </a:solidFill>
                    <a:latin typeface="Trebuchet MS" panose="020B0603020202020204" pitchFamily="34" charset="0"/>
                  </a:rPr>
                  <a:t>V</a:t>
                </a:r>
                <a:r>
                  <a:rPr lang="en-US" altLang="zh-CN" sz="2400" b="1" baseline="-25000" dirty="0">
                    <a:solidFill>
                      <a:srgbClr val="FF0000"/>
                    </a:solidFill>
                    <a:latin typeface="Trebuchet MS" panose="020B0603020202020204" pitchFamily="34" charset="0"/>
                  </a:rPr>
                  <a:t>1 </a:t>
                </a:r>
                <a14:m>
                  <m:oMath xmlns:m="http://schemas.openxmlformats.org/officeDocument/2006/math">
                    <m:r>
                      <a:rPr lang="en-US" altLang="zh-CN" sz="3200" b="1" i="1" dirty="0" smtClean="0">
                        <a:solidFill>
                          <a:srgbClr val="FF0000"/>
                        </a:solidFill>
                        <a:latin typeface="Cambria Math" panose="02040503050406030204" pitchFamily="18" charset="0"/>
                        <a:sym typeface="Symbol" panose="05050102010706020507" pitchFamily="18" charset="2"/>
                      </a:rPr>
                      <m:t></m:t>
                    </m:r>
                  </m:oMath>
                </a14:m>
                <a:r>
                  <a:rPr lang="en-US" altLang="zh-CN" sz="2400" b="1" i="1" dirty="0">
                    <a:solidFill>
                      <a:srgbClr val="FF0000"/>
                    </a:solidFill>
                    <a:latin typeface="Trebuchet MS" panose="020B0603020202020204" pitchFamily="34" charset="0"/>
                  </a:rPr>
                  <a:t> V</a:t>
                </a:r>
                <a:r>
                  <a:rPr lang="en-US" altLang="zh-CN" sz="2400" b="1" baseline="-25000" dirty="0">
                    <a:solidFill>
                      <a:srgbClr val="FF0000"/>
                    </a:solidFill>
                    <a:latin typeface="Trebuchet MS" panose="020B0603020202020204" pitchFamily="34" charset="0"/>
                  </a:rPr>
                  <a:t>2</a:t>
                </a:r>
                <a:r>
                  <a:rPr lang="en-US" altLang="zh-CN" sz="2400" b="1" dirty="0">
                    <a:latin typeface="Trebuchet MS" panose="020B0603020202020204" pitchFamily="34" charset="0"/>
                  </a:rPr>
                  <a:t>.</a:t>
                </a:r>
              </a:p>
              <a:p>
                <a:pPr marL="342900" indent="-165100">
                  <a:lnSpc>
                    <a:spcPct val="120000"/>
                  </a:lnSpc>
                  <a:spcBef>
                    <a:spcPts val="600"/>
                  </a:spcBef>
                  <a:buClr>
                    <a:srgbClr val="0B61FF"/>
                  </a:buClr>
                  <a:buSzPct val="120000"/>
                  <a:buFont typeface="Arial" panose="020B0604020202020204" pitchFamily="34" charset="0"/>
                  <a:buChar char="•"/>
                  <a:tabLst>
                    <a:tab pos="177800" algn="l"/>
                  </a:tabLst>
                </a:pPr>
                <a:r>
                  <a:rPr lang="en-US" altLang="zh-CN" sz="2400" b="1" dirty="0">
                    <a:latin typeface="Trebuchet MS" panose="020B0603020202020204" pitchFamily="34" charset="0"/>
                  </a:rPr>
                  <a:t>Note</a:t>
                </a:r>
                <a:r>
                  <a:rPr lang="zh-CN" altLang="en-US" sz="2400" b="1" dirty="0">
                    <a:latin typeface="Trebuchet MS" panose="020B0603020202020204" pitchFamily="34" charset="0"/>
                    <a:ea typeface="华文楷体" panose="02010600040101010101" pitchFamily="2" charset="-122"/>
                    <a:cs typeface="Times New Roman" panose="02020603050405020304" pitchFamily="18" charset="0"/>
                  </a:rPr>
                  <a:t>：</a:t>
                </a:r>
                <a:r>
                  <a:rPr lang="en-US" altLang="zh-CN" sz="2400" b="1" i="1" kern="100" dirty="0">
                    <a:latin typeface="Trebuchet MS" panose="020B0603020202020204" pitchFamily="34" charset="0"/>
                    <a:ea typeface="华文楷体" panose="02010600040101010101" pitchFamily="2" charset="-122"/>
                    <a:cs typeface="Times New Roman" panose="02020603050405020304" pitchFamily="18" charset="0"/>
                  </a:rPr>
                  <a:t>f</a:t>
                </a:r>
                <a:r>
                  <a:rPr lang="en-US" altLang="zh-CN" sz="2400" dirty="0">
                    <a:latin typeface="Trebuchet MS" panose="020B0603020202020204" pitchFamily="34" charset="0"/>
                  </a:rPr>
                  <a:t>  being surjective (or an onto mapping) means that it is covering, i.e., for every element </a:t>
                </a:r>
                <a:r>
                  <a:rPr lang="en-US" altLang="zh-CN" sz="2400" b="1" i="1" dirty="0">
                    <a:latin typeface="Trebuchet MS" panose="020B0603020202020204" pitchFamily="34" charset="0"/>
                    <a:ea typeface="华文楷体" panose="02010600040101010101" pitchFamily="2" charset="-122"/>
                    <a:cs typeface="Times New Roman" panose="02020603050405020304" pitchFamily="18" charset="0"/>
                  </a:rPr>
                  <a:t>y</a:t>
                </a:r>
                <a:r>
                  <a:rPr lang="en-US" altLang="zh-CN" sz="2400" dirty="0">
                    <a:latin typeface="Trebuchet MS" panose="020B0603020202020204" pitchFamily="34" charset="0"/>
                  </a:rPr>
                  <a:t> in </a:t>
                </a:r>
                <a:r>
                  <a:rPr lang="en-US" altLang="zh-CN" sz="2400" b="1" i="1" dirty="0">
                    <a:latin typeface="Trebuchet MS" panose="020B0603020202020204" pitchFamily="34" charset="0"/>
                    <a:ea typeface="华文楷体" panose="02010600040101010101" pitchFamily="2" charset="-122"/>
                    <a:cs typeface="Times New Roman" panose="02020603050405020304" pitchFamily="18" charset="0"/>
                  </a:rPr>
                  <a:t>S</a:t>
                </a:r>
                <a:r>
                  <a:rPr lang="en-US" altLang="zh-CN" sz="2400" b="1" baseline="-25000" dirty="0">
                    <a:latin typeface="Trebuchet MS" panose="020B0603020202020204" pitchFamily="34" charset="0"/>
                    <a:ea typeface="华文楷体" panose="02010600040101010101" pitchFamily="2" charset="-122"/>
                    <a:cs typeface="Times New Roman" panose="02020603050405020304" pitchFamily="18" charset="0"/>
                  </a:rPr>
                  <a:t>2 </a:t>
                </a:r>
                <a:r>
                  <a:rPr lang="en-US" altLang="zh-CN" sz="2400" dirty="0">
                    <a:latin typeface="Trebuchet MS" panose="020B0603020202020204" pitchFamily="34" charset="0"/>
                  </a:rPr>
                  <a:t>​, there exists some element </a:t>
                </a:r>
                <a:r>
                  <a:rPr lang="en-US" altLang="zh-CN" sz="2400" b="1" i="1" dirty="0">
                    <a:latin typeface="Trebuchet MS" panose="020B0603020202020204" pitchFamily="34" charset="0"/>
                    <a:ea typeface="华文楷体" panose="02010600040101010101" pitchFamily="2" charset="-122"/>
                    <a:cs typeface="Times New Roman" panose="02020603050405020304" pitchFamily="18" charset="0"/>
                  </a:rPr>
                  <a:t>x</a:t>
                </a:r>
                <a:r>
                  <a:rPr lang="en-US" altLang="zh-CN" sz="2400" dirty="0">
                    <a:latin typeface="Trebuchet MS" panose="020B0603020202020204" pitchFamily="34" charset="0"/>
                  </a:rPr>
                  <a:t> in </a:t>
                </a:r>
                <a:r>
                  <a:rPr lang="en-US" altLang="zh-CN" sz="2400" b="1" i="1" dirty="0">
                    <a:latin typeface="Trebuchet MS" panose="020B0603020202020204" pitchFamily="34" charset="0"/>
                    <a:ea typeface="华文楷体" panose="02010600040101010101" pitchFamily="2" charset="-122"/>
                    <a:cs typeface="Times New Roman" panose="02020603050405020304" pitchFamily="18" charset="0"/>
                  </a:rPr>
                  <a:t>S</a:t>
                </a:r>
                <a:r>
                  <a:rPr lang="en-US" altLang="zh-CN" sz="2400" b="1" baseline="-25000" dirty="0">
                    <a:latin typeface="Trebuchet MS" panose="020B0603020202020204" pitchFamily="34" charset="0"/>
                    <a:ea typeface="华文楷体" panose="02010600040101010101" pitchFamily="2" charset="-122"/>
                    <a:cs typeface="Times New Roman" panose="02020603050405020304" pitchFamily="18" charset="0"/>
                  </a:rPr>
                  <a:t>1</a:t>
                </a:r>
                <a:r>
                  <a:rPr lang="en-US" altLang="zh-CN" sz="2400" b="1" dirty="0">
                    <a:latin typeface="Trebuchet MS" panose="020B0603020202020204" pitchFamily="34" charset="0"/>
                    <a:ea typeface="华文楷体" panose="02010600040101010101" pitchFamily="2" charset="-122"/>
                    <a:cs typeface="Times New Roman" panose="02020603050405020304" pitchFamily="18" charset="0"/>
                  </a:rPr>
                  <a:t>​ </a:t>
                </a:r>
                <a:r>
                  <a:rPr lang="en-US" altLang="zh-CN" sz="2400" dirty="0">
                    <a:latin typeface="Trebuchet MS" panose="020B0603020202020204" pitchFamily="34" charset="0"/>
                  </a:rPr>
                  <a:t>such that </a:t>
                </a:r>
                <a:r>
                  <a:rPr lang="en-US" altLang="zh-CN" sz="2400" b="1" i="1" dirty="0">
                    <a:latin typeface="Trebuchet MS" panose="020B0603020202020204" pitchFamily="34" charset="0"/>
                    <a:ea typeface="华文楷体" panose="02010600040101010101" pitchFamily="2" charset="-122"/>
                    <a:cs typeface="Times New Roman" panose="02020603050405020304" pitchFamily="18" charset="0"/>
                  </a:rPr>
                  <a:t>f</a:t>
                </a:r>
                <a:r>
                  <a:rPr lang="en-US" altLang="zh-CN" sz="2400" b="1" dirty="0">
                    <a:latin typeface="Trebuchet MS" panose="020B0603020202020204" pitchFamily="34" charset="0"/>
                    <a:ea typeface="华文楷体" panose="02010600040101010101" pitchFamily="2" charset="-122"/>
                    <a:cs typeface="Times New Roman" panose="02020603050405020304" pitchFamily="18" charset="0"/>
                  </a:rPr>
                  <a:t>(</a:t>
                </a:r>
                <a:r>
                  <a:rPr lang="en-US" altLang="zh-CN" sz="2400" b="1" i="1" dirty="0">
                    <a:latin typeface="Trebuchet MS" panose="020B0603020202020204" pitchFamily="34" charset="0"/>
                    <a:ea typeface="华文楷体" panose="02010600040101010101" pitchFamily="2" charset="-122"/>
                    <a:cs typeface="Times New Roman" panose="02020603050405020304" pitchFamily="18" charset="0"/>
                  </a:rPr>
                  <a:t>x</a:t>
                </a:r>
                <a:r>
                  <a:rPr lang="en-US" altLang="zh-CN" sz="2400" b="1" dirty="0">
                    <a:latin typeface="Trebuchet MS" panose="020B0603020202020204" pitchFamily="34" charset="0"/>
                    <a:ea typeface="华文楷体" panose="02010600040101010101" pitchFamily="2" charset="-122"/>
                    <a:cs typeface="Times New Roman" panose="02020603050405020304" pitchFamily="18" charset="0"/>
                  </a:rPr>
                  <a:t>)=</a:t>
                </a:r>
                <a:r>
                  <a:rPr lang="en-US" altLang="zh-CN" sz="2400" b="1" i="1" dirty="0">
                    <a:latin typeface="Trebuchet MS" panose="020B0603020202020204" pitchFamily="34" charset="0"/>
                    <a:ea typeface="华文楷体" panose="02010600040101010101" pitchFamily="2" charset="-122"/>
                    <a:cs typeface="Times New Roman" panose="02020603050405020304" pitchFamily="18" charset="0"/>
                  </a:rPr>
                  <a:t>y</a:t>
                </a:r>
                <a:r>
                  <a:rPr lang="en-US" altLang="zh-CN" sz="2400" b="1" dirty="0">
                    <a:latin typeface="Trebuchet MS" panose="020B0603020202020204" pitchFamily="34" charset="0"/>
                    <a:ea typeface="华文楷体" panose="02010600040101010101" pitchFamily="2" charset="-122"/>
                    <a:cs typeface="Times New Roman" panose="02020603050405020304" pitchFamily="18" charset="0"/>
                  </a:rPr>
                  <a:t>.</a:t>
                </a:r>
              </a:p>
              <a:p>
                <a:pPr marL="342900" indent="-342900" algn="just">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en-US" altLang="zh-CN" sz="2400" dirty="0">
                    <a:latin typeface="Trebuchet MS" panose="020B0603020202020204" pitchFamily="34" charset="0"/>
                    <a:cs typeface="Times New Roman" panose="02020603050405020304" pitchFamily="18" charset="0"/>
                  </a:rPr>
                  <a:t>Let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1 </a:t>
                </a:r>
                <a:r>
                  <a:rPr lang="en-US" altLang="zh-CN" sz="2400" b="1" kern="100"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⟨Z,+⟩,</a:t>
                </a:r>
                <a:r>
                  <a:rPr lang="en-US" altLang="zh-CN" sz="2400" b="1" kern="100"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​=⟨Z</a:t>
                </a:r>
                <a:r>
                  <a:rPr lang="en-US" altLang="zh-CN" sz="2400" b="1" i="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a:t>
                </a:r>
                <a:r>
                  <a:rPr lang="en-US" altLang="zh-CN" sz="2400" b="1" i="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the set of integers modulo 3 with addition modulo 3</a:t>
                </a:r>
                <a:r>
                  <a:rPr lang="en-US" altLang="zh-CN" sz="2400" b="1" dirty="0">
                    <a:latin typeface="Trebuchet MS" panose="020B0603020202020204" pitchFamily="34" charset="0"/>
                    <a:cs typeface="Times New Roman" panose="02020603050405020304" pitchFamily="18" charset="0"/>
                  </a:rPr>
                  <a:t>),</a:t>
                </a:r>
                <a:r>
                  <a:rPr lang="en-US" altLang="zh-CN" sz="2400" b="1" kern="1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and define the mapping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 Z </a:t>
                </a:r>
                <a:r>
                  <a:rPr lang="en-US" altLang="zh-CN" sz="2400" b="1" kern="100"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 Z</a:t>
                </a:r>
                <a:r>
                  <a:rPr lang="en-US" altLang="zh-CN" sz="2400" b="1" i="1" baseline="-25000" dirty="0">
                    <a:latin typeface="Trebuchet MS" panose="020B0603020202020204" pitchFamily="34" charset="0"/>
                    <a:cs typeface="Times New Roman" panose="02020603050405020304" pitchFamily="18" charset="0"/>
                  </a:rPr>
                  <a:t>3</a:t>
                </a:r>
                <a:r>
                  <a:rPr lang="en-US" altLang="zh-CN" sz="2400" b="1" kern="100" dirty="0">
                    <a:latin typeface="Trebuchet MS" panose="020B0603020202020204" pitchFamily="34" charset="0"/>
                    <a:cs typeface="Times New Roman" panose="02020603050405020304" pitchFamily="18" charset="0"/>
                  </a:rPr>
                  <a:t> </a:t>
                </a:r>
                <a:r>
                  <a:rPr lang="en-US" altLang="zh-CN" sz="2400" kern="100" dirty="0">
                    <a:latin typeface="Trebuchet MS" panose="020B0603020202020204" pitchFamily="34" charset="0"/>
                    <a:cs typeface="Times New Roman" panose="02020603050405020304" pitchFamily="18" charset="0"/>
                  </a:rPr>
                  <a:t>be defined by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en-US" altLang="zh-CN" sz="2400" i="1"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x </a:t>
                </a:r>
                <a:r>
                  <a:rPr lang="en-US" altLang="zh-CN" sz="2400" b="1" dirty="0">
                    <a:latin typeface="Trebuchet MS" panose="020B0603020202020204" pitchFamily="34" charset="0"/>
                    <a:cs typeface="Times New Roman" panose="02020603050405020304" pitchFamily="18" charset="0"/>
                  </a:rPr>
                  <a:t>mod 3</a:t>
                </a:r>
                <a:r>
                  <a:rPr lang="en-US" altLang="zh-CN" sz="2400" b="1" kern="100" dirty="0">
                    <a:latin typeface="Trebuchet MS" panose="020B0603020202020204" pitchFamily="34" charset="0"/>
                    <a:cs typeface="Times New Roman" panose="02020603050405020304" pitchFamily="18" charset="0"/>
                  </a:rPr>
                  <a:t>.   </a:t>
                </a:r>
                <a:r>
                  <a:rPr lang="en-US" altLang="zh-CN" sz="2400" kern="100" dirty="0">
                    <a:latin typeface="Trebuchet MS" panose="020B0603020202020204" pitchFamily="34" charset="0"/>
                    <a:cs typeface="Times New Roman" panose="02020603050405020304" pitchFamily="18" charset="0"/>
                  </a:rPr>
                  <a:t>Is</a:t>
                </a:r>
                <a:r>
                  <a:rPr lang="en-US" altLang="zh-CN" sz="2400" b="1" kern="100" dirty="0">
                    <a:latin typeface="Trebuchet MS" panose="020B0603020202020204" pitchFamily="34" charset="0"/>
                    <a:cs typeface="Times New Roman" panose="02020603050405020304" pitchFamily="18" charset="0"/>
                  </a:rPr>
                  <a:t> </a:t>
                </a:r>
                <a:r>
                  <a:rPr lang="en-US" altLang="zh-CN" sz="2400" b="1" i="1" kern="100" dirty="0">
                    <a:latin typeface="Trebuchet MS" panose="020B0603020202020204" pitchFamily="34" charset="0"/>
                    <a:cs typeface="Times New Roman" panose="02020603050405020304" pitchFamily="18" charset="0"/>
                  </a:rPr>
                  <a:t>f</a:t>
                </a:r>
                <a:r>
                  <a:rPr lang="en-US" altLang="zh-CN" sz="2400" dirty="0">
                    <a:latin typeface="Trebuchet MS" panose="020B0603020202020204" pitchFamily="34" charset="0"/>
                  </a:rPr>
                  <a:t> an epimorphism </a:t>
                </a:r>
                <a:r>
                  <a:rPr lang="zh-CN" altLang="en-US" sz="2400" b="1" kern="100" dirty="0">
                    <a:latin typeface="Trebuchet MS" panose="020B0603020202020204" pitchFamily="34" charset="0"/>
                    <a:cs typeface="Times New Roman" panose="02020603050405020304" pitchFamily="18" charset="0"/>
                  </a:rPr>
                  <a:t>？</a:t>
                </a:r>
                <a:endParaRPr lang="en-US" altLang="zh-CN" sz="2400" b="1" kern="100" dirty="0">
                  <a:latin typeface="Trebuchet MS" panose="020B0603020202020204" pitchFamily="34" charset="0"/>
                  <a:cs typeface="Times New Roman" panose="02020603050405020304" pitchFamily="18" charset="0"/>
                </a:endParaRPr>
              </a:p>
              <a:p>
                <a:pPr marL="342900" indent="-342900">
                  <a:lnSpc>
                    <a:spcPct val="120000"/>
                  </a:lnSpc>
                  <a:buClr>
                    <a:srgbClr val="0B61FF"/>
                  </a:buClr>
                  <a:buSzPct val="80000"/>
                  <a:buFont typeface="Wingdings" panose="05000000000000000000" pitchFamily="2" charset="2"/>
                  <a:buChar char="n"/>
                </a:pPr>
                <a:endParaRPr lang="en-US" altLang="zh-CN" sz="2400" b="1" dirty="0">
                  <a:latin typeface="Trebuchet MS" panose="020B0603020202020204" pitchFamily="34" charset="0"/>
                  <a:ea typeface="华文楷体" panose="02010600040101010101" pitchFamily="2" charset="-122"/>
                  <a:cs typeface="Times New Roman" panose="02020603050405020304" pitchFamily="18" charset="0"/>
                </a:endParaRPr>
              </a:p>
              <a:p>
                <a:pPr marL="342900" indent="-342900">
                  <a:lnSpc>
                    <a:spcPct val="120000"/>
                  </a:lnSpc>
                  <a:buClr>
                    <a:srgbClr val="0B61FF"/>
                  </a:buClr>
                  <a:buSzPct val="80000"/>
                  <a:buFont typeface="Wingdings" panose="05000000000000000000" pitchFamily="2" charset="2"/>
                  <a:buChar char="n"/>
                </a:pPr>
                <a:endParaRPr lang="en-US" altLang="zh-CN" sz="2400" b="1" dirty="0">
                  <a:latin typeface="Trebuchet MS" panose="020B0603020202020204" pitchFamily="34" charset="0"/>
                  <a:ea typeface="宋体" panose="02010600030101010101" pitchFamily="2" charset="-122"/>
                </a:endParaRPr>
              </a:p>
            </p:txBody>
          </p:sp>
        </mc:Choice>
        <mc:Fallback xmlns="">
          <p:sp>
            <p:nvSpPr>
              <p:cNvPr id="24" name="Text Box 3">
                <a:extLst>
                  <a:ext uri="{FF2B5EF4-FFF2-40B4-BE49-F238E27FC236}">
                    <a16:creationId xmlns:a16="http://schemas.microsoft.com/office/drawing/2014/main" id="{E8567710-70AA-47FC-99EC-AE8139A38990}"/>
                  </a:ext>
                </a:extLst>
              </p:cNvPr>
              <p:cNvSpPr txBox="1">
                <a:spLocks noRot="1" noChangeAspect="1" noMove="1" noResize="1" noEditPoints="1" noAdjustHandles="1" noChangeArrowheads="1" noChangeShapeType="1" noTextEdit="1"/>
              </p:cNvSpPr>
              <p:nvPr/>
            </p:nvSpPr>
            <p:spPr bwMode="auto">
              <a:xfrm>
                <a:off x="824682" y="826193"/>
                <a:ext cx="10627278" cy="4895158"/>
              </a:xfrm>
              <a:prstGeom prst="rect">
                <a:avLst/>
              </a:prstGeom>
              <a:blipFill>
                <a:blip r:embed="rId5"/>
                <a:stretch>
                  <a:fillRect l="-401" t="-747" r="-12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967D09E2-B643-4C46-9530-ABF79C65B933}"/>
              </a:ext>
            </a:extLst>
          </p:cNvPr>
          <p:cNvSpPr txBox="1"/>
          <p:nvPr/>
        </p:nvSpPr>
        <p:spPr>
          <a:xfrm>
            <a:off x="8270316" y="1620917"/>
            <a:ext cx="275573" cy="400110"/>
          </a:xfrm>
          <a:prstGeom prst="rect">
            <a:avLst/>
          </a:prstGeom>
          <a:noFill/>
        </p:spPr>
        <p:txBody>
          <a:bodyPr wrap="square" rtlCol="0">
            <a:spAutoFit/>
          </a:bodyPr>
          <a:lstStyle/>
          <a:p>
            <a:r>
              <a:rPr lang="en-US" altLang="zh-CN" sz="2000" b="1" i="1" dirty="0">
                <a:solidFill>
                  <a:srgbClr val="FF0000"/>
                </a:solidFill>
                <a:latin typeface="Trebuchet MS" panose="020B0603020202020204" pitchFamily="34" charset="0"/>
              </a:rPr>
              <a:t>f</a:t>
            </a:r>
            <a:endParaRPr lang="zh-CN" altLang="en-US" sz="2000" b="1" i="1" dirty="0">
              <a:solidFill>
                <a:srgbClr val="FF0000"/>
              </a:solidFill>
              <a:latin typeface="Trebuchet MS" panose="020B0603020202020204" pitchFamily="34" charset="0"/>
            </a:endParaRPr>
          </a:p>
        </p:txBody>
      </p:sp>
    </p:spTree>
    <p:extLst>
      <p:ext uri="{BB962C8B-B14F-4D97-AF65-F5344CB8AC3E}">
        <p14:creationId xmlns:p14="http://schemas.microsoft.com/office/powerpoint/2010/main" val="10250591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animEffect transition="in" filter="fade">
                                      <p:cBhvr>
                                        <p:cTn id="7" dur="1000"/>
                                        <p:tgtEl>
                                          <p:spTgt spid="24">
                                            <p:txEl>
                                              <p:pRg st="1" end="1"/>
                                            </p:txEl>
                                          </p:spTgt>
                                        </p:tgtEl>
                                      </p:cBhvr>
                                    </p:animEffect>
                                    <p:anim calcmode="lin" valueType="num">
                                      <p:cBhvr>
                                        <p:cTn id="8" dur="100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xEl>
                                              <p:pRg st="2" end="2"/>
                                            </p:txEl>
                                          </p:spTgt>
                                        </p:tgtEl>
                                        <p:attrNameLst>
                                          <p:attrName>style.visibility</p:attrName>
                                        </p:attrNameLst>
                                      </p:cBhvr>
                                      <p:to>
                                        <p:strVal val="visible"/>
                                      </p:to>
                                    </p:set>
                                    <p:animEffect transition="in" filter="fade">
                                      <p:cBhvr>
                                        <p:cTn id="14" dur="1000"/>
                                        <p:tgtEl>
                                          <p:spTgt spid="24">
                                            <p:txEl>
                                              <p:pRg st="2" end="2"/>
                                            </p:txEl>
                                          </p:spTgt>
                                        </p:tgtEl>
                                      </p:cBhvr>
                                    </p:animEffect>
                                    <p:anim calcmode="lin" valueType="num">
                                      <p:cBhvr>
                                        <p:cTn id="15" dur="1000" fill="hold"/>
                                        <p:tgtEl>
                                          <p:spTgt spid="2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Surjective homomorphism of algebraic systems(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24" name="Text Box 3">
            <a:extLst>
              <a:ext uri="{FF2B5EF4-FFF2-40B4-BE49-F238E27FC236}">
                <a16:creationId xmlns:a16="http://schemas.microsoft.com/office/drawing/2014/main" id="{E8567710-70AA-47FC-99EC-AE8139A38990}"/>
              </a:ext>
            </a:extLst>
          </p:cNvPr>
          <p:cNvSpPr txBox="1">
            <a:spLocks noChangeArrowheads="1"/>
          </p:cNvSpPr>
          <p:nvPr/>
        </p:nvSpPr>
        <p:spPr bwMode="auto">
          <a:xfrm>
            <a:off x="725621" y="826192"/>
            <a:ext cx="10810981" cy="5552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altLang="zh-CN" sz="2400" b="1" i="1" dirty="0">
                <a:solidFill>
                  <a:srgbClr val="0B61FF"/>
                </a:solidFill>
                <a:latin typeface="Trebuchet MS" panose="020B0603020202020204" pitchFamily="34" charset="0"/>
              </a:rPr>
              <a:t>Homomorphism</a:t>
            </a:r>
            <a:r>
              <a:rPr lang="en-US" altLang="zh-CN" sz="2400" b="1" dirty="0">
                <a:latin typeface="Trebuchet MS" panose="020B0603020202020204" pitchFamily="34" charset="0"/>
              </a:rPr>
              <a:t>:</a:t>
            </a:r>
            <a:r>
              <a:rPr lang="en-US" altLang="zh-CN" sz="2400" b="1" i="1" dirty="0">
                <a:solidFill>
                  <a:srgbClr val="0B61FF"/>
                </a:solidFill>
                <a:latin typeface="Trebuchet MS" panose="020B0603020202020204" pitchFamily="34" charset="0"/>
              </a:rPr>
              <a:t> </a:t>
            </a:r>
            <a:r>
              <a:rPr lang="en-US" altLang="zh-CN" sz="2400" dirty="0">
                <a:latin typeface="Trebuchet MS" panose="020B0603020202020204" pitchFamily="34" charset="0"/>
              </a:rPr>
              <a:t>We need to check whether for all </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y</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Z,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 +​</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Since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)mod 3 ,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 +</a:t>
            </a:r>
            <a:r>
              <a:rPr lang="en-US" altLang="zh-CN" sz="2400" b="1" baseline="-25000" dirty="0">
                <a:latin typeface="Trebuchet MS" panose="020B0603020202020204" pitchFamily="34" charset="0"/>
                <a:cs typeface="Times New Roman" panose="02020603050405020304" pitchFamily="18" charset="0"/>
              </a:rPr>
              <a:t>3 </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 </a:t>
            </a:r>
            <a:r>
              <a:rPr lang="en-US" altLang="zh-CN" sz="2400" b="1" dirty="0">
                <a:latin typeface="Trebuchet MS" panose="020B0603020202020204" pitchFamily="34" charset="0"/>
                <a:cs typeface="Times New Roman" panose="02020603050405020304" pitchFamily="18" charset="0"/>
              </a:rPr>
              <a:t>mod 3 + </a:t>
            </a:r>
            <a:r>
              <a:rPr lang="en-US" altLang="zh-CN" sz="2400" b="1" i="1" dirty="0">
                <a:latin typeface="Trebuchet MS" panose="020B0603020202020204" pitchFamily="34" charset="0"/>
                <a:cs typeface="Times New Roman" panose="02020603050405020304" pitchFamily="18" charset="0"/>
              </a:rPr>
              <a:t>y </a:t>
            </a:r>
            <a:r>
              <a:rPr lang="en-US" altLang="zh-CN" sz="2400" b="1" dirty="0">
                <a:latin typeface="Trebuchet MS" panose="020B0603020202020204" pitchFamily="34" charset="0"/>
                <a:cs typeface="Times New Roman" panose="02020603050405020304" pitchFamily="18" charset="0"/>
              </a:rPr>
              <a:t>mod 3) mod 3 , </a:t>
            </a:r>
            <a:r>
              <a:rPr lang="en-US" altLang="zh-CN" sz="2400" dirty="0">
                <a:latin typeface="Trebuchet MS" panose="020B0603020202020204" pitchFamily="34" charset="0"/>
              </a:rPr>
              <a:t>by the distributive property of modular arithmetic, we have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 +​</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Therefore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x </a:t>
            </a:r>
            <a:r>
              <a:rPr lang="en-US" altLang="zh-CN" sz="2400" b="1" dirty="0">
                <a:latin typeface="Trebuchet MS" panose="020B0603020202020204" pitchFamily="34" charset="0"/>
                <a:cs typeface="Times New Roman" panose="02020603050405020304" pitchFamily="18" charset="0"/>
              </a:rPr>
              <a:t>mod 3</a:t>
            </a:r>
            <a:r>
              <a:rPr lang="en-US" altLang="zh-CN" sz="2400" dirty="0">
                <a:latin typeface="Trebuchet MS" panose="020B0603020202020204" pitchFamily="34" charset="0"/>
              </a:rPr>
              <a:t> satisfies the homomorphism property. </a:t>
            </a:r>
          </a:p>
          <a:p>
            <a:pPr marL="342900" indent="-342900">
              <a:lnSpc>
                <a:spcPct val="120000"/>
              </a:lnSpc>
              <a:buClr>
                <a:srgbClr val="0B61FF"/>
              </a:buClr>
              <a:buSzPct val="80000"/>
              <a:buFont typeface="Wingdings" panose="05000000000000000000" pitchFamily="2" charset="2"/>
              <a:buChar char="n"/>
            </a:pPr>
            <a:r>
              <a:rPr lang="en-US" altLang="zh-CN" sz="2400" b="1" i="1" dirty="0" err="1">
                <a:solidFill>
                  <a:srgbClr val="0B61FF"/>
                </a:solidFill>
                <a:latin typeface="Trebuchet MS" panose="020B0603020202020204" pitchFamily="34" charset="0"/>
              </a:rPr>
              <a:t>Surjectivity</a:t>
            </a:r>
            <a:r>
              <a:rPr lang="en-US" altLang="zh-CN" sz="2400" b="1" dirty="0">
                <a:latin typeface="Trebuchet MS" panose="020B0603020202020204" pitchFamily="34" charset="0"/>
              </a:rPr>
              <a:t>:</a:t>
            </a:r>
            <a:r>
              <a:rPr lang="en-US" altLang="zh-CN" sz="2400" b="1" i="1" dirty="0">
                <a:solidFill>
                  <a:srgbClr val="0B61FF"/>
                </a:solidFill>
                <a:latin typeface="Trebuchet MS" panose="020B0603020202020204" pitchFamily="34" charset="0"/>
              </a:rPr>
              <a:t> </a:t>
            </a:r>
            <a:r>
              <a:rPr lang="en-US" altLang="zh-CN" sz="2400" dirty="0">
                <a:latin typeface="Trebuchet MS" panose="020B0603020202020204" pitchFamily="34" charset="0"/>
              </a:rPr>
              <a:t>For each element</a:t>
            </a:r>
            <a:r>
              <a:rPr lang="zh-CN"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y in </a:t>
            </a:r>
            <a:r>
              <a:rPr lang="en-US" altLang="zh-CN" sz="2400" b="1" dirty="0">
                <a:latin typeface="Trebuchet MS" panose="020B0603020202020204" pitchFamily="34" charset="0"/>
                <a:cs typeface="Times New Roman" panose="02020603050405020304" pitchFamily="18" charset="0"/>
              </a:rPr>
              <a:t>Z</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does there exist some </a:t>
            </a:r>
            <a:r>
              <a:rPr lang="en-US" altLang="zh-CN" sz="2400" b="1" i="1" dirty="0">
                <a:latin typeface="Trebuchet MS" panose="020B0603020202020204" pitchFamily="34" charset="0"/>
                <a:cs typeface="Times New Roman" panose="02020603050405020304" pitchFamily="18" charset="0"/>
              </a:rPr>
              <a:t>x in </a:t>
            </a:r>
            <a:r>
              <a:rPr lang="en-US" altLang="zh-CN" sz="2400" b="1" dirty="0">
                <a:latin typeface="Trebuchet MS" panose="020B0603020202020204" pitchFamily="34" charset="0"/>
                <a:cs typeface="Times New Roman" panose="02020603050405020304" pitchFamily="18" charset="0"/>
              </a:rPr>
              <a:t>Z</a:t>
            </a:r>
            <a:r>
              <a:rPr lang="en-US" altLang="zh-CN" sz="2400" b="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such that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Since every element in </a:t>
            </a:r>
            <a:r>
              <a:rPr lang="en-US" altLang="zh-CN" sz="2400" b="1" dirty="0">
                <a:latin typeface="Trebuchet MS" panose="020B0603020202020204" pitchFamily="34" charset="0"/>
                <a:cs typeface="Times New Roman" panose="02020603050405020304" pitchFamily="18" charset="0"/>
              </a:rPr>
              <a:t>Z</a:t>
            </a:r>
            <a:r>
              <a:rPr lang="en-US" altLang="zh-CN" sz="2400" b="1" i="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(0, 1, 2)</a:t>
            </a:r>
            <a:r>
              <a:rPr lang="en-US" altLang="zh-CN" sz="2400" dirty="0">
                <a:latin typeface="Trebuchet MS" panose="020B0603020202020204" pitchFamily="34" charset="0"/>
              </a:rPr>
              <a:t> can be obtained by taking modulo </a:t>
            </a:r>
            <a:r>
              <a:rPr lang="en-US" altLang="zh-CN" sz="2400" b="1" dirty="0">
                <a:latin typeface="Trebuchet MS" panose="020B0603020202020204" pitchFamily="34" charset="0"/>
                <a:cs typeface="Times New Roman" panose="02020603050405020304" pitchFamily="18" charset="0"/>
              </a:rPr>
              <a:t>3</a:t>
            </a:r>
            <a:r>
              <a:rPr lang="en-US" altLang="zh-CN" sz="2400" dirty="0">
                <a:latin typeface="Trebuchet MS" panose="020B0603020202020204" pitchFamily="34" charset="0"/>
              </a:rPr>
              <a:t> of some integer, </a:t>
            </a:r>
            <a:r>
              <a:rPr lang="en-US" altLang="zh-CN" sz="2400" b="1" i="1" dirty="0">
                <a:latin typeface="Trebuchet MS" panose="020B0603020202020204" pitchFamily="34" charset="0"/>
                <a:cs typeface="Times New Roman" panose="02020603050405020304" pitchFamily="18" charset="0"/>
              </a:rPr>
              <a:t>f</a:t>
            </a:r>
            <a:r>
              <a:rPr lang="en-US" altLang="zh-CN" sz="2400" dirty="0">
                <a:latin typeface="Trebuchet MS" panose="020B0603020202020204" pitchFamily="34" charset="0"/>
              </a:rPr>
              <a:t> is surjective. That is, </a:t>
            </a:r>
            <a:r>
              <a:rPr lang="en-US" altLang="zh-CN" sz="2400" b="1" i="1" dirty="0">
                <a:latin typeface="Trebuchet MS" panose="020B0603020202020204" pitchFamily="34" charset="0"/>
                <a:cs typeface="Times New Roman" panose="02020603050405020304" pitchFamily="18" charset="0"/>
              </a:rPr>
              <a:t>f</a:t>
            </a:r>
            <a:r>
              <a:rPr lang="en-US" altLang="zh-CN" sz="2400" dirty="0">
                <a:latin typeface="Trebuchet MS" panose="020B0603020202020204" pitchFamily="34" charset="0"/>
              </a:rPr>
              <a:t> is an epimorphism.</a:t>
            </a:r>
            <a:endParaRPr lang="en-US" altLang="zh-CN" sz="2400" b="1" dirty="0">
              <a:latin typeface="Trebuchet MS" panose="020B0603020202020204" pitchFamily="34" charset="0"/>
              <a:cs typeface="Times New Roman" panose="02020603050405020304" pitchFamily="18" charset="0"/>
            </a:endParaRPr>
          </a:p>
          <a:p>
            <a:pPr marL="342900" indent="-342900">
              <a:lnSpc>
                <a:spcPct val="120000"/>
              </a:lnSpc>
              <a:buClr>
                <a:srgbClr val="0B61FF"/>
              </a:buClr>
              <a:buSzPct val="80000"/>
              <a:buFont typeface="Wingdings" panose="05000000000000000000" pitchFamily="2" charset="2"/>
              <a:buChar char="n"/>
            </a:pPr>
            <a:r>
              <a:rPr lang="en-US" altLang="zh-CN" sz="2400" b="1" i="1" dirty="0">
                <a:solidFill>
                  <a:srgbClr val="0B61FF"/>
                </a:solidFill>
                <a:latin typeface="Trebuchet MS" panose="020B0603020202020204" pitchFamily="34" charset="0"/>
              </a:rPr>
              <a:t>Conclusion</a:t>
            </a:r>
            <a:r>
              <a:rPr lang="en-US" altLang="zh-CN" sz="2400" b="1" dirty="0">
                <a:latin typeface="Trebuchet MS" panose="020B0603020202020204" pitchFamily="34" charset="0"/>
              </a:rPr>
              <a:t>:</a:t>
            </a:r>
            <a:r>
              <a:rPr lang="en-US" altLang="zh-CN" sz="2400" b="1" i="1" dirty="0">
                <a:solidFill>
                  <a:srgbClr val="0B61FF"/>
                </a:solidFill>
                <a:latin typeface="Trebuchet MS" panose="020B0603020202020204" pitchFamily="34" charset="0"/>
              </a:rPr>
              <a:t>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x </a:t>
            </a:r>
            <a:r>
              <a:rPr lang="en-US" altLang="zh-CN" sz="2400" b="1" dirty="0">
                <a:latin typeface="Trebuchet MS" panose="020B0603020202020204" pitchFamily="34" charset="0"/>
                <a:cs typeface="Times New Roman" panose="02020603050405020304" pitchFamily="18" charset="0"/>
              </a:rPr>
              <a:t>mod 3</a:t>
            </a:r>
            <a:r>
              <a:rPr lang="en-US" altLang="zh-CN" sz="2400" b="1" i="1" kern="100" baseline="300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is a </a:t>
            </a:r>
            <a:r>
              <a:rPr lang="en-US" altLang="zh-CN" sz="2400" b="1" dirty="0">
                <a:latin typeface="Trebuchet MS" panose="020B0603020202020204" pitchFamily="34" charset="0"/>
              </a:rPr>
              <a:t>homomorphism</a:t>
            </a:r>
            <a:r>
              <a:rPr lang="en-US" altLang="zh-CN" sz="2400" dirty="0">
                <a:latin typeface="Trebuchet MS" panose="020B0603020202020204" pitchFamily="34" charset="0"/>
              </a:rPr>
              <a:t> and is indeed an </a:t>
            </a:r>
            <a:r>
              <a:rPr lang="en-US" altLang="zh-CN" sz="2400" b="1" dirty="0">
                <a:latin typeface="Trebuchet MS" panose="020B0603020202020204" pitchFamily="34" charset="0"/>
              </a:rPr>
              <a:t>epimorphism</a:t>
            </a:r>
            <a:r>
              <a:rPr lang="en-US" altLang="zh-CN" sz="2400" dirty="0">
                <a:latin typeface="Trebuchet MS" panose="020B0603020202020204" pitchFamily="34" charset="0"/>
              </a:rPr>
              <a:t>.</a:t>
            </a:r>
          </a:p>
          <a:p>
            <a:pPr marL="342900" indent="-342900">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Note</a:t>
            </a:r>
            <a:r>
              <a:rPr lang="zh-CN" altLang="en-US" sz="2400" b="1" dirty="0">
                <a:latin typeface="Trebuchet MS" panose="020B0603020202020204" pitchFamily="34" charset="0"/>
                <a:ea typeface="华文楷体" panose="02010600040101010101" pitchFamily="2" charset="-122"/>
                <a:cs typeface="Times New Roman" panose="02020603050405020304" pitchFamily="18" charset="0"/>
              </a:rPr>
              <a:t>：</a:t>
            </a:r>
            <a:r>
              <a:rPr lang="en-US" altLang="zh-CN" sz="2400" dirty="0">
                <a:latin typeface="Trebuchet MS" panose="020B0603020202020204" pitchFamily="34" charset="0"/>
              </a:rPr>
              <a:t>Since </a:t>
            </a:r>
            <a:r>
              <a:rPr lang="en-US" altLang="zh-CN" sz="2400" b="1" i="1" dirty="0">
                <a:latin typeface="Trebuchet MS" panose="020B0603020202020204" pitchFamily="34" charset="0"/>
                <a:cs typeface="Times New Roman" panose="02020603050405020304" pitchFamily="18" charset="0"/>
              </a:rPr>
              <a:t>x</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and </a:t>
            </a:r>
            <a:r>
              <a:rPr lang="en-US" altLang="zh-CN" sz="2400" b="1" i="1" dirty="0">
                <a:latin typeface="Trebuchet MS" panose="020B0603020202020204" pitchFamily="34" charset="0"/>
                <a:cs typeface="Times New Roman" panose="02020603050405020304" pitchFamily="18" charset="0"/>
              </a:rPr>
              <a:t>x</a:t>
            </a:r>
            <a:r>
              <a:rPr lang="en-US" altLang="zh-CN" sz="2400" b="1" baseline="-25000" dirty="0">
                <a:latin typeface="Trebuchet MS" panose="020B0603020202020204" pitchFamily="34" charset="0"/>
                <a:cs typeface="Times New Roman" panose="02020603050405020304" pitchFamily="18" charset="0"/>
              </a:rPr>
              <a:t>2 </a:t>
            </a:r>
            <a:r>
              <a:rPr lang="en-US" altLang="zh-CN" sz="2400" dirty="0">
                <a:latin typeface="Trebuchet MS" panose="020B0603020202020204" pitchFamily="34" charset="0"/>
              </a:rPr>
              <a:t>​ having the same remainder under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x </a:t>
            </a:r>
            <a:r>
              <a:rPr lang="en-US" altLang="zh-CN" sz="2400" b="1" dirty="0">
                <a:latin typeface="Trebuchet MS" panose="020B0603020202020204" pitchFamily="34" charset="0"/>
                <a:cs typeface="Times New Roman" panose="02020603050405020304" pitchFamily="18" charset="0"/>
              </a:rPr>
              <a:t>mod 3</a:t>
            </a:r>
            <a:r>
              <a:rPr lang="en-US" altLang="zh-CN" sz="2400" dirty="0">
                <a:latin typeface="Trebuchet MS" panose="020B0603020202020204" pitchFamily="34" charset="0"/>
              </a:rPr>
              <a:t> does not imply that </a:t>
            </a:r>
            <a:r>
              <a:rPr lang="en-US" altLang="zh-CN" sz="2400" b="1" i="1" dirty="0">
                <a:latin typeface="Trebuchet MS" panose="020B0603020202020204" pitchFamily="34" charset="0"/>
                <a:cs typeface="Times New Roman" panose="02020603050405020304" pitchFamily="18" charset="0"/>
              </a:rPr>
              <a:t>x</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x</a:t>
            </a:r>
            <a:r>
              <a:rPr lang="en-US" altLang="zh-CN" sz="2400" b="1" baseline="-25000" dirty="0">
                <a:latin typeface="Trebuchet MS" panose="020B0603020202020204" pitchFamily="34" charset="0"/>
                <a:cs typeface="Times New Roman" panose="02020603050405020304" pitchFamily="18" charset="0"/>
              </a:rPr>
              <a:t>2 </a:t>
            </a:r>
            <a:r>
              <a:rPr lang="en-US" altLang="zh-CN" sz="2400" dirty="0">
                <a:latin typeface="Trebuchet MS" panose="020B0603020202020204" pitchFamily="34" charset="0"/>
              </a:rPr>
              <a:t>​, </a:t>
            </a:r>
            <a:r>
              <a:rPr lang="en-US" altLang="zh-CN" sz="2400" b="1" i="1" dirty="0">
                <a:latin typeface="Trebuchet MS" panose="020B0603020202020204" pitchFamily="34" charset="0"/>
              </a:rPr>
              <a:t>f</a:t>
            </a:r>
            <a:r>
              <a:rPr lang="en-US" altLang="zh-CN" sz="2400" dirty="0">
                <a:latin typeface="Trebuchet MS" panose="020B0603020202020204" pitchFamily="34" charset="0"/>
              </a:rPr>
              <a:t> is not injective, that is, f is </a:t>
            </a:r>
            <a:r>
              <a:rPr lang="en-US" altLang="zh-CN" sz="2400" b="1" i="1" dirty="0">
                <a:solidFill>
                  <a:srgbClr val="0B61FF"/>
                </a:solidFill>
                <a:latin typeface="Trebuchet MS" panose="020B0603020202020204" pitchFamily="34" charset="0"/>
              </a:rPr>
              <a:t>not a monomorphism</a:t>
            </a:r>
            <a:r>
              <a:rPr lang="en-US" altLang="zh-CN" sz="2400" dirty="0">
                <a:latin typeface="Trebuchet MS" panose="020B0603020202020204" pitchFamily="34" charset="0"/>
              </a:rPr>
              <a:t>. </a:t>
            </a:r>
            <a:endParaRPr lang="en-US" altLang="zh-CN" sz="2400" b="1" kern="100" dirty="0">
              <a:solidFill>
                <a:srgbClr val="0D0D0D"/>
              </a:solidFill>
              <a:latin typeface="Trebuchet MS" panose="020B0603020202020204" pitchFamily="34" charset="0"/>
              <a:cs typeface="Times New Roman" panose="02020603050405020304" pitchFamily="18" charset="0"/>
            </a:endParaRPr>
          </a:p>
          <a:p>
            <a:pPr marL="342900" indent="-342900">
              <a:lnSpc>
                <a:spcPct val="120000"/>
              </a:lnSpc>
              <a:buClr>
                <a:srgbClr val="0B61FF"/>
              </a:buClr>
              <a:buSzPct val="80000"/>
              <a:buFont typeface="Wingdings" panose="05000000000000000000" pitchFamily="2" charset="2"/>
              <a:buChar char="n"/>
            </a:pPr>
            <a:endParaRPr lang="en-US" altLang="zh-CN" sz="2400" b="1" dirty="0">
              <a:latin typeface="Trebuchet MS" panose="020B0603020202020204" pitchFamily="34" charset="0"/>
              <a:cs typeface="Times New Roman" panose="02020603050405020304" pitchFamily="18" charset="0"/>
            </a:endParaRPr>
          </a:p>
          <a:p>
            <a:pPr marL="342900" indent="-342900">
              <a:lnSpc>
                <a:spcPct val="120000"/>
              </a:lnSpc>
              <a:buClr>
                <a:srgbClr val="0B61FF"/>
              </a:buClr>
              <a:buSzPct val="80000"/>
              <a:buFont typeface="Wingdings" panose="05000000000000000000" pitchFamily="2" charset="2"/>
              <a:buChar char="n"/>
            </a:pPr>
            <a:endParaRPr lang="en-US" altLang="zh-CN" sz="2400" b="1" dirty="0">
              <a:latin typeface="Trebuchet MS" panose="020B0603020202020204" pitchFamily="34" charset="0"/>
              <a:ea typeface="华文楷体" panose="02010600040101010101" pitchFamily="2" charset="-122"/>
              <a:cs typeface="Times New Roman" panose="02020603050405020304" pitchFamily="18" charset="0"/>
            </a:endParaRPr>
          </a:p>
          <a:p>
            <a:pPr marL="342900" indent="-342900">
              <a:lnSpc>
                <a:spcPct val="120000"/>
              </a:lnSpc>
              <a:buClr>
                <a:srgbClr val="0B61FF"/>
              </a:buClr>
              <a:buSzPct val="80000"/>
              <a:buFont typeface="Wingdings" panose="05000000000000000000" pitchFamily="2" charset="2"/>
              <a:buChar char="n"/>
            </a:pPr>
            <a:endParaRPr lang="en-US" altLang="zh-CN" sz="2400" b="1" dirty="0">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3190920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animEffect transition="in" filter="fade">
                                      <p:cBhvr>
                                        <p:cTn id="7" dur="1000"/>
                                        <p:tgtEl>
                                          <p:spTgt spid="24">
                                            <p:txEl>
                                              <p:pRg st="1" end="1"/>
                                            </p:txEl>
                                          </p:spTgt>
                                        </p:tgtEl>
                                      </p:cBhvr>
                                    </p:animEffect>
                                    <p:anim calcmode="lin" valueType="num">
                                      <p:cBhvr>
                                        <p:cTn id="8" dur="100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xEl>
                                              <p:pRg st="2" end="2"/>
                                            </p:txEl>
                                          </p:spTgt>
                                        </p:tgtEl>
                                        <p:attrNameLst>
                                          <p:attrName>style.visibility</p:attrName>
                                        </p:attrNameLst>
                                      </p:cBhvr>
                                      <p:to>
                                        <p:strVal val="visible"/>
                                      </p:to>
                                    </p:set>
                                    <p:animEffect transition="in" filter="fade">
                                      <p:cBhvr>
                                        <p:cTn id="14" dur="1000"/>
                                        <p:tgtEl>
                                          <p:spTgt spid="24">
                                            <p:txEl>
                                              <p:pRg st="2" end="2"/>
                                            </p:txEl>
                                          </p:spTgt>
                                        </p:tgtEl>
                                      </p:cBhvr>
                                    </p:animEffect>
                                    <p:anim calcmode="lin" valueType="num">
                                      <p:cBhvr>
                                        <p:cTn id="15" dur="1000" fill="hold"/>
                                        <p:tgtEl>
                                          <p:spTgt spid="2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4">
                                            <p:txEl>
                                              <p:pRg st="3" end="3"/>
                                            </p:txEl>
                                          </p:spTgt>
                                        </p:tgtEl>
                                        <p:attrNameLst>
                                          <p:attrName>style.visibility</p:attrName>
                                        </p:attrNameLst>
                                      </p:cBhvr>
                                      <p:to>
                                        <p:strVal val="visible"/>
                                      </p:to>
                                    </p:set>
                                    <p:animEffect transition="in" filter="fade">
                                      <p:cBhvr>
                                        <p:cTn id="21" dur="1000"/>
                                        <p:tgtEl>
                                          <p:spTgt spid="24">
                                            <p:txEl>
                                              <p:pRg st="3" end="3"/>
                                            </p:txEl>
                                          </p:spTgt>
                                        </p:tgtEl>
                                      </p:cBhvr>
                                    </p:animEffect>
                                    <p:anim calcmode="lin" valueType="num">
                                      <p:cBhvr>
                                        <p:cTn id="22" dur="1000" fill="hold"/>
                                        <p:tgtEl>
                                          <p:spTgt spid="2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2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isomorphism of algebraic systems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24" name="Text Box 3">
            <a:extLst>
              <a:ext uri="{FF2B5EF4-FFF2-40B4-BE49-F238E27FC236}">
                <a16:creationId xmlns:a16="http://schemas.microsoft.com/office/drawing/2014/main" id="{E8567710-70AA-47FC-99EC-AE8139A38990}"/>
              </a:ext>
            </a:extLst>
          </p:cNvPr>
          <p:cNvSpPr txBox="1">
            <a:spLocks noChangeArrowheads="1"/>
          </p:cNvSpPr>
          <p:nvPr/>
        </p:nvSpPr>
        <p:spPr bwMode="auto">
          <a:xfrm>
            <a:off x="824682" y="1013277"/>
            <a:ext cx="10567218" cy="5240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Let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be a homomorphism from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to</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&gt;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rPr>
              <a:t>if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is bijective, then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dirty="0">
                <a:latin typeface="Trebuchet MS" panose="020B0603020202020204" pitchFamily="34" charset="0"/>
              </a:rPr>
              <a:t> is called an </a:t>
            </a:r>
            <a:r>
              <a:rPr lang="en-US" altLang="zh-CN" sz="2400" b="1" i="1" dirty="0">
                <a:solidFill>
                  <a:srgbClr val="FF0000"/>
                </a:solidFill>
                <a:latin typeface="Trebuchet MS" panose="020B0603020202020204" pitchFamily="34" charset="0"/>
              </a:rPr>
              <a:t>iso</a:t>
            </a:r>
            <a:r>
              <a:rPr lang="en-US" altLang="zh-CN" sz="2400" b="1" i="1" dirty="0">
                <a:solidFill>
                  <a:srgbClr val="0B61FF"/>
                </a:solidFill>
                <a:latin typeface="Trebuchet MS" panose="020B0603020202020204" pitchFamily="34" charset="0"/>
              </a:rPr>
              <a:t>morphism</a:t>
            </a:r>
            <a:r>
              <a:rPr lang="en-US" altLang="zh-CN" sz="2400" dirty="0">
                <a:latin typeface="Trebuchet MS" panose="020B0603020202020204" pitchFamily="34" charset="0"/>
              </a:rPr>
              <a:t> from </a:t>
            </a:r>
            <a:r>
              <a:rPr lang="en-US" altLang="zh-CN" sz="2400" b="1" i="1" dirty="0">
                <a:latin typeface="Trebuchet MS" panose="020B0603020202020204" pitchFamily="34" charset="0"/>
              </a:rPr>
              <a:t>V</a:t>
            </a:r>
            <a:r>
              <a:rPr lang="en-US" altLang="zh-CN" sz="2400" b="1" baseline="-25000" dirty="0">
                <a:latin typeface="Trebuchet MS" panose="020B0603020202020204" pitchFamily="34" charset="0"/>
              </a:rPr>
              <a:t>1  </a:t>
            </a:r>
            <a:r>
              <a:rPr lang="en-US" altLang="zh-CN" sz="2400" b="1" dirty="0">
                <a:latin typeface="Trebuchet MS" panose="020B0603020202020204" pitchFamily="34" charset="0"/>
              </a:rPr>
              <a:t>to </a:t>
            </a:r>
            <a:r>
              <a:rPr lang="en-US" altLang="zh-CN" sz="2400" b="1" i="1" dirty="0">
                <a:latin typeface="Trebuchet MS" panose="020B0603020202020204" pitchFamily="34" charset="0"/>
              </a:rPr>
              <a:t>V</a:t>
            </a:r>
            <a:r>
              <a:rPr lang="en-US" altLang="zh-CN" sz="2400" b="1" baseline="-25000" dirty="0">
                <a:latin typeface="Trebuchet MS" panose="020B0603020202020204" pitchFamily="34" charset="0"/>
              </a:rPr>
              <a:t>2</a:t>
            </a:r>
            <a:r>
              <a:rPr lang="zh-CN" altLang="en-US" sz="2400" b="1" baseline="-25000" dirty="0">
                <a:latin typeface="Trebuchet MS" panose="020B0603020202020204" pitchFamily="34" charset="0"/>
              </a:rPr>
              <a:t> </a:t>
            </a:r>
            <a:r>
              <a:rPr lang="en-US" altLang="zh-CN" sz="2400" dirty="0">
                <a:latin typeface="Trebuchet MS" panose="020B0603020202020204" pitchFamily="34" charset="0"/>
              </a:rPr>
              <a:t>denoted as </a:t>
            </a:r>
            <a:r>
              <a:rPr lang="en-US" altLang="zh-CN" sz="2400" b="1" i="1" dirty="0">
                <a:solidFill>
                  <a:srgbClr val="FF0000"/>
                </a:solidFill>
                <a:latin typeface="Trebuchet MS" panose="020B0603020202020204" pitchFamily="34" charset="0"/>
              </a:rPr>
              <a:t>V</a:t>
            </a:r>
            <a:r>
              <a:rPr lang="en-US" altLang="zh-CN" sz="2400" b="1" baseline="-25000" dirty="0">
                <a:solidFill>
                  <a:srgbClr val="FF0000"/>
                </a:solidFill>
                <a:latin typeface="Trebuchet MS" panose="020B0603020202020204" pitchFamily="34" charset="0"/>
              </a:rPr>
              <a:t>1</a:t>
            </a:r>
            <a:r>
              <a:rPr lang="en-US" altLang="zh-CN" sz="2400" b="1" dirty="0">
                <a:solidFill>
                  <a:srgbClr val="FF0000"/>
                </a:solidFill>
                <a:latin typeface="Trebuchet MS" panose="020B0603020202020204" pitchFamily="34" charset="0"/>
                <a:sym typeface="Symbol" panose="05050102010706020507" pitchFamily="18" charset="2"/>
              </a:rPr>
              <a:t></a:t>
            </a:r>
            <a:r>
              <a:rPr lang="en-US" altLang="zh-CN" sz="2400" b="1" i="1" dirty="0">
                <a:solidFill>
                  <a:srgbClr val="FF0000"/>
                </a:solidFill>
                <a:latin typeface="Trebuchet MS" panose="020B0603020202020204" pitchFamily="34" charset="0"/>
              </a:rPr>
              <a:t>V</a:t>
            </a:r>
            <a:r>
              <a:rPr lang="en-US" altLang="zh-CN" sz="2400" b="1" baseline="-25000" dirty="0">
                <a:solidFill>
                  <a:srgbClr val="FF0000"/>
                </a:solidFill>
                <a:latin typeface="Trebuchet MS" panose="020B0603020202020204" pitchFamily="34" charset="0"/>
              </a:rPr>
              <a:t>2</a:t>
            </a:r>
            <a:r>
              <a:rPr lang="en-US" altLang="zh-CN" sz="2400" b="1" dirty="0">
                <a:latin typeface="Trebuchet MS" panose="020B0603020202020204" pitchFamily="34" charset="0"/>
              </a:rPr>
              <a:t>.</a:t>
            </a:r>
            <a:r>
              <a:rPr lang="zh-CN" altLang="en-US" sz="2400" b="1" dirty="0">
                <a:solidFill>
                  <a:schemeClr val="tx1"/>
                </a:solidFill>
                <a:latin typeface="Trebuchet MS" panose="020B0603020202020204" pitchFamily="34" charset="0"/>
                <a:ea typeface="宋体" panose="02010600030101010101" pitchFamily="2" charset="-122"/>
              </a:rPr>
              <a:t> </a:t>
            </a:r>
            <a:endParaRPr lang="en-US" altLang="zh-CN" sz="2400" b="1" dirty="0">
              <a:solidFill>
                <a:schemeClr val="tx1"/>
              </a:solidFill>
              <a:latin typeface="Trebuchet MS" panose="020B0603020202020204" pitchFamily="34" charset="0"/>
              <a:ea typeface="宋体" panose="02010600030101010101" pitchFamily="2" charset="-122"/>
            </a:endParaRPr>
          </a:p>
          <a:p>
            <a:pPr marL="342900" indent="-342900">
              <a:lnSpc>
                <a:spcPct val="120000"/>
              </a:lnSpc>
              <a:spcBef>
                <a:spcPts val="600"/>
              </a:spcBef>
              <a:buClr>
                <a:srgbClr val="0B61FF"/>
              </a:buClr>
              <a:buSzPct val="80000"/>
              <a:buFont typeface="Wingdings" panose="05000000000000000000" pitchFamily="2" charset="2"/>
              <a:buChar char="n"/>
            </a:pPr>
            <a:endParaRPr lang="en-US" altLang="zh-CN" sz="2400" b="1" dirty="0">
              <a:solidFill>
                <a:schemeClr val="tx1"/>
              </a:solidFill>
              <a:latin typeface="Trebuchet MS" panose="020B0603020202020204" pitchFamily="34" charset="0"/>
              <a:ea typeface="宋体" panose="02010600030101010101" pitchFamily="2" charset="-122"/>
            </a:endParaRPr>
          </a:p>
          <a:p>
            <a:pPr marL="342900" indent="-342900">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Note</a:t>
            </a:r>
            <a:r>
              <a:rPr lang="zh-CN" altLang="en-US" sz="2400" b="1" dirty="0">
                <a:latin typeface="Trebuchet MS" panose="020B0603020202020204" pitchFamily="34" charset="0"/>
                <a:ea typeface="华文楷体" panose="02010600040101010101" pitchFamily="2" charset="-122"/>
                <a:cs typeface="Times New Roman" panose="02020603050405020304" pitchFamily="18" charset="0"/>
              </a:rPr>
              <a:t>：</a:t>
            </a:r>
            <a:r>
              <a:rPr lang="zh-CN" altLang="zh-CN" sz="2400" b="1" kern="100" dirty="0">
                <a:latin typeface="Trebuchet MS" panose="020B0603020202020204" pitchFamily="34" charset="0"/>
                <a:ea typeface="华文楷体" panose="02010600040101010101" pitchFamily="2" charset="-122"/>
                <a:cs typeface="Times New Roman" panose="02020603050405020304" pitchFamily="18" charset="0"/>
              </a:rPr>
              <a:t> </a:t>
            </a:r>
            <a:r>
              <a:rPr lang="en-US" altLang="zh-CN" sz="2000" b="1" i="1" kern="100" dirty="0">
                <a:latin typeface="Trebuchet MS" panose="020B0603020202020204" pitchFamily="34" charset="0"/>
                <a:ea typeface="华文楷体" panose="02010600040101010101" pitchFamily="2" charset="-122"/>
                <a:cs typeface="Times New Roman" panose="02020603050405020304" pitchFamily="18" charset="0"/>
              </a:rPr>
              <a:t>f</a:t>
            </a:r>
            <a:r>
              <a:rPr lang="en-US" altLang="zh-CN" sz="2000" dirty="0">
                <a:latin typeface="Trebuchet MS" panose="020B0603020202020204" pitchFamily="34" charset="0"/>
              </a:rPr>
              <a:t> being bijective (or a one-to-one and onto mapping) means that </a:t>
            </a:r>
            <a:r>
              <a:rPr lang="en-US" altLang="zh-CN" sz="2000" b="1" i="1" kern="100" dirty="0">
                <a:latin typeface="Trebuchet MS" panose="020B0603020202020204" pitchFamily="34" charset="0"/>
                <a:ea typeface="华文楷体" panose="02010600040101010101" pitchFamily="2" charset="-122"/>
                <a:cs typeface="Times New Roman" panose="02020603050405020304" pitchFamily="18" charset="0"/>
              </a:rPr>
              <a:t>f</a:t>
            </a:r>
            <a:r>
              <a:rPr lang="en-US" altLang="zh-CN" sz="2000" dirty="0">
                <a:latin typeface="Trebuchet MS" panose="020B0603020202020204" pitchFamily="34" charset="0"/>
              </a:rPr>
              <a:t> is both injective (one-to-one) and surjective (onto). The existence of an isomorphism between two algebraic systems means that their algebraic structures are equivalent.</a:t>
            </a:r>
          </a:p>
          <a:p>
            <a:pPr marL="342900" indent="-342900">
              <a:lnSpc>
                <a:spcPct val="120000"/>
              </a:lnSpc>
              <a:spcBef>
                <a:spcPts val="600"/>
              </a:spcBef>
              <a:buClr>
                <a:srgbClr val="0B61FF"/>
              </a:buClr>
              <a:buSzPct val="80000"/>
              <a:buFont typeface="Wingdings" panose="05000000000000000000" pitchFamily="2" charset="2"/>
              <a:buChar char="n"/>
            </a:pPr>
            <a:endParaRPr lang="en-US" altLang="zh-CN" sz="2000" dirty="0">
              <a:latin typeface="Trebuchet MS" panose="020B0603020202020204" pitchFamily="34" charset="0"/>
            </a:endParaRPr>
          </a:p>
          <a:p>
            <a:pPr marL="342900" indent="-342900">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Let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​=⟨R,+⟩,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​=⟨R,+⟩ ,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 R→R </a:t>
            </a:r>
            <a:r>
              <a:rPr lang="en-US" altLang="zh-CN" sz="2400" kern="100" dirty="0">
                <a:latin typeface="Trebuchet MS" panose="020B0603020202020204" pitchFamily="34" charset="0"/>
                <a:cs typeface="Times New Roman" panose="02020603050405020304" pitchFamily="18" charset="0"/>
              </a:rPr>
              <a:t>be defined by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x. </a:t>
            </a:r>
            <a:r>
              <a:rPr lang="en-US" altLang="zh-CN" sz="2400" dirty="0">
                <a:latin typeface="Trebuchet MS" panose="020B0603020202020204" pitchFamily="34" charset="0"/>
              </a:rPr>
              <a:t>Is the mapping </a:t>
            </a:r>
            <a:r>
              <a:rPr lang="en-US" altLang="zh-CN" sz="2400" b="1" i="1" dirty="0">
                <a:latin typeface="Trebuchet MS" panose="020B0603020202020204" pitchFamily="34" charset="0"/>
                <a:cs typeface="Times New Roman" panose="02020603050405020304" pitchFamily="18" charset="0"/>
              </a:rPr>
              <a:t>f</a:t>
            </a:r>
            <a:r>
              <a:rPr lang="en-US" altLang="zh-CN" sz="2400" dirty="0">
                <a:latin typeface="Trebuchet MS" panose="020B0603020202020204" pitchFamily="34" charset="0"/>
              </a:rPr>
              <a:t> an isomorphism from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1</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to</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2</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rPr>
              <a:t> </a:t>
            </a:r>
          </a:p>
          <a:p>
            <a:pPr marL="447675" indent="-271463">
              <a:lnSpc>
                <a:spcPct val="120000"/>
              </a:lnSpc>
              <a:spcBef>
                <a:spcPts val="600"/>
              </a:spcBef>
              <a:buClr>
                <a:srgbClr val="0B61FF"/>
              </a:buClr>
              <a:buSzPct val="120000"/>
              <a:buFont typeface="Arial" panose="020B0604020202020204" pitchFamily="34" charset="0"/>
              <a:buChar char="•"/>
              <a:tabLst>
                <a:tab pos="447675" algn="l"/>
              </a:tabLst>
            </a:pPr>
            <a:r>
              <a:rPr lang="en-US" altLang="zh-CN" sz="2400" dirty="0">
                <a:latin typeface="Trebuchet MS" panose="020B0603020202020204" pitchFamily="34" charset="0"/>
              </a:rPr>
              <a:t>we need to verify two conditions: the mapping is a homomorphism, and it is bijective.</a:t>
            </a:r>
          </a:p>
        </p:txBody>
      </p:sp>
    </p:spTree>
    <p:extLst>
      <p:ext uri="{BB962C8B-B14F-4D97-AF65-F5344CB8AC3E}">
        <p14:creationId xmlns:p14="http://schemas.microsoft.com/office/powerpoint/2010/main" val="36527151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xEl>
                                              <p:pRg st="2" end="2"/>
                                            </p:txEl>
                                          </p:spTgt>
                                        </p:tgtEl>
                                        <p:attrNameLst>
                                          <p:attrName>style.visibility</p:attrName>
                                        </p:attrNameLst>
                                      </p:cBhvr>
                                      <p:to>
                                        <p:strVal val="visible"/>
                                      </p:to>
                                    </p:set>
                                    <p:animEffect transition="in" filter="fade">
                                      <p:cBhvr>
                                        <p:cTn id="7" dur="1000"/>
                                        <p:tgtEl>
                                          <p:spTgt spid="24">
                                            <p:txEl>
                                              <p:pRg st="2" end="2"/>
                                            </p:txEl>
                                          </p:spTgt>
                                        </p:tgtEl>
                                      </p:cBhvr>
                                    </p:animEffect>
                                    <p:anim calcmode="lin" valueType="num">
                                      <p:cBhvr>
                                        <p:cTn id="8" dur="1000" fill="hold"/>
                                        <p:tgtEl>
                                          <p:spTgt spid="2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xEl>
                                              <p:pRg st="4" end="4"/>
                                            </p:txEl>
                                          </p:spTgt>
                                        </p:tgtEl>
                                        <p:attrNameLst>
                                          <p:attrName>style.visibility</p:attrName>
                                        </p:attrNameLst>
                                      </p:cBhvr>
                                      <p:to>
                                        <p:strVal val="visible"/>
                                      </p:to>
                                    </p:set>
                                    <p:animEffect transition="in" filter="fade">
                                      <p:cBhvr>
                                        <p:cTn id="14" dur="1000"/>
                                        <p:tgtEl>
                                          <p:spTgt spid="24">
                                            <p:txEl>
                                              <p:pRg st="4" end="4"/>
                                            </p:txEl>
                                          </p:spTgt>
                                        </p:tgtEl>
                                      </p:cBhvr>
                                    </p:animEffect>
                                    <p:anim calcmode="lin" valueType="num">
                                      <p:cBhvr>
                                        <p:cTn id="15" dur="1000" fill="hold"/>
                                        <p:tgtEl>
                                          <p:spTgt spid="24">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2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4">
                                            <p:txEl>
                                              <p:pRg st="5" end="5"/>
                                            </p:txEl>
                                          </p:spTgt>
                                        </p:tgtEl>
                                        <p:attrNameLst>
                                          <p:attrName>style.visibility</p:attrName>
                                        </p:attrNameLst>
                                      </p:cBhvr>
                                      <p:to>
                                        <p:strVal val="visible"/>
                                      </p:to>
                                    </p:set>
                                    <p:animEffect transition="in" filter="fade">
                                      <p:cBhvr>
                                        <p:cTn id="21" dur="1000"/>
                                        <p:tgtEl>
                                          <p:spTgt spid="24">
                                            <p:txEl>
                                              <p:pRg st="5" end="5"/>
                                            </p:txEl>
                                          </p:spTgt>
                                        </p:tgtEl>
                                      </p:cBhvr>
                                    </p:animEffect>
                                    <p:anim calcmode="lin" valueType="num">
                                      <p:cBhvr>
                                        <p:cTn id="22" dur="1000" fill="hold"/>
                                        <p:tgtEl>
                                          <p:spTgt spid="2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2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Isomorphism of algebraic systems(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24" name="Text Box 3">
            <a:extLst>
              <a:ext uri="{FF2B5EF4-FFF2-40B4-BE49-F238E27FC236}">
                <a16:creationId xmlns:a16="http://schemas.microsoft.com/office/drawing/2014/main" id="{E8567710-70AA-47FC-99EC-AE8139A38990}"/>
              </a:ext>
            </a:extLst>
          </p:cNvPr>
          <p:cNvSpPr txBox="1">
            <a:spLocks noChangeArrowheads="1"/>
          </p:cNvSpPr>
          <p:nvPr/>
        </p:nvSpPr>
        <p:spPr bwMode="auto">
          <a:xfrm>
            <a:off x="824682" y="794337"/>
            <a:ext cx="10283346" cy="554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gn="just">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Homomorphism</a:t>
            </a:r>
            <a:r>
              <a:rPr lang="en-US" altLang="zh-CN" sz="2400" b="1" kern="100"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)=2(</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which shows that </a:t>
            </a:r>
            <a:r>
              <a:rPr lang="en-US" altLang="zh-CN" sz="2400" b="1" i="1" dirty="0">
                <a:latin typeface="Trebuchet MS" panose="020B0603020202020204" pitchFamily="34" charset="0"/>
              </a:rPr>
              <a:t>f</a:t>
            </a:r>
            <a:r>
              <a:rPr lang="en-US" altLang="zh-CN" sz="2400" dirty="0">
                <a:latin typeface="Trebuchet MS" panose="020B0603020202020204" pitchFamily="34" charset="0"/>
              </a:rPr>
              <a:t> is a homomorphism. </a:t>
            </a:r>
          </a:p>
          <a:p>
            <a:pPr marL="342900" indent="-342900" algn="just">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Bijectivity </a:t>
            </a:r>
            <a:r>
              <a:rPr lang="en-US" altLang="zh-CN" sz="2400" b="1" kern="100" dirty="0">
                <a:latin typeface="Trebuchet MS" panose="020B0603020202020204" pitchFamily="34" charset="0"/>
                <a:cs typeface="Times New Roman" panose="02020603050405020304" pitchFamily="18" charset="0"/>
              </a:rPr>
              <a:t>: </a:t>
            </a:r>
          </a:p>
          <a:p>
            <a:pPr marL="536575" indent="-360363" algn="just">
              <a:lnSpc>
                <a:spcPct val="120000"/>
              </a:lnSpc>
              <a:spcBef>
                <a:spcPts val="300"/>
              </a:spcBef>
              <a:buClr>
                <a:srgbClr val="0B61FF"/>
              </a:buClr>
              <a:buSzPct val="120000"/>
              <a:buFont typeface="Arial" panose="020B0604020202020204" pitchFamily="34" charset="0"/>
              <a:buChar char="•"/>
            </a:pPr>
            <a:r>
              <a:rPr lang="en-US" altLang="zh-CN" sz="2400" b="1" dirty="0">
                <a:latin typeface="Trebuchet MS" panose="020B0603020202020204" pitchFamily="34" charset="0"/>
              </a:rPr>
              <a:t>Injectivity</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If</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 then 2</a:t>
            </a:r>
            <a:r>
              <a:rPr lang="en-US" altLang="zh-CN" sz="2400" b="1" i="1" dirty="0">
                <a:latin typeface="Trebuchet MS" panose="020B0603020202020204" pitchFamily="34" charset="0"/>
                <a:cs typeface="Times New Roman" panose="02020603050405020304" pitchFamily="18" charset="0"/>
              </a:rPr>
              <a:t>x</a:t>
            </a:r>
            <a:r>
              <a:rPr lang="en-US" altLang="zh-CN" sz="2400" b="1" baseline="-25000" dirty="0">
                <a:latin typeface="Trebuchet MS" panose="020B0603020202020204" pitchFamily="34" charset="0"/>
                <a:cs typeface="Times New Roman" panose="02020603050405020304" pitchFamily="18" charset="0"/>
              </a:rPr>
              <a:t>1 </a:t>
            </a:r>
            <a:r>
              <a:rPr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x</a:t>
            </a:r>
            <a:r>
              <a:rPr lang="en-US" altLang="zh-CN" sz="2400" b="1" baseline="-25000" dirty="0">
                <a:latin typeface="Trebuchet MS" panose="020B0603020202020204" pitchFamily="34" charset="0"/>
                <a:cs typeface="Times New Roman" panose="02020603050405020304" pitchFamily="18" charset="0"/>
              </a:rPr>
              <a:t>2 </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which leads to </a:t>
            </a:r>
            <a:r>
              <a:rPr lang="en-US" altLang="zh-CN" sz="2400" b="1" i="1" dirty="0">
                <a:latin typeface="Trebuchet MS" panose="020B0603020202020204" pitchFamily="34" charset="0"/>
                <a:cs typeface="Times New Roman" panose="02020603050405020304" pitchFamily="18" charset="0"/>
              </a:rPr>
              <a:t>x</a:t>
            </a:r>
            <a:r>
              <a:rPr lang="en-US" altLang="zh-CN" sz="2400" b="1" baseline="-25000" dirty="0">
                <a:latin typeface="Trebuchet MS" panose="020B0603020202020204" pitchFamily="34" charset="0"/>
                <a:cs typeface="Times New Roman" panose="02020603050405020304" pitchFamily="18" charset="0"/>
              </a:rPr>
              <a:t>1 </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x</a:t>
            </a:r>
            <a:r>
              <a:rPr lang="en-US" altLang="zh-CN" sz="2400" b="1" baseline="-25000" dirty="0">
                <a:latin typeface="Trebuchet MS" panose="020B0603020202020204" pitchFamily="34" charset="0"/>
                <a:cs typeface="Times New Roman" panose="02020603050405020304" pitchFamily="18" charset="0"/>
              </a:rPr>
              <a:t>2 </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showing that </a:t>
            </a:r>
            <a:r>
              <a:rPr lang="en-US" altLang="zh-CN" sz="2400" b="1" i="1" dirty="0">
                <a:latin typeface="Trebuchet MS" panose="020B0603020202020204" pitchFamily="34" charset="0"/>
              </a:rPr>
              <a:t>f</a:t>
            </a:r>
            <a:r>
              <a:rPr lang="en-US" altLang="zh-CN" sz="2400" dirty="0">
                <a:latin typeface="Trebuchet MS" panose="020B0603020202020204" pitchFamily="34" charset="0"/>
              </a:rPr>
              <a:t> is injective. </a:t>
            </a:r>
          </a:p>
          <a:p>
            <a:pPr marL="536575" indent="-360363" algn="just">
              <a:lnSpc>
                <a:spcPct val="120000"/>
              </a:lnSpc>
              <a:spcBef>
                <a:spcPts val="300"/>
              </a:spcBef>
              <a:buClr>
                <a:srgbClr val="0B61FF"/>
              </a:buClr>
              <a:buSzPct val="120000"/>
              <a:buFont typeface="Arial" panose="020B0604020202020204" pitchFamily="34" charset="0"/>
              <a:buChar char="•"/>
            </a:pPr>
            <a:r>
              <a:rPr lang="en-US" altLang="zh-CN" sz="2400" b="1" dirty="0" err="1">
                <a:latin typeface="Trebuchet MS" panose="020B0603020202020204" pitchFamily="34" charset="0"/>
              </a:rPr>
              <a:t>Surjectivity</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For every real number </a:t>
            </a:r>
            <a:r>
              <a:rPr lang="en-US" altLang="zh-CN" sz="2400" b="1" dirty="0" err="1">
                <a:latin typeface="Trebuchet MS" panose="020B0603020202020204" pitchFamily="34" charset="0"/>
              </a:rPr>
              <a:t>y∈R</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there exists </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/2,​</a:t>
            </a:r>
            <a:r>
              <a:rPr lang="en-US" altLang="zh-CN" sz="2400" dirty="0">
                <a:latin typeface="Trebuchet MS" panose="020B0603020202020204" pitchFamily="34" charset="0"/>
              </a:rPr>
              <a:t> such that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)=2</a:t>
            </a:r>
            <a:r>
              <a:rPr lang="zh-CN"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 s</a:t>
            </a:r>
            <a:r>
              <a:rPr lang="en-US" altLang="zh-CN" sz="2400" dirty="0">
                <a:latin typeface="Trebuchet MS" panose="020B0603020202020204" pitchFamily="34" charset="0"/>
              </a:rPr>
              <a:t>howing that </a:t>
            </a:r>
            <a:r>
              <a:rPr lang="en-US" altLang="zh-CN" sz="2400" b="1" i="1" dirty="0">
                <a:latin typeface="Trebuchet MS" panose="020B0603020202020204" pitchFamily="34" charset="0"/>
              </a:rPr>
              <a:t>f</a:t>
            </a:r>
            <a:r>
              <a:rPr lang="en-US" altLang="zh-CN" sz="2400" dirty="0">
                <a:latin typeface="Trebuchet MS" panose="020B0603020202020204" pitchFamily="34" charset="0"/>
              </a:rPr>
              <a:t> is surjective. </a:t>
            </a:r>
          </a:p>
          <a:p>
            <a:pPr marL="536575" indent="-360363" algn="just">
              <a:lnSpc>
                <a:spcPct val="12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Since </a:t>
            </a:r>
            <a:r>
              <a:rPr lang="en-US" altLang="zh-CN" sz="2400" b="1" i="1" dirty="0">
                <a:latin typeface="Trebuchet MS" panose="020B0603020202020204" pitchFamily="34" charset="0"/>
              </a:rPr>
              <a:t>f</a:t>
            </a:r>
            <a:r>
              <a:rPr lang="en-US" altLang="zh-CN" sz="2400" dirty="0">
                <a:latin typeface="Trebuchet MS" panose="020B0603020202020204" pitchFamily="34" charset="0"/>
              </a:rPr>
              <a:t> is both injective and surjective, it is bijective.</a:t>
            </a:r>
            <a:endParaRPr lang="zh-CN" altLang="zh-CN" sz="2400" b="1" dirty="0">
              <a:latin typeface="Trebuchet MS" panose="020B0603020202020204" pitchFamily="34" charset="0"/>
              <a:cs typeface="Times New Roman" panose="02020603050405020304" pitchFamily="18" charset="0"/>
            </a:endParaRPr>
          </a:p>
          <a:p>
            <a:pPr marL="342900" indent="-342900">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Conclusion:</a:t>
            </a:r>
            <a:br>
              <a:rPr lang="en-US" altLang="zh-CN" sz="2400" dirty="0">
                <a:latin typeface="Trebuchet MS" panose="020B0603020202020204" pitchFamily="34" charset="0"/>
              </a:rPr>
            </a:b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x </a:t>
            </a:r>
            <a:r>
              <a:rPr lang="en-US" altLang="zh-CN" sz="2400" dirty="0">
                <a:latin typeface="Trebuchet MS" panose="020B0603020202020204" pitchFamily="34" charset="0"/>
              </a:rPr>
              <a:t>is an </a:t>
            </a:r>
            <a:r>
              <a:rPr lang="en-US" altLang="zh-CN" sz="2400" b="1" i="1" dirty="0">
                <a:solidFill>
                  <a:srgbClr val="0B61FF"/>
                </a:solidFill>
                <a:latin typeface="Trebuchet MS" panose="020B0603020202020204" pitchFamily="34" charset="0"/>
              </a:rPr>
              <a:t>isomorphism</a:t>
            </a:r>
            <a:r>
              <a:rPr lang="en-US" altLang="zh-CN" sz="2400" dirty="0">
                <a:latin typeface="Trebuchet MS" panose="020B0603020202020204" pitchFamily="34" charset="0"/>
              </a:rPr>
              <a:t> from </a:t>
            </a:r>
            <a:r>
              <a:rPr lang="en-US" altLang="zh-CN" sz="2400" b="1" i="1" dirty="0">
                <a:latin typeface="Trebuchet MS" panose="020B0603020202020204" pitchFamily="34" charset="0"/>
                <a:cs typeface="Times New Roman" panose="02020603050405020304" pitchFamily="18" charset="0"/>
              </a:rPr>
              <a:t>V</a:t>
            </a:r>
            <a:r>
              <a:rPr lang="en-US" altLang="zh-CN" sz="2400" b="1" dirty="0">
                <a:latin typeface="Trebuchet MS" panose="020B0603020202020204" pitchFamily="34" charset="0"/>
                <a:cs typeface="Times New Roman" panose="02020603050405020304" pitchFamily="18" charset="0"/>
              </a:rPr>
              <a:t>1 </a:t>
            </a:r>
            <a:r>
              <a:rPr lang="en-US" altLang="zh-CN" sz="2400" dirty="0">
                <a:latin typeface="Trebuchet MS" panose="020B0603020202020204" pitchFamily="34" charset="0"/>
              </a:rPr>
              <a:t>​to </a:t>
            </a:r>
            <a:r>
              <a:rPr lang="en-US" altLang="zh-CN" sz="2400" b="1" i="1" dirty="0">
                <a:latin typeface="Trebuchet MS" panose="020B0603020202020204" pitchFamily="34" charset="0"/>
                <a:cs typeface="Times New Roman" panose="02020603050405020304" pitchFamily="18" charset="0"/>
              </a:rPr>
              <a:t>V</a:t>
            </a:r>
            <a:r>
              <a:rPr lang="en-US" altLang="zh-CN" sz="2400" b="1" dirty="0">
                <a:latin typeface="Trebuchet MS" panose="020B0603020202020204" pitchFamily="34" charset="0"/>
                <a:cs typeface="Times New Roman" panose="02020603050405020304" pitchFamily="18" charset="0"/>
              </a:rPr>
              <a:t>2​</a:t>
            </a:r>
            <a:r>
              <a:rPr lang="en-US" altLang="zh-CN" sz="2400" dirty="0">
                <a:latin typeface="Trebuchet MS" panose="020B0603020202020204" pitchFamily="34" charset="0"/>
              </a:rPr>
              <a:t>​, and it preserves the properties of the addition operation (closure, commutativity, associativity, identity element, and inverse element).</a:t>
            </a:r>
            <a:endParaRPr lang="en-US" altLang="zh-CN" sz="2400" b="1" dirty="0">
              <a:latin typeface="Trebuchet MS" panose="020B0603020202020204" pitchFamily="34" charset="0"/>
              <a:cs typeface="Times New Roman" panose="02020603050405020304" pitchFamily="18" charset="0"/>
            </a:endParaRPr>
          </a:p>
          <a:p>
            <a:pPr marL="342900" indent="-342900">
              <a:lnSpc>
                <a:spcPct val="120000"/>
              </a:lnSpc>
              <a:buClr>
                <a:srgbClr val="0B61FF"/>
              </a:buClr>
              <a:buSzPct val="80000"/>
              <a:buFont typeface="Wingdings" panose="05000000000000000000" pitchFamily="2" charset="2"/>
              <a:buChar char="n"/>
            </a:pPr>
            <a:endParaRPr lang="en-US" altLang="zh-CN" sz="2400" b="1" dirty="0">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36741674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animEffect transition="in" filter="fade">
                                      <p:cBhvr>
                                        <p:cTn id="7" dur="1000"/>
                                        <p:tgtEl>
                                          <p:spTgt spid="24">
                                            <p:txEl>
                                              <p:pRg st="1" end="1"/>
                                            </p:txEl>
                                          </p:spTgt>
                                        </p:tgtEl>
                                      </p:cBhvr>
                                    </p:animEffect>
                                    <p:anim calcmode="lin" valueType="num">
                                      <p:cBhvr>
                                        <p:cTn id="8" dur="100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4">
                                            <p:txEl>
                                              <p:pRg st="2" end="2"/>
                                            </p:txEl>
                                          </p:spTgt>
                                        </p:tgtEl>
                                        <p:attrNameLst>
                                          <p:attrName>style.visibility</p:attrName>
                                        </p:attrNameLst>
                                      </p:cBhvr>
                                      <p:to>
                                        <p:strVal val="visible"/>
                                      </p:to>
                                    </p:set>
                                    <p:animEffect transition="in" filter="fade">
                                      <p:cBhvr>
                                        <p:cTn id="12" dur="1000"/>
                                        <p:tgtEl>
                                          <p:spTgt spid="24">
                                            <p:txEl>
                                              <p:pRg st="2" end="2"/>
                                            </p:txEl>
                                          </p:spTgt>
                                        </p:tgtEl>
                                      </p:cBhvr>
                                    </p:animEffect>
                                    <p:anim calcmode="lin" valueType="num">
                                      <p:cBhvr>
                                        <p:cTn id="13" dur="1000" fill="hold"/>
                                        <p:tgtEl>
                                          <p:spTgt spid="2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4">
                                            <p:txEl>
                                              <p:pRg st="3" end="3"/>
                                            </p:txEl>
                                          </p:spTgt>
                                        </p:tgtEl>
                                        <p:attrNameLst>
                                          <p:attrName>style.visibility</p:attrName>
                                        </p:attrNameLst>
                                      </p:cBhvr>
                                      <p:to>
                                        <p:strVal val="visible"/>
                                      </p:to>
                                    </p:set>
                                    <p:animEffect transition="in" filter="fade">
                                      <p:cBhvr>
                                        <p:cTn id="19" dur="1000"/>
                                        <p:tgtEl>
                                          <p:spTgt spid="24">
                                            <p:txEl>
                                              <p:pRg st="3" end="3"/>
                                            </p:txEl>
                                          </p:spTgt>
                                        </p:tgtEl>
                                      </p:cBhvr>
                                    </p:animEffect>
                                    <p:anim calcmode="lin" valueType="num">
                                      <p:cBhvr>
                                        <p:cTn id="20" dur="1000" fill="hold"/>
                                        <p:tgtEl>
                                          <p:spTgt spid="2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24">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4">
                                            <p:txEl>
                                              <p:pRg st="4" end="4"/>
                                            </p:txEl>
                                          </p:spTgt>
                                        </p:tgtEl>
                                        <p:attrNameLst>
                                          <p:attrName>style.visibility</p:attrName>
                                        </p:attrNameLst>
                                      </p:cBhvr>
                                      <p:to>
                                        <p:strVal val="visible"/>
                                      </p:to>
                                    </p:set>
                                    <p:animEffect transition="in" filter="fade">
                                      <p:cBhvr>
                                        <p:cTn id="24" dur="1000"/>
                                        <p:tgtEl>
                                          <p:spTgt spid="24">
                                            <p:txEl>
                                              <p:pRg st="4" end="4"/>
                                            </p:txEl>
                                          </p:spTgt>
                                        </p:tgtEl>
                                      </p:cBhvr>
                                    </p:animEffect>
                                    <p:anim calcmode="lin" valueType="num">
                                      <p:cBhvr>
                                        <p:cTn id="25" dur="1000" fill="hold"/>
                                        <p:tgtEl>
                                          <p:spTgt spid="24">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2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4">
                                            <p:txEl>
                                              <p:pRg st="5" end="5"/>
                                            </p:txEl>
                                          </p:spTgt>
                                        </p:tgtEl>
                                        <p:attrNameLst>
                                          <p:attrName>style.visibility</p:attrName>
                                        </p:attrNameLst>
                                      </p:cBhvr>
                                      <p:to>
                                        <p:strVal val="visible"/>
                                      </p:to>
                                    </p:set>
                                    <p:animEffect transition="in" filter="fade">
                                      <p:cBhvr>
                                        <p:cTn id="31" dur="1000"/>
                                        <p:tgtEl>
                                          <p:spTgt spid="24">
                                            <p:txEl>
                                              <p:pRg st="5" end="5"/>
                                            </p:txEl>
                                          </p:spTgt>
                                        </p:tgtEl>
                                      </p:cBhvr>
                                    </p:animEffect>
                                    <p:anim calcmode="lin" valueType="num">
                                      <p:cBhvr>
                                        <p:cTn id="32" dur="1000" fill="hold"/>
                                        <p:tgtEl>
                                          <p:spTgt spid="24">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2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Endomorphisms  and automorphisms of algebraic systems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2" name="文本框 11">
            <a:extLst>
              <a:ext uri="{FF2B5EF4-FFF2-40B4-BE49-F238E27FC236}">
                <a16:creationId xmlns:a16="http://schemas.microsoft.com/office/drawing/2014/main" id="{EC679E5A-DCF4-4CB8-952F-8A7BB0A6BA1C}"/>
              </a:ext>
            </a:extLst>
          </p:cNvPr>
          <p:cNvSpPr txBox="1"/>
          <p:nvPr/>
        </p:nvSpPr>
        <p:spPr>
          <a:xfrm>
            <a:off x="958830" y="903514"/>
            <a:ext cx="10123263" cy="4521889"/>
          </a:xfrm>
          <a:prstGeom prst="rect">
            <a:avLst/>
          </a:prstGeom>
          <a:noFill/>
        </p:spPr>
        <p:txBody>
          <a:bodyPr wrap="square">
            <a:no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A homomorphism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S</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S </a:t>
            </a:r>
            <a:r>
              <a:rPr lang="en-US" altLang="zh-CN" sz="2400" dirty="0">
                <a:latin typeface="Trebuchet MS" panose="020B0603020202020204" pitchFamily="34" charset="0"/>
              </a:rPr>
              <a:t>from an algebraic </a:t>
            </a:r>
            <a:r>
              <a:rPr lang="en-US" altLang="zh-CN" sz="2400" b="1" i="1" kern="100" dirty="0">
                <a:latin typeface="Trebuchet MS" panose="020B0603020202020204" pitchFamily="34" charset="0"/>
                <a:cs typeface="Times New Roman" panose="02020603050405020304" pitchFamily="18" charset="0"/>
              </a:rPr>
              <a:t>V</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S</a:t>
            </a:r>
            <a:r>
              <a:rPr lang="en-US" altLang="zh-CN" sz="2400" b="1" kern="100" dirty="0">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kern="100"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to itself is called an </a:t>
            </a:r>
            <a:r>
              <a:rPr lang="en-US" altLang="zh-CN" sz="2400" b="1" i="1" dirty="0">
                <a:solidFill>
                  <a:srgbClr val="FF0000"/>
                </a:solidFill>
                <a:latin typeface="Trebuchet MS" panose="020B0603020202020204" pitchFamily="34" charset="0"/>
              </a:rPr>
              <a:t>endo</a:t>
            </a:r>
            <a:r>
              <a:rPr lang="en-US" altLang="zh-CN" sz="2400" b="1" i="1" dirty="0">
                <a:solidFill>
                  <a:srgbClr val="0B61FF"/>
                </a:solidFill>
                <a:latin typeface="Trebuchet MS" panose="020B0603020202020204" pitchFamily="34" charset="0"/>
              </a:rPr>
              <a:t>morphism</a:t>
            </a:r>
            <a:r>
              <a:rPr lang="en-US" altLang="zh-CN" sz="2400" dirty="0">
                <a:latin typeface="Trebuchet MS" panose="020B0603020202020204" pitchFamily="34" charset="0"/>
              </a:rPr>
              <a:t>. That is, for all </a:t>
            </a:r>
            <a:r>
              <a:rPr lang="en-US" altLang="zh-CN" sz="2400" b="1" i="1" kern="100" dirty="0" err="1">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kern="100" dirty="0" err="1">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err="1">
                <a:effectLst/>
                <a:latin typeface="Trebuchet MS" panose="020B0603020202020204" pitchFamily="34" charset="0"/>
                <a:ea typeface="宋体" panose="02010600030101010101" pitchFamily="2" charset="-122"/>
                <a:cs typeface="Times New Roman" panose="02020603050405020304" pitchFamily="18" charset="0"/>
              </a:rPr>
              <a:t>y</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we have</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zh-CN" altLang="zh-CN" sz="2400" b="1" kern="100" dirty="0">
                <a:effectLst/>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kern="100" dirty="0">
                <a:effectLst/>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p>
          <a:p>
            <a:pPr marL="342900" indent="-342900">
              <a:lnSpc>
                <a:spcPct val="120000"/>
              </a:lnSpc>
              <a:spcBef>
                <a:spcPts val="6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A </a:t>
            </a:r>
            <a:r>
              <a:rPr lang="en-US" altLang="zh-CN" sz="2400" b="1" i="1" dirty="0">
                <a:solidFill>
                  <a:srgbClr val="0B61FF"/>
                </a:solidFill>
                <a:latin typeface="Trebuchet MS" panose="020B0603020202020204" pitchFamily="34" charset="0"/>
              </a:rPr>
              <a:t>zero homomorphism</a:t>
            </a:r>
            <a:r>
              <a:rPr lang="en-US" altLang="zh-CN" sz="2400" i="1" dirty="0">
                <a:solidFill>
                  <a:srgbClr val="0B61FF"/>
                </a:solidFill>
                <a:latin typeface="Trebuchet MS" panose="020B0603020202020204" pitchFamily="34" charset="0"/>
              </a:rPr>
              <a:t> </a:t>
            </a:r>
            <a:r>
              <a:rPr lang="en-US" altLang="zh-CN" sz="2400" dirty="0">
                <a:latin typeface="Trebuchet MS" panose="020B0603020202020204" pitchFamily="34" charset="0"/>
              </a:rPr>
              <a:t>maps every input element to the zero element in the target algebraic structure.</a:t>
            </a:r>
          </a:p>
          <a:p>
            <a:pPr marL="342900" indent="-342900">
              <a:lnSpc>
                <a:spcPct val="120000"/>
              </a:lnSpc>
              <a:spcBef>
                <a:spcPts val="6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An </a:t>
            </a:r>
            <a:r>
              <a:rPr lang="en-US" altLang="zh-CN" sz="2400" b="1" i="1" dirty="0">
                <a:solidFill>
                  <a:srgbClr val="FF0000"/>
                </a:solidFill>
                <a:latin typeface="Trebuchet MS" panose="020B0603020202020204" pitchFamily="34" charset="0"/>
              </a:rPr>
              <a:t>auto</a:t>
            </a:r>
            <a:r>
              <a:rPr lang="en-US" altLang="zh-CN" sz="2400" b="1" i="1" dirty="0">
                <a:solidFill>
                  <a:srgbClr val="0B61FF"/>
                </a:solidFill>
                <a:latin typeface="Trebuchet MS" panose="020B0603020202020204" pitchFamily="34" charset="0"/>
              </a:rPr>
              <a:t>morphism</a:t>
            </a:r>
            <a:r>
              <a:rPr lang="en-US" altLang="zh-CN" sz="2400" dirty="0">
                <a:latin typeface="Trebuchet MS" panose="020B0603020202020204" pitchFamily="34" charset="0"/>
              </a:rPr>
              <a:t> refers to a homomorphism </a:t>
            </a:r>
            <a:r>
              <a:rPr lang="en-US" altLang="zh-CN" sz="2400" b="1" i="1" kern="100" dirty="0">
                <a:latin typeface="Trebuchet MS" panose="020B0603020202020204" pitchFamily="34" charset="0"/>
                <a:cs typeface="Times New Roman" panose="02020603050405020304" pitchFamily="18" charset="0"/>
              </a:rPr>
              <a:t>f</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S</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S </a:t>
            </a:r>
            <a:r>
              <a:rPr lang="en-US" altLang="zh-CN" sz="2400" dirty="0">
                <a:latin typeface="Trebuchet MS" panose="020B0603020202020204" pitchFamily="34" charset="0"/>
              </a:rPr>
              <a:t>of the algebraic system </a:t>
            </a:r>
            <a:r>
              <a:rPr lang="en-US" altLang="zh-CN" sz="2400" b="1" i="1" kern="100" dirty="0">
                <a:latin typeface="Trebuchet MS" panose="020B0603020202020204" pitchFamily="34" charset="0"/>
                <a:cs typeface="Times New Roman" panose="02020603050405020304" pitchFamily="18" charset="0"/>
              </a:rPr>
              <a:t>V</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S</a:t>
            </a:r>
            <a:r>
              <a:rPr lang="en-US" altLang="zh-CN" sz="2400" b="1" kern="100" dirty="0">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kern="1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that is both injective and surjective, indicating that the system is structurally equivalent to itself.</a:t>
            </a:r>
          </a:p>
          <a:p>
            <a:pPr marL="342900" indent="-342900">
              <a:lnSpc>
                <a:spcPct val="120000"/>
              </a:lnSpc>
              <a:spcBef>
                <a:spcPts val="6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A </a:t>
            </a:r>
            <a:r>
              <a:rPr lang="en-US" altLang="zh-CN" sz="2400" b="1" i="1" dirty="0">
                <a:solidFill>
                  <a:srgbClr val="0B61FF"/>
                </a:solidFill>
                <a:latin typeface="Trebuchet MS" panose="020B0603020202020204" pitchFamily="34" charset="0"/>
              </a:rPr>
              <a:t>monomorphic endomorphism</a:t>
            </a:r>
            <a:r>
              <a:rPr lang="en-US" altLang="zh-CN" sz="2400" i="1" dirty="0">
                <a:solidFill>
                  <a:srgbClr val="0B61FF"/>
                </a:solidFill>
                <a:latin typeface="Trebuchet MS" panose="020B0603020202020204" pitchFamily="34" charset="0"/>
              </a:rPr>
              <a:t> </a:t>
            </a:r>
            <a:r>
              <a:rPr lang="en-US" altLang="zh-CN" sz="2400" dirty="0">
                <a:latin typeface="Trebuchet MS" panose="020B0603020202020204" pitchFamily="34" charset="0"/>
              </a:rPr>
              <a:t>(or </a:t>
            </a:r>
            <a:r>
              <a:rPr lang="en-US" altLang="zh-CN" sz="2400" b="1" dirty="0">
                <a:latin typeface="Trebuchet MS" panose="020B0603020202020204" pitchFamily="34" charset="0"/>
              </a:rPr>
              <a:t>injective endomorphism</a:t>
            </a:r>
            <a:r>
              <a:rPr lang="en-US" altLang="zh-CN" sz="2400" dirty="0">
                <a:latin typeface="Trebuchet MS" panose="020B0603020202020204" pitchFamily="34" charset="0"/>
              </a:rPr>
              <a:t>) is a special type of endomorphism that is also injective.</a:t>
            </a:r>
          </a:p>
          <a:p>
            <a:pPr>
              <a:lnSpc>
                <a:spcPct val="120000"/>
              </a:lnSpc>
            </a:pPr>
            <a:endParaRPr lang="en-US" altLang="zh-CN" sz="2400" dirty="0">
              <a:latin typeface="Trebuchet MS" panose="020B0603020202020204" pitchFamily="34" charset="0"/>
            </a:endParaRPr>
          </a:p>
        </p:txBody>
      </p:sp>
    </p:spTree>
    <p:extLst>
      <p:ext uri="{BB962C8B-B14F-4D97-AF65-F5344CB8AC3E}">
        <p14:creationId xmlns:p14="http://schemas.microsoft.com/office/powerpoint/2010/main" val="2540141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2" end="2"/>
                                            </p:txEl>
                                          </p:spTgt>
                                        </p:tgtEl>
                                        <p:attrNameLst>
                                          <p:attrName>style.visibility</p:attrName>
                                        </p:attrNameLst>
                                      </p:cBhvr>
                                      <p:to>
                                        <p:strVal val="visible"/>
                                      </p:to>
                                    </p:set>
                                    <p:animEffect transition="in" filter="fade">
                                      <p:cBhvr>
                                        <p:cTn id="14" dur="1000"/>
                                        <p:tgtEl>
                                          <p:spTgt spid="12">
                                            <p:txEl>
                                              <p:pRg st="2" end="2"/>
                                            </p:txEl>
                                          </p:spTgt>
                                        </p:tgtEl>
                                      </p:cBhvr>
                                    </p:animEffect>
                                    <p:anim calcmode="lin" valueType="num">
                                      <p:cBhvr>
                                        <p:cTn id="15"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animEffect transition="in" filter="fade">
                                      <p:cBhvr>
                                        <p:cTn id="21" dur="1000"/>
                                        <p:tgtEl>
                                          <p:spTgt spid="12">
                                            <p:txEl>
                                              <p:pRg st="3" end="3"/>
                                            </p:txEl>
                                          </p:spTgt>
                                        </p:tgtEl>
                                      </p:cBhvr>
                                    </p:animEffect>
                                    <p:anim calcmode="lin" valueType="num">
                                      <p:cBhvr>
                                        <p:cTn id="22"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Endomorphisms  and automorphisms of algebraic systems(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2" name="文本框 11">
            <a:extLst>
              <a:ext uri="{FF2B5EF4-FFF2-40B4-BE49-F238E27FC236}">
                <a16:creationId xmlns:a16="http://schemas.microsoft.com/office/drawing/2014/main" id="{EC679E5A-DCF4-4CB8-952F-8A7BB0A6BA1C}"/>
              </a:ext>
            </a:extLst>
          </p:cNvPr>
          <p:cNvSpPr txBox="1"/>
          <p:nvPr/>
        </p:nvSpPr>
        <p:spPr>
          <a:xfrm>
            <a:off x="770703" y="781631"/>
            <a:ext cx="10352685" cy="4012620"/>
          </a:xfrm>
          <a:prstGeom prst="rect">
            <a:avLst/>
          </a:prstGeom>
          <a:noFill/>
        </p:spPr>
        <p:txBody>
          <a:bodyPr wrap="square">
            <a:no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cs typeface="Times New Roman" panose="02020603050405020304" pitchFamily="18" charset="0"/>
              </a:rPr>
              <a:t>Example: let </a:t>
            </a:r>
            <a:r>
              <a:rPr lang="en-US" altLang="zh-CN" sz="2400" b="1" i="1" dirty="0">
                <a:latin typeface="Trebuchet MS" panose="020B0603020202020204" pitchFamily="34" charset="0"/>
                <a:cs typeface="Times New Roman" panose="02020603050405020304" pitchFamily="18" charset="0"/>
              </a:rPr>
              <a:t>V</a:t>
            </a:r>
            <a:r>
              <a:rPr lang="en-US" altLang="zh-CN" sz="2400" b="1" dirty="0">
                <a:latin typeface="Trebuchet MS" panose="020B0603020202020204" pitchFamily="34" charset="0"/>
                <a:cs typeface="Times New Roman" panose="02020603050405020304" pitchFamily="18" charset="0"/>
              </a:rPr>
              <a:t>=&lt;Z,+&gt;,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a</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err="1">
                <a:latin typeface="Trebuchet MS" panose="020B0603020202020204" pitchFamily="34" charset="0"/>
                <a:cs typeface="Times New Roman" panose="02020603050405020304" pitchFamily="18" charset="0"/>
              </a:rPr>
              <a:t>Z</a:t>
            </a:r>
            <a:r>
              <a:rPr lang="en-US" altLang="zh-CN"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i="1" baseline="-25000" dirty="0">
                <a:latin typeface="Trebuchet MS" panose="020B0603020202020204" pitchFamily="34" charset="0"/>
                <a:cs typeface="Times New Roman" panose="02020603050405020304" pitchFamily="18" charset="0"/>
              </a:rPr>
              <a:t>a </a:t>
            </a:r>
            <a:r>
              <a:rPr lang="en-US" altLang="zh-CN" sz="2400" b="1" dirty="0">
                <a:latin typeface="Trebuchet MS" panose="020B0603020202020204" pitchFamily="34" charset="0"/>
                <a:cs typeface="Times New Roman" panose="02020603050405020304" pitchFamily="18" charset="0"/>
              </a:rPr>
              <a:t>: Z</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Z</a:t>
            </a:r>
            <a:r>
              <a:rPr lang="zh-CN" altLang="en-US"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i="1" baseline="-25000"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ax . </a:t>
            </a:r>
            <a:r>
              <a:rPr lang="en-US" altLang="zh-CN" sz="2400" dirty="0">
                <a:latin typeface="Trebuchet MS" panose="020B0603020202020204" pitchFamily="34" charset="0"/>
              </a:rPr>
              <a:t>Prove that </a:t>
            </a:r>
            <a:r>
              <a:rPr lang="en-US" altLang="zh-CN" sz="2400" b="1" i="1" dirty="0">
                <a:latin typeface="Trebuchet MS" panose="020B0603020202020204" pitchFamily="34" charset="0"/>
                <a:cs typeface="Times New Roman" panose="02020603050405020304" pitchFamily="18" charset="0"/>
              </a:rPr>
              <a:t>f</a:t>
            </a:r>
            <a:r>
              <a:rPr lang="en-US" altLang="zh-CN" sz="2400" b="1" i="1" baseline="-25000" dirty="0">
                <a:latin typeface="Trebuchet MS" panose="020B0603020202020204" pitchFamily="34" charset="0"/>
                <a:cs typeface="Times New Roman" panose="02020603050405020304" pitchFamily="18" charset="0"/>
              </a:rPr>
              <a:t>a </a:t>
            </a:r>
            <a:r>
              <a:rPr lang="en-US" altLang="zh-CN" sz="2400" dirty="0">
                <a:latin typeface="Trebuchet MS" panose="020B0603020202020204" pitchFamily="34" charset="0"/>
              </a:rPr>
              <a:t>​ is an endomorphism of </a:t>
            </a:r>
            <a:r>
              <a:rPr lang="en-US" altLang="zh-CN" sz="2400" b="1" i="1" dirty="0">
                <a:latin typeface="Trebuchet MS" panose="020B0603020202020204" pitchFamily="34" charset="0"/>
                <a:cs typeface="Times New Roman" panose="02020603050405020304" pitchFamily="18" charset="0"/>
              </a:rPr>
              <a:t>V</a:t>
            </a:r>
            <a:r>
              <a:rPr lang="en-US" altLang="zh-CN" sz="2400" b="1" dirty="0">
                <a:latin typeface="Trebuchet MS" panose="020B0603020202020204" pitchFamily="34" charset="0"/>
                <a:cs typeface="Times New Roman" panose="02020603050405020304" pitchFamily="18" charset="0"/>
              </a:rPr>
              <a:t>. </a:t>
            </a:r>
          </a:p>
          <a:p>
            <a:pPr marL="450850" indent="-273050">
              <a:lnSpc>
                <a:spcPct val="120000"/>
              </a:lnSpc>
              <a:spcBef>
                <a:spcPts val="600"/>
              </a:spcBef>
              <a:buClr>
                <a:srgbClr val="0B61FF"/>
              </a:buClr>
              <a:buSzPct val="120000"/>
              <a:buFont typeface="Arial" panose="020B0604020202020204" pitchFamily="34" charset="0"/>
              <a:buChar char="•"/>
              <a:tabLst>
                <a:tab pos="177800" algn="l"/>
              </a:tabLst>
            </a:pPr>
            <a:r>
              <a:rPr lang="en-US" altLang="zh-CN" sz="2400" dirty="0">
                <a:latin typeface="Trebuchet MS" panose="020B0603020202020204" pitchFamily="34" charset="0"/>
                <a:cs typeface="Times New Roman" panose="02020603050405020304" pitchFamily="18" charset="0"/>
              </a:rPr>
              <a:t>Since</a:t>
            </a:r>
            <a:r>
              <a:rPr lang="en-US" altLang="zh-CN" sz="2400" b="1" dirty="0">
                <a:latin typeface="Trebuchet MS" panose="020B0603020202020204" pitchFamily="34"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y</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err="1">
                <a:latin typeface="Trebuchet MS" panose="020B0603020202020204" pitchFamily="34" charset="0"/>
                <a:cs typeface="Times New Roman" panose="02020603050405020304" pitchFamily="18" charset="0"/>
              </a:rPr>
              <a:t>Z</a:t>
            </a:r>
            <a:r>
              <a:rPr lang="zh-CN" altLang="en-US"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we have:</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i="1" baseline="-25000"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 =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 = </a:t>
            </a:r>
            <a:r>
              <a:rPr lang="en-US" altLang="zh-CN" sz="2400" b="1" i="1" dirty="0" err="1">
                <a:latin typeface="Trebuchet MS" panose="020B0603020202020204" pitchFamily="34" charset="0"/>
                <a:cs typeface="Times New Roman" panose="02020603050405020304" pitchFamily="18" charset="0"/>
              </a:rPr>
              <a:t>ax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ay</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i="1" baseline="-25000"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i="1" baseline="-25000"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y</a:t>
            </a:r>
            <a:r>
              <a:rPr lang="en-US" altLang="zh-CN" sz="2400" b="1" dirty="0">
                <a:latin typeface="Trebuchet MS" panose="020B0603020202020204" pitchFamily="34" charset="0"/>
                <a:cs typeface="Times New Roman" panose="02020603050405020304" pitchFamily="18" charset="0"/>
              </a:rPr>
              <a:t>).</a:t>
            </a:r>
          </a:p>
          <a:p>
            <a:pPr marL="450850" indent="-273050">
              <a:lnSpc>
                <a:spcPct val="120000"/>
              </a:lnSpc>
              <a:spcBef>
                <a:spcPts val="600"/>
              </a:spcBef>
              <a:buClr>
                <a:srgbClr val="0B61FF"/>
              </a:buClr>
              <a:buSzPct val="120000"/>
              <a:buFont typeface="Arial" panose="020B0604020202020204" pitchFamily="34" charset="0"/>
              <a:buChar char="•"/>
              <a:tabLst>
                <a:tab pos="177800" algn="l"/>
              </a:tabLst>
            </a:pPr>
            <a:r>
              <a:rPr lang="en-US" altLang="zh-CN" sz="2400" dirty="0">
                <a:latin typeface="Trebuchet MS" panose="020B0603020202020204" pitchFamily="34" charset="0"/>
              </a:rPr>
              <a:t>When</a:t>
            </a:r>
            <a:r>
              <a:rPr lang="zh-CN" altLang="fr-FR"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 </a:t>
            </a:r>
            <a:r>
              <a:rPr lang="en-US" altLang="zh-CN" sz="2400" b="1" dirty="0">
                <a:latin typeface="Trebuchet MS" panose="020B0603020202020204" pitchFamily="34" charset="0"/>
                <a:cs typeface="Times New Roman" panose="02020603050405020304" pitchFamily="18" charset="0"/>
              </a:rPr>
              <a:t>= 0 ,</a:t>
            </a:r>
            <a:r>
              <a:rPr lang="zh-CN" altLang="fr-FR"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baseline="-25000" dirty="0">
                <a:latin typeface="Trebuchet MS" panose="020B0603020202020204" pitchFamily="34" charset="0"/>
                <a:cs typeface="Times New Roman" panose="02020603050405020304" pitchFamily="18" charset="0"/>
              </a:rPr>
              <a:t>0</a:t>
            </a:r>
            <a:r>
              <a:rPr lang="en-US" altLang="zh-CN" sz="2400" dirty="0">
                <a:latin typeface="Trebuchet MS" panose="020B0603020202020204" pitchFamily="34" charset="0"/>
              </a:rPr>
              <a:t> is called the </a:t>
            </a:r>
            <a:r>
              <a:rPr lang="en-US" altLang="zh-CN" sz="2400" b="1" i="1" dirty="0">
                <a:solidFill>
                  <a:srgbClr val="0B61FF"/>
                </a:solidFill>
                <a:latin typeface="Trebuchet MS" panose="020B0603020202020204" pitchFamily="34" charset="0"/>
              </a:rPr>
              <a:t>zero homomorphism</a:t>
            </a:r>
            <a:r>
              <a:rPr lang="en-US" altLang="zh-CN" sz="2400" b="1" dirty="0">
                <a:latin typeface="Trebuchet MS" panose="020B0603020202020204" pitchFamily="34" charset="0"/>
                <a:cs typeface="Times New Roman" panose="02020603050405020304" pitchFamily="18" charset="0"/>
              </a:rPr>
              <a:t>, when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a:t>
            </a:r>
            <a:r>
              <a:rPr lang="fr-FR"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 </a:t>
            </a:r>
            <a:r>
              <a:rPr lang="zh-CN" altLang="fr-FR"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i="1" baseline="-25000" dirty="0">
                <a:latin typeface="Trebuchet MS" panose="020B0603020202020204" pitchFamily="34" charset="0"/>
                <a:cs typeface="Times New Roman" panose="02020603050405020304" pitchFamily="18" charset="0"/>
              </a:rPr>
              <a:t>a</a:t>
            </a:r>
            <a:r>
              <a:rPr lang="en-US" altLang="zh-CN" sz="2400" dirty="0">
                <a:latin typeface="Trebuchet MS" panose="020B0603020202020204" pitchFamily="34" charset="0"/>
              </a:rPr>
              <a:t> is called an </a:t>
            </a:r>
            <a:r>
              <a:rPr lang="en-US" altLang="zh-CN" sz="2400" b="1" i="1" dirty="0">
                <a:solidFill>
                  <a:srgbClr val="0B61FF"/>
                </a:solidFill>
                <a:latin typeface="Trebuchet MS" panose="020B0603020202020204" pitchFamily="34" charset="0"/>
              </a:rPr>
              <a:t>automorphism</a:t>
            </a:r>
            <a:r>
              <a:rPr lang="en-US" altLang="zh-CN" sz="2400" dirty="0">
                <a:latin typeface="Trebuchet MS" panose="020B0603020202020204" pitchFamily="34" charset="0"/>
              </a:rPr>
              <a:t>.</a:t>
            </a:r>
            <a:endParaRPr lang="en-US" altLang="zh-CN" sz="2400" b="1" dirty="0">
              <a:latin typeface="Trebuchet MS" panose="020B0603020202020204" pitchFamily="34" charset="0"/>
              <a:cs typeface="Times New Roman" panose="02020603050405020304" pitchFamily="18" charset="0"/>
            </a:endParaRPr>
          </a:p>
          <a:p>
            <a:pPr marL="450850" indent="-273050">
              <a:lnSpc>
                <a:spcPct val="120000"/>
              </a:lnSpc>
              <a:spcBef>
                <a:spcPts val="600"/>
              </a:spcBef>
              <a:buClr>
                <a:srgbClr val="0B61FF"/>
              </a:buClr>
              <a:buSzPct val="120000"/>
              <a:buFont typeface="Arial" panose="020B0604020202020204" pitchFamily="34" charset="0"/>
              <a:buChar char="•"/>
              <a:tabLst>
                <a:tab pos="177800" algn="l"/>
              </a:tabLst>
            </a:pPr>
            <a:r>
              <a:rPr lang="en-US" altLang="zh-CN" sz="2400" dirty="0">
                <a:latin typeface="Trebuchet MS" panose="020B0603020202020204" pitchFamily="34" charset="0"/>
              </a:rPr>
              <a:t>For all other values of </a:t>
            </a:r>
            <a:r>
              <a:rPr lang="en-US" altLang="zh-CN" sz="2400" b="1" i="1" dirty="0">
                <a:latin typeface="Trebuchet MS" panose="020B0603020202020204" pitchFamily="34" charset="0"/>
              </a:rPr>
              <a:t>a</a:t>
            </a:r>
            <a:r>
              <a:rPr lang="en-US" altLang="zh-CN" sz="2400"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i="1" baseline="-25000" dirty="0">
                <a:latin typeface="Trebuchet MS" panose="020B0603020202020204" pitchFamily="34" charset="0"/>
                <a:cs typeface="Times New Roman" panose="02020603050405020304" pitchFamily="18" charset="0"/>
              </a:rPr>
              <a:t>a  </a:t>
            </a:r>
            <a:r>
              <a:rPr lang="en-US" altLang="zh-CN" sz="2400" dirty="0">
                <a:latin typeface="Trebuchet MS" panose="020B0603020202020204" pitchFamily="34" charset="0"/>
              </a:rPr>
              <a:t>is an </a:t>
            </a:r>
            <a:r>
              <a:rPr lang="en-US" altLang="zh-CN" sz="2400" b="1" i="1" dirty="0">
                <a:solidFill>
                  <a:srgbClr val="0B61FF"/>
                </a:solidFill>
                <a:latin typeface="Trebuchet MS" panose="020B0603020202020204" pitchFamily="34" charset="0"/>
              </a:rPr>
              <a:t>injective endomorphism</a:t>
            </a:r>
            <a:r>
              <a:rPr lang="en-US" altLang="zh-CN" sz="2400" i="1" dirty="0">
                <a:solidFill>
                  <a:srgbClr val="0B61FF"/>
                </a:solidFill>
                <a:latin typeface="Trebuchet MS" panose="020B0603020202020204" pitchFamily="34" charset="0"/>
              </a:rPr>
              <a:t> </a:t>
            </a:r>
            <a:r>
              <a:rPr lang="en-US" altLang="zh-CN" sz="2400" dirty="0">
                <a:latin typeface="Trebuchet MS" panose="020B0603020202020204" pitchFamily="34" charset="0"/>
              </a:rPr>
              <a:t>(monomorphic endomorphism).</a:t>
            </a:r>
            <a:endParaRPr lang="en-US" altLang="zh-CN" sz="2400" b="1" dirty="0">
              <a:latin typeface="Trebuchet MS" panose="020B0603020202020204" pitchFamily="34" charset="0"/>
              <a:cs typeface="Times New Roman" panose="02020603050405020304" pitchFamily="18" charset="0"/>
            </a:endParaRPr>
          </a:p>
          <a:p>
            <a:pPr>
              <a:lnSpc>
                <a:spcPct val="120000"/>
              </a:lnSpc>
            </a:pPr>
            <a:endParaRPr lang="en-US" altLang="zh-CN" sz="2400" dirty="0">
              <a:latin typeface="Trebuchet MS" panose="020B0603020202020204" pitchFamily="34" charset="0"/>
            </a:endParaRPr>
          </a:p>
        </p:txBody>
      </p:sp>
    </p:spTree>
    <p:extLst>
      <p:ext uri="{BB962C8B-B14F-4D97-AF65-F5344CB8AC3E}">
        <p14:creationId xmlns:p14="http://schemas.microsoft.com/office/powerpoint/2010/main" val="42491035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2" end="2"/>
                                            </p:txEl>
                                          </p:spTgt>
                                        </p:tgtEl>
                                        <p:attrNameLst>
                                          <p:attrName>style.visibility</p:attrName>
                                        </p:attrNameLst>
                                      </p:cBhvr>
                                      <p:to>
                                        <p:strVal val="visible"/>
                                      </p:to>
                                    </p:set>
                                    <p:animEffect transition="in" filter="fade">
                                      <p:cBhvr>
                                        <p:cTn id="14" dur="1000"/>
                                        <p:tgtEl>
                                          <p:spTgt spid="12">
                                            <p:txEl>
                                              <p:pRg st="2" end="2"/>
                                            </p:txEl>
                                          </p:spTgt>
                                        </p:tgtEl>
                                      </p:cBhvr>
                                    </p:animEffect>
                                    <p:anim calcmode="lin" valueType="num">
                                      <p:cBhvr>
                                        <p:cTn id="15"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animEffect transition="in" filter="fade">
                                      <p:cBhvr>
                                        <p:cTn id="21" dur="1000"/>
                                        <p:tgtEl>
                                          <p:spTgt spid="12">
                                            <p:txEl>
                                              <p:pRg st="3" end="3"/>
                                            </p:txEl>
                                          </p:spTgt>
                                        </p:tgtEl>
                                      </p:cBhvr>
                                    </p:animEffect>
                                    <p:anim calcmode="lin" valueType="num">
                                      <p:cBhvr>
                                        <p:cTn id="22"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Homomorphisms and Isomorphisms in Algebraic Systems(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Text Box 5">
            <a:extLst>
              <a:ext uri="{FF2B5EF4-FFF2-40B4-BE49-F238E27FC236}">
                <a16:creationId xmlns:a16="http://schemas.microsoft.com/office/drawing/2014/main" id="{BDD9E555-F247-46F7-AD31-A8F31FDA6C13}"/>
              </a:ext>
            </a:extLst>
          </p:cNvPr>
          <p:cNvSpPr txBox="1">
            <a:spLocks noChangeArrowheads="1"/>
          </p:cNvSpPr>
          <p:nvPr/>
        </p:nvSpPr>
        <p:spPr bwMode="auto">
          <a:xfrm>
            <a:off x="930774" y="762066"/>
            <a:ext cx="10437283" cy="4724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b="1"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Let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=&lt;Q,+&gt;,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=&lt;Q*,</a:t>
            </a:r>
            <a:r>
              <a:rPr lang="fr-FR"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&gt;, </a:t>
            </a:r>
            <a:r>
              <a:rPr lang="en-US" altLang="zh-CN" sz="2400" dirty="0">
                <a:latin typeface="Trebuchet MS" panose="020B0603020202020204" pitchFamily="34" charset="0"/>
              </a:rPr>
              <a:t> where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Q*=Q</a:t>
            </a:r>
            <a:r>
              <a:rPr lang="fr-FR"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{0}</a:t>
            </a:r>
            <a:r>
              <a:rPr lang="en-US" altLang="zh-CN" sz="2400" dirty="0">
                <a:latin typeface="Trebuchet MS" panose="020B0603020202020204" pitchFamily="34" charset="0"/>
              </a:rPr>
              <a:t> is the set of nonzero rational numbers. Define</a:t>
            </a:r>
            <a:r>
              <a:rPr lang="zh-CN" altLang="fr-FR" sz="2400" b="1" dirty="0">
                <a:latin typeface="Trebuchet MS" panose="020B0603020202020204" pitchFamily="34" charset="0"/>
                <a:ea typeface="宋体" panose="02010600030101010101" pitchFamily="2" charset="-122"/>
                <a:cs typeface="Times New Roman" panose="02020603050405020304" pitchFamily="18" charset="0"/>
              </a:rPr>
              <a:t> </a:t>
            </a:r>
            <a:r>
              <a:rPr lang="fr-FR"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Q</a:t>
            </a:r>
            <a:r>
              <a:rPr lang="fr-FR"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Q*,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30000"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p>
          <a:p>
            <a:pPr marL="360363">
              <a:lnSpc>
                <a:spcPct val="120000"/>
              </a:lnSpc>
              <a:buClr>
                <a:srgbClr val="0B61FF"/>
              </a:buClr>
              <a:buSzPct val="80000"/>
            </a:pPr>
            <a:r>
              <a:rPr lang="en-US" altLang="zh-CN" sz="2400" dirty="0">
                <a:latin typeface="Trebuchet MS" panose="020B0603020202020204" pitchFamily="34" charset="0"/>
              </a:rPr>
              <a:t>Determine the type of homomorphism that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defines from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1 </a:t>
            </a:r>
            <a:r>
              <a:rPr lang="en-US" altLang="zh-CN" sz="2400" dirty="0">
                <a:latin typeface="Trebuchet MS" panose="020B0603020202020204" pitchFamily="34" charset="0"/>
              </a:rPr>
              <a:t>​ to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2 </a:t>
            </a:r>
            <a:r>
              <a:rPr lang="en-US" altLang="zh-CN" sz="2400" dirty="0">
                <a:latin typeface="Trebuchet MS" panose="020B0603020202020204" pitchFamily="34" charset="0"/>
              </a:rPr>
              <a:t>​.</a:t>
            </a:r>
          </a:p>
          <a:p>
            <a:pPr marL="342900" indent="-342900">
              <a:lnSpc>
                <a:spcPct val="120000"/>
              </a:lnSpc>
              <a:buClr>
                <a:srgbClr val="0B61FF"/>
              </a:buClr>
              <a:buSzPct val="80000"/>
              <a:buFont typeface="Wingdings" panose="05000000000000000000" pitchFamily="2" charset="2"/>
              <a:buChar char="n"/>
            </a:pPr>
            <a:r>
              <a:rPr lang="en-US" altLang="zh-CN" sz="2400" b="1" dirty="0"/>
              <a:t>Solution:</a:t>
            </a:r>
          </a:p>
          <a:p>
            <a:pPr marL="342900" indent="-166688">
              <a:lnSpc>
                <a:spcPct val="120000"/>
              </a:lnSpc>
              <a:buClr>
                <a:srgbClr val="0B61FF"/>
              </a:buClr>
              <a:buSzPct val="120000"/>
              <a:buFont typeface="Arial" panose="020B0604020202020204" pitchFamily="34" charset="0"/>
              <a:buChar char="•"/>
              <a:tabLst>
                <a:tab pos="176213" algn="l"/>
              </a:tabLst>
            </a:pP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 i</a:t>
            </a:r>
            <a:r>
              <a:rPr lang="en-US" altLang="zh-CN" sz="2400" dirty="0">
                <a:latin typeface="Trebuchet MS" panose="020B0603020202020204" pitchFamily="34" charset="0"/>
              </a:rPr>
              <a:t>s a </a:t>
            </a:r>
            <a:r>
              <a:rPr lang="en-US" altLang="zh-CN" sz="2400" b="1" i="1" dirty="0">
                <a:solidFill>
                  <a:srgbClr val="0B61FF"/>
                </a:solidFill>
                <a:latin typeface="Trebuchet MS" panose="020B0603020202020204" pitchFamily="34" charset="0"/>
              </a:rPr>
              <a:t>homomorphism</a:t>
            </a:r>
            <a:r>
              <a:rPr lang="en-US" altLang="zh-CN" sz="2400" dirty="0">
                <a:latin typeface="Trebuchet MS" panose="020B0603020202020204" pitchFamily="34" charset="0"/>
              </a:rPr>
              <a:t> from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1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to</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V</a:t>
            </a:r>
            <a:r>
              <a:rPr lang="en-US" altLang="zh-CN" sz="2400" b="1" baseline="-25000" dirty="0">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because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rPr>
              <a:t>Q</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have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30000" dirty="0" err="1">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baseline="30000" dirty="0" err="1">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baseline="30000" dirty="0" err="1">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30000" dirty="0">
                <a:latin typeface="Trebuchet MS" panose="020B0603020202020204" pitchFamily="34" charset="0"/>
                <a:ea typeface="宋体" panose="02010600030101010101" pitchFamily="2" charset="-122"/>
                <a:cs typeface="Times New Roman" panose="02020603050405020304" pitchFamily="18" charset="0"/>
              </a:rPr>
              <a:t>x</a:t>
            </a:r>
            <a:r>
              <a:rPr lang="fr-FR"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30000" dirty="0" err="1">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p>
          <a:p>
            <a:pPr marL="342900" indent="-166688">
              <a:lnSpc>
                <a:spcPct val="120000"/>
              </a:lnSpc>
              <a:buClr>
                <a:srgbClr val="0B61FF"/>
              </a:buClr>
              <a:buSzPct val="120000"/>
              <a:buFont typeface="Arial" panose="020B0604020202020204" pitchFamily="34" charset="0"/>
              <a:buChar char="•"/>
              <a:tabLst>
                <a:tab pos="176213" algn="l"/>
              </a:tabLst>
            </a:pP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f </a:t>
            </a:r>
            <a:r>
              <a:rPr lang="en-US" altLang="zh-CN" sz="2400" dirty="0">
                <a:latin typeface="Trebuchet MS" panose="020B0603020202020204" pitchFamily="34" charset="0"/>
              </a:rPr>
              <a:t>is a </a:t>
            </a:r>
            <a:r>
              <a:rPr lang="en-US" altLang="zh-CN" sz="2400" b="1" i="1" dirty="0">
                <a:solidFill>
                  <a:srgbClr val="0B61FF"/>
                </a:solidFill>
                <a:latin typeface="Trebuchet MS" panose="020B0603020202020204" pitchFamily="34" charset="0"/>
              </a:rPr>
              <a:t>monomorphism</a:t>
            </a:r>
            <a:r>
              <a:rPr lang="en-US" altLang="zh-CN" sz="2400" dirty="0">
                <a:latin typeface="Trebuchet MS" panose="020B0603020202020204" pitchFamily="34" charset="0"/>
              </a:rPr>
              <a:t> because for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rPr>
              <a:t>Q</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If</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effectLst/>
                <a:latin typeface="Trebuchet MS" panose="020B0603020202020204" pitchFamily="34" charset="0"/>
                <a:cs typeface="Times New Roman" panose="02020603050405020304" pitchFamily="18" charset="0"/>
              </a:rPr>
              <a:t>x</a:t>
            </a:r>
            <a:r>
              <a:rPr lang="en-US" altLang="zh-CN" sz="2400" b="1" baseline="-25000" dirty="0">
                <a:effectLst/>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effectLst/>
                <a:latin typeface="Trebuchet MS" panose="020B0603020202020204" pitchFamily="34" charset="0"/>
                <a:cs typeface="Times New Roman" panose="02020603050405020304" pitchFamily="18" charset="0"/>
              </a:rPr>
              <a:t>x</a:t>
            </a:r>
            <a:r>
              <a:rPr lang="en-US" altLang="zh-CN" sz="2400" b="1" i="0" baseline="-25000" dirty="0">
                <a:effectLst/>
                <a:latin typeface="Trebuchet MS" panose="020B0603020202020204" pitchFamily="34" charset="0"/>
                <a:cs typeface="Times New Roman" panose="02020603050405020304" pitchFamily="18" charset="0"/>
              </a:rPr>
              <a:t>2</a:t>
            </a:r>
            <a:r>
              <a:rPr lang="en-US" altLang="zh-CN" sz="2400" b="1" i="0" dirty="0">
                <a:effectLst/>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a:t>
            </a:r>
            <a:r>
              <a:rPr lang="en-US" altLang="zh-CN" sz="2400" b="1" dirty="0">
                <a:effectLst/>
                <a:latin typeface="Trebuchet MS" panose="020B0603020202020204" pitchFamily="34" charset="0"/>
                <a:cs typeface="Times New Roman" panose="02020603050405020304" pitchFamily="18" charset="0"/>
              </a:rPr>
              <a:t> </a:t>
            </a:r>
            <a:r>
              <a:rPr lang="en-US" altLang="zh-CN" sz="2400" b="1" i="1" dirty="0">
                <a:effectLst/>
                <a:latin typeface="Trebuchet MS" panose="020B0603020202020204" pitchFamily="34" charset="0"/>
                <a:cs typeface="Times New Roman" panose="02020603050405020304" pitchFamily="18" charset="0"/>
              </a:rPr>
              <a:t>e</a:t>
            </a:r>
            <a:r>
              <a:rPr lang="en-US" altLang="zh-CN" sz="2400" b="1" i="1" baseline="30000" dirty="0">
                <a:effectLst/>
                <a:latin typeface="Trebuchet MS" panose="020B0603020202020204" pitchFamily="34" charset="0"/>
                <a:cs typeface="Times New Roman" panose="02020603050405020304" pitchFamily="18" charset="0"/>
              </a:rPr>
              <a:t>x</a:t>
            </a:r>
            <a:r>
              <a:rPr lang="en-US" altLang="zh-CN" sz="2400" b="1" baseline="30000" dirty="0">
                <a:effectLst/>
                <a:latin typeface="Trebuchet MS" panose="020B0603020202020204" pitchFamily="34" charset="0"/>
                <a:cs typeface="Times New Roman" panose="02020603050405020304" pitchFamily="18" charset="0"/>
              </a:rPr>
              <a:t>1</a:t>
            </a:r>
            <a:r>
              <a:rPr lang="en-US" altLang="zh-CN" sz="2400" b="1" dirty="0">
                <a:effectLst/>
                <a:latin typeface="Trebuchet MS" panose="020B0603020202020204" pitchFamily="34" charset="0"/>
                <a:cs typeface="Times New Roman" panose="02020603050405020304" pitchFamily="18" charset="0"/>
              </a:rPr>
              <a:t>​=</a:t>
            </a:r>
            <a:r>
              <a:rPr lang="en-US" altLang="zh-CN" sz="2400" b="1" i="1" dirty="0">
                <a:effectLst/>
                <a:latin typeface="Trebuchet MS" panose="020B0603020202020204" pitchFamily="34" charset="0"/>
                <a:cs typeface="Times New Roman" panose="02020603050405020304" pitchFamily="18" charset="0"/>
              </a:rPr>
              <a:t>e</a:t>
            </a:r>
            <a:r>
              <a:rPr lang="en-US" altLang="zh-CN" sz="2400" b="1" i="1" baseline="30000" dirty="0">
                <a:latin typeface="Trebuchet MS" panose="020B0603020202020204" pitchFamily="34" charset="0"/>
                <a:cs typeface="Times New Roman" panose="02020603050405020304" pitchFamily="18" charset="0"/>
              </a:rPr>
              <a:t>x2</a:t>
            </a:r>
            <a:r>
              <a:rPr lang="en-US" altLang="zh-CN" sz="2400" b="1" i="0" dirty="0">
                <a:effectLst/>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which implies </a:t>
            </a:r>
            <a:r>
              <a:rPr lang="en-US" altLang="zh-CN" sz="2400" b="1" i="1" dirty="0">
                <a:effectLst/>
                <a:latin typeface="Trebuchet MS" panose="020B0603020202020204" pitchFamily="34" charset="0"/>
                <a:cs typeface="Times New Roman" panose="02020603050405020304" pitchFamily="18" charset="0"/>
              </a:rPr>
              <a:t>x</a:t>
            </a:r>
            <a:r>
              <a:rPr lang="en-US" altLang="zh-CN" sz="2400" b="1" baseline="-25000" dirty="0">
                <a:effectLst/>
                <a:latin typeface="Trebuchet MS" panose="020B0603020202020204" pitchFamily="34" charset="0"/>
                <a:cs typeface="Times New Roman" panose="02020603050405020304" pitchFamily="18" charset="0"/>
              </a:rPr>
              <a:t>1</a:t>
            </a:r>
            <a:r>
              <a:rPr lang="en-US" altLang="zh-CN" sz="2400" b="1" dirty="0">
                <a:effectLst/>
                <a:latin typeface="Trebuchet MS" panose="020B0603020202020204" pitchFamily="34" charset="0"/>
                <a:cs typeface="Times New Roman" panose="02020603050405020304" pitchFamily="18" charset="0"/>
              </a:rPr>
              <a:t>​=</a:t>
            </a:r>
            <a:r>
              <a:rPr lang="en-US" altLang="zh-CN" sz="2400" b="1" i="1" dirty="0">
                <a:effectLst/>
                <a:latin typeface="Trebuchet MS" panose="020B0603020202020204" pitchFamily="34" charset="0"/>
                <a:cs typeface="Times New Roman" panose="02020603050405020304" pitchFamily="18" charset="0"/>
              </a:rPr>
              <a:t>x</a:t>
            </a:r>
            <a:r>
              <a:rPr lang="en-US" altLang="zh-CN" sz="2400" b="1" i="0" baseline="-25000" dirty="0">
                <a:effectLst/>
                <a:latin typeface="Trebuchet MS" panose="020B0603020202020204" pitchFamily="34" charset="0"/>
                <a:cs typeface="Times New Roman" panose="02020603050405020304" pitchFamily="18" charset="0"/>
              </a:rPr>
              <a:t>2</a:t>
            </a:r>
            <a:r>
              <a:rPr lang="en-US" altLang="zh-CN" sz="2400" b="1" i="0" dirty="0">
                <a:effectLst/>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f </a:t>
            </a:r>
            <a:r>
              <a:rPr lang="en-US" altLang="zh-CN" sz="2400" dirty="0">
                <a:latin typeface="Trebuchet MS" panose="020B0603020202020204" pitchFamily="34" charset="0"/>
              </a:rPr>
              <a:t>is </a:t>
            </a:r>
            <a:r>
              <a:rPr lang="en-US" altLang="zh-CN" sz="2400" b="1" i="1" dirty="0">
                <a:solidFill>
                  <a:srgbClr val="0B61FF"/>
                </a:solidFill>
                <a:latin typeface="Trebuchet MS" panose="020B0603020202020204" pitchFamily="34" charset="0"/>
              </a:rPr>
              <a:t>injective</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p>
          <a:p>
            <a:pPr marL="342900" indent="-166688">
              <a:lnSpc>
                <a:spcPct val="120000"/>
              </a:lnSpc>
              <a:buClr>
                <a:srgbClr val="0B61FF"/>
              </a:buClr>
              <a:buSzPct val="120000"/>
              <a:buFont typeface="Arial" panose="020B0604020202020204" pitchFamily="34" charset="0"/>
              <a:buChar char="•"/>
              <a:tabLst>
                <a:tab pos="176213" algn="l"/>
              </a:tabLst>
            </a:pPr>
            <a:r>
              <a:rPr lang="en-US" altLang="zh-CN" sz="2400" dirty="0">
                <a:latin typeface="Trebuchet MS" panose="020B0603020202020204" pitchFamily="34" charset="0"/>
              </a:rPr>
              <a:t>However, for any </a:t>
            </a:r>
            <a:r>
              <a:rPr lang="en-US" altLang="zh-CN" sz="2400" b="1" i="1" dirty="0">
                <a:effectLst/>
                <a:latin typeface="Trebuchet MS" panose="020B0603020202020204" pitchFamily="34" charset="0"/>
                <a:cs typeface="Times New Roman" panose="02020603050405020304" pitchFamily="18" charset="0"/>
              </a:rPr>
              <a:t>y</a:t>
            </a:r>
            <a:r>
              <a:rPr lang="zh-CN" altLang="en-US" sz="2400" b="1" i="0" dirty="0">
                <a:effectLst/>
                <a:latin typeface="Trebuchet MS" panose="020B0603020202020204" pitchFamily="34" charset="0"/>
                <a:cs typeface="Times New Roman" panose="02020603050405020304" pitchFamily="18" charset="0"/>
              </a:rPr>
              <a:t>∈</a:t>
            </a:r>
            <a:r>
              <a:rPr lang="en-US" altLang="zh-CN" sz="2400" b="1" i="0" dirty="0">
                <a:effectLst/>
                <a:latin typeface="Trebuchet MS" panose="020B0603020202020204" pitchFamily="34" charset="0"/>
                <a:cs typeface="Times New Roman" panose="02020603050405020304" pitchFamily="18" charset="0"/>
              </a:rPr>
              <a:t>Q</a:t>
            </a:r>
            <a:r>
              <a:rPr lang="zh-CN" altLang="en-US" sz="2400" b="1" i="0" dirty="0">
                <a:effectLst/>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30000"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dirty="0">
                <a:latin typeface="Trebuchet MS" panose="020B0603020202020204" pitchFamily="34" charset="0"/>
              </a:rPr>
              <a:t> cannot reach every nonzero rational number (for example, negative numbers), so </a:t>
            </a:r>
            <a:r>
              <a:rPr lang="en-US" altLang="zh-CN" sz="2400" b="1" i="1" dirty="0">
                <a:effectLst/>
                <a:latin typeface="Trebuchet MS" panose="020B0603020202020204" pitchFamily="34" charset="0"/>
                <a:cs typeface="Times New Roman" panose="02020603050405020304" pitchFamily="18" charset="0"/>
              </a:rPr>
              <a:t>f</a:t>
            </a:r>
            <a:r>
              <a:rPr lang="en-US" altLang="zh-CN" sz="2400" b="1" i="0" dirty="0">
                <a:effectLst/>
                <a:latin typeface="Trebuchet MS" panose="020B0603020202020204" pitchFamily="34" charset="0"/>
                <a:cs typeface="Times New Roman" panose="02020603050405020304" pitchFamily="18" charset="0"/>
              </a:rPr>
              <a:t>(</a:t>
            </a:r>
            <a:r>
              <a:rPr lang="en-US" altLang="zh-CN" sz="2400" b="1" i="1" dirty="0">
                <a:effectLst/>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baseline="30000"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dirty="0">
                <a:latin typeface="Trebuchet MS" panose="020B0603020202020204" pitchFamily="34" charset="0"/>
              </a:rPr>
              <a:t> is </a:t>
            </a:r>
            <a:r>
              <a:rPr lang="en-US" altLang="zh-CN" sz="2400" b="1" i="1" dirty="0">
                <a:solidFill>
                  <a:srgbClr val="0B61FF"/>
                </a:solidFill>
                <a:latin typeface="Trebuchet MS" panose="020B0603020202020204" pitchFamily="34" charset="0"/>
              </a:rPr>
              <a:t>not surjective</a:t>
            </a:r>
            <a:r>
              <a:rPr lang="en-US" altLang="zh-CN" sz="2400" dirty="0">
                <a:latin typeface="Trebuchet MS" panose="020B0603020202020204" pitchFamily="34" charset="0"/>
              </a:rPr>
              <a:t>. </a:t>
            </a:r>
            <a:endParaRPr lang="zh-CN" altLang="en-US" sz="2400" b="1" i="0" dirty="0">
              <a:effectLst/>
              <a:latin typeface="Trebuchet MS" panose="020B0603020202020204" pitchFamily="34" charset="0"/>
              <a:cs typeface="Times New Roman" panose="02020603050405020304" pitchFamily="18" charset="0"/>
            </a:endParaRPr>
          </a:p>
          <a:p>
            <a:pPr>
              <a:lnSpc>
                <a:spcPct val="120000"/>
              </a:lnSpc>
            </a:pPr>
            <a:endParaRPr lang="en-US" altLang="zh-CN" sz="2400" i="1" baseline="30000" dirty="0">
              <a:latin typeface="Trebuchet MS" panose="020B0603020202020204" pitchFamily="34" charset="0"/>
            </a:endParaRPr>
          </a:p>
        </p:txBody>
      </p:sp>
    </p:spTree>
    <p:extLst>
      <p:ext uri="{BB962C8B-B14F-4D97-AF65-F5344CB8AC3E}">
        <p14:creationId xmlns:p14="http://schemas.microsoft.com/office/powerpoint/2010/main" val="4203706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fade">
                                      <p:cBhvr>
                                        <p:cTn id="12" dur="1000"/>
                                        <p:tgtEl>
                                          <p:spTgt spid="9">
                                            <p:txEl>
                                              <p:pRg st="3" end="3"/>
                                            </p:txEl>
                                          </p:spTgt>
                                        </p:tgtEl>
                                      </p:cBhvr>
                                    </p:animEffect>
                                    <p:anim calcmode="lin" valueType="num">
                                      <p:cBhvr>
                                        <p:cTn id="1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fade">
                                      <p:cBhvr>
                                        <p:cTn id="19" dur="1000"/>
                                        <p:tgtEl>
                                          <p:spTgt spid="9">
                                            <p:txEl>
                                              <p:pRg st="4" end="4"/>
                                            </p:txEl>
                                          </p:spTgt>
                                        </p:tgtEl>
                                      </p:cBhvr>
                                    </p:animEffect>
                                    <p:anim calcmode="lin" valueType="num">
                                      <p:cBhvr>
                                        <p:cTn id="2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fade">
                                      <p:cBhvr>
                                        <p:cTn id="26" dur="1000"/>
                                        <p:tgtEl>
                                          <p:spTgt spid="9">
                                            <p:txEl>
                                              <p:pRg st="5" end="5"/>
                                            </p:txEl>
                                          </p:spTgt>
                                        </p:tgtEl>
                                      </p:cBhvr>
                                    </p:animEffect>
                                    <p:anim calcmode="lin" valueType="num">
                                      <p:cBhvr>
                                        <p:cTn id="27"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Homomorphisms and Isomorphisms in Algebraic Systems(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0" name="Rectangle 3">
            <a:extLst>
              <a:ext uri="{FF2B5EF4-FFF2-40B4-BE49-F238E27FC236}">
                <a16:creationId xmlns:a16="http://schemas.microsoft.com/office/drawing/2014/main" id="{B0AE26FE-519C-4940-8C20-4CAF4CD56D47}"/>
              </a:ext>
            </a:extLst>
          </p:cNvPr>
          <p:cNvSpPr>
            <a:spLocks noGrp="1" noChangeArrowheads="1"/>
          </p:cNvSpPr>
          <p:nvPr>
            <p:ph idx="1"/>
          </p:nvPr>
        </p:nvSpPr>
        <p:spPr>
          <a:xfrm>
            <a:off x="1050085" y="863598"/>
            <a:ext cx="10176387" cy="4699494"/>
          </a:xfrm>
        </p:spPr>
        <p:txBody>
          <a:bodyPr>
            <a:noAutofit/>
          </a:bodyPr>
          <a:lstStyle/>
          <a:p>
            <a:pPr eaLnBrk="1" hangingPunct="1">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Let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Z</a:t>
            </a:r>
            <a:r>
              <a:rPr lang="en-US" altLang="zh-CN" sz="2400" b="1" i="1" baseline="-25000"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i="1" baseline="-250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xp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mod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p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0, 1, … ,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Analyze the properties of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a:t>
            </a:r>
          </a:p>
          <a:p>
            <a:pPr marL="625475" indent="-449263" eaLnBrk="1" hangingPunct="1">
              <a:lnSpc>
                <a:spcPct val="120000"/>
              </a:lnSpc>
              <a:buFontTx/>
              <a:buNone/>
            </a:pPr>
            <a:r>
              <a:rPr lang="zh-CN" altLang="en-US" sz="2400" b="1" dirty="0">
                <a:solidFill>
                  <a:srgbClr val="0B61FF"/>
                </a:solidFill>
                <a:latin typeface="Trebuchet MS" panose="020B0603020202020204" pitchFamily="34" charset="0"/>
                <a:ea typeface="宋体" panose="02010600030101010101" pitchFamily="2" charset="-122"/>
                <a:cs typeface="Calibri" panose="020F0502020204030204" pitchFamily="34" charset="0"/>
                <a:sym typeface="Symbol" panose="05050102010706020507" pitchFamily="18" charset="2"/>
              </a:rPr>
              <a:t>①</a:t>
            </a:r>
            <a:r>
              <a:rPr lang="zh-CN" altLang="en-US" sz="2400" b="1" dirty="0">
                <a:latin typeface="Trebuchet MS" panose="020B0603020202020204" pitchFamily="34" charset="0"/>
                <a:ea typeface="宋体" panose="02010600030101010101" pitchFamily="2" charset="-122"/>
                <a:cs typeface="Calibri" panose="020F0502020204030204" pitchFamily="34" charset="0"/>
                <a:sym typeface="Symbol" panose="05050102010706020507" pitchFamily="18" charset="2"/>
              </a:rPr>
              <a:t> </a:t>
            </a:r>
            <a:r>
              <a:rPr lang="en-US" altLang="zh-CN" sz="2400" b="1" i="1" dirty="0">
                <a:solidFill>
                  <a:srgbClr val="0B61FF"/>
                </a:solidFill>
                <a:latin typeface="Trebuchet MS" panose="020B0603020202020204" pitchFamily="34" charset="0"/>
              </a:rPr>
              <a:t>Homomorphism</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mod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xp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mod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yp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mod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p>
          <a:p>
            <a:pPr marL="625475" indent="-449263" eaLnBrk="1" hangingPunct="1">
              <a:lnSpc>
                <a:spcPct val="120000"/>
              </a:lnSpc>
              <a:buFontTx/>
              <a:buNone/>
            </a:pPr>
            <a:r>
              <a:rPr lang="zh-CN" altLang="en-US" sz="2400" b="1" dirty="0">
                <a:solidFill>
                  <a:srgbClr val="0B61FF"/>
                </a:solidFill>
                <a:latin typeface="Trebuchet MS" panose="020B0603020202020204" pitchFamily="34" charset="0"/>
                <a:ea typeface="宋体" panose="02010600030101010101" pitchFamily="2" charset="-122"/>
                <a:cs typeface="Calibri" panose="020F0502020204030204" pitchFamily="34" charset="0"/>
                <a:sym typeface="Symbol" panose="05050102010706020507" pitchFamily="18" charset="2"/>
              </a:rPr>
              <a:t>②</a:t>
            </a:r>
            <a:r>
              <a:rPr lang="zh-CN" altLang="en-US" sz="2400" b="1" dirty="0">
                <a:latin typeface="Trebuchet MS" panose="020B0603020202020204" pitchFamily="34" charset="0"/>
                <a:cs typeface="Calibri" panose="020F0502020204030204" pitchFamily="34"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is an </a:t>
            </a:r>
            <a:r>
              <a:rPr lang="en-US" altLang="zh-CN" sz="2400" b="1" i="1" dirty="0">
                <a:solidFill>
                  <a:srgbClr val="0B61FF"/>
                </a:solidFill>
                <a:latin typeface="Trebuchet MS" panose="020B0603020202020204" pitchFamily="34" charset="0"/>
              </a:rPr>
              <a:t>endomorphism</a:t>
            </a:r>
            <a:r>
              <a:rPr lang="en-US" altLang="zh-CN" sz="2400" dirty="0">
                <a:latin typeface="Trebuchet MS" panose="020B0603020202020204" pitchFamily="34" charset="0"/>
              </a:rPr>
              <a:t>. Both the input and output of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i="1" baseline="-250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sym typeface="Symbol" panose="05050102010706020507" pitchFamily="18" charset="2"/>
              </a:rPr>
              <a:t>are</a:t>
            </a:r>
            <a:r>
              <a:rPr lang="en-US" altLang="zh-CN" sz="2400" b="1" i="1" baseline="-250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Z</a:t>
            </a:r>
            <a:r>
              <a:rPr lang="en-US" altLang="zh-CN" sz="2400" b="1" i="1" baseline="-25000" dirty="0">
                <a:latin typeface="Trebuchet MS" panose="020B0603020202020204" pitchFamily="34" charset="0"/>
                <a:cs typeface="Times New Roman" panose="02020603050405020304" pitchFamily="18" charset="0"/>
              </a:rPr>
              <a:t>n </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latin typeface="Trebuchet MS" panose="020B0603020202020204" pitchFamily="34" charset="0"/>
              </a:rPr>
              <a:t> and it satisfies the homomorphism property.</a:t>
            </a:r>
          </a:p>
          <a:p>
            <a:pPr marL="625475" indent="-449263" eaLnBrk="1" hangingPunct="1">
              <a:lnSpc>
                <a:spcPct val="120000"/>
              </a:lnSpc>
              <a:buFontTx/>
              <a:buNone/>
            </a:pPr>
            <a:r>
              <a:rPr lang="zh-CN" altLang="en-US" sz="2400" b="1" dirty="0">
                <a:solidFill>
                  <a:srgbClr val="0B61FF"/>
                </a:solidFill>
                <a:latin typeface="Trebuchet MS" panose="020B0603020202020204" pitchFamily="34" charset="0"/>
                <a:ea typeface="宋体" panose="02010600030101010101" pitchFamily="2" charset="-122"/>
                <a:cs typeface="Calibri" panose="020F0502020204030204" pitchFamily="34" charset="0"/>
              </a:rPr>
              <a:t>③ </a:t>
            </a:r>
            <a:r>
              <a:rPr lang="en-US" altLang="zh-CN" sz="2400" dirty="0">
                <a:latin typeface="Trebuchet MS" panose="020B0603020202020204" pitchFamily="34" charset="0"/>
              </a:rPr>
              <a:t>If </a:t>
            </a:r>
            <a:r>
              <a:rPr lang="en-US" altLang="zh-CN" sz="2400" b="1" i="1" dirty="0">
                <a:solidFill>
                  <a:srgbClr val="0B61FF"/>
                </a:solidFill>
                <a:latin typeface="Trebuchet MS" panose="020B0603020202020204" pitchFamily="34" charset="0"/>
              </a:rPr>
              <a:t>p and n are coprime</a:t>
            </a:r>
            <a:r>
              <a:rPr lang="en-US" altLang="zh-CN" sz="2400" dirty="0">
                <a:latin typeface="Trebuchet MS" panose="020B0603020202020204" pitchFamily="34" charset="0"/>
              </a:rPr>
              <a:t>, then </a:t>
            </a:r>
            <a:r>
              <a:rPr lang="en-US" altLang="zh-CN" sz="2400" b="1" i="1" dirty="0" err="1">
                <a:latin typeface="Trebuchet MS" panose="020B0603020202020204" pitchFamily="34" charset="0"/>
                <a:cs typeface="Times New Roman" panose="02020603050405020304" pitchFamily="18" charset="0"/>
              </a:rPr>
              <a:t>f</a:t>
            </a:r>
            <a:r>
              <a:rPr lang="en-US" altLang="zh-CN" sz="2400" b="1" i="1" baseline="-25000" dirty="0" err="1">
                <a:latin typeface="Trebuchet MS" panose="020B0603020202020204" pitchFamily="34" charset="0"/>
                <a:cs typeface="Times New Roman" panose="02020603050405020304" pitchFamily="18" charset="0"/>
              </a:rPr>
              <a:t>p</a:t>
            </a:r>
            <a:r>
              <a:rPr lang="en-US" altLang="zh-CN" sz="2400" b="1">
                <a:latin typeface="Trebuchet MS" panose="020B0603020202020204" pitchFamily="34" charset="0"/>
                <a:cs typeface="Times New Roman" panose="02020603050405020304" pitchFamily="18" charset="0"/>
              </a:rPr>
              <a:t>​ </a:t>
            </a:r>
            <a:r>
              <a:rPr lang="en-US" altLang="zh-CN" sz="2400">
                <a:latin typeface="Trebuchet MS" panose="020B0603020202020204" pitchFamily="34" charset="0"/>
              </a:rPr>
              <a:t>​is </a:t>
            </a:r>
            <a:r>
              <a:rPr lang="en-US" altLang="zh-CN" sz="2400" b="1" i="1" dirty="0">
                <a:solidFill>
                  <a:srgbClr val="0B61FF"/>
                </a:solidFill>
                <a:latin typeface="Trebuchet MS" panose="020B0603020202020204" pitchFamily="34" charset="0"/>
              </a:rPr>
              <a:t>injective</a:t>
            </a:r>
            <a:r>
              <a:rPr lang="en-US" altLang="zh-CN" sz="2400" b="1" dirty="0">
                <a:latin typeface="Trebuchet MS" panose="020B0603020202020204" pitchFamily="34" charset="0"/>
              </a:rPr>
              <a:t> (Monomorphism)</a:t>
            </a:r>
            <a:r>
              <a:rPr lang="en-US" altLang="zh-CN" sz="2400" dirty="0">
                <a:latin typeface="Trebuchet MS" panose="020B0603020202020204" pitchFamily="34" charset="0"/>
              </a:rPr>
              <a:t>. For example, when </a:t>
            </a:r>
            <a:r>
              <a:rPr lang="en-US" altLang="zh-CN" sz="2400" b="1" i="1"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rPr>
              <a:t>6</a:t>
            </a:r>
            <a:r>
              <a:rPr lang="zh-CN" altLang="zh-CN" sz="2400" b="1" i="1" dirty="0">
                <a:latin typeface="Trebuchet MS" panose="020B0603020202020204" pitchFamily="34" charset="0"/>
                <a:cs typeface="Times New Roman" panose="02020603050405020304" pitchFamily="18" charset="0"/>
              </a:rPr>
              <a:t> </a:t>
            </a:r>
            <a:r>
              <a:rPr lang="en-US" altLang="zh-CN" sz="2400" i="1" dirty="0">
                <a:latin typeface="Trebuchet MS" panose="020B0603020202020204" pitchFamily="34" charset="0"/>
                <a:cs typeface="Times New Roman" panose="02020603050405020304" pitchFamily="18" charset="0"/>
              </a:rPr>
              <a:t>and</a:t>
            </a:r>
            <a:r>
              <a:rPr lang="en-US" altLang="zh-CN" sz="2400" b="1" i="1" dirty="0">
                <a:latin typeface="Trebuchet MS" panose="020B0603020202020204" pitchFamily="34" charset="0"/>
                <a:cs typeface="Times New Roman" panose="02020603050405020304" pitchFamily="18" charset="0"/>
              </a:rPr>
              <a:t> </a:t>
            </a:r>
            <a:r>
              <a:rPr lang="zh-CN" altLang="zh-CN" sz="2400" b="1" i="1" dirty="0">
                <a:latin typeface="Trebuchet MS" panose="020B0603020202020204" pitchFamily="34" charset="0"/>
                <a:ea typeface="Times New Roman" panose="02020603050405020304" pitchFamily="18"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3</a:t>
            </a:r>
            <a:r>
              <a:rPr lang="en-US" altLang="zh-CN" sz="2400" dirty="0">
                <a:latin typeface="Trebuchet MS" panose="020B0603020202020204" pitchFamily="34" charset="0"/>
              </a:rPr>
              <a:t>(which are not coprime), we have </a:t>
            </a:r>
            <a:r>
              <a:rPr lang="en-US" altLang="zh-CN" sz="2400" b="1" i="1" kern="100" dirty="0">
                <a:latin typeface="Trebuchet MS" panose="020B0603020202020204" pitchFamily="34" charset="0"/>
                <a:cs typeface="Times New Roman" panose="02020603050405020304" pitchFamily="18" charset="0"/>
              </a:rPr>
              <a:t>f</a:t>
            </a:r>
            <a:r>
              <a:rPr lang="zh-CN" altLang="zh-CN" sz="2400" b="1" i="1" baseline="-25000" dirty="0">
                <a:latin typeface="Trebuchet MS" panose="020B0603020202020204" pitchFamily="34" charset="0"/>
                <a:cs typeface="Times New Roman" panose="02020603050405020304" pitchFamily="18" charset="0"/>
              </a:rPr>
              <a:t>p</a:t>
            </a:r>
            <a:r>
              <a:rPr lang="en-US" altLang="zh-CN" sz="2400" b="1" i="1" kern="100" dirty="0">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cs typeface="Times New Roman" panose="02020603050405020304" pitchFamily="18" charset="0"/>
              </a:rPr>
              <a:t>(</a:t>
            </a:r>
            <a:r>
              <a:rPr lang="en-US" altLang="zh-CN" sz="2400" b="1" kern="100" dirty="0">
                <a:latin typeface="Trebuchet MS" panose="020B0603020202020204" pitchFamily="34" charset="0"/>
                <a:cs typeface="Times New Roman" panose="02020603050405020304" pitchFamily="18" charset="0"/>
              </a:rPr>
              <a:t>1)</a:t>
            </a:r>
            <a:r>
              <a:rPr lang="en-US" altLang="zh-CN" sz="2400" b="1" i="1" kern="100" dirty="0">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cs typeface="Times New Roman" panose="02020603050405020304" pitchFamily="18" charset="0"/>
              </a:rPr>
              <a:t>(</a:t>
            </a:r>
            <a:r>
              <a:rPr lang="en-US" altLang="zh-CN" sz="2400" b="1" kern="100" dirty="0">
                <a:latin typeface="Trebuchet MS" panose="020B0603020202020204" pitchFamily="34" charset="0"/>
                <a:cs typeface="Times New Roman" panose="02020603050405020304" pitchFamily="18" charset="0"/>
              </a:rPr>
              <a:t>1</a:t>
            </a:r>
            <a:r>
              <a:rPr lang="zh-CN" altLang="zh-CN" sz="2400" b="1" kern="100" dirty="0">
                <a:latin typeface="Trebuchet MS" panose="020B0603020202020204" pitchFamily="34" charset="0"/>
                <a:ea typeface="MS Gothic" panose="020B0609070205080204" pitchFamily="49" charset="-128"/>
                <a:cs typeface="Times New Roman" panose="02020603050405020304" pitchFamily="18" charset="0"/>
              </a:rPr>
              <a:t>⋅</a:t>
            </a:r>
            <a:r>
              <a:rPr lang="zh-CN" altLang="zh-CN" sz="2400" b="1" kern="100" dirty="0">
                <a:latin typeface="Trebuchet MS" panose="020B0603020202020204" pitchFamily="34" charset="0"/>
                <a:cs typeface="Times New Roman" panose="02020603050405020304" pitchFamily="18" charset="0"/>
              </a:rPr>
              <a:t>3</a:t>
            </a:r>
            <a:r>
              <a:rPr lang="en-US" altLang="zh-CN" sz="2400" b="1" kern="100" dirty="0">
                <a:latin typeface="Trebuchet MS" panose="020B0603020202020204" pitchFamily="34" charset="0"/>
                <a:cs typeface="Times New Roman" panose="02020603050405020304" pitchFamily="18" charset="0"/>
              </a:rPr>
              <a:t>)</a:t>
            </a:r>
            <a:r>
              <a:rPr lang="zh-CN" altLang="zh-CN" sz="2400" b="1" i="1" kern="100" dirty="0">
                <a:latin typeface="Trebuchet MS" panose="020B0603020202020204" pitchFamily="34" charset="0"/>
                <a:cs typeface="Times New Roman" panose="02020603050405020304" pitchFamily="18" charset="0"/>
              </a:rPr>
              <a:t> </a:t>
            </a:r>
            <a:r>
              <a:rPr lang="en-US" altLang="zh-CN" sz="2400" b="1" i="1" kern="100" dirty="0">
                <a:latin typeface="Trebuchet MS" panose="020B0603020202020204" pitchFamily="34" charset="0"/>
                <a:cs typeface="Times New Roman" panose="02020603050405020304" pitchFamily="18" charset="0"/>
              </a:rPr>
              <a:t>mod</a:t>
            </a:r>
            <a:r>
              <a:rPr lang="zh-CN" altLang="zh-CN" sz="2400" b="1" i="1" kern="100" dirty="0">
                <a:latin typeface="Trebuchet MS" panose="020B0603020202020204" pitchFamily="34" charset="0"/>
                <a:cs typeface="Times New Roman" panose="02020603050405020304" pitchFamily="18" charset="0"/>
              </a:rPr>
              <a:t> </a:t>
            </a:r>
            <a:r>
              <a:rPr lang="zh-CN" altLang="zh-CN" sz="2400" b="1" kern="100" dirty="0">
                <a:latin typeface="Trebuchet MS" panose="020B0603020202020204" pitchFamily="34" charset="0"/>
                <a:cs typeface="Times New Roman" panose="02020603050405020304" pitchFamily="18" charset="0"/>
              </a:rPr>
              <a:t>6 </a:t>
            </a:r>
            <a:r>
              <a:rPr lang="en-US" altLang="zh-CN" sz="2400" b="1" kern="100" dirty="0">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cs typeface="Times New Roman" panose="02020603050405020304" pitchFamily="18" charset="0"/>
              </a:rPr>
              <a:t>3</a:t>
            </a:r>
            <a:r>
              <a:rPr lang="en-US" altLang="zh-CN" sz="2400" b="1" kern="100" dirty="0">
                <a:latin typeface="Trebuchet MS" panose="020B0603020202020204" pitchFamily="34" charset="0"/>
                <a:cs typeface="Times New Roman" panose="02020603050405020304" pitchFamily="18" charset="0"/>
              </a:rPr>
              <a:t>,</a:t>
            </a:r>
            <a:r>
              <a:rPr lang="zh-CN" altLang="en-US" sz="2400" b="1" kern="100" dirty="0">
                <a:latin typeface="Trebuchet MS" panose="020B0603020202020204" pitchFamily="34" charset="0"/>
                <a:cs typeface="Times New Roman" panose="02020603050405020304" pitchFamily="18" charset="0"/>
              </a:rPr>
              <a:t> </a:t>
            </a:r>
            <a:r>
              <a:rPr lang="en-US" altLang="zh-CN" sz="2400" kern="100" dirty="0">
                <a:latin typeface="Trebuchet MS" panose="020B0603020202020204" pitchFamily="34" charset="0"/>
                <a:cs typeface="Times New Roman" panose="02020603050405020304" pitchFamily="18" charset="0"/>
              </a:rPr>
              <a:t>but</a:t>
            </a:r>
            <a:r>
              <a:rPr lang="zh-CN" altLang="zh-CN" sz="2400" b="1" kern="100" dirty="0">
                <a:latin typeface="Trebuchet MS" panose="020B0603020202020204" pitchFamily="34" charset="0"/>
                <a:cs typeface="Times New Roman" panose="02020603050405020304" pitchFamily="18" charset="0"/>
              </a:rPr>
              <a:t> </a:t>
            </a:r>
            <a:r>
              <a:rPr lang="en-US" altLang="zh-CN" sz="2400" b="1" i="1" kern="100" dirty="0">
                <a:latin typeface="Trebuchet MS" panose="020B0603020202020204" pitchFamily="34" charset="0"/>
                <a:cs typeface="Times New Roman" panose="02020603050405020304" pitchFamily="18" charset="0"/>
              </a:rPr>
              <a:t>x</a:t>
            </a:r>
            <a:r>
              <a:rPr lang="en-US" altLang="zh-CN" sz="2400" b="1" kern="100" baseline="-25000" dirty="0">
                <a:latin typeface="Trebuchet MS" panose="020B0603020202020204" pitchFamily="34" charset="0"/>
                <a:cs typeface="Times New Roman" panose="02020603050405020304" pitchFamily="18" charset="0"/>
              </a:rPr>
              <a:t>1</a:t>
            </a:r>
            <a:r>
              <a:rPr lang="en-US" altLang="zh-CN" sz="2400" b="1" i="1" kern="100" dirty="0">
                <a:latin typeface="Trebuchet MS" panose="020B0603020202020204" pitchFamily="34" charset="0"/>
                <a:cs typeface="Times New Roman" panose="02020603050405020304" pitchFamily="18" charset="0"/>
              </a:rPr>
              <a:t>​</a:t>
            </a:r>
            <a:r>
              <a:rPr lang="en-US" altLang="zh-CN" sz="2400" b="1" kern="100" dirty="0">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cs typeface="Times New Roman" panose="02020603050405020304" pitchFamily="18" charset="0"/>
              </a:rPr>
              <a:t>1</a:t>
            </a:r>
            <a:r>
              <a:rPr lang="zh-CN" altLang="zh-CN" sz="2400" b="1" i="1" kern="100" dirty="0">
                <a:latin typeface="Trebuchet MS" panose="020B0603020202020204" pitchFamily="34" charset="0"/>
                <a:cs typeface="Times New Roman" panose="02020603050405020304" pitchFamily="18" charset="0"/>
              </a:rPr>
              <a:t> </a:t>
            </a:r>
            <a:r>
              <a:rPr lang="zh-CN" altLang="en-US" sz="2400" b="1" i="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 x</a:t>
            </a:r>
            <a:r>
              <a:rPr lang="en-US" altLang="zh-CN" sz="2400" b="1" kern="100" baseline="-25000" dirty="0">
                <a:latin typeface="Trebuchet MS" panose="020B0603020202020204" pitchFamily="34" charset="0"/>
                <a:cs typeface="Times New Roman" panose="02020603050405020304" pitchFamily="18" charset="0"/>
              </a:rPr>
              <a:t>2</a:t>
            </a:r>
            <a:r>
              <a:rPr lang="en-US" altLang="zh-CN" sz="2400" b="1" i="1" kern="100" dirty="0">
                <a:latin typeface="Trebuchet MS" panose="020B0603020202020204" pitchFamily="34" charset="0"/>
                <a:cs typeface="Times New Roman" panose="02020603050405020304" pitchFamily="18" charset="0"/>
              </a:rPr>
              <a:t>​ ​</a:t>
            </a:r>
            <a:r>
              <a:rPr lang="en-US" altLang="zh-CN" sz="2400" b="1" kern="100" dirty="0">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cs typeface="Times New Roman" panose="02020603050405020304" pitchFamily="18" charset="0"/>
              </a:rPr>
              <a:t>3</a:t>
            </a:r>
            <a:r>
              <a:rPr lang="en-US" altLang="zh-CN" sz="2400" dirty="0">
                <a:latin typeface="Trebuchet MS" panose="020B0603020202020204" pitchFamily="34" charset="0"/>
              </a:rPr>
              <a:t>, so it is not injective.</a:t>
            </a: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7488785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animEffect transition="in" filter="fade">
                                      <p:cBhvr>
                                        <p:cTn id="21" dur="1000"/>
                                        <p:tgtEl>
                                          <p:spTgt spid="10">
                                            <p:txEl>
                                              <p:pRg st="3" end="3"/>
                                            </p:txEl>
                                          </p:spTgt>
                                        </p:tgtEl>
                                      </p:cBhvr>
                                    </p:animEffect>
                                    <p:anim calcmode="lin" valueType="num">
                                      <p:cBhvr>
                                        <p:cTn id="22"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Homomorphisms and Isomorphisms in Algebraic Systems(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0" name="Rectangle 3">
            <a:extLst>
              <a:ext uri="{FF2B5EF4-FFF2-40B4-BE49-F238E27FC236}">
                <a16:creationId xmlns:a16="http://schemas.microsoft.com/office/drawing/2014/main" id="{B0AE26FE-519C-4940-8C20-4CAF4CD56D47}"/>
              </a:ext>
            </a:extLst>
          </p:cNvPr>
          <p:cNvSpPr>
            <a:spLocks noGrp="1" noChangeArrowheads="1"/>
          </p:cNvSpPr>
          <p:nvPr>
            <p:ph idx="1"/>
          </p:nvPr>
        </p:nvSpPr>
        <p:spPr>
          <a:xfrm>
            <a:off x="949796" y="863597"/>
            <a:ext cx="10418262" cy="5251453"/>
          </a:xfrm>
        </p:spPr>
        <p:txBody>
          <a:bodyPr>
            <a:noAutofit/>
          </a:bodyPr>
          <a:lstStyle/>
          <a:p>
            <a:pPr eaLnBrk="1" hangingPunct="1">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Let</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Z</a:t>
            </a:r>
            <a:r>
              <a:rPr lang="en-US" altLang="zh-CN" sz="2400" b="1" i="1" baseline="-25000"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Z</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xp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mod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p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0, 1, … ,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Analyze the properties of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a:t>
            </a:r>
          </a:p>
          <a:p>
            <a:pPr marL="625475" indent="-449263" eaLnBrk="1" hangingPunct="1">
              <a:lnSpc>
                <a:spcPct val="120000"/>
              </a:lnSpc>
              <a:spcBef>
                <a:spcPts val="600"/>
              </a:spcBef>
              <a:buFontTx/>
              <a:buNone/>
            </a:pPr>
            <a:r>
              <a:rPr lang="zh-CN" altLang="en-US" sz="2400" b="1" dirty="0">
                <a:solidFill>
                  <a:srgbClr val="0B61FF"/>
                </a:solidFill>
                <a:effectLst/>
                <a:latin typeface="Trebuchet MS" panose="020B0603020202020204" pitchFamily="34" charset="0"/>
                <a:ea typeface="宋体" panose="02010600030101010101" pitchFamily="2" charset="-122"/>
                <a:cs typeface="Calibri" panose="020F0502020204030204" pitchFamily="34" charset="0"/>
              </a:rPr>
              <a:t>④</a:t>
            </a:r>
            <a:r>
              <a:rPr lang="zh-CN" altLang="en-US" sz="2400" b="1" dirty="0">
                <a:effectLst/>
                <a:latin typeface="Trebuchet MS" panose="020B0603020202020204" pitchFamily="34" charset="0"/>
                <a:ea typeface="宋体" panose="02010600030101010101" pitchFamily="2" charset="-122"/>
                <a:cs typeface="Calibri" panose="020F0502020204030204" pitchFamily="34" charset="0"/>
              </a:rPr>
              <a:t> </a:t>
            </a:r>
            <a:r>
              <a:rPr lang="en-US" altLang="zh-CN" sz="2400" b="1" dirty="0" err="1">
                <a:latin typeface="Trebuchet MS" panose="020B0603020202020204" pitchFamily="34" charset="0"/>
              </a:rPr>
              <a:t>Surjectivity</a:t>
            </a:r>
            <a:r>
              <a:rPr lang="en-US" altLang="zh-CN" sz="2400" b="1" dirty="0">
                <a:latin typeface="Trebuchet MS" panose="020B0603020202020204" pitchFamily="34" charset="0"/>
              </a:rPr>
              <a:t> (</a:t>
            </a:r>
            <a:r>
              <a:rPr lang="en-US" altLang="zh-CN" sz="2400" b="1" i="1" dirty="0">
                <a:solidFill>
                  <a:srgbClr val="0B61FF"/>
                </a:solidFill>
                <a:latin typeface="Trebuchet MS" panose="020B0603020202020204" pitchFamily="34" charset="0"/>
              </a:rPr>
              <a:t>Epimorphism</a:t>
            </a:r>
            <a:r>
              <a:rPr lang="en-US" altLang="zh-CN" sz="2400" b="1" dirty="0">
                <a:latin typeface="Trebuchet MS" panose="020B0603020202020204" pitchFamily="34" charset="0"/>
              </a:rPr>
              <a:t>):</a:t>
            </a:r>
            <a:r>
              <a:rPr lang="en-US" altLang="zh-CN" sz="2400" dirty="0">
                <a:latin typeface="Trebuchet MS" panose="020B0603020202020204" pitchFamily="34" charset="0"/>
              </a:rPr>
              <a:t> If </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p</a:t>
            </a:r>
            <a:r>
              <a:rPr lang="en-US" altLang="zh-CN" sz="2400" b="1" dirty="0">
                <a:latin typeface="Trebuchet MS" panose="020B0603020202020204" pitchFamily="34" charset="0"/>
              </a:rPr>
              <a:t> and </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latin typeface="Trebuchet MS" panose="020B0603020202020204" pitchFamily="34" charset="0"/>
              </a:rPr>
              <a:t> are coprime</a:t>
            </a:r>
            <a:r>
              <a:rPr lang="en-US" altLang="zh-CN" sz="2400" dirty="0">
                <a:latin typeface="Trebuchet MS" panose="020B0603020202020204" pitchFamily="34" charset="0"/>
              </a:rPr>
              <a:t>, then ​ </a:t>
            </a:r>
            <a:r>
              <a:rPr lang="en-US" altLang="zh-CN" sz="2400" b="1" i="1" dirty="0" err="1">
                <a:effectLst/>
                <a:latin typeface="Trebuchet MS" panose="020B0603020202020204" pitchFamily="34" charset="0"/>
                <a:ea typeface="宋体" panose="02010600030101010101" pitchFamily="2" charset="-122"/>
                <a:cs typeface="Times New Roman" panose="02020603050405020304" pitchFamily="18" charset="0"/>
              </a:rPr>
              <a:t>f</a:t>
            </a:r>
            <a:r>
              <a:rPr lang="en-US" altLang="zh-CN" sz="2400" b="1" i="1" baseline="-25000" dirty="0" err="1">
                <a:effectLst/>
                <a:latin typeface="Trebuchet MS" panose="020B0603020202020204" pitchFamily="34" charset="0"/>
                <a:ea typeface="宋体" panose="02010600030101010101" pitchFamily="2" charset="-122"/>
                <a:cs typeface="Times New Roman" panose="02020603050405020304" pitchFamily="18" charset="0"/>
              </a:rPr>
              <a:t>p</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is surjective. For example, with </a:t>
            </a:r>
            <a:r>
              <a:rPr lang="en-US" altLang="zh-CN" sz="2400" b="1" i="1" dirty="0">
                <a:latin typeface="Trebuchet MS" panose="020B0603020202020204" pitchFamily="34" charset="0"/>
              </a:rPr>
              <a:t>n</a:t>
            </a:r>
            <a:r>
              <a:rPr lang="en-US" altLang="zh-CN" sz="2400" b="1" dirty="0">
                <a:latin typeface="Trebuchet MS" panose="020B0603020202020204" pitchFamily="34" charset="0"/>
              </a:rPr>
              <a:t>=6</a:t>
            </a:r>
            <a:r>
              <a:rPr lang="en-US" altLang="zh-CN" sz="2400" dirty="0">
                <a:latin typeface="Trebuchet MS" panose="020B0603020202020204" pitchFamily="34" charset="0"/>
              </a:rPr>
              <a:t> and </a:t>
            </a:r>
            <a:r>
              <a:rPr lang="en-US" altLang="zh-CN" sz="2400" b="1" i="1" dirty="0">
                <a:latin typeface="Trebuchet MS" panose="020B0603020202020204" pitchFamily="34" charset="0"/>
              </a:rPr>
              <a:t>p</a:t>
            </a:r>
            <a:r>
              <a:rPr lang="en-US" altLang="zh-CN" sz="2400" b="1" dirty="0">
                <a:latin typeface="Trebuchet MS" panose="020B0603020202020204" pitchFamily="34" charset="0"/>
              </a:rPr>
              <a:t>=3</a:t>
            </a:r>
            <a:r>
              <a:rPr lang="en-US" altLang="zh-CN" sz="2400" dirty="0">
                <a:latin typeface="Trebuchet MS" panose="020B0603020202020204" pitchFamily="34" charset="0"/>
              </a:rPr>
              <a:t> (not coprime), in </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Z</a:t>
            </a:r>
            <a:r>
              <a:rPr lang="en-US" altLang="zh-CN" sz="2400" b="1" kern="100" baseline="-25000" dirty="0">
                <a:effectLst/>
                <a:latin typeface="Trebuchet MS" panose="020B0603020202020204" pitchFamily="34" charset="0"/>
                <a:ea typeface="宋体" panose="02010600030101010101" pitchFamily="2" charset="-122"/>
                <a:cs typeface="Times New Roman" panose="02020603050405020304" pitchFamily="18" charset="0"/>
              </a:rPr>
              <a:t>6​ </a:t>
            </a:r>
            <a:r>
              <a:rPr lang="en-US" altLang="zh-CN" sz="2400" dirty="0">
                <a:latin typeface="Trebuchet MS" panose="020B0603020202020204" pitchFamily="34" charset="0"/>
              </a:rPr>
              <a:t>​, for y=0, there is </a:t>
            </a:r>
            <a:r>
              <a:rPr lang="en-US" altLang="zh-CN" sz="2400" b="1" i="1" dirty="0">
                <a:latin typeface="Trebuchet MS" panose="020B0603020202020204" pitchFamily="34" charset="0"/>
              </a:rPr>
              <a:t>x</a:t>
            </a:r>
            <a:r>
              <a:rPr lang="en-US" altLang="zh-CN" sz="2400" b="1" dirty="0">
                <a:latin typeface="Trebuchet MS" panose="020B0603020202020204" pitchFamily="34" charset="0"/>
              </a:rPr>
              <a:t>=0,2,4</a:t>
            </a:r>
            <a:r>
              <a:rPr lang="en-US" altLang="zh-CN" sz="2400" dirty="0">
                <a:latin typeface="Trebuchet MS" panose="020B0603020202020204" pitchFamily="34" charset="0"/>
              </a:rPr>
              <a:t>,for </a:t>
            </a:r>
            <a:r>
              <a:rPr lang="en-US" altLang="zh-CN" sz="2400" b="1" i="1" dirty="0">
                <a:latin typeface="Trebuchet MS" panose="020B0603020202020204" pitchFamily="34" charset="0"/>
              </a:rPr>
              <a:t>y</a:t>
            </a:r>
            <a:r>
              <a:rPr lang="en-US" altLang="zh-CN" sz="2400" b="1" dirty="0">
                <a:latin typeface="Trebuchet MS" panose="020B0603020202020204" pitchFamily="34" charset="0"/>
              </a:rPr>
              <a:t>=3</a:t>
            </a:r>
            <a:r>
              <a:rPr lang="en-US" altLang="zh-CN" sz="2400" dirty="0">
                <a:latin typeface="Trebuchet MS" panose="020B0603020202020204" pitchFamily="34" charset="0"/>
              </a:rPr>
              <a:t>, there is </a:t>
            </a:r>
            <a:r>
              <a:rPr lang="en-US" altLang="zh-CN" sz="2400" b="1" i="1" dirty="0">
                <a:latin typeface="Trebuchet MS" panose="020B0603020202020204" pitchFamily="34" charset="0"/>
              </a:rPr>
              <a:t>x</a:t>
            </a:r>
            <a:r>
              <a:rPr lang="en-US" altLang="zh-CN" sz="2400" b="1" dirty="0">
                <a:latin typeface="Trebuchet MS" panose="020B0603020202020204" pitchFamily="34" charset="0"/>
              </a:rPr>
              <a:t>=1,3,5</a:t>
            </a:r>
            <a:r>
              <a:rPr lang="en-US" altLang="zh-CN" sz="2400" dirty="0">
                <a:latin typeface="Trebuchet MS" panose="020B0603020202020204" pitchFamily="34" charset="0"/>
              </a:rPr>
              <a:t>,but for </a:t>
            </a:r>
            <a:r>
              <a:rPr lang="en-US" altLang="zh-CN" sz="2400" b="1" i="1" dirty="0">
                <a:latin typeface="Trebuchet MS" panose="020B0603020202020204" pitchFamily="34" charset="0"/>
              </a:rPr>
              <a:t>y</a:t>
            </a:r>
            <a:r>
              <a:rPr lang="en-US" altLang="zh-CN" sz="2400" b="1" dirty="0">
                <a:latin typeface="Trebuchet MS" panose="020B0603020202020204" pitchFamily="34" charset="0"/>
              </a:rPr>
              <a:t>=1,2,4,5</a:t>
            </a:r>
            <a:r>
              <a:rPr lang="en-US" altLang="zh-CN" sz="2400" dirty="0">
                <a:latin typeface="Trebuchet MS" panose="020B0603020202020204" pitchFamily="34" charset="0"/>
              </a:rPr>
              <a:t>, no </a:t>
            </a:r>
            <a:r>
              <a:rPr lang="en-US" altLang="zh-CN" sz="2400" b="1" i="1" dirty="0">
                <a:latin typeface="Trebuchet MS" panose="020B0603020202020204" pitchFamily="34" charset="0"/>
              </a:rPr>
              <a:t>x</a:t>
            </a:r>
            <a:r>
              <a:rPr lang="en-US" altLang="zh-CN" sz="2400" dirty="0">
                <a:latin typeface="Trebuchet MS" panose="020B0603020202020204" pitchFamily="34" charset="0"/>
              </a:rPr>
              <a:t> satisfies </a:t>
            </a:r>
            <a:r>
              <a:rPr lang="en-US" altLang="zh-CN" sz="2400" b="1" i="1" dirty="0" err="1">
                <a:latin typeface="Trebuchet MS" panose="020B0603020202020204" pitchFamily="34" charset="0"/>
              </a:rPr>
              <a:t>f</a:t>
            </a:r>
            <a:r>
              <a:rPr lang="en-US" altLang="zh-CN" sz="2400" b="1" i="1" baseline="-25000" dirty="0" err="1">
                <a:latin typeface="Trebuchet MS" panose="020B0603020202020204" pitchFamily="34" charset="0"/>
              </a:rPr>
              <a:t>p</a:t>
            </a:r>
            <a:r>
              <a:rPr lang="en-US"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n-US" altLang="zh-CN" sz="2400" b="1" i="1" dirty="0">
                <a:latin typeface="Trebuchet MS" panose="020B0603020202020204" pitchFamily="34" charset="0"/>
              </a:rPr>
              <a:t>y</a:t>
            </a:r>
            <a:r>
              <a:rPr lang="en-US" altLang="zh-CN" sz="2400" dirty="0">
                <a:latin typeface="Trebuchet MS" panose="020B0603020202020204" pitchFamily="34" charset="0"/>
              </a:rPr>
              <a:t>.</a:t>
            </a:r>
          </a:p>
          <a:p>
            <a:pPr marL="625475" indent="-449263" eaLnBrk="1" hangingPunct="1">
              <a:lnSpc>
                <a:spcPct val="120000"/>
              </a:lnSpc>
              <a:spcBef>
                <a:spcPts val="600"/>
              </a:spcBef>
              <a:buFontTx/>
              <a:buNone/>
            </a:pPr>
            <a:r>
              <a:rPr lang="zh-CN" altLang="en-US" sz="2400" b="1" dirty="0">
                <a:solidFill>
                  <a:srgbClr val="0B61FF"/>
                </a:solidFill>
                <a:effectLst/>
                <a:latin typeface="Trebuchet MS" panose="020B0603020202020204" pitchFamily="34" charset="0"/>
                <a:ea typeface="宋体" panose="02010600030101010101" pitchFamily="2" charset="-122"/>
                <a:cs typeface="Calibri" panose="020F0502020204030204" pitchFamily="34" charset="0"/>
              </a:rPr>
              <a:t>⑤</a:t>
            </a:r>
            <a:r>
              <a:rPr lang="zh-CN" altLang="en-US" sz="2400" b="1" dirty="0">
                <a:effectLst/>
                <a:latin typeface="Trebuchet MS" panose="020B0603020202020204" pitchFamily="34" charset="0"/>
                <a:ea typeface="宋体" panose="02010600030101010101" pitchFamily="2" charset="-122"/>
                <a:cs typeface="Calibri" panose="020F0502020204030204" pitchFamily="34" charset="0"/>
              </a:rPr>
              <a:t> </a:t>
            </a:r>
            <a:r>
              <a:rPr lang="en-US" altLang="zh-CN" sz="2400" b="1" dirty="0">
                <a:latin typeface="Trebuchet MS" panose="020B0603020202020204" pitchFamily="34" charset="0"/>
              </a:rPr>
              <a:t>Zero Homomorphism:</a:t>
            </a:r>
            <a:r>
              <a:rPr lang="en-US" altLang="zh-CN" sz="2400" dirty="0">
                <a:latin typeface="Trebuchet MS" panose="020B0603020202020204" pitchFamily="34" charset="0"/>
              </a:rPr>
              <a:t> If </a:t>
            </a:r>
            <a:r>
              <a:rPr lang="en-US" altLang="zh-CN" sz="2400" b="1" i="1" dirty="0">
                <a:latin typeface="Trebuchet MS" panose="020B0603020202020204" pitchFamily="34" charset="0"/>
              </a:rPr>
              <a:t>p</a:t>
            </a:r>
            <a:r>
              <a:rPr lang="en-US" altLang="zh-CN" sz="2400" b="1" dirty="0">
                <a:latin typeface="Trebuchet MS" panose="020B0603020202020204" pitchFamily="34" charset="0"/>
              </a:rPr>
              <a:t>=0</a:t>
            </a:r>
            <a:r>
              <a:rPr lang="en-US" altLang="zh-CN" sz="2400" dirty="0">
                <a:latin typeface="Trebuchet MS" panose="020B0603020202020204" pitchFamily="34" charset="0"/>
              </a:rPr>
              <a:t>, then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effectLst/>
                <a:latin typeface="Trebuchet MS" panose="020B0603020202020204" pitchFamily="34" charset="0"/>
                <a:cs typeface="Times New Roman" panose="02020603050405020304" pitchFamily="18" charset="0"/>
              </a:rPr>
              <a:t>(</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x</a:t>
            </a:r>
            <a:r>
              <a:rPr lang="zh-CN" altLang="zh-CN" sz="2400" b="1" i="1" dirty="0">
                <a:effectLst/>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dirty="0">
                <a:effectLst/>
                <a:latin typeface="Trebuchet MS" panose="020B0603020202020204" pitchFamily="34" charset="0"/>
                <a:ea typeface="MS Gothic" panose="020B0609070205080204" pitchFamily="49" charset="-128"/>
                <a:cs typeface="Times New Roman" panose="02020603050405020304" pitchFamily="18" charset="0"/>
              </a:rPr>
              <a:t> </a:t>
            </a:r>
            <a:r>
              <a:rPr lang="zh-CN" altLang="zh-CN" sz="2400" b="1" dirty="0">
                <a:effectLst/>
                <a:latin typeface="Trebuchet MS" panose="020B0603020202020204" pitchFamily="34" charset="0"/>
                <a:cs typeface="Times New Roman" panose="02020603050405020304" pitchFamily="18" charset="0"/>
              </a:rPr>
              <a:t>0</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effectLst/>
                <a:latin typeface="Trebuchet MS" panose="020B0603020202020204" pitchFamily="34" charset="0"/>
                <a:cs typeface="Times New Roman" panose="02020603050405020304" pitchFamily="18" charset="0"/>
              </a:rPr>
              <a:t>mod </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n=</a:t>
            </a:r>
            <a:r>
              <a:rPr lang="zh-CN" altLang="zh-CN" sz="2400" b="1" i="1" dirty="0">
                <a:effectLst/>
                <a:latin typeface="Trebuchet MS" panose="020B0603020202020204" pitchFamily="34" charset="0"/>
                <a:cs typeface="Times New Roman" panose="02020603050405020304" pitchFamily="18" charset="0"/>
              </a:rPr>
              <a:t>0</a:t>
            </a:r>
            <a:r>
              <a:rPr lang="en-US" altLang="zh-CN" sz="2400" dirty="0">
                <a:latin typeface="Trebuchet MS" panose="020B0603020202020204" pitchFamily="34" charset="0"/>
              </a:rPr>
              <a:t>, which means it maps all inputs to zero. Therefore,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zh-CN" altLang="zh-CN" sz="2400" b="1" i="1" dirty="0">
                <a:effectLst/>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 is the </a:t>
            </a:r>
            <a:r>
              <a:rPr lang="en-US" altLang="zh-CN" sz="2400" b="1" i="1" dirty="0">
                <a:solidFill>
                  <a:srgbClr val="0B61FF"/>
                </a:solidFill>
                <a:latin typeface="Trebuchet MS" panose="020B0603020202020204" pitchFamily="34" charset="0"/>
              </a:rPr>
              <a:t>zero homomorphism</a:t>
            </a:r>
            <a:r>
              <a:rPr lang="en-US" altLang="zh-CN" sz="2400" dirty="0">
                <a:latin typeface="Trebuchet MS" panose="020B0603020202020204" pitchFamily="34" charset="0"/>
              </a:rPr>
              <a:t>.</a:t>
            </a:r>
          </a:p>
          <a:p>
            <a:pPr marL="625475" indent="-449263" eaLnBrk="1" hangingPunct="1">
              <a:lnSpc>
                <a:spcPct val="120000"/>
              </a:lnSpc>
              <a:spcBef>
                <a:spcPts val="600"/>
              </a:spcBef>
              <a:buFontTx/>
              <a:buNone/>
            </a:pPr>
            <a:r>
              <a:rPr lang="zh-CN" altLang="en-US" sz="2400" b="1" kern="100" dirty="0">
                <a:solidFill>
                  <a:srgbClr val="0B61FF"/>
                </a:solidFill>
                <a:effectLst/>
                <a:latin typeface="Trebuchet MS" panose="020B0603020202020204" pitchFamily="34" charset="0"/>
                <a:ea typeface="宋体" panose="02010600030101010101" pitchFamily="2" charset="-122"/>
                <a:cs typeface="Calibri" panose="020F0502020204030204" pitchFamily="34" charset="0"/>
              </a:rPr>
              <a:t>⑥</a:t>
            </a:r>
            <a:r>
              <a:rPr lang="zh-CN" altLang="en-US" sz="2400" b="1" kern="100" dirty="0">
                <a:effectLst/>
                <a:latin typeface="Trebuchet MS" panose="020B0603020202020204" pitchFamily="34" charset="0"/>
                <a:ea typeface="宋体" panose="02010600030101010101" pitchFamily="2" charset="-122"/>
                <a:cs typeface="Calibri" panose="020F0502020204030204" pitchFamily="34" charset="0"/>
              </a:rPr>
              <a:t> </a:t>
            </a:r>
            <a:r>
              <a:rPr lang="en-US" altLang="zh-CN" sz="2400" b="1" dirty="0">
                <a:latin typeface="Trebuchet MS" panose="020B0603020202020204" pitchFamily="34" charset="0"/>
              </a:rPr>
              <a:t>Automorphism:</a:t>
            </a:r>
            <a:r>
              <a:rPr lang="en-US" altLang="zh-CN" sz="2400" dirty="0">
                <a:latin typeface="Trebuchet MS" panose="020B0603020202020204" pitchFamily="34" charset="0"/>
              </a:rPr>
              <a:t> If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p</a:t>
            </a:r>
            <a:r>
              <a:rPr lang="en-US" altLang="zh-CN" sz="2400" b="1" dirty="0">
                <a:latin typeface="Trebuchet MS" panose="020B0603020202020204" pitchFamily="34" charset="0"/>
              </a:rPr>
              <a:t> and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latin typeface="Trebuchet MS" panose="020B0603020202020204" pitchFamily="34" charset="0"/>
              </a:rPr>
              <a:t> are coprime</a:t>
            </a:r>
            <a:r>
              <a:rPr lang="en-US" altLang="zh-CN" sz="2400" dirty="0">
                <a:latin typeface="Trebuchet MS" panose="020B0603020202020204" pitchFamily="34" charset="0"/>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i="1" baseline="-250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 satisfies both injectivity and </a:t>
            </a:r>
            <a:r>
              <a:rPr lang="en-US" altLang="zh-CN" sz="2400" dirty="0" err="1">
                <a:latin typeface="Trebuchet MS" panose="020B0603020202020204" pitchFamily="34" charset="0"/>
              </a:rPr>
              <a:t>surjectivity</a:t>
            </a:r>
            <a:r>
              <a:rPr lang="en-US" altLang="zh-CN" sz="2400" dirty="0">
                <a:latin typeface="Trebuchet MS" panose="020B0603020202020204" pitchFamily="34" charset="0"/>
              </a:rPr>
              <a:t> (bijectivity), so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i="1" baseline="-250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is an </a:t>
            </a:r>
            <a:r>
              <a:rPr lang="en-US" altLang="zh-CN" sz="2400" b="1" i="1" dirty="0">
                <a:solidFill>
                  <a:srgbClr val="0B61FF"/>
                </a:solidFill>
                <a:latin typeface="Trebuchet MS" panose="020B0603020202020204" pitchFamily="34" charset="0"/>
              </a:rPr>
              <a:t>automorphism</a:t>
            </a:r>
            <a:r>
              <a:rPr lang="en-US" altLang="zh-CN" sz="2400" dirty="0">
                <a:latin typeface="Trebuchet MS" panose="020B0603020202020204" pitchFamily="34" charset="0"/>
              </a:rPr>
              <a:t>.</a:t>
            </a:r>
            <a:endParaRPr lang="en-US" altLang="zh-CN" sz="2400" b="1" kern="100" dirty="0">
              <a:latin typeface="Trebuchet MS" panose="020B0603020202020204" pitchFamily="34" charset="0"/>
              <a:cs typeface="Times New Roman" panose="02020603050405020304" pitchFamily="18" charset="0"/>
            </a:endParaRPr>
          </a:p>
          <a:p>
            <a:pPr>
              <a:lnSpc>
                <a:spcPct val="110000"/>
              </a:lnSpc>
              <a:spcBef>
                <a:spcPct val="50000"/>
              </a:spcBef>
              <a:buNone/>
            </a:pP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15647507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1000"/>
                                        <p:tgtEl>
                                          <p:spTgt spid="10">
                                            <p:txEl>
                                              <p:pRg st="3" end="3"/>
                                            </p:txEl>
                                          </p:spTgt>
                                        </p:tgtEl>
                                      </p:cBhvr>
                                    </p:animEffect>
                                    <p:anim calcmode="lin" valueType="num">
                                      <p:cBhvr>
                                        <p:cTn id="1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9.2.3 Homomorphisms and Isomorphisms of Algebraic Systems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Properties of epimorphism between Algebraic Systems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2" name="Rectangle 4">
            <a:extLst>
              <a:ext uri="{FF2B5EF4-FFF2-40B4-BE49-F238E27FC236}">
                <a16:creationId xmlns:a16="http://schemas.microsoft.com/office/drawing/2014/main" id="{713C47D5-98AC-4EA1-A4F6-59FB972F1943}"/>
              </a:ext>
            </a:extLst>
          </p:cNvPr>
          <p:cNvSpPr>
            <a:spLocks noGrp="1" noChangeArrowheads="1"/>
          </p:cNvSpPr>
          <p:nvPr>
            <p:ph idx="1"/>
          </p:nvPr>
        </p:nvSpPr>
        <p:spPr>
          <a:xfrm>
            <a:off x="725621" y="762000"/>
            <a:ext cx="10810981" cy="5714365"/>
          </a:xfrm>
        </p:spPr>
        <p:txBody>
          <a:bodyPr>
            <a:noAutofit/>
          </a:bodyPr>
          <a:lstStyle/>
          <a:p>
            <a:pPr eaLnBrk="1" hangingPunct="1">
              <a:lnSpc>
                <a:spcPct val="110000"/>
              </a:lnSpc>
              <a:spcBef>
                <a:spcPts val="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Let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1</a:t>
            </a:r>
            <a:r>
              <a:rPr lang="zh-CN" altLang="en-US"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2 </a:t>
            </a:r>
            <a:r>
              <a:rPr lang="en-US" altLang="zh-CN" sz="2400" dirty="0">
                <a:latin typeface="Trebuchet MS" panose="020B0603020202020204" pitchFamily="34" charset="0"/>
              </a:rPr>
              <a:t> be algebraic systems, and let </a:t>
            </a:r>
            <a:r>
              <a:rPr lang="en-US" altLang="zh-CN" sz="2400" b="1" i="1" dirty="0">
                <a:latin typeface="Trebuchet MS" panose="020B0603020202020204" pitchFamily="34" charset="0"/>
                <a:cs typeface="Times New Roman" panose="02020603050405020304" pitchFamily="18" charset="0"/>
              </a:rPr>
              <a:t>f </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be a </a:t>
            </a:r>
            <a:r>
              <a:rPr lang="en-US" altLang="zh-CN" sz="2400" b="1" dirty="0">
                <a:latin typeface="Trebuchet MS" panose="020B0603020202020204" pitchFamily="34" charset="0"/>
              </a:rPr>
              <a:t>surjective (onto) homomorphism</a:t>
            </a:r>
            <a:r>
              <a:rPr lang="en-US" altLang="zh-CN" sz="2400" dirty="0">
                <a:latin typeface="Trebuchet MS" panose="020B0603020202020204" pitchFamily="34" charset="0"/>
              </a:rPr>
              <a:t>. Then:</a:t>
            </a:r>
          </a:p>
          <a:p>
            <a:pPr marL="625475" indent="-449263" eaLnBrk="1" hangingPunct="1">
              <a:lnSpc>
                <a:spcPct val="110000"/>
              </a:lnSpc>
              <a:spcBef>
                <a:spcPts val="0"/>
              </a:spcBef>
              <a:buNone/>
            </a:pPr>
            <a:r>
              <a:rPr lang="en-US" altLang="zh-CN" sz="2400" b="1" dirty="0">
                <a:solidFill>
                  <a:srgbClr val="0B61FF"/>
                </a:solidFill>
                <a:latin typeface="Trebuchet MS" panose="020B0603020202020204" pitchFamily="34" charset="0"/>
              </a:rPr>
              <a:t>(1) </a:t>
            </a:r>
            <a:r>
              <a:rPr lang="en-US" altLang="zh-CN" sz="2400" dirty="0">
                <a:latin typeface="Trebuchet MS" panose="020B0603020202020204" pitchFamily="34" charset="0"/>
              </a:rPr>
              <a:t>If the operation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in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is commutative (associative, idempotent), then the corresponding operation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in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 </a:t>
            </a:r>
            <a:r>
              <a:rPr lang="en-US" altLang="zh-CN" sz="2400" dirty="0">
                <a:latin typeface="Trebuchet MS" panose="020B0603020202020204" pitchFamily="34" charset="0"/>
              </a:rPr>
              <a:t>is also </a:t>
            </a:r>
            <a:r>
              <a:rPr lang="en-US" altLang="zh-CN" sz="2400" b="1" i="1" dirty="0">
                <a:solidFill>
                  <a:srgbClr val="0B61FF"/>
                </a:solidFill>
                <a:latin typeface="Trebuchet MS" panose="020B0603020202020204" pitchFamily="34" charset="0"/>
              </a:rPr>
              <a:t>commutative</a:t>
            </a:r>
            <a:r>
              <a:rPr lang="en-US" altLang="zh-CN" sz="2400" dirty="0">
                <a:latin typeface="Trebuchet MS" panose="020B0603020202020204" pitchFamily="34" charset="0"/>
              </a:rPr>
              <a:t> (associative, idempotent).</a:t>
            </a:r>
          </a:p>
          <a:p>
            <a:pPr marL="625475" indent="-449263" eaLnBrk="1" hangingPunct="1">
              <a:lnSpc>
                <a:spcPct val="110000"/>
              </a:lnSpc>
              <a:spcBef>
                <a:spcPts val="0"/>
              </a:spcBef>
              <a:buNone/>
            </a:pPr>
            <a:r>
              <a:rPr lang="en-US" altLang="zh-CN" sz="2400" b="1" dirty="0">
                <a:solidFill>
                  <a:srgbClr val="0B61FF"/>
                </a:solidFill>
                <a:latin typeface="Trebuchet MS" panose="020B0603020202020204" pitchFamily="34" charset="0"/>
              </a:rPr>
              <a:t>(2) </a:t>
            </a:r>
            <a:r>
              <a:rPr lang="en-US" altLang="zh-CN" sz="2400" dirty="0">
                <a:latin typeface="Trebuchet MS" panose="020B0603020202020204" pitchFamily="34" charset="0"/>
              </a:rPr>
              <a:t>If</a:t>
            </a:r>
            <a:r>
              <a:rPr lang="en-US" altLang="zh-CN" sz="2400" b="1" dirty="0">
                <a:solidFill>
                  <a:srgbClr val="FF0000"/>
                </a:solidFill>
                <a:latin typeface="Trebuchet MS" panose="020B0603020202020204" pitchFamily="34" charset="0"/>
              </a:rPr>
              <a:t>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is distributive over </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in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 then the corresponding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is </a:t>
            </a:r>
            <a:r>
              <a:rPr lang="en-US" altLang="zh-CN" sz="2400" b="1" i="1" dirty="0">
                <a:solidFill>
                  <a:srgbClr val="0B61FF"/>
                </a:solidFill>
                <a:latin typeface="Trebuchet MS" panose="020B0603020202020204" pitchFamily="34" charset="0"/>
              </a:rPr>
              <a:t>distributive</a:t>
            </a:r>
            <a:r>
              <a:rPr lang="en-US" altLang="zh-CN" sz="2400" dirty="0">
                <a:latin typeface="Trebuchet MS" panose="020B0603020202020204" pitchFamily="34" charset="0"/>
              </a:rPr>
              <a:t> over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in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 </a:t>
            </a:r>
            <a:r>
              <a:rPr lang="en-US" altLang="zh-CN" sz="2400" dirty="0">
                <a:latin typeface="Trebuchet MS" panose="020B0603020202020204" pitchFamily="34" charset="0"/>
              </a:rPr>
              <a:t>​.</a:t>
            </a:r>
          </a:p>
          <a:p>
            <a:pPr marL="625475" indent="-449263" eaLnBrk="1" hangingPunct="1">
              <a:lnSpc>
                <a:spcPct val="110000"/>
              </a:lnSpc>
              <a:spcBef>
                <a:spcPts val="0"/>
              </a:spcBef>
              <a:buNone/>
            </a:pPr>
            <a:r>
              <a:rPr lang="en-US" altLang="zh-CN" sz="2400" b="1" dirty="0">
                <a:solidFill>
                  <a:srgbClr val="0B61FF"/>
                </a:solidFill>
                <a:latin typeface="Trebuchet MS" panose="020B0603020202020204" pitchFamily="34" charset="0"/>
              </a:rPr>
              <a:t>(3) </a:t>
            </a:r>
            <a:r>
              <a:rPr lang="en-US" altLang="zh-CN" sz="2400" dirty="0">
                <a:latin typeface="Trebuchet MS" panose="020B0603020202020204" pitchFamily="34" charset="0"/>
              </a:rPr>
              <a:t>If </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and </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are absorbent (absorption law holds) in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 then the corresponding </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and </a:t>
            </a:r>
            <a:r>
              <a:rPr lang="en-US" altLang="zh-CN" sz="2400" b="1" dirty="0">
                <a:solidFill>
                  <a:srgbClr val="FF0000"/>
                </a:solidFill>
                <a:latin typeface="Trebuchet MS" panose="020B0603020202020204" pitchFamily="34" charset="0"/>
              </a:rPr>
              <a:t>∗′ </a:t>
            </a:r>
            <a:r>
              <a:rPr lang="en-US" altLang="zh-CN" sz="2400" dirty="0">
                <a:latin typeface="Trebuchet MS" panose="020B0603020202020204" pitchFamily="34" charset="0"/>
              </a:rPr>
              <a:t>are also </a:t>
            </a:r>
            <a:r>
              <a:rPr lang="en-US" altLang="zh-CN" sz="2400" b="1" i="1" dirty="0">
                <a:solidFill>
                  <a:srgbClr val="0B61FF"/>
                </a:solidFill>
                <a:latin typeface="Trebuchet MS" panose="020B0603020202020204" pitchFamily="34" charset="0"/>
              </a:rPr>
              <a:t>absorbent</a:t>
            </a:r>
            <a:r>
              <a:rPr lang="en-US" altLang="zh-CN" sz="2400" dirty="0">
                <a:latin typeface="Trebuchet MS" panose="020B0603020202020204" pitchFamily="34" charset="0"/>
              </a:rPr>
              <a:t> in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 </a:t>
            </a:r>
            <a:r>
              <a:rPr lang="en-US" altLang="zh-CN" sz="2400" dirty="0">
                <a:latin typeface="Trebuchet MS" panose="020B0603020202020204" pitchFamily="34" charset="0"/>
              </a:rPr>
              <a:t>​.</a:t>
            </a:r>
          </a:p>
          <a:p>
            <a:pPr marL="625475" indent="-449263" eaLnBrk="1" hangingPunct="1">
              <a:lnSpc>
                <a:spcPct val="110000"/>
              </a:lnSpc>
              <a:spcBef>
                <a:spcPts val="0"/>
              </a:spcBef>
              <a:buNone/>
            </a:pPr>
            <a:r>
              <a:rPr lang="en-US" altLang="zh-CN" sz="2400" b="1" dirty="0">
                <a:solidFill>
                  <a:srgbClr val="0B61FF"/>
                </a:solidFill>
                <a:latin typeface="Trebuchet MS" panose="020B0603020202020204" pitchFamily="34" charset="0"/>
              </a:rPr>
              <a:t>(4) </a:t>
            </a:r>
            <a:r>
              <a:rPr lang="en-US" altLang="zh-CN" sz="2400" dirty="0">
                <a:latin typeface="Trebuchet MS" panose="020B0603020202020204" pitchFamily="34" charset="0"/>
              </a:rPr>
              <a:t>If </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in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has an identity element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e</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(or a zero element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l-GR" altLang="zh-CN" sz="2400" dirty="0">
                <a:latin typeface="Trebuchet MS" panose="020B0603020202020204" pitchFamily="34" charset="0"/>
              </a:rPr>
              <a:t>), </a:t>
            </a:r>
            <a:r>
              <a:rPr lang="en-US" altLang="zh-CN" sz="2400" dirty="0">
                <a:latin typeface="Trebuchet MS" panose="020B0603020202020204" pitchFamily="34" charset="0"/>
              </a:rPr>
              <a:t>then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e</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 (or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is the </a:t>
            </a:r>
            <a:r>
              <a:rPr lang="en-US" altLang="zh-CN" sz="2400" b="1" i="1" dirty="0">
                <a:solidFill>
                  <a:srgbClr val="0B61FF"/>
                </a:solidFill>
                <a:latin typeface="Trebuchet MS" panose="020B0603020202020204" pitchFamily="34" charset="0"/>
              </a:rPr>
              <a:t>identity (or zero) element </a:t>
            </a:r>
            <a:r>
              <a:rPr lang="en-US" altLang="zh-CN" sz="2400" dirty="0">
                <a:latin typeface="Trebuchet MS" panose="020B0603020202020204" pitchFamily="34" charset="0"/>
              </a:rPr>
              <a:t>for the corresponding operation </a:t>
            </a:r>
            <a:r>
              <a:rPr lang="en-US" altLang="zh-CN" sz="2400" b="1" dirty="0">
                <a:solidFill>
                  <a:srgbClr val="FF0000"/>
                </a:solidFill>
                <a:latin typeface="Trebuchet MS" panose="020B0603020202020204" pitchFamily="34" charset="0"/>
              </a:rPr>
              <a:t>∘′  </a:t>
            </a:r>
            <a:r>
              <a:rPr lang="en-US" altLang="zh-CN" sz="2400" dirty="0">
                <a:latin typeface="Trebuchet MS" panose="020B0603020202020204" pitchFamily="34" charset="0"/>
              </a:rPr>
              <a:t>in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2 </a:t>
            </a:r>
            <a:r>
              <a:rPr lang="en-US" altLang="zh-CN" sz="2400" dirty="0">
                <a:latin typeface="Trebuchet MS" panose="020B0603020202020204" pitchFamily="34" charset="0"/>
              </a:rPr>
              <a:t>​.</a:t>
            </a:r>
          </a:p>
          <a:p>
            <a:pPr marL="625475" indent="-449263" eaLnBrk="1" hangingPunct="1">
              <a:lnSpc>
                <a:spcPct val="110000"/>
              </a:lnSpc>
              <a:spcBef>
                <a:spcPts val="0"/>
              </a:spcBef>
              <a:buNone/>
            </a:pPr>
            <a:r>
              <a:rPr lang="en-US" altLang="zh-CN" sz="2400" b="1" dirty="0">
                <a:solidFill>
                  <a:srgbClr val="0B61FF"/>
                </a:solidFill>
                <a:latin typeface="Trebuchet MS" panose="020B0603020202020204" pitchFamily="34" charset="0"/>
              </a:rPr>
              <a:t>(5) </a:t>
            </a:r>
            <a:r>
              <a:rPr lang="en-US" altLang="zh-CN" sz="2400" dirty="0">
                <a:latin typeface="Trebuchet MS" panose="020B0603020202020204" pitchFamily="34" charset="0"/>
              </a:rPr>
              <a:t>If the inverse of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dirty="0">
                <a:latin typeface="Trebuchet MS" panose="020B0603020202020204" pitchFamily="34" charset="0"/>
              </a:rPr>
              <a:t> under </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 in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V</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 is </a:t>
            </a:r>
            <a:r>
              <a:rPr lang="en-US" altLang="zh-CN" sz="2400" b="1" i="1" dirty="0">
                <a:latin typeface="Trebuchet MS" panose="020B0603020202020204" pitchFamily="34" charset="0"/>
                <a:cs typeface="Times New Roman" panose="02020603050405020304" pitchFamily="18" charset="0"/>
              </a:rPr>
              <a:t>x</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dirty="0">
                <a:latin typeface="Trebuchet MS" panose="020B0603020202020204" pitchFamily="34" charset="0"/>
              </a:rPr>
              <a:t>, then the </a:t>
            </a:r>
            <a:r>
              <a:rPr lang="en-US" altLang="zh-CN" sz="2400" b="1" i="1" dirty="0">
                <a:solidFill>
                  <a:srgbClr val="0B61FF"/>
                </a:solidFill>
                <a:latin typeface="Trebuchet MS" panose="020B0603020202020204" pitchFamily="34" charset="0"/>
              </a:rPr>
              <a:t>inverse</a:t>
            </a:r>
            <a:r>
              <a:rPr lang="en-US" altLang="zh-CN" sz="2400" dirty="0">
                <a:latin typeface="Trebuchet MS" panose="020B0603020202020204" pitchFamily="34" charset="0"/>
              </a:rPr>
              <a:t> of </a:t>
            </a:r>
            <a:r>
              <a:rPr lang="en-US" altLang="zh-CN" sz="2400" b="1" i="1" dirty="0">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x</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under the corresponding </a:t>
            </a:r>
            <a:r>
              <a:rPr lang="zh-CN" altLang="en-US"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in </a:t>
            </a:r>
            <a:r>
              <a:rPr lang="en-US" altLang="zh-CN" sz="2400" b="1" i="1" dirty="0">
                <a:latin typeface="Trebuchet MS" panose="020B0603020202020204" pitchFamily="34" charset="0"/>
                <a:cs typeface="Times New Roman" panose="02020603050405020304" pitchFamily="18" charset="0"/>
              </a:rPr>
              <a:t>V</a:t>
            </a:r>
            <a:r>
              <a:rPr lang="en-US" altLang="zh-CN" sz="2400" b="1" baseline="-25000" dirty="0">
                <a:latin typeface="Trebuchet MS" panose="020B0603020202020204" pitchFamily="34" charset="0"/>
                <a:cs typeface="Times New Roman" panose="02020603050405020304" pitchFamily="18" charset="0"/>
              </a:rPr>
              <a:t>2 </a:t>
            </a:r>
            <a:r>
              <a:rPr lang="en-US" altLang="zh-CN" sz="2400" dirty="0">
                <a:latin typeface="Trebuchet MS" panose="020B0603020202020204" pitchFamily="34" charset="0"/>
              </a:rPr>
              <a:t>​ is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f</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endParaRPr lang="en-US" altLang="zh-CN" sz="2400" dirty="0">
              <a:latin typeface="Trebuchet MS" panose="020B0603020202020204" pitchFamily="34"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5138767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2" end="2"/>
                                            </p:txEl>
                                          </p:spTgt>
                                        </p:tgtEl>
                                        <p:attrNameLst>
                                          <p:attrName>style.visibility</p:attrName>
                                        </p:attrNameLst>
                                      </p:cBhvr>
                                      <p:to>
                                        <p:strVal val="visible"/>
                                      </p:to>
                                    </p:set>
                                    <p:animEffect transition="in" filter="fade">
                                      <p:cBhvr>
                                        <p:cTn id="14" dur="1000"/>
                                        <p:tgtEl>
                                          <p:spTgt spid="12">
                                            <p:txEl>
                                              <p:pRg st="2" end="2"/>
                                            </p:txEl>
                                          </p:spTgt>
                                        </p:tgtEl>
                                      </p:cBhvr>
                                    </p:animEffect>
                                    <p:anim calcmode="lin" valueType="num">
                                      <p:cBhvr>
                                        <p:cTn id="15"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animEffect transition="in" filter="fade">
                                      <p:cBhvr>
                                        <p:cTn id="21" dur="1000"/>
                                        <p:tgtEl>
                                          <p:spTgt spid="12">
                                            <p:txEl>
                                              <p:pRg st="3" end="3"/>
                                            </p:txEl>
                                          </p:spTgt>
                                        </p:tgtEl>
                                      </p:cBhvr>
                                    </p:animEffect>
                                    <p:anim calcmode="lin" valueType="num">
                                      <p:cBhvr>
                                        <p:cTn id="22"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
                                            <p:txEl>
                                              <p:pRg st="4" end="4"/>
                                            </p:txEl>
                                          </p:spTgt>
                                        </p:tgtEl>
                                        <p:attrNameLst>
                                          <p:attrName>style.visibility</p:attrName>
                                        </p:attrNameLst>
                                      </p:cBhvr>
                                      <p:to>
                                        <p:strVal val="visible"/>
                                      </p:to>
                                    </p:set>
                                    <p:animEffect transition="in" filter="fade">
                                      <p:cBhvr>
                                        <p:cTn id="28" dur="1000"/>
                                        <p:tgtEl>
                                          <p:spTgt spid="12">
                                            <p:txEl>
                                              <p:pRg st="4" end="4"/>
                                            </p:txEl>
                                          </p:spTgt>
                                        </p:tgtEl>
                                      </p:cBhvr>
                                    </p:animEffect>
                                    <p:anim calcmode="lin" valueType="num">
                                      <p:cBhvr>
                                        <p:cTn id="29"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
                                            <p:txEl>
                                              <p:pRg st="5" end="5"/>
                                            </p:txEl>
                                          </p:spTgt>
                                        </p:tgtEl>
                                        <p:attrNameLst>
                                          <p:attrName>style.visibility</p:attrName>
                                        </p:attrNameLst>
                                      </p:cBhvr>
                                      <p:to>
                                        <p:strVal val="visible"/>
                                      </p:to>
                                    </p:set>
                                    <p:animEffect transition="in" filter="fade">
                                      <p:cBhvr>
                                        <p:cTn id="35" dur="1000"/>
                                        <p:tgtEl>
                                          <p:spTgt spid="12">
                                            <p:txEl>
                                              <p:pRg st="5" end="5"/>
                                            </p:txEl>
                                          </p:spTgt>
                                        </p:tgtEl>
                                      </p:cBhvr>
                                    </p:animEffect>
                                    <p:anim calcmode="lin" valueType="num">
                                      <p:cBhvr>
                                        <p:cTn id="36"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9.2 Algebraic Systems</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 </a:t>
            </a:r>
            <a:r>
              <a:rPr lang="en-US" altLang="zh-CN" sz="2400" b="1" dirty="0">
                <a:solidFill>
                  <a:schemeClr val="bg1"/>
                </a:solidFill>
                <a:latin typeface="Trebuchet MS" panose="020B0603020202020204" pitchFamily="34" charset="0"/>
                <a:cs typeface="Times New Roman" panose="02020603050405020304" pitchFamily="18" charset="0"/>
              </a:rPr>
              <a:t>Brief summary</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1821627298"/>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15147926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9</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Algebraic Systems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198061" y="943704"/>
            <a:ext cx="8798289" cy="43445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ct val="0"/>
              </a:spcBef>
              <a:buNone/>
            </a:pPr>
            <a:endParaRPr lang="en-US" altLang="zh-CN" b="1" dirty="0"/>
          </a:p>
          <a:p>
            <a:pPr eaLnBrk="1" hangingPunct="1">
              <a:lnSpc>
                <a:spcPct val="13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9.1 Binary Operations and Their Properties</a:t>
            </a:r>
          </a:p>
          <a:p>
            <a:pPr eaLnBrk="1" hangingPunct="1">
              <a:lnSpc>
                <a:spcPct val="130000"/>
              </a:lnSpc>
              <a:buClr>
                <a:srgbClr val="0B61FF"/>
              </a:buClr>
              <a:buSzPct val="80000"/>
              <a:buFont typeface="Wingdings" panose="05000000000000000000" pitchFamily="2" charset="2"/>
              <a:buChar char="n"/>
            </a:pPr>
            <a:r>
              <a:rPr lang="en-US" sz="2400" b="1" dirty="0">
                <a:solidFill>
                  <a:schemeClr val="bg2">
                    <a:lumMod val="50000"/>
                  </a:schemeClr>
                </a:solidFill>
                <a:latin typeface="Trebuchet MS" panose="020B0603020202020204" pitchFamily="34" charset="0"/>
              </a:rPr>
              <a:t>9.2 Algebraic Systems</a:t>
            </a:r>
          </a:p>
          <a:p>
            <a:pPr eaLnBrk="1" hangingPunct="1">
              <a:lnSpc>
                <a:spcPct val="130000"/>
              </a:lnSpc>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9.3 Several Typical Algebraic Systems</a:t>
            </a:r>
            <a:endParaRPr lang="zh-CN" altLang="en-US" sz="2400" b="1" dirty="0">
              <a:solidFill>
                <a:srgbClr val="0B61FF"/>
              </a:solidFill>
              <a:latin typeface="Trebuchet MS" panose="020B0603020202020204" pitchFamily="34" charset="0"/>
            </a:endParaRPr>
          </a:p>
        </p:txBody>
      </p:sp>
    </p:spTree>
    <p:extLst>
      <p:ext uri="{BB962C8B-B14F-4D97-AF65-F5344CB8AC3E}">
        <p14:creationId xmlns:p14="http://schemas.microsoft.com/office/powerpoint/2010/main" val="14393803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9.3 Several Typical Algebraic Systems</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p:txBody>
      </p:sp>
      <p:sp>
        <p:nvSpPr>
          <p:cNvPr id="9" name="Rectangle 3">
            <a:extLst>
              <a:ext uri="{FF2B5EF4-FFF2-40B4-BE49-F238E27FC236}">
                <a16:creationId xmlns:a16="http://schemas.microsoft.com/office/drawing/2014/main" id="{DFB26965-CE5B-4DE7-9E7F-C771435C74C9}"/>
              </a:ext>
            </a:extLst>
          </p:cNvPr>
          <p:cNvSpPr txBox="1">
            <a:spLocks noChangeArrowheads="1"/>
          </p:cNvSpPr>
          <p:nvPr/>
        </p:nvSpPr>
        <p:spPr>
          <a:xfrm>
            <a:off x="2133599" y="1066801"/>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9.3.1 Semigroups and Idempotent Elements</a:t>
            </a:r>
          </a:p>
          <a:p>
            <a:pPr>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9.3.2 Groups</a:t>
            </a:r>
          </a:p>
          <a:p>
            <a:pPr>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9.3.3 Rings and Fields</a:t>
            </a:r>
          </a:p>
          <a:p>
            <a:pPr>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9.3.4 Lattices and Boolean Algebras</a:t>
            </a:r>
          </a:p>
        </p:txBody>
      </p:sp>
    </p:spTree>
    <p:extLst>
      <p:ext uri="{BB962C8B-B14F-4D97-AF65-F5344CB8AC3E}">
        <p14:creationId xmlns:p14="http://schemas.microsoft.com/office/powerpoint/2010/main" val="2079508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9.3.1 Semigroups and Idempotent Elements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4" name="Rectangle 2">
            <a:extLst>
              <a:ext uri="{FF2B5EF4-FFF2-40B4-BE49-F238E27FC236}">
                <a16:creationId xmlns:a16="http://schemas.microsoft.com/office/drawing/2014/main" id="{EE214944-4973-439E-B6DF-7A238F660144}"/>
              </a:ext>
            </a:extLst>
          </p:cNvPr>
          <p:cNvSpPr>
            <a:spLocks noGrp="1" noChangeArrowheads="1"/>
          </p:cNvSpPr>
          <p:nvPr>
            <p:ph idx="1"/>
          </p:nvPr>
        </p:nvSpPr>
        <p:spPr>
          <a:xfrm>
            <a:off x="1306286" y="1021216"/>
            <a:ext cx="6983412" cy="3042781"/>
          </a:xfrm>
        </p:spPr>
        <p:txBody>
          <a:bodyPr>
            <a:normAutofit/>
          </a:bodyPr>
          <a:lstStyle/>
          <a:p>
            <a:pPr eaLnBrk="1" hangingPunct="1">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Definition and Examples of Semigroups and Idempotent Elements</a:t>
            </a:r>
          </a:p>
          <a:p>
            <a:pPr eaLnBrk="1" hangingPunct="1">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Exponentiation (Power Operations) in Semigroups and Idempotent Elements</a:t>
            </a:r>
          </a:p>
        </p:txBody>
      </p:sp>
    </p:spTree>
    <p:extLst>
      <p:ext uri="{BB962C8B-B14F-4D97-AF65-F5344CB8AC3E}">
        <p14:creationId xmlns:p14="http://schemas.microsoft.com/office/powerpoint/2010/main" val="5207310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9.3.1 Semigroups and Idempotent Elements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Semigroups, Monoids, and Commutative Semigroups</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3"/>
            <a:ext cx="8268620" cy="41902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2" name="Rectangle 6">
            <a:extLst>
              <a:ext uri="{FF2B5EF4-FFF2-40B4-BE49-F238E27FC236}">
                <a16:creationId xmlns:a16="http://schemas.microsoft.com/office/drawing/2014/main" id="{52D3E7D3-BDFC-43CC-BAA0-29FFEC05BB97}"/>
              </a:ext>
            </a:extLst>
          </p:cNvPr>
          <p:cNvSpPr>
            <a:spLocks noChangeArrowheads="1"/>
          </p:cNvSpPr>
          <p:nvPr/>
        </p:nvSpPr>
        <p:spPr bwMode="auto">
          <a:xfrm>
            <a:off x="557982" y="783997"/>
            <a:ext cx="11225355" cy="554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Definition </a:t>
            </a:r>
            <a:r>
              <a:rPr lang="en-US" altLang="zh-CN" sz="2400" b="1" dirty="0">
                <a:latin typeface="Trebuchet MS" panose="020B0603020202020204" pitchFamily="34" charset="0"/>
                <a:ea typeface="宋体" panose="02010600030101010101" pitchFamily="2" charset="-122"/>
              </a:rPr>
              <a:t>9.13 :</a:t>
            </a:r>
          </a:p>
          <a:p>
            <a:pPr marL="628650" indent="-450850">
              <a:lnSpc>
                <a:spcPct val="120000"/>
              </a:lnSpc>
            </a:pPr>
            <a:r>
              <a:rPr lang="en-US" altLang="zh-CN" sz="2400" b="1" dirty="0">
                <a:solidFill>
                  <a:srgbClr val="0B61FF"/>
                </a:solidFill>
                <a:latin typeface="Trebuchet MS" panose="020B0603020202020204" pitchFamily="34" charset="0"/>
                <a:cs typeface="Times New Roman" pitchFamily="18" charset="0"/>
              </a:rPr>
              <a:t>(1) </a:t>
            </a:r>
            <a:r>
              <a:rPr lang="en-US" altLang="zh-CN" sz="2400" dirty="0">
                <a:latin typeface="Trebuchet MS" panose="020B0603020202020204" pitchFamily="34" charset="0"/>
              </a:rPr>
              <a:t>Let</a:t>
            </a:r>
            <a:r>
              <a:rPr lang="zh-CN" altLang="en-US" sz="2400" b="1" dirty="0">
                <a:latin typeface="Trebuchet MS" panose="020B0603020202020204" pitchFamily="34" charset="0"/>
                <a:ea typeface="宋体" panose="02010600030101010101" pitchFamily="2" charset="-122"/>
              </a:rPr>
              <a:t> </a:t>
            </a:r>
            <a:r>
              <a:rPr lang="en-US" altLang="zh-CN" sz="2400" b="1" i="1" dirty="0">
                <a:latin typeface="Trebuchet MS" panose="020B0603020202020204" pitchFamily="34" charset="0"/>
                <a:ea typeface="宋体" panose="02010600030101010101" pitchFamily="2" charset="-122"/>
              </a:rPr>
              <a:t>V</a:t>
            </a:r>
            <a:r>
              <a:rPr lang="en-US" altLang="zh-CN" sz="2400" b="1" dirty="0">
                <a:latin typeface="Trebuchet MS" panose="020B0603020202020204" pitchFamily="34" charset="0"/>
                <a:ea typeface="宋体" panose="02010600030101010101" pitchFamily="2" charset="-122"/>
              </a:rPr>
              <a:t>=&lt;</a:t>
            </a:r>
            <a:r>
              <a:rPr lang="en-US" altLang="zh-CN" sz="2400" b="1" i="1" dirty="0">
                <a:latin typeface="Trebuchet MS" panose="020B0603020202020204" pitchFamily="34" charset="0"/>
                <a:ea typeface="宋体" panose="02010600030101010101" pitchFamily="2" charset="-122"/>
              </a:rPr>
              <a:t>S</a:t>
            </a:r>
            <a:r>
              <a:rPr lang="en-US" altLang="zh-CN" sz="2400" b="1" dirty="0">
                <a:latin typeface="Trebuchet MS" panose="020B0603020202020204" pitchFamily="34" charset="0"/>
                <a:ea typeface="宋体" panose="02010600030101010101" pitchFamily="2" charset="-122"/>
              </a:rPr>
              <a:t>,∘&gt; </a:t>
            </a:r>
            <a:r>
              <a:rPr lang="en-US" altLang="zh-CN" sz="2400" dirty="0">
                <a:latin typeface="Trebuchet MS" panose="020B0603020202020204" pitchFamily="34" charset="0"/>
              </a:rPr>
              <a:t>be an algebraic system, where </a:t>
            </a:r>
            <a:r>
              <a:rPr lang="en-US" altLang="zh-CN" sz="2400" b="1" dirty="0">
                <a:latin typeface="Trebuchet MS" panose="020B0603020202020204" pitchFamily="34" charset="0"/>
              </a:rPr>
              <a:t>∘</a:t>
            </a:r>
            <a:r>
              <a:rPr lang="en-US" altLang="zh-CN" sz="2400" dirty="0">
                <a:latin typeface="Trebuchet MS" panose="020B0603020202020204" pitchFamily="34" charset="0"/>
              </a:rPr>
              <a:t> is a binary operation. If the operation </a:t>
            </a:r>
            <a:r>
              <a:rPr lang="en-US" altLang="zh-CN" sz="2400" b="1" dirty="0">
                <a:latin typeface="Trebuchet MS" panose="020B0603020202020204" pitchFamily="34" charset="0"/>
              </a:rPr>
              <a:t>∘  </a:t>
            </a:r>
            <a:r>
              <a:rPr lang="en-US" altLang="zh-CN" sz="2400" dirty="0">
                <a:latin typeface="Trebuchet MS" panose="020B0603020202020204" pitchFamily="34" charset="0"/>
              </a:rPr>
              <a:t>is associative, then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V</a:t>
            </a:r>
            <a:r>
              <a:rPr lang="en-US" altLang="zh-CN" sz="2400" dirty="0">
                <a:latin typeface="Trebuchet MS" panose="020B0603020202020204" pitchFamily="34" charset="0"/>
              </a:rPr>
              <a:t> is called a </a:t>
            </a:r>
            <a:r>
              <a:rPr lang="en-US" altLang="zh-CN" sz="2400" b="1" i="1" dirty="0">
                <a:solidFill>
                  <a:srgbClr val="0B61FF"/>
                </a:solidFill>
                <a:latin typeface="Trebuchet MS" panose="020B0603020202020204" pitchFamily="34" charset="0"/>
              </a:rPr>
              <a:t>semigroup</a:t>
            </a:r>
            <a:r>
              <a:rPr lang="en-US" altLang="zh-CN" sz="2400" dirty="0">
                <a:latin typeface="Trebuchet MS" panose="020B0603020202020204" pitchFamily="34" charset="0"/>
              </a:rPr>
              <a:t>. </a:t>
            </a:r>
          </a:p>
          <a:p>
            <a:pPr marL="628650" indent="-450850">
              <a:lnSpc>
                <a:spcPct val="120000"/>
              </a:lnSpc>
            </a:pPr>
            <a:r>
              <a:rPr lang="en-US" altLang="zh-CN" sz="2400" b="1" dirty="0">
                <a:solidFill>
                  <a:srgbClr val="0B61FF"/>
                </a:solidFill>
                <a:latin typeface="Trebuchet MS" panose="020B0603020202020204" pitchFamily="34" charset="0"/>
                <a:cs typeface="Times New Roman" pitchFamily="18" charset="0"/>
              </a:rPr>
              <a:t>(2) </a:t>
            </a:r>
            <a:r>
              <a:rPr lang="en-US" altLang="zh-CN" sz="2400" dirty="0">
                <a:latin typeface="Trebuchet MS" panose="020B0603020202020204" pitchFamily="34" charset="0"/>
              </a:rPr>
              <a:t>Let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V</a:t>
            </a:r>
            <a:r>
              <a:rPr lang="en-US" altLang="zh-CN" sz="2400" b="1" dirty="0">
                <a:latin typeface="Trebuchet MS" panose="020B0603020202020204" pitchFamily="34" charset="0"/>
                <a:ea typeface="宋体" panose="02010600030101010101" pitchFamily="2" charset="-122"/>
                <a:sym typeface="Symbol" panose="05050102010706020507" pitchFamily="18" charset="2"/>
              </a:rPr>
              <a:t>=&lt;</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S</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rPr>
              <a:t>∘</a:t>
            </a:r>
            <a:r>
              <a:rPr lang="en-US" altLang="zh-CN" sz="2400" b="1" dirty="0">
                <a:latin typeface="Trebuchet MS" panose="020B0603020202020204" pitchFamily="34" charset="0"/>
                <a:ea typeface="宋体" panose="02010600030101010101" pitchFamily="2" charset="-122"/>
              </a:rPr>
              <a:t>&gt;</a:t>
            </a:r>
            <a:r>
              <a:rPr lang="en-US" altLang="zh-CN" sz="2400" dirty="0">
                <a:latin typeface="Trebuchet MS" panose="020B0603020202020204" pitchFamily="34" charset="0"/>
              </a:rPr>
              <a:t> be a semigroup. If there exists an element </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e</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S</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 </a:t>
            </a:r>
            <a:r>
              <a:rPr lang="en-US" altLang="zh-CN" sz="2400" dirty="0">
                <a:latin typeface="Trebuchet MS" panose="020B0603020202020204" pitchFamily="34" charset="0"/>
              </a:rPr>
              <a:t>that serves as the identity element with respect to the operation </a:t>
            </a:r>
            <a:r>
              <a:rPr lang="zh-CN" altLang="en-US"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dirty="0">
                <a:latin typeface="Trebuchet MS" panose="020B0603020202020204" pitchFamily="34" charset="0"/>
              </a:rPr>
              <a:t>, then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V</a:t>
            </a:r>
            <a:r>
              <a:rPr lang="en-US" altLang="zh-CN" sz="2400" dirty="0">
                <a:latin typeface="Trebuchet MS" panose="020B0603020202020204" pitchFamily="34" charset="0"/>
              </a:rPr>
              <a:t> is called a </a:t>
            </a:r>
            <a:r>
              <a:rPr lang="en-US" altLang="zh-CN" sz="2400" b="1" i="1" dirty="0">
                <a:solidFill>
                  <a:srgbClr val="0B61FF"/>
                </a:solidFill>
                <a:latin typeface="Trebuchet MS" panose="020B0603020202020204" pitchFamily="34" charset="0"/>
              </a:rPr>
              <a:t>monoid</a:t>
            </a:r>
            <a:r>
              <a:rPr lang="en-US" altLang="zh-CN" sz="2400" dirty="0">
                <a:latin typeface="Trebuchet MS" panose="020B0603020202020204" pitchFamily="34" charset="0"/>
              </a:rPr>
              <a:t> (also known as a </a:t>
            </a:r>
            <a:r>
              <a:rPr lang="en-US" altLang="zh-CN" sz="2400" b="1" dirty="0">
                <a:latin typeface="Trebuchet MS" panose="020B0603020202020204" pitchFamily="34" charset="0"/>
              </a:rPr>
              <a:t>unital semigroup</a:t>
            </a:r>
            <a:r>
              <a:rPr lang="en-US" altLang="zh-CN" sz="2400" dirty="0">
                <a:latin typeface="Trebuchet MS" panose="020B0603020202020204" pitchFamily="34" charset="0"/>
              </a:rPr>
              <a:t>). To emphasize the existence of the identity element </a:t>
            </a:r>
            <a:r>
              <a:rPr lang="en-US" altLang="zh-CN" sz="2400" b="1" i="1" dirty="0">
                <a:latin typeface="Trebuchet MS" panose="020B0603020202020204" pitchFamily="34" charset="0"/>
                <a:cs typeface="Times New Roman" pitchFamily="18" charset="0"/>
              </a:rPr>
              <a:t>e</a:t>
            </a:r>
            <a:r>
              <a:rPr lang="en-US" altLang="zh-CN" sz="2400" dirty="0">
                <a:latin typeface="Trebuchet MS" panose="020B0603020202020204" pitchFamily="34" charset="0"/>
              </a:rPr>
              <a:t>, the monoid is sometimes denoted as  </a:t>
            </a:r>
            <a:r>
              <a:rPr lang="en-US" altLang="zh-CN" sz="2400" b="1" dirty="0">
                <a:latin typeface="Trebuchet MS" panose="020B0603020202020204" pitchFamily="34" charset="0"/>
                <a:cs typeface="Times New Roman" pitchFamily="18" charset="0"/>
              </a:rPr>
              <a:t>&lt;</a:t>
            </a:r>
            <a:r>
              <a:rPr lang="en-US" altLang="zh-CN" sz="2400" b="1" i="1" dirty="0" err="1">
                <a:latin typeface="Trebuchet MS" panose="020B0603020202020204" pitchFamily="34" charset="0"/>
                <a:cs typeface="Times New Roman" pitchFamily="18" charset="0"/>
              </a:rPr>
              <a:t>S</a:t>
            </a:r>
            <a:r>
              <a:rPr lang="en-US" altLang="zh-CN" sz="2400" b="1" dirty="0" err="1">
                <a:latin typeface="Trebuchet MS" panose="020B0603020202020204" pitchFamily="34" charset="0"/>
                <a:cs typeface="Times New Roman" pitchFamily="18" charset="0"/>
              </a:rPr>
              <a:t>,∘,</a:t>
            </a:r>
            <a:r>
              <a:rPr lang="en-US" altLang="zh-CN" sz="2400" b="1" i="1" dirty="0" err="1">
                <a:latin typeface="Trebuchet MS" panose="020B0603020202020204" pitchFamily="34" charset="0"/>
                <a:cs typeface="Times New Roman" pitchFamily="18" charset="0"/>
              </a:rPr>
              <a:t>e</a:t>
            </a:r>
            <a:r>
              <a:rPr lang="en-US" altLang="zh-CN" sz="2400" b="1" dirty="0">
                <a:latin typeface="Trebuchet MS" panose="020B0603020202020204" pitchFamily="34" charset="0"/>
                <a:cs typeface="Times New Roman" pitchFamily="18" charset="0"/>
              </a:rPr>
              <a:t>&gt;.</a:t>
            </a:r>
          </a:p>
          <a:p>
            <a:pPr marL="628650" indent="-450850">
              <a:lnSpc>
                <a:spcPct val="120000"/>
              </a:lnSpc>
            </a:pPr>
            <a:r>
              <a:rPr lang="en-US" altLang="zh-CN" sz="2400" b="1" dirty="0">
                <a:solidFill>
                  <a:srgbClr val="0B61FF"/>
                </a:solidFill>
                <a:latin typeface="Trebuchet MS" panose="020B0603020202020204" pitchFamily="34" charset="0"/>
                <a:cs typeface="Times New Roman" pitchFamily="18" charset="0"/>
              </a:rPr>
              <a:t>(3) </a:t>
            </a:r>
            <a:r>
              <a:rPr lang="en-US" altLang="zh-CN" sz="2400" dirty="0">
                <a:latin typeface="Trebuchet MS" panose="020B0603020202020204" pitchFamily="34" charset="0"/>
              </a:rPr>
              <a:t>If the binary operation </a:t>
            </a:r>
            <a:r>
              <a:rPr lang="en-US" altLang="zh-CN" sz="2400" b="1" dirty="0">
                <a:latin typeface="Trebuchet MS" panose="020B0603020202020204" pitchFamily="34" charset="0"/>
              </a:rPr>
              <a:t>∘</a:t>
            </a:r>
            <a:r>
              <a:rPr lang="en-US" altLang="zh-CN" sz="2400" dirty="0">
                <a:latin typeface="Trebuchet MS" panose="020B0603020202020204" pitchFamily="34" charset="0"/>
              </a:rPr>
              <a:t> in the semigroup </a:t>
            </a:r>
            <a:r>
              <a:rPr lang="en-US" altLang="zh-CN" sz="2400" b="1" i="1" dirty="0">
                <a:latin typeface="Trebuchet MS" panose="020B0603020202020204" pitchFamily="34" charset="0"/>
                <a:cs typeface="Times New Roman" pitchFamily="18" charset="0"/>
              </a:rPr>
              <a:t>V</a:t>
            </a:r>
            <a:r>
              <a:rPr lang="en-US" altLang="zh-CN" sz="2400" b="1" dirty="0">
                <a:latin typeface="Trebuchet MS" panose="020B0603020202020204" pitchFamily="34" charset="0"/>
                <a:cs typeface="Times New Roman" pitchFamily="18" charset="0"/>
              </a:rPr>
              <a:t>=&lt;</a:t>
            </a:r>
            <a:r>
              <a:rPr lang="en-US" altLang="zh-CN" sz="2400" b="1" i="1" dirty="0">
                <a:latin typeface="Trebuchet MS" panose="020B0603020202020204" pitchFamily="34" charset="0"/>
                <a:cs typeface="Times New Roman" pitchFamily="18" charset="0"/>
              </a:rPr>
              <a:t>S</a:t>
            </a:r>
            <a:r>
              <a:rPr lang="en-US" altLang="zh-CN" sz="2400" b="1" dirty="0">
                <a:latin typeface="Trebuchet MS" panose="020B0603020202020204" pitchFamily="34" charset="0"/>
                <a:cs typeface="Times New Roman" pitchFamily="18" charset="0"/>
              </a:rPr>
              <a:t>,∘&gt; (V=&lt;</a:t>
            </a:r>
            <a:r>
              <a:rPr lang="en-US" altLang="zh-CN" sz="2400" b="1" i="1" dirty="0" err="1">
                <a:latin typeface="Trebuchet MS" panose="020B0603020202020204" pitchFamily="34" charset="0"/>
                <a:cs typeface="Times New Roman" pitchFamily="18" charset="0"/>
              </a:rPr>
              <a:t>S</a:t>
            </a:r>
            <a:r>
              <a:rPr lang="en-US" altLang="zh-CN" sz="2400" b="1" dirty="0" err="1">
                <a:latin typeface="Trebuchet MS" panose="020B0603020202020204" pitchFamily="34" charset="0"/>
                <a:cs typeface="Times New Roman" pitchFamily="18" charset="0"/>
              </a:rPr>
              <a:t>,∘,</a:t>
            </a:r>
            <a:r>
              <a:rPr lang="en-US" altLang="zh-CN" sz="2400" b="1" i="1" dirty="0" err="1">
                <a:latin typeface="Trebuchet MS" panose="020B0603020202020204" pitchFamily="34" charset="0"/>
                <a:cs typeface="Times New Roman" pitchFamily="18" charset="0"/>
              </a:rPr>
              <a:t>e</a:t>
            </a:r>
            <a:r>
              <a:rPr lang="en-US" altLang="zh-CN" sz="2400" b="1" dirty="0">
                <a:latin typeface="Trebuchet MS" panose="020B0603020202020204" pitchFamily="34" charset="0"/>
                <a:cs typeface="Times New Roman" pitchFamily="18" charset="0"/>
              </a:rPr>
              <a:t>&gt;) </a:t>
            </a:r>
            <a:r>
              <a:rPr lang="en-US" altLang="zh-CN" sz="2400" dirty="0">
                <a:latin typeface="Trebuchet MS" panose="020B0603020202020204" pitchFamily="34" charset="0"/>
              </a:rPr>
              <a:t>is commutative</a:t>
            </a:r>
            <a:r>
              <a:rPr lang="en-US" altLang="zh-CN" sz="2400" b="1" dirty="0">
                <a:latin typeface="Trebuchet MS" panose="020B0603020202020204" pitchFamily="34" charset="0"/>
                <a:cs typeface="Times New Roman" pitchFamily="18" charset="0"/>
              </a:rPr>
              <a:t>,</a:t>
            </a:r>
            <a:r>
              <a:rPr lang="en-US" altLang="zh-CN" sz="2400" dirty="0">
                <a:latin typeface="Trebuchet MS" panose="020B0603020202020204" pitchFamily="34" charset="0"/>
              </a:rPr>
              <a:t> then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V</a:t>
            </a:r>
            <a:r>
              <a:rPr lang="en-US" altLang="zh-CN" sz="2400" dirty="0">
                <a:latin typeface="Trebuchet MS" panose="020B0603020202020204" pitchFamily="34" charset="0"/>
              </a:rPr>
              <a:t> is called a </a:t>
            </a:r>
            <a:r>
              <a:rPr lang="en-US" altLang="zh-CN" sz="2400" b="1" i="1" dirty="0">
                <a:solidFill>
                  <a:srgbClr val="0B61FF"/>
                </a:solidFill>
                <a:latin typeface="Trebuchet MS" panose="020B0603020202020204" pitchFamily="34" charset="0"/>
              </a:rPr>
              <a:t>commutative semigroup.</a:t>
            </a:r>
          </a:p>
          <a:p>
            <a:pPr marL="342900" indent="-342900">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Note</a:t>
            </a:r>
            <a:r>
              <a:rPr lang="en-US" altLang="zh-CN" sz="2400" b="1" dirty="0">
                <a:latin typeface="Trebuchet MS" panose="020B0603020202020204" pitchFamily="34" charset="0"/>
                <a:ea typeface="楷体" panose="02010609060101010101" pitchFamily="49" charset="-122"/>
              </a:rPr>
              <a:t>: </a:t>
            </a:r>
            <a:r>
              <a:rPr lang="en-US" altLang="zh-CN" sz="2400" b="1" dirty="0">
                <a:solidFill>
                  <a:srgbClr val="0B61FF"/>
                </a:solidFill>
                <a:latin typeface="Trebuchet MS" panose="020B0603020202020204" pitchFamily="34" charset="0"/>
                <a:ea typeface="楷体" panose="02010609060101010101" pitchFamily="49" charset="-122"/>
                <a:cs typeface="Calibri" panose="020F0502020204030204" pitchFamily="34" charset="0"/>
              </a:rPr>
              <a:t>①</a:t>
            </a:r>
            <a:r>
              <a:rPr lang="en-US" altLang="zh-CN" sz="2400" dirty="0">
                <a:latin typeface="Trebuchet MS" panose="020B0603020202020204" pitchFamily="34" charset="0"/>
              </a:rPr>
              <a:t> A semigroup is an algebraic system that satisfies the associative law. </a:t>
            </a:r>
            <a:r>
              <a:rPr lang="zh-CN" altLang="en-US" sz="2400" b="1" dirty="0">
                <a:latin typeface="Trebuchet MS" panose="020B0603020202020204" pitchFamily="34" charset="0"/>
                <a:ea typeface="楷体" panose="02010609060101010101" pitchFamily="49" charset="-122"/>
              </a:rPr>
              <a:t>　  </a:t>
            </a:r>
            <a:r>
              <a:rPr lang="zh-CN" altLang="en-US" sz="2400" b="1" dirty="0">
                <a:solidFill>
                  <a:srgbClr val="0B61FF"/>
                </a:solidFill>
                <a:latin typeface="Trebuchet MS" panose="020B0603020202020204" pitchFamily="34" charset="0"/>
                <a:ea typeface="楷体" panose="02010609060101010101" pitchFamily="49" charset="-122"/>
                <a:cs typeface="Calibri" panose="020F0502020204030204" pitchFamily="34" charset="0"/>
              </a:rPr>
              <a:t>②</a:t>
            </a:r>
            <a:r>
              <a:rPr lang="en-US" altLang="zh-CN" sz="2400" dirty="0">
                <a:solidFill>
                  <a:srgbClr val="0B61FF"/>
                </a:solidFill>
                <a:latin typeface="Trebuchet MS" panose="020B0603020202020204" pitchFamily="34" charset="0"/>
              </a:rPr>
              <a:t> </a:t>
            </a:r>
            <a:r>
              <a:rPr lang="en-US" altLang="zh-CN" sz="2400" dirty="0">
                <a:latin typeface="Trebuchet MS" panose="020B0603020202020204" pitchFamily="34" charset="0"/>
              </a:rPr>
              <a:t>To verify whether a system is a semigroup, the key points are to check the </a:t>
            </a:r>
            <a:r>
              <a:rPr lang="en-US" altLang="zh-CN" sz="2400" b="1" dirty="0">
                <a:latin typeface="Trebuchet MS" panose="020B0603020202020204" pitchFamily="34" charset="0"/>
              </a:rPr>
              <a:t>closure</a:t>
            </a:r>
            <a:r>
              <a:rPr lang="en-US" altLang="zh-CN" sz="2400" dirty="0">
                <a:latin typeface="Trebuchet MS" panose="020B0603020202020204" pitchFamily="34" charset="0"/>
              </a:rPr>
              <a:t> of the operation and the </a:t>
            </a:r>
            <a:r>
              <a:rPr lang="en-US" altLang="zh-CN" sz="2400" b="1" dirty="0">
                <a:latin typeface="Trebuchet MS" panose="020B0603020202020204" pitchFamily="34" charset="0"/>
              </a:rPr>
              <a:t>associative law </a:t>
            </a:r>
            <a:r>
              <a:rPr lang="en-US" altLang="zh-CN" sz="2400" b="1" dirty="0">
                <a:latin typeface="Trebuchet MS" panose="020B0603020202020204" pitchFamily="34" charset="0"/>
                <a:ea typeface="楷体" panose="02010609060101010101" pitchFamily="49" charset="-122"/>
              </a:rPr>
              <a:t>.</a:t>
            </a:r>
            <a:endParaRPr lang="zh-CN" altLang="en-US" sz="2400" b="1" dirty="0">
              <a:latin typeface="Trebuchet MS" panose="020B0603020202020204" pitchFamily="34" charset="0"/>
              <a:ea typeface="楷体" panose="02010609060101010101" pitchFamily="49" charset="-122"/>
            </a:endParaRPr>
          </a:p>
          <a:p>
            <a:pPr marL="628650" indent="-450850">
              <a:lnSpc>
                <a:spcPct val="110000"/>
              </a:lnSpc>
            </a:pPr>
            <a:endParaRPr lang="zh-CN" altLang="zh-CN" sz="2400" b="1" i="1" dirty="0">
              <a:solidFill>
                <a:srgbClr val="0B61FF"/>
              </a:solidFill>
              <a:latin typeface="Trebuchet MS" panose="020B0603020202020204" pitchFamily="34" charset="0"/>
              <a:cs typeface="Times New Roman" pitchFamily="18" charset="0"/>
            </a:endParaRPr>
          </a:p>
        </p:txBody>
      </p:sp>
    </p:spTree>
    <p:extLst>
      <p:ext uri="{BB962C8B-B14F-4D97-AF65-F5344CB8AC3E}">
        <p14:creationId xmlns:p14="http://schemas.microsoft.com/office/powerpoint/2010/main" val="35962876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3" end="3"/>
                                            </p:txEl>
                                          </p:spTgt>
                                        </p:tgtEl>
                                        <p:attrNameLst>
                                          <p:attrName>style.visibility</p:attrName>
                                        </p:attrNameLst>
                                      </p:cBhvr>
                                      <p:to>
                                        <p:strVal val="visible"/>
                                      </p:to>
                                    </p:set>
                                    <p:animEffect transition="in" filter="fade">
                                      <p:cBhvr>
                                        <p:cTn id="14" dur="1000"/>
                                        <p:tgtEl>
                                          <p:spTgt spid="12">
                                            <p:txEl>
                                              <p:pRg st="3" end="3"/>
                                            </p:txEl>
                                          </p:spTgt>
                                        </p:tgtEl>
                                      </p:cBhvr>
                                    </p:animEffect>
                                    <p:anim calcmode="lin" valueType="num">
                                      <p:cBhvr>
                                        <p:cTn id="1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animEffect transition="in" filter="fade">
                                      <p:cBhvr>
                                        <p:cTn id="21" dur="1000"/>
                                        <p:tgtEl>
                                          <p:spTgt spid="12">
                                            <p:txEl>
                                              <p:pRg st="4" end="4"/>
                                            </p:txEl>
                                          </p:spTgt>
                                        </p:tgtEl>
                                      </p:cBhvr>
                                    </p:animEffect>
                                    <p:anim calcmode="lin" valueType="num">
                                      <p:cBhvr>
                                        <p:cTn id="22"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9.3.1 Semigroups and Idempotent Elements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Semigroups and Monoids</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Rectangle 6">
            <a:extLst>
              <a:ext uri="{FF2B5EF4-FFF2-40B4-BE49-F238E27FC236}">
                <a16:creationId xmlns:a16="http://schemas.microsoft.com/office/drawing/2014/main" id="{FB1488D5-216E-4D0B-B757-69B09332E1B4}"/>
              </a:ext>
            </a:extLst>
          </p:cNvPr>
          <p:cNvSpPr>
            <a:spLocks noChangeArrowheads="1"/>
          </p:cNvSpPr>
          <p:nvPr/>
        </p:nvSpPr>
        <p:spPr bwMode="auto">
          <a:xfrm>
            <a:off x="571500" y="761999"/>
            <a:ext cx="10890249" cy="5714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p>
            <a:pPr marL="450850" indent="-450850">
              <a:lnSpc>
                <a:spcPct val="110000"/>
              </a:lnSpc>
              <a:tabLst>
                <a:tab pos="177800" algn="l"/>
              </a:tabLst>
            </a:pPr>
            <a:r>
              <a:rPr lang="en-US" altLang="zh-CN" sz="2400" b="1" dirty="0">
                <a:solidFill>
                  <a:srgbClr val="0B61FF"/>
                </a:solidFill>
                <a:latin typeface="Trebuchet MS" panose="020B0603020202020204" pitchFamily="34" charset="0"/>
                <a:cs typeface="Times New Roman" panose="02020603050405020304" pitchFamily="18" charset="0"/>
              </a:rPr>
              <a:t>(1) </a:t>
            </a:r>
            <a:r>
              <a:rPr lang="en-US" altLang="zh-CN" sz="2400" b="1" dirty="0">
                <a:solidFill>
                  <a:srgbClr val="FF0000"/>
                </a:solidFill>
                <a:latin typeface="Trebuchet MS" panose="020B0603020202020204" pitchFamily="34" charset="0"/>
                <a:cs typeface="Times New Roman" panose="02020603050405020304" pitchFamily="18" charset="0"/>
              </a:rPr>
              <a:t>&lt;</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Z</a:t>
            </a:r>
            <a:r>
              <a:rPr lang="en-US" altLang="zh-CN" sz="2400" b="1" baseline="30000"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,+&gt;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&lt;N,+&gt;</a:t>
            </a:r>
            <a:r>
              <a:rPr lang="en-US" altLang="zh-CN" sz="2400" b="1" dirty="0">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&lt;Z,+&gt;</a:t>
            </a:r>
            <a:r>
              <a:rPr lang="en-US" altLang="zh-CN" sz="2400" b="1" dirty="0">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&lt;Q,+&gt;</a:t>
            </a:r>
            <a:r>
              <a:rPr lang="en-US" altLang="zh-CN" sz="2400" b="1" dirty="0">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&lt;R,+&gt; </a:t>
            </a:r>
            <a:r>
              <a:rPr lang="en-US" altLang="zh-CN" sz="2400" dirty="0">
                <a:latin typeface="Trebuchet MS" panose="020B0603020202020204" pitchFamily="34" charset="0"/>
              </a:rPr>
              <a:t>are </a:t>
            </a:r>
            <a:r>
              <a:rPr lang="en-US" altLang="zh-CN" sz="2400" b="1" i="1" dirty="0">
                <a:solidFill>
                  <a:srgbClr val="0B61FF"/>
                </a:solidFill>
                <a:latin typeface="Trebuchet MS" panose="020B0603020202020204" pitchFamily="34" charset="0"/>
              </a:rPr>
              <a:t>semigroups</a:t>
            </a:r>
            <a:r>
              <a:rPr lang="en-US" altLang="zh-CN" sz="2400" dirty="0">
                <a:latin typeface="Trebuchet MS" panose="020B0603020202020204" pitchFamily="34" charset="0"/>
              </a:rPr>
              <a:t>, where </a:t>
            </a:r>
            <a:r>
              <a:rPr lang="en-US" altLang="zh-CN" sz="2400" b="1" dirty="0">
                <a:latin typeface="Trebuchet MS" panose="020B0603020202020204" pitchFamily="34" charset="0"/>
              </a:rPr>
              <a:t>+</a:t>
            </a:r>
            <a:r>
              <a:rPr lang="en-US" altLang="zh-CN" sz="2400" dirty="0">
                <a:latin typeface="Trebuchet MS" panose="020B0603020202020204" pitchFamily="34" charset="0"/>
              </a:rPr>
              <a:t> is ordinary addition. Among them, all except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&lt;Z</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,+&gt; </a:t>
            </a:r>
            <a:r>
              <a:rPr lang="en-US" altLang="zh-CN" sz="2400" dirty="0">
                <a:latin typeface="Trebuchet MS" panose="020B0603020202020204" pitchFamily="34" charset="0"/>
              </a:rPr>
              <a:t>are </a:t>
            </a:r>
            <a:r>
              <a:rPr lang="en-US" altLang="zh-CN" sz="2400" b="1" i="1" dirty="0">
                <a:solidFill>
                  <a:srgbClr val="0B61FF"/>
                </a:solidFill>
                <a:latin typeface="Trebuchet MS" panose="020B0603020202020204" pitchFamily="34" charset="0"/>
              </a:rPr>
              <a:t>monoids</a:t>
            </a:r>
            <a:r>
              <a:rPr lang="en-US" altLang="zh-CN" sz="2400" dirty="0">
                <a:latin typeface="Trebuchet MS" panose="020B0603020202020204" pitchFamily="34" charset="0"/>
              </a:rPr>
              <a:t>.</a:t>
            </a:r>
          </a:p>
          <a:p>
            <a:pPr marL="450850">
              <a:lnSpc>
                <a:spcPct val="110000"/>
              </a:lnSpc>
              <a:tabLst>
                <a:tab pos="177800" algn="l"/>
              </a:tabLst>
            </a:pPr>
            <a:r>
              <a:rPr lang="en-US" altLang="zh-CN" sz="2400" b="1" dirty="0">
                <a:latin typeface="Trebuchet MS" panose="020B0603020202020204" pitchFamily="34" charset="0"/>
              </a:rPr>
              <a:t>Note:</a:t>
            </a:r>
            <a:r>
              <a:rPr lang="en-US" altLang="zh-CN" sz="2400" dirty="0">
                <a:latin typeface="Trebuchet MS" panose="020B0603020202020204" pitchFamily="34" charset="0"/>
              </a:rPr>
              <a:t> The set of positive integers </a:t>
            </a:r>
            <a:r>
              <a:rPr lang="en-US" altLang="zh-CN" sz="2400" dirty="0">
                <a:latin typeface="Trebuchet MS" panose="020B0603020202020204" pitchFamily="34" charset="0"/>
                <a:ea typeface="楷体" panose="02010609060101010101" pitchFamily="49" charset="-122"/>
                <a:cs typeface="Times New Roman" panose="02020603050405020304" pitchFamily="18" charset="0"/>
              </a:rPr>
              <a:t>&lt;Z⁺, +&gt; </a:t>
            </a:r>
            <a:r>
              <a:rPr lang="en-US" altLang="zh-CN" sz="2400" dirty="0">
                <a:latin typeface="Trebuchet MS" panose="020B0603020202020204" pitchFamily="34" charset="0"/>
              </a:rPr>
              <a:t>satisfies the associative law but lacks an additive identity (zero), so it is </a:t>
            </a:r>
            <a:r>
              <a:rPr lang="en-US" altLang="zh-CN" sz="2400" b="1" dirty="0">
                <a:latin typeface="Trebuchet MS" panose="020B0603020202020204" pitchFamily="34" charset="0"/>
              </a:rPr>
              <a:t>not</a:t>
            </a:r>
            <a:r>
              <a:rPr lang="en-US" altLang="zh-CN" sz="2400" dirty="0">
                <a:latin typeface="Trebuchet MS" panose="020B0603020202020204" pitchFamily="34" charset="0"/>
              </a:rPr>
              <a:t> a monoid. The others all have an identity element (zero) and are monoids.</a:t>
            </a:r>
          </a:p>
          <a:p>
            <a:pPr marL="450850" indent="-450850">
              <a:lnSpc>
                <a:spcPct val="110000"/>
              </a:lnSpc>
              <a:tabLst>
                <a:tab pos="177800"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(2) </a:t>
            </a:r>
            <a:r>
              <a:rPr lang="en-US" altLang="zh-CN" sz="2400" dirty="0">
                <a:latin typeface="Trebuchet MS" panose="020B0603020202020204" pitchFamily="34" charset="0"/>
              </a:rPr>
              <a:t>Let </a:t>
            </a:r>
            <a:r>
              <a:rPr lang="en-US" altLang="zh-CN" sz="2400" b="1" i="1" dirty="0">
                <a:latin typeface="Trebuchet MS" panose="020B0603020202020204" pitchFamily="34" charset="0"/>
              </a:rPr>
              <a:t>n</a:t>
            </a:r>
            <a:r>
              <a:rPr lang="en-US" altLang="zh-CN" sz="2400" dirty="0">
                <a:latin typeface="Trebuchet MS" panose="020B0603020202020204" pitchFamily="34" charset="0"/>
              </a:rPr>
              <a:t> be a positive integer greater than 1. Both </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M</a:t>
            </a:r>
            <a:r>
              <a:rPr lang="en-US" altLang="zh-CN" sz="2400" b="1" i="1" baseline="-25000"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(R),+&gt; </a:t>
            </a:r>
            <a:r>
              <a:rPr lang="en-US" altLang="zh-CN" sz="2400" dirty="0">
                <a:latin typeface="Trebuchet MS" panose="020B0603020202020204" pitchFamily="34" charset="0"/>
              </a:rPr>
              <a:t>and </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M</a:t>
            </a:r>
            <a:r>
              <a:rPr lang="en-US" altLang="zh-CN" sz="2400" b="1" i="1" baseline="-25000"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 ·</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&gt; </a:t>
            </a:r>
            <a:r>
              <a:rPr lang="en-US" altLang="zh-CN" sz="2400" dirty="0">
                <a:latin typeface="Trebuchet MS" panose="020B0603020202020204" pitchFamily="34" charset="0"/>
              </a:rPr>
              <a:t>are </a:t>
            </a:r>
            <a:r>
              <a:rPr lang="en-US" altLang="zh-CN" sz="2400" b="1" i="1" dirty="0">
                <a:solidFill>
                  <a:srgbClr val="0B61FF"/>
                </a:solidFill>
                <a:latin typeface="Trebuchet MS" panose="020B0603020202020204" pitchFamily="34" charset="0"/>
              </a:rPr>
              <a:t>semigroups and monoids</a:t>
            </a:r>
            <a:r>
              <a:rPr lang="en-US" altLang="zh-CN" sz="2400" dirty="0">
                <a:latin typeface="Trebuchet MS" panose="020B0603020202020204" pitchFamily="34" charset="0"/>
              </a:rPr>
              <a:t>, where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latin typeface="Trebuchet MS" panose="020B0603020202020204" pitchFamily="34" charset="0"/>
              </a:rPr>
              <a:t> and </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denote matrix addition and matrix multiplication, respectively.</a:t>
            </a:r>
          </a:p>
          <a:p>
            <a:pPr marL="450850">
              <a:lnSpc>
                <a:spcPct val="110000"/>
              </a:lnSpc>
              <a:tabLst>
                <a:tab pos="177800" algn="l"/>
              </a:tabLst>
            </a:pPr>
            <a:r>
              <a:rPr lang="en-US" altLang="zh-CN" sz="2400" b="1" dirty="0">
                <a:latin typeface="Trebuchet MS" panose="020B0603020202020204" pitchFamily="34" charset="0"/>
              </a:rPr>
              <a:t>Note:</a:t>
            </a:r>
            <a:r>
              <a:rPr lang="en-US" altLang="zh-CN" sz="2400" dirty="0">
                <a:latin typeface="Trebuchet MS" panose="020B0603020202020204" pitchFamily="34" charset="0"/>
              </a:rPr>
              <a:t> The identity element for + is the zero matrix, and the identity element for </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is the identity matrix.</a:t>
            </a:r>
          </a:p>
          <a:p>
            <a:pPr marL="450850" indent="-450850">
              <a:lnSpc>
                <a:spcPct val="110000"/>
              </a:lnSpc>
              <a:tabLst>
                <a:tab pos="177800"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(3) </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P</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&gt;</a:t>
            </a:r>
            <a:r>
              <a:rPr lang="en-US" altLang="zh-CN" sz="24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is a </a:t>
            </a:r>
            <a:r>
              <a:rPr lang="en-US" altLang="zh-CN" sz="2400" b="1" i="1" dirty="0">
                <a:solidFill>
                  <a:srgbClr val="0B61FF"/>
                </a:solidFill>
                <a:latin typeface="Trebuchet MS" panose="020B0603020202020204" pitchFamily="34" charset="0"/>
              </a:rPr>
              <a:t>semigroup and also a monoid</a:t>
            </a:r>
            <a:r>
              <a:rPr lang="en-US" altLang="zh-CN" sz="2400" dirty="0">
                <a:latin typeface="Trebuchet MS" panose="020B0603020202020204" pitchFamily="34" charset="0"/>
              </a:rPr>
              <a:t>, where ⊕ denotes the symmetric difference operation on sets.</a:t>
            </a:r>
          </a:p>
          <a:p>
            <a:pPr marL="450850">
              <a:lnSpc>
                <a:spcPct val="110000"/>
              </a:lnSpc>
              <a:tabLst>
                <a:tab pos="177800" algn="l"/>
              </a:tabLst>
            </a:pPr>
            <a:r>
              <a:rPr lang="en-US" altLang="zh-CN" sz="2400" b="1" dirty="0">
                <a:latin typeface="Trebuchet MS" panose="020B0603020202020204" pitchFamily="34" charset="0"/>
              </a:rPr>
              <a:t>Note:</a:t>
            </a:r>
            <a:r>
              <a:rPr lang="en-US" altLang="zh-CN" sz="2400" dirty="0">
                <a:latin typeface="Trebuchet MS" panose="020B0603020202020204" pitchFamily="34" charset="0"/>
              </a:rPr>
              <a:t> The symmetric difference identity element in the power set </a:t>
            </a:r>
            <a:r>
              <a:rPr lang="en-US" altLang="zh-CN" sz="2400" b="1" i="1" dirty="0">
                <a:latin typeface="Trebuchet MS" panose="020B0603020202020204" pitchFamily="34" charset="0"/>
                <a:cs typeface="Times New Roman" panose="02020603050405020304" pitchFamily="18" charset="0"/>
              </a:rPr>
              <a:t>P</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is the empty set </a:t>
            </a:r>
            <a:r>
              <a:rPr lang="zh-CN" altLang="en-US" sz="2400" b="1" i="1" dirty="0">
                <a:latin typeface="Trebuchet MS" panose="020B0603020202020204" pitchFamily="34" charset="0"/>
                <a:ea typeface="楷体" panose="02010609060101010101" pitchFamily="49" charset="-122"/>
                <a:cs typeface="Times New Roman" panose="02020603050405020304" pitchFamily="18" charset="0"/>
              </a:rPr>
              <a:t>∅</a:t>
            </a:r>
            <a:r>
              <a:rPr lang="zh-CN" altLang="en-US" sz="24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a:t>
            </a:r>
          </a:p>
        </p:txBody>
      </p:sp>
    </p:spTree>
    <p:extLst>
      <p:ext uri="{BB962C8B-B14F-4D97-AF65-F5344CB8AC3E}">
        <p14:creationId xmlns:p14="http://schemas.microsoft.com/office/powerpoint/2010/main" val="19560031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animEffect transition="in" filter="fade">
                                      <p:cBhvr>
                                        <p:cTn id="21" dur="1000"/>
                                        <p:tgtEl>
                                          <p:spTgt spid="10">
                                            <p:txEl>
                                              <p:pRg st="3" end="3"/>
                                            </p:txEl>
                                          </p:spTgt>
                                        </p:tgtEl>
                                      </p:cBhvr>
                                    </p:animEffect>
                                    <p:anim calcmode="lin" valueType="num">
                                      <p:cBhvr>
                                        <p:cTn id="22"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Effect transition="in" filter="fade">
                                      <p:cBhvr>
                                        <p:cTn id="28" dur="1000"/>
                                        <p:tgtEl>
                                          <p:spTgt spid="10">
                                            <p:txEl>
                                              <p:pRg st="4" end="4"/>
                                            </p:txEl>
                                          </p:spTgt>
                                        </p:tgtEl>
                                      </p:cBhvr>
                                    </p:animEffect>
                                    <p:anim calcmode="lin" valueType="num">
                                      <p:cBhvr>
                                        <p:cTn id="29"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xEl>
                                              <p:pRg st="5" end="5"/>
                                            </p:txEl>
                                          </p:spTgt>
                                        </p:tgtEl>
                                        <p:attrNameLst>
                                          <p:attrName>style.visibility</p:attrName>
                                        </p:attrNameLst>
                                      </p:cBhvr>
                                      <p:to>
                                        <p:strVal val="visible"/>
                                      </p:to>
                                    </p:set>
                                    <p:animEffect transition="in" filter="fade">
                                      <p:cBhvr>
                                        <p:cTn id="35" dur="1000"/>
                                        <p:tgtEl>
                                          <p:spTgt spid="10">
                                            <p:txEl>
                                              <p:pRg st="5" end="5"/>
                                            </p:txEl>
                                          </p:spTgt>
                                        </p:tgtEl>
                                      </p:cBhvr>
                                    </p:animEffect>
                                    <p:anim calcmode="lin" valueType="num">
                                      <p:cBhvr>
                                        <p:cTn id="36"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9.3.1 Semigroups and Idempotent Elements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Semigroups and Monoids</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Rectangle 6">
            <a:extLst>
              <a:ext uri="{FF2B5EF4-FFF2-40B4-BE49-F238E27FC236}">
                <a16:creationId xmlns:a16="http://schemas.microsoft.com/office/drawing/2014/main" id="{FB1488D5-216E-4D0B-B757-69B09332E1B4}"/>
              </a:ext>
            </a:extLst>
          </p:cNvPr>
          <p:cNvSpPr>
            <a:spLocks noChangeArrowheads="1"/>
          </p:cNvSpPr>
          <p:nvPr/>
        </p:nvSpPr>
        <p:spPr bwMode="auto">
          <a:xfrm>
            <a:off x="655398" y="762016"/>
            <a:ext cx="10812702" cy="5733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p>
            <a:pPr marL="450850" indent="-450850">
              <a:lnSpc>
                <a:spcPct val="110000"/>
              </a:lnSpc>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(4) </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&lt;</a:t>
            </a:r>
            <a:r>
              <a:rPr lang="en-US" altLang="zh-CN" sz="2400" b="1" i="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Z</a:t>
            </a:r>
            <a:r>
              <a:rPr lang="en-US" altLang="zh-CN" sz="2400" b="1" i="1" baseline="-25000"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n</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&gt;</a:t>
            </a:r>
            <a:r>
              <a:rPr lang="en-US" altLang="zh-CN" sz="2400" b="1" dirty="0">
                <a:latin typeface="Trebuchet MS" panose="020B0603020202020204" pitchFamily="34" charset="0"/>
              </a:rPr>
              <a:t> </a:t>
            </a:r>
            <a:r>
              <a:rPr lang="en-US" altLang="zh-CN" sz="2400" dirty="0">
                <a:latin typeface="Trebuchet MS" panose="020B0603020202020204" pitchFamily="34" charset="0"/>
              </a:rPr>
              <a:t>is a </a:t>
            </a:r>
            <a:r>
              <a:rPr lang="en-US" altLang="zh-CN" sz="2400" b="1" i="1" dirty="0">
                <a:solidFill>
                  <a:srgbClr val="0B61FF"/>
                </a:solidFill>
                <a:latin typeface="Trebuchet MS" panose="020B0603020202020204" pitchFamily="34" charset="0"/>
              </a:rPr>
              <a:t>semigroup and also a monoid</a:t>
            </a:r>
            <a:r>
              <a:rPr lang="en-US" altLang="zh-CN" sz="2400" dirty="0">
                <a:latin typeface="Trebuchet MS" panose="020B0603020202020204" pitchFamily="34" charset="0"/>
              </a:rPr>
              <a:t>, where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Z</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={0,1, … ,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and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denotes addition modulo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n</a:t>
            </a:r>
            <a:r>
              <a:rPr lang="en-US" altLang="zh-CN" sz="2400" dirty="0">
                <a:latin typeface="Trebuchet MS" panose="020B0603020202020204" pitchFamily="34" charset="0"/>
              </a:rPr>
              <a:t>.</a:t>
            </a:r>
          </a:p>
          <a:p>
            <a:pPr marL="450850" indent="-88900">
              <a:lnSpc>
                <a:spcPct val="110000"/>
              </a:lnSpc>
              <a:tabLst>
                <a:tab pos="361950" algn="l"/>
              </a:tabLst>
            </a:pPr>
            <a:r>
              <a:rPr lang="en-US" altLang="zh-CN" sz="2400" dirty="0">
                <a:latin typeface="Trebuchet MS" panose="020B0603020202020204" pitchFamily="34" charset="0"/>
              </a:rPr>
              <a:t> </a:t>
            </a:r>
            <a:r>
              <a:rPr lang="en-US" altLang="zh-CN" sz="2400" b="1" dirty="0">
                <a:solidFill>
                  <a:srgbClr val="0B61FF"/>
                </a:solidFill>
                <a:latin typeface="Trebuchet MS" panose="020B0603020202020204" pitchFamily="34" charset="0"/>
              </a:rPr>
              <a:t>Note:</a:t>
            </a:r>
            <a:r>
              <a:rPr lang="en-US" altLang="zh-CN" sz="2400" dirty="0">
                <a:latin typeface="Trebuchet MS" panose="020B0603020202020204" pitchFamily="34" charset="0"/>
              </a:rPr>
              <a:t> Modular addition over the set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Z</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n </a:t>
            </a:r>
            <a:r>
              <a:rPr lang="en-US" altLang="zh-CN" sz="2400" dirty="0">
                <a:latin typeface="Trebuchet MS" panose="020B0603020202020204" pitchFamily="34" charset="0"/>
              </a:rPr>
              <a:t>has the identity element </a:t>
            </a:r>
            <a:r>
              <a:rPr lang="en-US" altLang="zh-CN" sz="2400" b="1" dirty="0">
                <a:latin typeface="Trebuchet MS" panose="020B0603020202020204" pitchFamily="34" charset="0"/>
              </a:rPr>
              <a:t>0</a:t>
            </a:r>
            <a:r>
              <a:rPr lang="en-US" altLang="zh-CN" sz="2400" dirty="0">
                <a:latin typeface="Trebuchet MS" panose="020B0603020202020204" pitchFamily="34" charset="0"/>
              </a:rPr>
              <a:t>.</a:t>
            </a:r>
          </a:p>
          <a:p>
            <a:pPr marL="450850" indent="-450850">
              <a:lnSpc>
                <a:spcPct val="110000"/>
              </a:lnSpc>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(5) </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&lt;</a:t>
            </a:r>
            <a:r>
              <a:rPr lang="en-US" altLang="zh-CN" sz="2400" b="1" i="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i="1" baseline="30000"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&gt;</a:t>
            </a:r>
            <a:r>
              <a:rPr lang="en-US" altLang="zh-CN" sz="2400" b="1" dirty="0">
                <a:solidFill>
                  <a:srgbClr val="FF0000"/>
                </a:solidFill>
                <a:latin typeface="Trebuchet MS" panose="020B0603020202020204" pitchFamily="34" charset="0"/>
              </a:rPr>
              <a:t> </a:t>
            </a:r>
            <a:r>
              <a:rPr lang="en-US" altLang="zh-CN" sz="2400" dirty="0">
                <a:latin typeface="Trebuchet MS" panose="020B0603020202020204" pitchFamily="34" charset="0"/>
              </a:rPr>
              <a:t>is a </a:t>
            </a:r>
            <a:r>
              <a:rPr lang="en-US" altLang="zh-CN" sz="2400" b="1" i="1" dirty="0">
                <a:solidFill>
                  <a:srgbClr val="0B61FF"/>
                </a:solidFill>
                <a:latin typeface="Trebuchet MS" panose="020B0603020202020204" pitchFamily="34" charset="0"/>
              </a:rPr>
              <a:t>semigroup and also a monoid</a:t>
            </a:r>
            <a:r>
              <a:rPr lang="en-US" altLang="zh-CN" sz="2400" dirty="0">
                <a:latin typeface="Trebuchet MS" panose="020B0603020202020204" pitchFamily="34" charset="0"/>
              </a:rPr>
              <a:t>, where </a:t>
            </a:r>
            <a:r>
              <a:rPr lang="en-US" altLang="zh-CN" sz="2400" b="1" dirty="0">
                <a:latin typeface="Trebuchet MS" panose="020B0603020202020204" pitchFamily="34" charset="0"/>
              </a:rPr>
              <a:t>∘</a:t>
            </a:r>
            <a:r>
              <a:rPr lang="en-US" altLang="zh-CN" sz="2400" dirty="0">
                <a:latin typeface="Trebuchet MS" panose="020B0603020202020204" pitchFamily="34" charset="0"/>
              </a:rPr>
              <a:t> is the composition of functions.</a:t>
            </a:r>
          </a:p>
          <a:p>
            <a:pPr marL="450850">
              <a:lnSpc>
                <a:spcPct val="110000"/>
              </a:lnSpc>
              <a:tabLst>
                <a:tab pos="450850" algn="l"/>
              </a:tabLst>
            </a:pPr>
            <a:r>
              <a:rPr lang="en-US" altLang="zh-CN" sz="2400" b="1" dirty="0">
                <a:solidFill>
                  <a:srgbClr val="0B61FF"/>
                </a:solidFill>
                <a:latin typeface="Trebuchet MS" panose="020B0603020202020204" pitchFamily="34" charset="0"/>
              </a:rPr>
              <a:t>Note:</a:t>
            </a:r>
            <a:r>
              <a:rPr lang="en-US" altLang="zh-CN" sz="2400" dirty="0">
                <a:latin typeface="Trebuchet MS" panose="020B0603020202020204" pitchFamily="34" charset="0"/>
              </a:rPr>
              <a:t> The set of all functions from </a:t>
            </a:r>
            <a:r>
              <a:rPr lang="en-US" altLang="zh-CN" sz="2400" b="1" i="1" dirty="0">
                <a:latin typeface="Trebuchet MS" panose="020B0603020202020204" pitchFamily="34" charset="0"/>
              </a:rPr>
              <a:t>A</a:t>
            </a:r>
            <a:r>
              <a:rPr lang="en-US" altLang="zh-CN" sz="2400" dirty="0">
                <a:latin typeface="Trebuchet MS" panose="020B0603020202020204" pitchFamily="34" charset="0"/>
              </a:rPr>
              <a:t> to </a:t>
            </a:r>
            <a:r>
              <a:rPr lang="en-US" altLang="zh-CN" sz="2400" b="1" i="1" dirty="0">
                <a:latin typeface="Trebuchet MS" panose="020B0603020202020204" pitchFamily="34" charset="0"/>
              </a:rPr>
              <a:t>A</a:t>
            </a:r>
            <a:r>
              <a:rPr lang="en-US" altLang="zh-CN" sz="2400" dirty="0">
                <a:latin typeface="Trebuchet MS" panose="020B0603020202020204" pitchFamily="34" charset="0"/>
              </a:rPr>
              <a:t>, denoted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A</a:t>
            </a:r>
            <a:r>
              <a:rPr lang="en-US" altLang="zh-CN" sz="2400" b="1" i="1" baseline="30000" dirty="0">
                <a:latin typeface="Trebuchet MS" panose="020B0603020202020204" pitchFamily="34" charset="0"/>
                <a:cs typeface="Times New Roman" panose="02020603050405020304" pitchFamily="18" charset="0"/>
                <a:sym typeface="Symbol" panose="05050102010706020507" pitchFamily="18" charset="2"/>
              </a:rPr>
              <a:t>A</a:t>
            </a:r>
            <a:r>
              <a:rPr lang="en-US" altLang="zh-CN" sz="2400" dirty="0">
                <a:latin typeface="Trebuchet MS" panose="020B0603020202020204" pitchFamily="34" charset="0"/>
              </a:rPr>
              <a:t>, has the identity element </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id</a:t>
            </a:r>
            <a:r>
              <a:rPr lang="en-US" altLang="zh-CN" sz="2400" b="1" i="1" baseline="-25000" dirty="0" err="1">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dirty="0">
                <a:latin typeface="Trebuchet MS" panose="020B0603020202020204" pitchFamily="34" charset="0"/>
              </a:rPr>
              <a:t> i.e., </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id</a:t>
            </a:r>
            <a:r>
              <a:rPr lang="en-US" altLang="zh-CN" sz="2400" b="1" i="1" baseline="-25000" dirty="0" err="1">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i="1" baseline="-250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x</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x</a:t>
            </a:r>
            <a:r>
              <a:rPr lang="en-US" altLang="zh-CN" sz="2400" dirty="0">
                <a:latin typeface="Trebuchet MS" panose="020B0603020202020204" pitchFamily="34" charset="0"/>
                <a:ea typeface="楷体" panose="02010609060101010101" pitchFamily="49" charset="-122"/>
                <a:cs typeface="Times New Roman" panose="02020603050405020304" pitchFamily="18" charset="0"/>
              </a:rPr>
              <a:t>.</a:t>
            </a:r>
          </a:p>
          <a:p>
            <a:pPr marL="450850" indent="-450850">
              <a:lnSpc>
                <a:spcPct val="110000"/>
              </a:lnSpc>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(6) </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&lt;R*,∘</a:t>
            </a:r>
            <a:r>
              <a:rPr lang="en-US" altLang="zh-CN" sz="2400" b="1" dirty="0">
                <a:solidFill>
                  <a:srgbClr val="FF0000"/>
                </a:solidFill>
                <a:latin typeface="Trebuchet MS" panose="020B0603020202020204" pitchFamily="34" charset="0"/>
                <a:ea typeface="宋体" panose="02010600030101010101" pitchFamily="2" charset="-122"/>
                <a:cs typeface="Times New Roman" panose="02020603050405020304" pitchFamily="18" charset="0"/>
              </a:rPr>
              <a:t>&gt;</a:t>
            </a:r>
            <a:r>
              <a:rPr lang="en-US" altLang="zh-CN" sz="2400" dirty="0">
                <a:solidFill>
                  <a:srgbClr val="FF0000"/>
                </a:solidFill>
                <a:latin typeface="Trebuchet MS" panose="020B0603020202020204" pitchFamily="34" charset="0"/>
              </a:rPr>
              <a:t> </a:t>
            </a:r>
            <a:r>
              <a:rPr lang="en-US" altLang="zh-CN" sz="2400" dirty="0">
                <a:latin typeface="Trebuchet MS" panose="020B0603020202020204" pitchFamily="34" charset="0"/>
              </a:rPr>
              <a:t>is a </a:t>
            </a:r>
            <a:r>
              <a:rPr lang="en-US" altLang="zh-CN" sz="2400" b="1" i="1" dirty="0">
                <a:solidFill>
                  <a:srgbClr val="0B61FF"/>
                </a:solidFill>
                <a:latin typeface="Trebuchet MS" panose="020B0603020202020204" pitchFamily="34" charset="0"/>
              </a:rPr>
              <a:t>semigrou</a:t>
            </a:r>
            <a:r>
              <a:rPr lang="en-US" altLang="zh-CN" sz="2400" dirty="0">
                <a:latin typeface="Trebuchet MS" panose="020B0603020202020204" pitchFamily="34" charset="0"/>
              </a:rPr>
              <a:t>p, where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R* </a:t>
            </a:r>
            <a:r>
              <a:rPr lang="en-US" altLang="zh-CN" sz="2400" dirty="0">
                <a:latin typeface="Trebuchet MS" panose="020B0603020202020204" pitchFamily="34" charset="0"/>
              </a:rPr>
              <a:t>is the set of nonzero real numbers, and the operation </a:t>
            </a:r>
            <a:r>
              <a:rPr lang="en-US" altLang="zh-CN" sz="2400" b="1" dirty="0">
                <a:latin typeface="Trebuchet MS" panose="020B0603020202020204" pitchFamily="34" charset="0"/>
              </a:rPr>
              <a:t>∘</a:t>
            </a:r>
            <a:r>
              <a:rPr lang="en-US" altLang="zh-CN" sz="2400" dirty="0">
                <a:latin typeface="Trebuchet MS" panose="020B0603020202020204" pitchFamily="34" charset="0"/>
              </a:rPr>
              <a:t> is defined by</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y</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∈R</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x</a:t>
            </a:r>
            <a:r>
              <a:rPr lang="zh-CN" altLang="en-US"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y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y</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p>
          <a:p>
            <a:pPr marL="450850">
              <a:lnSpc>
                <a:spcPct val="110000"/>
              </a:lnSpc>
            </a:pPr>
            <a:r>
              <a:rPr lang="en-US" altLang="zh-CN" sz="2400" b="1" dirty="0">
                <a:solidFill>
                  <a:srgbClr val="0B61FF"/>
                </a:solidFill>
                <a:latin typeface="Trebuchet MS" panose="020B0603020202020204" pitchFamily="34" charset="0"/>
              </a:rPr>
              <a:t>Note:</a:t>
            </a:r>
            <a:r>
              <a:rPr lang="en-US" altLang="zh-CN" sz="2400" dirty="0">
                <a:solidFill>
                  <a:srgbClr val="0B61FF"/>
                </a:solidFill>
                <a:latin typeface="Trebuchet MS" panose="020B0603020202020204" pitchFamily="34" charset="0"/>
              </a:rPr>
              <a:t> </a:t>
            </a:r>
            <a:r>
              <a:rPr lang="en-US" altLang="zh-CN" sz="2400" dirty="0">
                <a:latin typeface="Trebuchet MS" panose="020B0603020202020204" pitchFamily="34" charset="0"/>
              </a:rPr>
              <a:t>According to the operation definition, for any </a:t>
            </a:r>
            <a:r>
              <a:rPr lang="en-US" altLang="zh-CN" sz="2400" i="1" dirty="0" err="1">
                <a:latin typeface="Trebuchet MS" panose="020B0603020202020204" pitchFamily="34" charset="0"/>
                <a:ea typeface="楷体" panose="02010609060101010101" pitchFamily="49" charset="-122"/>
                <a:cs typeface="Times New Roman" panose="02020603050405020304" pitchFamily="18" charset="0"/>
              </a:rPr>
              <a:t>x</a:t>
            </a:r>
            <a:r>
              <a:rPr lang="en-US" altLang="zh-CN" sz="2400" dirty="0" err="1">
                <a:latin typeface="Trebuchet MS" panose="020B0603020202020204" pitchFamily="34" charset="0"/>
                <a:ea typeface="楷体" panose="02010609060101010101" pitchFamily="49" charset="-122"/>
                <a:cs typeface="Times New Roman" panose="02020603050405020304" pitchFamily="18" charset="0"/>
              </a:rPr>
              <a:t>,</a:t>
            </a:r>
            <a:r>
              <a:rPr lang="en-US" altLang="zh-CN" sz="2400" i="1" dirty="0" err="1">
                <a:latin typeface="Trebuchet MS" panose="020B0603020202020204" pitchFamily="34" charset="0"/>
                <a:ea typeface="楷体" panose="02010609060101010101" pitchFamily="49" charset="-122"/>
                <a:cs typeface="Times New Roman" panose="02020603050405020304" pitchFamily="18" charset="0"/>
              </a:rPr>
              <a:t>e</a:t>
            </a:r>
            <a:r>
              <a:rPr lang="en-US" altLang="zh-CN" sz="2400" dirty="0" err="1">
                <a:latin typeface="Trebuchet MS" panose="020B0603020202020204" pitchFamily="34" charset="0"/>
                <a:ea typeface="楷体" panose="02010609060101010101" pitchFamily="49" charset="-122"/>
                <a:cs typeface="Times New Roman" panose="02020603050405020304" pitchFamily="18" charset="0"/>
              </a:rPr>
              <a:t>∈R</a:t>
            </a:r>
            <a:r>
              <a:rPr lang="en-US" altLang="zh-CN" sz="2400" baseline="30000"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dirty="0">
                <a:latin typeface="Trebuchet MS" panose="020B0603020202020204" pitchFamily="34" charset="0"/>
              </a:rPr>
              <a:t>, we have </a:t>
            </a:r>
            <a:r>
              <a:rPr lang="en-US" altLang="zh-CN" sz="2400" i="1" dirty="0" err="1">
                <a:latin typeface="Trebuchet MS" panose="020B0603020202020204" pitchFamily="34" charset="0"/>
                <a:ea typeface="楷体" panose="02010609060101010101" pitchFamily="49" charset="-122"/>
                <a:cs typeface="Times New Roman" panose="02020603050405020304" pitchFamily="18" charset="0"/>
              </a:rPr>
              <a:t>x</a:t>
            </a:r>
            <a:r>
              <a:rPr lang="en-US" altLang="zh-CN" sz="2400" dirty="0" err="1">
                <a:latin typeface="Trebuchet MS" panose="020B0603020202020204" pitchFamily="34" charset="0"/>
                <a:ea typeface="楷体" panose="02010609060101010101" pitchFamily="49" charset="-122"/>
                <a:cs typeface="Times New Roman" panose="02020603050405020304" pitchFamily="18" charset="0"/>
              </a:rPr>
              <a:t>∘</a:t>
            </a:r>
            <a:r>
              <a:rPr lang="en-US" altLang="zh-CN" sz="2400" i="1" dirty="0" err="1">
                <a:latin typeface="Trebuchet MS" panose="020B0603020202020204" pitchFamily="34" charset="0"/>
                <a:ea typeface="楷体" panose="02010609060101010101" pitchFamily="49" charset="-122"/>
                <a:cs typeface="Times New Roman" panose="02020603050405020304" pitchFamily="18" charset="0"/>
              </a:rPr>
              <a:t>e</a:t>
            </a:r>
            <a:r>
              <a:rPr lang="en-US" altLang="zh-CN" sz="2400"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i="1" dirty="0">
                <a:latin typeface="Trebuchet MS" panose="020B0603020202020204" pitchFamily="34" charset="0"/>
                <a:ea typeface="楷体" panose="02010609060101010101" pitchFamily="49" charset="-122"/>
                <a:cs typeface="Times New Roman" panose="02020603050405020304" pitchFamily="18" charset="0"/>
              </a:rPr>
              <a:t>e</a:t>
            </a:r>
            <a:r>
              <a:rPr lang="en-US" altLang="zh-CN" sz="2400" dirty="0">
                <a:latin typeface="Trebuchet MS" panose="020B0603020202020204" pitchFamily="34" charset="0"/>
              </a:rPr>
              <a:t>. To satisfy </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x</a:t>
            </a:r>
            <a:r>
              <a:rPr lang="en-US" altLang="zh-CN" sz="2400" b="1" dirty="0" err="1">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e</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x</a:t>
            </a:r>
            <a:r>
              <a:rPr lang="en-US" altLang="zh-CN" sz="2400" dirty="0">
                <a:latin typeface="Trebuchet MS" panose="020B0603020202020204" pitchFamily="34" charset="0"/>
              </a:rPr>
              <a:t>, we must have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e</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x</a:t>
            </a:r>
            <a:r>
              <a:rPr lang="en-US" altLang="zh-CN" sz="2400" dirty="0">
                <a:latin typeface="Trebuchet MS" panose="020B0603020202020204" pitchFamily="34" charset="0"/>
              </a:rPr>
              <a:t>. Since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x</a:t>
            </a:r>
            <a:r>
              <a:rPr lang="en-US" altLang="zh-CN" sz="2400" dirty="0">
                <a:latin typeface="Trebuchet MS" panose="020B0603020202020204" pitchFamily="34" charset="0"/>
              </a:rPr>
              <a:t> is arbitrary, this means there is no unique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e</a:t>
            </a:r>
            <a:r>
              <a:rPr lang="zh-CN" altLang="zh-CN" sz="2400" b="1"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R</a:t>
            </a:r>
            <a:r>
              <a:rPr lang="zh-CN" altLang="zh-CN" sz="2400" b="1" baseline="30000" dirty="0">
                <a:latin typeface="Trebuchet MS" panose="020B0603020202020204" pitchFamily="34" charset="0"/>
                <a:ea typeface="楷体" panose="02010609060101010101" pitchFamily="49" charset="-122"/>
                <a:cs typeface="Times New Roman" panose="02020603050405020304" pitchFamily="18" charset="0"/>
              </a:rPr>
              <a:t>∗</a:t>
            </a:r>
            <a:r>
              <a:rPr lang="zh-CN" altLang="zh-CN" sz="2400" baseline="300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satisfying this condition. Therefore,</a:t>
            </a:r>
            <a:r>
              <a:rPr lang="en-US" altLang="zh-CN" sz="24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&lt;R</a:t>
            </a:r>
            <a:r>
              <a:rPr lang="en-US" altLang="zh-CN" sz="2400" baseline="30000" dirty="0">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ea typeface="楷体" panose="02010609060101010101" pitchFamily="49" charset="-122"/>
                <a:cs typeface="Times New Roman" panose="02020603050405020304" pitchFamily="18" charset="0"/>
              </a:rPr>
              <a:t>&gt; </a:t>
            </a:r>
            <a:r>
              <a:rPr lang="en-US" altLang="zh-CN" sz="2400" dirty="0">
                <a:latin typeface="Trebuchet MS" panose="020B0603020202020204" pitchFamily="34" charset="0"/>
              </a:rPr>
              <a:t>satisfies the associative law but has no identity element, so it is a semigroup but </a:t>
            </a:r>
            <a:r>
              <a:rPr lang="en-US" altLang="zh-CN" sz="2400" b="1" i="1" dirty="0">
                <a:solidFill>
                  <a:srgbClr val="0B61FF"/>
                </a:solidFill>
                <a:latin typeface="Trebuchet MS" panose="020B0603020202020204" pitchFamily="34" charset="0"/>
              </a:rPr>
              <a:t>not a monoid</a:t>
            </a:r>
            <a:r>
              <a:rPr lang="en-US" altLang="zh-CN" sz="2400" dirty="0">
                <a:latin typeface="Trebuchet MS" panose="020B0603020202020204" pitchFamily="34" charset="0"/>
              </a:rPr>
              <a:t>.</a:t>
            </a:r>
            <a:endParaRPr lang="en-US" altLang="zh-CN" sz="2400" dirty="0">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14619349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1000"/>
                                        <p:tgtEl>
                                          <p:spTgt spid="10">
                                            <p:txEl>
                                              <p:pRg st="2" end="2"/>
                                            </p:txEl>
                                          </p:spTgt>
                                        </p:tgtEl>
                                      </p:cBhvr>
                                    </p:animEffect>
                                    <p:anim calcmode="lin" valueType="num">
                                      <p:cBhvr>
                                        <p:cTn id="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1000"/>
                                        <p:tgtEl>
                                          <p:spTgt spid="10">
                                            <p:txEl>
                                              <p:pRg st="3" end="3"/>
                                            </p:txEl>
                                          </p:spTgt>
                                        </p:tgtEl>
                                      </p:cBhvr>
                                    </p:animEffect>
                                    <p:anim calcmode="lin" valueType="num">
                                      <p:cBhvr>
                                        <p:cTn id="1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fade">
                                      <p:cBhvr>
                                        <p:cTn id="19" dur="1000"/>
                                        <p:tgtEl>
                                          <p:spTgt spid="10">
                                            <p:txEl>
                                              <p:pRg st="4" end="4"/>
                                            </p:txEl>
                                          </p:spTgt>
                                        </p:tgtEl>
                                      </p:cBhvr>
                                    </p:animEffect>
                                    <p:anim calcmode="lin" valueType="num">
                                      <p:cBhvr>
                                        <p:cTn id="2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xEl>
                                              <p:pRg st="5" end="5"/>
                                            </p:txEl>
                                          </p:spTgt>
                                        </p:tgtEl>
                                        <p:attrNameLst>
                                          <p:attrName>style.visibility</p:attrName>
                                        </p:attrNameLst>
                                      </p:cBhvr>
                                      <p:to>
                                        <p:strVal val="visible"/>
                                      </p:to>
                                    </p:set>
                                    <p:animEffect transition="in" filter="fade">
                                      <p:cBhvr>
                                        <p:cTn id="26" dur="1000"/>
                                        <p:tgtEl>
                                          <p:spTgt spid="10">
                                            <p:txEl>
                                              <p:pRg st="5" end="5"/>
                                            </p:txEl>
                                          </p:spTgt>
                                        </p:tgtEl>
                                      </p:cBhvr>
                                    </p:animEffect>
                                    <p:anim calcmode="lin" valueType="num">
                                      <p:cBhvr>
                                        <p:cTn id="27"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9.3.1 Semigroups and Idempotent Elements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Power Operations of Semigroups and Idempotents</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1" name="Rectangle 4">
            <a:extLst>
              <a:ext uri="{FF2B5EF4-FFF2-40B4-BE49-F238E27FC236}">
                <a16:creationId xmlns:a16="http://schemas.microsoft.com/office/drawing/2014/main" id="{08CA6FC1-2317-4F77-B09D-024A36EF7FEA}"/>
              </a:ext>
            </a:extLst>
          </p:cNvPr>
          <p:cNvSpPr>
            <a:spLocks noChangeArrowheads="1"/>
          </p:cNvSpPr>
          <p:nvPr/>
        </p:nvSpPr>
        <p:spPr bwMode="auto">
          <a:xfrm>
            <a:off x="1460274" y="904456"/>
            <a:ext cx="8623178" cy="4971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ctr">
            <a:noAutofit/>
          </a:bodyPr>
          <a:lstStyle>
            <a:lvl1pPr indent="266700">
              <a:defRPr>
                <a:solidFill>
                  <a:schemeClr val="accent2"/>
                </a:solidFill>
                <a:latin typeface="Arial" panose="020B0604020202020204" pitchFamily="34" charset="0"/>
                <a:ea typeface="华文行楷" panose="02010800040101010101" pitchFamily="2" charset="-122"/>
              </a:defRPr>
            </a:lvl1pPr>
            <a:lvl2pPr>
              <a:defRPr>
                <a:solidFill>
                  <a:schemeClr val="accent2"/>
                </a:solidFill>
                <a:latin typeface="Arial" panose="020B0604020202020204" pitchFamily="34" charset="0"/>
                <a:ea typeface="华文行楷" panose="02010800040101010101" pitchFamily="2" charset="-122"/>
              </a:defRPr>
            </a:lvl2pPr>
            <a:lvl3pPr>
              <a:defRPr>
                <a:solidFill>
                  <a:schemeClr val="accent2"/>
                </a:solidFill>
                <a:latin typeface="Arial" panose="020B0604020202020204" pitchFamily="34" charset="0"/>
                <a:ea typeface="华文行楷" panose="02010800040101010101" pitchFamily="2" charset="-122"/>
              </a:defRPr>
            </a:lvl3pPr>
            <a:lvl4pPr>
              <a:defRPr>
                <a:solidFill>
                  <a:schemeClr val="accent2"/>
                </a:solidFill>
                <a:latin typeface="Arial" panose="020B0604020202020204" pitchFamily="34" charset="0"/>
                <a:ea typeface="华文行楷" panose="02010800040101010101" pitchFamily="2" charset="-122"/>
              </a:defRPr>
            </a:lvl4pPr>
            <a:lvl5pPr>
              <a:defRPr>
                <a:solidFill>
                  <a:schemeClr val="accent2"/>
                </a:solidFill>
                <a:latin typeface="Arial" panose="020B0604020202020204" pitchFamily="34" charset="0"/>
                <a:ea typeface="华文行楷" panose="02010800040101010101" pitchFamily="2" charset="-122"/>
              </a:defRPr>
            </a:lvl5pPr>
            <a:lvl6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eaLnBrk="1" hangingPunct="1">
              <a:lnSpc>
                <a:spcPct val="110000"/>
              </a:lnSpc>
              <a:buClr>
                <a:srgbClr val="0B61FF"/>
              </a:buClr>
              <a:buSzPct val="80000"/>
              <a:buFont typeface="Wingdings" panose="05000000000000000000" pitchFamily="2" charset="2"/>
              <a:buChar char="n"/>
            </a:pPr>
            <a:r>
              <a:rPr lang="en-US" altLang="zh-CN" sz="2400" dirty="0">
                <a:solidFill>
                  <a:schemeClr val="tx1"/>
                </a:solidFill>
                <a:latin typeface="Trebuchet MS" panose="020B0603020202020204" pitchFamily="34" charset="0"/>
              </a:rPr>
              <a:t>Let </a:t>
            </a:r>
            <a:r>
              <a:rPr lang="en-US" altLang="zh-CN" sz="2400" b="1" i="1" dirty="0">
                <a:solidFill>
                  <a:schemeClr val="tx1"/>
                </a:solidFill>
                <a:latin typeface="Trebuchet MS" panose="020B0603020202020204" pitchFamily="34" charset="0"/>
                <a:ea typeface="+mn-ea"/>
                <a:cs typeface="Times New Roman" panose="02020603050405020304" pitchFamily="18" charset="0"/>
              </a:rPr>
              <a:t>V</a:t>
            </a:r>
            <a:r>
              <a:rPr lang="en-US" altLang="zh-CN" sz="2400" b="1" dirty="0">
                <a:solidFill>
                  <a:schemeClr val="tx1"/>
                </a:solidFill>
                <a:latin typeface="Trebuchet MS" panose="020B0603020202020204" pitchFamily="34" charset="0"/>
                <a:ea typeface="+mn-ea"/>
                <a:cs typeface="Times New Roman" panose="02020603050405020304" pitchFamily="18" charset="0"/>
              </a:rPr>
              <a:t>=&lt;</a:t>
            </a:r>
            <a:r>
              <a:rPr lang="en-US" altLang="zh-CN" sz="2400" b="1" i="1" dirty="0">
                <a:solidFill>
                  <a:schemeClr val="tx1"/>
                </a:solidFill>
                <a:latin typeface="Trebuchet MS" panose="020B0603020202020204" pitchFamily="34" charset="0"/>
                <a:ea typeface="+mn-ea"/>
                <a:cs typeface="Times New Roman" panose="02020603050405020304" pitchFamily="18" charset="0"/>
              </a:rPr>
              <a:t>S</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ea typeface="+mn-ea"/>
                <a:cs typeface="Times New Roman" panose="02020603050405020304" pitchFamily="18" charset="0"/>
              </a:rPr>
              <a:t>&gt;</a:t>
            </a:r>
            <a:r>
              <a:rPr lang="en-US" altLang="zh-CN" sz="2400" dirty="0">
                <a:solidFill>
                  <a:schemeClr val="tx1"/>
                </a:solidFill>
                <a:latin typeface="Trebuchet MS" panose="020B0603020202020204" pitchFamily="34" charset="0"/>
              </a:rPr>
              <a:t> be a </a:t>
            </a:r>
            <a:r>
              <a:rPr lang="en-US" altLang="zh-CN" sz="2400" b="1" dirty="0">
                <a:solidFill>
                  <a:schemeClr val="tx1"/>
                </a:solidFill>
                <a:latin typeface="Trebuchet MS" panose="020B0603020202020204" pitchFamily="34" charset="0"/>
              </a:rPr>
              <a:t>semigroup</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zh-CN" altLang="en-US"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ea typeface="+mn-ea"/>
                <a:cs typeface="Times New Roman" panose="02020603050405020304" pitchFamily="18" charset="0"/>
              </a:rPr>
              <a:t>for any</a:t>
            </a:r>
            <a:r>
              <a:rPr lang="zh-CN" altLang="en-US" sz="2400"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x</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S</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rPr>
              <a:t>define </a:t>
            </a:r>
            <a:r>
              <a:rPr lang="zh-CN" altLang="en-US" sz="2400" b="1" dirty="0">
                <a:solidFill>
                  <a:schemeClr val="tx1"/>
                </a:solidFill>
                <a:latin typeface="Trebuchet MS" panose="020B0603020202020204" pitchFamily="34" charset="0"/>
                <a:ea typeface="+mn-ea"/>
                <a:cs typeface="Times New Roman" panose="02020603050405020304" pitchFamily="18" charset="0"/>
              </a:rPr>
              <a:t>：</a:t>
            </a:r>
            <a:br>
              <a:rPr lang="zh-CN" altLang="en-US" sz="2400" b="1" dirty="0">
                <a:solidFill>
                  <a:schemeClr val="tx1"/>
                </a:solidFill>
                <a:latin typeface="Trebuchet MS" panose="020B0603020202020204" pitchFamily="34" charset="0"/>
                <a:ea typeface="+mn-ea"/>
                <a:cs typeface="Times New Roman" panose="02020603050405020304" pitchFamily="18" charset="0"/>
              </a:rPr>
            </a:br>
            <a:r>
              <a:rPr lang="zh-CN" altLang="en-US"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a:solidFill>
                  <a:schemeClr val="tx1"/>
                </a:solidFill>
                <a:latin typeface="Trebuchet MS" panose="020B0603020202020204" pitchFamily="34" charset="0"/>
                <a:ea typeface="+mn-ea"/>
                <a:cs typeface="Times New Roman" panose="02020603050405020304" pitchFamily="18" charset="0"/>
              </a:rPr>
              <a:t>x</a:t>
            </a:r>
            <a:r>
              <a:rPr lang="en-US" altLang="zh-CN" sz="2400" b="1" baseline="30000" dirty="0">
                <a:solidFill>
                  <a:schemeClr val="tx1"/>
                </a:solidFill>
                <a:latin typeface="Trebuchet MS" panose="020B0603020202020204" pitchFamily="34" charset="0"/>
                <a:ea typeface="+mn-ea"/>
                <a:cs typeface="Times New Roman" panose="02020603050405020304" pitchFamily="18" charset="0"/>
              </a:rPr>
              <a:t>1 </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a:solidFill>
                  <a:schemeClr val="tx1"/>
                </a:solidFill>
                <a:latin typeface="Trebuchet MS" panose="020B0603020202020204" pitchFamily="34" charset="0"/>
                <a:ea typeface="+mn-ea"/>
                <a:cs typeface="Times New Roman" panose="02020603050405020304" pitchFamily="18" charset="0"/>
              </a:rPr>
              <a:t>x</a:t>
            </a:r>
            <a:br>
              <a:rPr lang="en-US" altLang="zh-CN" sz="2400" b="1" dirty="0">
                <a:solidFill>
                  <a:schemeClr val="tx1"/>
                </a:solidFill>
                <a:latin typeface="Trebuchet MS" panose="020B0603020202020204" pitchFamily="34" charset="0"/>
                <a:ea typeface="+mn-ea"/>
                <a:cs typeface="Times New Roman" panose="02020603050405020304" pitchFamily="18" charset="0"/>
              </a:rPr>
            </a:b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a:solidFill>
                  <a:schemeClr val="tx1"/>
                </a:solidFill>
                <a:latin typeface="Trebuchet MS" panose="020B0603020202020204" pitchFamily="34" charset="0"/>
                <a:ea typeface="+mn-ea"/>
                <a:cs typeface="Times New Roman" panose="02020603050405020304" pitchFamily="18" charset="0"/>
              </a:rPr>
              <a:t>x</a:t>
            </a:r>
            <a:r>
              <a:rPr lang="en-US" altLang="zh-CN" sz="2400" b="1" i="1" baseline="30000" dirty="0">
                <a:solidFill>
                  <a:schemeClr val="tx1"/>
                </a:solidFill>
                <a:latin typeface="Trebuchet MS" panose="020B0603020202020204" pitchFamily="34" charset="0"/>
                <a:ea typeface="+mn-ea"/>
                <a:cs typeface="Times New Roman" panose="02020603050405020304" pitchFamily="18" charset="0"/>
              </a:rPr>
              <a:t>n</a:t>
            </a:r>
            <a:r>
              <a:rPr lang="en-US" altLang="zh-CN" sz="2400" b="1" baseline="30000" dirty="0">
                <a:solidFill>
                  <a:schemeClr val="tx1"/>
                </a:solidFill>
                <a:latin typeface="Trebuchet MS" panose="020B0603020202020204" pitchFamily="34" charset="0"/>
                <a:ea typeface="+mn-ea"/>
                <a:cs typeface="Times New Roman" panose="02020603050405020304" pitchFamily="18" charset="0"/>
              </a:rPr>
              <a:t>+1 </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x</a:t>
            </a:r>
            <a:r>
              <a:rPr lang="en-US" altLang="zh-CN" sz="2400" b="1" i="1" baseline="30000" dirty="0" err="1">
                <a:solidFill>
                  <a:schemeClr val="tx1"/>
                </a:solidFill>
                <a:latin typeface="Trebuchet MS" panose="020B0603020202020204" pitchFamily="34" charset="0"/>
                <a:ea typeface="+mn-ea"/>
                <a:cs typeface="Times New Roman" panose="02020603050405020304" pitchFamily="18" charset="0"/>
              </a:rPr>
              <a:t>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solidFill>
                  <a:schemeClr val="tx1"/>
                </a:solidFill>
                <a:latin typeface="Trebuchet MS" panose="020B0603020202020204" pitchFamily="34" charset="0"/>
                <a:ea typeface="+mn-ea"/>
                <a:cs typeface="Times New Roman" panose="02020603050405020304" pitchFamily="18" charset="0"/>
                <a:sym typeface="Symbol" panose="05050102010706020507" pitchFamily="18" charset="2"/>
              </a:rPr>
              <a:t> </a:t>
            </a:r>
            <a:r>
              <a:rPr lang="en-US" altLang="zh-CN" sz="2400" b="1" i="1" dirty="0">
                <a:solidFill>
                  <a:schemeClr val="tx1"/>
                </a:solidFill>
                <a:latin typeface="Trebuchet MS" panose="020B0603020202020204" pitchFamily="34" charset="0"/>
                <a:ea typeface="+mn-ea"/>
                <a:cs typeface="Times New Roman" panose="02020603050405020304" pitchFamily="18" charset="0"/>
              </a:rPr>
              <a:t>x</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n</a:t>
            </a:r>
            <a:r>
              <a:rPr lang="en-US" altLang="zh-CN" sz="2400" b="1" dirty="0" err="1">
                <a:solidFill>
                  <a:schemeClr val="tx1"/>
                </a:solidFill>
                <a:latin typeface="Trebuchet MS" panose="020B0603020202020204" pitchFamily="34" charset="0"/>
                <a:ea typeface="+mn-ea"/>
                <a:cs typeface="Times New Roman" panose="02020603050405020304" pitchFamily="18" charset="0"/>
              </a:rPr>
              <a:t>∈Z</a:t>
            </a:r>
            <a:r>
              <a:rPr lang="en-US" altLang="zh-CN" sz="2400" b="1" baseline="30000" dirty="0">
                <a:solidFill>
                  <a:schemeClr val="tx1"/>
                </a:solidFill>
                <a:latin typeface="Trebuchet MS" panose="020B0603020202020204" pitchFamily="34" charset="0"/>
                <a:ea typeface="+mn-ea"/>
                <a:cs typeface="Times New Roman" panose="02020603050405020304" pitchFamily="18" charset="0"/>
              </a:rPr>
              <a:t>+</a:t>
            </a:r>
          </a:p>
          <a:p>
            <a:pPr eaLnBrk="1" hangingPunct="1">
              <a:lnSpc>
                <a:spcPct val="110000"/>
              </a:lnSpc>
              <a:buFont typeface="Wingdings" panose="05000000000000000000" pitchFamily="2" charset="2"/>
              <a:buNone/>
            </a:pPr>
            <a:endParaRPr lang="en-US" altLang="zh-CN" sz="2400" b="1" baseline="30000" dirty="0">
              <a:solidFill>
                <a:schemeClr val="tx1"/>
              </a:solidFill>
              <a:latin typeface="Trebuchet MS" panose="020B0603020202020204" pitchFamily="34" charset="0"/>
              <a:ea typeface="+mn-ea"/>
              <a:cs typeface="Times New Roman" panose="02020603050405020304" pitchFamily="18" charset="0"/>
            </a:endParaRPr>
          </a:p>
          <a:p>
            <a:pPr marL="342900" indent="-342900" eaLnBrk="1" hangingPunct="1">
              <a:lnSpc>
                <a:spcPct val="110000"/>
              </a:lnSpc>
              <a:buClr>
                <a:srgbClr val="0B61FF"/>
              </a:buClr>
              <a:buSzPct val="80000"/>
              <a:buFont typeface="Wingdings" panose="05000000000000000000" pitchFamily="2" charset="2"/>
              <a:buChar char="n"/>
            </a:pPr>
            <a:r>
              <a:rPr lang="en-US" altLang="zh-CN" sz="2400" dirty="0">
                <a:solidFill>
                  <a:schemeClr val="tx1"/>
                </a:solidFill>
                <a:latin typeface="Trebuchet MS" panose="020B0603020202020204" pitchFamily="34" charset="0"/>
              </a:rPr>
              <a:t>In a </a:t>
            </a:r>
            <a:r>
              <a:rPr lang="en-US" altLang="zh-CN" sz="2400" b="1" dirty="0">
                <a:solidFill>
                  <a:schemeClr val="tx1"/>
                </a:solidFill>
                <a:latin typeface="Trebuchet MS" panose="020B0603020202020204" pitchFamily="34" charset="0"/>
              </a:rPr>
              <a:t>monoid </a:t>
            </a:r>
            <a:r>
              <a:rPr lang="en-US" altLang="zh-CN" sz="2400" b="1" i="1" dirty="0">
                <a:solidFill>
                  <a:schemeClr val="tx1"/>
                </a:solidFill>
                <a:latin typeface="Trebuchet MS" panose="020B0603020202020204" pitchFamily="34" charset="0"/>
                <a:ea typeface="+mn-ea"/>
                <a:cs typeface="Times New Roman" panose="02020603050405020304" pitchFamily="18" charset="0"/>
              </a:rPr>
              <a:t>V</a:t>
            </a:r>
            <a:r>
              <a:rPr lang="en-US" altLang="zh-CN" sz="2400" b="1" dirty="0">
                <a:solidFill>
                  <a:schemeClr val="tx1"/>
                </a:solidFill>
                <a:latin typeface="Trebuchet MS" panose="020B0603020202020204" pitchFamily="34" charset="0"/>
                <a:ea typeface="+mn-ea"/>
                <a:cs typeface="Times New Roman" panose="02020603050405020304" pitchFamily="18" charset="0"/>
              </a:rPr>
              <a:t>=&lt;</a:t>
            </a:r>
            <a:r>
              <a:rPr lang="en-US" altLang="zh-CN" sz="2400" b="1" i="1" dirty="0">
                <a:solidFill>
                  <a:schemeClr val="tx1"/>
                </a:solidFill>
                <a:latin typeface="Trebuchet MS" panose="020B0603020202020204" pitchFamily="34" charset="0"/>
                <a:ea typeface="+mn-ea"/>
                <a:cs typeface="Times New Roman" panose="02020603050405020304" pitchFamily="18" charset="0"/>
              </a:rPr>
              <a:t>S</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zh-CN"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e</a:t>
            </a:r>
            <a:r>
              <a:rPr lang="en-US" altLang="zh-CN" sz="2400" b="1" dirty="0">
                <a:solidFill>
                  <a:schemeClr val="tx1"/>
                </a:solidFill>
                <a:latin typeface="Trebuchet MS" panose="020B0603020202020204" pitchFamily="34" charset="0"/>
                <a:ea typeface="+mn-ea"/>
                <a:cs typeface="Times New Roman" panose="02020603050405020304" pitchFamily="18" charset="0"/>
              </a:rPr>
              <a:t>&gt;,</a:t>
            </a:r>
            <a:r>
              <a:rPr lang="en-US" altLang="zh-CN" sz="2400" dirty="0">
                <a:solidFill>
                  <a:schemeClr val="tx1"/>
                </a:solidFill>
                <a:latin typeface="Trebuchet MS" panose="020B0603020202020204" pitchFamily="34" charset="0"/>
              </a:rPr>
              <a:t> for any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x</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S</a:t>
            </a:r>
            <a:r>
              <a:rPr lang="en-US" altLang="zh-CN" sz="2400" b="1" i="1" dirty="0">
                <a:solidFill>
                  <a:schemeClr val="tx1"/>
                </a:solidFill>
                <a:latin typeface="Trebuchet MS" panose="020B0603020202020204" pitchFamily="34" charset="0"/>
                <a:ea typeface="+mn-ea"/>
                <a:cs typeface="Times New Roman" panose="02020603050405020304" pitchFamily="18" charset="0"/>
              </a:rPr>
              <a:t> </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dirty="0">
                <a:solidFill>
                  <a:schemeClr val="tx1"/>
                </a:solidFill>
                <a:latin typeface="Trebuchet MS" panose="020B0603020202020204" pitchFamily="34" charset="0"/>
              </a:rPr>
              <a:t> define </a:t>
            </a:r>
            <a:r>
              <a:rPr lang="en-US" altLang="zh-CN" sz="2400" b="1" dirty="0">
                <a:solidFill>
                  <a:schemeClr val="tx1"/>
                </a:solidFill>
                <a:latin typeface="Trebuchet MS" panose="020B0603020202020204" pitchFamily="34" charset="0"/>
                <a:ea typeface="+mn-ea"/>
                <a:cs typeface="Times New Roman" panose="02020603050405020304" pitchFamily="18" charset="0"/>
              </a:rPr>
              <a:t>:</a:t>
            </a:r>
            <a:endParaRPr lang="en-US" altLang="zh-CN" sz="2400" b="1" i="1" baseline="30000" dirty="0">
              <a:solidFill>
                <a:schemeClr val="tx1"/>
              </a:solidFill>
              <a:latin typeface="Trebuchet MS" panose="020B0603020202020204" pitchFamily="34" charset="0"/>
              <a:ea typeface="+mn-ea"/>
              <a:cs typeface="Times New Roman" panose="02020603050405020304" pitchFamily="18" charset="0"/>
            </a:endParaRPr>
          </a:p>
          <a:p>
            <a:pPr eaLnBrk="1" hangingPunct="1">
              <a:lnSpc>
                <a:spcPct val="110000"/>
              </a:lnSpc>
              <a:buFont typeface="Wingdings" panose="05000000000000000000" pitchFamily="2" charset="2"/>
              <a:buNone/>
            </a:pPr>
            <a:r>
              <a:rPr lang="en-US" altLang="zh-CN" sz="2400" b="1" i="1" dirty="0">
                <a:solidFill>
                  <a:schemeClr val="tx1"/>
                </a:solidFill>
                <a:latin typeface="Trebuchet MS" panose="020B0603020202020204" pitchFamily="34" charset="0"/>
                <a:ea typeface="+mn-ea"/>
                <a:cs typeface="Times New Roman" panose="02020603050405020304" pitchFamily="18" charset="0"/>
              </a:rPr>
              <a:t>        x</a:t>
            </a:r>
            <a:r>
              <a:rPr lang="en-US" altLang="zh-CN" sz="2400" b="1" baseline="30000" dirty="0">
                <a:solidFill>
                  <a:schemeClr val="tx1"/>
                </a:solidFill>
                <a:latin typeface="Trebuchet MS" panose="020B0603020202020204" pitchFamily="34" charset="0"/>
                <a:ea typeface="+mn-ea"/>
                <a:cs typeface="Times New Roman" panose="02020603050405020304" pitchFamily="18" charset="0"/>
              </a:rPr>
              <a:t>0</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e</a:t>
            </a:r>
            <a:r>
              <a:rPr lang="en-US" altLang="zh-CN" sz="2400" b="1" dirty="0">
                <a:solidFill>
                  <a:schemeClr val="tx1"/>
                </a:solidFill>
                <a:latin typeface="Trebuchet MS" panose="020B0603020202020204" pitchFamily="34" charset="0"/>
                <a:ea typeface="+mn-ea"/>
                <a:cs typeface="Times New Roman" panose="02020603050405020304" pitchFamily="18" charset="0"/>
              </a:rPr>
              <a:t>,</a:t>
            </a:r>
            <a:endParaRPr lang="zh-CN" altLang="zh-CN" sz="2400" b="1" dirty="0">
              <a:solidFill>
                <a:schemeClr val="tx1"/>
              </a:solidFill>
              <a:latin typeface="Trebuchet MS" panose="020B0603020202020204" pitchFamily="34" charset="0"/>
              <a:ea typeface="+mn-ea"/>
              <a:cs typeface="Times New Roman" panose="02020603050405020304" pitchFamily="18" charset="0"/>
            </a:endParaRPr>
          </a:p>
          <a:p>
            <a:pPr eaLnBrk="1" hangingPunct="1">
              <a:lnSpc>
                <a:spcPct val="110000"/>
              </a:lnSpc>
              <a:buFont typeface="Wingdings" panose="05000000000000000000" pitchFamily="2" charset="2"/>
              <a:buNone/>
            </a:pPr>
            <a:r>
              <a:rPr lang="en-US" altLang="zh-CN" sz="2400" b="1" i="1" dirty="0">
                <a:solidFill>
                  <a:schemeClr val="tx1"/>
                </a:solidFill>
                <a:latin typeface="Trebuchet MS" panose="020B0603020202020204" pitchFamily="34" charset="0"/>
                <a:ea typeface="+mn-ea"/>
                <a:cs typeface="Times New Roman" panose="02020603050405020304" pitchFamily="18" charset="0"/>
              </a:rPr>
              <a:t>        x</a:t>
            </a:r>
            <a:r>
              <a:rPr lang="en-US" altLang="zh-CN" sz="2400" b="1" i="1" baseline="30000" dirty="0">
                <a:solidFill>
                  <a:schemeClr val="tx1"/>
                </a:solidFill>
                <a:latin typeface="Trebuchet MS" panose="020B0603020202020204" pitchFamily="34" charset="0"/>
                <a:ea typeface="+mn-ea"/>
                <a:cs typeface="Times New Roman" panose="02020603050405020304" pitchFamily="18" charset="0"/>
              </a:rPr>
              <a:t>n</a:t>
            </a:r>
            <a:r>
              <a:rPr lang="en-US" altLang="zh-CN" sz="2400" b="1" baseline="30000" dirty="0">
                <a:solidFill>
                  <a:schemeClr val="tx1"/>
                </a:solidFill>
                <a:latin typeface="Trebuchet MS" panose="020B0603020202020204" pitchFamily="34" charset="0"/>
                <a:ea typeface="+mn-ea"/>
                <a:cs typeface="Times New Roman" panose="02020603050405020304" pitchFamily="18" charset="0"/>
              </a:rPr>
              <a:t>+1</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x</a:t>
            </a:r>
            <a:r>
              <a:rPr lang="en-US" altLang="zh-CN" sz="2400" b="1" i="1" baseline="30000" dirty="0" err="1">
                <a:solidFill>
                  <a:schemeClr val="tx1"/>
                </a:solidFill>
                <a:latin typeface="Trebuchet MS" panose="020B0603020202020204" pitchFamily="34" charset="0"/>
                <a:ea typeface="+mn-ea"/>
                <a:cs typeface="Times New Roman" panose="02020603050405020304" pitchFamily="18" charset="0"/>
              </a:rPr>
              <a:t>n</a:t>
            </a:r>
            <a:r>
              <a:rPr lang="zh-CN"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x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n</a:t>
            </a:r>
            <a:r>
              <a:rPr lang="en-US" altLang="zh-CN" sz="2400" b="1" dirty="0" err="1">
                <a:solidFill>
                  <a:schemeClr val="tx1"/>
                </a:solidFill>
                <a:latin typeface="Trebuchet MS" panose="020B0603020202020204" pitchFamily="34" charset="0"/>
                <a:ea typeface="+mn-ea"/>
                <a:cs typeface="Times New Roman" panose="02020603050405020304" pitchFamily="18" charset="0"/>
              </a:rPr>
              <a:t>∈N</a:t>
            </a:r>
            <a:endParaRPr lang="en-US" altLang="zh-CN" sz="2400" b="1" dirty="0">
              <a:solidFill>
                <a:schemeClr val="tx1"/>
              </a:solidFill>
              <a:latin typeface="Trebuchet MS" panose="020B0603020202020204" pitchFamily="34" charset="0"/>
              <a:ea typeface="+mn-ea"/>
              <a:cs typeface="Times New Roman" panose="02020603050405020304" pitchFamily="18" charset="0"/>
            </a:endParaRPr>
          </a:p>
          <a:p>
            <a:pPr marL="342900" indent="-342900" eaLnBrk="1" hangingPunct="1">
              <a:lnSpc>
                <a:spcPct val="110000"/>
              </a:lnSpc>
              <a:spcBef>
                <a:spcPts val="1200"/>
              </a:spcBef>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Power operation rules</a:t>
            </a:r>
            <a:r>
              <a:rPr lang="zh-CN" altLang="en-US" sz="2400" b="1" dirty="0">
                <a:solidFill>
                  <a:schemeClr val="tx1"/>
                </a:solidFill>
                <a:latin typeface="Trebuchet MS" panose="020B0603020202020204" pitchFamily="34" charset="0"/>
                <a:ea typeface="+mn-ea"/>
                <a:cs typeface="Times New Roman" panose="02020603050405020304" pitchFamily="18" charset="0"/>
              </a:rPr>
              <a:t>：</a:t>
            </a:r>
            <a:br>
              <a:rPr lang="zh-CN" altLang="en-US" sz="2400" b="1" dirty="0">
                <a:solidFill>
                  <a:schemeClr val="tx1"/>
                </a:solidFill>
                <a:latin typeface="Trebuchet MS" panose="020B0603020202020204" pitchFamily="34" charset="0"/>
                <a:ea typeface="+mn-ea"/>
                <a:cs typeface="Times New Roman" panose="02020603050405020304" pitchFamily="18" charset="0"/>
              </a:rPr>
            </a:br>
            <a:r>
              <a:rPr lang="zh-CN" altLang="en-US"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x</a:t>
            </a:r>
            <a:r>
              <a:rPr lang="en-US" altLang="zh-CN" sz="2400" b="1" i="1" baseline="30000" dirty="0" err="1">
                <a:solidFill>
                  <a:schemeClr val="tx1"/>
                </a:solidFill>
                <a:latin typeface="Trebuchet MS" panose="020B0603020202020204" pitchFamily="34" charset="0"/>
                <a:ea typeface="+mn-ea"/>
                <a:cs typeface="Times New Roman" panose="02020603050405020304" pitchFamily="18" charset="0"/>
              </a:rPr>
              <a:t>n</a:t>
            </a:r>
            <a:r>
              <a:rPr lang="en-US" altLang="zh-CN" sz="2400" b="1" i="1" baseline="30000" dirty="0">
                <a:solidFill>
                  <a:schemeClr val="tx1"/>
                </a:solidFill>
                <a:latin typeface="Trebuchet MS" panose="020B0603020202020204" pitchFamily="34" charset="0"/>
                <a:ea typeface="+mn-ea"/>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ea typeface="+mn-ea"/>
                <a:cs typeface="Times New Roman" panose="02020603050405020304" pitchFamily="18" charset="0"/>
                <a:sym typeface="Symbol" panose="05050102010706020507" pitchFamily="18" charset="2"/>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x</a:t>
            </a:r>
            <a:r>
              <a:rPr lang="en-US" altLang="zh-CN" sz="2400" b="1" i="1" baseline="30000" dirty="0" err="1">
                <a:solidFill>
                  <a:schemeClr val="tx1"/>
                </a:solidFill>
                <a:latin typeface="Trebuchet MS" panose="020B0603020202020204" pitchFamily="34" charset="0"/>
                <a:ea typeface="+mn-ea"/>
                <a:cs typeface="Times New Roman" panose="02020603050405020304" pitchFamily="18" charset="0"/>
              </a:rPr>
              <a:t>m</a:t>
            </a:r>
            <a:r>
              <a:rPr lang="en-US" altLang="zh-CN" sz="2400" b="1" i="1" baseline="30000" dirty="0">
                <a:solidFill>
                  <a:schemeClr val="tx1"/>
                </a:solidFill>
                <a:latin typeface="Trebuchet MS" panose="020B0603020202020204" pitchFamily="34" charset="0"/>
                <a:ea typeface="+mn-ea"/>
                <a:cs typeface="Times New Roman" panose="02020603050405020304" pitchFamily="18" charset="0"/>
              </a:rPr>
              <a:t> </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x</a:t>
            </a:r>
            <a:r>
              <a:rPr lang="en-US" altLang="zh-CN" sz="2400" b="1" i="1" baseline="30000" dirty="0" err="1">
                <a:solidFill>
                  <a:schemeClr val="tx1"/>
                </a:solidFill>
                <a:latin typeface="Trebuchet MS" panose="020B0603020202020204" pitchFamily="34" charset="0"/>
                <a:ea typeface="+mn-ea"/>
                <a:cs typeface="Times New Roman" panose="02020603050405020304" pitchFamily="18" charset="0"/>
              </a:rPr>
              <a:t>n</a:t>
            </a:r>
            <a:r>
              <a:rPr lang="en-US" altLang="zh-CN" sz="2400" b="1" baseline="30000"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baseline="30000" dirty="0" err="1">
                <a:solidFill>
                  <a:schemeClr val="tx1"/>
                </a:solidFill>
                <a:latin typeface="Trebuchet MS" panose="020B0603020202020204" pitchFamily="34" charset="0"/>
                <a:ea typeface="+mn-ea"/>
                <a:cs typeface="Times New Roman" panose="02020603050405020304" pitchFamily="18" charset="0"/>
              </a:rPr>
              <a:t>m</a:t>
            </a:r>
            <a:br>
              <a:rPr lang="en-US" altLang="zh-CN" sz="2400" b="1" dirty="0">
                <a:solidFill>
                  <a:schemeClr val="tx1"/>
                </a:solidFill>
                <a:latin typeface="Trebuchet MS" panose="020B0603020202020204" pitchFamily="34" charset="0"/>
                <a:ea typeface="+mn-ea"/>
                <a:cs typeface="Times New Roman" panose="02020603050405020304" pitchFamily="18" charset="0"/>
              </a:rPr>
            </a:b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x</a:t>
            </a:r>
            <a:r>
              <a:rPr lang="en-US" altLang="zh-CN" sz="2400" b="1" i="1" baseline="30000" dirty="0" err="1">
                <a:solidFill>
                  <a:schemeClr val="tx1"/>
                </a:solidFill>
                <a:latin typeface="Trebuchet MS" panose="020B0603020202020204" pitchFamily="34" charset="0"/>
                <a:ea typeface="+mn-ea"/>
                <a:cs typeface="Times New Roman" panose="02020603050405020304" pitchFamily="18" charset="0"/>
              </a:rPr>
              <a:t>n</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baseline="30000" dirty="0">
                <a:solidFill>
                  <a:schemeClr val="tx1"/>
                </a:solidFill>
                <a:latin typeface="Trebuchet MS" panose="020B0603020202020204" pitchFamily="34" charset="0"/>
                <a:ea typeface="+mn-ea"/>
                <a:cs typeface="Times New Roman" panose="02020603050405020304" pitchFamily="18" charset="0"/>
              </a:rPr>
              <a:t>m</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x</a:t>
            </a:r>
            <a:r>
              <a:rPr lang="en-US" altLang="zh-CN" sz="2400" b="1" i="1" baseline="30000" dirty="0" err="1">
                <a:solidFill>
                  <a:schemeClr val="tx1"/>
                </a:solidFill>
                <a:latin typeface="Trebuchet MS" panose="020B0603020202020204" pitchFamily="34" charset="0"/>
                <a:ea typeface="+mn-ea"/>
                <a:cs typeface="Times New Roman" panose="02020603050405020304" pitchFamily="18" charset="0"/>
              </a:rPr>
              <a:t>nm</a:t>
            </a:r>
            <a:r>
              <a:rPr lang="en-US" altLang="zh-CN" sz="2400" b="1" baseline="30000" dirty="0">
                <a:solidFill>
                  <a:schemeClr val="tx1"/>
                </a:solidFill>
                <a:latin typeface="Trebuchet MS" panose="020B0603020202020204" pitchFamily="34" charset="0"/>
                <a:ea typeface="+mn-ea"/>
                <a:cs typeface="Times New Roman" panose="02020603050405020304" pitchFamily="18" charset="0"/>
              </a:rPr>
              <a:t> </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m</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n</a:t>
            </a:r>
            <a:r>
              <a:rPr lang="en-US" altLang="zh-CN" sz="2400" b="1" dirty="0" err="1">
                <a:solidFill>
                  <a:schemeClr val="tx1"/>
                </a:solidFill>
                <a:latin typeface="Trebuchet MS" panose="020B0603020202020204" pitchFamily="34" charset="0"/>
                <a:ea typeface="+mn-ea"/>
                <a:cs typeface="Times New Roman" panose="02020603050405020304" pitchFamily="18" charset="0"/>
              </a:rPr>
              <a:t>∈Z</a:t>
            </a:r>
            <a:r>
              <a:rPr lang="en-US" altLang="zh-CN" sz="2400" b="1" baseline="30000" dirty="0">
                <a:solidFill>
                  <a:schemeClr val="tx1"/>
                </a:solidFill>
                <a:latin typeface="Trebuchet MS" panose="020B0603020202020204" pitchFamily="34" charset="0"/>
                <a:ea typeface="+mn-ea"/>
                <a:cs typeface="Times New Roman" panose="02020603050405020304" pitchFamily="18" charset="0"/>
              </a:rPr>
              <a:t>+</a:t>
            </a:r>
          </a:p>
          <a:p>
            <a:pPr marL="342900" indent="-342900" eaLnBrk="1" hangingPunct="1">
              <a:lnSpc>
                <a:spcPct val="110000"/>
              </a:lnSpc>
              <a:spcBef>
                <a:spcPts val="1200"/>
              </a:spcBef>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Proof method:</a:t>
            </a:r>
            <a:r>
              <a:rPr lang="en-US" altLang="zh-CN" sz="2400" dirty="0">
                <a:solidFill>
                  <a:schemeClr val="tx1"/>
                </a:solidFill>
                <a:latin typeface="Trebuchet MS" panose="020B0603020202020204" pitchFamily="34" charset="0"/>
              </a:rPr>
              <a:t> Mathematical induction.</a:t>
            </a:r>
          </a:p>
        </p:txBody>
      </p:sp>
    </p:spTree>
    <p:extLst>
      <p:ext uri="{BB962C8B-B14F-4D97-AF65-F5344CB8AC3E}">
        <p14:creationId xmlns:p14="http://schemas.microsoft.com/office/powerpoint/2010/main" val="865747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3" end="3"/>
                                            </p:txEl>
                                          </p:spTgt>
                                        </p:tgtEl>
                                        <p:attrNameLst>
                                          <p:attrName>style.visibility</p:attrName>
                                        </p:attrNameLst>
                                      </p:cBhvr>
                                      <p:to>
                                        <p:strVal val="visible"/>
                                      </p:to>
                                    </p:set>
                                    <p:animEffect transition="in" filter="fade">
                                      <p:cBhvr>
                                        <p:cTn id="12" dur="1000"/>
                                        <p:tgtEl>
                                          <p:spTgt spid="11">
                                            <p:txEl>
                                              <p:pRg st="3" end="3"/>
                                            </p:txEl>
                                          </p:spTgt>
                                        </p:tgtEl>
                                      </p:cBhvr>
                                    </p:animEffect>
                                    <p:anim calcmode="lin" valueType="num">
                                      <p:cBhvr>
                                        <p:cTn id="13"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animEffect transition="in" filter="fade">
                                      <p:cBhvr>
                                        <p:cTn id="17" dur="1000"/>
                                        <p:tgtEl>
                                          <p:spTgt spid="11">
                                            <p:txEl>
                                              <p:pRg st="4" end="4"/>
                                            </p:txEl>
                                          </p:spTgt>
                                        </p:tgtEl>
                                      </p:cBhvr>
                                    </p:animEffect>
                                    <p:anim calcmode="lin" valueType="num">
                                      <p:cBhvr>
                                        <p:cTn id="18"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1">
                                            <p:txEl>
                                              <p:pRg st="5" end="5"/>
                                            </p:txEl>
                                          </p:spTgt>
                                        </p:tgtEl>
                                        <p:attrNameLst>
                                          <p:attrName>style.visibility</p:attrName>
                                        </p:attrNameLst>
                                      </p:cBhvr>
                                      <p:to>
                                        <p:strVal val="visible"/>
                                      </p:to>
                                    </p:set>
                                    <p:animEffect transition="in" filter="fade">
                                      <p:cBhvr>
                                        <p:cTn id="24" dur="1000"/>
                                        <p:tgtEl>
                                          <p:spTgt spid="11">
                                            <p:txEl>
                                              <p:pRg st="5" end="5"/>
                                            </p:txEl>
                                          </p:spTgt>
                                        </p:tgtEl>
                                      </p:cBhvr>
                                    </p:animEffect>
                                    <p:anim calcmode="lin" valueType="num">
                                      <p:cBhvr>
                                        <p:cTn id="25"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animEffect transition="in" filter="fade">
                                      <p:cBhvr>
                                        <p:cTn id="31" dur="1000"/>
                                        <p:tgtEl>
                                          <p:spTgt spid="11">
                                            <p:txEl>
                                              <p:pRg st="6" end="6"/>
                                            </p:txEl>
                                          </p:spTgt>
                                        </p:tgtEl>
                                      </p:cBhvr>
                                    </p:animEffect>
                                    <p:anim calcmode="lin" valueType="num">
                                      <p:cBhvr>
                                        <p:cTn id="32"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9.3 Several Typical Algebraic Systems</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p:txBody>
      </p:sp>
      <p:sp>
        <p:nvSpPr>
          <p:cNvPr id="9" name="Rectangle 3">
            <a:extLst>
              <a:ext uri="{FF2B5EF4-FFF2-40B4-BE49-F238E27FC236}">
                <a16:creationId xmlns:a16="http://schemas.microsoft.com/office/drawing/2014/main" id="{DFB26965-CE5B-4DE7-9E7F-C771435C74C9}"/>
              </a:ext>
            </a:extLst>
          </p:cNvPr>
          <p:cNvSpPr txBox="1">
            <a:spLocks noChangeArrowheads="1"/>
          </p:cNvSpPr>
          <p:nvPr/>
        </p:nvSpPr>
        <p:spPr>
          <a:xfrm>
            <a:off x="2133599" y="1066801"/>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Clr>
                <a:srgbClr val="0B61FF"/>
              </a:buClr>
              <a:buSzPct val="80000"/>
              <a:buFont typeface="Wingdings" panose="05000000000000000000" pitchFamily="2" charset="2"/>
              <a:buChar char="n"/>
            </a:pPr>
            <a:r>
              <a:rPr lang="en-US" altLang="zh-CN" sz="2400" b="1" dirty="0">
                <a:solidFill>
                  <a:schemeClr val="bg2">
                    <a:lumMod val="75000"/>
                  </a:schemeClr>
                </a:solidFill>
                <a:latin typeface="Trebuchet MS" panose="020B0603020202020204" pitchFamily="34" charset="0"/>
              </a:rPr>
              <a:t>9.3.1 Semigroups and Idempotent Elements</a:t>
            </a:r>
          </a:p>
          <a:p>
            <a:pPr>
              <a:lnSpc>
                <a:spcPct val="130000"/>
              </a:lnSpc>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9.3.2 Groups</a:t>
            </a:r>
          </a:p>
          <a:p>
            <a:pPr>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9.3.3 Rings and Fields</a:t>
            </a:r>
          </a:p>
          <a:p>
            <a:pPr>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9.3.4 Lattices and Boolean Algebras</a:t>
            </a:r>
          </a:p>
        </p:txBody>
      </p:sp>
    </p:spTree>
    <p:extLst>
      <p:ext uri="{BB962C8B-B14F-4D97-AF65-F5344CB8AC3E}">
        <p14:creationId xmlns:p14="http://schemas.microsoft.com/office/powerpoint/2010/main" val="40218381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9.3.2 Groups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4" name="Rectangle 2">
            <a:extLst>
              <a:ext uri="{FF2B5EF4-FFF2-40B4-BE49-F238E27FC236}">
                <a16:creationId xmlns:a16="http://schemas.microsoft.com/office/drawing/2014/main" id="{63CF5D4C-EDFC-9883-F20C-C05A224AFD75}"/>
              </a:ext>
            </a:extLst>
          </p:cNvPr>
          <p:cNvSpPr>
            <a:spLocks noGrp="1" noChangeArrowheads="1"/>
          </p:cNvSpPr>
          <p:nvPr>
            <p:ph idx="1"/>
          </p:nvPr>
        </p:nvSpPr>
        <p:spPr bwMode="auto">
          <a:xfrm>
            <a:off x="1138238" y="957942"/>
            <a:ext cx="9193542" cy="4364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3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latin typeface="Trebuchet MS" panose="020B0603020202020204" pitchFamily="34" charset="0"/>
              </a:rPr>
              <a:t>Definition and Determination of Groups</a:t>
            </a:r>
          </a:p>
          <a:p>
            <a:pPr marR="0" lvl="0" algn="l" defTabSz="914400" rtl="0" eaLnBrk="0" fontAlgn="base" latinLnBrk="0" hangingPunct="0">
              <a:lnSpc>
                <a:spcPct val="13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latin typeface="Trebuchet MS" panose="020B0603020202020204" pitchFamily="34" charset="0"/>
              </a:rPr>
              <a:t>Klein Four-Group</a:t>
            </a:r>
          </a:p>
          <a:p>
            <a:pPr marR="0" lvl="0" algn="l" defTabSz="914400" rtl="0" eaLnBrk="0" fontAlgn="base" latinLnBrk="0" hangingPunct="0">
              <a:lnSpc>
                <a:spcPct val="13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latin typeface="Trebuchet MS" panose="020B0603020202020204" pitchFamily="34" charset="0"/>
              </a:rPr>
              <a:t>Commutative Groups (Abelian Groups)</a:t>
            </a:r>
          </a:p>
          <a:p>
            <a:pPr marR="0" lvl="0" algn="l" defTabSz="914400" rtl="0" eaLnBrk="0" fontAlgn="base" latinLnBrk="0" hangingPunct="0">
              <a:lnSpc>
                <a:spcPct val="13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latin typeface="Trebuchet MS" panose="020B0603020202020204" pitchFamily="34" charset="0"/>
              </a:rPr>
              <a:t>Infinite Groups, Finite Groups, Order of a Group</a:t>
            </a:r>
          </a:p>
          <a:p>
            <a:pPr marR="0" lvl="0" algn="l" defTabSz="914400" rtl="0" eaLnBrk="0" fontAlgn="base" latinLnBrk="0" hangingPunct="0">
              <a:lnSpc>
                <a:spcPct val="13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latin typeface="Trebuchet MS" panose="020B0603020202020204" pitchFamily="34" charset="0"/>
              </a:rPr>
              <a:t>Exponentiation in Groups, Order of Elements and Generators</a:t>
            </a:r>
          </a:p>
          <a:p>
            <a:pPr marR="0" lvl="0" algn="l" defTabSz="914400" rtl="0" eaLnBrk="0" fontAlgn="base" latinLnBrk="0" hangingPunct="0">
              <a:lnSpc>
                <a:spcPct val="13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latin typeface="Trebuchet MS" panose="020B0603020202020204" pitchFamily="34" charset="0"/>
              </a:rPr>
              <a:t>Group Equations</a:t>
            </a:r>
          </a:p>
          <a:p>
            <a:pPr marR="0" lvl="0" algn="l" defTabSz="914400" rtl="0" eaLnBrk="0" fontAlgn="base" latinLnBrk="0" hangingPunct="0">
              <a:lnSpc>
                <a:spcPct val="13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latin typeface="Trebuchet MS" panose="020B0603020202020204" pitchFamily="34" charset="0"/>
              </a:rPr>
              <a:t>Groups and Subgroups</a:t>
            </a:r>
          </a:p>
          <a:p>
            <a:pPr marR="0" lvl="0" algn="l" defTabSz="914400" rtl="0" eaLnBrk="0" fontAlgn="base" latinLnBrk="0" hangingPunct="0">
              <a:lnSpc>
                <a:spcPct val="13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latin typeface="Trebuchet MS" panose="020B0603020202020204" pitchFamily="34" charset="0"/>
              </a:rPr>
              <a:t>Generated Subgroups, Cyclic Groups</a:t>
            </a:r>
          </a:p>
          <a:p>
            <a:pPr marR="0" lvl="0" algn="l" defTabSz="914400" rtl="0" eaLnBrk="0" fontAlgn="base" latinLnBrk="0" hangingPunct="0">
              <a:lnSpc>
                <a:spcPct val="13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latin typeface="Trebuchet MS" panose="020B0603020202020204" pitchFamily="34" charset="0"/>
              </a:rPr>
              <a:t>Permutation Groups</a:t>
            </a:r>
          </a:p>
        </p:txBody>
      </p:sp>
    </p:spTree>
    <p:extLst>
      <p:ext uri="{BB962C8B-B14F-4D97-AF65-F5344CB8AC3E}">
        <p14:creationId xmlns:p14="http://schemas.microsoft.com/office/powerpoint/2010/main" val="11003858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Definition and Check of a Group</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Rectangle 3">
            <a:extLst>
              <a:ext uri="{FF2B5EF4-FFF2-40B4-BE49-F238E27FC236}">
                <a16:creationId xmlns:a16="http://schemas.microsoft.com/office/drawing/2014/main" id="{55E2ECB0-35D5-4B10-990F-A521E33F7D3E}"/>
              </a:ext>
            </a:extLst>
          </p:cNvPr>
          <p:cNvSpPr>
            <a:spLocks noGrp="1" noChangeArrowheads="1"/>
          </p:cNvSpPr>
          <p:nvPr>
            <p:ph idx="1"/>
          </p:nvPr>
        </p:nvSpPr>
        <p:spPr>
          <a:xfrm>
            <a:off x="950259" y="824440"/>
            <a:ext cx="10291482" cy="4960784"/>
          </a:xfrm>
        </p:spPr>
        <p:txBody>
          <a:bodyPr>
            <a:noAutofit/>
          </a:bodyPr>
          <a:lstStyle/>
          <a:p>
            <a:pPr>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Definition </a:t>
            </a:r>
            <a:r>
              <a:rPr lang="en-US" altLang="zh-CN" sz="2400" b="1" dirty="0">
                <a:latin typeface="Trebuchet MS" panose="020B0603020202020204" pitchFamily="34" charset="0"/>
                <a:cs typeface="Times New Roman" panose="02020603050405020304" pitchFamily="18" charset="0"/>
              </a:rPr>
              <a:t>9.14:  </a:t>
            </a:r>
            <a:r>
              <a:rPr lang="en-US" altLang="zh-CN" sz="2400" dirty="0">
                <a:latin typeface="Trebuchet MS" panose="020B0603020202020204" pitchFamily="34" charset="0"/>
              </a:rPr>
              <a:t>Let </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G</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&gt; </a:t>
            </a:r>
            <a:r>
              <a:rPr lang="en-US" altLang="zh-CN" sz="2400" dirty="0">
                <a:latin typeface="Trebuchet MS" panose="020B0603020202020204" pitchFamily="34" charset="0"/>
                <a:cs typeface="Times New Roman" panose="02020603050405020304" pitchFamily="18" charset="0"/>
              </a:rPr>
              <a:t>b</a:t>
            </a:r>
            <a:r>
              <a:rPr lang="en-US" altLang="zh-CN" sz="2400" dirty="0">
                <a:latin typeface="Trebuchet MS" panose="020B0603020202020204" pitchFamily="34" charset="0"/>
              </a:rPr>
              <a:t>e an algebraic system, where</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 is a binary operation. If the operation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is associative, there exists an identity element </a:t>
            </a:r>
            <a:r>
              <a:rPr lang="en-US" altLang="zh-CN" sz="2400" b="1" i="1" dirty="0" err="1">
                <a:latin typeface="Trebuchet MS" panose="020B0603020202020204" pitchFamily="34" charset="0"/>
                <a:cs typeface="Times New Roman" panose="02020603050405020304" pitchFamily="18" charset="0"/>
              </a:rPr>
              <a:t>e</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G</a:t>
            </a:r>
            <a:r>
              <a:rPr lang="en-US" altLang="zh-CN" sz="2400" dirty="0">
                <a:latin typeface="Trebuchet MS" panose="020B0603020202020204" pitchFamily="34" charset="0"/>
              </a:rPr>
              <a:t>, and for every element </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G</a:t>
            </a:r>
            <a:r>
              <a:rPr lang="en-US" altLang="zh-CN" sz="2400" dirty="0">
                <a:latin typeface="Trebuchet MS" panose="020B0603020202020204" pitchFamily="34" charset="0"/>
              </a:rPr>
              <a:t>, there exists an inverse element  </a:t>
            </a:r>
            <a:r>
              <a:rPr lang="en-US" altLang="zh-CN" sz="2400" b="1" i="1" dirty="0">
                <a:latin typeface="Trebuchet MS" panose="020B0603020202020204" pitchFamily="34" charset="0"/>
                <a:cs typeface="Times New Roman" panose="02020603050405020304" pitchFamily="18" charset="0"/>
              </a:rPr>
              <a:t>x</a:t>
            </a:r>
            <a:r>
              <a:rPr lang="en-US" altLang="zh-CN" sz="2400" b="1" i="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G</a:t>
            </a:r>
            <a:r>
              <a:rPr lang="en-US" altLang="zh-CN" sz="2400" dirty="0">
                <a:latin typeface="Trebuchet MS" panose="020B0603020202020204" pitchFamily="34" charset="0"/>
              </a:rPr>
              <a:t>, then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called a </a:t>
            </a:r>
            <a:r>
              <a:rPr lang="en-US" altLang="zh-CN" sz="2400" b="1" i="1" dirty="0">
                <a:solidFill>
                  <a:srgbClr val="0B61FF"/>
                </a:solidFill>
                <a:latin typeface="Trebuchet MS" panose="020B0603020202020204" pitchFamily="34" charset="0"/>
              </a:rPr>
              <a:t>group</a:t>
            </a:r>
            <a:r>
              <a:rPr lang="en-US" altLang="zh-CN" sz="2400" dirty="0">
                <a:latin typeface="Trebuchet MS" panose="020B0603020202020204" pitchFamily="34" charset="0"/>
              </a:rPr>
              <a:t>.</a:t>
            </a:r>
            <a:endParaRPr lang="en-US" altLang="zh-CN" sz="2400" b="1" dirty="0">
              <a:latin typeface="Trebuchet MS" panose="020B0603020202020204" pitchFamily="34" charset="0"/>
              <a:cs typeface="Times New Roman" panose="02020603050405020304" pitchFamily="18" charset="0"/>
            </a:endParaRPr>
          </a:p>
          <a:p>
            <a:pPr eaLnBrk="1" hangingPunct="1">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Note: </a:t>
            </a:r>
          </a:p>
          <a:p>
            <a:pPr marL="447675" indent="-179388" eaLnBrk="1" hangingPunct="1">
              <a:lnSpc>
                <a:spcPct val="120000"/>
              </a:lnSpc>
              <a:spcBef>
                <a:spcPts val="600"/>
              </a:spcBef>
              <a:buClr>
                <a:srgbClr val="0B61FF"/>
              </a:buClr>
              <a:buSzPct val="120000"/>
            </a:pPr>
            <a:r>
              <a:rPr lang="en-US" altLang="zh-CN" sz="2400" dirty="0">
                <a:latin typeface="Trebuchet MS" panose="020B0603020202020204" pitchFamily="34" charset="0"/>
              </a:rPr>
              <a:t>A group is essentially a monoid (a semigroup with identity) in which </a:t>
            </a:r>
            <a:r>
              <a:rPr lang="en-US" altLang="zh-CN" sz="2400" b="1" i="1" dirty="0">
                <a:solidFill>
                  <a:srgbClr val="0B61FF"/>
                </a:solidFill>
                <a:latin typeface="Trebuchet MS" panose="020B0603020202020204" pitchFamily="34" charset="0"/>
              </a:rPr>
              <a:t>every element has an inverse</a:t>
            </a:r>
            <a:r>
              <a:rPr lang="en-US" altLang="zh-CN" sz="2400" dirty="0">
                <a:latin typeface="Trebuchet MS" panose="020B0603020202020204" pitchFamily="34" charset="0"/>
              </a:rPr>
              <a:t>.</a:t>
            </a:r>
          </a:p>
          <a:p>
            <a:pPr marL="447675" indent="-179388" eaLnBrk="1" hangingPunct="1">
              <a:lnSpc>
                <a:spcPct val="120000"/>
              </a:lnSpc>
              <a:spcBef>
                <a:spcPts val="600"/>
              </a:spcBef>
              <a:buClr>
                <a:srgbClr val="0B61FF"/>
              </a:buClr>
              <a:buSzPct val="120000"/>
            </a:pPr>
            <a:r>
              <a:rPr lang="en-US" altLang="zh-CN" sz="2400" dirty="0">
                <a:latin typeface="Trebuchet MS" panose="020B0603020202020204" pitchFamily="34" charset="0"/>
              </a:rPr>
              <a:t>To verify that an algebraic system is a group, one must </a:t>
            </a:r>
            <a:r>
              <a:rPr lang="en-US" altLang="zh-CN" sz="2400" b="1" i="1" dirty="0">
                <a:solidFill>
                  <a:srgbClr val="0B61FF"/>
                </a:solidFill>
                <a:latin typeface="Trebuchet MS" panose="020B0603020202020204" pitchFamily="34" charset="0"/>
              </a:rPr>
              <a:t>check</a:t>
            </a:r>
            <a:r>
              <a:rPr lang="en-US" altLang="zh-CN" sz="2400" dirty="0">
                <a:latin typeface="Trebuchet MS" panose="020B0603020202020204" pitchFamily="34" charset="0"/>
              </a:rPr>
              <a:t>: ① </a:t>
            </a:r>
            <a:r>
              <a:rPr lang="en-US" altLang="zh-CN" sz="2400" b="1" dirty="0">
                <a:latin typeface="Trebuchet MS" panose="020B0603020202020204" pitchFamily="34" charset="0"/>
              </a:rPr>
              <a:t>Closure</a:t>
            </a:r>
            <a:r>
              <a:rPr lang="en-US" altLang="zh-CN" sz="2400" dirty="0">
                <a:latin typeface="Trebuchet MS" panose="020B0603020202020204" pitchFamily="34" charset="0"/>
              </a:rPr>
              <a:t>, ② </a:t>
            </a:r>
            <a:r>
              <a:rPr lang="en-US" altLang="zh-CN" sz="2400" b="1" dirty="0">
                <a:latin typeface="Trebuchet MS" panose="020B0603020202020204" pitchFamily="34" charset="0"/>
              </a:rPr>
              <a:t>Associativity</a:t>
            </a:r>
            <a:r>
              <a:rPr lang="en-US" altLang="zh-CN" sz="2400" dirty="0">
                <a:latin typeface="Trebuchet MS" panose="020B0603020202020204" pitchFamily="34" charset="0"/>
              </a:rPr>
              <a:t>,③ </a:t>
            </a:r>
            <a:r>
              <a:rPr lang="en-US" altLang="zh-CN" sz="2400" b="1" dirty="0">
                <a:latin typeface="Trebuchet MS" panose="020B0603020202020204" pitchFamily="34" charset="0"/>
              </a:rPr>
              <a:t>Existence of an identity element</a:t>
            </a:r>
            <a:r>
              <a:rPr lang="en-US" altLang="zh-CN" sz="2400" dirty="0">
                <a:latin typeface="Trebuchet MS" panose="020B0603020202020204" pitchFamily="34" charset="0"/>
              </a:rPr>
              <a:t>,④ </a:t>
            </a:r>
            <a:r>
              <a:rPr lang="en-US" altLang="zh-CN" sz="2400" b="1" dirty="0">
                <a:latin typeface="Trebuchet MS" panose="020B0603020202020204" pitchFamily="34" charset="0"/>
              </a:rPr>
              <a:t>Existence of inverses</a:t>
            </a:r>
            <a:r>
              <a:rPr lang="en-US" altLang="zh-CN" sz="2400" dirty="0">
                <a:latin typeface="Trebuchet MS" panose="020B0603020202020204" pitchFamily="34" charset="0"/>
              </a:rPr>
              <a:t>.</a:t>
            </a:r>
          </a:p>
          <a:p>
            <a:pPr eaLnBrk="1" hangingPunct="1">
              <a:lnSpc>
                <a:spcPct val="110000"/>
              </a:lnSpc>
              <a:buClr>
                <a:srgbClr val="0B61FF"/>
              </a:buClr>
              <a:buSzPct val="80000"/>
              <a:buFont typeface="Wingdings" panose="05000000000000000000" pitchFamily="2" charset="2"/>
              <a:buChar char="n"/>
            </a:pPr>
            <a:endParaRPr lang="en-US" altLang="zh-CN" sz="2400" dirty="0">
              <a:latin typeface="Trebuchet MS" panose="020B0603020202020204" pitchFamily="34" charset="0"/>
            </a:endParaRPr>
          </a:p>
          <a:p>
            <a:pPr marL="609600" indent="-609600" eaLnBrk="1" hangingPunct="1">
              <a:lnSpc>
                <a:spcPct val="100000"/>
              </a:lnSpc>
              <a:buFontTx/>
              <a:buNone/>
            </a:pPr>
            <a:endParaRPr lang="en-US" altLang="zh-C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6168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1000"/>
                                        <p:tgtEl>
                                          <p:spTgt spid="10">
                                            <p:txEl>
                                              <p:pRg st="2" end="2"/>
                                            </p:txEl>
                                          </p:spTgt>
                                        </p:tgtEl>
                                      </p:cBhvr>
                                    </p:animEffect>
                                    <p:anim calcmode="lin" valueType="num">
                                      <p:cBhvr>
                                        <p:cTn id="1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fade">
                                      <p:cBhvr>
                                        <p:cTn id="19" dur="1000"/>
                                        <p:tgtEl>
                                          <p:spTgt spid="10">
                                            <p:txEl>
                                              <p:pRg st="3" end="3"/>
                                            </p:txEl>
                                          </p:spTgt>
                                        </p:tgtEl>
                                      </p:cBhvr>
                                    </p:animEffect>
                                    <p:anim calcmode="lin" valueType="num">
                                      <p:cBhvr>
                                        <p:cTn id="2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Definition and Check of a Group(</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Rectangle 3">
            <a:extLst>
              <a:ext uri="{FF2B5EF4-FFF2-40B4-BE49-F238E27FC236}">
                <a16:creationId xmlns:a16="http://schemas.microsoft.com/office/drawing/2014/main" id="{55E2ECB0-35D5-4B10-990F-A521E33F7D3E}"/>
              </a:ext>
            </a:extLst>
          </p:cNvPr>
          <p:cNvSpPr>
            <a:spLocks noGrp="1" noChangeArrowheads="1"/>
          </p:cNvSpPr>
          <p:nvPr>
            <p:ph idx="1"/>
          </p:nvPr>
        </p:nvSpPr>
        <p:spPr>
          <a:xfrm>
            <a:off x="950259" y="824440"/>
            <a:ext cx="10022542" cy="4321301"/>
          </a:xfrm>
        </p:spPr>
        <p:txBody>
          <a:bodyPr>
            <a:noAutofit/>
          </a:bodyPr>
          <a:lstStyle/>
          <a:p>
            <a:pPr>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a:t>
            </a:r>
            <a:endParaRPr lang="zh-CN" altLang="en-US" sz="2400" b="1" dirty="0">
              <a:latin typeface="Trebuchet MS" panose="020B0603020202020204" pitchFamily="34" charset="0"/>
            </a:endParaRPr>
          </a:p>
          <a:p>
            <a:pPr marL="609600" indent="-609600">
              <a:lnSpc>
                <a:spcPct val="120000"/>
              </a:lnSpc>
              <a:spcBef>
                <a:spcPts val="600"/>
              </a:spcBef>
              <a:buFontTx/>
              <a:buNone/>
            </a:pPr>
            <a:r>
              <a:rPr lang="en-US" altLang="zh-CN" sz="2400" b="1" dirty="0">
                <a:latin typeface="Trebuchet MS" panose="020B0603020202020204" pitchFamily="34" charset="0"/>
                <a:cs typeface="Times New Roman" panose="02020603050405020304" pitchFamily="18" charset="0"/>
              </a:rPr>
              <a:t>(1) </a:t>
            </a:r>
            <a:r>
              <a:rPr lang="en-US" altLang="zh-CN" sz="2400" b="1" dirty="0">
                <a:solidFill>
                  <a:srgbClr val="FF0000"/>
                </a:solidFill>
                <a:latin typeface="Trebuchet MS" panose="020B0603020202020204" pitchFamily="34" charset="0"/>
                <a:cs typeface="Times New Roman" panose="02020603050405020304" pitchFamily="18" charset="0"/>
              </a:rPr>
              <a:t>&lt;Z,+&gt;</a:t>
            </a:r>
            <a:r>
              <a:rPr lang="en-US" altLang="zh-CN" sz="2400" b="1" dirty="0">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cs typeface="Times New Roman" panose="02020603050405020304" pitchFamily="18" charset="0"/>
              </a:rPr>
              <a:t>&lt;Q,+&gt;</a:t>
            </a:r>
            <a:r>
              <a:rPr lang="en-US" altLang="zh-CN" sz="2400" b="1" dirty="0">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cs typeface="Times New Roman" panose="02020603050405020304" pitchFamily="18" charset="0"/>
              </a:rPr>
              <a:t>&lt;R,+&gt;</a:t>
            </a:r>
            <a:r>
              <a:rPr lang="en-US" altLang="zh-CN" sz="2400" dirty="0">
                <a:solidFill>
                  <a:srgbClr val="FF0000"/>
                </a:solidFill>
                <a:latin typeface="Trebuchet MS" panose="020B0603020202020204" pitchFamily="34" charset="0"/>
              </a:rPr>
              <a:t> </a:t>
            </a:r>
            <a:r>
              <a:rPr lang="en-US" altLang="zh-CN" sz="2400" dirty="0">
                <a:latin typeface="Trebuchet MS" panose="020B0603020202020204" pitchFamily="34" charset="0"/>
              </a:rPr>
              <a:t>are all </a:t>
            </a:r>
            <a:r>
              <a:rPr lang="en-US" altLang="zh-CN" sz="2400" b="1" i="1" dirty="0">
                <a:solidFill>
                  <a:srgbClr val="0B61FF"/>
                </a:solidFill>
                <a:latin typeface="Trebuchet MS" panose="020B0603020202020204" pitchFamily="34" charset="0"/>
              </a:rPr>
              <a:t>groups</a:t>
            </a:r>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rPr>
              <a:t>&lt;Z</a:t>
            </a:r>
            <a:r>
              <a:rPr lang="en-US" altLang="zh-CN" sz="2400" b="1" baseline="30000" dirty="0">
                <a:solidFill>
                  <a:srgbClr val="FF0000"/>
                </a:solidFill>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cs typeface="Times New Roman" panose="02020603050405020304" pitchFamily="18" charset="0"/>
              </a:rPr>
              <a:t>,+&gt;</a:t>
            </a:r>
            <a:r>
              <a:rPr lang="zh-CN" altLang="en-US" sz="2400" b="1" dirty="0">
                <a:solidFill>
                  <a:srgbClr val="FF0000"/>
                </a:solidFill>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rPr>
              <a:t>&lt;N,+&gt;</a:t>
            </a:r>
            <a:r>
              <a:rPr lang="en-US" altLang="zh-CN" sz="2400" dirty="0">
                <a:solidFill>
                  <a:srgbClr val="FF0000"/>
                </a:solidFill>
                <a:latin typeface="Trebuchet MS" panose="020B0603020202020204" pitchFamily="34" charset="0"/>
              </a:rPr>
              <a:t> </a:t>
            </a:r>
            <a:r>
              <a:rPr lang="en-US" altLang="zh-CN" sz="2400" dirty="0">
                <a:latin typeface="Trebuchet MS" panose="020B0603020202020204" pitchFamily="34" charset="0"/>
              </a:rPr>
              <a:t>are </a:t>
            </a:r>
            <a:r>
              <a:rPr lang="en-US" altLang="zh-CN" sz="2400" b="1" i="1" dirty="0">
                <a:solidFill>
                  <a:srgbClr val="0B61FF"/>
                </a:solidFill>
                <a:latin typeface="Trebuchet MS" panose="020B0603020202020204" pitchFamily="34" charset="0"/>
              </a:rPr>
              <a:t>not groups</a:t>
            </a:r>
            <a:r>
              <a:rPr lang="en-US" altLang="zh-CN" sz="2400" dirty="0">
                <a:latin typeface="Trebuchet MS" panose="020B0603020202020204" pitchFamily="34" charset="0"/>
              </a:rPr>
              <a:t>.</a:t>
            </a:r>
            <a:r>
              <a:rPr lang="en-US" altLang="zh-CN" sz="2400" b="1" dirty="0">
                <a:latin typeface="Trebuchet MS" panose="020B0603020202020204" pitchFamily="34" charset="0"/>
                <a:cs typeface="Times New Roman" panose="02020603050405020304" pitchFamily="18" charset="0"/>
              </a:rPr>
              <a:t> </a:t>
            </a:r>
          </a:p>
          <a:p>
            <a:pPr marL="609600" indent="-609600">
              <a:lnSpc>
                <a:spcPct val="120000"/>
              </a:lnSpc>
              <a:spcBef>
                <a:spcPts val="600"/>
              </a:spcBef>
              <a:buFontTx/>
              <a:buNone/>
            </a:pPr>
            <a:r>
              <a:rPr lang="en-US" altLang="zh-CN" sz="2400" b="1" dirty="0">
                <a:latin typeface="Trebuchet MS" panose="020B0603020202020204" pitchFamily="34" charset="0"/>
                <a:cs typeface="Times New Roman" panose="02020603050405020304" pitchFamily="18" charset="0"/>
              </a:rPr>
              <a:t>(2) </a:t>
            </a:r>
            <a:r>
              <a:rPr lang="en-US" altLang="zh-CN" sz="2400" b="1" dirty="0">
                <a:solidFill>
                  <a:srgbClr val="FF0000"/>
                </a:solidFill>
                <a:latin typeface="Trebuchet MS" panose="020B0603020202020204" pitchFamily="34" charset="0"/>
                <a:cs typeface="Times New Roman" panose="02020603050405020304" pitchFamily="18" charset="0"/>
              </a:rPr>
              <a:t>&lt;</a:t>
            </a:r>
            <a:r>
              <a:rPr lang="en-US" altLang="zh-CN" sz="2400" b="1" i="1" dirty="0">
                <a:solidFill>
                  <a:srgbClr val="FF0000"/>
                </a:solidFill>
                <a:latin typeface="Trebuchet MS" panose="020B0603020202020204" pitchFamily="34" charset="0"/>
                <a:cs typeface="Times New Roman" panose="02020603050405020304" pitchFamily="18" charset="0"/>
              </a:rPr>
              <a:t>M</a:t>
            </a:r>
            <a:r>
              <a:rPr lang="en-US" altLang="zh-CN" sz="2400" b="1" i="1" baseline="-25000" dirty="0">
                <a:solidFill>
                  <a:srgbClr val="FF0000"/>
                </a:solidFill>
                <a:latin typeface="Trebuchet MS" panose="020B0603020202020204" pitchFamily="34" charset="0"/>
                <a:cs typeface="Times New Roman" panose="02020603050405020304" pitchFamily="18" charset="0"/>
              </a:rPr>
              <a:t>n</a:t>
            </a:r>
            <a:r>
              <a:rPr lang="en-US" altLang="zh-CN" sz="2400" b="1" dirty="0">
                <a:solidFill>
                  <a:srgbClr val="FF0000"/>
                </a:solidFill>
                <a:latin typeface="Trebuchet MS" panose="020B0603020202020204" pitchFamily="34" charset="0"/>
                <a:cs typeface="Times New Roman" panose="02020603050405020304" pitchFamily="18" charset="0"/>
              </a:rPr>
              <a:t>(R),+&gt;</a:t>
            </a:r>
            <a:r>
              <a:rPr lang="en-US" altLang="zh-CN" sz="2400" dirty="0">
                <a:solidFill>
                  <a:srgbClr val="FF0000"/>
                </a:solidFill>
                <a:latin typeface="Trebuchet MS" panose="020B0603020202020204" pitchFamily="34" charset="0"/>
              </a:rPr>
              <a:t> </a:t>
            </a:r>
            <a:r>
              <a:rPr lang="en-US" altLang="zh-CN" sz="2400" dirty="0">
                <a:latin typeface="Trebuchet MS" panose="020B0603020202020204" pitchFamily="34" charset="0"/>
              </a:rPr>
              <a:t>is a </a:t>
            </a:r>
            <a:r>
              <a:rPr lang="en-US" altLang="zh-CN" sz="2400" b="1" i="1" dirty="0">
                <a:solidFill>
                  <a:srgbClr val="0B61FF"/>
                </a:solidFill>
                <a:latin typeface="Trebuchet MS" panose="020B0603020202020204" pitchFamily="34" charset="0"/>
              </a:rPr>
              <a:t>group</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whereas </a:t>
            </a:r>
            <a:r>
              <a:rPr lang="en-US" altLang="zh-CN" sz="2400" b="1" dirty="0">
                <a:solidFill>
                  <a:srgbClr val="FF0000"/>
                </a:solidFill>
                <a:latin typeface="Trebuchet MS" panose="020B0603020202020204" pitchFamily="34" charset="0"/>
                <a:cs typeface="Times New Roman" panose="02020603050405020304" pitchFamily="18" charset="0"/>
              </a:rPr>
              <a:t>&lt;</a:t>
            </a:r>
            <a:r>
              <a:rPr lang="en-US" altLang="zh-CN" sz="2400" b="1" i="1" dirty="0">
                <a:solidFill>
                  <a:srgbClr val="FF0000"/>
                </a:solidFill>
                <a:latin typeface="Trebuchet MS" panose="020B0603020202020204" pitchFamily="34" charset="0"/>
                <a:cs typeface="Times New Roman" panose="02020603050405020304" pitchFamily="18" charset="0"/>
              </a:rPr>
              <a:t>M</a:t>
            </a:r>
            <a:r>
              <a:rPr lang="en-US" altLang="zh-CN" sz="2400" b="1" i="1" baseline="-25000" dirty="0">
                <a:solidFill>
                  <a:srgbClr val="FF0000"/>
                </a:solidFill>
                <a:latin typeface="Trebuchet MS" panose="020B0603020202020204" pitchFamily="34" charset="0"/>
                <a:cs typeface="Times New Roman" panose="02020603050405020304" pitchFamily="18" charset="0"/>
              </a:rPr>
              <a:t>n</a:t>
            </a:r>
            <a:r>
              <a:rPr lang="en-US" altLang="zh-CN" sz="2400" b="1" dirty="0">
                <a:solidFill>
                  <a:srgbClr val="FF0000"/>
                </a:solidFill>
                <a:latin typeface="Trebuchet MS" panose="020B0603020202020204" pitchFamily="34" charset="0"/>
                <a:cs typeface="Times New Roman" panose="02020603050405020304" pitchFamily="18" charset="0"/>
              </a:rPr>
              <a:t>(R),·&gt;</a:t>
            </a:r>
            <a:r>
              <a:rPr lang="en-US" altLang="zh-CN" sz="2400" dirty="0">
                <a:solidFill>
                  <a:srgbClr val="FF0000"/>
                </a:solidFill>
                <a:latin typeface="Trebuchet MS" panose="020B0603020202020204" pitchFamily="34" charset="0"/>
              </a:rPr>
              <a:t> </a:t>
            </a:r>
            <a:r>
              <a:rPr lang="en-US" altLang="zh-CN" sz="2400" dirty="0">
                <a:latin typeface="Trebuchet MS" panose="020B0603020202020204" pitchFamily="34" charset="0"/>
              </a:rPr>
              <a:t>is </a:t>
            </a:r>
            <a:r>
              <a:rPr lang="en-US" altLang="zh-CN" sz="2400" b="1" i="1" dirty="0">
                <a:solidFill>
                  <a:srgbClr val="0B61FF"/>
                </a:solidFill>
                <a:latin typeface="Trebuchet MS" panose="020B0603020202020204" pitchFamily="34" charset="0"/>
              </a:rPr>
              <a:t>not a group</a:t>
            </a:r>
            <a:r>
              <a:rPr lang="en-US" altLang="zh-CN" sz="2400" b="1" dirty="0">
                <a:latin typeface="Trebuchet MS" panose="020B0603020202020204" pitchFamily="34" charset="0"/>
                <a:cs typeface="Times New Roman" panose="02020603050405020304" pitchFamily="18" charset="0"/>
              </a:rPr>
              <a:t>. </a:t>
            </a:r>
          </a:p>
          <a:p>
            <a:pPr marL="609600" indent="-609600">
              <a:lnSpc>
                <a:spcPct val="120000"/>
              </a:lnSpc>
              <a:spcBef>
                <a:spcPts val="600"/>
              </a:spcBef>
              <a:buFontTx/>
              <a:buNone/>
            </a:pPr>
            <a:r>
              <a:rPr lang="en-US" altLang="zh-CN" sz="2400" b="1" dirty="0">
                <a:latin typeface="Trebuchet MS" panose="020B0603020202020204" pitchFamily="34" charset="0"/>
                <a:cs typeface="Times New Roman" panose="02020603050405020304" pitchFamily="18" charset="0"/>
              </a:rPr>
              <a:t>(3) </a:t>
            </a:r>
            <a:r>
              <a:rPr lang="en-US" altLang="zh-CN" sz="2400" b="1" dirty="0">
                <a:solidFill>
                  <a:srgbClr val="FF0000"/>
                </a:solidFill>
                <a:latin typeface="Trebuchet MS" panose="020B0603020202020204" pitchFamily="34" charset="0"/>
                <a:cs typeface="Times New Roman" panose="02020603050405020304" pitchFamily="18" charset="0"/>
              </a:rPr>
              <a:t>&lt;</a:t>
            </a:r>
            <a:r>
              <a:rPr lang="en-US" altLang="zh-CN" sz="2400" b="1" i="1" dirty="0">
                <a:solidFill>
                  <a:srgbClr val="FF0000"/>
                </a:solidFill>
                <a:latin typeface="Trebuchet MS" panose="020B0603020202020204" pitchFamily="34" charset="0"/>
                <a:cs typeface="Times New Roman" panose="02020603050405020304" pitchFamily="18" charset="0"/>
              </a:rPr>
              <a:t>P</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rPr>
              <a:t>B</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rgbClr val="FF0000"/>
                </a:solidFill>
                <a:latin typeface="Trebuchet MS" panose="020B0603020202020204" pitchFamily="34" charset="0"/>
                <a:cs typeface="Times New Roman" panose="02020603050405020304" pitchFamily="18" charset="0"/>
              </a:rPr>
              <a:t>&gt;</a:t>
            </a:r>
            <a:r>
              <a:rPr lang="en-US" altLang="zh-CN" sz="2400" dirty="0">
                <a:solidFill>
                  <a:srgbClr val="FF0000"/>
                </a:solidFill>
                <a:latin typeface="Trebuchet MS" panose="020B0603020202020204" pitchFamily="34" charset="0"/>
              </a:rPr>
              <a:t> </a:t>
            </a:r>
            <a:r>
              <a:rPr lang="en-US" altLang="zh-CN" sz="2400" dirty="0">
                <a:latin typeface="Trebuchet MS" panose="020B0603020202020204" pitchFamily="34" charset="0"/>
              </a:rPr>
              <a:t>is a </a:t>
            </a:r>
            <a:r>
              <a:rPr lang="en-US" altLang="zh-CN" sz="2400" b="1" i="1" dirty="0">
                <a:solidFill>
                  <a:srgbClr val="0B61FF"/>
                </a:solidFill>
                <a:latin typeface="Trebuchet MS" panose="020B0603020202020204" pitchFamily="34" charset="0"/>
              </a:rPr>
              <a:t>group</a:t>
            </a:r>
            <a:r>
              <a:rPr lang="en-US" altLang="zh-CN" sz="2400" dirty="0">
                <a:latin typeface="Trebuchet MS" panose="020B0603020202020204" pitchFamily="34" charset="0"/>
              </a:rPr>
              <a:t>, where </a:t>
            </a:r>
            <a:r>
              <a:rPr lang="en-US" altLang="zh-CN" sz="2400" b="1" dirty="0">
                <a:latin typeface="Trebuchet MS" panose="020B0603020202020204" pitchFamily="34" charset="0"/>
              </a:rPr>
              <a:t>⊕</a:t>
            </a:r>
            <a:r>
              <a:rPr lang="en-US" altLang="zh-CN" sz="2400" dirty="0">
                <a:latin typeface="Trebuchet MS" panose="020B0603020202020204" pitchFamily="34" charset="0"/>
              </a:rPr>
              <a:t> denotes the symmetric difference operation.</a:t>
            </a:r>
            <a:r>
              <a:rPr lang="en-US" altLang="zh-CN" sz="2400" b="1" dirty="0">
                <a:latin typeface="Trebuchet MS" panose="020B0603020202020204" pitchFamily="34" charset="0"/>
                <a:cs typeface="Times New Roman" panose="02020603050405020304" pitchFamily="18" charset="0"/>
              </a:rPr>
              <a:t> </a:t>
            </a:r>
          </a:p>
          <a:p>
            <a:pPr marL="609600" indent="-609600">
              <a:lnSpc>
                <a:spcPct val="120000"/>
              </a:lnSpc>
              <a:spcBef>
                <a:spcPts val="600"/>
              </a:spcBef>
              <a:buFontTx/>
              <a:buNone/>
            </a:pPr>
            <a:r>
              <a:rPr lang="en-US" altLang="zh-CN" sz="2400" b="1" dirty="0">
                <a:latin typeface="Trebuchet MS" panose="020B0603020202020204" pitchFamily="34" charset="0"/>
                <a:cs typeface="Times New Roman" panose="02020603050405020304" pitchFamily="18" charset="0"/>
              </a:rPr>
              <a:t>(4) </a:t>
            </a:r>
            <a:r>
              <a:rPr lang="en-US" altLang="zh-CN" sz="2400" b="1" dirty="0">
                <a:solidFill>
                  <a:srgbClr val="FF0000"/>
                </a:solidFill>
                <a:latin typeface="Trebuchet MS" panose="020B0603020202020204" pitchFamily="34" charset="0"/>
                <a:cs typeface="Times New Roman" panose="02020603050405020304" pitchFamily="18" charset="0"/>
              </a:rPr>
              <a:t>&lt;</a:t>
            </a:r>
            <a:r>
              <a:rPr lang="en-US" altLang="zh-CN" sz="2400" b="1" i="1" dirty="0">
                <a:solidFill>
                  <a:srgbClr val="FF0000"/>
                </a:solidFill>
                <a:latin typeface="Trebuchet MS" panose="020B0603020202020204" pitchFamily="34" charset="0"/>
                <a:cs typeface="Times New Roman" panose="02020603050405020304" pitchFamily="18" charset="0"/>
              </a:rPr>
              <a:t>Z</a:t>
            </a:r>
            <a:r>
              <a:rPr lang="en-US" altLang="zh-CN" sz="2400" b="1" i="1" baseline="-25000" dirty="0">
                <a:solidFill>
                  <a:srgbClr val="FF0000"/>
                </a:solidFill>
                <a:latin typeface="Trebuchet MS" panose="020B0603020202020204" pitchFamily="34" charset="0"/>
                <a:cs typeface="Times New Roman" panose="02020603050405020304" pitchFamily="18" charset="0"/>
              </a:rPr>
              <a:t>n</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rgbClr val="FF0000"/>
                </a:solidFill>
                <a:latin typeface="Trebuchet MS" panose="020B0603020202020204" pitchFamily="34" charset="0"/>
                <a:cs typeface="Times New Roman" panose="02020603050405020304" pitchFamily="18" charset="0"/>
              </a:rPr>
              <a:t>&gt;</a:t>
            </a:r>
            <a:r>
              <a:rPr lang="en-US" altLang="zh-CN" sz="2400" b="1" dirty="0">
                <a:solidFill>
                  <a:srgbClr val="FF0000"/>
                </a:solidFill>
                <a:latin typeface="Trebuchet MS" panose="020B0603020202020204" pitchFamily="34" charset="0"/>
              </a:rPr>
              <a:t> </a:t>
            </a:r>
            <a:r>
              <a:rPr lang="en-US" altLang="zh-CN" sz="2400" dirty="0">
                <a:latin typeface="Trebuchet MS" panose="020B0603020202020204" pitchFamily="34" charset="0"/>
              </a:rPr>
              <a:t>is a </a:t>
            </a:r>
            <a:r>
              <a:rPr lang="en-US" altLang="zh-CN" sz="2400" b="1" i="1" dirty="0">
                <a:solidFill>
                  <a:srgbClr val="0B61FF"/>
                </a:solidFill>
                <a:latin typeface="Trebuchet MS" panose="020B0603020202020204" pitchFamily="34" charset="0"/>
              </a:rPr>
              <a:t>group</a:t>
            </a:r>
            <a:r>
              <a:rPr lang="en-US" altLang="zh-CN" sz="2400" dirty="0">
                <a:latin typeface="Trebuchet MS" panose="020B0603020202020204" pitchFamily="34" charset="0"/>
              </a:rPr>
              <a:t>, where </a:t>
            </a:r>
            <a:r>
              <a:rPr lang="en-US" altLang="zh-CN" sz="2400" b="1" i="1" dirty="0">
                <a:latin typeface="Trebuchet MS" panose="020B0603020202020204" pitchFamily="34" charset="0"/>
                <a:cs typeface="Times New Roman" panose="02020603050405020304" pitchFamily="18" charset="0"/>
              </a:rPr>
              <a:t>Z</a:t>
            </a:r>
            <a:r>
              <a:rPr lang="en-US" altLang="zh-CN" sz="2400" b="1" i="1" baseline="-25000"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rPr>
              <a:t>={ 0,1, …, </a:t>
            </a:r>
            <a:r>
              <a:rPr lang="en-US" altLang="zh-CN" sz="2400" b="1" i="1"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a:t>
            </a:r>
            <a:r>
              <a:rPr lang="zh-CN" altLang="en-US"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rPr>
              <a:t> denotes addition modulo </a:t>
            </a:r>
            <a:r>
              <a:rPr lang="en-US" altLang="zh-CN" sz="2400" b="1" i="1" dirty="0">
                <a:latin typeface="Trebuchet MS" panose="020B0603020202020204" pitchFamily="34" charset="0"/>
              </a:rPr>
              <a:t>n</a:t>
            </a:r>
            <a:r>
              <a:rPr lang="en-US" altLang="zh-CN" sz="2400" dirty="0">
                <a:latin typeface="Trebuchet MS" panose="020B0603020202020204" pitchFamily="34" charset="0"/>
              </a:rPr>
              <a:t>.</a:t>
            </a:r>
            <a:endParaRPr lang="en-US" altLang="zh-CN" sz="2400" b="1" dirty="0">
              <a:latin typeface="Trebuchet MS" panose="020B0603020202020204" pitchFamily="34" charset="0"/>
              <a:cs typeface="Times New Roman" panose="02020603050405020304" pitchFamily="18" charset="0"/>
            </a:endParaRPr>
          </a:p>
          <a:p>
            <a:pPr eaLnBrk="1" hangingPunct="1">
              <a:lnSpc>
                <a:spcPct val="110000"/>
              </a:lnSpc>
              <a:buClr>
                <a:srgbClr val="0B61FF"/>
              </a:buClr>
              <a:buSzPct val="80000"/>
              <a:buFont typeface="Wingdings" panose="05000000000000000000" pitchFamily="2" charset="2"/>
              <a:buChar char="n"/>
            </a:pPr>
            <a:endParaRPr lang="en-US" altLang="zh-CN" sz="2400" dirty="0">
              <a:latin typeface="Trebuchet MS" panose="020B0603020202020204" pitchFamily="34" charset="0"/>
            </a:endParaRPr>
          </a:p>
          <a:p>
            <a:pPr marL="609600" indent="-609600" eaLnBrk="1" hangingPunct="1">
              <a:lnSpc>
                <a:spcPct val="100000"/>
              </a:lnSpc>
              <a:buFontTx/>
              <a:buNone/>
            </a:pPr>
            <a:endParaRPr lang="en-US" altLang="zh-C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21459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1000"/>
                                        <p:tgtEl>
                                          <p:spTgt spid="10">
                                            <p:txEl>
                                              <p:pRg st="2" end="2"/>
                                            </p:txEl>
                                          </p:spTgt>
                                        </p:tgtEl>
                                      </p:cBhvr>
                                    </p:animEffect>
                                    <p:anim calcmode="lin" valueType="num">
                                      <p:cBhvr>
                                        <p:cTn id="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3" end="3"/>
                                            </p:txEl>
                                          </p:spTgt>
                                        </p:tgtEl>
                                        <p:attrNameLst>
                                          <p:attrName>style.visibility</p:attrName>
                                        </p:attrNameLst>
                                      </p:cBhvr>
                                      <p:to>
                                        <p:strVal val="visible"/>
                                      </p:to>
                                    </p:set>
                                    <p:animEffect transition="in" filter="fade">
                                      <p:cBhvr>
                                        <p:cTn id="14" dur="1000"/>
                                        <p:tgtEl>
                                          <p:spTgt spid="10">
                                            <p:txEl>
                                              <p:pRg st="3" end="3"/>
                                            </p:txEl>
                                          </p:spTgt>
                                        </p:tgtEl>
                                      </p:cBhvr>
                                    </p:animEffect>
                                    <p:anim calcmode="lin" valueType="num">
                                      <p:cBhvr>
                                        <p:cTn id="15"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fade">
                                      <p:cBhvr>
                                        <p:cTn id="21" dur="1000"/>
                                        <p:tgtEl>
                                          <p:spTgt spid="10">
                                            <p:txEl>
                                              <p:pRg st="4" end="4"/>
                                            </p:txEl>
                                          </p:spTgt>
                                        </p:tgtEl>
                                      </p:cBhvr>
                                    </p:animEffect>
                                    <p:anim calcmode="lin" valueType="num">
                                      <p:cBhvr>
                                        <p:cTn id="22"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Group Identification</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84908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graphicFrame>
        <p:nvGraphicFramePr>
          <p:cNvPr id="5" name="表格 5">
            <a:extLst>
              <a:ext uri="{FF2B5EF4-FFF2-40B4-BE49-F238E27FC236}">
                <a16:creationId xmlns:a16="http://schemas.microsoft.com/office/drawing/2014/main" id="{DDEA8AA8-8543-4469-990F-86764ABF7DC3}"/>
              </a:ext>
            </a:extLst>
          </p:cNvPr>
          <p:cNvGraphicFramePr>
            <a:graphicFrameLocks noGrp="1"/>
          </p:cNvGraphicFramePr>
          <p:nvPr>
            <p:extLst>
              <p:ext uri="{D42A27DB-BD31-4B8C-83A1-F6EECF244321}">
                <p14:modId xmlns:p14="http://schemas.microsoft.com/office/powerpoint/2010/main" val="3213714658"/>
              </p:ext>
            </p:extLst>
          </p:nvPr>
        </p:nvGraphicFramePr>
        <p:xfrm>
          <a:off x="-143691" y="859337"/>
          <a:ext cx="12335692" cy="5255712"/>
        </p:xfrm>
        <a:graphic>
          <a:graphicData uri="http://schemas.openxmlformats.org/drawingml/2006/table">
            <a:tbl>
              <a:tblPr firstRow="1" bandRow="1">
                <a:tableStyleId>{C4B1156A-380E-4F78-BDF5-A606A8083BF9}</a:tableStyleId>
              </a:tblPr>
              <a:tblGrid>
                <a:gridCol w="623429">
                  <a:extLst>
                    <a:ext uri="{9D8B030D-6E8A-4147-A177-3AD203B41FA5}">
                      <a16:colId xmlns:a16="http://schemas.microsoft.com/office/drawing/2014/main" val="744404884"/>
                    </a:ext>
                  </a:extLst>
                </a:gridCol>
                <a:gridCol w="1868851">
                  <a:extLst>
                    <a:ext uri="{9D8B030D-6E8A-4147-A177-3AD203B41FA5}">
                      <a16:colId xmlns:a16="http://schemas.microsoft.com/office/drawing/2014/main" val="3872533232"/>
                    </a:ext>
                  </a:extLst>
                </a:gridCol>
                <a:gridCol w="1306764">
                  <a:extLst>
                    <a:ext uri="{9D8B030D-6E8A-4147-A177-3AD203B41FA5}">
                      <a16:colId xmlns:a16="http://schemas.microsoft.com/office/drawing/2014/main" val="540718448"/>
                    </a:ext>
                  </a:extLst>
                </a:gridCol>
                <a:gridCol w="1306764">
                  <a:extLst>
                    <a:ext uri="{9D8B030D-6E8A-4147-A177-3AD203B41FA5}">
                      <a16:colId xmlns:a16="http://schemas.microsoft.com/office/drawing/2014/main" val="3918369110"/>
                    </a:ext>
                  </a:extLst>
                </a:gridCol>
                <a:gridCol w="1481898">
                  <a:extLst>
                    <a:ext uri="{9D8B030D-6E8A-4147-A177-3AD203B41FA5}">
                      <a16:colId xmlns:a16="http://schemas.microsoft.com/office/drawing/2014/main" val="3283620474"/>
                    </a:ext>
                  </a:extLst>
                </a:gridCol>
                <a:gridCol w="4674709">
                  <a:extLst>
                    <a:ext uri="{9D8B030D-6E8A-4147-A177-3AD203B41FA5}">
                      <a16:colId xmlns:a16="http://schemas.microsoft.com/office/drawing/2014/main" val="813778523"/>
                    </a:ext>
                  </a:extLst>
                </a:gridCol>
                <a:gridCol w="1073277">
                  <a:extLst>
                    <a:ext uri="{9D8B030D-6E8A-4147-A177-3AD203B41FA5}">
                      <a16:colId xmlns:a16="http://schemas.microsoft.com/office/drawing/2014/main" val="4227325866"/>
                    </a:ext>
                  </a:extLst>
                </a:gridCol>
              </a:tblGrid>
              <a:tr h="648740">
                <a:tc>
                  <a:txBody>
                    <a:bodyPr/>
                    <a:lstStyle/>
                    <a:p>
                      <a:pPr indent="127000" algn="l"/>
                      <a:r>
                        <a:rPr lang="en-US" sz="2000" b="1" kern="100" dirty="0">
                          <a:effectLst/>
                          <a:latin typeface="+mn-ea"/>
                          <a:ea typeface="+mn-ea"/>
                          <a:cs typeface="Times New Roman" panose="02020603050405020304" pitchFamily="18" charset="0"/>
                        </a:rPr>
                        <a:t> </a:t>
                      </a:r>
                      <a:endParaRPr lang="zh-CN" sz="2000" kern="100" dirty="0">
                        <a:effectLst/>
                        <a:latin typeface="+mn-ea"/>
                        <a:ea typeface="+mn-ea"/>
                        <a:cs typeface="Times New Roman" panose="02020603050405020304" pitchFamily="18" charset="0"/>
                      </a:endParaRPr>
                    </a:p>
                  </a:txBody>
                  <a:tcPr marL="68580" marR="68580" marT="0" marB="0" anchor="ctr"/>
                </a:tc>
                <a:tc>
                  <a:txBody>
                    <a:bodyPr/>
                    <a:lstStyle/>
                    <a:p>
                      <a:pPr marL="0" marR="0" lvl="0" indent="127000" algn="ctr" defTabSz="914400" rtl="0" eaLnBrk="1" fontAlgn="auto" latinLnBrk="0" hangingPunct="1">
                        <a:lnSpc>
                          <a:spcPct val="100000"/>
                        </a:lnSpc>
                        <a:spcBef>
                          <a:spcPts val="0"/>
                        </a:spcBef>
                        <a:spcAft>
                          <a:spcPts val="0"/>
                        </a:spcAft>
                        <a:buClrTx/>
                        <a:buSzTx/>
                        <a:buFontTx/>
                        <a:buNone/>
                        <a:tabLst/>
                        <a:defRPr/>
                      </a:pPr>
                      <a:r>
                        <a:rPr lang="en-US" altLang="zh-CN" sz="2000" b="1" dirty="0"/>
                        <a:t>Algebraic System</a:t>
                      </a:r>
                      <a:endParaRPr lang="en-US" altLang="zh-CN" sz="2000" dirty="0"/>
                    </a:p>
                  </a:txBody>
                  <a:tcPr marL="68580" marR="68580" marT="0" marB="0" anchor="ctr"/>
                </a:tc>
                <a:tc>
                  <a:txBody>
                    <a:bodyPr/>
                    <a:lstStyle/>
                    <a:p>
                      <a:pPr marL="0" indent="0" algn="ctr"/>
                      <a:r>
                        <a:rPr lang="en-US" altLang="zh-CN" sz="2000" dirty="0"/>
                        <a:t>Closure</a:t>
                      </a:r>
                      <a:endParaRPr lang="zh-CN" sz="2000" kern="100" dirty="0">
                        <a:solidFill>
                          <a:srgbClr val="00B0F0"/>
                        </a:solidFill>
                        <a:effectLst/>
                        <a:latin typeface="+mn-ea"/>
                        <a:ea typeface="+mn-ea"/>
                        <a:cs typeface="Times New Roman" panose="02020603050405020304" pitchFamily="18" charset="0"/>
                      </a:endParaRPr>
                    </a:p>
                  </a:txBody>
                  <a:tcPr marL="68580" marR="68580" marT="0" marB="0" anchor="ctr"/>
                </a:tc>
                <a:tc>
                  <a:txBody>
                    <a:bodyPr/>
                    <a:lstStyle/>
                    <a:p>
                      <a:pPr marL="0" indent="0" algn="ctr"/>
                      <a:r>
                        <a:rPr lang="en-US" altLang="zh-CN" sz="2000" dirty="0"/>
                        <a:t>Associativity</a:t>
                      </a:r>
                      <a:endParaRPr lang="zh-CN" sz="2000" kern="100" dirty="0">
                        <a:solidFill>
                          <a:srgbClr val="00B0F0"/>
                        </a:solidFill>
                        <a:effectLst/>
                        <a:latin typeface="+mn-ea"/>
                        <a:ea typeface="+mn-ea"/>
                        <a:cs typeface="Times New Roman" panose="02020603050405020304" pitchFamily="18" charset="0"/>
                      </a:endParaRPr>
                    </a:p>
                  </a:txBody>
                  <a:tcPr marL="68580" marR="68580" marT="0" marB="0" anchor="ctr"/>
                </a:tc>
                <a:tc>
                  <a:txBody>
                    <a:bodyPr/>
                    <a:lstStyle/>
                    <a:p>
                      <a:pPr algn="ctr"/>
                      <a:r>
                        <a:rPr lang="en-US" altLang="zh-CN" sz="2000" b="1" dirty="0"/>
                        <a:t>Identity Element</a:t>
                      </a:r>
                      <a:endParaRPr lang="en-US" altLang="zh-CN" sz="2000" dirty="0"/>
                    </a:p>
                  </a:txBody>
                  <a:tcPr marL="68580" marR="68580" marT="0" marB="0" anchor="ctr"/>
                </a:tc>
                <a:tc>
                  <a:txBody>
                    <a:bodyPr/>
                    <a:lstStyle/>
                    <a:p>
                      <a:pPr marL="0" marR="0" lvl="0" indent="127000" algn="ctr" defTabSz="914400" rtl="0" eaLnBrk="1" fontAlgn="auto" latinLnBrk="0" hangingPunct="1">
                        <a:lnSpc>
                          <a:spcPct val="100000"/>
                        </a:lnSpc>
                        <a:spcBef>
                          <a:spcPts val="0"/>
                        </a:spcBef>
                        <a:spcAft>
                          <a:spcPts val="0"/>
                        </a:spcAft>
                        <a:buClrTx/>
                        <a:buSzTx/>
                        <a:buFontTx/>
                        <a:buNone/>
                        <a:tabLst/>
                        <a:defRPr/>
                      </a:pPr>
                      <a:r>
                        <a:rPr lang="en-US" altLang="zh-CN" sz="2000" b="1" dirty="0"/>
                        <a:t>Inverse Element</a:t>
                      </a:r>
                      <a:endParaRPr lang="en-US" altLang="zh-CN" sz="2000" dirty="0"/>
                    </a:p>
                  </a:txBody>
                  <a:tcPr marL="68580" marR="68580" marT="0" marB="0" anchor="ctr"/>
                </a:tc>
                <a:tc>
                  <a:txBody>
                    <a:bodyPr/>
                    <a:lstStyle/>
                    <a:p>
                      <a:pPr indent="127000" algn="ctr"/>
                      <a:r>
                        <a:rPr lang="en-US" altLang="zh-CN" sz="2000" dirty="0"/>
                        <a:t>Group</a:t>
                      </a:r>
                      <a:r>
                        <a:rPr lang="en-US" sz="2000" b="1" kern="100" dirty="0">
                          <a:solidFill>
                            <a:srgbClr val="0B61FF"/>
                          </a:solidFill>
                          <a:effectLst/>
                          <a:latin typeface="+mn-ea"/>
                          <a:ea typeface="+mn-ea"/>
                          <a:cs typeface="Times New Roman" panose="02020603050405020304" pitchFamily="18" charset="0"/>
                        </a:rPr>
                        <a:t>?</a:t>
                      </a:r>
                      <a:endParaRPr lang="zh-CN" sz="2000" kern="100" dirty="0">
                        <a:solidFill>
                          <a:srgbClr val="0B61FF"/>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772378218"/>
                  </a:ext>
                </a:extLst>
              </a:tr>
              <a:tr h="470580">
                <a:tc>
                  <a:txBody>
                    <a:bodyPr/>
                    <a:lstStyle/>
                    <a:p>
                      <a:pPr indent="127000" algn="ctr"/>
                      <a:r>
                        <a:rPr lang="en-US" sz="2000" kern="100" dirty="0">
                          <a:effectLst/>
                          <a:latin typeface="Times New Roman" panose="02020603050405020304" pitchFamily="18" charset="0"/>
                          <a:ea typeface="+mn-ea"/>
                          <a:cs typeface="Times New Roman" panose="02020603050405020304" pitchFamily="18" charset="0"/>
                        </a:rPr>
                        <a:t>1</a:t>
                      </a:r>
                      <a:endParaRPr lang="zh-CN" sz="200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sz="2000" b="1" kern="100" dirty="0">
                          <a:effectLst/>
                          <a:latin typeface="Times New Roman" panose="02020603050405020304" pitchFamily="18" charset="0"/>
                          <a:ea typeface="+mn-ea"/>
                          <a:cs typeface="Times New Roman" panose="02020603050405020304" pitchFamily="18" charset="0"/>
                        </a:rPr>
                        <a:t>&lt;Z,+&gt;</a:t>
                      </a:r>
                      <a:endParaRPr lang="zh-CN" sz="20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sz="2000" b="0" kern="100" dirty="0">
                          <a:effectLst/>
                          <a:latin typeface="Times New Roman" panose="02020603050405020304" pitchFamily="18" charset="0"/>
                          <a:ea typeface="+mn-ea"/>
                          <a:cs typeface="Times New Roman" panose="02020603050405020304" pitchFamily="18" charset="0"/>
                        </a:rPr>
                        <a:t>0</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altLang="zh-CN" sz="2000" b="0" dirty="0"/>
                        <a:t>Exist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altLang="zh-CN" sz="2000" b="0" kern="100" dirty="0">
                          <a:effectLst/>
                          <a:latin typeface="Times New Roman" panose="02020603050405020304" pitchFamily="18" charset="0"/>
                          <a:ea typeface="+mn-ea"/>
                          <a:cs typeface="Times New Roman" panose="02020603050405020304" pitchFamily="18" charset="0"/>
                        </a:rPr>
                        <a:t>Yes</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075576540"/>
                  </a:ext>
                </a:extLst>
              </a:tr>
              <a:tr h="470580">
                <a:tc>
                  <a:txBody>
                    <a:bodyPr/>
                    <a:lstStyle/>
                    <a:p>
                      <a:pPr indent="127000" algn="ctr"/>
                      <a:r>
                        <a:rPr lang="en-US" sz="2000" kern="100">
                          <a:effectLst/>
                          <a:latin typeface="Times New Roman" panose="02020603050405020304" pitchFamily="18" charset="0"/>
                          <a:ea typeface="+mn-ea"/>
                          <a:cs typeface="Times New Roman" panose="02020603050405020304" pitchFamily="18" charset="0"/>
                        </a:rPr>
                        <a:t>2</a:t>
                      </a:r>
                      <a:endParaRPr lang="zh-CN" sz="2000" kern="10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sz="2000" b="1" kern="100" dirty="0">
                          <a:effectLst/>
                          <a:latin typeface="Times New Roman" panose="02020603050405020304" pitchFamily="18" charset="0"/>
                          <a:ea typeface="+mn-ea"/>
                          <a:cs typeface="Times New Roman" panose="02020603050405020304" pitchFamily="18" charset="0"/>
                        </a:rPr>
                        <a:t>&lt;Q,+&gt;</a:t>
                      </a:r>
                      <a:endParaRPr lang="zh-CN" sz="20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sz="2000" b="0" kern="100" dirty="0">
                          <a:effectLst/>
                          <a:latin typeface="Times New Roman" panose="02020603050405020304" pitchFamily="18" charset="0"/>
                          <a:ea typeface="+mn-ea"/>
                          <a:cs typeface="Times New Roman" panose="02020603050405020304" pitchFamily="18" charset="0"/>
                        </a:rPr>
                        <a:t>0</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altLang="zh-CN" sz="2000" b="0" dirty="0"/>
                        <a:t>Exist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altLang="zh-CN" sz="2000" b="0" kern="100" dirty="0">
                          <a:effectLst/>
                          <a:latin typeface="Times New Roman" panose="02020603050405020304" pitchFamily="18" charset="0"/>
                          <a:ea typeface="+mn-ea"/>
                          <a:cs typeface="Times New Roman" panose="02020603050405020304" pitchFamily="18" charset="0"/>
                        </a:rPr>
                        <a:t>Yes</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617965152"/>
                  </a:ext>
                </a:extLst>
              </a:tr>
              <a:tr h="470580">
                <a:tc>
                  <a:txBody>
                    <a:bodyPr/>
                    <a:lstStyle/>
                    <a:p>
                      <a:pPr indent="127000" algn="ctr"/>
                      <a:r>
                        <a:rPr lang="en-US" sz="2000" kern="100">
                          <a:effectLst/>
                          <a:latin typeface="Times New Roman" panose="02020603050405020304" pitchFamily="18" charset="0"/>
                          <a:ea typeface="+mn-ea"/>
                          <a:cs typeface="Times New Roman" panose="02020603050405020304" pitchFamily="18" charset="0"/>
                        </a:rPr>
                        <a:t>3</a:t>
                      </a:r>
                      <a:endParaRPr lang="zh-CN" sz="2000" kern="10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sz="2000" b="1" kern="100" dirty="0">
                          <a:effectLst/>
                          <a:latin typeface="Times New Roman" panose="02020603050405020304" pitchFamily="18" charset="0"/>
                          <a:ea typeface="+mn-ea"/>
                          <a:cs typeface="Times New Roman" panose="02020603050405020304" pitchFamily="18" charset="0"/>
                        </a:rPr>
                        <a:t>&lt;R,+&gt;</a:t>
                      </a:r>
                      <a:endParaRPr lang="zh-CN" sz="20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sz="2000" b="0" kern="100" dirty="0">
                          <a:effectLst/>
                          <a:latin typeface="Times New Roman" panose="02020603050405020304" pitchFamily="18" charset="0"/>
                          <a:ea typeface="+mn-ea"/>
                          <a:cs typeface="Times New Roman" panose="02020603050405020304" pitchFamily="18" charset="0"/>
                        </a:rPr>
                        <a:t>0</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altLang="zh-CN" sz="2000" b="0" dirty="0"/>
                        <a:t>Exist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altLang="zh-CN" sz="2000" b="0" kern="100" dirty="0">
                          <a:effectLst/>
                          <a:latin typeface="Times New Roman" panose="02020603050405020304" pitchFamily="18" charset="0"/>
                          <a:ea typeface="+mn-ea"/>
                          <a:cs typeface="Times New Roman" panose="02020603050405020304" pitchFamily="18" charset="0"/>
                        </a:rPr>
                        <a:t>Yes</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353250260"/>
                  </a:ext>
                </a:extLst>
              </a:tr>
              <a:tr h="502811">
                <a:tc>
                  <a:txBody>
                    <a:bodyPr/>
                    <a:lstStyle/>
                    <a:p>
                      <a:pPr indent="127000" algn="ctr"/>
                      <a:r>
                        <a:rPr lang="en-US" sz="2000" kern="100">
                          <a:effectLst/>
                          <a:latin typeface="Times New Roman" panose="02020603050405020304" pitchFamily="18" charset="0"/>
                          <a:ea typeface="+mn-ea"/>
                          <a:cs typeface="Times New Roman" panose="02020603050405020304" pitchFamily="18" charset="0"/>
                        </a:rPr>
                        <a:t>4</a:t>
                      </a:r>
                      <a:endParaRPr lang="zh-CN" sz="2000" kern="10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127000" algn="ctr"/>
                      <a:r>
                        <a:rPr lang="en-US" sz="2000" b="1" kern="100" dirty="0">
                          <a:effectLst/>
                          <a:latin typeface="Times New Roman" panose="02020603050405020304" pitchFamily="18" charset="0"/>
                          <a:ea typeface="+mn-ea"/>
                          <a:cs typeface="Times New Roman" panose="02020603050405020304" pitchFamily="18" charset="0"/>
                        </a:rPr>
                        <a:t>&lt;Z</a:t>
                      </a:r>
                      <a:r>
                        <a:rPr lang="en-US" sz="2000" b="1" kern="100" baseline="30000" dirty="0">
                          <a:effectLst/>
                          <a:latin typeface="Times New Roman" panose="02020603050405020304" pitchFamily="18" charset="0"/>
                          <a:ea typeface="+mn-ea"/>
                          <a:cs typeface="Times New Roman" panose="02020603050405020304" pitchFamily="18" charset="0"/>
                        </a:rPr>
                        <a:t>+</a:t>
                      </a:r>
                      <a:r>
                        <a:rPr lang="en-US" sz="2000" b="1" kern="100" dirty="0">
                          <a:effectLst/>
                          <a:latin typeface="Times New Roman" panose="02020603050405020304" pitchFamily="18" charset="0"/>
                          <a:ea typeface="+mn-ea"/>
                          <a:cs typeface="Times New Roman" panose="02020603050405020304" pitchFamily="18" charset="0"/>
                        </a:rPr>
                        <a:t>,+&gt;</a:t>
                      </a:r>
                      <a:endParaRPr lang="zh-CN" sz="20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indent="0" algn="ctr"/>
                      <a:r>
                        <a:rPr lang="en-US" altLang="zh-CN" sz="1600" b="0" dirty="0"/>
                        <a:t>Identity</a:t>
                      </a:r>
                      <a:r>
                        <a:rPr lang="en-US" sz="1600" b="0" kern="100" dirty="0">
                          <a:solidFill>
                            <a:schemeClr val="dk1"/>
                          </a:solidFill>
                          <a:effectLst/>
                          <a:latin typeface="Times New Roman" panose="02020603050405020304" pitchFamily="18" charset="0"/>
                          <a:ea typeface="+mn-ea"/>
                          <a:cs typeface="Times New Roman" panose="02020603050405020304" pitchFamily="18" charset="0"/>
                        </a:rPr>
                        <a:t>0</a:t>
                      </a:r>
                      <a:r>
                        <a:rPr lang="zh-CN" altLang="en-US" sz="1600" b="0" kern="100" dirty="0">
                          <a:solidFill>
                            <a:schemeClr val="dk1"/>
                          </a:solidFill>
                          <a:effectLst/>
                          <a:latin typeface="Times New Roman" panose="02020603050405020304" pitchFamily="18" charset="0"/>
                          <a:ea typeface="+mn-ea"/>
                          <a:cs typeface="Times New Roman" panose="02020603050405020304" pitchFamily="18" charset="0"/>
                        </a:rPr>
                        <a:t>∉</a:t>
                      </a:r>
                      <a:r>
                        <a:rPr lang="en-US" sz="1600" b="0" kern="100" dirty="0">
                          <a:solidFill>
                            <a:schemeClr val="dk1"/>
                          </a:solidFill>
                          <a:effectLst/>
                          <a:latin typeface="Times New Roman" panose="02020603050405020304" pitchFamily="18" charset="0"/>
                          <a:ea typeface="+mn-ea"/>
                          <a:cs typeface="Times New Roman" panose="02020603050405020304" pitchFamily="18" charset="0"/>
                        </a:rPr>
                        <a:t>Z</a:t>
                      </a:r>
                      <a:r>
                        <a:rPr lang="en-US" sz="1600" b="0" kern="100" baseline="30000" dirty="0">
                          <a:solidFill>
                            <a:schemeClr val="dk1"/>
                          </a:solidFill>
                          <a:effectLst/>
                          <a:latin typeface="Times New Roman" panose="02020603050405020304" pitchFamily="18" charset="0"/>
                          <a:ea typeface="+mn-ea"/>
                          <a:cs typeface="Times New Roman" panose="02020603050405020304" pitchFamily="18" charset="0"/>
                        </a:rPr>
                        <a:t>+</a:t>
                      </a:r>
                      <a:endParaRPr lang="zh-CN" altLang="en-US" sz="1600" b="0" kern="100" baseline="30000" dirty="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ctr"/>
                      <a:r>
                        <a:rPr lang="en-US" altLang="zh-CN" sz="2000" b="0" dirty="0"/>
                        <a:t>Does not exist</a:t>
                      </a:r>
                      <a:endParaRPr lang="zh-CN" altLang="en-US" sz="2000" b="0" dirty="0">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altLang="zh-CN" sz="2000" b="0" dirty="0">
                          <a:latin typeface="Times New Roman" panose="02020603050405020304" pitchFamily="18" charset="0"/>
                          <a:ea typeface="+mn-ea"/>
                          <a:cs typeface="Times New Roman" panose="02020603050405020304" pitchFamily="18" charset="0"/>
                        </a:rPr>
                        <a:t>No</a:t>
                      </a:r>
                      <a:endParaRPr lang="zh-CN" altLang="en-US" sz="2000" b="0" dirty="0">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160341444"/>
                  </a:ext>
                </a:extLst>
              </a:tr>
              <a:tr h="502811">
                <a:tc>
                  <a:txBody>
                    <a:bodyPr/>
                    <a:lstStyle/>
                    <a:p>
                      <a:pPr indent="127000" algn="ctr"/>
                      <a:r>
                        <a:rPr lang="en-US" sz="2000" kern="100">
                          <a:effectLst/>
                          <a:latin typeface="Times New Roman" panose="02020603050405020304" pitchFamily="18" charset="0"/>
                          <a:ea typeface="+mn-ea"/>
                          <a:cs typeface="Times New Roman" panose="02020603050405020304" pitchFamily="18" charset="0"/>
                        </a:rPr>
                        <a:t>5</a:t>
                      </a:r>
                      <a:endParaRPr lang="zh-CN" sz="2000" kern="10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sz="2000" b="1" kern="100" dirty="0">
                          <a:effectLst/>
                          <a:latin typeface="Times New Roman" panose="02020603050405020304" pitchFamily="18" charset="0"/>
                          <a:ea typeface="+mn-ea"/>
                          <a:cs typeface="Times New Roman" panose="02020603050405020304" pitchFamily="18" charset="0"/>
                        </a:rPr>
                        <a:t>&lt;N,+&gt;</a:t>
                      </a:r>
                      <a:endParaRPr lang="zh-CN" sz="2000" b="1"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1600" b="0" dirty="0"/>
                        <a:t>Identity</a:t>
                      </a:r>
                      <a:r>
                        <a:rPr lang="en-US" altLang="zh-CN" sz="1600" b="0" kern="100" dirty="0">
                          <a:solidFill>
                            <a:schemeClr val="dk1"/>
                          </a:solidFill>
                          <a:effectLst/>
                          <a:latin typeface="Times New Roman" panose="02020603050405020304" pitchFamily="18" charset="0"/>
                          <a:ea typeface="+mn-ea"/>
                          <a:cs typeface="Times New Roman" panose="02020603050405020304" pitchFamily="18" charset="0"/>
                        </a:rPr>
                        <a:t>0</a:t>
                      </a:r>
                      <a:r>
                        <a:rPr lang="zh-CN" altLang="en-US" sz="1600" b="0" kern="100" dirty="0">
                          <a:solidFill>
                            <a:schemeClr val="dk1"/>
                          </a:solidFill>
                          <a:effectLst/>
                          <a:latin typeface="Times New Roman" panose="02020603050405020304" pitchFamily="18" charset="0"/>
                          <a:ea typeface="+mn-ea"/>
                          <a:cs typeface="Times New Roman" panose="02020603050405020304" pitchFamily="18" charset="0"/>
                        </a:rPr>
                        <a:t>∉</a:t>
                      </a:r>
                      <a:r>
                        <a:rPr lang="en-US" altLang="zh-CN" sz="1600" b="0" kern="100" dirty="0">
                          <a:solidFill>
                            <a:schemeClr val="dk1"/>
                          </a:solidFill>
                          <a:effectLst/>
                          <a:latin typeface="Times New Roman" panose="02020603050405020304" pitchFamily="18" charset="0"/>
                          <a:ea typeface="+mn-ea"/>
                          <a:cs typeface="Times New Roman" panose="02020603050405020304" pitchFamily="18" charset="0"/>
                        </a:rPr>
                        <a:t>N+</a:t>
                      </a:r>
                      <a:endParaRPr lang="zh-CN" altLang="en-US" sz="1600" b="0" kern="100" dirty="0">
                        <a:solidFill>
                          <a:schemeClr val="dk1"/>
                        </a:solidFill>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altLang="zh-CN" sz="2000" b="0" dirty="0"/>
                        <a:t>Does not exist</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latin typeface="Times New Roman" panose="02020603050405020304" pitchFamily="18" charset="0"/>
                          <a:ea typeface="+mn-ea"/>
                          <a:cs typeface="Times New Roman" panose="02020603050405020304" pitchFamily="18" charset="0"/>
                        </a:rPr>
                        <a:t>No</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extLst>
                  <a:ext uri="{0D108BD9-81ED-4DB2-BD59-A6C34878D82A}">
                    <a16:rowId xmlns:a16="http://schemas.microsoft.com/office/drawing/2014/main" val="1203378982"/>
                  </a:ext>
                </a:extLst>
              </a:tr>
              <a:tr h="502811">
                <a:tc>
                  <a:txBody>
                    <a:bodyPr/>
                    <a:lstStyle/>
                    <a:p>
                      <a:pPr indent="127000" algn="ctr"/>
                      <a:r>
                        <a:rPr lang="en-US" sz="2000" kern="100">
                          <a:effectLst/>
                          <a:latin typeface="Times New Roman" panose="02020603050405020304" pitchFamily="18" charset="0"/>
                          <a:ea typeface="+mn-ea"/>
                          <a:cs typeface="Times New Roman" panose="02020603050405020304" pitchFamily="18" charset="0"/>
                        </a:rPr>
                        <a:t>6</a:t>
                      </a:r>
                      <a:endParaRPr lang="zh-CN" sz="2000" kern="10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sz="2000" b="1" kern="100" dirty="0">
                          <a:effectLst/>
                          <a:latin typeface="Times New Roman" panose="02020603050405020304" pitchFamily="18" charset="0"/>
                          <a:ea typeface="+mn-ea"/>
                          <a:cs typeface="Times New Roman" panose="02020603050405020304" pitchFamily="18" charset="0"/>
                        </a:rPr>
                        <a:t>&lt; M</a:t>
                      </a:r>
                      <a:r>
                        <a:rPr lang="en-US" sz="2000" b="1" kern="100" baseline="-25000" dirty="0">
                          <a:effectLst/>
                          <a:latin typeface="Times New Roman" panose="02020603050405020304" pitchFamily="18" charset="0"/>
                          <a:ea typeface="+mn-ea"/>
                          <a:cs typeface="Times New Roman" panose="02020603050405020304" pitchFamily="18" charset="0"/>
                        </a:rPr>
                        <a:t>n</a:t>
                      </a:r>
                      <a:r>
                        <a:rPr lang="en-US" sz="2000" b="1" kern="100" dirty="0">
                          <a:effectLst/>
                          <a:latin typeface="Times New Roman" panose="02020603050405020304" pitchFamily="18" charset="0"/>
                          <a:ea typeface="+mn-ea"/>
                          <a:cs typeface="Times New Roman" panose="02020603050405020304" pitchFamily="18" charset="0"/>
                        </a:rPr>
                        <a:t>​(R),+&gt;</a:t>
                      </a:r>
                      <a:endParaRPr lang="zh-CN" sz="2000" b="1"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sz="2000" b="0" kern="100" dirty="0">
                          <a:effectLst/>
                          <a:latin typeface="Times New Roman" panose="02020603050405020304" pitchFamily="18" charset="0"/>
                          <a:ea typeface="+mn-ea"/>
                          <a:cs typeface="Times New Roman" panose="02020603050405020304" pitchFamily="18" charset="0"/>
                        </a:rPr>
                        <a:t>0-Matix</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defTabSz="914400" rtl="0" eaLnBrk="1" latinLnBrk="0" hangingPunct="1"/>
                      <a:r>
                        <a:rPr lang="en-US" altLang="zh-CN" b="0" dirty="0"/>
                        <a:t>A real matrix </a:t>
                      </a:r>
                      <a:r>
                        <a:rPr lang="en-US" altLang="zh-CN" b="1" dirty="0"/>
                        <a:t>A </a:t>
                      </a:r>
                      <a:r>
                        <a:rPr lang="en-US" altLang="zh-CN" b="0" dirty="0"/>
                        <a:t>has an additive inverse </a:t>
                      </a:r>
                      <a:r>
                        <a:rPr lang="en-US" altLang="zh-CN" b="1" dirty="0"/>
                        <a:t>−A</a:t>
                      </a:r>
                      <a:r>
                        <a:rPr lang="en-US" altLang="zh-CN" b="0" dirty="0"/>
                        <a:t>.</a:t>
                      </a:r>
                      <a:endParaRPr lang="zh-CN" altLang="en-US" sz="1800" b="0" kern="1200" dirty="0">
                        <a:solidFill>
                          <a:schemeClr val="dk1"/>
                        </a:solidFill>
                        <a:effectLst/>
                        <a:latin typeface="+mn-lt"/>
                        <a:ea typeface="+mn-ea"/>
                        <a:cs typeface="+mn-cs"/>
                      </a:endParaRPr>
                    </a:p>
                  </a:txBody>
                  <a:tcPr marL="68580" marR="68580" anchor="ctr"/>
                </a:tc>
                <a:tc>
                  <a:txBody>
                    <a:bodyPr/>
                    <a:lstStyle/>
                    <a:p>
                      <a:pPr indent="127000" algn="ctr"/>
                      <a:r>
                        <a:rPr lang="en-US" altLang="zh-CN" sz="2000" b="0" kern="100" dirty="0">
                          <a:effectLst/>
                          <a:latin typeface="Times New Roman" panose="02020603050405020304" pitchFamily="18" charset="0"/>
                          <a:ea typeface="+mn-ea"/>
                          <a:cs typeface="Times New Roman" panose="02020603050405020304" pitchFamily="18" charset="0"/>
                        </a:rPr>
                        <a:t>Yes</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extLst>
                  <a:ext uri="{0D108BD9-81ED-4DB2-BD59-A6C34878D82A}">
                    <a16:rowId xmlns:a16="http://schemas.microsoft.com/office/drawing/2014/main" val="2105775518"/>
                  </a:ext>
                </a:extLst>
              </a:tr>
              <a:tr h="681177">
                <a:tc>
                  <a:txBody>
                    <a:bodyPr/>
                    <a:lstStyle/>
                    <a:p>
                      <a:pPr indent="127000" algn="ctr"/>
                      <a:r>
                        <a:rPr lang="en-US" sz="2000" kern="100">
                          <a:effectLst/>
                          <a:latin typeface="Times New Roman" panose="02020603050405020304" pitchFamily="18" charset="0"/>
                          <a:ea typeface="+mn-ea"/>
                          <a:cs typeface="Times New Roman" panose="02020603050405020304" pitchFamily="18" charset="0"/>
                        </a:rPr>
                        <a:t>7</a:t>
                      </a:r>
                      <a:endParaRPr lang="zh-CN" sz="2000" kern="10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sz="2000" b="1" kern="100" dirty="0">
                          <a:effectLst/>
                          <a:latin typeface="Times New Roman" panose="02020603050405020304" pitchFamily="18" charset="0"/>
                          <a:ea typeface="+mn-ea"/>
                          <a:cs typeface="Times New Roman" panose="02020603050405020304" pitchFamily="18" charset="0"/>
                        </a:rPr>
                        <a:t>&lt; M</a:t>
                      </a:r>
                      <a:r>
                        <a:rPr lang="en-US" sz="2000" b="1" kern="100" baseline="-25000" dirty="0">
                          <a:effectLst/>
                          <a:latin typeface="Times New Roman" panose="02020603050405020304" pitchFamily="18" charset="0"/>
                          <a:ea typeface="+mn-ea"/>
                          <a:cs typeface="Times New Roman" panose="02020603050405020304" pitchFamily="18" charset="0"/>
                        </a:rPr>
                        <a:t>n</a:t>
                      </a:r>
                      <a:r>
                        <a:rPr lang="en-US" sz="2000" b="1" kern="100" dirty="0">
                          <a:effectLst/>
                          <a:latin typeface="Times New Roman" panose="02020603050405020304" pitchFamily="18" charset="0"/>
                          <a:ea typeface="+mn-ea"/>
                          <a:cs typeface="Times New Roman" panose="02020603050405020304" pitchFamily="18" charset="0"/>
                        </a:rPr>
                        <a:t>​(R), .&gt;</a:t>
                      </a:r>
                      <a:endParaRPr lang="zh-CN" sz="2000" b="1"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sz="2000" b="0" i="1" kern="100" dirty="0">
                          <a:effectLst/>
                          <a:latin typeface="Times New Roman" panose="02020603050405020304" pitchFamily="18" charset="0"/>
                          <a:ea typeface="+mn-ea"/>
                          <a:cs typeface="Times New Roman" panose="02020603050405020304" pitchFamily="18" charset="0"/>
                        </a:rPr>
                        <a:t>I</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r>
                        <a:rPr lang="en-US" altLang="zh-CN" b="0" dirty="0"/>
                        <a:t>Only full-rank (nonsingular) matrices have a multiplicative inverse.</a:t>
                      </a:r>
                    </a:p>
                  </a:txBody>
                  <a:tcPr marL="68580" marR="68580" anchor="ctr"/>
                </a:tc>
                <a:tc>
                  <a:txBody>
                    <a:bodyPr/>
                    <a:lstStyle/>
                    <a:p>
                      <a:pPr marL="0" indent="0" algn="ctr"/>
                      <a:r>
                        <a:rPr lang="en-US" altLang="zh-CN" sz="2000" b="0" dirty="0">
                          <a:latin typeface="Times New Roman" panose="02020603050405020304" pitchFamily="18" charset="0"/>
                          <a:ea typeface="+mn-ea"/>
                          <a:cs typeface="Times New Roman" panose="02020603050405020304" pitchFamily="18" charset="0"/>
                        </a:rPr>
                        <a:t>No</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extLst>
                  <a:ext uri="{0D108BD9-81ED-4DB2-BD59-A6C34878D82A}">
                    <a16:rowId xmlns:a16="http://schemas.microsoft.com/office/drawing/2014/main" val="3287680482"/>
                  </a:ext>
                </a:extLst>
              </a:tr>
              <a:tr h="502811">
                <a:tc>
                  <a:txBody>
                    <a:bodyPr/>
                    <a:lstStyle/>
                    <a:p>
                      <a:pPr indent="127000" algn="ctr"/>
                      <a:r>
                        <a:rPr lang="en-US" sz="2000" kern="100">
                          <a:effectLst/>
                          <a:latin typeface="Times New Roman" panose="02020603050405020304" pitchFamily="18" charset="0"/>
                          <a:ea typeface="+mn-ea"/>
                          <a:cs typeface="Times New Roman" panose="02020603050405020304" pitchFamily="18" charset="0"/>
                        </a:rPr>
                        <a:t>8</a:t>
                      </a:r>
                      <a:endParaRPr lang="zh-CN" sz="2000" kern="10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sz="2000" b="1" kern="100" dirty="0">
                          <a:effectLst/>
                          <a:latin typeface="Times New Roman" panose="02020603050405020304" pitchFamily="18" charset="0"/>
                          <a:ea typeface="+mn-ea"/>
                          <a:cs typeface="Times New Roman" panose="02020603050405020304" pitchFamily="18" charset="0"/>
                        </a:rPr>
                        <a:t>&lt; P(B),</a:t>
                      </a:r>
                      <a:r>
                        <a:rPr lang="zh-CN" sz="2000" b="1" kern="100" dirty="0">
                          <a:effectLst/>
                          <a:latin typeface="Times New Roman" panose="02020603050405020304" pitchFamily="18" charset="0"/>
                          <a:ea typeface="+mn-ea"/>
                          <a:cs typeface="Times New Roman" panose="02020603050405020304" pitchFamily="18" charset="0"/>
                        </a:rPr>
                        <a:t>⊕</a:t>
                      </a:r>
                      <a:r>
                        <a:rPr lang="en-US" sz="2000" b="1" kern="100" dirty="0">
                          <a:effectLst/>
                          <a:latin typeface="Times New Roman" panose="02020603050405020304" pitchFamily="18" charset="0"/>
                          <a:ea typeface="+mn-ea"/>
                          <a:cs typeface="Times New Roman" panose="02020603050405020304" pitchFamily="18" charset="0"/>
                        </a:rPr>
                        <a:t>&gt;</a:t>
                      </a:r>
                      <a:endParaRPr lang="zh-CN" sz="2000" b="1"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zh-CN" sz="2000" b="0" kern="100" dirty="0">
                          <a:solidFill>
                            <a:srgbClr val="0D0D0D"/>
                          </a:solidFill>
                          <a:effectLst/>
                          <a:latin typeface="Times New Roman" panose="02020603050405020304" pitchFamily="18" charset="0"/>
                          <a:ea typeface="+mn-ea"/>
                          <a:cs typeface="Times New Roman" panose="02020603050405020304" pitchFamily="18" charset="0"/>
                        </a:rPr>
                        <a:t>∅</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altLang="zh-CN" sz="2000" b="0" kern="100" dirty="0">
                          <a:effectLst/>
                          <a:latin typeface="Times New Roman" panose="02020603050405020304" pitchFamily="18" charset="0"/>
                          <a:ea typeface="+mn-ea"/>
                          <a:cs typeface="Times New Roman" panose="02020603050405020304" pitchFamily="18" charset="0"/>
                        </a:rPr>
                        <a:t>Itself</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altLang="zh-CN" sz="2000" b="0" kern="100" dirty="0">
                          <a:effectLst/>
                          <a:latin typeface="Times New Roman" panose="02020603050405020304" pitchFamily="18" charset="0"/>
                          <a:ea typeface="+mn-ea"/>
                          <a:cs typeface="Times New Roman" panose="02020603050405020304" pitchFamily="18" charset="0"/>
                        </a:rPr>
                        <a:t>Yes</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extLst>
                  <a:ext uri="{0D108BD9-81ED-4DB2-BD59-A6C34878D82A}">
                    <a16:rowId xmlns:a16="http://schemas.microsoft.com/office/drawing/2014/main" val="2455360918"/>
                  </a:ext>
                </a:extLst>
              </a:tr>
              <a:tr h="502811">
                <a:tc>
                  <a:txBody>
                    <a:bodyPr/>
                    <a:lstStyle/>
                    <a:p>
                      <a:pPr indent="127000" algn="ctr"/>
                      <a:r>
                        <a:rPr lang="en-US" sz="2000" kern="100" dirty="0">
                          <a:effectLst/>
                          <a:latin typeface="Times New Roman" panose="02020603050405020304" pitchFamily="18" charset="0"/>
                          <a:ea typeface="+mn-ea"/>
                          <a:cs typeface="Times New Roman" panose="02020603050405020304" pitchFamily="18" charset="0"/>
                        </a:rPr>
                        <a:t>9</a:t>
                      </a:r>
                      <a:endParaRPr lang="zh-CN" sz="200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sz="2000" b="1" kern="100" dirty="0">
                          <a:effectLst/>
                          <a:latin typeface="Times New Roman" panose="02020603050405020304" pitchFamily="18" charset="0"/>
                          <a:ea typeface="+mn-ea"/>
                          <a:cs typeface="Times New Roman" panose="02020603050405020304" pitchFamily="18" charset="0"/>
                        </a:rPr>
                        <a:t>&lt; Z</a:t>
                      </a:r>
                      <a:r>
                        <a:rPr lang="en-US" sz="2000" b="1" kern="100" baseline="-25000" dirty="0">
                          <a:effectLst/>
                          <a:latin typeface="Times New Roman" panose="02020603050405020304" pitchFamily="18" charset="0"/>
                          <a:ea typeface="+mn-ea"/>
                          <a:cs typeface="Times New Roman" panose="02020603050405020304" pitchFamily="18" charset="0"/>
                        </a:rPr>
                        <a:t>n</a:t>
                      </a:r>
                      <a:r>
                        <a:rPr lang="en-US" sz="2000" b="1" kern="100" dirty="0">
                          <a:effectLst/>
                          <a:latin typeface="Times New Roman" panose="02020603050405020304" pitchFamily="18" charset="0"/>
                          <a:ea typeface="+mn-ea"/>
                          <a:cs typeface="Times New Roman" panose="02020603050405020304" pitchFamily="18" charset="0"/>
                        </a:rPr>
                        <a:t>​,</a:t>
                      </a:r>
                      <a:r>
                        <a:rPr lang="zh-CN" sz="2000" b="1" kern="100" dirty="0">
                          <a:effectLst/>
                          <a:latin typeface="Times New Roman" panose="02020603050405020304" pitchFamily="18" charset="0"/>
                          <a:ea typeface="+mn-ea"/>
                          <a:cs typeface="Times New Roman" panose="02020603050405020304" pitchFamily="18" charset="0"/>
                        </a:rPr>
                        <a:t>⊕</a:t>
                      </a:r>
                      <a:r>
                        <a:rPr lang="en-US" sz="2000" b="1" kern="100" dirty="0">
                          <a:effectLst/>
                          <a:latin typeface="Times New Roman" panose="02020603050405020304" pitchFamily="18" charset="0"/>
                          <a:ea typeface="+mn-ea"/>
                          <a:cs typeface="Times New Roman" panose="02020603050405020304" pitchFamily="18" charset="0"/>
                        </a:rPr>
                        <a:t>&gt;</a:t>
                      </a:r>
                      <a:endParaRPr lang="zh-CN" sz="2000" b="1"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marL="0" indent="0" algn="ctr"/>
                      <a:r>
                        <a:rPr lang="en-US" altLang="zh-CN" sz="2000" b="0" dirty="0"/>
                        <a:t>Satisfy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sz="2000" b="0" kern="100" dirty="0">
                          <a:effectLst/>
                          <a:latin typeface="Times New Roman" panose="02020603050405020304" pitchFamily="18" charset="0"/>
                          <a:ea typeface="+mn-ea"/>
                          <a:cs typeface="Times New Roman" panose="02020603050405020304" pitchFamily="18" charset="0"/>
                        </a:rPr>
                        <a:t>0</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altLang="zh-CN" sz="2000" b="0" dirty="0"/>
                        <a:t>Exist </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tc>
                  <a:txBody>
                    <a:bodyPr/>
                    <a:lstStyle/>
                    <a:p>
                      <a:pPr indent="127000" algn="ctr"/>
                      <a:r>
                        <a:rPr lang="en-US" altLang="zh-CN" sz="2000" b="0" kern="100" dirty="0">
                          <a:effectLst/>
                          <a:latin typeface="Times New Roman" panose="02020603050405020304" pitchFamily="18" charset="0"/>
                          <a:ea typeface="+mn-ea"/>
                          <a:cs typeface="Times New Roman" panose="02020603050405020304" pitchFamily="18" charset="0"/>
                        </a:rPr>
                        <a:t>Yes</a:t>
                      </a:r>
                      <a:endParaRPr lang="zh-CN" sz="2000" b="0" kern="100" dirty="0">
                        <a:effectLst/>
                        <a:latin typeface="Times New Roman" panose="02020603050405020304" pitchFamily="18" charset="0"/>
                        <a:ea typeface="+mn-ea"/>
                        <a:cs typeface="Times New Roman" panose="02020603050405020304" pitchFamily="18" charset="0"/>
                      </a:endParaRPr>
                    </a:p>
                  </a:txBody>
                  <a:tcPr marL="68580" marR="68580" anchor="ctr"/>
                </a:tc>
                <a:extLst>
                  <a:ext uri="{0D108BD9-81ED-4DB2-BD59-A6C34878D82A}">
                    <a16:rowId xmlns:a16="http://schemas.microsoft.com/office/drawing/2014/main" val="917754286"/>
                  </a:ext>
                </a:extLst>
              </a:tr>
            </a:tbl>
          </a:graphicData>
        </a:graphic>
      </p:graphicFrame>
    </p:spTree>
    <p:extLst>
      <p:ext uri="{BB962C8B-B14F-4D97-AF65-F5344CB8AC3E}">
        <p14:creationId xmlns:p14="http://schemas.microsoft.com/office/powerpoint/2010/main" val="2938613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An important group: the Klein Four-Gr</a:t>
            </a:r>
            <a:r>
              <a:rPr lang="en-US" altLang="zh-CN" sz="2400" b="1" dirty="0"/>
              <a:t>oup</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1" name="Rectangle 3">
            <a:extLst>
              <a:ext uri="{FF2B5EF4-FFF2-40B4-BE49-F238E27FC236}">
                <a16:creationId xmlns:a16="http://schemas.microsoft.com/office/drawing/2014/main" id="{85D03B21-53C9-4995-988B-4D73E62F10DC}"/>
              </a:ext>
            </a:extLst>
          </p:cNvPr>
          <p:cNvSpPr txBox="1">
            <a:spLocks noChangeArrowheads="1"/>
          </p:cNvSpPr>
          <p:nvPr/>
        </p:nvSpPr>
        <p:spPr>
          <a:xfrm>
            <a:off x="707257" y="784107"/>
            <a:ext cx="10829345" cy="9366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Let </a:t>
            </a:r>
            <a:r>
              <a:rPr lang="en-US" altLang="zh-CN" sz="2400" b="1" i="1" dirty="0">
                <a:latin typeface="Trebuchet MS" panose="020B0603020202020204" pitchFamily="34" charset="0"/>
                <a:cs typeface="Times New Roman" panose="02020603050405020304" pitchFamily="18" charset="0"/>
              </a:rPr>
              <a:t>G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e</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 and let the binary operation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on </a:t>
            </a:r>
            <a:r>
              <a:rPr lang="en-US" altLang="zh-CN" sz="2400" b="1" i="1" dirty="0">
                <a:latin typeface="Trebuchet MS" panose="020B0603020202020204" pitchFamily="34" charset="0"/>
                <a:cs typeface="Times New Roman" panose="02020603050405020304" pitchFamily="18" charset="0"/>
              </a:rPr>
              <a:t>G</a:t>
            </a:r>
            <a:r>
              <a:rPr lang="en-US" altLang="zh-CN" sz="2400" dirty="0">
                <a:latin typeface="Trebuchet MS" panose="020B0603020202020204" pitchFamily="34" charset="0"/>
              </a:rPr>
              <a:t> be defined by the following table: </a:t>
            </a:r>
            <a:endParaRPr lang="zh-CN" altLang="en-US" sz="2400" b="1" dirty="0">
              <a:latin typeface="Trebuchet MS" panose="020B0603020202020204" pitchFamily="34" charset="0"/>
              <a:cs typeface="Times New Roman" panose="02020603050405020304" pitchFamily="18" charset="0"/>
            </a:endParaRPr>
          </a:p>
        </p:txBody>
      </p:sp>
      <p:graphicFrame>
        <p:nvGraphicFramePr>
          <p:cNvPr id="12" name="Group 21">
            <a:extLst>
              <a:ext uri="{FF2B5EF4-FFF2-40B4-BE49-F238E27FC236}">
                <a16:creationId xmlns:a16="http://schemas.microsoft.com/office/drawing/2014/main" id="{6689CA8D-E845-400E-A3BE-160669BB18CE}"/>
              </a:ext>
            </a:extLst>
          </p:cNvPr>
          <p:cNvGraphicFramePr>
            <a:graphicFrameLocks noGrp="1"/>
          </p:cNvGraphicFramePr>
          <p:nvPr>
            <p:ph sz="half" idx="1"/>
            <p:extLst>
              <p:ext uri="{D42A27DB-BD31-4B8C-83A1-F6EECF244321}">
                <p14:modId xmlns:p14="http://schemas.microsoft.com/office/powerpoint/2010/main" val="2069679796"/>
              </p:ext>
            </p:extLst>
          </p:nvPr>
        </p:nvGraphicFramePr>
        <p:xfrm>
          <a:off x="9060304" y="1555762"/>
          <a:ext cx="2678112" cy="2590800"/>
        </p:xfrm>
        <a:graphic>
          <a:graphicData uri="http://schemas.openxmlformats.org/drawingml/2006/table">
            <a:tbl>
              <a:tblPr/>
              <a:tblGrid>
                <a:gridCol w="611187">
                  <a:extLst>
                    <a:ext uri="{9D8B030D-6E8A-4147-A177-3AD203B41FA5}">
                      <a16:colId xmlns:a16="http://schemas.microsoft.com/office/drawing/2014/main" val="20000"/>
                    </a:ext>
                  </a:extLst>
                </a:gridCol>
                <a:gridCol w="2066925">
                  <a:extLst>
                    <a:ext uri="{9D8B030D-6E8A-4147-A177-3AD203B41FA5}">
                      <a16:colId xmlns:a16="http://schemas.microsoft.com/office/drawing/2014/main" val="20001"/>
                    </a:ext>
                  </a:extLst>
                </a:gridCol>
              </a:tblGrid>
              <a:tr h="647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endParaRPr kumimoji="1"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    a    b    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431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b</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400" b="1" i="1" u="none" strike="noStrike" cap="none" normalizeH="0" baseline="0" dirty="0">
                          <a:ln>
                            <a:noFill/>
                          </a:ln>
                          <a:solidFill>
                            <a:srgbClr val="00B0F0"/>
                          </a:solidFill>
                          <a:effectLst/>
                          <a:latin typeface="Times New Roman" panose="02020603050405020304" pitchFamily="18" charset="0"/>
                          <a:ea typeface="宋体" panose="02010600030101010101" pitchFamily="2" charset="-122"/>
                        </a:rPr>
                        <a:t>e</a:t>
                      </a: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    b    c</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    </a:t>
                      </a:r>
                      <a:r>
                        <a:rPr kumimoji="1" lang="en-US" altLang="zh-CN" sz="2400" b="1" i="1" u="none" strike="noStrike" cap="none" normalizeH="0" baseline="0" dirty="0">
                          <a:ln>
                            <a:noFill/>
                          </a:ln>
                          <a:solidFill>
                            <a:srgbClr val="00B0F0"/>
                          </a:solidFill>
                          <a:effectLst/>
                          <a:latin typeface="Times New Roman" panose="02020603050405020304" pitchFamily="18" charset="0"/>
                          <a:ea typeface="宋体" panose="02010600030101010101" pitchFamily="2" charset="-122"/>
                        </a:rPr>
                        <a:t>e</a:t>
                      </a: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c    b</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b    c    </a:t>
                      </a:r>
                      <a:r>
                        <a:rPr kumimoji="1" lang="en-US" altLang="zh-CN" sz="2400" b="1" i="1" u="none" strike="noStrike" cap="none" normalizeH="0" baseline="0" dirty="0">
                          <a:ln>
                            <a:noFill/>
                          </a:ln>
                          <a:solidFill>
                            <a:srgbClr val="00B0F0"/>
                          </a:solidFill>
                          <a:effectLst/>
                          <a:latin typeface="Times New Roman" panose="02020603050405020304" pitchFamily="18" charset="0"/>
                          <a:ea typeface="宋体" panose="02010600030101010101" pitchFamily="2" charset="-122"/>
                        </a:rPr>
                        <a:t>e</a:t>
                      </a: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c    b    a    </a:t>
                      </a:r>
                      <a:r>
                        <a:rPr kumimoji="1" lang="en-US" altLang="zh-CN" sz="2400" b="1" i="1" u="none" strike="noStrike" cap="none" normalizeH="0" baseline="0" dirty="0">
                          <a:ln>
                            <a:noFill/>
                          </a:ln>
                          <a:solidFill>
                            <a:srgbClr val="00B0F0"/>
                          </a:solidFill>
                          <a:effectLst/>
                          <a:latin typeface="Times New Roman" panose="02020603050405020304" pitchFamily="18" charset="0"/>
                          <a:ea typeface="宋体" panose="02010600030101010101" pitchFamily="2" charset="-122"/>
                        </a:rPr>
                        <a:t>e</a:t>
                      </a: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 name="Text Box 15">
            <a:extLst>
              <a:ext uri="{FF2B5EF4-FFF2-40B4-BE49-F238E27FC236}">
                <a16:creationId xmlns:a16="http://schemas.microsoft.com/office/drawing/2014/main" id="{D9F9BFD2-F19F-426B-8CF2-FC9AC9D53D66}"/>
              </a:ext>
            </a:extLst>
          </p:cNvPr>
          <p:cNvSpPr txBox="1">
            <a:spLocks noChangeArrowheads="1"/>
          </p:cNvSpPr>
          <p:nvPr/>
        </p:nvSpPr>
        <p:spPr bwMode="auto">
          <a:xfrm>
            <a:off x="0" y="1758532"/>
            <a:ext cx="8961120" cy="4180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nSpc>
                <a:spcPct val="110000"/>
              </a:lnSpc>
            </a:pPr>
            <a:r>
              <a:rPr lang="en-US" altLang="zh-CN" sz="2400" dirty="0">
                <a:latin typeface="Trebuchet MS" panose="020B0603020202020204" pitchFamily="34" charset="0"/>
              </a:rPr>
              <a:t>The operation table has the following characteristics:</a:t>
            </a:r>
          </a:p>
          <a:p>
            <a:pPr marL="342900" indent="-254000">
              <a:lnSpc>
                <a:spcPct val="110000"/>
              </a:lnSpc>
              <a:buClr>
                <a:srgbClr val="0B61FF"/>
              </a:buClr>
              <a:buSzPct val="120000"/>
              <a:buFont typeface="Arial" panose="020B0604020202020204" pitchFamily="34" charset="0"/>
              <a:buChar char="•"/>
            </a:pPr>
            <a:r>
              <a:rPr lang="en-US" altLang="zh-CN" sz="2400" b="1" i="1" dirty="0">
                <a:solidFill>
                  <a:srgbClr val="0B61FF"/>
                </a:solidFill>
                <a:latin typeface="Trebuchet MS" panose="020B0603020202020204" pitchFamily="34" charset="0"/>
              </a:rPr>
              <a:t>Symmetry</a:t>
            </a:r>
            <a:r>
              <a:rPr lang="en-US" altLang="zh-CN" sz="2400" dirty="0">
                <a:latin typeface="Trebuchet MS" panose="020B0603020202020204" pitchFamily="34" charset="0"/>
              </a:rPr>
              <a:t> - the operation is commutative.</a:t>
            </a:r>
          </a:p>
          <a:p>
            <a:pPr marL="342900" indent="-254000">
              <a:lnSpc>
                <a:spcPct val="11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The </a:t>
            </a:r>
            <a:r>
              <a:rPr lang="en-US" altLang="zh-CN" sz="2400" b="1" i="1" dirty="0">
                <a:solidFill>
                  <a:srgbClr val="0B61FF"/>
                </a:solidFill>
                <a:latin typeface="Trebuchet MS" panose="020B0603020202020204" pitchFamily="34" charset="0"/>
              </a:rPr>
              <a:t>main diagonal elements </a:t>
            </a:r>
            <a:r>
              <a:rPr lang="en-US" altLang="zh-CN" sz="2400" dirty="0">
                <a:latin typeface="Trebuchet MS" panose="020B0603020202020204" pitchFamily="34" charset="0"/>
              </a:rPr>
              <a:t>are all the identity element </a:t>
            </a:r>
            <a:r>
              <a:rPr kumimoji="1" lang="en-US" altLang="zh-CN" sz="2400" b="1" i="1" dirty="0">
                <a:solidFill>
                  <a:srgbClr val="FF0000"/>
                </a:solidFill>
                <a:latin typeface="Trebuchet MS" panose="020B0603020202020204" pitchFamily="34" charset="0"/>
              </a:rPr>
              <a:t>e</a:t>
            </a:r>
            <a:r>
              <a:rPr lang="en-US" altLang="zh-CN" sz="2400" dirty="0">
                <a:latin typeface="Trebuchet MS" panose="020B0603020202020204" pitchFamily="34" charset="0"/>
              </a:rPr>
              <a:t>.</a:t>
            </a:r>
          </a:p>
          <a:p>
            <a:pPr marL="342900" indent="-254000">
              <a:lnSpc>
                <a:spcPct val="11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Each element composed with itself equals the identity element </a:t>
            </a:r>
            <a:r>
              <a:rPr kumimoji="1" lang="en-US" altLang="zh-CN" sz="2400" b="1" i="1" dirty="0">
                <a:solidFill>
                  <a:srgbClr val="FF0000"/>
                </a:solidFill>
                <a:latin typeface="Trebuchet MS" panose="020B0603020202020204" pitchFamily="34" charset="0"/>
              </a:rPr>
              <a:t>e</a:t>
            </a:r>
            <a:r>
              <a:rPr lang="en-US" altLang="zh-CN" sz="2400" dirty="0">
                <a:latin typeface="Trebuchet MS" panose="020B0603020202020204" pitchFamily="34" charset="0"/>
              </a:rPr>
              <a:t> (i.e., each element is its </a:t>
            </a:r>
            <a:r>
              <a:rPr lang="en-US" altLang="zh-CN" sz="2400" b="1" i="1" dirty="0">
                <a:solidFill>
                  <a:srgbClr val="0B61FF"/>
                </a:solidFill>
                <a:latin typeface="Trebuchet MS" panose="020B0603020202020204" pitchFamily="34" charset="0"/>
              </a:rPr>
              <a:t>own inverse</a:t>
            </a:r>
            <a:r>
              <a:rPr lang="en-US" altLang="zh-CN" sz="2400" dirty="0">
                <a:latin typeface="Trebuchet MS" panose="020B0603020202020204" pitchFamily="34" charset="0"/>
              </a:rPr>
              <a:t>).</a:t>
            </a:r>
          </a:p>
          <a:p>
            <a:pPr marL="342900" indent="-254000">
              <a:lnSpc>
                <a:spcPct val="11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For any </a:t>
            </a:r>
            <a:r>
              <a:rPr lang="en-US" altLang="zh-CN" sz="2400" b="1" dirty="0">
                <a:latin typeface="Trebuchet MS" panose="020B0603020202020204" pitchFamily="34" charset="0"/>
              </a:rPr>
              <a:t>two elements </a:t>
            </a:r>
            <a:r>
              <a:rPr lang="en-US" altLang="zh-CN" sz="2400" dirty="0">
                <a:latin typeface="Trebuchet MS" panose="020B0603020202020204" pitchFamily="34" charset="0"/>
              </a:rPr>
              <a:t>among </a:t>
            </a:r>
            <a:r>
              <a:rPr lang="en-US" altLang="zh-CN" sz="2400" b="1" i="1" dirty="0">
                <a:latin typeface="Trebuchet MS" panose="020B0603020202020204" pitchFamily="34" charset="0"/>
              </a:rPr>
              <a:t>a</a:t>
            </a:r>
            <a:r>
              <a:rPr lang="en-US" altLang="zh-CN" sz="2400" b="1" dirty="0">
                <a:latin typeface="Trebuchet MS" panose="020B0603020202020204" pitchFamily="34" charset="0"/>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b="1" i="1" dirty="0">
                <a:latin typeface="Trebuchet MS" panose="020B0603020202020204" pitchFamily="34" charset="0"/>
              </a:rPr>
              <a:t>c </a:t>
            </a:r>
            <a:r>
              <a:rPr lang="en-US" altLang="zh-CN" sz="2400" dirty="0">
                <a:latin typeface="Trebuchet MS" panose="020B0603020202020204" pitchFamily="34" charset="0"/>
              </a:rPr>
              <a:t>, their operation result </a:t>
            </a:r>
            <a:r>
              <a:rPr lang="en-US" altLang="zh-CN" sz="2400" b="1" i="1" dirty="0">
                <a:solidFill>
                  <a:srgbClr val="0B61FF"/>
                </a:solidFill>
                <a:latin typeface="Trebuchet MS" panose="020B0603020202020204" pitchFamily="34" charset="0"/>
              </a:rPr>
              <a:t>equals the third element</a:t>
            </a:r>
            <a:r>
              <a:rPr lang="en-US" altLang="zh-CN" sz="2400" dirty="0">
                <a:latin typeface="Trebuchet MS" panose="020B0603020202020204" pitchFamily="34" charset="0"/>
              </a:rPr>
              <a:t>.</a:t>
            </a:r>
          </a:p>
          <a:p>
            <a:pPr marL="88900">
              <a:lnSpc>
                <a:spcPct val="110000"/>
              </a:lnSpc>
              <a:buClr>
                <a:srgbClr val="0B61FF"/>
              </a:buClr>
              <a:buSzPct val="120000"/>
            </a:pPr>
            <a:r>
              <a:rPr lang="en-US" altLang="zh-CN" sz="2400" dirty="0">
                <a:latin typeface="Trebuchet MS" panose="020B0603020202020204" pitchFamily="34" charset="0"/>
              </a:rPr>
              <a:t>Such a group </a:t>
            </a:r>
            <a:r>
              <a:rPr lang="en-US" altLang="zh-CN" sz="2400" b="1" dirty="0">
                <a:solidFill>
                  <a:srgbClr val="FF0000"/>
                </a:solidFill>
                <a:latin typeface="Trebuchet MS" panose="020B0603020202020204" pitchFamily="34" charset="0"/>
              </a:rPr>
              <a:t>⟨G,∘⟩</a:t>
            </a:r>
            <a:r>
              <a:rPr lang="en-US" altLang="zh-CN" sz="2400" b="1" dirty="0">
                <a:latin typeface="Trebuchet MS" panose="020B0603020202020204" pitchFamily="34" charset="0"/>
              </a:rPr>
              <a:t> </a:t>
            </a:r>
            <a:r>
              <a:rPr lang="en-US" altLang="zh-CN" sz="2400" dirty="0">
                <a:latin typeface="Trebuchet MS" panose="020B0603020202020204" pitchFamily="34" charset="0"/>
              </a:rPr>
              <a:t>is generally called the </a:t>
            </a:r>
            <a:r>
              <a:rPr lang="en-US" altLang="zh-CN" sz="2400" b="1" i="1" dirty="0">
                <a:solidFill>
                  <a:srgbClr val="0B61FF"/>
                </a:solidFill>
                <a:latin typeface="Trebuchet MS" panose="020B0603020202020204" pitchFamily="34" charset="0"/>
              </a:rPr>
              <a:t>Klein four-group.</a:t>
            </a:r>
            <a:endParaRPr lang="zh-CN" altLang="en-US" sz="2400" b="1" i="1" dirty="0">
              <a:solidFill>
                <a:srgbClr val="0B61FF"/>
              </a:solidFill>
              <a:latin typeface="Trebuchet MS" panose="020B0603020202020204" pitchFamily="34" charset="0"/>
              <a:cs typeface="Times New Roman" panose="02020603050405020304" pitchFamily="18" charset="0"/>
            </a:endParaRPr>
          </a:p>
          <a:p>
            <a:pPr marL="342900" indent="-254000">
              <a:lnSpc>
                <a:spcPct val="120000"/>
              </a:lnSpc>
              <a:buClr>
                <a:srgbClr val="0B61FF"/>
              </a:buClr>
              <a:buSzPct val="120000"/>
              <a:buFont typeface="Arial" panose="020B0604020202020204" pitchFamily="34" charset="0"/>
              <a:buChar char="•"/>
            </a:pPr>
            <a:endParaRPr lang="en-US" altLang="zh-CN" sz="2400" dirty="0">
              <a:latin typeface="Trebuchet MS" panose="020B0603020202020204" pitchFamily="34" charset="0"/>
            </a:endParaRPr>
          </a:p>
        </p:txBody>
      </p:sp>
      <p:sp>
        <p:nvSpPr>
          <p:cNvPr id="15" name="动作按钮: 后退或前一项 14">
            <a:hlinkClick r:id="" action="ppaction://hlinkshowjump?jump=lastslideviewed" highlightClick="1"/>
            <a:extLst>
              <a:ext uri="{FF2B5EF4-FFF2-40B4-BE49-F238E27FC236}">
                <a16:creationId xmlns:a16="http://schemas.microsoft.com/office/drawing/2014/main" id="{CF7C68A3-97E3-4BAB-8BAB-126E5E8930CA}"/>
              </a:ext>
            </a:extLst>
          </p:cNvPr>
          <p:cNvSpPr/>
          <p:nvPr/>
        </p:nvSpPr>
        <p:spPr>
          <a:xfrm>
            <a:off x="8481551" y="6243801"/>
            <a:ext cx="659765" cy="254635"/>
          </a:xfrm>
          <a:prstGeom prst="actionButtonBackPrevious">
            <a:avLst/>
          </a:prstGeom>
        </p:spPr>
        <p:style>
          <a:lnRef idx="3">
            <a:schemeClr val="lt1"/>
          </a:lnRef>
          <a:fillRef idx="1">
            <a:schemeClr val="accent2"/>
          </a:fillRef>
          <a:effectRef idx="1">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Tree>
    <p:extLst>
      <p:ext uri="{BB962C8B-B14F-4D97-AF65-F5344CB8AC3E}">
        <p14:creationId xmlns:p14="http://schemas.microsoft.com/office/powerpoint/2010/main" val="14081910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1000"/>
                                        <p:tgtEl>
                                          <p:spTgt spid="14">
                                            <p:txEl>
                                              <p:pRg st="1" end="1"/>
                                            </p:txEl>
                                          </p:spTgt>
                                        </p:tgtEl>
                                      </p:cBhvr>
                                    </p:animEffect>
                                    <p:anim calcmode="lin" valueType="num">
                                      <p:cBhvr>
                                        <p:cTn id="13"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Effect transition="in" filter="fade">
                                      <p:cBhvr>
                                        <p:cTn id="19" dur="1000"/>
                                        <p:tgtEl>
                                          <p:spTgt spid="14">
                                            <p:txEl>
                                              <p:pRg st="2" end="2"/>
                                            </p:txEl>
                                          </p:spTgt>
                                        </p:tgtEl>
                                      </p:cBhvr>
                                    </p:animEffect>
                                    <p:anim calcmode="lin" valueType="num">
                                      <p:cBhvr>
                                        <p:cTn id="20"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4">
                                            <p:txEl>
                                              <p:pRg st="3" end="3"/>
                                            </p:txEl>
                                          </p:spTgt>
                                        </p:tgtEl>
                                        <p:attrNameLst>
                                          <p:attrName>style.visibility</p:attrName>
                                        </p:attrNameLst>
                                      </p:cBhvr>
                                      <p:to>
                                        <p:strVal val="visible"/>
                                      </p:to>
                                    </p:set>
                                    <p:animEffect transition="in" filter="fade">
                                      <p:cBhvr>
                                        <p:cTn id="26" dur="1000"/>
                                        <p:tgtEl>
                                          <p:spTgt spid="14">
                                            <p:txEl>
                                              <p:pRg st="3" end="3"/>
                                            </p:txEl>
                                          </p:spTgt>
                                        </p:tgtEl>
                                      </p:cBhvr>
                                    </p:animEffect>
                                    <p:anim calcmode="lin" valueType="num">
                                      <p:cBhvr>
                                        <p:cTn id="27"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animEffect transition="in" filter="fade">
                                      <p:cBhvr>
                                        <p:cTn id="33" dur="1000"/>
                                        <p:tgtEl>
                                          <p:spTgt spid="14">
                                            <p:txEl>
                                              <p:pRg st="4" end="4"/>
                                            </p:txEl>
                                          </p:spTgt>
                                        </p:tgtEl>
                                      </p:cBhvr>
                                    </p:animEffect>
                                    <p:anim calcmode="lin" valueType="num">
                                      <p:cBhvr>
                                        <p:cTn id="34"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4">
                                            <p:txEl>
                                              <p:pRg st="5" end="5"/>
                                            </p:txEl>
                                          </p:spTgt>
                                        </p:tgtEl>
                                        <p:attrNameLst>
                                          <p:attrName>style.visibility</p:attrName>
                                        </p:attrNameLst>
                                      </p:cBhvr>
                                      <p:to>
                                        <p:strVal val="visible"/>
                                      </p:to>
                                    </p:set>
                                    <p:animEffect transition="in" filter="fade">
                                      <p:cBhvr>
                                        <p:cTn id="40" dur="1000"/>
                                        <p:tgtEl>
                                          <p:spTgt spid="14">
                                            <p:txEl>
                                              <p:pRg st="5" end="5"/>
                                            </p:txEl>
                                          </p:spTgt>
                                        </p:tgtEl>
                                      </p:cBhvr>
                                    </p:animEffect>
                                    <p:anim calcmode="lin" valueType="num">
                                      <p:cBhvr>
                                        <p:cTn id="41"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Infinite Groups, Finite Groups, and Abelian Groups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5" name="Rectangle 3">
            <a:extLst>
              <a:ext uri="{FF2B5EF4-FFF2-40B4-BE49-F238E27FC236}">
                <a16:creationId xmlns:a16="http://schemas.microsoft.com/office/drawing/2014/main" id="{53718011-C566-484E-BAB1-2542F16D33B8}"/>
              </a:ext>
            </a:extLst>
          </p:cNvPr>
          <p:cNvSpPr>
            <a:spLocks noChangeArrowheads="1"/>
          </p:cNvSpPr>
          <p:nvPr/>
        </p:nvSpPr>
        <p:spPr bwMode="auto">
          <a:xfrm>
            <a:off x="824682" y="735208"/>
            <a:ext cx="10649139" cy="5219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Autofit/>
          </a:bodyPr>
          <a:lstStyle>
            <a:lvl1pPr indent="428625">
              <a:defRPr>
                <a:solidFill>
                  <a:schemeClr val="accent2"/>
                </a:solidFill>
                <a:latin typeface="Arial" panose="020B0604020202020204" pitchFamily="34" charset="0"/>
                <a:ea typeface="华文行楷" panose="02010800040101010101" pitchFamily="2" charset="-122"/>
              </a:defRPr>
            </a:lvl1pPr>
            <a:lvl2pPr>
              <a:defRPr>
                <a:solidFill>
                  <a:schemeClr val="accent2"/>
                </a:solidFill>
                <a:latin typeface="Arial" panose="020B0604020202020204" pitchFamily="34" charset="0"/>
                <a:ea typeface="华文行楷" panose="02010800040101010101" pitchFamily="2" charset="-122"/>
              </a:defRPr>
            </a:lvl2pPr>
            <a:lvl3pPr>
              <a:defRPr>
                <a:solidFill>
                  <a:schemeClr val="accent2"/>
                </a:solidFill>
                <a:latin typeface="Arial" panose="020B0604020202020204" pitchFamily="34" charset="0"/>
                <a:ea typeface="华文行楷" panose="02010800040101010101" pitchFamily="2" charset="-122"/>
              </a:defRPr>
            </a:lvl3pPr>
            <a:lvl4pPr>
              <a:defRPr>
                <a:solidFill>
                  <a:schemeClr val="accent2"/>
                </a:solidFill>
                <a:latin typeface="Arial" panose="020B0604020202020204" pitchFamily="34" charset="0"/>
                <a:ea typeface="华文行楷" panose="02010800040101010101" pitchFamily="2" charset="-122"/>
              </a:defRPr>
            </a:lvl4pPr>
            <a:lvl5pPr>
              <a:defRPr>
                <a:solidFill>
                  <a:schemeClr val="accent2"/>
                </a:solidFill>
                <a:latin typeface="Arial" panose="020B0604020202020204" pitchFamily="34" charset="0"/>
                <a:ea typeface="华文行楷" panose="02010800040101010101" pitchFamily="2" charset="-122"/>
              </a:defRPr>
            </a:lvl5pPr>
            <a:lvl6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fontAlgn="base">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a:lnSpc>
                <a:spcPct val="120000"/>
              </a:lnSpc>
              <a:buClr>
                <a:srgbClr val="0B61FF"/>
              </a:buClr>
              <a:buSzPct val="80000"/>
              <a:buFont typeface="Wingdings" panose="05000000000000000000" pitchFamily="2" charset="2"/>
              <a:buChar char="n"/>
            </a:pPr>
            <a:r>
              <a:rPr lang="en-US" altLang="zh-CN" sz="2400" dirty="0">
                <a:solidFill>
                  <a:schemeClr val="tx1"/>
                </a:solidFill>
                <a:latin typeface="Trebuchet MS" panose="020B0603020202020204" pitchFamily="34" charset="0"/>
              </a:rPr>
              <a:t>If the binary operation </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solidFill>
                  <a:schemeClr val="tx1"/>
                </a:solidFill>
                <a:latin typeface="Trebuchet MS" panose="020B0603020202020204" pitchFamily="34" charset="0"/>
              </a:rPr>
              <a:t>in the group </a:t>
            </a:r>
            <a:r>
              <a:rPr lang="en-US" altLang="zh-CN" sz="2400" b="1" dirty="0">
                <a:solidFill>
                  <a:srgbClr val="FF0000"/>
                </a:solidFill>
                <a:latin typeface="Trebuchet MS" panose="020B0603020202020204" pitchFamily="34" charset="0"/>
              </a:rPr>
              <a:t>⟨G,∘⟩</a:t>
            </a:r>
            <a:r>
              <a:rPr lang="en-US" altLang="zh-CN" sz="2400" dirty="0">
                <a:solidFill>
                  <a:schemeClr val="tx1"/>
                </a:solidFill>
                <a:latin typeface="Trebuchet MS" panose="020B0603020202020204" pitchFamily="34" charset="0"/>
              </a:rPr>
              <a:t> is commutative, then </a:t>
            </a:r>
            <a:r>
              <a:rPr lang="en-US" altLang="zh-CN" sz="2400" b="1" dirty="0">
                <a:solidFill>
                  <a:schemeClr val="tx1"/>
                </a:solidFill>
                <a:latin typeface="Trebuchet MS" panose="020B0603020202020204" pitchFamily="34" charset="0"/>
              </a:rPr>
              <a:t>G</a:t>
            </a:r>
            <a:r>
              <a:rPr lang="en-US" altLang="zh-CN" sz="2400" dirty="0">
                <a:solidFill>
                  <a:schemeClr val="tx1"/>
                </a:solidFill>
                <a:latin typeface="Trebuchet MS" panose="020B0603020202020204" pitchFamily="34" charset="0"/>
              </a:rPr>
              <a:t> is called a </a:t>
            </a:r>
            <a:r>
              <a:rPr lang="en-US" altLang="zh-CN" sz="2400" b="1" dirty="0">
                <a:solidFill>
                  <a:schemeClr val="tx1"/>
                </a:solidFill>
                <a:latin typeface="Trebuchet MS" panose="020B0603020202020204" pitchFamily="34" charset="0"/>
              </a:rPr>
              <a:t>commutative group</a:t>
            </a:r>
            <a:r>
              <a:rPr lang="en-US" altLang="zh-CN" sz="2400" dirty="0">
                <a:solidFill>
                  <a:schemeClr val="tx1"/>
                </a:solidFill>
                <a:latin typeface="Trebuchet MS" panose="020B0603020202020204" pitchFamily="34" charset="0"/>
              </a:rPr>
              <a:t> or </a:t>
            </a:r>
            <a:r>
              <a:rPr lang="en-US" altLang="zh-CN" sz="2400" b="1" i="1" dirty="0">
                <a:solidFill>
                  <a:srgbClr val="0B61FF"/>
                </a:solidFill>
                <a:latin typeface="Trebuchet MS" panose="020B0603020202020204" pitchFamily="34" charset="0"/>
              </a:rPr>
              <a:t>Abelian group</a:t>
            </a:r>
            <a:r>
              <a:rPr lang="en-US" altLang="zh-CN" sz="2400" dirty="0">
                <a:solidFill>
                  <a:schemeClr val="tx1"/>
                </a:solidFill>
                <a:latin typeface="Trebuchet MS" panose="020B0603020202020204" pitchFamily="34" charset="0"/>
              </a:rPr>
              <a:t>.</a:t>
            </a:r>
          </a:p>
          <a:p>
            <a:pPr marL="342900" indent="-342900">
              <a:lnSpc>
                <a:spcPct val="120000"/>
              </a:lnSpc>
              <a:buClr>
                <a:srgbClr val="0B61FF"/>
              </a:buClr>
              <a:buSzPct val="80000"/>
              <a:buFont typeface="Wingdings" panose="05000000000000000000" pitchFamily="2" charset="2"/>
              <a:buChar char="n"/>
            </a:pPr>
            <a:r>
              <a:rPr lang="en-US" altLang="zh-CN" sz="2400" dirty="0">
                <a:solidFill>
                  <a:schemeClr val="tx1"/>
                </a:solidFill>
                <a:latin typeface="Trebuchet MS" panose="020B0603020202020204" pitchFamily="34" charset="0"/>
              </a:rPr>
              <a:t>If the group </a:t>
            </a:r>
            <a:r>
              <a:rPr lang="en-US" altLang="zh-CN" sz="2400" b="1" dirty="0">
                <a:solidFill>
                  <a:srgbClr val="FF0000"/>
                </a:solidFill>
                <a:latin typeface="Trebuchet MS" panose="020B0603020202020204" pitchFamily="34" charset="0"/>
              </a:rPr>
              <a:t>⟨G,∘⟩</a:t>
            </a:r>
            <a:r>
              <a:rPr lang="en-US" altLang="zh-CN" sz="2400" dirty="0">
                <a:solidFill>
                  <a:schemeClr val="tx1"/>
                </a:solidFill>
                <a:latin typeface="Trebuchet MS" panose="020B0603020202020204" pitchFamily="34" charset="0"/>
              </a:rPr>
              <a:t> has infinitely many elements, it is called an </a:t>
            </a:r>
            <a:r>
              <a:rPr lang="en-US" altLang="zh-CN" sz="2400" b="1" i="1" dirty="0">
                <a:solidFill>
                  <a:srgbClr val="0B61FF"/>
                </a:solidFill>
                <a:latin typeface="Trebuchet MS" panose="020B0603020202020204" pitchFamily="34" charset="0"/>
              </a:rPr>
              <a:t>infinite group</a:t>
            </a:r>
            <a:r>
              <a:rPr lang="en-US" altLang="zh-CN" sz="2400" dirty="0">
                <a:solidFill>
                  <a:schemeClr val="tx1"/>
                </a:solidFill>
                <a:latin typeface="Trebuchet MS" panose="020B0603020202020204" pitchFamily="34" charset="0"/>
              </a:rPr>
              <a:t>, otherwise, it is a </a:t>
            </a:r>
            <a:r>
              <a:rPr lang="en-US" altLang="zh-CN" sz="2400" b="1" i="1" dirty="0">
                <a:solidFill>
                  <a:srgbClr val="0B61FF"/>
                </a:solidFill>
                <a:latin typeface="Trebuchet MS" panose="020B0603020202020204" pitchFamily="34" charset="0"/>
              </a:rPr>
              <a:t>finite group</a:t>
            </a:r>
            <a:r>
              <a:rPr lang="en-US" altLang="zh-CN" sz="2400" dirty="0">
                <a:solidFill>
                  <a:schemeClr val="tx1"/>
                </a:solidFill>
                <a:latin typeface="Trebuchet MS" panose="020B0603020202020204" pitchFamily="34" charset="0"/>
              </a:rPr>
              <a:t>.</a:t>
            </a:r>
          </a:p>
          <a:p>
            <a:pPr marL="342900" indent="-342900">
              <a:lnSpc>
                <a:spcPct val="120000"/>
              </a:lnSpc>
              <a:buClr>
                <a:srgbClr val="0B61FF"/>
              </a:buClr>
              <a:buSzPct val="80000"/>
              <a:buFont typeface="Wingdings" panose="05000000000000000000" pitchFamily="2" charset="2"/>
              <a:buChar char="n"/>
            </a:pPr>
            <a:r>
              <a:rPr lang="en-US" altLang="zh-CN" sz="2400" dirty="0">
                <a:solidFill>
                  <a:schemeClr val="tx1"/>
                </a:solidFill>
                <a:latin typeface="Trebuchet MS" panose="020B0603020202020204" pitchFamily="34" charset="0"/>
              </a:rPr>
              <a:t>For a finite group </a:t>
            </a:r>
            <a:r>
              <a:rPr lang="en-US" altLang="zh-CN" sz="2400" b="1" dirty="0">
                <a:solidFill>
                  <a:srgbClr val="FF0000"/>
                </a:solidFill>
                <a:latin typeface="Trebuchet MS" panose="020B0603020202020204" pitchFamily="34" charset="0"/>
              </a:rPr>
              <a:t>⟨G,∘⟩</a:t>
            </a:r>
            <a:r>
              <a:rPr lang="en-US" altLang="zh-CN" sz="2400" dirty="0">
                <a:solidFill>
                  <a:schemeClr val="tx1"/>
                </a:solidFill>
                <a:latin typeface="Trebuchet MS" panose="020B0603020202020204" pitchFamily="34" charset="0"/>
              </a:rPr>
              <a:t>, the number of elements is called the </a:t>
            </a:r>
            <a:r>
              <a:rPr lang="en-US" altLang="zh-CN" sz="2400" b="1" i="1" dirty="0">
                <a:solidFill>
                  <a:srgbClr val="0B61FF"/>
                </a:solidFill>
                <a:latin typeface="Trebuchet MS" panose="020B0603020202020204" pitchFamily="34" charset="0"/>
              </a:rPr>
              <a:t>order of the group</a:t>
            </a:r>
            <a:r>
              <a:rPr lang="en-US" altLang="zh-CN" sz="2400" dirty="0">
                <a:solidFill>
                  <a:schemeClr val="tx1"/>
                </a:solidFill>
                <a:latin typeface="Trebuchet MS" panose="020B0603020202020204" pitchFamily="34" charset="0"/>
              </a:rPr>
              <a:t>, denoted as </a:t>
            </a:r>
            <a:r>
              <a:rPr lang="en-US" altLang="zh-CN" sz="2400" b="1" dirty="0">
                <a:solidFill>
                  <a:srgbClr val="FF0000"/>
                </a:solidFill>
                <a:latin typeface="Trebuchet MS" panose="020B0603020202020204" pitchFamily="34" charset="0"/>
              </a:rPr>
              <a:t>∣G∣</a:t>
            </a:r>
            <a:r>
              <a:rPr lang="en-US" altLang="zh-CN" sz="2400" dirty="0">
                <a:solidFill>
                  <a:schemeClr val="tx1"/>
                </a:solidFill>
                <a:latin typeface="Trebuchet MS" panose="020B0603020202020204" pitchFamily="34" charset="0"/>
              </a:rPr>
              <a:t>.</a:t>
            </a:r>
          </a:p>
          <a:p>
            <a:pPr marL="342900" indent="-342900">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Example1 : </a:t>
            </a:r>
          </a:p>
          <a:p>
            <a:pPr marL="627063" indent="-268288">
              <a:lnSpc>
                <a:spcPct val="120000"/>
              </a:lnSpc>
              <a:buClr>
                <a:srgbClr val="0B61FF"/>
              </a:buClr>
              <a:buSzPct val="120000"/>
              <a:buFont typeface="Arial" panose="020B0604020202020204" pitchFamily="34" charset="0"/>
              <a:buChar char="•"/>
            </a:pPr>
            <a:r>
              <a:rPr lang="en-US" altLang="zh-CN" sz="2400" b="1" dirty="0">
                <a:solidFill>
                  <a:schemeClr val="tx1"/>
                </a:solidFill>
                <a:latin typeface="Trebuchet MS" panose="020B0603020202020204" pitchFamily="34" charset="0"/>
                <a:cs typeface="Times New Roman" panose="02020603050405020304" pitchFamily="18" charset="0"/>
              </a:rPr>
              <a:t>&lt;Z,+&gt; </a:t>
            </a:r>
            <a:r>
              <a:rPr lang="en-US" altLang="zh-CN" sz="2400" dirty="0">
                <a:solidFill>
                  <a:schemeClr val="tx1"/>
                </a:solidFill>
                <a:latin typeface="Trebuchet MS" panose="020B0603020202020204" pitchFamily="34" charset="0"/>
                <a:cs typeface="Times New Roman" panose="02020603050405020304" pitchFamily="18" charset="0"/>
              </a:rPr>
              <a:t>and</a:t>
            </a:r>
            <a:r>
              <a:rPr lang="en-US" altLang="zh-CN" sz="2400" b="1" dirty="0">
                <a:solidFill>
                  <a:schemeClr val="tx1"/>
                </a:solidFill>
                <a:latin typeface="Trebuchet MS" panose="020B0603020202020204" pitchFamily="34" charset="0"/>
                <a:cs typeface="Times New Roman" panose="02020603050405020304" pitchFamily="18" charset="0"/>
              </a:rPr>
              <a:t> </a:t>
            </a:r>
            <a:r>
              <a:rPr lang="zh-CN" altLang="en-US" sz="2400" b="1"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&lt;R,+&gt;</a:t>
            </a:r>
            <a:r>
              <a:rPr lang="en-US" altLang="zh-CN" sz="2400" dirty="0">
                <a:solidFill>
                  <a:schemeClr val="tx1"/>
                </a:solidFill>
                <a:latin typeface="Trebuchet MS" panose="020B0603020202020204" pitchFamily="34" charset="0"/>
              </a:rPr>
              <a:t> are </a:t>
            </a:r>
            <a:r>
              <a:rPr lang="en-US" altLang="zh-CN" sz="2400" b="1" dirty="0">
                <a:solidFill>
                  <a:schemeClr val="tx1"/>
                </a:solidFill>
                <a:latin typeface="Trebuchet MS" panose="020B0603020202020204" pitchFamily="34" charset="0"/>
              </a:rPr>
              <a:t>infinite groups</a:t>
            </a:r>
            <a:r>
              <a:rPr lang="en-US" altLang="zh-CN" sz="2400" dirty="0">
                <a:solidFill>
                  <a:schemeClr val="tx1"/>
                </a:solidFill>
                <a:latin typeface="Trebuchet MS" panose="020B0603020202020204" pitchFamily="34" charset="0"/>
              </a:rPr>
              <a:t>.</a:t>
            </a:r>
          </a:p>
          <a:p>
            <a:pPr marL="627063" indent="-268288">
              <a:lnSpc>
                <a:spcPct val="120000"/>
              </a:lnSpc>
              <a:buClr>
                <a:srgbClr val="0B61FF"/>
              </a:buClr>
              <a:buSzPct val="120000"/>
              <a:buFont typeface="Arial" panose="020B0604020202020204" pitchFamily="34" charset="0"/>
              <a:buChar char="•"/>
            </a:pPr>
            <a:r>
              <a:rPr lang="en-US" altLang="zh-CN" sz="2400" b="1" dirty="0">
                <a:solidFill>
                  <a:schemeClr val="tx1"/>
                </a:solidFill>
                <a:latin typeface="Trebuchet MS" panose="020B0603020202020204" pitchFamily="34" charset="0"/>
                <a:cs typeface="Times New Roman" panose="02020603050405020304" pitchFamily="18" charset="0"/>
              </a:rPr>
              <a:t>&lt;</a:t>
            </a:r>
            <a:r>
              <a:rPr lang="en-US" altLang="zh-CN" sz="2400" b="1" i="1" dirty="0">
                <a:solidFill>
                  <a:schemeClr val="tx1"/>
                </a:solidFill>
                <a:latin typeface="Trebuchet MS" panose="020B0603020202020204" pitchFamily="34" charset="0"/>
                <a:cs typeface="Times New Roman" panose="02020603050405020304" pitchFamily="18" charset="0"/>
              </a:rPr>
              <a:t>Z</a:t>
            </a:r>
            <a:r>
              <a:rPr lang="en-US" altLang="zh-CN" sz="2400" b="1" i="1" baseline="-25000" dirty="0">
                <a:solidFill>
                  <a:schemeClr val="tx1"/>
                </a:solidFill>
                <a:latin typeface="Trebuchet MS" panose="020B0603020202020204" pitchFamily="34" charset="0"/>
                <a:cs typeface="Times New Roman" panose="02020603050405020304" pitchFamily="18" charset="0"/>
              </a:rPr>
              <a:t>n</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chemeClr val="tx1"/>
                </a:solidFill>
                <a:latin typeface="Trebuchet MS" panose="020B0603020202020204" pitchFamily="34" charset="0"/>
                <a:cs typeface="Times New Roman" panose="02020603050405020304" pitchFamily="18" charset="0"/>
              </a:rPr>
              <a:t>&gt;</a:t>
            </a:r>
            <a:r>
              <a:rPr lang="en-US" altLang="zh-CN" sz="2400" dirty="0">
                <a:solidFill>
                  <a:schemeClr val="tx1"/>
                </a:solidFill>
                <a:latin typeface="Trebuchet MS" panose="020B0603020202020204" pitchFamily="34" charset="0"/>
              </a:rPr>
              <a:t> is a </a:t>
            </a:r>
            <a:r>
              <a:rPr lang="en-US" altLang="zh-CN" sz="2400" b="1" dirty="0">
                <a:solidFill>
                  <a:schemeClr val="tx1"/>
                </a:solidFill>
                <a:latin typeface="Trebuchet MS" panose="020B0603020202020204" pitchFamily="34" charset="0"/>
              </a:rPr>
              <a:t>finite group </a:t>
            </a:r>
            <a:r>
              <a:rPr lang="en-US" altLang="zh-CN" sz="2400" dirty="0">
                <a:solidFill>
                  <a:schemeClr val="tx1"/>
                </a:solidFill>
                <a:latin typeface="Trebuchet MS" panose="020B0603020202020204" pitchFamily="34" charset="0"/>
              </a:rPr>
              <a:t>and is a group of order </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n </a:t>
            </a:r>
            <a:r>
              <a:rPr lang="zh-CN" altLang="en-US"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p>
          <a:p>
            <a:pPr marL="627063" indent="-268288">
              <a:lnSpc>
                <a:spcPct val="12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The </a:t>
            </a:r>
            <a:r>
              <a:rPr lang="en-US" altLang="zh-CN" sz="2400" b="1" dirty="0">
                <a:solidFill>
                  <a:schemeClr val="tx1"/>
                </a:solidFill>
                <a:latin typeface="Trebuchet MS" panose="020B0603020202020204" pitchFamily="34" charset="0"/>
              </a:rPr>
              <a:t>Klein four-group </a:t>
            </a:r>
            <a:r>
              <a:rPr lang="en-US" altLang="zh-CN" sz="2400" dirty="0">
                <a:solidFill>
                  <a:schemeClr val="tx1"/>
                </a:solidFill>
                <a:latin typeface="Trebuchet MS" panose="020B0603020202020204" pitchFamily="34" charset="0"/>
              </a:rPr>
              <a:t>is a group of order 4.</a:t>
            </a:r>
          </a:p>
          <a:p>
            <a:pPr marL="627063" indent="-268288">
              <a:lnSpc>
                <a:spcPct val="12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All of the above groups are </a:t>
            </a:r>
            <a:r>
              <a:rPr lang="en-US" altLang="zh-CN" sz="2400" b="1" dirty="0">
                <a:solidFill>
                  <a:schemeClr val="tx1"/>
                </a:solidFill>
                <a:latin typeface="Trebuchet MS" panose="020B0603020202020204" pitchFamily="34" charset="0"/>
              </a:rPr>
              <a:t>commutative (Abelian) groups</a:t>
            </a:r>
            <a:r>
              <a:rPr lang="en-US" altLang="zh-CN" sz="2400" dirty="0">
                <a:solidFill>
                  <a:schemeClr val="tx1"/>
                </a:solidFill>
                <a:latin typeface="Trebuchet MS" panose="020B0603020202020204" pitchFamily="34" charset="0"/>
              </a:rPr>
              <a:t>.</a:t>
            </a:r>
          </a:p>
          <a:p>
            <a:pPr marL="342900" indent="-342900">
              <a:buClr>
                <a:srgbClr val="0B61FF"/>
              </a:buClr>
              <a:buSzPct val="80000"/>
              <a:buFont typeface="Wingdings" panose="05000000000000000000" pitchFamily="2" charset="2"/>
              <a:buChar char="n"/>
            </a:pPr>
            <a:endParaRPr lang="en-US" altLang="zh-CN" sz="24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6510203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animEffect transition="in" filter="fade">
                                      <p:cBhvr>
                                        <p:cTn id="7" dur="1000"/>
                                        <p:tgtEl>
                                          <p:spTgt spid="15">
                                            <p:txEl>
                                              <p:pRg st="1" end="1"/>
                                            </p:txEl>
                                          </p:spTgt>
                                        </p:tgtEl>
                                      </p:cBhvr>
                                    </p:animEffect>
                                    <p:anim calcmode="lin" valueType="num">
                                      <p:cBhvr>
                                        <p:cTn id="8"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2" end="2"/>
                                            </p:txEl>
                                          </p:spTgt>
                                        </p:tgtEl>
                                        <p:attrNameLst>
                                          <p:attrName>style.visibility</p:attrName>
                                        </p:attrNameLst>
                                      </p:cBhvr>
                                      <p:to>
                                        <p:strVal val="visible"/>
                                      </p:to>
                                    </p:set>
                                    <p:animEffect transition="in" filter="fade">
                                      <p:cBhvr>
                                        <p:cTn id="14" dur="1000"/>
                                        <p:tgtEl>
                                          <p:spTgt spid="15">
                                            <p:txEl>
                                              <p:pRg st="2" end="2"/>
                                            </p:txEl>
                                          </p:spTgt>
                                        </p:tgtEl>
                                      </p:cBhvr>
                                    </p:animEffect>
                                    <p:anim calcmode="lin" valueType="num">
                                      <p:cBhvr>
                                        <p:cTn id="15"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3" end="3"/>
                                            </p:txEl>
                                          </p:spTgt>
                                        </p:tgtEl>
                                        <p:attrNameLst>
                                          <p:attrName>style.visibility</p:attrName>
                                        </p:attrNameLst>
                                      </p:cBhvr>
                                      <p:to>
                                        <p:strVal val="visible"/>
                                      </p:to>
                                    </p:set>
                                    <p:animEffect transition="in" filter="fade">
                                      <p:cBhvr>
                                        <p:cTn id="21" dur="1000"/>
                                        <p:tgtEl>
                                          <p:spTgt spid="15">
                                            <p:txEl>
                                              <p:pRg st="3" end="3"/>
                                            </p:txEl>
                                          </p:spTgt>
                                        </p:tgtEl>
                                      </p:cBhvr>
                                    </p:animEffect>
                                    <p:anim calcmode="lin" valueType="num">
                                      <p:cBhvr>
                                        <p:cTn id="22"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5">
                                            <p:txEl>
                                              <p:pRg st="4" end="4"/>
                                            </p:txEl>
                                          </p:spTgt>
                                        </p:tgtEl>
                                        <p:attrNameLst>
                                          <p:attrName>style.visibility</p:attrName>
                                        </p:attrNameLst>
                                      </p:cBhvr>
                                      <p:to>
                                        <p:strVal val="visible"/>
                                      </p:to>
                                    </p:set>
                                    <p:animEffect transition="in" filter="fade">
                                      <p:cBhvr>
                                        <p:cTn id="26" dur="1000"/>
                                        <p:tgtEl>
                                          <p:spTgt spid="15">
                                            <p:txEl>
                                              <p:pRg st="4" end="4"/>
                                            </p:txEl>
                                          </p:spTgt>
                                        </p:tgtEl>
                                      </p:cBhvr>
                                    </p:animEffect>
                                    <p:anim calcmode="lin" valueType="num">
                                      <p:cBhvr>
                                        <p:cTn id="27"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5">
                                            <p:txEl>
                                              <p:pRg st="5" end="5"/>
                                            </p:txEl>
                                          </p:spTgt>
                                        </p:tgtEl>
                                        <p:attrNameLst>
                                          <p:attrName>style.visibility</p:attrName>
                                        </p:attrNameLst>
                                      </p:cBhvr>
                                      <p:to>
                                        <p:strVal val="visible"/>
                                      </p:to>
                                    </p:set>
                                    <p:animEffect transition="in" filter="fade">
                                      <p:cBhvr>
                                        <p:cTn id="33" dur="1000"/>
                                        <p:tgtEl>
                                          <p:spTgt spid="15">
                                            <p:txEl>
                                              <p:pRg st="5" end="5"/>
                                            </p:txEl>
                                          </p:spTgt>
                                        </p:tgtEl>
                                      </p:cBhvr>
                                    </p:animEffect>
                                    <p:anim calcmode="lin" valueType="num">
                                      <p:cBhvr>
                                        <p:cTn id="34" dur="1000" fill="hold"/>
                                        <p:tgtEl>
                                          <p:spTgt spid="15">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5">
                                            <p:txEl>
                                              <p:pRg st="6" end="6"/>
                                            </p:txEl>
                                          </p:spTgt>
                                        </p:tgtEl>
                                        <p:attrNameLst>
                                          <p:attrName>style.visibility</p:attrName>
                                        </p:attrNameLst>
                                      </p:cBhvr>
                                      <p:to>
                                        <p:strVal val="visible"/>
                                      </p:to>
                                    </p:set>
                                    <p:animEffect transition="in" filter="fade">
                                      <p:cBhvr>
                                        <p:cTn id="40" dur="1000"/>
                                        <p:tgtEl>
                                          <p:spTgt spid="15">
                                            <p:txEl>
                                              <p:pRg st="6" end="6"/>
                                            </p:txEl>
                                          </p:spTgt>
                                        </p:tgtEl>
                                      </p:cBhvr>
                                    </p:animEffect>
                                    <p:anim calcmode="lin" valueType="num">
                                      <p:cBhvr>
                                        <p:cTn id="41" dur="1000" fill="hold"/>
                                        <p:tgtEl>
                                          <p:spTgt spid="15">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1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5">
                                            <p:txEl>
                                              <p:pRg st="7" end="7"/>
                                            </p:txEl>
                                          </p:spTgt>
                                        </p:tgtEl>
                                        <p:attrNameLst>
                                          <p:attrName>style.visibility</p:attrName>
                                        </p:attrNameLst>
                                      </p:cBhvr>
                                      <p:to>
                                        <p:strVal val="visible"/>
                                      </p:to>
                                    </p:set>
                                    <p:animEffect transition="in" filter="fade">
                                      <p:cBhvr>
                                        <p:cTn id="47" dur="1000"/>
                                        <p:tgtEl>
                                          <p:spTgt spid="15">
                                            <p:txEl>
                                              <p:pRg st="7" end="7"/>
                                            </p:txEl>
                                          </p:spTgt>
                                        </p:tgtEl>
                                      </p:cBhvr>
                                    </p:animEffect>
                                    <p:anim calcmode="lin" valueType="num">
                                      <p:cBhvr>
                                        <p:cTn id="48" dur="1000" fill="hold"/>
                                        <p:tgtEl>
                                          <p:spTgt spid="15">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1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Non-Commutative Group(Non-Abelian)(</a:t>
            </a:r>
            <a:r>
              <a:rPr lang="en-US" altLang="zh-CN" sz="2400" b="1" dirty="0">
                <a:solidFill>
                  <a:srgbClr val="FF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1" name="文本框 10">
            <a:extLst>
              <a:ext uri="{FF2B5EF4-FFF2-40B4-BE49-F238E27FC236}">
                <a16:creationId xmlns:a16="http://schemas.microsoft.com/office/drawing/2014/main" id="{7BC18808-FA8B-42E8-A895-2FD8A167EF47}"/>
              </a:ext>
            </a:extLst>
          </p:cNvPr>
          <p:cNvSpPr txBox="1"/>
          <p:nvPr/>
        </p:nvSpPr>
        <p:spPr>
          <a:xfrm>
            <a:off x="1000124" y="806178"/>
            <a:ext cx="10026463" cy="5034008"/>
          </a:xfrm>
          <a:prstGeom prst="rect">
            <a:avLst/>
          </a:prstGeom>
          <a:noFill/>
        </p:spPr>
        <p:txBody>
          <a:bodyPr wrap="square">
            <a:noAutofit/>
          </a:bodyPr>
          <a:lstStyle/>
          <a:p>
            <a:pPr marL="342900" indent="-342900">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en-US" altLang="zh-CN" sz="2400" b="1" dirty="0">
                <a:latin typeface="Trebuchet MS" panose="020B0603020202020204" pitchFamily="34" charset="0"/>
                <a:cs typeface="Times New Roman" panose="02020603050405020304" pitchFamily="18" charset="0"/>
              </a:rPr>
              <a:t>2: </a:t>
            </a:r>
            <a:r>
              <a:rPr lang="zh-CN" altLang="en-US"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The set of invertible real </a:t>
            </a:r>
            <a:r>
              <a:rPr lang="en-US" altLang="zh-CN" sz="2400" b="1" i="1" dirty="0" err="1">
                <a:latin typeface="Trebuchet MS" panose="020B0603020202020204" pitchFamily="34" charset="0"/>
              </a:rPr>
              <a:t>n</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n</a:t>
            </a:r>
            <a:r>
              <a:rPr lang="en-US" altLang="zh-CN" sz="2400" dirty="0">
                <a:latin typeface="Trebuchet MS" panose="020B0603020202020204" pitchFamily="34" charset="0"/>
              </a:rPr>
              <a:t> matrices (for </a:t>
            </a:r>
            <a:r>
              <a:rPr lang="en-US" altLang="zh-CN" sz="2400" b="1" i="1" dirty="0">
                <a:latin typeface="Trebuchet MS" panose="020B0603020202020204" pitchFamily="34" charset="0"/>
              </a:rPr>
              <a:t>n</a:t>
            </a:r>
            <a:r>
              <a:rPr lang="en-US" altLang="zh-CN" sz="2400" b="1" dirty="0">
                <a:latin typeface="Trebuchet MS" panose="020B0603020202020204" pitchFamily="34" charset="0"/>
              </a:rPr>
              <a:t>≥2</a:t>
            </a:r>
            <a:r>
              <a:rPr lang="en-US" altLang="zh-CN" sz="2400" dirty="0">
                <a:latin typeface="Trebuchet MS" panose="020B0603020202020204" pitchFamily="34" charset="0"/>
              </a:rPr>
              <a:t>) under matrix multiplication forms a </a:t>
            </a:r>
            <a:r>
              <a:rPr lang="en-US" altLang="zh-CN" sz="2400" b="1" i="1" dirty="0">
                <a:solidFill>
                  <a:srgbClr val="0B61FF"/>
                </a:solidFill>
                <a:latin typeface="Trebuchet MS" panose="020B0603020202020204" pitchFamily="34" charset="0"/>
              </a:rPr>
              <a:t>non-commutative group</a:t>
            </a:r>
            <a:r>
              <a:rPr lang="en-US" altLang="zh-CN" sz="2400" dirty="0">
                <a:latin typeface="Trebuchet MS" panose="020B0603020202020204" pitchFamily="34" charset="0"/>
              </a:rPr>
              <a:t>.</a:t>
            </a:r>
          </a:p>
          <a:p>
            <a:pPr marL="358775" indent="-358775">
              <a:lnSpc>
                <a:spcPct val="120000"/>
              </a:lnSpc>
              <a:spcBef>
                <a:spcPts val="300"/>
              </a:spcBef>
              <a:buClr>
                <a:srgbClr val="0B61FF"/>
              </a:buClr>
              <a:buSzPct val="80000"/>
              <a:buFont typeface="Wingdings" panose="05000000000000000000" pitchFamily="2" charset="2"/>
              <a:buChar char="n"/>
              <a:tabLst>
                <a:tab pos="358775" algn="l"/>
              </a:tabLst>
            </a:pPr>
            <a:r>
              <a:rPr lang="en-US" altLang="zh-CN" sz="2400" b="1" dirty="0">
                <a:latin typeface="Trebuchet MS" panose="020B0603020202020204" pitchFamily="34" charset="0"/>
              </a:rPr>
              <a:t>Note:</a:t>
            </a:r>
          </a:p>
          <a:p>
            <a:pPr marL="717550" indent="-358775">
              <a:lnSpc>
                <a:spcPct val="120000"/>
              </a:lnSpc>
              <a:spcBef>
                <a:spcPts val="300"/>
              </a:spcBef>
              <a:buClr>
                <a:srgbClr val="0B61FF"/>
              </a:buClr>
              <a:buSzPct val="80000"/>
            </a:pPr>
            <a:r>
              <a:rPr lang="en-US" altLang="zh-CN" sz="2400" b="1" dirty="0">
                <a:solidFill>
                  <a:srgbClr val="0B61FF"/>
                </a:solidFill>
                <a:latin typeface="Trebuchet MS" panose="020B0603020202020204" pitchFamily="34" charset="0"/>
              </a:rPr>
              <a:t>①</a:t>
            </a:r>
            <a:r>
              <a:rPr lang="en-US" altLang="zh-CN" sz="2400" dirty="0">
                <a:latin typeface="Trebuchet MS" panose="020B0603020202020204" pitchFamily="34" charset="0"/>
              </a:rPr>
              <a:t> The product </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AB</a:t>
            </a:r>
            <a:r>
              <a:rPr lang="en-US" altLang="zh-CN" sz="2400" dirty="0">
                <a:latin typeface="Trebuchet MS" panose="020B0603020202020204" pitchFamily="34" charset="0"/>
              </a:rPr>
              <a:t> of two invertible </a:t>
            </a:r>
            <a:r>
              <a:rPr lang="en-US" altLang="zh-CN" sz="2400" b="1" i="1" kern="100" dirty="0" err="1">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kern="100" dirty="0" err="1">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kern="100" dirty="0" err="1">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matrices is also an </a:t>
            </a:r>
            <a:r>
              <a:rPr lang="en-US" altLang="zh-CN" sz="2400" b="1" i="1" dirty="0">
                <a:solidFill>
                  <a:srgbClr val="0B61FF"/>
                </a:solidFill>
                <a:latin typeface="Trebuchet MS" panose="020B0603020202020204" pitchFamily="34" charset="0"/>
              </a:rPr>
              <a:t>invertible</a:t>
            </a:r>
            <a:r>
              <a:rPr lang="en-US" altLang="zh-CN" sz="2400" dirty="0">
                <a:latin typeface="Trebuchet MS" panose="020B0603020202020204" pitchFamily="34" charset="0"/>
              </a:rPr>
              <a:t> </a:t>
            </a:r>
            <a:r>
              <a:rPr lang="en-US" altLang="zh-CN" sz="2400" b="1" i="1" kern="100" dirty="0" err="1">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kern="100" dirty="0" err="1">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kern="100" dirty="0" err="1">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matrix.</a:t>
            </a:r>
          </a:p>
          <a:p>
            <a:pPr marL="717550" indent="-358775">
              <a:lnSpc>
                <a:spcPct val="120000"/>
              </a:lnSpc>
              <a:spcBef>
                <a:spcPts val="300"/>
              </a:spcBef>
              <a:buClr>
                <a:srgbClr val="0B61FF"/>
              </a:buClr>
              <a:buSzPct val="80000"/>
            </a:pPr>
            <a:r>
              <a:rPr lang="en-US" altLang="zh-CN" sz="2400" b="1" dirty="0">
                <a:solidFill>
                  <a:srgbClr val="0B61FF"/>
                </a:solidFill>
                <a:latin typeface="Trebuchet MS" panose="020B0603020202020204" pitchFamily="34" charset="0"/>
              </a:rPr>
              <a:t>②</a:t>
            </a:r>
            <a:r>
              <a:rPr lang="en-US" altLang="zh-CN" sz="2400" dirty="0">
                <a:latin typeface="Trebuchet MS" panose="020B0603020202020204" pitchFamily="34" charset="0"/>
              </a:rPr>
              <a:t> Matrix multiplication is </a:t>
            </a:r>
            <a:r>
              <a:rPr lang="en-US" altLang="zh-CN" sz="2400" b="1" i="1" dirty="0">
                <a:solidFill>
                  <a:srgbClr val="0B61FF"/>
                </a:solidFill>
                <a:latin typeface="Trebuchet MS" panose="020B0603020202020204" pitchFamily="34" charset="0"/>
              </a:rPr>
              <a:t>associative</a:t>
            </a:r>
            <a:r>
              <a:rPr lang="en-US" altLang="zh-CN" sz="2400" dirty="0">
                <a:latin typeface="Trebuchet MS" panose="020B0603020202020204" pitchFamily="34" charset="0"/>
              </a:rPr>
              <a:t>.</a:t>
            </a:r>
          </a:p>
          <a:p>
            <a:pPr marL="717550" indent="-358775">
              <a:lnSpc>
                <a:spcPct val="120000"/>
              </a:lnSpc>
              <a:spcBef>
                <a:spcPts val="300"/>
              </a:spcBef>
              <a:buClr>
                <a:srgbClr val="0B61FF"/>
              </a:buClr>
              <a:buSzPct val="80000"/>
            </a:pPr>
            <a:r>
              <a:rPr lang="en-US" altLang="zh-CN" sz="2400" b="1" dirty="0">
                <a:solidFill>
                  <a:srgbClr val="0B61FF"/>
                </a:solidFill>
                <a:latin typeface="Trebuchet MS" panose="020B0603020202020204" pitchFamily="34" charset="0"/>
              </a:rPr>
              <a:t>③ </a:t>
            </a:r>
            <a:r>
              <a:rPr lang="en-US" altLang="zh-CN" sz="2400" dirty="0">
                <a:latin typeface="Trebuchet MS" panose="020B0603020202020204" pitchFamily="34" charset="0"/>
              </a:rPr>
              <a:t>Any invertible </a:t>
            </a:r>
            <a:r>
              <a:rPr lang="en-US" altLang="zh-CN" sz="2400" b="1" i="1" kern="100" dirty="0" err="1">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kern="100" dirty="0" err="1">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kern="100" dirty="0" err="1">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matrix </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A</a:t>
            </a:r>
            <a:r>
              <a:rPr lang="en-US" altLang="zh-CN" sz="2400" dirty="0">
                <a:latin typeface="Trebuchet MS" panose="020B0603020202020204" pitchFamily="34" charset="0"/>
              </a:rPr>
              <a:t> has the </a:t>
            </a:r>
            <a:r>
              <a:rPr lang="en-US" altLang="zh-CN" sz="2400" b="1" i="1" dirty="0">
                <a:solidFill>
                  <a:srgbClr val="0B61FF"/>
                </a:solidFill>
                <a:latin typeface="Trebuchet MS" panose="020B0603020202020204" pitchFamily="34" charset="0"/>
              </a:rPr>
              <a:t>identity matrix </a:t>
            </a:r>
            <a:r>
              <a:rPr lang="en-US" altLang="zh-CN" sz="2400" b="1" i="1" dirty="0">
                <a:solidFill>
                  <a:srgbClr val="FF0000"/>
                </a:solidFill>
                <a:latin typeface="Trebuchet MS" panose="020B0603020202020204" pitchFamily="34" charset="0"/>
              </a:rPr>
              <a:t>I</a:t>
            </a:r>
            <a:r>
              <a:rPr lang="en-US" altLang="zh-CN" sz="2400" dirty="0">
                <a:latin typeface="Trebuchet MS" panose="020B0603020202020204" pitchFamily="34" charset="0"/>
              </a:rPr>
              <a:t>.</a:t>
            </a:r>
          </a:p>
          <a:p>
            <a:pPr marL="717550" indent="-358775">
              <a:lnSpc>
                <a:spcPct val="120000"/>
              </a:lnSpc>
              <a:spcBef>
                <a:spcPts val="300"/>
              </a:spcBef>
              <a:buClr>
                <a:srgbClr val="0B61FF"/>
              </a:buClr>
              <a:buSzPct val="80000"/>
            </a:pPr>
            <a:r>
              <a:rPr lang="en-US" altLang="zh-CN" sz="2400" b="1" dirty="0">
                <a:solidFill>
                  <a:srgbClr val="0B61FF"/>
                </a:solidFill>
                <a:latin typeface="Trebuchet MS" panose="020B0603020202020204" pitchFamily="34" charset="0"/>
              </a:rPr>
              <a:t>④ </a:t>
            </a:r>
            <a:r>
              <a:rPr lang="en-US" altLang="zh-CN" sz="2400" dirty="0">
                <a:latin typeface="Trebuchet MS" panose="020B0603020202020204" pitchFamily="34" charset="0"/>
              </a:rPr>
              <a:t>Every invertible </a:t>
            </a:r>
            <a:r>
              <a:rPr lang="en-US" altLang="zh-CN" sz="2400" b="1" i="1" kern="100" dirty="0" err="1">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kern="100" dirty="0" err="1">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kern="100" dirty="0" err="1">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matrix </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A</a:t>
            </a:r>
            <a:r>
              <a:rPr lang="en-US" altLang="zh-CN" sz="2400" dirty="0">
                <a:latin typeface="Trebuchet MS" panose="020B0603020202020204" pitchFamily="34" charset="0"/>
              </a:rPr>
              <a:t> has an </a:t>
            </a:r>
            <a:r>
              <a:rPr lang="en-US" altLang="zh-CN" sz="2400" b="1" i="1" dirty="0">
                <a:solidFill>
                  <a:srgbClr val="0B61FF"/>
                </a:solidFill>
                <a:latin typeface="Trebuchet MS" panose="020B0603020202020204" pitchFamily="34" charset="0"/>
              </a:rPr>
              <a:t>inverse matrix </a:t>
            </a:r>
            <a:r>
              <a:rPr lang="en-US" altLang="zh-CN" sz="2400" b="1" i="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kern="100" baseline="300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−1</a:t>
            </a:r>
            <a:r>
              <a:rPr lang="en-US" altLang="zh-CN" sz="2400" dirty="0">
                <a:latin typeface="Trebuchet MS" panose="020B0603020202020204" pitchFamily="34" charset="0"/>
              </a:rPr>
              <a:t>.</a:t>
            </a:r>
          </a:p>
          <a:p>
            <a:pPr marL="717550" indent="-358775">
              <a:lnSpc>
                <a:spcPct val="120000"/>
              </a:lnSpc>
              <a:spcBef>
                <a:spcPts val="300"/>
              </a:spcBef>
              <a:buClr>
                <a:srgbClr val="0B61FF"/>
              </a:buClr>
              <a:buSzPct val="80000"/>
            </a:pPr>
            <a:r>
              <a:rPr lang="en-US" altLang="zh-CN" sz="2400" b="1" dirty="0">
                <a:solidFill>
                  <a:srgbClr val="0B61FF"/>
                </a:solidFill>
                <a:latin typeface="Trebuchet MS" panose="020B0603020202020204" pitchFamily="34" charset="0"/>
              </a:rPr>
              <a:t>⑤</a:t>
            </a:r>
            <a:r>
              <a:rPr lang="en-US" altLang="zh-CN" sz="2400" dirty="0">
                <a:latin typeface="Trebuchet MS" panose="020B0603020202020204" pitchFamily="34" charset="0"/>
              </a:rPr>
              <a:t> For two invertible </a:t>
            </a:r>
            <a:r>
              <a:rPr lang="en-US" altLang="zh-CN" sz="2400" b="1" i="1" kern="100" dirty="0" err="1">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kern="100" dirty="0" err="1">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kern="100" dirty="0" err="1">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real matrices </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A</a:t>
            </a:r>
            <a:r>
              <a:rPr lang="en-US" altLang="zh-CN" sz="2400" dirty="0">
                <a:latin typeface="Trebuchet MS" panose="020B0603020202020204" pitchFamily="34" charset="0"/>
              </a:rPr>
              <a:t> and </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B</a:t>
            </a:r>
            <a:r>
              <a:rPr lang="en-US" altLang="zh-CN" sz="2400" dirty="0">
                <a:latin typeface="Trebuchet MS" panose="020B0603020202020204" pitchFamily="34" charset="0"/>
              </a:rPr>
              <a:t>, generally </a:t>
            </a:r>
            <a:r>
              <a:rPr lang="en-US" altLang="zh-CN" sz="2400" b="1" i="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AB</a:t>
            </a:r>
            <a:r>
              <a:rPr lang="en-US" altLang="zh-CN" sz="2400" b="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BA</a:t>
            </a:r>
            <a:r>
              <a:rPr lang="en-US" altLang="zh-CN" sz="2400" dirty="0">
                <a:latin typeface="Trebuchet MS" panose="020B0603020202020204" pitchFamily="34" charset="0"/>
              </a:rPr>
              <a:t>(</a:t>
            </a:r>
            <a:r>
              <a:rPr lang="en-US" altLang="zh-CN" sz="2400" b="1" i="1" dirty="0">
                <a:solidFill>
                  <a:srgbClr val="0B61FF"/>
                </a:solidFill>
                <a:latin typeface="Trebuchet MS" panose="020B0603020202020204" pitchFamily="34" charset="0"/>
              </a:rPr>
              <a:t>non-commutativity</a:t>
            </a:r>
            <a:r>
              <a:rPr lang="en-US" altLang="zh-CN" sz="2400" dirty="0">
                <a:latin typeface="Trebuchet MS" panose="020B0603020202020204" pitchFamily="34" charset="0"/>
              </a:rPr>
              <a:t>).</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182377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1000"/>
                                        <p:tgtEl>
                                          <p:spTgt spid="11">
                                            <p:txEl>
                                              <p:pRg st="2" end="2"/>
                                            </p:txEl>
                                          </p:spTgt>
                                        </p:tgtEl>
                                      </p:cBhvr>
                                    </p:animEffect>
                                    <p:anim calcmode="lin" valueType="num">
                                      <p:cBhvr>
                                        <p:cTn id="13"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Effect transition="in" filter="fade">
                                      <p:cBhvr>
                                        <p:cTn id="19" dur="1000"/>
                                        <p:tgtEl>
                                          <p:spTgt spid="11">
                                            <p:txEl>
                                              <p:pRg st="3" end="3"/>
                                            </p:txEl>
                                          </p:spTgt>
                                        </p:tgtEl>
                                      </p:cBhvr>
                                    </p:animEffect>
                                    <p:anim calcmode="lin" valueType="num">
                                      <p:cBhvr>
                                        <p:cTn id="20"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1">
                                            <p:txEl>
                                              <p:pRg st="4" end="4"/>
                                            </p:txEl>
                                          </p:spTgt>
                                        </p:tgtEl>
                                        <p:attrNameLst>
                                          <p:attrName>style.visibility</p:attrName>
                                        </p:attrNameLst>
                                      </p:cBhvr>
                                      <p:to>
                                        <p:strVal val="visible"/>
                                      </p:to>
                                    </p:set>
                                    <p:animEffect transition="in" filter="fade">
                                      <p:cBhvr>
                                        <p:cTn id="26" dur="1000"/>
                                        <p:tgtEl>
                                          <p:spTgt spid="11">
                                            <p:txEl>
                                              <p:pRg st="4" end="4"/>
                                            </p:txEl>
                                          </p:spTgt>
                                        </p:tgtEl>
                                      </p:cBhvr>
                                    </p:animEffect>
                                    <p:anim calcmode="lin" valueType="num">
                                      <p:cBhvr>
                                        <p:cTn id="27"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1">
                                            <p:txEl>
                                              <p:pRg st="5" end="5"/>
                                            </p:txEl>
                                          </p:spTgt>
                                        </p:tgtEl>
                                        <p:attrNameLst>
                                          <p:attrName>style.visibility</p:attrName>
                                        </p:attrNameLst>
                                      </p:cBhvr>
                                      <p:to>
                                        <p:strVal val="visible"/>
                                      </p:to>
                                    </p:set>
                                    <p:animEffect transition="in" filter="fade">
                                      <p:cBhvr>
                                        <p:cTn id="33" dur="1000"/>
                                        <p:tgtEl>
                                          <p:spTgt spid="11">
                                            <p:txEl>
                                              <p:pRg st="5" end="5"/>
                                            </p:txEl>
                                          </p:spTgt>
                                        </p:tgtEl>
                                      </p:cBhvr>
                                    </p:animEffect>
                                    <p:anim calcmode="lin" valueType="num">
                                      <p:cBhvr>
                                        <p:cTn id="34"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1">
                                            <p:txEl>
                                              <p:pRg st="6" end="6"/>
                                            </p:txEl>
                                          </p:spTgt>
                                        </p:tgtEl>
                                        <p:attrNameLst>
                                          <p:attrName>style.visibility</p:attrName>
                                        </p:attrNameLst>
                                      </p:cBhvr>
                                      <p:to>
                                        <p:strVal val="visible"/>
                                      </p:to>
                                    </p:set>
                                    <p:animEffect transition="in" filter="fade">
                                      <p:cBhvr>
                                        <p:cTn id="40" dur="1000"/>
                                        <p:tgtEl>
                                          <p:spTgt spid="11">
                                            <p:txEl>
                                              <p:pRg st="6" end="6"/>
                                            </p:txEl>
                                          </p:spTgt>
                                        </p:tgtEl>
                                      </p:cBhvr>
                                    </p:animEffect>
                                    <p:anim calcmode="lin" valueType="num">
                                      <p:cBhvr>
                                        <p:cTn id="41"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Powers of group elements</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Rectangle 3">
            <a:extLst>
              <a:ext uri="{FF2B5EF4-FFF2-40B4-BE49-F238E27FC236}">
                <a16:creationId xmlns:a16="http://schemas.microsoft.com/office/drawing/2014/main" id="{426FB890-8E6B-4E34-8C3E-37A27E7C774B}"/>
              </a:ext>
            </a:extLst>
          </p:cNvPr>
          <p:cNvSpPr>
            <a:spLocks noChangeArrowheads="1"/>
          </p:cNvSpPr>
          <p:nvPr/>
        </p:nvSpPr>
        <p:spPr bwMode="auto">
          <a:xfrm>
            <a:off x="771775" y="774958"/>
            <a:ext cx="10648450" cy="554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chorCtr="0">
            <a:noAutofit/>
          </a:bodyPr>
          <a:lstStyle/>
          <a:p>
            <a:pPr marL="342900" indent="-342900">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Definition 9.15: </a:t>
            </a:r>
            <a:r>
              <a:rPr lang="en-US" altLang="zh-CN" sz="2400" dirty="0">
                <a:latin typeface="Trebuchet MS" panose="020B0603020202020204" pitchFamily="34" charset="0"/>
              </a:rPr>
              <a:t>Let </a:t>
            </a:r>
            <a:r>
              <a:rPr lang="en-US" altLang="zh-CN" sz="2400" b="1" i="1" kern="100" dirty="0">
                <a:latin typeface="Trebuchet MS" panose="020B0603020202020204" pitchFamily="34" charset="0"/>
                <a:ea typeface="宋体" panose="02010600030101010101" pitchFamily="2" charset="-122"/>
                <a:cs typeface="Times New Roman" panose="02020603050405020304" pitchFamily="18" charset="0"/>
              </a:rPr>
              <a:t>G</a:t>
            </a:r>
            <a:r>
              <a:rPr lang="en-US" altLang="zh-CN" sz="2400" dirty="0">
                <a:latin typeface="Trebuchet MS" panose="020B0603020202020204" pitchFamily="34" charset="0"/>
              </a:rPr>
              <a:t> be a group with operation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rPr>
              <a:t>, and let </a:t>
            </a:r>
            <a:r>
              <a:rPr lang="en-US" altLang="zh-CN" sz="2400" b="1" i="1" dirty="0" err="1">
                <a:latin typeface="Trebuchet MS" panose="020B0603020202020204" pitchFamily="34" charset="0"/>
              </a:rPr>
              <a:t>x</a:t>
            </a:r>
            <a:r>
              <a:rPr lang="en-US" altLang="zh-CN" sz="2400" b="1" dirty="0" err="1">
                <a:latin typeface="Trebuchet MS" panose="020B0603020202020204" pitchFamily="34" charset="0"/>
              </a:rPr>
              <a:t>∈</a:t>
            </a:r>
            <a:r>
              <a:rPr lang="en-US" altLang="zh-CN" sz="2400" b="1" i="1" kern="100" dirty="0" err="1">
                <a:latin typeface="Trebuchet MS" panose="020B0603020202020204" pitchFamily="34" charset="0"/>
                <a:ea typeface="宋体" panose="02010600030101010101" pitchFamily="2" charset="-122"/>
                <a:cs typeface="Times New Roman" panose="02020603050405020304" pitchFamily="18" charset="0"/>
              </a:rPr>
              <a:t>G</a:t>
            </a:r>
            <a:r>
              <a:rPr lang="en-US" altLang="zh-CN" sz="2400" dirty="0">
                <a:latin typeface="Trebuchet MS" panose="020B0603020202020204" pitchFamily="34" charset="0"/>
              </a:rPr>
              <a:t>, </a:t>
            </a:r>
            <a:r>
              <a:rPr lang="en-US" altLang="zh-CN" sz="2400" b="1" i="1" dirty="0" err="1">
                <a:latin typeface="Trebuchet MS" panose="020B0603020202020204" pitchFamily="34" charset="0"/>
              </a:rPr>
              <a:t>n</a:t>
            </a:r>
            <a:r>
              <a:rPr lang="en-US" altLang="zh-CN" sz="2400" b="1" dirty="0" err="1">
                <a:latin typeface="Trebuchet MS" panose="020B0603020202020204" pitchFamily="34" charset="0"/>
              </a:rPr>
              <a:t>∈Z</a:t>
            </a:r>
            <a:r>
              <a:rPr lang="en-US" altLang="zh-CN" sz="2400" dirty="0">
                <a:latin typeface="Trebuchet MS" panose="020B0603020202020204" pitchFamily="34" charset="0"/>
              </a:rPr>
              <a:t>. The </a:t>
            </a:r>
            <a:r>
              <a:rPr lang="en-US" altLang="zh-CN" sz="2400" b="1" i="1" dirty="0">
                <a:solidFill>
                  <a:srgbClr val="0B61FF"/>
                </a:solidFill>
                <a:latin typeface="Trebuchet MS" panose="020B0603020202020204" pitchFamily="34" charset="0"/>
              </a:rPr>
              <a:t>n-</a:t>
            </a:r>
            <a:r>
              <a:rPr lang="en-US" altLang="zh-CN" sz="2400" b="1" i="1" dirty="0" err="1">
                <a:solidFill>
                  <a:srgbClr val="0B61FF"/>
                </a:solidFill>
                <a:latin typeface="Trebuchet MS" panose="020B0603020202020204" pitchFamily="34" charset="0"/>
              </a:rPr>
              <a:t>th</a:t>
            </a:r>
            <a:r>
              <a:rPr lang="en-US" altLang="zh-CN" sz="2400" b="1" dirty="0">
                <a:solidFill>
                  <a:srgbClr val="0B61FF"/>
                </a:solidFill>
                <a:latin typeface="Trebuchet MS" panose="020B0603020202020204" pitchFamily="34" charset="0"/>
              </a:rPr>
              <a:t> power of </a:t>
            </a:r>
            <a:r>
              <a:rPr lang="en-US" altLang="zh-CN" sz="2400" b="1" i="1" kern="100" dirty="0">
                <a:solidFill>
                  <a:srgbClr val="0B61FF"/>
                </a:solidFill>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dirty="0">
                <a:latin typeface="Trebuchet MS" panose="020B0603020202020204" pitchFamily="34" charset="0"/>
              </a:rPr>
              <a:t>, denoted </a:t>
            </a:r>
            <a:r>
              <a:rPr lang="en-US" altLang="zh-CN" sz="2400" b="1" i="1" dirty="0" err="1">
                <a:solidFill>
                  <a:srgbClr val="FF0000"/>
                </a:solidFill>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i="1" baseline="30000" dirty="0" err="1">
                <a:solidFill>
                  <a:srgbClr val="FF0000"/>
                </a:solidFill>
                <a:latin typeface="Trebuchet MS" panose="020B0603020202020204" pitchFamily="34" charset="0"/>
                <a:ea typeface="宋体" panose="02010600030101010101" pitchFamily="2" charset="-122"/>
                <a:cs typeface="Times New Roman" panose="02020603050405020304" pitchFamily="18" charset="0"/>
              </a:rPr>
              <a:t>n</a:t>
            </a:r>
            <a:r>
              <a:rPr lang="en-US" altLang="zh-CN" sz="2400" dirty="0">
                <a:latin typeface="Trebuchet MS" panose="020B0603020202020204" pitchFamily="34" charset="0"/>
              </a:rPr>
              <a:t>, is defined as:</a:t>
            </a:r>
          </a:p>
          <a:p>
            <a:pPr marL="360363" indent="-184150">
              <a:lnSpc>
                <a:spcPct val="110000"/>
              </a:lnSpc>
              <a:buClr>
                <a:srgbClr val="0B61FF"/>
              </a:buClr>
              <a:buSzPct val="120000"/>
              <a:buFont typeface="Arial" panose="020B0604020202020204" pitchFamily="34" charset="0"/>
              <a:buChar char="•"/>
              <a:tabLst>
                <a:tab pos="176213" algn="l"/>
                <a:tab pos="719138" algn="l"/>
              </a:tabLst>
            </a:pPr>
            <a:r>
              <a:rPr lang="en-US" altLang="zh-CN" sz="2400" dirty="0">
                <a:latin typeface="Trebuchet MS" panose="020B0603020202020204" pitchFamily="34" charset="0"/>
              </a:rPr>
              <a:t>For </a:t>
            </a:r>
            <a:r>
              <a:rPr lang="en-US" altLang="zh-CN" sz="2400" b="1" dirty="0">
                <a:latin typeface="Trebuchet MS" panose="020B0603020202020204" pitchFamily="34" charset="0"/>
              </a:rPr>
              <a:t>positive</a:t>
            </a:r>
            <a:r>
              <a:rPr lang="en-US" altLang="zh-CN" sz="2400" dirty="0">
                <a:latin typeface="Trebuchet MS" panose="020B0603020202020204" pitchFamily="34" charset="0"/>
              </a:rPr>
              <a:t> integers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i="1" kern="100" baseline="300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n+1</a:t>
            </a:r>
            <a:r>
              <a:rPr lang="en-US" altLang="zh-CN" sz="2400" b="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err="1">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i="1" kern="100" baseline="30000" dirty="0" err="1">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x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a:t>
            </a:r>
          </a:p>
          <a:p>
            <a:pPr marL="360363" indent="-184150">
              <a:lnSpc>
                <a:spcPct val="110000"/>
              </a:lnSpc>
              <a:buClr>
                <a:srgbClr val="0B61FF"/>
              </a:buClr>
              <a:buSzPct val="120000"/>
              <a:buFont typeface="Arial" panose="020B0604020202020204" pitchFamily="34" charset="0"/>
              <a:buChar char="•"/>
              <a:tabLst>
                <a:tab pos="176213" algn="l"/>
                <a:tab pos="719138" algn="l"/>
              </a:tabLst>
            </a:pPr>
            <a:r>
              <a:rPr lang="en-US" altLang="zh-CN" sz="2400" dirty="0">
                <a:latin typeface="Trebuchet MS" panose="020B0603020202020204" pitchFamily="34" charset="0"/>
              </a:rPr>
              <a:t>For </a:t>
            </a:r>
            <a:r>
              <a:rPr lang="en-US" altLang="zh-CN" sz="2400" b="1" dirty="0">
                <a:latin typeface="Trebuchet MS" panose="020B0603020202020204" pitchFamily="34" charset="0"/>
              </a:rPr>
              <a:t>zero</a:t>
            </a:r>
            <a:r>
              <a:rPr lang="en-US" altLang="zh-CN" sz="2400" dirty="0">
                <a:latin typeface="Trebuchet MS" panose="020B0603020202020204" pitchFamily="34" charset="0"/>
              </a:rPr>
              <a:t> </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kern="100" baseline="300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0</a:t>
            </a:r>
            <a:r>
              <a:rPr lang="en-US" altLang="zh-CN" sz="2400" b="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latin typeface="Trebuchet MS" panose="020B0603020202020204" pitchFamily="34" charset="0"/>
              </a:rPr>
              <a:t>the identity element)</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 .</a:t>
            </a:r>
          </a:p>
          <a:p>
            <a:pPr marL="360363" indent="-184150">
              <a:lnSpc>
                <a:spcPct val="110000"/>
              </a:lnSpc>
              <a:buClr>
                <a:srgbClr val="0B61FF"/>
              </a:buClr>
              <a:buSzPct val="120000"/>
              <a:buFont typeface="Arial" panose="020B0604020202020204" pitchFamily="34" charset="0"/>
              <a:buChar char="•"/>
              <a:tabLst>
                <a:tab pos="176213" algn="l"/>
                <a:tab pos="719138" algn="l"/>
              </a:tabLst>
            </a:pPr>
            <a:r>
              <a:rPr lang="en-US" altLang="zh-CN" sz="2400" dirty="0">
                <a:latin typeface="Trebuchet MS" panose="020B0603020202020204" pitchFamily="34" charset="0"/>
              </a:rPr>
              <a:t>For </a:t>
            </a:r>
            <a:r>
              <a:rPr lang="en-US" altLang="zh-CN" sz="2400" b="1" dirty="0">
                <a:latin typeface="Trebuchet MS" panose="020B0603020202020204" pitchFamily="34" charset="0"/>
              </a:rPr>
              <a:t>negative</a:t>
            </a:r>
            <a:r>
              <a:rPr lang="en-US" altLang="zh-CN" sz="2400" dirty="0">
                <a:latin typeface="Trebuchet MS" panose="020B0603020202020204" pitchFamily="34" charset="0"/>
              </a:rPr>
              <a:t> integers </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n</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kern="100" baseline="300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baseline="300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kern="100" baseline="300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baseline="300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n </a:t>
            </a:r>
            <a:r>
              <a:rPr lang="en-US" altLang="zh-CN" sz="2400" b="1" kern="1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where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i="1" kern="100" baseline="30000" dirty="0">
                <a:effectLst/>
                <a:latin typeface="Trebuchet MS" panose="020B0603020202020204" pitchFamily="34" charset="0"/>
                <a:ea typeface="宋体" panose="02010600030101010101" pitchFamily="2" charset="-122"/>
                <a:cs typeface="Times New Roman" panose="02020603050405020304" pitchFamily="18" charset="0"/>
              </a:rPr>
              <a:t>−1</a:t>
            </a:r>
            <a:r>
              <a:rPr lang="zh-CN" altLang="zh-CN" sz="2400" b="1" i="1" kern="100" baseline="30000"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is the inverse of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dirty="0">
                <a:latin typeface="Trebuchet MS" panose="020B0603020202020204" pitchFamily="34" charset="0"/>
              </a:rPr>
              <a:t> in the group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G</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latin typeface="Trebuchet MS" panose="020B0603020202020204" pitchFamily="34" charset="0"/>
              </a:rPr>
              <a:t> it satisfies </a:t>
            </a:r>
            <a:r>
              <a:rPr lang="en-US" altLang="zh-CN" sz="2400" b="1" i="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x⋅x</a:t>
            </a:r>
            <a:r>
              <a:rPr lang="en-US" altLang="zh-CN" sz="2400" b="1" kern="100" baseline="300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 .</a:t>
            </a:r>
          </a:p>
          <a:p>
            <a:pPr marL="342900" indent="-342900">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zh-CN" altLang="en-US" sz="2400" b="1" dirty="0">
                <a:latin typeface="Trebuchet MS" panose="020B0603020202020204" pitchFamily="34" charset="0"/>
              </a:rPr>
              <a:t> </a:t>
            </a:r>
          </a:p>
          <a:p>
            <a:pPr marL="360363" indent="-184150" eaLnBrk="0" hangingPunct="0">
              <a:lnSpc>
                <a:spcPct val="110000"/>
              </a:lnSpc>
              <a:spcBef>
                <a:spcPct val="20000"/>
              </a:spcBef>
              <a:buClr>
                <a:srgbClr val="0B61FF"/>
              </a:buClr>
              <a:buSzPct val="120000"/>
              <a:buFont typeface="Arial" panose="020B0604020202020204" pitchFamily="34" charset="0"/>
              <a:buChar char="•"/>
              <a:tabLst>
                <a:tab pos="360363" algn="l"/>
              </a:tabLst>
            </a:pPr>
            <a:r>
              <a:rPr lang="en-US" altLang="zh-CN" sz="2400" dirty="0">
                <a:latin typeface="Trebuchet MS" panose="020B0603020202020204" pitchFamily="34" charset="0"/>
              </a:rPr>
              <a:t>In </a:t>
            </a:r>
            <a:r>
              <a:rPr lang="en-US" altLang="zh-CN" sz="2400" b="1" dirty="0">
                <a:solidFill>
                  <a:srgbClr val="FF0000"/>
                </a:solidFill>
                <a:latin typeface="Trebuchet MS" panose="020B0603020202020204" pitchFamily="34" charset="0"/>
                <a:cs typeface="Times New Roman" panose="02020603050405020304" pitchFamily="18" charset="0"/>
              </a:rPr>
              <a:t>&lt;</a:t>
            </a:r>
            <a:r>
              <a:rPr lang="en-US" altLang="zh-CN" sz="2400" b="1" i="1" dirty="0">
                <a:solidFill>
                  <a:srgbClr val="FF0000"/>
                </a:solidFill>
                <a:latin typeface="Trebuchet MS" panose="020B0603020202020204" pitchFamily="34" charset="0"/>
                <a:cs typeface="Times New Roman" panose="02020603050405020304" pitchFamily="18" charset="0"/>
              </a:rPr>
              <a:t>Z</a:t>
            </a:r>
            <a:r>
              <a:rPr lang="en-US" altLang="zh-CN" sz="2400" b="1" baseline="-30000" dirty="0">
                <a:solidFill>
                  <a:srgbClr val="FF0000"/>
                </a:solidFill>
                <a:latin typeface="Trebuchet MS" panose="020B0603020202020204" pitchFamily="34" charset="0"/>
                <a:cs typeface="Times New Roman" panose="02020603050405020304" pitchFamily="18" charset="0"/>
              </a:rPr>
              <a:t>3</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rgbClr val="FF0000"/>
                </a:solidFill>
                <a:latin typeface="Trebuchet MS" panose="020B0603020202020204" pitchFamily="34" charset="0"/>
                <a:cs typeface="Times New Roman" panose="02020603050405020304" pitchFamily="18" charset="0"/>
              </a:rPr>
              <a:t> &gt;</a:t>
            </a:r>
            <a:r>
              <a:rPr lang="en-US" altLang="zh-CN" sz="2400" b="1" dirty="0">
                <a:solidFill>
                  <a:srgbClr val="FF0000"/>
                </a:solidFill>
                <a:latin typeface="Trebuchet MS" panose="020B0603020202020204" pitchFamily="34" charset="0"/>
              </a:rPr>
              <a:t> </a:t>
            </a:r>
            <a:r>
              <a:rPr lang="en-US" altLang="zh-CN" sz="2400" dirty="0">
                <a:latin typeface="Trebuchet MS" panose="020B0603020202020204" pitchFamily="34" charset="0"/>
              </a:rPr>
              <a:t>we have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1=0 .(</a:t>
            </a:r>
            <a:r>
              <a:rPr lang="en-US" altLang="zh-CN" sz="2400" dirty="0">
                <a:latin typeface="Trebuchet MS" panose="020B0603020202020204" pitchFamily="34" charset="0"/>
              </a:rPr>
              <a:t>the identity element of the modulo 3 addition group is </a:t>
            </a:r>
            <a:r>
              <a:rPr lang="en-US" altLang="zh-CN" sz="2400" b="1" dirty="0">
                <a:latin typeface="Trebuchet MS" panose="020B0603020202020204" pitchFamily="34" charset="0"/>
              </a:rPr>
              <a:t>0</a:t>
            </a:r>
            <a:r>
              <a:rPr lang="en-US" altLang="zh-CN" sz="2400" dirty="0">
                <a:latin typeface="Trebuchet MS" panose="020B0603020202020204" pitchFamily="34" charset="0"/>
              </a:rPr>
              <a:t>, and the inverse of element </a:t>
            </a:r>
            <a:r>
              <a:rPr lang="en-US" altLang="zh-CN" sz="2400" b="1" dirty="0">
                <a:latin typeface="Trebuchet MS" panose="020B0603020202020204" pitchFamily="34" charset="0"/>
              </a:rPr>
              <a:t>2</a:t>
            </a:r>
            <a:r>
              <a:rPr lang="en-US" altLang="zh-CN" sz="2400" dirty="0">
                <a:latin typeface="Trebuchet MS" panose="020B0603020202020204" pitchFamily="34" charset="0"/>
              </a:rPr>
              <a:t> is </a:t>
            </a:r>
            <a:r>
              <a:rPr lang="en-US" altLang="zh-CN" sz="2400" b="1" dirty="0">
                <a:latin typeface="Trebuchet MS" panose="020B0603020202020204" pitchFamily="34" charset="0"/>
              </a:rPr>
              <a:t>1</a:t>
            </a:r>
            <a:r>
              <a:rPr lang="en-US" altLang="zh-CN" sz="2400" dirty="0">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rPr>
              <a:t>)</a:t>
            </a:r>
          </a:p>
          <a:p>
            <a:pPr marL="360363" indent="-184150" eaLnBrk="0" hangingPunct="0">
              <a:lnSpc>
                <a:spcPct val="110000"/>
              </a:lnSpc>
              <a:spcBef>
                <a:spcPct val="20000"/>
              </a:spcBef>
              <a:buClr>
                <a:srgbClr val="0B61FF"/>
              </a:buClr>
              <a:buSzPct val="120000"/>
              <a:buFont typeface="Arial" panose="020B0604020202020204" pitchFamily="34" charset="0"/>
              <a:buChar char="•"/>
              <a:tabLst>
                <a:tab pos="360363" algn="l"/>
              </a:tabLst>
            </a:pPr>
            <a:r>
              <a:rPr lang="en-US" altLang="zh-CN" sz="2400" b="1" baseline="300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In</a:t>
            </a:r>
            <a:r>
              <a:rPr lang="zh-CN" altLang="en-US" sz="2400" b="1" dirty="0">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rPr>
              <a:t>&lt;Z,+&gt; </a:t>
            </a:r>
            <a:r>
              <a:rPr lang="en-US" altLang="zh-CN" sz="2400" dirty="0">
                <a:latin typeface="Trebuchet MS" panose="020B0603020202020204" pitchFamily="34" charset="0"/>
              </a:rPr>
              <a:t>we have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2)</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2)</a:t>
            </a:r>
            <a:r>
              <a:rPr lang="en-US" altLang="zh-CN" sz="2400" b="1" baseline="30000" dirty="0">
                <a:latin typeface="Trebuchet MS" panose="020B0603020202020204" pitchFamily="34" charset="0"/>
                <a:cs typeface="Times New Roman" panose="02020603050405020304" pitchFamily="18" charset="0"/>
              </a:rPr>
              <a:t>-1</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3</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3</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=2+2+2=6 .(</a:t>
            </a:r>
            <a:r>
              <a:rPr lang="en-US" altLang="zh-CN" sz="2400" dirty="0">
                <a:latin typeface="Trebuchet MS" panose="020B0603020202020204" pitchFamily="34" charset="0"/>
              </a:rPr>
              <a:t>the identity element of the integer addition group is 0, and the inverse of element −2 is 2 </a:t>
            </a:r>
            <a:r>
              <a:rPr lang="en-US" altLang="zh-CN"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marL="719138" indent="-361950">
              <a:lnSpc>
                <a:spcPct val="110000"/>
              </a:lnSpc>
              <a:buClr>
                <a:srgbClr val="0B61FF"/>
              </a:buClr>
              <a:buSzPct val="120000"/>
              <a:buFont typeface="Arial" panose="020B0604020202020204" pitchFamily="34" charset="0"/>
              <a:buChar char="•"/>
              <a:tabLst>
                <a:tab pos="719138" algn="l"/>
              </a:tabLst>
            </a:pPr>
            <a:endParaRPr lang="zh-CN" altLang="en-US" sz="2400" b="1" dirty="0">
              <a:latin typeface="Trebuchet MS" panose="020B0603020202020204" pitchFamily="34"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D6A2046F-AA91-49E7-93B7-591A7800272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1657" y="5515429"/>
            <a:ext cx="769257" cy="769257"/>
          </a:xfrm>
          <a:prstGeom prst="rect">
            <a:avLst/>
          </a:prstGeom>
        </p:spPr>
      </p:pic>
      <p:sp>
        <p:nvSpPr>
          <p:cNvPr id="14" name="文本框 13">
            <a:extLst>
              <a:ext uri="{FF2B5EF4-FFF2-40B4-BE49-F238E27FC236}">
                <a16:creationId xmlns:a16="http://schemas.microsoft.com/office/drawing/2014/main" id="{FF1BC425-2738-48F5-B037-4CAFA3B8F74C}"/>
              </a:ext>
            </a:extLst>
          </p:cNvPr>
          <p:cNvSpPr txBox="1"/>
          <p:nvPr/>
        </p:nvSpPr>
        <p:spPr>
          <a:xfrm>
            <a:off x="1690914" y="5632176"/>
            <a:ext cx="9697018" cy="461665"/>
          </a:xfrm>
          <a:prstGeom prst="rect">
            <a:avLst/>
          </a:prstGeom>
          <a:noFill/>
        </p:spPr>
        <p:txBody>
          <a:bodyPr wrap="square">
            <a:spAutoFit/>
          </a:bodyPr>
          <a:lstStyle/>
          <a:p>
            <a:r>
              <a:rPr lang="en-US" altLang="zh-CN" sz="2400" dirty="0"/>
              <a:t>In the integer multiplication group </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&lt;Z, ·&gt; </a:t>
            </a:r>
            <a:r>
              <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what is </a:t>
            </a:r>
            <a:r>
              <a:rPr lang="zh-CN" altLang="en-US" sz="24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022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1000"/>
                                        <p:tgtEl>
                                          <p:spTgt spid="10">
                                            <p:txEl>
                                              <p:pRg st="2" end="2"/>
                                            </p:txEl>
                                          </p:spTgt>
                                        </p:tgtEl>
                                      </p:cBhvr>
                                    </p:animEffect>
                                    <p:anim calcmode="lin" valueType="num">
                                      <p:cBhvr>
                                        <p:cTn id="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3" end="3"/>
                                            </p:txEl>
                                          </p:spTgt>
                                        </p:tgtEl>
                                        <p:attrNameLst>
                                          <p:attrName>style.visibility</p:attrName>
                                        </p:attrNameLst>
                                      </p:cBhvr>
                                      <p:to>
                                        <p:strVal val="visible"/>
                                      </p:to>
                                    </p:set>
                                    <p:animEffect transition="in" filter="fade">
                                      <p:cBhvr>
                                        <p:cTn id="14" dur="1000"/>
                                        <p:tgtEl>
                                          <p:spTgt spid="10">
                                            <p:txEl>
                                              <p:pRg st="3" end="3"/>
                                            </p:txEl>
                                          </p:spTgt>
                                        </p:tgtEl>
                                      </p:cBhvr>
                                    </p:animEffect>
                                    <p:anim calcmode="lin" valueType="num">
                                      <p:cBhvr>
                                        <p:cTn id="15"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fade">
                                      <p:cBhvr>
                                        <p:cTn id="21" dur="1000"/>
                                        <p:tgtEl>
                                          <p:spTgt spid="10">
                                            <p:txEl>
                                              <p:pRg st="4" end="4"/>
                                            </p:txEl>
                                          </p:spTgt>
                                        </p:tgtEl>
                                      </p:cBhvr>
                                    </p:animEffect>
                                    <p:anim calcmode="lin" valueType="num">
                                      <p:cBhvr>
                                        <p:cTn id="22"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0">
                                            <p:txEl>
                                              <p:pRg st="5" end="5"/>
                                            </p:txEl>
                                          </p:spTgt>
                                        </p:tgtEl>
                                        <p:attrNameLst>
                                          <p:attrName>style.visibility</p:attrName>
                                        </p:attrNameLst>
                                      </p:cBhvr>
                                      <p:to>
                                        <p:strVal val="visible"/>
                                      </p:to>
                                    </p:set>
                                    <p:animEffect transition="in" filter="fade">
                                      <p:cBhvr>
                                        <p:cTn id="26" dur="1000"/>
                                        <p:tgtEl>
                                          <p:spTgt spid="10">
                                            <p:txEl>
                                              <p:pRg st="5" end="5"/>
                                            </p:txEl>
                                          </p:spTgt>
                                        </p:tgtEl>
                                      </p:cBhvr>
                                    </p:animEffect>
                                    <p:anim calcmode="lin" valueType="num">
                                      <p:cBhvr>
                                        <p:cTn id="27"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
                                            <p:txEl>
                                              <p:pRg st="6" end="6"/>
                                            </p:txEl>
                                          </p:spTgt>
                                        </p:tgtEl>
                                        <p:attrNameLst>
                                          <p:attrName>style.visibility</p:attrName>
                                        </p:attrNameLst>
                                      </p:cBhvr>
                                      <p:to>
                                        <p:strVal val="visible"/>
                                      </p:to>
                                    </p:set>
                                    <p:animEffect transition="in" filter="fade">
                                      <p:cBhvr>
                                        <p:cTn id="33" dur="1000"/>
                                        <p:tgtEl>
                                          <p:spTgt spid="10">
                                            <p:txEl>
                                              <p:pRg st="6" end="6"/>
                                            </p:txEl>
                                          </p:spTgt>
                                        </p:tgtEl>
                                      </p:cBhvr>
                                    </p:animEffect>
                                    <p:anim calcmode="lin" valueType="num">
                                      <p:cBhvr>
                                        <p:cTn id="34"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1000"/>
                                        <p:tgtEl>
                                          <p:spTgt spid="4"/>
                                        </p:tgtEl>
                                      </p:cBhvr>
                                    </p:animEffect>
                                    <p:anim calcmode="lin" valueType="num">
                                      <p:cBhvr>
                                        <p:cTn id="41" dur="1000" fill="hold"/>
                                        <p:tgtEl>
                                          <p:spTgt spid="4"/>
                                        </p:tgtEl>
                                        <p:attrNameLst>
                                          <p:attrName>ppt_x</p:attrName>
                                        </p:attrNameLst>
                                      </p:cBhvr>
                                      <p:tavLst>
                                        <p:tav tm="0">
                                          <p:val>
                                            <p:strVal val="#ppt_x"/>
                                          </p:val>
                                        </p:tav>
                                        <p:tav tm="100000">
                                          <p:val>
                                            <p:strVal val="#ppt_x"/>
                                          </p:val>
                                        </p:tav>
                                      </p:tavLst>
                                    </p:anim>
                                    <p:anim calcmode="lin" valueType="num">
                                      <p:cBhvr>
                                        <p:cTn id="42" dur="1000" fill="hold"/>
                                        <p:tgtEl>
                                          <p:spTgt spid="4"/>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1000"/>
                                        <p:tgtEl>
                                          <p:spTgt spid="14"/>
                                        </p:tgtEl>
                                      </p:cBhvr>
                                    </p:animEffect>
                                    <p:anim calcmode="lin" valueType="num">
                                      <p:cBhvr>
                                        <p:cTn id="46" dur="1000" fill="hold"/>
                                        <p:tgtEl>
                                          <p:spTgt spid="14"/>
                                        </p:tgtEl>
                                        <p:attrNameLst>
                                          <p:attrName>ppt_x</p:attrName>
                                        </p:attrNameLst>
                                      </p:cBhvr>
                                      <p:tavLst>
                                        <p:tav tm="0">
                                          <p:val>
                                            <p:strVal val="#ppt_x"/>
                                          </p:val>
                                        </p:tav>
                                        <p:tav tm="100000">
                                          <p:val>
                                            <p:strVal val="#ppt_x"/>
                                          </p:val>
                                        </p:tav>
                                      </p:tavLst>
                                    </p:anim>
                                    <p:anim calcmode="lin" valueType="num">
                                      <p:cBhvr>
                                        <p:cTn id="4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Orders of Elements in a Group</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4" name="Rectangle 2">
            <a:extLst>
              <a:ext uri="{FF2B5EF4-FFF2-40B4-BE49-F238E27FC236}">
                <a16:creationId xmlns:a16="http://schemas.microsoft.com/office/drawing/2014/main" id="{5B18EAF8-519B-435F-B277-BD9043BB5D7C}"/>
              </a:ext>
            </a:extLst>
          </p:cNvPr>
          <p:cNvSpPr>
            <a:spLocks noGrp="1" noChangeArrowheads="1"/>
          </p:cNvSpPr>
          <p:nvPr>
            <p:ph idx="1"/>
          </p:nvPr>
        </p:nvSpPr>
        <p:spPr>
          <a:xfrm>
            <a:off x="1065828" y="840286"/>
            <a:ext cx="10314665" cy="4657762"/>
          </a:xfrm>
        </p:spPr>
        <p:txBody>
          <a:bodyPr>
            <a:noAutofit/>
          </a:bodyPr>
          <a:lstStyle/>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9.16:</a:t>
            </a:r>
            <a:r>
              <a:rPr lang="en-US" sz="2400" dirty="0">
                <a:latin typeface="Trebuchet MS" panose="020B0603020202020204" pitchFamily="34" charset="0"/>
              </a:rPr>
              <a:t> Let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be a group, and let </a:t>
            </a:r>
            <a:r>
              <a:rPr lang="en-US" altLang="zh-CN" sz="2400" b="1" i="1" dirty="0" err="1">
                <a:latin typeface="Trebuchet MS" panose="020B0603020202020204" pitchFamily="34" charset="0"/>
                <a:cs typeface="Times New Roman" panose="02020603050405020304" pitchFamily="18" charset="0"/>
              </a:rPr>
              <a:t>x</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The smallest positive integer </a:t>
            </a:r>
            <a:r>
              <a:rPr lang="en-US" altLang="zh-CN" sz="2400" b="1" i="1" dirty="0">
                <a:latin typeface="Trebuchet MS" panose="020B0603020202020204" pitchFamily="34" charset="0"/>
                <a:cs typeface="Times New Roman" panose="02020603050405020304" pitchFamily="18" charset="0"/>
              </a:rPr>
              <a:t>k </a:t>
            </a:r>
            <a:r>
              <a:rPr lang="en-US" sz="2400" dirty="0">
                <a:latin typeface="Trebuchet MS" panose="020B0603020202020204" pitchFamily="34" charset="0"/>
              </a:rPr>
              <a:t> such that </a:t>
            </a:r>
            <a:r>
              <a:rPr lang="en-US" altLang="zh-CN" sz="2400" b="1" i="1" dirty="0" err="1">
                <a:latin typeface="Trebuchet MS" panose="020B0603020202020204" pitchFamily="34" charset="0"/>
                <a:cs typeface="Times New Roman" panose="02020603050405020304" pitchFamily="18" charset="0"/>
              </a:rPr>
              <a:t>x</a:t>
            </a:r>
            <a:r>
              <a:rPr lang="en-US" altLang="zh-CN" sz="2400" b="1" i="1" baseline="30000" dirty="0" err="1">
                <a:latin typeface="Trebuchet MS" panose="020B0603020202020204" pitchFamily="34" charset="0"/>
                <a:cs typeface="Times New Roman" panose="02020603050405020304" pitchFamily="18" charset="0"/>
              </a:rPr>
              <a:t>k</a:t>
            </a:r>
            <a:r>
              <a:rPr lang="en-US" altLang="zh-CN" sz="2400" b="1" i="1" baseline="300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e </a:t>
            </a:r>
            <a:r>
              <a:rPr lang="en-US" sz="2400" dirty="0">
                <a:latin typeface="Trebuchet MS" panose="020B0603020202020204" pitchFamily="34" charset="0"/>
              </a:rPr>
              <a:t>is called the </a:t>
            </a:r>
            <a:r>
              <a:rPr lang="en-US" sz="2400" b="1" i="1" dirty="0">
                <a:solidFill>
                  <a:srgbClr val="0B61FF"/>
                </a:solidFill>
                <a:latin typeface="Trebuchet MS" panose="020B0603020202020204" pitchFamily="34" charset="0"/>
              </a:rPr>
              <a:t>order</a:t>
            </a:r>
            <a:r>
              <a:rPr lang="en-US" sz="2400" b="1" dirty="0">
                <a:latin typeface="Trebuchet MS" panose="020B0603020202020204" pitchFamily="34" charset="0"/>
              </a:rPr>
              <a:t> (or </a:t>
            </a:r>
            <a:r>
              <a:rPr lang="en-US" sz="2400" b="1" i="1" dirty="0">
                <a:solidFill>
                  <a:srgbClr val="0B61FF"/>
                </a:solidFill>
                <a:latin typeface="Trebuchet MS" panose="020B0603020202020204" pitchFamily="34" charset="0"/>
              </a:rPr>
              <a:t>period</a:t>
            </a:r>
            <a:r>
              <a:rPr lang="en-US" sz="2400" b="1" dirty="0">
                <a:latin typeface="Trebuchet MS" panose="020B0603020202020204" pitchFamily="34" charset="0"/>
              </a:rPr>
              <a:t>)</a:t>
            </a:r>
            <a:r>
              <a:rPr lang="en-US" sz="2400" dirty="0">
                <a:latin typeface="Trebuchet MS" panose="020B0603020202020204" pitchFamily="34" charset="0"/>
              </a:rPr>
              <a:t> of </a:t>
            </a:r>
            <a:r>
              <a:rPr lang="en-US" altLang="zh-CN" sz="2400" b="1" i="1" dirty="0">
                <a:latin typeface="Trebuchet MS" panose="020B0603020202020204" pitchFamily="34" charset="0"/>
                <a:cs typeface="Times New Roman" panose="02020603050405020304" pitchFamily="18" charset="0"/>
              </a:rPr>
              <a:t>x</a:t>
            </a:r>
            <a:r>
              <a:rPr lang="en-US" sz="2400" dirty="0">
                <a:latin typeface="Trebuchet MS" panose="020B0603020202020204" pitchFamily="34" charset="0"/>
              </a:rPr>
              <a:t>, denoted by </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rPr>
              <a:t>x</a:t>
            </a:r>
            <a:r>
              <a:rPr lang="en-US" altLang="zh-CN" sz="2400" b="1" dirty="0">
                <a:solidFill>
                  <a:srgbClr val="FF0000"/>
                </a:solidFill>
                <a:latin typeface="Trebuchet MS" panose="020B0603020202020204" pitchFamily="34" charset="0"/>
                <a:cs typeface="Times New Roman" panose="02020603050405020304" pitchFamily="18" charset="0"/>
              </a:rPr>
              <a:t>| = </a:t>
            </a:r>
            <a:r>
              <a:rPr lang="en-US" altLang="zh-CN" sz="2400" b="1" i="1" dirty="0">
                <a:solidFill>
                  <a:srgbClr val="FF0000"/>
                </a:solidFill>
                <a:latin typeface="Trebuchet MS" panose="020B0603020202020204" pitchFamily="34" charset="0"/>
                <a:cs typeface="Times New Roman" panose="02020603050405020304" pitchFamily="18" charset="0"/>
              </a:rPr>
              <a:t>k</a:t>
            </a:r>
            <a:r>
              <a:rPr lang="en-US" sz="2400" dirty="0">
                <a:latin typeface="Trebuchet MS" panose="020B0603020202020204" pitchFamily="34" charset="0"/>
              </a:rPr>
              <a:t>. We say that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x</a:t>
            </a:r>
            <a:r>
              <a:rPr lang="en-US" sz="2400" dirty="0">
                <a:latin typeface="Trebuchet MS" panose="020B0603020202020204" pitchFamily="34" charset="0"/>
              </a:rPr>
              <a:t> is an element of order </a:t>
            </a:r>
            <a:r>
              <a:rPr lang="en-US" altLang="zh-CN" sz="2400" b="1" i="1" dirty="0">
                <a:solidFill>
                  <a:srgbClr val="FF3300"/>
                </a:solidFill>
                <a:latin typeface="Trebuchet MS" panose="020B0603020202020204" pitchFamily="34" charset="0"/>
                <a:cs typeface="Times New Roman" panose="02020603050405020304" pitchFamily="18" charset="0"/>
              </a:rPr>
              <a:t>k </a:t>
            </a:r>
            <a:r>
              <a:rPr lang="en-US" sz="2400" dirty="0">
                <a:latin typeface="Trebuchet MS" panose="020B0603020202020204" pitchFamily="34" charset="0"/>
              </a:rPr>
              <a:t>(also called a </a:t>
            </a:r>
            <a:r>
              <a:rPr lang="en-US" sz="2400" b="1" i="1" dirty="0">
                <a:latin typeface="Trebuchet MS" panose="020B0603020202020204" pitchFamily="34" charset="0"/>
              </a:rPr>
              <a:t>k</a:t>
            </a:r>
            <a:r>
              <a:rPr lang="en-US" sz="2400" b="1" dirty="0">
                <a:latin typeface="Trebuchet MS" panose="020B0603020202020204" pitchFamily="34" charset="0"/>
              </a:rPr>
              <a:t>-</a:t>
            </a:r>
            <a:r>
              <a:rPr lang="en-US" sz="2400" b="1" dirty="0" err="1">
                <a:latin typeface="Trebuchet MS" panose="020B0603020202020204" pitchFamily="34" charset="0"/>
              </a:rPr>
              <a:t>th</a:t>
            </a:r>
            <a:r>
              <a:rPr lang="en-US" sz="2400" b="1" dirty="0">
                <a:latin typeface="Trebuchet MS" panose="020B0603020202020204" pitchFamily="34" charset="0"/>
              </a:rPr>
              <a:t> power element</a:t>
            </a:r>
            <a:r>
              <a:rPr lang="en-US" sz="2400" dirty="0">
                <a:latin typeface="Trebuchet MS" panose="020B0603020202020204" pitchFamily="34" charset="0"/>
              </a:rPr>
              <a:t>). If no such positive integer </a:t>
            </a:r>
            <a:r>
              <a:rPr lang="en-US" sz="2400" b="1" i="1" dirty="0">
                <a:solidFill>
                  <a:srgbClr val="FF0000"/>
                </a:solidFill>
                <a:latin typeface="Trebuchet MS" panose="020B0603020202020204" pitchFamily="34" charset="0"/>
              </a:rPr>
              <a:t>k</a:t>
            </a:r>
            <a:r>
              <a:rPr lang="en-US" sz="2400" dirty="0">
                <a:latin typeface="Trebuchet MS" panose="020B0603020202020204" pitchFamily="34" charset="0"/>
              </a:rPr>
              <a:t> exists, then </a:t>
            </a:r>
            <a:r>
              <a:rPr lang="en-US" sz="2400" b="1" i="1" dirty="0">
                <a:latin typeface="Trebuchet MS" panose="020B0603020202020204" pitchFamily="34" charset="0"/>
              </a:rPr>
              <a:t>x</a:t>
            </a:r>
            <a:r>
              <a:rPr lang="en-US" sz="2400" dirty="0">
                <a:latin typeface="Trebuchet MS" panose="020B0603020202020204" pitchFamily="34" charset="0"/>
              </a:rPr>
              <a:t> is called an </a:t>
            </a:r>
            <a:r>
              <a:rPr lang="en-US" sz="2400" b="1" i="1" dirty="0">
                <a:solidFill>
                  <a:srgbClr val="0B61FF"/>
                </a:solidFill>
                <a:latin typeface="Trebuchet MS" panose="020B0603020202020204" pitchFamily="34" charset="0"/>
              </a:rPr>
              <a:t>element of infinite order</a:t>
            </a:r>
            <a:r>
              <a:rPr lang="en-US" sz="2400" dirty="0">
                <a:latin typeface="Trebuchet MS" panose="020B0603020202020204" pitchFamily="34" charset="0"/>
              </a:rPr>
              <a:t>.</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Note:</a:t>
            </a:r>
          </a:p>
          <a:p>
            <a:pPr marL="715963" indent="-447675">
              <a:lnSpc>
                <a:spcPct val="120000"/>
              </a:lnSpc>
              <a:spcBef>
                <a:spcPts val="600"/>
              </a:spcBef>
              <a:buClr>
                <a:srgbClr val="0B61FF"/>
              </a:buClr>
              <a:buSzPct val="80000"/>
              <a:buNone/>
            </a:pPr>
            <a:r>
              <a:rPr lang="en-US" sz="2400" b="1" dirty="0">
                <a:solidFill>
                  <a:srgbClr val="0B61FF"/>
                </a:solidFill>
                <a:latin typeface="Trebuchet MS" panose="020B0603020202020204" pitchFamily="34" charset="0"/>
              </a:rPr>
              <a:t>①</a:t>
            </a:r>
            <a:r>
              <a:rPr lang="en-US" sz="2400" dirty="0">
                <a:latin typeface="Trebuchet MS" panose="020B0603020202020204" pitchFamily="34" charset="0"/>
              </a:rPr>
              <a:t> The order of an element reflects that after applying the group operation </a:t>
            </a:r>
            <a:r>
              <a:rPr lang="en-US" sz="2400" b="1" i="1" dirty="0">
                <a:latin typeface="Trebuchet MS" panose="020B0603020202020204" pitchFamily="34" charset="0"/>
              </a:rPr>
              <a:t>k</a:t>
            </a:r>
            <a:r>
              <a:rPr lang="en-US" sz="2400" dirty="0">
                <a:latin typeface="Trebuchet MS" panose="020B0603020202020204" pitchFamily="34" charset="0"/>
              </a:rPr>
              <a:t> times, the element </a:t>
            </a:r>
            <a:r>
              <a:rPr lang="en-US" sz="2400" b="1" i="1" dirty="0">
                <a:latin typeface="Trebuchet MS" panose="020B0603020202020204" pitchFamily="34" charset="0"/>
              </a:rPr>
              <a:t>x</a:t>
            </a:r>
            <a:r>
              <a:rPr lang="en-US" sz="2400" dirty="0">
                <a:latin typeface="Trebuchet MS" panose="020B0603020202020204" pitchFamily="34" charset="0"/>
              </a:rPr>
              <a:t> returns to the identity element </a:t>
            </a:r>
            <a:r>
              <a:rPr lang="en-US" sz="2400" b="1" i="1" dirty="0">
                <a:latin typeface="Trebuchet MS" panose="020B0603020202020204" pitchFamily="34" charset="0"/>
              </a:rPr>
              <a:t>e.</a:t>
            </a:r>
          </a:p>
          <a:p>
            <a:pPr marL="715963" indent="-447675">
              <a:lnSpc>
                <a:spcPct val="120000"/>
              </a:lnSpc>
              <a:spcBef>
                <a:spcPts val="600"/>
              </a:spcBef>
              <a:buClr>
                <a:srgbClr val="0B61FF"/>
              </a:buClr>
              <a:buSzPct val="80000"/>
              <a:buNone/>
            </a:pPr>
            <a:r>
              <a:rPr lang="en-US" sz="2400" b="1" dirty="0">
                <a:solidFill>
                  <a:srgbClr val="0B61FF"/>
                </a:solidFill>
                <a:latin typeface="Trebuchet MS" panose="020B0603020202020204" pitchFamily="34" charset="0"/>
              </a:rPr>
              <a:t>② </a:t>
            </a:r>
            <a:r>
              <a:rPr lang="en-US" sz="2400" dirty="0">
                <a:latin typeface="Trebuchet MS" panose="020B0603020202020204" pitchFamily="34" charset="0"/>
              </a:rPr>
              <a:t>The identity element </a:t>
            </a:r>
            <a:r>
              <a:rPr lang="en-US" sz="2400" b="1" i="1" dirty="0">
                <a:latin typeface="Trebuchet MS" panose="020B0603020202020204" pitchFamily="34" charset="0"/>
              </a:rPr>
              <a:t>e</a:t>
            </a:r>
            <a:r>
              <a:rPr lang="en-US" sz="2400" dirty="0">
                <a:latin typeface="Trebuchet MS" panose="020B0603020202020204" pitchFamily="34" charset="0"/>
              </a:rPr>
              <a:t> in any group </a:t>
            </a:r>
            <a:r>
              <a:rPr lang="en-US" sz="2400" b="1" i="1" dirty="0">
                <a:latin typeface="Trebuchet MS" panose="020B0603020202020204" pitchFamily="34" charset="0"/>
              </a:rPr>
              <a:t>G</a:t>
            </a:r>
            <a:r>
              <a:rPr lang="en-US" sz="2400" dirty="0">
                <a:latin typeface="Trebuchet MS" panose="020B0603020202020204" pitchFamily="34" charset="0"/>
              </a:rPr>
              <a:t> always has order </a:t>
            </a:r>
            <a:r>
              <a:rPr lang="en-US" sz="2400" b="1" dirty="0">
                <a:latin typeface="Trebuchet MS" panose="020B0603020202020204" pitchFamily="34" charset="0"/>
              </a:rPr>
              <a:t>1</a:t>
            </a:r>
            <a:r>
              <a:rPr lang="en-US" sz="2400" dirty="0">
                <a:latin typeface="Trebuchet MS" panose="020B0603020202020204" pitchFamily="34" charset="0"/>
              </a:rPr>
              <a:t>.</a:t>
            </a:r>
            <a:endParaRPr lang="zh-CN" altLang="en-US" sz="2400" b="1" dirty="0">
              <a:latin typeface="Trebuchet MS" panose="020B0603020202020204" pitchFamily="34"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945232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fade">
                                      <p:cBhvr>
                                        <p:cTn id="12" dur="1000"/>
                                        <p:tgtEl>
                                          <p:spTgt spid="14">
                                            <p:txEl>
                                              <p:pRg st="2" end="2"/>
                                            </p:txEl>
                                          </p:spTgt>
                                        </p:tgtEl>
                                      </p:cBhvr>
                                    </p:animEffect>
                                    <p:anim calcmode="lin" valueType="num">
                                      <p:cBhvr>
                                        <p:cTn id="13"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Effect transition="in" filter="fade">
                                      <p:cBhvr>
                                        <p:cTn id="19" dur="1000"/>
                                        <p:tgtEl>
                                          <p:spTgt spid="14">
                                            <p:txEl>
                                              <p:pRg st="3" end="3"/>
                                            </p:txEl>
                                          </p:spTgt>
                                        </p:tgtEl>
                                      </p:cBhvr>
                                    </p:animEffect>
                                    <p:anim calcmode="lin" valueType="num">
                                      <p:cBhvr>
                                        <p:cTn id="20"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Orders of Elements in a Group(</a:t>
            </a:r>
            <a:r>
              <a:rPr lang="en-US" altLang="zh-CN" sz="2400" b="1" dirty="0" err="1">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文本框 9">
            <a:extLst>
              <a:ext uri="{FF2B5EF4-FFF2-40B4-BE49-F238E27FC236}">
                <a16:creationId xmlns:a16="http://schemas.microsoft.com/office/drawing/2014/main" id="{60FD3751-093F-44B8-972D-D5295F7214B9}"/>
              </a:ext>
            </a:extLst>
          </p:cNvPr>
          <p:cNvSpPr txBox="1"/>
          <p:nvPr/>
        </p:nvSpPr>
        <p:spPr>
          <a:xfrm>
            <a:off x="1008378" y="903514"/>
            <a:ext cx="9297784" cy="4194866"/>
          </a:xfrm>
          <a:prstGeom prst="rect">
            <a:avLst/>
          </a:prstGeom>
          <a:noFill/>
        </p:spPr>
        <p:txBody>
          <a:bodyPr wrap="square">
            <a:sp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p>
          <a:p>
            <a:pPr marL="628650" indent="-447675">
              <a:lnSpc>
                <a:spcPct val="120000"/>
              </a:lnSpc>
              <a:spcBef>
                <a:spcPts val="600"/>
              </a:spcBef>
              <a:buClr>
                <a:srgbClr val="0B61FF"/>
              </a:buClr>
              <a:buSzPct val="80000"/>
            </a:pPr>
            <a:r>
              <a:rPr lang="en-US" sz="2400" b="1" dirty="0">
                <a:solidFill>
                  <a:srgbClr val="0B61FF"/>
                </a:solidFill>
                <a:latin typeface="Trebuchet MS" panose="020B0603020202020204" pitchFamily="34" charset="0"/>
              </a:rPr>
              <a:t>(1) </a:t>
            </a:r>
            <a:r>
              <a:rPr lang="en-US" sz="2400" dirty="0">
                <a:latin typeface="Trebuchet MS" panose="020B0603020202020204" pitchFamily="34" charset="0"/>
              </a:rPr>
              <a:t>In </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Z</a:t>
            </a:r>
            <a:r>
              <a:rPr lang="en-US" altLang="zh-CN" sz="2400" b="1" baseline="-25000" dirty="0">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&gt;</a:t>
            </a:r>
            <a:r>
              <a:rPr lang="en-US" sz="2400" dirty="0">
                <a:latin typeface="Trebuchet MS" panose="020B0603020202020204" pitchFamily="34" charset="0"/>
              </a:rPr>
              <a:t>, </a:t>
            </a:r>
            <a:r>
              <a:rPr lang="en-US" sz="2400" b="1" dirty="0">
                <a:latin typeface="Trebuchet MS" panose="020B0603020202020204" pitchFamily="34" charset="0"/>
              </a:rPr>
              <a:t>2</a:t>
            </a:r>
            <a:r>
              <a:rPr lang="en-US" sz="2400" dirty="0">
                <a:latin typeface="Trebuchet MS" panose="020B0603020202020204" pitchFamily="34" charset="0"/>
              </a:rPr>
              <a:t> and </a:t>
            </a:r>
            <a:r>
              <a:rPr lang="en-US" sz="2400" b="1" dirty="0">
                <a:latin typeface="Trebuchet MS" panose="020B0603020202020204" pitchFamily="34" charset="0"/>
              </a:rPr>
              <a:t>4</a:t>
            </a:r>
            <a:r>
              <a:rPr lang="en-US" sz="2400" dirty="0">
                <a:latin typeface="Trebuchet MS" panose="020B0603020202020204" pitchFamily="34" charset="0"/>
              </a:rPr>
              <a:t> are elements of </a:t>
            </a:r>
            <a:r>
              <a:rPr lang="en-US" sz="2400" b="1" i="1" dirty="0">
                <a:solidFill>
                  <a:srgbClr val="0B61FF"/>
                </a:solidFill>
                <a:latin typeface="Trebuchet MS" panose="020B0603020202020204" pitchFamily="34" charset="0"/>
              </a:rPr>
              <a:t>order 3</a:t>
            </a:r>
            <a:r>
              <a:rPr lang="en-US" sz="2400" dirty="0">
                <a:latin typeface="Trebuchet MS" panose="020B0603020202020204" pitchFamily="34" charset="0"/>
              </a:rPr>
              <a:t>, </a:t>
            </a:r>
            <a:r>
              <a:rPr lang="en-US" sz="2400" b="1" dirty="0">
                <a:latin typeface="Trebuchet MS" panose="020B0603020202020204" pitchFamily="34" charset="0"/>
              </a:rPr>
              <a:t>3</a:t>
            </a:r>
            <a:r>
              <a:rPr lang="en-US" sz="2400" dirty="0">
                <a:latin typeface="Trebuchet MS" panose="020B0603020202020204" pitchFamily="34" charset="0"/>
              </a:rPr>
              <a:t> is an element of </a:t>
            </a:r>
            <a:r>
              <a:rPr lang="en-US" sz="2400" b="1" i="1" dirty="0">
                <a:solidFill>
                  <a:srgbClr val="0B61FF"/>
                </a:solidFill>
                <a:latin typeface="Trebuchet MS" panose="020B0603020202020204" pitchFamily="34" charset="0"/>
              </a:rPr>
              <a:t>order 2</a:t>
            </a:r>
            <a:r>
              <a:rPr lang="en-US" sz="2400" dirty="0">
                <a:latin typeface="Trebuchet MS" panose="020B0603020202020204" pitchFamily="34" charset="0"/>
              </a:rPr>
              <a:t>, </a:t>
            </a:r>
            <a:r>
              <a:rPr lang="en-US" sz="2400" b="1" dirty="0">
                <a:latin typeface="Trebuchet MS" panose="020B0603020202020204" pitchFamily="34" charset="0"/>
              </a:rPr>
              <a:t>1</a:t>
            </a:r>
            <a:r>
              <a:rPr lang="en-US" sz="2400" dirty="0">
                <a:latin typeface="Trebuchet MS" panose="020B0603020202020204" pitchFamily="34" charset="0"/>
              </a:rPr>
              <a:t> and </a:t>
            </a:r>
            <a:r>
              <a:rPr lang="en-US" sz="2400" b="1" dirty="0">
                <a:latin typeface="Trebuchet MS" panose="020B0603020202020204" pitchFamily="34" charset="0"/>
              </a:rPr>
              <a:t>5</a:t>
            </a:r>
            <a:r>
              <a:rPr lang="en-US" sz="2400" dirty="0">
                <a:latin typeface="Trebuchet MS" panose="020B0603020202020204" pitchFamily="34" charset="0"/>
              </a:rPr>
              <a:t> are elements of </a:t>
            </a:r>
            <a:r>
              <a:rPr lang="en-US" sz="2400" b="1" i="1" dirty="0">
                <a:solidFill>
                  <a:srgbClr val="0B61FF"/>
                </a:solidFill>
                <a:latin typeface="Trebuchet MS" panose="020B0603020202020204" pitchFamily="34" charset="0"/>
              </a:rPr>
              <a:t>order 6</a:t>
            </a:r>
            <a:r>
              <a:rPr lang="en-US" sz="2400" dirty="0">
                <a:latin typeface="Trebuchet MS" panose="020B0603020202020204" pitchFamily="34" charset="0"/>
              </a:rPr>
              <a:t>, and </a:t>
            </a:r>
            <a:r>
              <a:rPr lang="en-US" sz="2400" b="1" dirty="0">
                <a:latin typeface="Trebuchet MS" panose="020B0603020202020204" pitchFamily="34" charset="0"/>
              </a:rPr>
              <a:t>0</a:t>
            </a:r>
            <a:r>
              <a:rPr lang="en-US" sz="2400" dirty="0">
                <a:latin typeface="Trebuchet MS" panose="020B0603020202020204" pitchFamily="34" charset="0"/>
              </a:rPr>
              <a:t> is an element of </a:t>
            </a:r>
            <a:r>
              <a:rPr lang="en-US" sz="2400" b="1" i="1" dirty="0">
                <a:solidFill>
                  <a:srgbClr val="0B61FF"/>
                </a:solidFill>
                <a:latin typeface="Trebuchet MS" panose="020B0603020202020204" pitchFamily="34" charset="0"/>
              </a:rPr>
              <a:t>order 1</a:t>
            </a:r>
            <a:r>
              <a:rPr lang="en-US" sz="2400" dirty="0">
                <a:latin typeface="Trebuchet MS" panose="020B0603020202020204" pitchFamily="34" charset="0"/>
              </a:rPr>
              <a:t>.</a:t>
            </a:r>
            <a:br>
              <a:rPr lang="en-US" sz="2400" dirty="0">
                <a:latin typeface="Trebuchet MS" panose="020B0603020202020204" pitchFamily="34" charset="0"/>
              </a:rPr>
            </a:br>
            <a:r>
              <a:rPr lang="en-US" sz="2400" b="1" dirty="0">
                <a:latin typeface="Trebuchet MS" panose="020B0603020202020204" pitchFamily="34" charset="0"/>
              </a:rPr>
              <a:t>Note:</a:t>
            </a:r>
            <a:r>
              <a:rPr lang="en-US" sz="2400" dirty="0">
                <a:latin typeface="Trebuchet MS" panose="020B0603020202020204" pitchFamily="34" charset="0"/>
              </a:rPr>
              <a:t> The identity element of the additive group modulo </a:t>
            </a:r>
            <a:r>
              <a:rPr lang="en-US" sz="2400" b="1" dirty="0">
                <a:latin typeface="Trebuchet MS" panose="020B0603020202020204" pitchFamily="34" charset="0"/>
              </a:rPr>
              <a:t>6</a:t>
            </a:r>
            <a:r>
              <a:rPr lang="en-US" sz="2400" dirty="0">
                <a:latin typeface="Trebuchet MS" panose="020B0603020202020204" pitchFamily="34" charset="0"/>
              </a:rPr>
              <a:t> is </a:t>
            </a:r>
            <a:r>
              <a:rPr lang="en-US" sz="2400" b="1" dirty="0">
                <a:latin typeface="Trebuchet MS" panose="020B0603020202020204" pitchFamily="34" charset="0"/>
              </a:rPr>
              <a:t>0</a:t>
            </a:r>
            <a:r>
              <a:rPr lang="en-US" sz="2400" dirty="0">
                <a:latin typeface="Trebuchet MS" panose="020B0603020202020204" pitchFamily="34" charset="0"/>
              </a:rPr>
              <a:t>, and elements </a:t>
            </a:r>
            <a:r>
              <a:rPr lang="en-US" sz="2400" b="1" dirty="0">
                <a:latin typeface="Trebuchet MS" panose="020B0603020202020204" pitchFamily="34" charset="0"/>
              </a:rPr>
              <a:t>2</a:t>
            </a:r>
            <a:r>
              <a:rPr lang="en-US" sz="2400" dirty="0">
                <a:latin typeface="Trebuchet MS" panose="020B0603020202020204" pitchFamily="34" charset="0"/>
              </a:rPr>
              <a:t> and </a:t>
            </a:r>
            <a:r>
              <a:rPr lang="en-US" sz="2400" b="1" dirty="0">
                <a:latin typeface="Trebuchet MS" panose="020B0603020202020204" pitchFamily="34" charset="0"/>
              </a:rPr>
              <a:t>4</a:t>
            </a:r>
            <a:r>
              <a:rPr lang="en-US" sz="2400" dirty="0">
                <a:latin typeface="Trebuchet MS" panose="020B0603020202020204" pitchFamily="34" charset="0"/>
              </a:rPr>
              <a:t> return to the identity after three applications of addition modulo </a:t>
            </a:r>
            <a:r>
              <a:rPr lang="en-US" sz="2400" b="1" dirty="0">
                <a:latin typeface="Trebuchet MS" panose="020B0603020202020204" pitchFamily="34" charset="0"/>
              </a:rPr>
              <a:t>6</a:t>
            </a:r>
            <a:r>
              <a:rPr lang="en-US" sz="2400" dirty="0">
                <a:latin typeface="Trebuchet MS" panose="020B0603020202020204" pitchFamily="34" charset="0"/>
              </a:rPr>
              <a:t>.</a:t>
            </a:r>
          </a:p>
          <a:p>
            <a:pPr marL="628650" indent="-447675">
              <a:lnSpc>
                <a:spcPct val="120000"/>
              </a:lnSpc>
              <a:spcBef>
                <a:spcPts val="600"/>
              </a:spcBef>
              <a:buClr>
                <a:srgbClr val="0B61FF"/>
              </a:buClr>
              <a:buSzPct val="80000"/>
            </a:pPr>
            <a:r>
              <a:rPr lang="en-US" sz="2400" b="1" dirty="0">
                <a:solidFill>
                  <a:srgbClr val="0B61FF"/>
                </a:solidFill>
                <a:latin typeface="Trebuchet MS" panose="020B0603020202020204" pitchFamily="34" charset="0"/>
              </a:rPr>
              <a:t>(2) </a:t>
            </a:r>
            <a:r>
              <a:rPr lang="en-US" sz="2400" dirty="0">
                <a:latin typeface="Trebuchet MS" panose="020B0603020202020204" pitchFamily="34" charset="0"/>
              </a:rPr>
              <a:t>In </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Z</a:t>
            </a:r>
            <a:r>
              <a:rPr lang="en-US" altLang="zh-CN" sz="2400" b="1" dirty="0">
                <a:latin typeface="Trebuchet MS" panose="020B0603020202020204" pitchFamily="34" charset="0"/>
                <a:cs typeface="Times New Roman" panose="02020603050405020304" pitchFamily="18" charset="0"/>
              </a:rPr>
              <a:t>,+&gt;, </a:t>
            </a:r>
            <a:r>
              <a:rPr lang="en-US" sz="2400" dirty="0">
                <a:latin typeface="Trebuchet MS" panose="020B0603020202020204" pitchFamily="34" charset="0"/>
              </a:rPr>
              <a:t>0 is an element of </a:t>
            </a:r>
            <a:r>
              <a:rPr lang="en-US" sz="2400" b="1" i="1" dirty="0">
                <a:solidFill>
                  <a:srgbClr val="0B61FF"/>
                </a:solidFill>
                <a:latin typeface="Trebuchet MS" panose="020B0603020202020204" pitchFamily="34" charset="0"/>
              </a:rPr>
              <a:t>order 1</a:t>
            </a:r>
            <a:r>
              <a:rPr lang="en-US" sz="2400" dirty="0">
                <a:latin typeface="Trebuchet MS" panose="020B0603020202020204" pitchFamily="34" charset="0"/>
              </a:rPr>
              <a:t>, and all other integers have </a:t>
            </a:r>
            <a:r>
              <a:rPr lang="en-US" sz="2400" b="1" i="1" dirty="0">
                <a:solidFill>
                  <a:srgbClr val="0B61FF"/>
                </a:solidFill>
                <a:latin typeface="Trebuchet MS" panose="020B0603020202020204" pitchFamily="34" charset="0"/>
              </a:rPr>
              <a:t>no (finite) order</a:t>
            </a:r>
            <a:r>
              <a:rPr lang="en-US" sz="2400" dirty="0">
                <a:latin typeface="Trebuchet MS" panose="020B0603020202020204" pitchFamily="34" charset="0"/>
              </a:rPr>
              <a:t>.</a:t>
            </a:r>
          </a:p>
        </p:txBody>
      </p:sp>
    </p:spTree>
    <p:extLst>
      <p:ext uri="{BB962C8B-B14F-4D97-AF65-F5344CB8AC3E}">
        <p14:creationId xmlns:p14="http://schemas.microsoft.com/office/powerpoint/2010/main" val="1939648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Theorem on Power Laws in Groups</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1" name="Rectangle 3">
            <a:extLst>
              <a:ext uri="{FF2B5EF4-FFF2-40B4-BE49-F238E27FC236}">
                <a16:creationId xmlns:a16="http://schemas.microsoft.com/office/drawing/2014/main" id="{2F548A54-D8A9-4539-A867-C9251D7247CF}"/>
              </a:ext>
            </a:extLst>
          </p:cNvPr>
          <p:cNvSpPr>
            <a:spLocks noChangeArrowheads="1"/>
          </p:cNvSpPr>
          <p:nvPr/>
        </p:nvSpPr>
        <p:spPr bwMode="auto">
          <a:xfrm>
            <a:off x="824683" y="806178"/>
            <a:ext cx="10711920" cy="516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chorCtr="0">
            <a:noAutofit/>
          </a:bodyPr>
          <a:lstStyle/>
          <a:p>
            <a:pPr marL="360363" indent="-360363">
              <a:lnSpc>
                <a:spcPct val="110000"/>
              </a:lnSpc>
              <a:buClr>
                <a:srgbClr val="0B61FF"/>
              </a:buClr>
              <a:buSzPct val="80000"/>
              <a:buFont typeface="Wingdings" panose="05000000000000000000" pitchFamily="2" charset="2"/>
              <a:buChar char="n"/>
            </a:pPr>
            <a:r>
              <a:rPr lang="en-US" sz="2400" b="1" dirty="0">
                <a:latin typeface="Trebuchet MS" panose="020B0603020202020204" pitchFamily="34" charset="0"/>
              </a:rPr>
              <a:t>Theorem 9.3 : </a:t>
            </a:r>
            <a:r>
              <a:rPr lang="en-US" sz="2400" dirty="0">
                <a:latin typeface="Trebuchet MS" panose="020B0603020202020204" pitchFamily="34" charset="0"/>
              </a:rPr>
              <a:t>Let </a:t>
            </a:r>
            <a:r>
              <a:rPr lang="en-US" sz="2400" b="1" i="1" dirty="0">
                <a:latin typeface="Trebuchet MS" panose="020B0603020202020204" pitchFamily="34" charset="0"/>
              </a:rPr>
              <a:t>G</a:t>
            </a:r>
            <a:r>
              <a:rPr lang="en-US" sz="2400" dirty="0">
                <a:latin typeface="Trebuchet MS" panose="020B0603020202020204" pitchFamily="34" charset="0"/>
              </a:rPr>
              <a:t> be a group. Then the power operations in </a:t>
            </a:r>
            <a:r>
              <a:rPr lang="en-US" sz="2400" b="1" i="1" dirty="0">
                <a:latin typeface="Trebuchet MS" panose="020B0603020202020204" pitchFamily="34" charset="0"/>
              </a:rPr>
              <a:t>G</a:t>
            </a:r>
            <a:r>
              <a:rPr lang="en-US" sz="2400" dirty="0">
                <a:latin typeface="Trebuchet MS" panose="020B0603020202020204" pitchFamily="34" charset="0"/>
              </a:rPr>
              <a:t> satisfy</a:t>
            </a:r>
            <a:r>
              <a:rPr lang="en-US" sz="2400" b="1" dirty="0">
                <a:latin typeface="Trebuchet MS" panose="020B0603020202020204" pitchFamily="34" charset="0"/>
                <a:ea typeface="宋体" panose="02010600030101010101" pitchFamily="2" charset="-122"/>
              </a:rPr>
              <a:t>:</a:t>
            </a:r>
          </a:p>
          <a:p>
            <a:pPr marL="628650" indent="-447675">
              <a:lnSpc>
                <a:spcPct val="11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rPr>
              <a:t>(1)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G</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x</a:t>
            </a:r>
            <a:r>
              <a:rPr lang="en-US" altLang="zh-CN" sz="2400" b="1" baseline="30000"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baseline="30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baseline="30000"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baseline="30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x</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marL="628650" indent="-447675">
              <a:lnSpc>
                <a:spcPct val="11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(2)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rPr>
              <a:t>x</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y</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G</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xy</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baseline="30000"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baseline="30000" dirty="0">
                <a:solidFill>
                  <a:schemeClr val="tx1"/>
                </a:solidFill>
                <a:latin typeface="Trebuchet MS" panose="020B0603020202020204" pitchFamily="34" charset="0"/>
                <a:ea typeface="宋体" panose="02010600030101010101" pitchFamily="2" charset="-122"/>
              </a:rPr>
              <a:t>1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y</a:t>
            </a:r>
            <a:r>
              <a:rPr lang="en-US" altLang="zh-CN" sz="2400" b="1" baseline="30000"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baseline="30000" dirty="0">
                <a:solidFill>
                  <a:schemeClr val="tx1"/>
                </a:solidFill>
                <a:latin typeface="Trebuchet MS" panose="020B0603020202020204" pitchFamily="34" charset="0"/>
                <a:ea typeface="宋体" panose="02010600030101010101" pitchFamily="2" charset="-122"/>
              </a:rPr>
              <a:t>1</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x</a:t>
            </a:r>
            <a:r>
              <a:rPr lang="en-US" altLang="zh-CN" sz="2400" b="1" baseline="30000"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baseline="30000" dirty="0">
                <a:solidFill>
                  <a:schemeClr val="tx1"/>
                </a:solidFill>
                <a:latin typeface="Trebuchet MS" panose="020B0603020202020204" pitchFamily="34" charset="0"/>
                <a:ea typeface="宋体" panose="02010600030101010101" pitchFamily="2" charset="-122"/>
              </a:rPr>
              <a:t>1</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marL="628650" indent="-447675">
              <a:lnSpc>
                <a:spcPct val="11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(3)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G</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x</a:t>
            </a:r>
            <a:r>
              <a:rPr lang="en-US" altLang="zh-CN" sz="2400" b="1" i="1" baseline="30000" dirty="0" err="1">
                <a:solidFill>
                  <a:schemeClr val="tx1"/>
                </a:solidFill>
                <a:latin typeface="Trebuchet MS" panose="020B0603020202020204" pitchFamily="34" charset="0"/>
                <a:ea typeface="宋体" panose="02010600030101010101" pitchFamily="2" charset="-122"/>
                <a:sym typeface="Symbol" panose="05050102010706020507" pitchFamily="18" charset="2"/>
              </a:rPr>
              <a:t>n</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x</a:t>
            </a:r>
            <a:r>
              <a:rPr lang="en-US" altLang="zh-CN" sz="2400" b="1" i="1" baseline="30000" dirty="0" err="1">
                <a:solidFill>
                  <a:schemeClr val="tx1"/>
                </a:solidFill>
                <a:latin typeface="Trebuchet MS" panose="020B0603020202020204" pitchFamily="34" charset="0"/>
                <a:ea typeface="宋体" panose="02010600030101010101" pitchFamily="2" charset="-122"/>
                <a:sym typeface="Symbol" panose="05050102010706020507" pitchFamily="18" charset="2"/>
              </a:rPr>
              <a:t>m</a:t>
            </a:r>
            <a:r>
              <a:rPr lang="en-US" altLang="zh-CN" sz="2400" b="1" i="1" baseline="30000"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x</a:t>
            </a:r>
            <a:r>
              <a:rPr lang="en-US" altLang="zh-CN" sz="2400" b="1" i="1" baseline="30000" dirty="0" err="1">
                <a:solidFill>
                  <a:schemeClr val="tx1"/>
                </a:solidFill>
                <a:latin typeface="Trebuchet MS" panose="020B0603020202020204" pitchFamily="34" charset="0"/>
                <a:ea typeface="宋体" panose="02010600030101010101" pitchFamily="2" charset="-122"/>
                <a:sym typeface="Symbol" panose="05050102010706020507" pitchFamily="18" charset="2"/>
              </a:rPr>
              <a:t>n</a:t>
            </a:r>
            <a:r>
              <a:rPr lang="en-US" altLang="zh-CN" sz="2400" b="1" baseline="30000"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baseline="30000" dirty="0" err="1">
                <a:solidFill>
                  <a:schemeClr val="tx1"/>
                </a:solidFill>
                <a:latin typeface="Trebuchet MS" panose="020B0603020202020204" pitchFamily="34" charset="0"/>
                <a:ea typeface="宋体" panose="02010600030101010101" pitchFamily="2" charset="-122"/>
                <a:sym typeface="Symbol" panose="05050102010706020507" pitchFamily="18" charset="2"/>
              </a:rPr>
              <a:t>m</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n</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m</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∈Z</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marL="628650" indent="-447675">
              <a:lnSpc>
                <a:spcPct val="11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(4)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x</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G</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x</a:t>
            </a:r>
            <a:r>
              <a:rPr lang="en-US" altLang="zh-CN" sz="2400" b="1" i="1" baseline="30000" dirty="0" err="1">
                <a:solidFill>
                  <a:schemeClr val="tx1"/>
                </a:solidFill>
                <a:latin typeface="Trebuchet MS" panose="020B0603020202020204" pitchFamily="34" charset="0"/>
                <a:ea typeface="宋体" panose="02010600030101010101" pitchFamily="2" charset="-122"/>
                <a:sym typeface="Symbol" panose="05050102010706020507" pitchFamily="18" charset="2"/>
              </a:rPr>
              <a:t>n</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baseline="30000" dirty="0">
                <a:solidFill>
                  <a:schemeClr val="tx1"/>
                </a:solidFill>
                <a:latin typeface="Trebuchet MS" panose="020B0603020202020204" pitchFamily="34" charset="0"/>
                <a:ea typeface="宋体" panose="02010600030101010101" pitchFamily="2" charset="-122"/>
                <a:sym typeface="Symbol" panose="05050102010706020507" pitchFamily="18" charset="2"/>
              </a:rPr>
              <a:t>m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x</a:t>
            </a:r>
            <a:r>
              <a:rPr lang="en-US" altLang="zh-CN" sz="2400" b="1" i="1" baseline="30000" dirty="0" err="1">
                <a:solidFill>
                  <a:schemeClr val="tx1"/>
                </a:solidFill>
                <a:latin typeface="Trebuchet MS" panose="020B0603020202020204" pitchFamily="34" charset="0"/>
                <a:ea typeface="宋体" panose="02010600030101010101" pitchFamily="2" charset="-122"/>
                <a:sym typeface="Symbol" panose="05050102010706020507" pitchFamily="18" charset="2"/>
              </a:rPr>
              <a:t>nm</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n</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m</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∈Z</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marL="628650" indent="-447675">
              <a:lnSpc>
                <a:spcPct val="11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(5) </a:t>
            </a:r>
            <a:r>
              <a:rPr lang="en-US" sz="2400" dirty="0">
                <a:latin typeface="Trebuchet MS" panose="020B0603020202020204" pitchFamily="34" charset="0"/>
              </a:rPr>
              <a:t>If </a:t>
            </a:r>
            <a:r>
              <a:rPr lang="en-US" sz="2400" b="1" i="1" dirty="0">
                <a:latin typeface="Trebuchet MS" panose="020B0603020202020204" pitchFamily="34" charset="0"/>
              </a:rPr>
              <a:t>G</a:t>
            </a:r>
            <a:r>
              <a:rPr lang="en-US" sz="2400" dirty="0">
                <a:latin typeface="Trebuchet MS" panose="020B0603020202020204" pitchFamily="34" charset="0"/>
              </a:rPr>
              <a:t> is an abelian (commutative) group, then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xy</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baseline="30000" dirty="0">
                <a:solidFill>
                  <a:schemeClr val="tx1"/>
                </a:solidFill>
                <a:latin typeface="Trebuchet MS" panose="020B0603020202020204" pitchFamily="34" charset="0"/>
                <a:ea typeface="宋体" panose="02010600030101010101" pitchFamily="2" charset="-122"/>
                <a:sym typeface="Symbol" panose="05050102010706020507" pitchFamily="18" charset="2"/>
              </a:rPr>
              <a:t>n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x</a:t>
            </a:r>
            <a:r>
              <a:rPr lang="en-US" altLang="zh-CN" sz="2400" b="1" i="1" baseline="30000" dirty="0" err="1">
                <a:solidFill>
                  <a:schemeClr val="tx1"/>
                </a:solidFill>
                <a:latin typeface="Trebuchet MS" panose="020B0603020202020204" pitchFamily="34" charset="0"/>
                <a:ea typeface="宋体" panose="02010600030101010101" pitchFamily="2" charset="-122"/>
                <a:sym typeface="Symbol" panose="05050102010706020507" pitchFamily="18" charset="2"/>
              </a:rPr>
              <a:t>n</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y</a:t>
            </a:r>
            <a:r>
              <a:rPr lang="en-US" altLang="zh-CN" sz="2400" b="1" i="1" baseline="30000" dirty="0" err="1">
                <a:solidFill>
                  <a:schemeClr val="tx1"/>
                </a:solidFill>
                <a:latin typeface="Trebuchet MS" panose="020B0603020202020204" pitchFamily="34" charset="0"/>
                <a:ea typeface="宋体" panose="02010600030101010101" pitchFamily="2" charset="-122"/>
                <a:sym typeface="Symbol" panose="05050102010706020507" pitchFamily="18" charset="2"/>
              </a:rPr>
              <a:t>n</a:t>
            </a:r>
            <a:r>
              <a:rPr lang="en-US" sz="2400" dirty="0">
                <a:latin typeface="Trebuchet MS" panose="020B0603020202020204" pitchFamily="34" charset="0"/>
              </a:rPr>
              <a:t> (since the binary operation in an abelian group is commutative).</a:t>
            </a:r>
          </a:p>
          <a:p>
            <a:pPr marL="342900" indent="-342900">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 </a:t>
            </a:r>
            <a:r>
              <a:rPr lang="en-US" altLang="zh-CN" sz="2400" dirty="0">
                <a:latin typeface="Trebuchet MS" panose="020B0603020202020204" pitchFamily="34" charset="0"/>
              </a:rPr>
              <a:t>is the inverse of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and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 </a:t>
            </a:r>
            <a:r>
              <a:rPr lang="en-US" altLang="zh-CN" sz="2400" dirty="0">
                <a:latin typeface="Trebuchet MS" panose="020B0603020202020204" pitchFamily="34" charset="0"/>
              </a:rPr>
              <a:t>is also the inverse of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By the uniqueness of the inverse, the equation is proved.</a:t>
            </a:r>
          </a:p>
          <a:p>
            <a:pPr marL="342900" indent="-342900">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xy</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i="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e</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and similarly,</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xy</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 y</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e</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dirty="0">
                <a:latin typeface="Trebuchet MS" panose="020B0603020202020204" pitchFamily="34" charset="0"/>
              </a:rPr>
              <a:t>therefore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a:t>
            </a:r>
            <a:r>
              <a:rPr lang="en-US" altLang="zh-CN" sz="2400" dirty="0">
                <a:latin typeface="Trebuchet MS" panose="020B0603020202020204" pitchFamily="34" charset="0"/>
              </a:rPr>
              <a:t>is the inverse of</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xy</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By the uniqueness of the inverse, the equation is proved.</a:t>
            </a:r>
            <a:endParaRPr lang="zh-CN" altLang="en-US" sz="2400" dirty="0">
              <a:latin typeface="Trebuchet MS" panose="020B0603020202020204" pitchFamily="34" charset="0"/>
              <a:cs typeface="Times New Roman" panose="02020603050405020304" pitchFamily="18" charset="0"/>
              <a:sym typeface="Symbol" panose="05050102010706020507" pitchFamily="18" charset="2"/>
            </a:endParaRPr>
          </a:p>
          <a:p>
            <a:pPr marL="628650" indent="-447675">
              <a:lnSpc>
                <a:spcPct val="110000"/>
              </a:lnSpc>
              <a:buClr>
                <a:srgbClr val="0B61FF"/>
              </a:buClr>
              <a:buSzPct val="80000"/>
            </a:pPr>
            <a:endPar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endParaRPr>
          </a:p>
        </p:txBody>
      </p:sp>
    </p:spTree>
    <p:extLst>
      <p:ext uri="{BB962C8B-B14F-4D97-AF65-F5344CB8AC3E}">
        <p14:creationId xmlns:p14="http://schemas.microsoft.com/office/powerpoint/2010/main" val="2867941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3" end="3"/>
                                            </p:txEl>
                                          </p:spTgt>
                                        </p:tgtEl>
                                        <p:attrNameLst>
                                          <p:attrName>style.visibility</p:attrName>
                                        </p:attrNameLst>
                                      </p:cBhvr>
                                      <p:to>
                                        <p:strVal val="visible"/>
                                      </p:to>
                                    </p:set>
                                    <p:animEffect transition="in" filter="fade">
                                      <p:cBhvr>
                                        <p:cTn id="14" dur="1000"/>
                                        <p:tgtEl>
                                          <p:spTgt spid="11">
                                            <p:txEl>
                                              <p:pRg st="3" end="3"/>
                                            </p:txEl>
                                          </p:spTgt>
                                        </p:tgtEl>
                                      </p:cBhvr>
                                    </p:animEffect>
                                    <p:anim calcmode="lin" valueType="num">
                                      <p:cBhvr>
                                        <p:cTn id="15"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fade">
                                      <p:cBhvr>
                                        <p:cTn id="21" dur="1000"/>
                                        <p:tgtEl>
                                          <p:spTgt spid="11">
                                            <p:txEl>
                                              <p:pRg st="4" end="4"/>
                                            </p:txEl>
                                          </p:spTgt>
                                        </p:tgtEl>
                                      </p:cBhvr>
                                    </p:animEffect>
                                    <p:anim calcmode="lin" valueType="num">
                                      <p:cBhvr>
                                        <p:cTn id="22"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fade">
                                      <p:cBhvr>
                                        <p:cTn id="28" dur="1000"/>
                                        <p:tgtEl>
                                          <p:spTgt spid="11">
                                            <p:txEl>
                                              <p:pRg st="5" end="5"/>
                                            </p:txEl>
                                          </p:spTgt>
                                        </p:tgtEl>
                                      </p:cBhvr>
                                    </p:animEffect>
                                    <p:anim calcmode="lin" valueType="num">
                                      <p:cBhvr>
                                        <p:cTn id="29"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1">
                                            <p:txEl>
                                              <p:pRg st="6" end="6"/>
                                            </p:txEl>
                                          </p:spTgt>
                                        </p:tgtEl>
                                        <p:attrNameLst>
                                          <p:attrName>style.visibility</p:attrName>
                                        </p:attrNameLst>
                                      </p:cBhvr>
                                      <p:to>
                                        <p:strVal val="visible"/>
                                      </p:to>
                                    </p:set>
                                    <p:animEffect transition="in" filter="fade">
                                      <p:cBhvr>
                                        <p:cTn id="35" dur="1000"/>
                                        <p:tgtEl>
                                          <p:spTgt spid="11">
                                            <p:txEl>
                                              <p:pRg st="6" end="6"/>
                                            </p:txEl>
                                          </p:spTgt>
                                        </p:tgtEl>
                                      </p:cBhvr>
                                    </p:animEffect>
                                    <p:anim calcmode="lin" valueType="num">
                                      <p:cBhvr>
                                        <p:cTn id="36"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fade">
                                      <p:cBhvr>
                                        <p:cTn id="42" dur="1000"/>
                                        <p:tgtEl>
                                          <p:spTgt spid="11">
                                            <p:txEl>
                                              <p:pRg st="7" end="7"/>
                                            </p:txEl>
                                          </p:spTgt>
                                        </p:tgtEl>
                                      </p:cBhvr>
                                    </p:animEffect>
                                    <p:anim calcmode="lin" valueType="num">
                                      <p:cBhvr>
                                        <p:cTn id="43"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sz="20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Theorem on Power Laws in Groups</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42171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Explanation</a:t>
            </a:r>
            <a:r>
              <a:rPr lang="en-US" altLang="zh-CN" sz="2400" b="1" dirty="0">
                <a:latin typeface="Trebuchet MS" panose="020B0603020202020204" pitchFamily="34" charset="0"/>
                <a:cs typeface="Times New Roman" panose="02020603050405020304" pitchFamily="18" charset="0"/>
              </a:rPr>
              <a:t>:</a:t>
            </a:r>
          </a:p>
          <a:p>
            <a:pPr marL="355600" indent="-174625">
              <a:lnSpc>
                <a:spcPct val="120000"/>
              </a:lnSpc>
              <a:spcBef>
                <a:spcPts val="600"/>
              </a:spcBef>
              <a:buClr>
                <a:srgbClr val="0B61FF"/>
              </a:buClr>
              <a:buSzPct val="120000"/>
            </a:pPr>
            <a:r>
              <a:rPr lang="en-US" altLang="zh-CN" sz="2400" dirty="0">
                <a:latin typeface="Trebuchet MS" panose="020B0603020202020204" pitchFamily="34" charset="0"/>
              </a:rPr>
              <a:t>The proofs for</a:t>
            </a:r>
            <a:r>
              <a:rPr lang="zh-CN" altLang="en-US" sz="2400" b="1" dirty="0">
                <a:latin typeface="Trebuchet MS" panose="020B0603020202020204" pitchFamily="34" charset="0"/>
                <a:cs typeface="Times New Roman" panose="02020603050405020304" pitchFamily="18" charset="0"/>
              </a:rPr>
              <a:t> </a:t>
            </a:r>
            <a:r>
              <a:rPr lang="en-US" altLang="zh-CN" sz="2400" b="1" dirty="0">
                <a:solidFill>
                  <a:srgbClr val="0B61FF"/>
                </a:solidFill>
                <a:latin typeface="Trebuchet MS" panose="020B0603020202020204" pitchFamily="34" charset="0"/>
                <a:cs typeface="Times New Roman" panose="02020603050405020304" pitchFamily="18" charset="0"/>
              </a:rPr>
              <a:t>(3) (4) (5)</a:t>
            </a:r>
            <a:r>
              <a:rPr lang="en-US" altLang="zh-CN" sz="2400" b="1" dirty="0">
                <a:latin typeface="Trebuchet MS" panose="020B0603020202020204" pitchFamily="34" charset="0"/>
                <a:cs typeface="Times New Roman" panose="02020603050405020304" pitchFamily="18" charset="0"/>
              </a:rPr>
              <a:t> : </a:t>
            </a:r>
            <a:r>
              <a:rPr lang="en-US" altLang="zh-CN" sz="2400" dirty="0">
                <a:latin typeface="Trebuchet MS" panose="020B0603020202020204" pitchFamily="34" charset="0"/>
              </a:rPr>
              <a:t>Use mathematical induction to prove that the equation holds for natural numbers </a:t>
            </a:r>
            <a:r>
              <a:rPr lang="en-US" altLang="zh-CN" sz="2400" b="1" i="1" dirty="0">
                <a:latin typeface="Trebuchet MS" panose="020B0603020202020204" pitchFamily="34" charset="0"/>
              </a:rPr>
              <a:t>n</a:t>
            </a:r>
            <a:r>
              <a:rPr lang="en-US" altLang="zh-CN" sz="2400" dirty="0">
                <a:latin typeface="Trebuchet MS" panose="020B0603020202020204" pitchFamily="34" charset="0"/>
              </a:rPr>
              <a:t> and </a:t>
            </a:r>
            <a:r>
              <a:rPr lang="en-US" altLang="zh-CN" sz="2400" b="1" i="1" dirty="0">
                <a:latin typeface="Trebuchet MS" panose="020B0603020202020204" pitchFamily="34" charset="0"/>
              </a:rPr>
              <a:t>m</a:t>
            </a:r>
            <a:r>
              <a:rPr lang="en-US" altLang="zh-CN" sz="2400" dirty="0">
                <a:latin typeface="Trebuchet MS" panose="020B0603020202020204" pitchFamily="34" charset="0"/>
              </a:rPr>
              <a:t>, and then discuss the cases where </a:t>
            </a:r>
            <a:r>
              <a:rPr lang="en-US" altLang="zh-CN" sz="2400" b="1" i="1" dirty="0">
                <a:latin typeface="Trebuchet MS" panose="020B0603020202020204" pitchFamily="34" charset="0"/>
              </a:rPr>
              <a:t>n</a:t>
            </a:r>
            <a:r>
              <a:rPr lang="en-US" altLang="zh-CN" sz="2400" dirty="0">
                <a:latin typeface="Trebuchet MS" panose="020B0603020202020204" pitchFamily="34" charset="0"/>
              </a:rPr>
              <a:t> or </a:t>
            </a:r>
            <a:r>
              <a:rPr lang="en-US" altLang="zh-CN" sz="2400" b="1" i="1" dirty="0">
                <a:latin typeface="Trebuchet MS" panose="020B0603020202020204" pitchFamily="34" charset="0"/>
              </a:rPr>
              <a:t>m</a:t>
            </a:r>
            <a:r>
              <a:rPr lang="en-US" altLang="zh-CN" sz="2400" dirty="0">
                <a:latin typeface="Trebuchet MS" panose="020B0603020202020204" pitchFamily="34" charset="0"/>
              </a:rPr>
              <a:t> are negative numbers.</a:t>
            </a:r>
          </a:p>
          <a:p>
            <a:pPr marL="355600" indent="-174625">
              <a:lnSpc>
                <a:spcPct val="120000"/>
              </a:lnSpc>
              <a:spcBef>
                <a:spcPts val="600"/>
              </a:spcBef>
              <a:buClr>
                <a:srgbClr val="0B61FF"/>
              </a:buClr>
              <a:buSzPct val="120000"/>
            </a:pPr>
            <a:r>
              <a:rPr lang="en-US" altLang="zh-CN" sz="2400" dirty="0">
                <a:latin typeface="Trebuchet MS" panose="020B0603020202020204" pitchFamily="34" charset="0"/>
              </a:rPr>
              <a:t>The result in </a:t>
            </a:r>
            <a:r>
              <a:rPr lang="en-US" altLang="zh-CN" sz="2400" b="1" dirty="0">
                <a:solidFill>
                  <a:srgbClr val="0B61FF"/>
                </a:solidFill>
                <a:latin typeface="Trebuchet MS" panose="020B0603020202020204" pitchFamily="34" charset="0"/>
              </a:rPr>
              <a:t>(2)</a:t>
            </a:r>
            <a:r>
              <a:rPr lang="en-US" altLang="zh-CN" sz="2400" dirty="0">
                <a:latin typeface="Trebuchet MS" panose="020B0603020202020204" pitchFamily="34" charset="0"/>
              </a:rPr>
              <a:t> can be extended to the case of finitely many elements, that is</a:t>
            </a:r>
            <a:r>
              <a:rPr lang="en-US" altLang="zh-CN" sz="2400" i="1" dirty="0">
                <a:latin typeface="Trebuchet MS" panose="020B0603020202020204" pitchFamily="34" charset="0"/>
              </a:rPr>
              <a:t>,                                                     .</a:t>
            </a:r>
          </a:p>
          <a:p>
            <a:pPr marL="355600" indent="-174625">
              <a:lnSpc>
                <a:spcPct val="120000"/>
              </a:lnSpc>
              <a:spcBef>
                <a:spcPts val="600"/>
              </a:spcBef>
              <a:buClr>
                <a:srgbClr val="0B61FF"/>
              </a:buClr>
              <a:buSzPct val="120000"/>
            </a:pPr>
            <a:r>
              <a:rPr lang="en-US" altLang="zh-CN" sz="2400" dirty="0"/>
              <a:t>Equation </a:t>
            </a:r>
            <a:r>
              <a:rPr lang="en-US" altLang="zh-CN" sz="2400" b="1" dirty="0">
                <a:solidFill>
                  <a:srgbClr val="0B61FF"/>
                </a:solidFill>
                <a:latin typeface="Trebuchet MS" panose="020B0603020202020204" pitchFamily="34" charset="0"/>
              </a:rPr>
              <a:t>(5) </a:t>
            </a:r>
            <a:r>
              <a:rPr lang="en-US" altLang="zh-CN" sz="2400" dirty="0"/>
              <a:t>holds only for abelian (commutative) groups. If </a:t>
            </a:r>
            <a:r>
              <a:rPr lang="en-US" altLang="zh-CN" sz="2400" b="1" i="1" dirty="0"/>
              <a:t>G</a:t>
            </a:r>
            <a:r>
              <a:rPr lang="en-US" altLang="zh-CN" sz="2400" dirty="0"/>
              <a:t> is a non-abelian (non-commutative) group, then                                             .</a:t>
            </a:r>
            <a:endParaRPr lang="en-US" altLang="zh-CN" sz="2400" b="1" dirty="0">
              <a:latin typeface="Trebuchet MS" panose="020B0603020202020204" pitchFamily="34" charset="0"/>
            </a:endParaRPr>
          </a:p>
        </p:txBody>
      </p:sp>
      <p:sp>
        <p:nvSpPr>
          <p:cNvPr id="12" name="Rectangle 4">
            <a:extLst>
              <a:ext uri="{FF2B5EF4-FFF2-40B4-BE49-F238E27FC236}">
                <a16:creationId xmlns:a16="http://schemas.microsoft.com/office/drawing/2014/main" id="{4F93DFDE-782B-4CB1-BFF3-C02F8EF62EDB}"/>
              </a:ext>
            </a:extLst>
          </p:cNvPr>
          <p:cNvSpPr>
            <a:spLocks noChangeArrowheads="1"/>
          </p:cNvSpPr>
          <p:nvPr/>
        </p:nvSpPr>
        <p:spPr bwMode="auto">
          <a:xfrm>
            <a:off x="3873501" y="3608195"/>
            <a:ext cx="21672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666750" algn="l"/>
              </a:tabLst>
              <a:defRPr>
                <a:solidFill>
                  <a:schemeClr val="accent2"/>
                </a:solidFill>
                <a:latin typeface="Arial" panose="020B0604020202020204" pitchFamily="34" charset="0"/>
                <a:ea typeface="华文行楷" panose="02010800040101010101" pitchFamily="2" charset="-122"/>
              </a:defRPr>
            </a:lvl1pPr>
            <a:lvl2pPr>
              <a:tabLst>
                <a:tab pos="666750" algn="l"/>
              </a:tabLst>
              <a:defRPr>
                <a:solidFill>
                  <a:schemeClr val="accent2"/>
                </a:solidFill>
                <a:latin typeface="Arial" panose="020B0604020202020204" pitchFamily="34" charset="0"/>
                <a:ea typeface="华文行楷" panose="02010800040101010101" pitchFamily="2" charset="-122"/>
              </a:defRPr>
            </a:lvl2pPr>
            <a:lvl3pPr>
              <a:tabLst>
                <a:tab pos="666750" algn="l"/>
              </a:tabLst>
              <a:defRPr>
                <a:solidFill>
                  <a:schemeClr val="accent2"/>
                </a:solidFill>
                <a:latin typeface="Arial" panose="020B0604020202020204" pitchFamily="34" charset="0"/>
                <a:ea typeface="华文行楷" panose="02010800040101010101" pitchFamily="2" charset="-122"/>
              </a:defRPr>
            </a:lvl3pPr>
            <a:lvl4pPr>
              <a:tabLst>
                <a:tab pos="666750" algn="l"/>
              </a:tabLst>
              <a:defRPr>
                <a:solidFill>
                  <a:schemeClr val="accent2"/>
                </a:solidFill>
                <a:latin typeface="Arial" panose="020B0604020202020204" pitchFamily="34" charset="0"/>
                <a:ea typeface="华文行楷" panose="02010800040101010101" pitchFamily="2" charset="-122"/>
              </a:defRPr>
            </a:lvl4pPr>
            <a:lvl5pPr>
              <a:tabLst>
                <a:tab pos="666750" algn="l"/>
              </a:tabLst>
              <a:defRPr>
                <a:solidFill>
                  <a:schemeClr val="accent2"/>
                </a:solidFill>
                <a:latin typeface="Arial" panose="020B0604020202020204" pitchFamily="34" charset="0"/>
                <a:ea typeface="华文行楷" panose="02010800040101010101" pitchFamily="2" charset="-122"/>
              </a:defRPr>
            </a:lvl5pPr>
            <a:lvl6pPr fontAlgn="base">
              <a:spcBef>
                <a:spcPct val="0"/>
              </a:spcBef>
              <a:spcAft>
                <a:spcPct val="0"/>
              </a:spcAft>
              <a:tabLst>
                <a:tab pos="666750" algn="l"/>
              </a:tabLst>
              <a:defRPr>
                <a:solidFill>
                  <a:schemeClr val="accent2"/>
                </a:solidFill>
                <a:latin typeface="Arial" panose="020B0604020202020204" pitchFamily="34" charset="0"/>
                <a:ea typeface="华文行楷" panose="02010800040101010101" pitchFamily="2" charset="-122"/>
              </a:defRPr>
            </a:lvl6pPr>
            <a:lvl7pPr fontAlgn="base">
              <a:spcBef>
                <a:spcPct val="0"/>
              </a:spcBef>
              <a:spcAft>
                <a:spcPct val="0"/>
              </a:spcAft>
              <a:tabLst>
                <a:tab pos="666750" algn="l"/>
              </a:tabLst>
              <a:defRPr>
                <a:solidFill>
                  <a:schemeClr val="accent2"/>
                </a:solidFill>
                <a:latin typeface="Arial" panose="020B0604020202020204" pitchFamily="34" charset="0"/>
                <a:ea typeface="华文行楷" panose="02010800040101010101" pitchFamily="2" charset="-122"/>
              </a:defRPr>
            </a:lvl7pPr>
            <a:lvl8pPr fontAlgn="base">
              <a:spcBef>
                <a:spcPct val="0"/>
              </a:spcBef>
              <a:spcAft>
                <a:spcPct val="0"/>
              </a:spcAft>
              <a:tabLst>
                <a:tab pos="666750" algn="l"/>
              </a:tabLst>
              <a:defRPr>
                <a:solidFill>
                  <a:schemeClr val="accent2"/>
                </a:solidFill>
                <a:latin typeface="Arial" panose="020B0604020202020204" pitchFamily="34" charset="0"/>
                <a:ea typeface="华文行楷" panose="02010800040101010101" pitchFamily="2" charset="-122"/>
              </a:defRPr>
            </a:lvl8pPr>
            <a:lvl9pPr fontAlgn="base">
              <a:spcBef>
                <a:spcPct val="0"/>
              </a:spcBef>
              <a:spcAft>
                <a:spcPct val="0"/>
              </a:spcAft>
              <a:tabLst>
                <a:tab pos="666750" algn="l"/>
              </a:tabLst>
              <a:defRPr>
                <a:solidFill>
                  <a:schemeClr val="accent2"/>
                </a:solidFill>
                <a:latin typeface="Arial" panose="020B0604020202020204" pitchFamily="34" charset="0"/>
                <a:ea typeface="华文行楷" panose="02010800040101010101" pitchFamily="2" charset="-122"/>
              </a:defRPr>
            </a:lvl9pPr>
          </a:lstStyle>
          <a:p>
            <a:r>
              <a:rPr lang="zh-CN" altLang="en-US" sz="1000">
                <a:solidFill>
                  <a:srgbClr val="000000"/>
                </a:solidFill>
                <a:latin typeface="Times New Roman" panose="02020603050405020304" pitchFamily="18" charset="0"/>
                <a:cs typeface="Times New Roman" panose="02020603050405020304" pitchFamily="18" charset="0"/>
              </a:rPr>
              <a:t> </a:t>
            </a:r>
            <a:endParaRPr lang="zh-CN" altLang="en-US">
              <a:solidFill>
                <a:schemeClr val="tx1"/>
              </a:solidFill>
              <a:latin typeface="Times New Roman" panose="02020603050405020304" pitchFamily="18" charset="0"/>
              <a:cs typeface="Times New Roman" panose="02020603050405020304" pitchFamily="18" charset="0"/>
            </a:endParaRPr>
          </a:p>
        </p:txBody>
      </p:sp>
      <p:graphicFrame>
        <p:nvGraphicFramePr>
          <p:cNvPr id="16" name="Object 6">
            <a:extLst>
              <a:ext uri="{FF2B5EF4-FFF2-40B4-BE49-F238E27FC236}">
                <a16:creationId xmlns:a16="http://schemas.microsoft.com/office/drawing/2014/main" id="{006ABD8B-23E9-4CC1-B0CD-0AAF3B91C2FB}"/>
              </a:ext>
            </a:extLst>
          </p:cNvPr>
          <p:cNvGraphicFramePr>
            <a:graphicFrameLocks noChangeAspect="1"/>
          </p:cNvGraphicFramePr>
          <p:nvPr>
            <p:extLst>
              <p:ext uri="{D42A27DB-BD31-4B8C-83A1-F6EECF244321}">
                <p14:modId xmlns:p14="http://schemas.microsoft.com/office/powerpoint/2010/main" val="819930811"/>
              </p:ext>
            </p:extLst>
          </p:nvPr>
        </p:nvGraphicFramePr>
        <p:xfrm>
          <a:off x="3981864" y="3249805"/>
          <a:ext cx="4675660" cy="522674"/>
        </p:xfrm>
        <a:graphic>
          <a:graphicData uri="http://schemas.openxmlformats.org/presentationml/2006/ole">
            <mc:AlternateContent xmlns:mc="http://schemas.openxmlformats.org/markup-compatibility/2006">
              <mc:Choice xmlns:v="urn:schemas-microsoft-com:vml" Requires="v">
                <p:oleObj spid="_x0000_s4100" r:id="rId6" imgW="2159000" imgH="241300" progId="Equation.3">
                  <p:embed/>
                </p:oleObj>
              </mc:Choice>
              <mc:Fallback>
                <p:oleObj r:id="rId6" imgW="2159000" imgH="241300" progId="Equation.3">
                  <p:embed/>
                  <p:pic>
                    <p:nvPicPr>
                      <p:cNvPr id="16" name="Object 6">
                        <a:extLst>
                          <a:ext uri="{FF2B5EF4-FFF2-40B4-BE49-F238E27FC236}">
                            <a16:creationId xmlns:a16="http://schemas.microsoft.com/office/drawing/2014/main" id="{006ABD8B-23E9-4CC1-B0CD-0AAF3B91C2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81864" y="3249805"/>
                        <a:ext cx="4675660" cy="522674"/>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23" name="Object 7">
                <a:extLst>
                  <a:ext uri="{FF2B5EF4-FFF2-40B4-BE49-F238E27FC236}">
                    <a16:creationId xmlns:a16="http://schemas.microsoft.com/office/drawing/2014/main" id="{4F2E6656-9C4A-45F7-B568-E01CDB887EF4}"/>
                  </a:ext>
                </a:extLst>
              </p:cNvPr>
              <p:cNvSpPr txBox="1"/>
              <p:nvPr/>
            </p:nvSpPr>
            <p:spPr bwMode="auto">
              <a:xfrm>
                <a:off x="6464070" y="4195992"/>
                <a:ext cx="3007340" cy="729840"/>
              </a:xfrm>
              <a:prstGeom prst="rect">
                <a:avLst/>
              </a:prstGeom>
              <a:ln>
                <a:noFill/>
              </a:ln>
            </p:spPr>
            <p:txBody>
              <a:bodyPr anchor="ctr" anchorCtr="0">
                <a:normAutofit/>
              </a:bodyPr>
              <a:lstStyle/>
              <a:p>
                <a:pPr/>
                <a14:m>
                  <m:oMathPara xmlns:m="http://schemas.openxmlformats.org/officeDocument/2006/math">
                    <m:oMathParaPr>
                      <m:jc m:val="centerGroup"/>
                    </m:oMathParaPr>
                    <m:oMath xmlns:m="http://schemas.openxmlformats.org/officeDocument/2006/math">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𝒙𝒚</m:t>
                      </m:r>
                      <m:sSup>
                        <m:sSupPr>
                          <m:ctrlPr>
                            <a:rPr lang="zh-CN" altLang="en-US" sz="2000" b="1" i="1">
                              <a:solidFill>
                                <a:srgbClr val="000000"/>
                              </a:solidFill>
                              <a:latin typeface="Cambria Math" panose="02040503050406030204" pitchFamily="18" charset="0"/>
                            </a:rPr>
                          </m:ctrlPr>
                        </m:sSupPr>
                        <m:e>
                          <m:r>
                            <a:rPr lang="zh-CN" altLang="en-US" sz="2000" b="1" i="1">
                              <a:solidFill>
                                <a:srgbClr val="000000"/>
                              </a:solidFill>
                              <a:latin typeface="Cambria Math" panose="02040503050406030204" pitchFamily="18" charset="0"/>
                            </a:rPr>
                            <m:t>)</m:t>
                          </m:r>
                        </m:e>
                        <m:sup>
                          <m:r>
                            <a:rPr lang="zh-CN" altLang="en-US" sz="2000" b="1" i="1">
                              <a:solidFill>
                                <a:srgbClr val="000000"/>
                              </a:solidFill>
                              <a:latin typeface="Cambria Math" panose="02040503050406030204" pitchFamily="18" charset="0"/>
                            </a:rPr>
                            <m:t>𝒏</m:t>
                          </m:r>
                        </m:sup>
                      </m:sSup>
                      <m:r>
                        <a:rPr lang="zh-CN" altLang="en-US" sz="2000" b="1" i="1">
                          <a:solidFill>
                            <a:srgbClr val="000000"/>
                          </a:solidFill>
                          <a:latin typeface="Cambria Math" panose="02040503050406030204" pitchFamily="18" charset="0"/>
                        </a:rPr>
                        <m:t>=</m:t>
                      </m:r>
                      <m:limLow>
                        <m:limLowPr>
                          <m:ctrlPr>
                            <a:rPr lang="zh-CN" altLang="en-US" sz="2000" b="1" i="1">
                              <a:solidFill>
                                <a:srgbClr val="000000"/>
                              </a:solidFill>
                              <a:latin typeface="Cambria Math" panose="02040503050406030204" pitchFamily="18" charset="0"/>
                            </a:rPr>
                          </m:ctrlPr>
                        </m:limLowPr>
                        <m:e>
                          <m:groupChr>
                            <m:groupChrPr>
                              <m:chr m:val="⏟"/>
                              <m:ctrlPr>
                                <a:rPr lang="zh-CN" altLang="en-US" sz="2000" b="1" i="1">
                                  <a:solidFill>
                                    <a:srgbClr val="000000"/>
                                  </a:solidFill>
                                  <a:latin typeface="Cambria Math" panose="02040503050406030204" pitchFamily="18" charset="0"/>
                                </a:rPr>
                              </m:ctrlPr>
                            </m:groupChrPr>
                            <m:e>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𝒙𝒚</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𝒙𝒚</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𝒙𝒚</m:t>
                              </m:r>
                              <m:r>
                                <a:rPr lang="zh-CN" altLang="en-US" sz="2000" b="1" i="1">
                                  <a:solidFill>
                                    <a:srgbClr val="000000"/>
                                  </a:solidFill>
                                  <a:latin typeface="Cambria Math" panose="02040503050406030204" pitchFamily="18" charset="0"/>
                                </a:rPr>
                                <m:t>)</m:t>
                              </m:r>
                            </m:e>
                          </m:groupChr>
                        </m:e>
                        <m:lim>
                          <m:r>
                            <a:rPr lang="zh-CN" altLang="en-US" sz="2000" b="1" i="1">
                              <a:solidFill>
                                <a:srgbClr val="000000"/>
                              </a:solidFill>
                              <a:latin typeface="Cambria Math" panose="02040503050406030204" pitchFamily="18" charset="0"/>
                            </a:rPr>
                            <m:t>𝒏</m:t>
                          </m:r>
                        </m:lim>
                      </m:limLow>
                    </m:oMath>
                  </m:oMathPara>
                </a14:m>
                <a:endParaRPr lang="zh-CN" altLang="en-US" sz="2000" b="1" dirty="0">
                  <a:latin typeface="Times New Roman" panose="02020603050405020304" pitchFamily="18" charset="0"/>
                  <a:cs typeface="Times New Roman" panose="02020603050405020304" pitchFamily="18" charset="0"/>
                </a:endParaRPr>
              </a:p>
            </p:txBody>
          </p:sp>
        </mc:Choice>
        <mc:Fallback xmlns="">
          <p:sp>
            <p:nvSpPr>
              <p:cNvPr id="23" name="Object 7">
                <a:extLst>
                  <a:ext uri="{FF2B5EF4-FFF2-40B4-BE49-F238E27FC236}">
                    <a16:creationId xmlns:a16="http://schemas.microsoft.com/office/drawing/2014/main" id="{4F2E6656-9C4A-45F7-B568-E01CDB887EF4}"/>
                  </a:ext>
                </a:extLst>
              </p:cNvPr>
              <p:cNvSpPr txBox="1">
                <a:spLocks noRot="1" noChangeAspect="1" noMove="1" noResize="1" noEditPoints="1" noAdjustHandles="1" noChangeArrowheads="1" noChangeShapeType="1" noTextEdit="1"/>
              </p:cNvSpPr>
              <p:nvPr/>
            </p:nvSpPr>
            <p:spPr bwMode="auto">
              <a:xfrm>
                <a:off x="6464070" y="4195992"/>
                <a:ext cx="3007340" cy="729840"/>
              </a:xfrm>
              <a:prstGeom prst="rect">
                <a:avLst/>
              </a:prstGeom>
              <a:blipFill>
                <a:blip r:embed="rId8"/>
                <a:stretch>
                  <a:fillRect l="-202"/>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23338796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Uniqueness of solutions to equations in a group</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9" name="Rectangle 4">
            <a:extLst>
              <a:ext uri="{FF2B5EF4-FFF2-40B4-BE49-F238E27FC236}">
                <a16:creationId xmlns:a16="http://schemas.microsoft.com/office/drawing/2014/main" id="{AC0C7C62-88A0-4F5B-B162-32AE23025756}"/>
              </a:ext>
            </a:extLst>
          </p:cNvPr>
          <p:cNvSpPr>
            <a:spLocks noChangeArrowheads="1"/>
          </p:cNvSpPr>
          <p:nvPr/>
        </p:nvSpPr>
        <p:spPr bwMode="auto">
          <a:xfrm>
            <a:off x="1000125" y="777088"/>
            <a:ext cx="10372726" cy="486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68288" indent="-268288">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Theorem 9.4 :</a:t>
            </a:r>
            <a:r>
              <a:rPr lang="zh-CN" altLang="en-US" sz="2400" b="1" dirty="0">
                <a:latin typeface="Trebuchet MS" panose="020B0603020202020204" pitchFamily="34" charset="0"/>
              </a:rPr>
              <a:t> </a:t>
            </a:r>
            <a:r>
              <a:rPr lang="en-US" sz="2400" dirty="0">
                <a:latin typeface="Trebuchet MS" panose="020B0603020202020204" pitchFamily="34" charset="0"/>
              </a:rPr>
              <a:t>Let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G</a:t>
            </a:r>
            <a:r>
              <a:rPr lang="en-US" sz="2400" dirty="0">
                <a:latin typeface="Trebuchet MS" panose="020B0603020202020204" pitchFamily="34" charset="0"/>
              </a:rPr>
              <a:t> be a group. For all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G</a:t>
            </a:r>
            <a:r>
              <a:rPr lang="en-US" sz="2400" dirty="0">
                <a:latin typeface="Trebuchet MS" panose="020B0603020202020204" pitchFamily="34" charset="0"/>
              </a:rPr>
              <a:t>, the equations </a:t>
            </a:r>
            <a:r>
              <a:rPr lang="en-US" altLang="zh-CN" sz="2400" b="1" i="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ax=b</a:t>
            </a:r>
            <a:r>
              <a:rPr lang="en-US" altLang="zh-CN" sz="2400" b="1" i="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b="1" dirty="0">
                <a:latin typeface="Trebuchet MS" panose="020B0603020202020204" pitchFamily="34" charset="0"/>
              </a:rPr>
              <a:t>and</a:t>
            </a:r>
            <a:r>
              <a:rPr lang="en-US" sz="2400" b="1" i="1" dirty="0">
                <a:solidFill>
                  <a:srgbClr val="0B61FF"/>
                </a:solidFill>
                <a:latin typeface="Trebuchet MS" panose="020B0603020202020204" pitchFamily="34" charset="0"/>
              </a:rPr>
              <a:t> </a:t>
            </a:r>
            <a:r>
              <a:rPr lang="en-US" altLang="zh-CN" sz="2400" b="1" i="1" dirty="0" err="1">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ya</a:t>
            </a:r>
            <a:r>
              <a:rPr lang="en-US" altLang="zh-CN" sz="2400" b="1" i="1" dirty="0">
                <a:solidFill>
                  <a:srgbClr val="FF0000"/>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i="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b="1" i="1" dirty="0">
                <a:solidFill>
                  <a:srgbClr val="0B61FF"/>
                </a:solidFill>
                <a:latin typeface="Trebuchet MS" panose="020B0603020202020204" pitchFamily="34" charset="0"/>
              </a:rPr>
              <a:t>have solutions </a:t>
            </a:r>
            <a:r>
              <a:rPr lang="en-US" sz="2400" dirty="0">
                <a:latin typeface="Trebuchet MS" panose="020B0603020202020204" pitchFamily="34" charset="0"/>
              </a:rPr>
              <a:t>in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G</a:t>
            </a:r>
            <a:r>
              <a:rPr lang="en-US" sz="2400" dirty="0">
                <a:latin typeface="Trebuchet MS" panose="020B0603020202020204" pitchFamily="34" charset="0"/>
              </a:rPr>
              <a:t>, and the solutions are unique.</a:t>
            </a:r>
          </a:p>
          <a:p>
            <a:pPr marL="268288" indent="-268288">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Proof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lang="en-US" sz="2400" dirty="0">
                <a:latin typeface="Trebuchet MS" panose="020B0603020202020204" pitchFamily="34" charset="0"/>
              </a:rPr>
              <a:t>is the unique solution to the equation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p>
          <a:p>
            <a:pPr marL="715963" indent="-447675">
              <a:lnSpc>
                <a:spcPct val="120000"/>
              </a:lnSpc>
              <a:spcBef>
                <a:spcPts val="300"/>
              </a:spcBef>
              <a:buClr>
                <a:srgbClr val="0B61FF"/>
              </a:buClr>
              <a:buSzPct val="80000"/>
              <a:tabLst>
                <a:tab pos="268288" algn="l"/>
              </a:tabLst>
            </a:pPr>
            <a:r>
              <a:rPr lang="en-US" altLang="zh-CN" sz="2400" b="1" dirty="0">
                <a:solidFill>
                  <a:srgbClr val="0B61FF"/>
                </a:solidFill>
                <a:latin typeface="宋体" panose="02010600030101010101" pitchFamily="2" charset="-122"/>
                <a:ea typeface="宋体" panose="02010600030101010101" pitchFamily="2" charset="-122"/>
                <a:cs typeface="Times New Roman" panose="02020603050405020304" pitchFamily="18" charset="0"/>
                <a:sym typeface="Symbol" panose="05050102010706020507" pitchFamily="18" charset="2"/>
              </a:rPr>
              <a:t>① </a:t>
            </a:r>
            <a:r>
              <a:rPr lang="en-US" sz="2400" dirty="0">
                <a:latin typeface="Trebuchet MS" panose="020B0603020202020204" pitchFamily="34" charset="0"/>
              </a:rPr>
              <a:t>Substitute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lang="en-US" sz="2400" dirty="0">
                <a:latin typeface="Trebuchet MS" panose="020B0603020202020204" pitchFamily="34" charset="0"/>
              </a:rPr>
              <a:t>into the left-hand side: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 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eb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b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br>
            <a:r>
              <a:rPr lang="en-US" sz="2400" dirty="0">
                <a:latin typeface="Trebuchet MS" panose="020B0603020202020204" pitchFamily="34" charset="0"/>
              </a:rPr>
              <a:t>so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lang="en-US" sz="2400" dirty="0">
                <a:latin typeface="Trebuchet MS" panose="020B0603020202020204" pitchFamily="34" charset="0"/>
              </a:rPr>
              <a:t>is indeed a solution.</a:t>
            </a:r>
          </a:p>
          <a:p>
            <a:pPr marL="715963" indent="-447675">
              <a:lnSpc>
                <a:spcPct val="120000"/>
              </a:lnSpc>
              <a:spcBef>
                <a:spcPts val="300"/>
              </a:spcBef>
              <a:buClr>
                <a:srgbClr val="0B61FF"/>
              </a:buClr>
              <a:buSzPct val="80000"/>
              <a:tabLst>
                <a:tab pos="268288"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②</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Assume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c </a:t>
            </a:r>
            <a:r>
              <a:rPr lang="en-US" sz="2400" dirty="0">
                <a:latin typeface="Trebuchet MS" panose="020B0603020202020204" pitchFamily="34" charset="0"/>
              </a:rPr>
              <a:t>is a solution to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ax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sz="2400" dirty="0">
                <a:latin typeface="Trebuchet MS" panose="020B0603020202020204" pitchFamily="34" charset="0"/>
              </a:rPr>
              <a:t>then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ac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sz="2400" dirty="0">
                <a:latin typeface="Trebuchet MS" panose="020B0603020202020204" pitchFamily="34" charset="0"/>
              </a:rPr>
              <a:t>hence</a:t>
            </a:r>
            <a:b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b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c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ec</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c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ac</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 </a:t>
            </a:r>
            <a:r>
              <a:rPr lang="en-US" sz="2400" dirty="0">
                <a:latin typeface="Trebuchet MS" panose="020B0603020202020204" pitchFamily="34" charset="0"/>
              </a:rPr>
              <a:t>Therefore, the uniqueness of the solution is proved.</a:t>
            </a:r>
          </a:p>
          <a:p>
            <a:pPr marL="266700" indent="-266700">
              <a:lnSpc>
                <a:spcPct val="120000"/>
              </a:lnSpc>
              <a:spcBef>
                <a:spcPts val="300"/>
              </a:spcBef>
              <a:buClr>
                <a:srgbClr val="0B61FF"/>
              </a:buClr>
              <a:buSzPct val="80000"/>
              <a:buFont typeface="Wingdings" panose="05000000000000000000" pitchFamily="2" charset="2"/>
              <a:buChar char="n"/>
              <a:tabLst>
                <a:tab pos="268288" algn="l"/>
              </a:tabLst>
            </a:pPr>
            <a:r>
              <a:rPr lang="en-US" sz="2400" dirty="0">
                <a:latin typeface="Trebuchet MS" panose="020B0603020202020204" pitchFamily="34" charset="0"/>
              </a:rPr>
              <a:t>Similarly, we can prove that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is the unique solution to the equation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ya</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p>
        </p:txBody>
      </p:sp>
    </p:spTree>
    <p:extLst>
      <p:ext uri="{BB962C8B-B14F-4D97-AF65-F5344CB8AC3E}">
        <p14:creationId xmlns:p14="http://schemas.microsoft.com/office/powerpoint/2010/main" val="31486623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xEl>
                                              <p:pRg st="1" end="1"/>
                                            </p:txEl>
                                          </p:spTgt>
                                        </p:tgtEl>
                                        <p:attrNameLst>
                                          <p:attrName>style.visibility</p:attrName>
                                        </p:attrNameLst>
                                      </p:cBhvr>
                                      <p:to>
                                        <p:strVal val="visible"/>
                                      </p:to>
                                    </p:set>
                                    <p:animEffect transition="in" filter="fade">
                                      <p:cBhvr>
                                        <p:cTn id="7" dur="1000"/>
                                        <p:tgtEl>
                                          <p:spTgt spid="19">
                                            <p:txEl>
                                              <p:pRg st="1" end="1"/>
                                            </p:txEl>
                                          </p:spTgt>
                                        </p:tgtEl>
                                      </p:cBhvr>
                                    </p:animEffect>
                                    <p:anim calcmode="lin" valueType="num">
                                      <p:cBhvr>
                                        <p:cTn id="8" dur="10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9">
                                            <p:txEl>
                                              <p:pRg st="2" end="2"/>
                                            </p:txEl>
                                          </p:spTgt>
                                        </p:tgtEl>
                                        <p:attrNameLst>
                                          <p:attrName>style.visibility</p:attrName>
                                        </p:attrNameLst>
                                      </p:cBhvr>
                                      <p:to>
                                        <p:strVal val="visible"/>
                                      </p:to>
                                    </p:set>
                                    <p:animEffect transition="in" filter="fade">
                                      <p:cBhvr>
                                        <p:cTn id="14" dur="1000"/>
                                        <p:tgtEl>
                                          <p:spTgt spid="19">
                                            <p:txEl>
                                              <p:pRg st="2" end="2"/>
                                            </p:txEl>
                                          </p:spTgt>
                                        </p:tgtEl>
                                      </p:cBhvr>
                                    </p:animEffect>
                                    <p:anim calcmode="lin" valueType="num">
                                      <p:cBhvr>
                                        <p:cTn id="15" dur="10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9">
                                            <p:txEl>
                                              <p:pRg st="3" end="3"/>
                                            </p:txEl>
                                          </p:spTgt>
                                        </p:tgtEl>
                                        <p:attrNameLst>
                                          <p:attrName>style.visibility</p:attrName>
                                        </p:attrNameLst>
                                      </p:cBhvr>
                                      <p:to>
                                        <p:strVal val="visible"/>
                                      </p:to>
                                    </p:set>
                                    <p:animEffect transition="in" filter="fade">
                                      <p:cBhvr>
                                        <p:cTn id="21" dur="1000"/>
                                        <p:tgtEl>
                                          <p:spTgt spid="19">
                                            <p:txEl>
                                              <p:pRg st="3" end="3"/>
                                            </p:txEl>
                                          </p:spTgt>
                                        </p:tgtEl>
                                      </p:cBhvr>
                                    </p:animEffect>
                                    <p:anim calcmode="lin" valueType="num">
                                      <p:cBhvr>
                                        <p:cTn id="22" dur="10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9">
                                            <p:txEl>
                                              <p:pRg st="4" end="4"/>
                                            </p:txEl>
                                          </p:spTgt>
                                        </p:tgtEl>
                                        <p:attrNameLst>
                                          <p:attrName>style.visibility</p:attrName>
                                        </p:attrNameLst>
                                      </p:cBhvr>
                                      <p:to>
                                        <p:strVal val="visible"/>
                                      </p:to>
                                    </p:set>
                                    <p:animEffect transition="in" filter="fade">
                                      <p:cBhvr>
                                        <p:cTn id="28" dur="1000"/>
                                        <p:tgtEl>
                                          <p:spTgt spid="19">
                                            <p:txEl>
                                              <p:pRg st="4" end="4"/>
                                            </p:txEl>
                                          </p:spTgt>
                                        </p:tgtEl>
                                      </p:cBhvr>
                                    </p:animEffect>
                                    <p:anim calcmode="lin" valueType="num">
                                      <p:cBhvr>
                                        <p:cTn id="29" dur="10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Uniqueness of solutions to equations in a group</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9" name="Rectangle 4">
            <a:extLst>
              <a:ext uri="{FF2B5EF4-FFF2-40B4-BE49-F238E27FC236}">
                <a16:creationId xmlns:a16="http://schemas.microsoft.com/office/drawing/2014/main" id="{AC0C7C62-88A0-4F5B-B162-32AE23025756}"/>
              </a:ext>
            </a:extLst>
          </p:cNvPr>
          <p:cNvSpPr>
            <a:spLocks noChangeArrowheads="1"/>
          </p:cNvSpPr>
          <p:nvPr/>
        </p:nvSpPr>
        <p:spPr bwMode="auto">
          <a:xfrm>
            <a:off x="1023256" y="777088"/>
            <a:ext cx="10160365" cy="449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68288" indent="-268288">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Note:</a:t>
            </a:r>
          </a:p>
          <a:p>
            <a:pPr marL="628650" indent="-361950">
              <a:lnSpc>
                <a:spcPct val="120000"/>
              </a:lnSpc>
              <a:spcBef>
                <a:spcPts val="300"/>
              </a:spcBef>
              <a:buClr>
                <a:srgbClr val="0B61FF"/>
              </a:buClr>
              <a:buSzPct val="80000"/>
            </a:pPr>
            <a:r>
              <a:rPr lang="en-US" altLang="zh-CN" sz="2400" b="1" dirty="0">
                <a:solidFill>
                  <a:srgbClr val="0B61FF"/>
                </a:solidFill>
                <a:latin typeface="Trebuchet MS" panose="020B0603020202020204" pitchFamily="34" charset="0"/>
              </a:rPr>
              <a:t>①</a:t>
            </a:r>
            <a:r>
              <a:rPr lang="en-US" altLang="zh-CN" sz="2400" dirty="0">
                <a:latin typeface="Trebuchet MS" panose="020B0603020202020204" pitchFamily="34" charset="0"/>
              </a:rPr>
              <a:t> Group equations can be used to </a:t>
            </a:r>
            <a:r>
              <a:rPr lang="en-US" altLang="zh-CN" sz="2400" b="1" i="1" dirty="0">
                <a:solidFill>
                  <a:srgbClr val="0B61FF"/>
                </a:solidFill>
                <a:latin typeface="Trebuchet MS" panose="020B0603020202020204" pitchFamily="34" charset="0"/>
              </a:rPr>
              <a:t>find elements </a:t>
            </a:r>
            <a:r>
              <a:rPr lang="en-US" altLang="zh-CN" sz="2400" dirty="0">
                <a:latin typeface="Trebuchet MS" panose="020B0603020202020204" pitchFamily="34" charset="0"/>
              </a:rPr>
              <a:t>in a given group </a:t>
            </a:r>
            <a:r>
              <a:rPr lang="en-US" altLang="zh-CN" sz="2400" b="1" i="1" dirty="0">
                <a:latin typeface="Trebuchet MS" panose="020B0603020202020204" pitchFamily="34" charset="0"/>
              </a:rPr>
              <a:t>G</a:t>
            </a:r>
            <a:r>
              <a:rPr lang="en-US" altLang="zh-CN" sz="2400" dirty="0">
                <a:latin typeface="Trebuchet MS" panose="020B0603020202020204" pitchFamily="34" charset="0"/>
              </a:rPr>
              <a:t> that satisfy certain specific relations.</a:t>
            </a:r>
          </a:p>
          <a:p>
            <a:pPr marL="628650" indent="-361950">
              <a:lnSpc>
                <a:spcPct val="120000"/>
              </a:lnSpc>
              <a:spcBef>
                <a:spcPts val="300"/>
              </a:spcBef>
              <a:buClr>
                <a:srgbClr val="0B61FF"/>
              </a:buClr>
              <a:buSzPct val="80000"/>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They allow for a </a:t>
            </a:r>
            <a:r>
              <a:rPr lang="en-US" altLang="zh-CN" sz="2400" b="1" i="1" dirty="0">
                <a:solidFill>
                  <a:srgbClr val="0B61FF"/>
                </a:solidFill>
                <a:latin typeface="Trebuchet MS" panose="020B0603020202020204" pitchFamily="34" charset="0"/>
              </a:rPr>
              <a:t>deeper understanding of the internal structure </a:t>
            </a:r>
            <a:r>
              <a:rPr lang="en-US" altLang="zh-CN" sz="2400" dirty="0">
                <a:latin typeface="Trebuchet MS" panose="020B0603020202020204" pitchFamily="34" charset="0"/>
              </a:rPr>
              <a:t>of the group (such as subgroups, homomorphisms, isomorphisms, and automorphisms).</a:t>
            </a:r>
          </a:p>
          <a:p>
            <a:pPr marL="628650" indent="-361950">
              <a:lnSpc>
                <a:spcPct val="120000"/>
              </a:lnSpc>
              <a:spcBef>
                <a:spcPts val="300"/>
              </a:spcBef>
              <a:buClr>
                <a:srgbClr val="0B61FF"/>
              </a:buClr>
              <a:buSzPct val="80000"/>
            </a:pPr>
            <a:r>
              <a:rPr lang="en-US" altLang="zh-CN" sz="2400" b="1" dirty="0">
                <a:solidFill>
                  <a:srgbClr val="0B61FF"/>
                </a:solidFill>
                <a:latin typeface="Trebuchet MS" panose="020B0603020202020204" pitchFamily="34" charset="0"/>
              </a:rPr>
              <a:t>③ </a:t>
            </a:r>
            <a:r>
              <a:rPr lang="en-US" altLang="zh-CN" sz="2400" dirty="0">
                <a:latin typeface="Trebuchet MS" panose="020B0603020202020204" pitchFamily="34" charset="0"/>
              </a:rPr>
              <a:t>They can be applied in areas such as </a:t>
            </a:r>
            <a:r>
              <a:rPr lang="en-US" altLang="zh-CN" sz="2400" b="1" i="1" dirty="0">
                <a:solidFill>
                  <a:srgbClr val="0B61FF"/>
                </a:solidFill>
                <a:latin typeface="Trebuchet MS" panose="020B0603020202020204" pitchFamily="34" charset="0"/>
              </a:rPr>
              <a:t>describing point movements </a:t>
            </a:r>
            <a:r>
              <a:rPr lang="en-US" altLang="zh-CN" sz="2400" dirty="0">
                <a:latin typeface="Trebuchet MS" panose="020B0603020202020204" pitchFamily="34" charset="0"/>
              </a:rPr>
              <a:t>in space, cryptographic computations, and the symmetries of quantum systems.</a:t>
            </a:r>
            <a:endParaRPr lang="zh-CN" altLang="zh-CN" sz="2400" kern="100" dirty="0">
              <a:latin typeface="Trebuchet MS" panose="020B0603020202020204" pitchFamily="34" charset="0"/>
              <a:ea typeface="楷体" panose="02010609060101010101" pitchFamily="49" charset="-122"/>
              <a:cs typeface="Times New Roman" panose="02020603050405020304" pitchFamily="18" charset="0"/>
            </a:endParaRPr>
          </a:p>
          <a:p>
            <a:pPr marL="715963" indent="-447675">
              <a:lnSpc>
                <a:spcPct val="110000"/>
              </a:lnSpc>
              <a:buClr>
                <a:srgbClr val="0B61FF"/>
              </a:buClr>
              <a:buSzPct val="80000"/>
              <a:tabLst>
                <a:tab pos="268288" algn="l"/>
              </a:tabLst>
            </a:pPr>
            <a:endPar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3292867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animEffect transition="in" filter="fade">
                                      <p:cBhvr>
                                        <p:cTn id="7" dur="1000"/>
                                        <p:tgtEl>
                                          <p:spTgt spid="19">
                                            <p:txEl>
                                              <p:pRg st="2" end="2"/>
                                            </p:txEl>
                                          </p:spTgt>
                                        </p:tgtEl>
                                      </p:cBhvr>
                                    </p:animEffect>
                                    <p:anim calcmode="lin" valueType="num">
                                      <p:cBhvr>
                                        <p:cTn id="8" dur="10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9">
                                            <p:txEl>
                                              <p:pRg st="3" end="3"/>
                                            </p:txEl>
                                          </p:spTgt>
                                        </p:tgtEl>
                                        <p:attrNameLst>
                                          <p:attrName>style.visibility</p:attrName>
                                        </p:attrNameLst>
                                      </p:cBhvr>
                                      <p:to>
                                        <p:strVal val="visible"/>
                                      </p:to>
                                    </p:set>
                                    <p:animEffect transition="in" filter="fade">
                                      <p:cBhvr>
                                        <p:cTn id="14" dur="1000"/>
                                        <p:tgtEl>
                                          <p:spTgt spid="19">
                                            <p:txEl>
                                              <p:pRg st="3" end="3"/>
                                            </p:txEl>
                                          </p:spTgt>
                                        </p:tgtEl>
                                      </p:cBhvr>
                                    </p:animEffect>
                                    <p:anim calcmode="lin" valueType="num">
                                      <p:cBhvr>
                                        <p:cTn id="15" dur="10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sz="20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Uniqueness of solutions to equations in a group(</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762000"/>
            <a:ext cx="10421168" cy="57177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Let the group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G</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=&lt;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&gt;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where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sz="2400" dirty="0">
                <a:latin typeface="Trebuchet MS" panose="020B0603020202020204" pitchFamily="34" charset="0"/>
              </a:rPr>
              <a:t>denotes the symmetric difference. </a:t>
            </a:r>
            <a:r>
              <a:rPr lang="en-US" altLang="zh-CN" sz="2400" dirty="0">
                <a:latin typeface="Trebuchet MS" panose="020B0603020202020204" pitchFamily="34" charset="0"/>
              </a:rPr>
              <a:t>We are to </a:t>
            </a:r>
            <a:r>
              <a:rPr lang="en-US" sz="2400" dirty="0">
                <a:latin typeface="Trebuchet MS" panose="020B0603020202020204" pitchFamily="34" charset="0"/>
              </a:rPr>
              <a:t>solve the group equations:</a:t>
            </a:r>
            <a:b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b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(1)</a:t>
            </a:r>
            <a:r>
              <a:rPr lang="zh-CN" altLang="en-US"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ea typeface="宋体" panose="02010600030101010101" pitchFamily="2" charset="-122"/>
                <a:cs typeface="Times New Roman" panose="02020603050405020304" pitchFamily="18" charset="0"/>
              </a:rPr>
              <a:t>and</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(2)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p>
          <a:p>
            <a:pPr>
              <a:lnSpc>
                <a:spcPct val="114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Solution</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p>
          <a:p>
            <a:pPr marL="361950" indent="-184150">
              <a:lnSpc>
                <a:spcPct val="114000"/>
              </a:lnSpc>
              <a:spcBef>
                <a:spcPts val="0"/>
              </a:spcBef>
              <a:buClr>
                <a:srgbClr val="0B61FF"/>
              </a:buClr>
              <a:buSzPct val="120000"/>
            </a:pPr>
            <a:r>
              <a:rPr lang="en-US" altLang="zh-CN" sz="2400" b="1" dirty="0">
                <a:latin typeface="Trebuchet MS" panose="020B0603020202020204" pitchFamily="34" charset="0"/>
              </a:rPr>
              <a:t>Equation </a:t>
            </a:r>
            <a:r>
              <a:rPr lang="en-US" altLang="zh-CN" sz="2400" b="1" dirty="0">
                <a:solidFill>
                  <a:srgbClr val="0B61FF"/>
                </a:solidFill>
                <a:latin typeface="Trebuchet MS" panose="020B0603020202020204" pitchFamily="34" charset="0"/>
              </a:rPr>
              <a:t>(1)</a:t>
            </a:r>
            <a:r>
              <a:rPr lang="en-US" altLang="zh-CN" sz="2400" b="1" dirty="0">
                <a:latin typeface="Trebuchet MS" panose="020B0603020202020204" pitchFamily="34"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endParaRPr lang="en-US" altLang="zh-CN" sz="2400" b="1" dirty="0">
              <a:latin typeface="Trebuchet MS" panose="020B0603020202020204" pitchFamily="34" charset="0"/>
              <a:ea typeface="宋体" panose="02010600030101010101" pitchFamily="2" charset="-122"/>
              <a:cs typeface="Times New Roman" panose="02020603050405020304" pitchFamily="18" charset="0"/>
            </a:endParaRPr>
          </a:p>
          <a:p>
            <a:pPr marL="717550" indent="-355600">
              <a:lnSpc>
                <a:spcPct val="114000"/>
              </a:lnSpc>
              <a:spcBef>
                <a:spcPts val="0"/>
              </a:spcBef>
              <a:buClr>
                <a:srgbClr val="0B61FF"/>
              </a:buClr>
              <a:buSzPct val="120000"/>
              <a:buNone/>
            </a:pPr>
            <a:r>
              <a:rPr lang="zh-CN"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①</a:t>
            </a:r>
            <a:r>
              <a:rPr lang="en-US" altLang="zh-CN" sz="2400" dirty="0">
                <a:latin typeface="Trebuchet MS" panose="020B0603020202020204" pitchFamily="34" charset="0"/>
              </a:rPr>
              <a:t>The identity element of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the empty set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zh-CN" sz="2400" b="1" dirty="0">
                <a:latin typeface="Trebuchet MS" panose="020B0603020202020204" pitchFamily="34" charset="0"/>
                <a:ea typeface="Times New Roman" panose="02020603050405020304" pitchFamily="18" charset="0"/>
              </a:rPr>
              <a:t> </a:t>
            </a:r>
            <a:r>
              <a:rPr lang="en-US" altLang="zh-CN" sz="2400" dirty="0">
                <a:latin typeface="Trebuchet MS" panose="020B0603020202020204" pitchFamily="34" charset="0"/>
              </a:rPr>
              <a:t>, since for any set </a:t>
            </a:r>
            <a:r>
              <a:rPr lang="en-US" altLang="zh-CN" sz="2400" b="1" i="1" dirty="0">
                <a:latin typeface="Trebuchet MS" panose="020B0603020202020204" pitchFamily="34" charset="0"/>
              </a:rPr>
              <a:t>A</a:t>
            </a:r>
            <a:r>
              <a:rPr lang="en-US" altLang="zh-CN" sz="2400"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rPr>
              <a:t>⊕∅=</a:t>
            </a:r>
            <a:r>
              <a:rPr lang="en-US" altLang="zh-CN" sz="2400" b="1" i="1" dirty="0">
                <a:latin typeface="Trebuchet MS" panose="020B0603020202020204" pitchFamily="34" charset="0"/>
              </a:rPr>
              <a:t>A</a:t>
            </a:r>
            <a:r>
              <a:rPr lang="en-US" altLang="zh-CN" sz="2400" dirty="0">
                <a:latin typeface="Trebuchet MS" panose="020B0603020202020204" pitchFamily="34" charset="0"/>
              </a:rPr>
              <a:t>. </a:t>
            </a:r>
            <a:r>
              <a:rPr lang="en-US" altLang="zh-CN" sz="2400" b="1" dirty="0">
                <a:solidFill>
                  <a:srgbClr val="0B61FF"/>
                </a:solidFill>
                <a:latin typeface="Trebuchet MS" panose="020B0603020202020204" pitchFamily="34" charset="0"/>
                <a:ea typeface="宋体" panose="02010600030101010101" pitchFamily="2" charset="-122"/>
              </a:rPr>
              <a:t>②</a:t>
            </a:r>
            <a:r>
              <a:rPr lang="en-US" altLang="zh-CN" sz="2400" dirty="0">
                <a:latin typeface="Trebuchet MS" panose="020B0603020202020204" pitchFamily="34" charset="0"/>
              </a:rPr>
              <a:t> In the symmetric difference group, </a:t>
            </a:r>
            <a:r>
              <a:rPr lang="en-US" altLang="zh-CN" sz="2400" b="1" dirty="0">
                <a:latin typeface="Trebuchet MS" panose="020B0603020202020204" pitchFamily="34" charset="0"/>
              </a:rPr>
              <a:t>every element is its own inverse</a:t>
            </a:r>
            <a:r>
              <a:rPr lang="en-US" altLang="zh-CN" sz="2400" dirty="0">
                <a:latin typeface="Trebuchet MS" panose="020B0603020202020204" pitchFamily="34" charset="0"/>
              </a:rPr>
              <a:t>, because: </a:t>
            </a:r>
            <a:r>
              <a:rPr lang="pt-BR" altLang="zh-CN" sz="2400" b="1" i="1" dirty="0">
                <a:latin typeface="Trebuchet MS" panose="020B0603020202020204" pitchFamily="34" charset="0"/>
              </a:rPr>
              <a:t>A</a:t>
            </a:r>
            <a:r>
              <a:rPr lang="pt-BR" altLang="zh-CN" sz="2400" dirty="0">
                <a:latin typeface="Trebuchet MS" panose="020B0603020202020204" pitchFamily="34" charset="0"/>
              </a:rPr>
              <a:t>⊕</a:t>
            </a:r>
            <a:r>
              <a:rPr lang="pt-BR" altLang="zh-CN" sz="2400" i="1" dirty="0">
                <a:latin typeface="Trebuchet MS" panose="020B0603020202020204" pitchFamily="34" charset="0"/>
              </a:rPr>
              <a:t>A</a:t>
            </a:r>
            <a:r>
              <a:rPr lang="pt-BR" altLang="zh-CN" sz="2400" dirty="0">
                <a:latin typeface="Trebuchet MS" panose="020B0603020202020204" pitchFamily="34" charset="0"/>
              </a:rPr>
              <a:t>=∅⇒</a:t>
            </a:r>
            <a:r>
              <a:rPr lang="pt-BR" altLang="zh-CN" sz="2400" i="1" dirty="0">
                <a:latin typeface="Trebuchet MS" panose="020B0603020202020204" pitchFamily="34" charset="0"/>
              </a:rPr>
              <a:t>A</a:t>
            </a:r>
            <a:r>
              <a:rPr lang="pt-BR" altLang="zh-CN" sz="2400" baseline="30000" dirty="0">
                <a:latin typeface="Trebuchet MS" panose="020B0603020202020204" pitchFamily="34" charset="0"/>
              </a:rPr>
              <a:t>−1</a:t>
            </a:r>
            <a:r>
              <a:rPr lang="pt-BR" altLang="zh-CN" sz="2400" dirty="0">
                <a:latin typeface="Trebuchet MS" panose="020B0603020202020204" pitchFamily="34" charset="0"/>
              </a:rPr>
              <a:t>=</a:t>
            </a:r>
            <a:r>
              <a:rPr lang="pt-BR" altLang="zh-CN" sz="2400" b="1" i="1" dirty="0">
                <a:latin typeface="Trebuchet MS" panose="020B0603020202020204" pitchFamily="34" charset="0"/>
              </a:rPr>
              <a:t>A .</a:t>
            </a:r>
            <a:r>
              <a:rPr lang="en-US" sz="2400" b="1" dirty="0">
                <a:solidFill>
                  <a:srgbClr val="0B61FF"/>
                </a:solidFill>
                <a:latin typeface="Trebuchet MS" panose="020B0603020202020204" pitchFamily="34" charset="0"/>
                <a:ea typeface="宋体" panose="02010600030101010101" pitchFamily="2" charset="-122"/>
              </a:rPr>
              <a:t>③</a:t>
            </a:r>
            <a:r>
              <a:rPr lang="en-US" sz="2400"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Therefore: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X</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p>
          <a:p>
            <a:pPr marL="361950" indent="-184150">
              <a:lnSpc>
                <a:spcPct val="114000"/>
              </a:lnSpc>
              <a:spcBef>
                <a:spcPts val="0"/>
              </a:spcBef>
              <a:buClr>
                <a:srgbClr val="0B61FF"/>
              </a:buClr>
              <a:buSzPct val="120000"/>
              <a:tabLst>
                <a:tab pos="361950" algn="l"/>
              </a:tabLst>
            </a:pPr>
            <a:r>
              <a:rPr lang="en-US" altLang="zh-CN" sz="2400" b="1" dirty="0">
                <a:latin typeface="Trebuchet MS" panose="020B0603020202020204" pitchFamily="34" charset="0"/>
              </a:rPr>
              <a:t>Equation </a:t>
            </a:r>
            <a:r>
              <a:rPr lang="en-US" altLang="zh-CN" sz="2400" b="1" dirty="0">
                <a:solidFill>
                  <a:srgbClr val="0B61FF"/>
                </a:solidFill>
                <a:latin typeface="Trebuchet MS" panose="020B0603020202020204" pitchFamily="34" charset="0"/>
              </a:rPr>
              <a:t>(2)</a:t>
            </a:r>
            <a:r>
              <a:rPr lang="en-US" altLang="zh-CN" sz="2400" b="1" dirty="0">
                <a:latin typeface="Trebuchet MS" panose="020B0603020202020204" pitchFamily="34"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zh-CN" altLang="zh-CN" sz="2400" b="1" dirty="0">
                <a:latin typeface="Trebuchet MS" panose="020B0603020202020204" pitchFamily="34" charset="0"/>
                <a:ea typeface="宋体" panose="02010600030101010101" pitchFamily="2" charset="-122"/>
                <a:cs typeface="Times New Roman" panose="02020603050405020304" pitchFamily="18" charset="0"/>
              </a:rPr>
              <a:t> </a:t>
            </a:r>
            <a:endParaRPr lang="en-US" altLang="zh-CN" sz="2400" b="1" dirty="0">
              <a:latin typeface="Trebuchet MS" panose="020B0603020202020204" pitchFamily="34" charset="0"/>
              <a:ea typeface="宋体" panose="02010600030101010101" pitchFamily="2" charset="-122"/>
              <a:cs typeface="Times New Roman" panose="02020603050405020304" pitchFamily="18" charset="0"/>
            </a:endParaRPr>
          </a:p>
          <a:p>
            <a:pPr marL="361950" indent="0">
              <a:lnSpc>
                <a:spcPct val="114000"/>
              </a:lnSpc>
              <a:spcBef>
                <a:spcPts val="0"/>
              </a:spcBef>
              <a:buClr>
                <a:srgbClr val="0B61FF"/>
              </a:buClr>
              <a:buSzPct val="120000"/>
              <a:buNone/>
              <a:tabLst>
                <a:tab pos="361950" algn="l"/>
              </a:tabLst>
            </a:pPr>
            <a:r>
              <a:rPr lang="en-US" altLang="zh-CN" sz="2400" dirty="0">
                <a:latin typeface="Trebuchet MS" panose="020B0603020202020204" pitchFamily="34" charset="0"/>
              </a:rPr>
              <a:t>To isolate </a:t>
            </a:r>
            <a:r>
              <a:rPr lang="en-US" altLang="zh-CN" sz="2400" b="1" i="1" dirty="0">
                <a:latin typeface="Trebuchet MS" panose="020B0603020202020204" pitchFamily="34" charset="0"/>
              </a:rPr>
              <a:t>Y</a:t>
            </a:r>
            <a:r>
              <a:rPr lang="en-US" altLang="zh-CN" sz="2400" dirty="0">
                <a:latin typeface="Trebuchet MS" panose="020B0603020202020204" pitchFamily="34" charset="0"/>
              </a:rPr>
              <a:t>, multiply both sides by the inverse of </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rPr>
              <a:t>}</a:t>
            </a:r>
            <a:r>
              <a:rPr lang="en-US" altLang="zh-CN" sz="2400" dirty="0">
                <a:latin typeface="Trebuchet MS" panose="020B0603020202020204" pitchFamily="34" charset="0"/>
              </a:rPr>
              <a:t> (which is itself):</a:t>
            </a:r>
            <a:endParaRPr lang="en-US" altLang="zh-CN" sz="2400" b="1" dirty="0">
              <a:latin typeface="Trebuchet MS" panose="020B0603020202020204" pitchFamily="34" charset="0"/>
              <a:ea typeface="宋体" panose="02010600030101010101" pitchFamily="2" charset="-122"/>
              <a:cs typeface="Times New Roman" panose="02020603050405020304" pitchFamily="18" charset="0"/>
            </a:endParaRPr>
          </a:p>
          <a:p>
            <a:pPr marL="361950" indent="0">
              <a:lnSpc>
                <a:spcPct val="114000"/>
              </a:lnSpc>
              <a:spcBef>
                <a:spcPts val="600"/>
              </a:spcBef>
              <a:buClr>
                <a:srgbClr val="0B61FF"/>
              </a:buClr>
              <a:buSzPct val="80000"/>
              <a:buNone/>
            </a:pP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Y</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p>
          <a:p>
            <a:pPr marL="361950" indent="-184150">
              <a:lnSpc>
                <a:spcPct val="114000"/>
              </a:lnSpc>
              <a:spcBef>
                <a:spcPts val="600"/>
              </a:spcBef>
              <a:buClr>
                <a:srgbClr val="0B61FF"/>
              </a:buClr>
              <a:buSzPct val="120000"/>
              <a:tabLst>
                <a:tab pos="88900" algn="l"/>
              </a:tabLst>
            </a:pPr>
            <a:r>
              <a:rPr lang="en-US" altLang="zh-CN" sz="2400" b="1" dirty="0">
                <a:latin typeface="Trebuchet MS" panose="020B0603020202020204" pitchFamily="34" charset="0"/>
              </a:rPr>
              <a:t>Final Answers: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X</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Y</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p>
          <a:p>
            <a:pPr marL="361950" indent="0">
              <a:lnSpc>
                <a:spcPct val="114000"/>
              </a:lnSpc>
              <a:spcBef>
                <a:spcPts val="600"/>
              </a:spcBef>
              <a:buClr>
                <a:srgbClr val="0B61FF"/>
              </a:buClr>
              <a:buSzPct val="80000"/>
              <a:buNone/>
            </a:pPr>
            <a:endPar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a:p>
            <a:pPr marL="0" indent="0">
              <a:lnSpc>
                <a:spcPct val="120000"/>
              </a:lnSpc>
              <a:buNone/>
            </a:pPr>
            <a:endPar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Tree>
    <p:extLst>
      <p:ext uri="{BB962C8B-B14F-4D97-AF65-F5344CB8AC3E}">
        <p14:creationId xmlns:p14="http://schemas.microsoft.com/office/powerpoint/2010/main" val="35293156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1000"/>
                                        <p:tgtEl>
                                          <p:spTgt spid="8">
                                            <p:txEl>
                                              <p:pRg st="6" end="6"/>
                                            </p:txEl>
                                          </p:spTgt>
                                        </p:tgtEl>
                                      </p:cBhvr>
                                    </p:animEffect>
                                    <p:anim calcmode="lin" valueType="num">
                                      <p:cBhvr>
                                        <p:cTn id="3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8">
                                            <p:txEl>
                                              <p:pRg st="7" end="7"/>
                                            </p:txEl>
                                          </p:spTgt>
                                        </p:tgtEl>
                                        <p:attrNameLst>
                                          <p:attrName>style.visibility</p:attrName>
                                        </p:attrNameLst>
                                      </p:cBhvr>
                                      <p:to>
                                        <p:strVal val="visible"/>
                                      </p:to>
                                    </p:set>
                                    <p:animEffect transition="in" filter="fade">
                                      <p:cBhvr>
                                        <p:cTn id="41" dur="1000"/>
                                        <p:tgtEl>
                                          <p:spTgt spid="8">
                                            <p:txEl>
                                              <p:pRg st="7" end="7"/>
                                            </p:txEl>
                                          </p:spTgt>
                                        </p:tgtEl>
                                      </p:cBhvr>
                                    </p:animEffect>
                                    <p:anim calcmode="lin" valueType="num">
                                      <p:cBhvr>
                                        <p:cTn id="42"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Cancellation Law in Groups</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0" name="Text Box 3">
            <a:extLst>
              <a:ext uri="{FF2B5EF4-FFF2-40B4-BE49-F238E27FC236}">
                <a16:creationId xmlns:a16="http://schemas.microsoft.com/office/drawing/2014/main" id="{B37D336E-1E23-4A82-BB52-41C7D0D1CAA1}"/>
              </a:ext>
            </a:extLst>
          </p:cNvPr>
          <p:cNvSpPr txBox="1">
            <a:spLocks noChangeArrowheads="1"/>
          </p:cNvSpPr>
          <p:nvPr/>
        </p:nvSpPr>
        <p:spPr bwMode="auto">
          <a:xfrm>
            <a:off x="1023257" y="903514"/>
            <a:ext cx="9104993" cy="4493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Theorem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9.5:  </a:t>
            </a:r>
            <a:r>
              <a:rPr lang="en-US" sz="2400" dirty="0">
                <a:latin typeface="Trebuchet MS" panose="020B0603020202020204" pitchFamily="34" charset="0"/>
              </a:rPr>
              <a:t>Let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G</a:t>
            </a:r>
            <a:r>
              <a:rPr lang="en-US" sz="2400" dirty="0">
                <a:latin typeface="Trebuchet MS" panose="020B0603020202020204" pitchFamily="34" charset="0"/>
              </a:rPr>
              <a:t> be a group. Then the cancellation laws hold in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G</a:t>
            </a:r>
            <a:r>
              <a:rPr lang="en-US" sz="2400" dirty="0">
                <a:latin typeface="Trebuchet MS" panose="020B0603020202020204" pitchFamily="34" charset="0"/>
              </a:rPr>
              <a:t>, that is, for any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err="1">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G</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br>
              <a:rPr lang="zh-CN" altLang="en-US" sz="2400" b="1" dirty="0">
                <a:latin typeface="Trebuchet MS" panose="020B0603020202020204" pitchFamily="34" charset="0"/>
                <a:ea typeface="宋体" panose="02010600030101010101" pitchFamily="2" charset="-122"/>
                <a:cs typeface="Times New Roman" panose="02020603050405020304" pitchFamily="18" charset="0"/>
              </a:rPr>
            </a:b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(1)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ac</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then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br>
              <a:rPr lang="en-US" altLang="zh-CN" sz="2400" b="1" dirty="0">
                <a:latin typeface="Trebuchet MS" panose="020B0603020202020204" pitchFamily="34" charset="0"/>
                <a:ea typeface="宋体" panose="02010600030101010101" pitchFamily="2" charset="-122"/>
                <a:cs typeface="Times New Roman" panose="02020603050405020304" pitchFamily="18" charset="0"/>
              </a:rPr>
            </a:b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(2)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ba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ca</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then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p>
          <a:p>
            <a:pPr marL="342900" indent="-342900">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Proof:</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endParaRPr lang="en-US" altLang="zh-CN" sz="2400" b="1" dirty="0">
              <a:latin typeface="Trebuchet MS" panose="020B0603020202020204" pitchFamily="34" charset="0"/>
              <a:ea typeface="宋体" panose="02010600030101010101" pitchFamily="2" charset="-122"/>
              <a:cs typeface="Times New Roman" panose="02020603050405020304" pitchFamily="18" charset="0"/>
            </a:endParaRPr>
          </a:p>
          <a:p>
            <a:pPr marL="984250" indent="-622300">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(1)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ac</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ac</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1</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1</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c</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b=c</a:t>
            </a:r>
          </a:p>
          <a:p>
            <a:pPr marL="984250" indent="-622300">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(2) </a:t>
            </a:r>
            <a:r>
              <a:rPr lang="en-US" sz="2400" dirty="0">
                <a:latin typeface="Trebuchet MS" panose="020B0603020202020204" pitchFamily="34" charset="0"/>
              </a:rPr>
              <a:t>Similarly, it can be proved.</a:t>
            </a:r>
            <a:r>
              <a:rPr lang="en-US" altLang="zh-CN" sz="2400" b="1" dirty="0">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p>
          <a:p>
            <a:pPr marL="342900" indent="-342900">
              <a:lnSpc>
                <a:spcPct val="120000"/>
              </a:lnSpc>
              <a:spcBef>
                <a:spcPct val="500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Let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G</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baseline="-25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baseline="-25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 …, </a:t>
            </a:r>
            <a:r>
              <a:rPr lang="en-US" altLang="zh-CN" sz="2400" b="1" i="1" dirty="0">
                <a:latin typeface="Trebuchet MS" panose="020B0603020202020204" pitchFamily="34" charset="0"/>
                <a:cs typeface="Times New Roman" panose="02020603050405020304" pitchFamily="18" charset="0"/>
              </a:rPr>
              <a:t>a</a:t>
            </a:r>
            <a:r>
              <a:rPr lang="en-US" altLang="zh-CN" sz="2400" b="1" i="1" baseline="-25000"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be a group of order</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n </a:t>
            </a:r>
            <a:r>
              <a:rPr lang="zh-CN" altLang="en-US" sz="2400" b="1" dirty="0">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rPr>
              <a:t>Define </a:t>
            </a:r>
            <a:r>
              <a:rPr lang="zh-CN" altLang="en-US"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25000" dirty="0" err="1">
                <a:latin typeface="Trebuchet MS" panose="020B0603020202020204" pitchFamily="34" charset="0"/>
                <a:cs typeface="Times New Roman" panose="02020603050405020304" pitchFamily="18" charset="0"/>
              </a:rPr>
              <a:t>i</a:t>
            </a:r>
            <a:r>
              <a:rPr lang="en-US" altLang="zh-CN" sz="2400" b="1" i="1" dirty="0" err="1">
                <a:latin typeface="Trebuchet MS" panose="020B0603020202020204" pitchFamily="34" charset="0"/>
                <a:cs typeface="Times New Roman" panose="02020603050405020304" pitchFamily="18" charset="0"/>
              </a:rPr>
              <a:t>G</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i="1" baseline="-25000" dirty="0">
                <a:latin typeface="Trebuchet MS" panose="020B0603020202020204" pitchFamily="34" charset="0"/>
                <a:cs typeface="Times New Roman" panose="02020603050405020304" pitchFamily="18" charset="0"/>
              </a:rPr>
              <a:t>i</a:t>
            </a:r>
            <a:r>
              <a:rPr lang="en-US" altLang="zh-CN" sz="2400" b="1" i="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i="1" baseline="-250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j </a:t>
            </a:r>
            <a:r>
              <a:rPr lang="en-US" altLang="zh-CN" sz="2400" b="1" dirty="0">
                <a:latin typeface="Trebuchet MS" panose="020B0603020202020204" pitchFamily="34" charset="0"/>
                <a:cs typeface="Times New Roman" panose="02020603050405020304" pitchFamily="18" charset="0"/>
              </a:rPr>
              <a:t>=1,2, … , </a:t>
            </a:r>
            <a:r>
              <a:rPr lang="en-US" altLang="zh-CN" sz="2400" b="1" i="1" dirty="0">
                <a:latin typeface="Trebuchet MS" panose="020B0603020202020204" pitchFamily="34" charset="0"/>
                <a:cs typeface="Times New Roman" panose="02020603050405020304" pitchFamily="18" charset="0"/>
              </a:rPr>
              <a:t>n </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  Prove that</a:t>
            </a:r>
            <a:r>
              <a:rPr lang="zh-CN" altLang="en-US"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25000" dirty="0" err="1">
                <a:latin typeface="Trebuchet MS" panose="020B0603020202020204" pitchFamily="34" charset="0"/>
                <a:cs typeface="Times New Roman" panose="02020603050405020304" pitchFamily="18" charset="0"/>
              </a:rPr>
              <a:t>i</a:t>
            </a:r>
            <a:r>
              <a:rPr lang="en-US" altLang="zh-CN" sz="2400" b="1" i="1" dirty="0" err="1">
                <a:latin typeface="Trebuchet MS" panose="020B0603020202020204" pitchFamily="34" charset="0"/>
                <a:cs typeface="Times New Roman" panose="02020603050405020304" pitchFamily="18" charset="0"/>
              </a:rPr>
              <a:t>G</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G</a:t>
            </a:r>
            <a:r>
              <a:rPr lang="en-US" altLang="zh-CN" sz="2400" b="1" dirty="0">
                <a:latin typeface="Trebuchet MS" panose="020B0603020202020204" pitchFamily="34" charset="0"/>
                <a:cs typeface="Times New Roman" panose="02020603050405020304" pitchFamily="18" charset="0"/>
              </a:rPr>
              <a:t>.</a:t>
            </a:r>
          </a:p>
          <a:p>
            <a:pPr marL="984250" indent="-622300">
              <a:lnSpc>
                <a:spcPct val="120000"/>
              </a:lnSpc>
              <a:buClr>
                <a:srgbClr val="0B61FF"/>
              </a:buClr>
              <a:buSzPct val="80000"/>
            </a:pPr>
            <a:endParaRPr lang="en-US" altLang="zh-CN" sz="2400" b="1" dirty="0">
              <a:latin typeface="Trebuchet MS" panose="020B0603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56358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Cancellation Law in Groups(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1" name="文本框 10">
            <a:extLst>
              <a:ext uri="{FF2B5EF4-FFF2-40B4-BE49-F238E27FC236}">
                <a16:creationId xmlns:a16="http://schemas.microsoft.com/office/drawing/2014/main" id="{93B3A45C-1DFE-4D17-8A35-4CEF5FC13061}"/>
              </a:ext>
            </a:extLst>
          </p:cNvPr>
          <p:cNvSpPr txBox="1"/>
          <p:nvPr/>
        </p:nvSpPr>
        <p:spPr>
          <a:xfrm>
            <a:off x="723082" y="831509"/>
            <a:ext cx="10325918" cy="5084877"/>
          </a:xfrm>
          <a:prstGeom prst="rect">
            <a:avLst/>
          </a:prstGeom>
          <a:noFill/>
        </p:spPr>
        <p:txBody>
          <a:bodyPr wrap="square">
            <a:noAutofit/>
          </a:bodyPr>
          <a:lstStyle/>
          <a:p>
            <a:pPr marL="266700" indent="-266700">
              <a:lnSpc>
                <a:spcPct val="120000"/>
              </a:lnSpc>
              <a:spcBef>
                <a:spcPct val="500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rgbClr val="00B0F0"/>
                </a:solidFill>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Let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2</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be a group of order</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n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sz="2400" dirty="0">
                <a:latin typeface="Trebuchet MS" panose="020B0603020202020204" pitchFamily="34" charset="0"/>
              </a:rPr>
              <a:t>Define</a:t>
            </a:r>
            <a:endPar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a:lnSpc>
                <a:spcPct val="120000"/>
              </a:lnSpc>
            </a:pP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i</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G</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i</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j</a:t>
            </a:r>
            <a:r>
              <a:rPr lang="en-US" altLang="zh-CN" sz="2400" b="1" i="1" baseline="-250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j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=1,2, … ,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sz="2400" dirty="0">
                <a:latin typeface="Trebuchet MS" panose="020B0603020202020204" pitchFamily="34" charset="0"/>
              </a:rPr>
              <a:t>  prove that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i</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G</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p>
          <a:p>
            <a:pPr marL="266700" indent="-266700">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Explanation</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p>
          <a:p>
            <a:pPr marL="628650" indent="-361950">
              <a:lnSpc>
                <a:spcPct val="120000"/>
              </a:lnSpc>
              <a:buClr>
                <a:srgbClr val="0B61FF"/>
              </a:buClr>
              <a:buSzPct val="80000"/>
            </a:pPr>
            <a:r>
              <a:rPr lang="en-US" sz="2400" b="1" dirty="0">
                <a:solidFill>
                  <a:srgbClr val="0B61FF"/>
                </a:solidFill>
                <a:latin typeface="Trebuchet MS" panose="020B0603020202020204" pitchFamily="34" charset="0"/>
              </a:rPr>
              <a:t>①</a:t>
            </a:r>
            <a:r>
              <a:rPr lang="en-US" sz="2400" dirty="0">
                <a:latin typeface="Trebuchet MS" panose="020B0603020202020204" pitchFamily="34" charset="0"/>
              </a:rPr>
              <a:t> </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i="1" baseline="-25000" dirty="0" err="1">
                <a:latin typeface="Trebuchet MS" panose="020B0603020202020204" pitchFamily="34" charset="0"/>
                <a:ea typeface="楷体" panose="02010609060101010101" pitchFamily="49" charset="-122"/>
                <a:cs typeface="Times New Roman" panose="02020603050405020304" pitchFamily="18" charset="0"/>
              </a:rPr>
              <a:t>i</a:t>
            </a:r>
            <a:r>
              <a:rPr lang="en-US" altLang="zh-CN" sz="2400" b="1" i="1" kern="0" dirty="0" err="1">
                <a:latin typeface="Trebuchet MS" panose="020B0603020202020204" pitchFamily="34" charset="0"/>
                <a:ea typeface="楷体" panose="02010609060101010101" pitchFamily="49" charset="-122"/>
                <a:cs typeface="Times New Roman" panose="02020603050405020304" pitchFamily="18" charset="0"/>
              </a:rPr>
              <a:t>G</a:t>
            </a:r>
            <a:r>
              <a:rPr lang="en-US" altLang="zh-CN" sz="2400" i="1" kern="0" dirty="0">
                <a:latin typeface="Trebuchet MS" panose="020B0603020202020204" pitchFamily="34" charset="0"/>
                <a:ea typeface="楷体" panose="02010609060101010101" pitchFamily="49" charset="-122"/>
                <a:cs typeface="Times New Roman" panose="02020603050405020304" pitchFamily="18" charset="0"/>
              </a:rPr>
              <a:t> </a:t>
            </a:r>
            <a:r>
              <a:rPr lang="en-US" sz="2400" dirty="0">
                <a:latin typeface="Trebuchet MS" panose="020B0603020202020204" pitchFamily="34" charset="0"/>
              </a:rPr>
              <a:t>is the set formed by multiplying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i="1" baseline="-25000" dirty="0">
                <a:latin typeface="Trebuchet MS" panose="020B0603020202020204" pitchFamily="34" charset="0"/>
                <a:ea typeface="楷体" panose="02010609060101010101" pitchFamily="49" charset="-122"/>
                <a:cs typeface="Times New Roman" panose="02020603050405020304" pitchFamily="18" charset="0"/>
              </a:rPr>
              <a:t>i</a:t>
            </a:r>
            <a:r>
              <a:rPr lang="en-US" altLang="zh-CN" sz="2400" i="1" baseline="-25000" dirty="0">
                <a:latin typeface="Trebuchet MS" panose="020B0603020202020204" pitchFamily="34" charset="0"/>
                <a:ea typeface="楷体" panose="02010609060101010101" pitchFamily="49" charset="-122"/>
                <a:cs typeface="Times New Roman" panose="02020603050405020304" pitchFamily="18" charset="0"/>
              </a:rPr>
              <a:t> </a:t>
            </a:r>
            <a:r>
              <a:rPr lang="en-US" sz="2400" dirty="0">
                <a:latin typeface="Trebuchet MS" panose="020B0603020202020204" pitchFamily="34" charset="0"/>
              </a:rPr>
              <a:t>with every element in </a:t>
            </a:r>
            <a:r>
              <a:rPr lang="en-US" altLang="zh-CN" sz="2400" b="1" i="1" kern="0" dirty="0">
                <a:latin typeface="Trebuchet MS" panose="020B0603020202020204" pitchFamily="34" charset="0"/>
                <a:ea typeface="楷体" panose="02010609060101010101" pitchFamily="49" charset="-122"/>
                <a:cs typeface="Times New Roman" panose="02020603050405020304" pitchFamily="18" charset="0"/>
              </a:rPr>
              <a:t>G</a:t>
            </a:r>
            <a:r>
              <a:rPr lang="en-US" altLang="zh-CN" sz="2400" dirty="0">
                <a:latin typeface="Trebuchet MS" panose="020B0603020202020204" pitchFamily="34" charset="0"/>
              </a:rPr>
              <a:t>.</a:t>
            </a:r>
          </a:p>
          <a:p>
            <a:pPr marL="628650" indent="-361950">
              <a:lnSpc>
                <a:spcPct val="120000"/>
              </a:lnSpc>
              <a:buClr>
                <a:srgbClr val="0B61FF"/>
              </a:buClr>
              <a:buSzPct val="80000"/>
            </a:pPr>
            <a:r>
              <a:rPr lang="en-US" sz="2400" b="1" dirty="0">
                <a:solidFill>
                  <a:srgbClr val="0B61FF"/>
                </a:solidFill>
                <a:latin typeface="Trebuchet MS" panose="020B0603020202020204" pitchFamily="34" charset="0"/>
              </a:rPr>
              <a:t>②</a:t>
            </a:r>
            <a:r>
              <a:rPr lang="en-US" sz="2400" dirty="0">
                <a:latin typeface="Trebuchet MS" panose="020B0603020202020204" pitchFamily="34" charset="0"/>
              </a:rPr>
              <a:t> </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i="1" baseline="-25000" dirty="0" err="1">
                <a:latin typeface="Trebuchet MS" panose="020B0603020202020204" pitchFamily="34" charset="0"/>
                <a:ea typeface="楷体" panose="02010609060101010101" pitchFamily="49" charset="-122"/>
                <a:cs typeface="Times New Roman" panose="02020603050405020304" pitchFamily="18" charset="0"/>
              </a:rPr>
              <a:t>i</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G</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G </a:t>
            </a:r>
            <a:r>
              <a:rPr lang="en-US" sz="2400" dirty="0">
                <a:latin typeface="Trebuchet MS" panose="020B0603020202020204" pitchFamily="34" charset="0"/>
              </a:rPr>
              <a:t>means the two sets contain the same elements.</a:t>
            </a:r>
          </a:p>
          <a:p>
            <a:pPr marL="628650" indent="-361950">
              <a:lnSpc>
                <a:spcPct val="120000"/>
              </a:lnSpc>
              <a:buClr>
                <a:srgbClr val="0B61FF"/>
              </a:buClr>
              <a:buSzPct val="80000"/>
            </a:pPr>
            <a:r>
              <a:rPr lang="en-US" sz="2400" b="1" dirty="0">
                <a:solidFill>
                  <a:srgbClr val="0B61FF"/>
                </a:solidFill>
                <a:latin typeface="Trebuchet MS" panose="020B0603020202020204" pitchFamily="34" charset="0"/>
              </a:rPr>
              <a:t>③</a:t>
            </a:r>
            <a:r>
              <a:rPr lang="en-US" sz="2400" dirty="0">
                <a:latin typeface="Trebuchet MS" panose="020B0603020202020204" pitchFamily="34" charset="0"/>
              </a:rPr>
              <a:t> Although the order of elements may change due to multiplication by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i="1" baseline="-25000" dirty="0">
                <a:latin typeface="Trebuchet MS" panose="020B0603020202020204" pitchFamily="34" charset="0"/>
                <a:ea typeface="楷体" panose="02010609060101010101" pitchFamily="49" charset="-122"/>
                <a:cs typeface="Times New Roman" panose="02020603050405020304" pitchFamily="18" charset="0"/>
              </a:rPr>
              <a:t>i</a:t>
            </a:r>
            <a:r>
              <a:rPr lang="en-US" altLang="zh-CN" sz="2400" b="1" kern="0" dirty="0">
                <a:latin typeface="Trebuchet MS" panose="020B0603020202020204" pitchFamily="34" charset="0"/>
                <a:ea typeface="楷体" panose="02010609060101010101" pitchFamily="49" charset="-122"/>
                <a:cs typeface="Times New Roman" panose="02020603050405020304" pitchFamily="18" charset="0"/>
              </a:rPr>
              <a:t> </a:t>
            </a:r>
            <a:r>
              <a:rPr lang="en-US" sz="2400" dirty="0">
                <a:latin typeface="Trebuchet MS" panose="020B0603020202020204" pitchFamily="34" charset="0"/>
              </a:rPr>
              <a:t>, the structure and operational properties of </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i="1" baseline="-25000" dirty="0" err="1">
                <a:latin typeface="Trebuchet MS" panose="020B0603020202020204" pitchFamily="34" charset="0"/>
                <a:ea typeface="楷体" panose="02010609060101010101" pitchFamily="49" charset="-122"/>
                <a:cs typeface="Times New Roman" panose="02020603050405020304" pitchFamily="18" charset="0"/>
              </a:rPr>
              <a:t>i</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G</a:t>
            </a:r>
            <a:r>
              <a:rPr lang="en-US" altLang="zh-CN" sz="2400" i="1" dirty="0">
                <a:latin typeface="Trebuchet MS" panose="020B0603020202020204" pitchFamily="34" charset="0"/>
                <a:ea typeface="楷体" panose="02010609060101010101" pitchFamily="49" charset="-122"/>
                <a:cs typeface="Times New Roman" panose="02020603050405020304" pitchFamily="18" charset="0"/>
              </a:rPr>
              <a:t> </a:t>
            </a:r>
            <a:r>
              <a:rPr lang="en-US" sz="2400" dirty="0">
                <a:latin typeface="Trebuchet MS" panose="020B0603020202020204" pitchFamily="34" charset="0"/>
              </a:rPr>
              <a:t>and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G</a:t>
            </a:r>
            <a:r>
              <a:rPr lang="en-US" sz="2400" dirty="0">
                <a:latin typeface="Trebuchet MS" panose="020B0603020202020204" pitchFamily="34" charset="0"/>
              </a:rPr>
              <a:t> remain unchanged — that is, </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i="1" baseline="-25000" dirty="0" err="1">
                <a:latin typeface="Trebuchet MS" panose="020B0603020202020204" pitchFamily="34" charset="0"/>
                <a:ea typeface="楷体" panose="02010609060101010101" pitchFamily="49" charset="-122"/>
                <a:cs typeface="Times New Roman" panose="02020603050405020304" pitchFamily="18" charset="0"/>
              </a:rPr>
              <a:t>i</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rPr>
              <a:t>G</a:t>
            </a:r>
            <a:r>
              <a:rPr lang="en-US" altLang="zh-CN" sz="2400" i="1" dirty="0">
                <a:latin typeface="Trebuchet MS" panose="020B0603020202020204" pitchFamily="34" charset="0"/>
                <a:ea typeface="楷体" panose="02010609060101010101" pitchFamily="49" charset="-122"/>
                <a:cs typeface="Times New Roman" panose="02020603050405020304" pitchFamily="18" charset="0"/>
              </a:rPr>
              <a:t> </a:t>
            </a:r>
            <a:r>
              <a:rPr lang="en-US" sz="2400" dirty="0">
                <a:latin typeface="Trebuchet MS" panose="020B0603020202020204" pitchFamily="34" charset="0"/>
              </a:rPr>
              <a:t>is isomorphic to </a:t>
            </a:r>
            <a:r>
              <a:rPr lang="en-US" altLang="zh-CN" sz="2400" i="1" dirty="0">
                <a:latin typeface="Trebuchet MS" panose="020B0603020202020204" pitchFamily="34" charset="0"/>
                <a:ea typeface="楷体" panose="02010609060101010101" pitchFamily="49" charset="-122"/>
                <a:cs typeface="Times New Roman" panose="02020603050405020304" pitchFamily="18" charset="0"/>
              </a:rPr>
              <a:t>G</a:t>
            </a:r>
            <a:r>
              <a:rPr lang="en-US" altLang="zh-CN" sz="2400" dirty="0">
                <a:latin typeface="Trebuchet MS" panose="020B0603020202020204" pitchFamily="34" charset="0"/>
              </a:rPr>
              <a:t>.</a:t>
            </a:r>
          </a:p>
          <a:p>
            <a:pPr marL="628650" indent="-361950">
              <a:lnSpc>
                <a:spcPct val="120000"/>
              </a:lnSpc>
              <a:buClr>
                <a:srgbClr val="0B61FF"/>
              </a:buClr>
              <a:buSzPct val="80000"/>
            </a:pPr>
            <a:r>
              <a:rPr lang="en-US" sz="2400" b="1" dirty="0">
                <a:solidFill>
                  <a:srgbClr val="0B61FF"/>
                </a:solidFill>
                <a:latin typeface="Trebuchet MS" panose="020B0603020202020204" pitchFamily="34" charset="0"/>
              </a:rPr>
              <a:t>④ </a:t>
            </a:r>
            <a:r>
              <a:rPr lang="en-US" sz="2400" dirty="0">
                <a:latin typeface="Trebuchet MS" panose="020B0603020202020204" pitchFamily="34" charset="0"/>
              </a:rPr>
              <a:t>The symmetry of the group ensures that the action of any single element on the group structure is uniform — no element can independently alter the overall structure of the group</a:t>
            </a:r>
            <a:r>
              <a:rPr lang="en-US" altLang="zh-CN" sz="2400" dirty="0">
                <a:latin typeface="Trebuchet MS" panose="020B0603020202020204" pitchFamily="34" charset="0"/>
                <a:ea typeface="楷体" panose="02010609060101010101" pitchFamily="49" charset="-122"/>
                <a:cs typeface="Times New Roman" panose="02020603050405020304" pitchFamily="18" charset="0"/>
              </a:rPr>
              <a:t>.</a:t>
            </a:r>
            <a:endParaRPr lang="zh-CN" altLang="en-US" sz="2400" dirty="0">
              <a:latin typeface="Trebuchet MS" panose="020B0603020202020204" pitchFamily="34"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388508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3" end="3"/>
                                            </p:txEl>
                                          </p:spTgt>
                                        </p:tgtEl>
                                        <p:attrNameLst>
                                          <p:attrName>style.visibility</p:attrName>
                                        </p:attrNameLst>
                                      </p:cBhvr>
                                      <p:to>
                                        <p:strVal val="visible"/>
                                      </p:to>
                                    </p:set>
                                    <p:animEffect transition="in" filter="fade">
                                      <p:cBhvr>
                                        <p:cTn id="12" dur="1000"/>
                                        <p:tgtEl>
                                          <p:spTgt spid="11">
                                            <p:txEl>
                                              <p:pRg st="3" end="3"/>
                                            </p:txEl>
                                          </p:spTgt>
                                        </p:tgtEl>
                                      </p:cBhvr>
                                    </p:animEffect>
                                    <p:anim calcmode="lin" valueType="num">
                                      <p:cBhvr>
                                        <p:cTn id="13"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fade">
                                      <p:cBhvr>
                                        <p:cTn id="19" dur="1000"/>
                                        <p:tgtEl>
                                          <p:spTgt spid="11">
                                            <p:txEl>
                                              <p:pRg st="4" end="4"/>
                                            </p:txEl>
                                          </p:spTgt>
                                        </p:tgtEl>
                                      </p:cBhvr>
                                    </p:animEffect>
                                    <p:anim calcmode="lin" valueType="num">
                                      <p:cBhvr>
                                        <p:cTn id="20"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1">
                                            <p:txEl>
                                              <p:pRg st="5" end="5"/>
                                            </p:txEl>
                                          </p:spTgt>
                                        </p:tgtEl>
                                        <p:attrNameLst>
                                          <p:attrName>style.visibility</p:attrName>
                                        </p:attrNameLst>
                                      </p:cBhvr>
                                      <p:to>
                                        <p:strVal val="visible"/>
                                      </p:to>
                                    </p:set>
                                    <p:animEffect transition="in" filter="fade">
                                      <p:cBhvr>
                                        <p:cTn id="26" dur="1000"/>
                                        <p:tgtEl>
                                          <p:spTgt spid="11">
                                            <p:txEl>
                                              <p:pRg st="5" end="5"/>
                                            </p:txEl>
                                          </p:spTgt>
                                        </p:tgtEl>
                                      </p:cBhvr>
                                    </p:animEffect>
                                    <p:anim calcmode="lin" valueType="num">
                                      <p:cBhvr>
                                        <p:cTn id="27"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Effect transition="in" filter="fade">
                                      <p:cBhvr>
                                        <p:cTn id="33" dur="1000"/>
                                        <p:tgtEl>
                                          <p:spTgt spid="11">
                                            <p:txEl>
                                              <p:pRg st="6" end="6"/>
                                            </p:txEl>
                                          </p:spTgt>
                                        </p:tgtEl>
                                      </p:cBhvr>
                                    </p:animEffect>
                                    <p:anim calcmode="lin" valueType="num">
                                      <p:cBhvr>
                                        <p:cTn id="34"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sz="20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Cancellation Law in Groups(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5"/>
            <a:ext cx="9877336" cy="52115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2" name="文本框 11">
            <a:extLst>
              <a:ext uri="{FF2B5EF4-FFF2-40B4-BE49-F238E27FC236}">
                <a16:creationId xmlns:a16="http://schemas.microsoft.com/office/drawing/2014/main" id="{2EE08BD9-7B82-4473-A57D-FB7719783B58}"/>
              </a:ext>
            </a:extLst>
          </p:cNvPr>
          <p:cNvSpPr txBox="1"/>
          <p:nvPr/>
        </p:nvSpPr>
        <p:spPr>
          <a:xfrm>
            <a:off x="742132" y="724350"/>
            <a:ext cx="10560868" cy="5498650"/>
          </a:xfrm>
          <a:prstGeom prst="rect">
            <a:avLst/>
          </a:prstGeom>
          <a:noFill/>
        </p:spPr>
        <p:txBody>
          <a:bodyPr wrap="square">
            <a:noAutofit/>
          </a:bodyPr>
          <a:lstStyle/>
          <a:p>
            <a:pPr marL="342900" indent="-342900">
              <a:lnSpc>
                <a:spcPct val="120000"/>
              </a:lnSpc>
              <a:buClr>
                <a:srgbClr val="0B61FF"/>
              </a:buClr>
              <a:buSzPct val="80000"/>
              <a:buFont typeface="Wingdings" panose="05000000000000000000" pitchFamily="2" charset="2"/>
              <a:buChar char="n"/>
            </a:pPr>
            <a:r>
              <a:rPr lang="en-US" sz="2400" b="1" dirty="0">
                <a:latin typeface="Trebuchet MS" panose="020B0603020202020204" pitchFamily="34" charset="0"/>
              </a:rPr>
              <a:t>Proof</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The group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G</a:t>
            </a:r>
            <a:r>
              <a:rPr lang="en-US" sz="2400" dirty="0">
                <a:latin typeface="Trebuchet MS" panose="020B0603020202020204" pitchFamily="34" charset="0"/>
              </a:rPr>
              <a:t> satisfies closure, associativity, the existence of an identity element, and the existence of inverses. To prove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i</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G</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G</a:t>
            </a:r>
            <a:r>
              <a:rPr lang="en-US" sz="2400" dirty="0">
                <a:latin typeface="Trebuchet MS" panose="020B0603020202020204" pitchFamily="34" charset="0"/>
              </a:rPr>
              <a:t>, we need to show both </a:t>
            </a:r>
            <a:r>
              <a:rPr lang="en-US" altLang="zh-CN" sz="2400" b="1" i="1" dirty="0" err="1">
                <a:solidFill>
                  <a:srgbClr val="FF0000"/>
                </a:solidFill>
                <a:latin typeface="Trebuchet MS" panose="020B0603020202020204" pitchFamily="34" charset="0"/>
                <a:cs typeface="Times New Roman" panose="02020603050405020304" pitchFamily="18" charset="0"/>
              </a:rPr>
              <a:t>a</a:t>
            </a:r>
            <a:r>
              <a:rPr lang="en-US" altLang="zh-CN" sz="2400" b="1" i="1" baseline="-25000" dirty="0" err="1">
                <a:solidFill>
                  <a:srgbClr val="FF0000"/>
                </a:solidFill>
                <a:latin typeface="Trebuchet MS" panose="020B0603020202020204" pitchFamily="34" charset="0"/>
                <a:cs typeface="Times New Roman" panose="02020603050405020304" pitchFamily="18" charset="0"/>
              </a:rPr>
              <a:t>i</a:t>
            </a:r>
            <a:r>
              <a:rPr lang="en-US" altLang="zh-CN" sz="2400" b="1" i="1" dirty="0" err="1">
                <a:solidFill>
                  <a:srgbClr val="FF0000"/>
                </a:solidFill>
                <a:latin typeface="Trebuchet MS" panose="020B0603020202020204" pitchFamily="34" charset="0"/>
                <a:cs typeface="Times New Roman" panose="02020603050405020304" pitchFamily="18" charset="0"/>
              </a:rPr>
              <a:t>G</a:t>
            </a:r>
            <a:r>
              <a:rPr lang="en-US" altLang="zh-CN" sz="2400" b="1" i="1" dirty="0">
                <a:solidFill>
                  <a:srgbClr val="FF0000"/>
                </a:solidFill>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rPr>
              <a:t> G </a:t>
            </a:r>
            <a:r>
              <a:rPr lang="en-US" sz="2400" dirty="0">
                <a:solidFill>
                  <a:srgbClr val="FF0000"/>
                </a:solidFill>
                <a:latin typeface="Trebuchet MS" panose="020B0603020202020204" pitchFamily="34" charset="0"/>
              </a:rPr>
              <a:t>and </a:t>
            </a:r>
            <a:r>
              <a:rPr lang="en-US" altLang="zh-CN" sz="2400" b="1" i="1" dirty="0" err="1">
                <a:solidFill>
                  <a:srgbClr val="FF0000"/>
                </a:solidFill>
                <a:latin typeface="Trebuchet MS" panose="020B0603020202020204" pitchFamily="34" charset="0"/>
                <a:cs typeface="Times New Roman" panose="02020603050405020304" pitchFamily="18" charset="0"/>
              </a:rPr>
              <a:t>a</a:t>
            </a:r>
            <a:r>
              <a:rPr lang="en-US" altLang="zh-CN" sz="2400" b="1" i="1" baseline="-25000" dirty="0" err="1">
                <a:solidFill>
                  <a:srgbClr val="FF0000"/>
                </a:solidFill>
                <a:latin typeface="Trebuchet MS" panose="020B0603020202020204" pitchFamily="34" charset="0"/>
                <a:cs typeface="Times New Roman" panose="02020603050405020304" pitchFamily="18" charset="0"/>
              </a:rPr>
              <a:t>i</a:t>
            </a:r>
            <a:r>
              <a:rPr lang="en-US" altLang="zh-CN" sz="2400" b="1" i="1" dirty="0" err="1">
                <a:solidFill>
                  <a:srgbClr val="FF0000"/>
                </a:solidFill>
                <a:latin typeface="Trebuchet MS" panose="020B0603020202020204" pitchFamily="34" charset="0"/>
                <a:cs typeface="Times New Roman" panose="02020603050405020304" pitchFamily="18" charset="0"/>
              </a:rPr>
              <a:t>G</a:t>
            </a:r>
            <a:r>
              <a:rPr lang="en-US" altLang="zh-CN" sz="2400" b="1" i="1" dirty="0">
                <a:solidFill>
                  <a:srgbClr val="FF0000"/>
                </a:solidFill>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cs typeface="Times New Roman" panose="02020603050405020304" pitchFamily="18" charset="0"/>
              </a:rPr>
              <a:t> G</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a:t>
            </a:r>
            <a:r>
              <a:rPr lang="en-US" sz="2400" dirty="0">
                <a:latin typeface="Trebuchet MS" panose="020B0603020202020204" pitchFamily="34" charset="0"/>
              </a:rPr>
              <a:t> i.e., that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i</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G</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is simply a rearrangement (permutation) of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G</a:t>
            </a:r>
            <a:r>
              <a:rPr lang="en-US" sz="2400" dirty="0">
                <a:latin typeface="Trebuchet MS" panose="020B0603020202020204" pitchFamily="34" charset="0"/>
              </a:rPr>
              <a:t>.</a:t>
            </a:r>
          </a:p>
          <a:p>
            <a:pPr marL="539750" indent="-361950">
              <a:lnSpc>
                <a:spcPct val="120000"/>
              </a:lnSpc>
              <a:buClr>
                <a:srgbClr val="0B61FF"/>
              </a:buClr>
              <a:buSzPct val="80000"/>
            </a:pPr>
            <a:r>
              <a:rPr lang="zh-CN" altLang="en-US" sz="2400" b="1" dirty="0">
                <a:solidFill>
                  <a:srgbClr val="0B61FF"/>
                </a:solidFill>
                <a:effectLst/>
                <a:latin typeface="Trebuchet MS" panose="020B0603020202020204" pitchFamily="34" charset="0"/>
                <a:ea typeface="宋体" panose="02010600030101010101" pitchFamily="2" charset="-122"/>
                <a:cs typeface="Calibri" panose="020F0502020204030204" pitchFamily="34" charset="0"/>
              </a:rPr>
              <a:t>①</a:t>
            </a:r>
            <a:r>
              <a:rPr lang="en-US" sz="2400" dirty="0">
                <a:latin typeface="Trebuchet MS" panose="020B0603020202020204" pitchFamily="34" charset="0"/>
              </a:rPr>
              <a:t>By the closure property of the group, the product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i</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j</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is still in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G</a:t>
            </a:r>
            <a:r>
              <a:rPr lang="en-US" sz="2400" dirty="0">
                <a:latin typeface="Trebuchet MS" panose="020B0603020202020204" pitchFamily="34" charset="0"/>
              </a:rPr>
              <a:t>, so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i</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G</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G .</a:t>
            </a:r>
          </a:p>
          <a:p>
            <a:pPr marL="539750" indent="-361950">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Calibri" panose="020F0502020204030204" pitchFamily="34" charset="0"/>
              </a:rPr>
              <a:t>②</a:t>
            </a:r>
            <a:r>
              <a:rPr lang="en-US" sz="2400" dirty="0">
                <a:latin typeface="Trebuchet MS" panose="020B0603020202020204" pitchFamily="34" charset="0"/>
              </a:rPr>
              <a:t>For any element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i </a:t>
            </a:r>
            <a:r>
              <a:rPr lang="en-US" sz="2400" dirty="0">
                <a:latin typeface="Trebuchet MS" panose="020B0603020202020204" pitchFamily="34"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G</a:t>
            </a:r>
            <a:r>
              <a:rPr lang="en-US" sz="2400" dirty="0">
                <a:latin typeface="Trebuchet MS" panose="020B0603020202020204" pitchFamily="34" charset="0"/>
              </a:rPr>
              <a:t>, we can write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j</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i </a:t>
            </a:r>
            <a:r>
              <a:rPr lang="en-US" altLang="zh-CN" sz="2400" b="1" dirty="0">
                <a:effectLst/>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i </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-1</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j</a:t>
            </a:r>
            <a:r>
              <a:rPr lang="en-US" altLang="zh-CN" sz="2400" b="1" baseline="300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effectLst/>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i.e., in the form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i</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k</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 Because of the existence of inverses and closure, this means for any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j</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G</a:t>
            </a:r>
            <a:r>
              <a:rPr lang="en-US" altLang="zh-CN" sz="2400" b="1" dirty="0">
                <a:effectLst/>
                <a:latin typeface="Trebuchet MS" panose="020B0603020202020204" pitchFamily="34" charset="0"/>
                <a:cs typeface="Times New Roman" panose="02020603050405020304" pitchFamily="18" charset="0"/>
              </a:rPr>
              <a:t>,</a:t>
            </a:r>
            <a:r>
              <a:rPr lang="en-US" sz="2400" dirty="0">
                <a:latin typeface="Trebuchet MS" panose="020B0603020202020204" pitchFamily="34" charset="0"/>
              </a:rPr>
              <a:t> there exists some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k</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dirty="0">
                <a:effectLst/>
                <a:latin typeface="Trebuchet MS" panose="020B0603020202020204" pitchFamily="34" charset="0"/>
                <a:cs typeface="Times New Roman" panose="02020603050405020304" pitchFamily="18" charset="0"/>
              </a:rPr>
              <a:t>∈</a:t>
            </a:r>
            <a:r>
              <a:rPr lang="en-US" altLang="zh-CN" sz="2400" b="1" i="1" dirty="0">
                <a:effectLst/>
                <a:latin typeface="Trebuchet MS" panose="020B0603020202020204" pitchFamily="34" charset="0"/>
                <a:ea typeface="宋体" panose="02010600030101010101" pitchFamily="2" charset="-122"/>
                <a:cs typeface="Times New Roman" panose="02020603050405020304" pitchFamily="18" charset="0"/>
              </a:rPr>
              <a:t>G</a:t>
            </a:r>
            <a:r>
              <a:rPr lang="zh-CN" altLang="zh-CN" sz="2400" b="1" dirty="0">
                <a:effectLst/>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such that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j</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i</a:t>
            </a:r>
            <a:r>
              <a:rPr lang="en-US" altLang="zh-CN" sz="2400" b="1" i="1" dirty="0" err="1">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baseline="-25000" dirty="0" err="1">
                <a:latin typeface="Trebuchet MS" panose="020B0603020202020204" pitchFamily="34" charset="0"/>
                <a:ea typeface="宋体" panose="02010600030101010101" pitchFamily="2" charset="-122"/>
                <a:cs typeface="Times New Roman" panose="02020603050405020304" pitchFamily="18" charset="0"/>
              </a:rPr>
              <a:t>k</a:t>
            </a:r>
            <a:r>
              <a:rPr lang="en-US" altLang="zh-CN" sz="2400" b="1" i="1" baseline="-250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a:t>
            </a:r>
          </a:p>
          <a:p>
            <a:pPr marL="539750" indent="-361950">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Calibri" panose="020F0502020204030204" pitchFamily="34" charset="0"/>
              </a:rPr>
              <a:t>③</a:t>
            </a:r>
            <a:r>
              <a:rPr lang="en-US" sz="2400" b="1" dirty="0">
                <a:solidFill>
                  <a:srgbClr val="0B61FF"/>
                </a:solidFill>
                <a:latin typeface="Trebuchet MS" panose="020B0603020202020204" pitchFamily="34" charset="0"/>
                <a:ea typeface="宋体" panose="02010600030101010101" pitchFamily="2" charset="-122"/>
                <a:cs typeface="Calibri" panose="020F0502020204030204" pitchFamily="34" charset="0"/>
              </a:rPr>
              <a:t> </a:t>
            </a:r>
            <a:r>
              <a:rPr lang="en-US" sz="2400" dirty="0">
                <a:latin typeface="Trebuchet MS" panose="020B0603020202020204" pitchFamily="34" charset="0"/>
              </a:rPr>
              <a:t>For any element </a:t>
            </a:r>
            <a:r>
              <a:rPr lang="en-US" altLang="zh-CN" sz="2400" b="1" i="1" dirty="0">
                <a:latin typeface="Trebuchet MS" panose="020B0603020202020204" pitchFamily="34" charset="0"/>
                <a:cs typeface="Times New Roman" panose="02020603050405020304" pitchFamily="18" charset="0"/>
              </a:rPr>
              <a:t>a</a:t>
            </a:r>
            <a:r>
              <a:rPr lang="en-US" altLang="zh-CN" sz="2400" b="1" i="1" baseline="-25000" dirty="0">
                <a:latin typeface="Trebuchet MS" panose="020B0603020202020204" pitchFamily="34" charset="0"/>
                <a:cs typeface="Times New Roman" panose="02020603050405020304" pitchFamily="18" charset="0"/>
              </a:rPr>
              <a:t>i</a:t>
            </a:r>
            <a:r>
              <a:rPr lang="en-US" altLang="zh-CN" sz="2400" b="1" i="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25000" dirty="0" err="1">
                <a:latin typeface="Trebuchet MS" panose="020B0603020202020204" pitchFamily="34" charset="0"/>
                <a:cs typeface="Times New Roman" panose="02020603050405020304" pitchFamily="18" charset="0"/>
              </a:rPr>
              <a:t>j</a:t>
            </a:r>
            <a:r>
              <a:rPr lang="en-US" sz="2400" dirty="0">
                <a:latin typeface="Trebuchet MS" panose="020B0603020202020204" pitchFamily="34" charset="0"/>
              </a:rPr>
              <a:t>, we have  </a:t>
            </a:r>
            <a:r>
              <a:rPr lang="en-US" altLang="zh-CN" sz="2400" b="1" i="1" dirty="0">
                <a:latin typeface="Trebuchet MS" panose="020B0603020202020204" pitchFamily="34" charset="0"/>
                <a:cs typeface="Times New Roman" panose="02020603050405020304" pitchFamily="18" charset="0"/>
              </a:rPr>
              <a:t>a</a:t>
            </a:r>
            <a:r>
              <a:rPr lang="en-US" altLang="zh-CN" sz="2400" b="1" i="1" baseline="-25000" dirty="0">
                <a:latin typeface="Trebuchet MS" panose="020B0603020202020204" pitchFamily="34" charset="0"/>
                <a:cs typeface="Times New Roman" panose="02020603050405020304" pitchFamily="18" charset="0"/>
              </a:rPr>
              <a:t>i</a:t>
            </a:r>
            <a:r>
              <a:rPr lang="en-US" altLang="zh-CN" sz="2400" b="1" i="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25000" dirty="0" err="1">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cs typeface="Times New Roman" panose="02020603050405020304" pitchFamily="18" charset="0"/>
              </a:rPr>
              <a:t> = </a:t>
            </a:r>
            <a:r>
              <a:rPr lang="en-US" altLang="zh-CN" sz="2400" b="1" i="1" dirty="0">
                <a:latin typeface="Trebuchet MS" panose="020B0603020202020204" pitchFamily="34" charset="0"/>
                <a:cs typeface="Times New Roman" panose="02020603050405020304" pitchFamily="18" charset="0"/>
              </a:rPr>
              <a:t>a</a:t>
            </a:r>
            <a:r>
              <a:rPr lang="en-US" altLang="zh-CN" sz="2400" b="1" i="1" baseline="-25000" dirty="0">
                <a:latin typeface="Trebuchet MS" panose="020B0603020202020204" pitchFamily="34" charset="0"/>
                <a:cs typeface="Times New Roman" panose="02020603050405020304" pitchFamily="18" charset="0"/>
              </a:rPr>
              <a:t>i</a:t>
            </a:r>
            <a:r>
              <a:rPr lang="zh-CN"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zh-CN" altLang="zh-CN" sz="2400" b="1" i="1" baseline="-25000" dirty="0">
                <a:latin typeface="Trebuchet MS" panose="020B0603020202020204" pitchFamily="34" charset="0"/>
                <a:cs typeface="Times New Roman" panose="02020603050405020304" pitchFamily="18" charset="0"/>
              </a:rPr>
              <a:t>i</a:t>
            </a:r>
            <a:r>
              <a:rPr lang="en-US" altLang="zh-CN" sz="2400" b="1" i="1" baseline="30000"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rPr>
              <a:t>a</a:t>
            </a:r>
            <a:r>
              <a:rPr lang="en-US" altLang="zh-CN" sz="2400" b="1" i="1" baseline="-25000" dirty="0">
                <a:latin typeface="Trebuchet MS" panose="020B0603020202020204" pitchFamily="34" charset="0"/>
                <a:cs typeface="Times New Roman" panose="02020603050405020304" pitchFamily="18" charset="0"/>
              </a:rPr>
              <a:t>k</a:t>
            </a:r>
            <a:r>
              <a:rPr lang="zh-CN"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25000" dirty="0" err="1">
                <a:latin typeface="Trebuchet MS" panose="020B0603020202020204" pitchFamily="34" charset="0"/>
                <a:cs typeface="Times New Roman" panose="02020603050405020304" pitchFamily="18" charset="0"/>
              </a:rPr>
              <a:t>k</a:t>
            </a:r>
            <a:r>
              <a:rPr lang="en-US" altLang="zh-CN" sz="2400" b="1" i="1" baseline="-25000" dirty="0">
                <a:latin typeface="Trebuchet MS" panose="020B0603020202020204" pitchFamily="34" charset="0"/>
                <a:cs typeface="Times New Roman" panose="02020603050405020304" pitchFamily="18" charset="0"/>
              </a:rPr>
              <a:t> </a:t>
            </a:r>
            <a:r>
              <a:rPr lang="zh-CN"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G</a:t>
            </a:r>
            <a:r>
              <a:rPr lang="zh-CN" altLang="en-US"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so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25000" dirty="0" err="1">
                <a:latin typeface="Trebuchet MS" panose="020B0603020202020204" pitchFamily="34" charset="0"/>
                <a:cs typeface="Times New Roman" panose="02020603050405020304" pitchFamily="18" charset="0"/>
              </a:rPr>
              <a:t>i</a:t>
            </a:r>
            <a:r>
              <a:rPr lang="en-US" altLang="zh-CN" sz="2400" b="1" i="1" dirty="0" err="1">
                <a:latin typeface="Trebuchet MS" panose="020B0603020202020204" pitchFamily="34" charset="0"/>
                <a:cs typeface="Times New Roman" panose="02020603050405020304" pitchFamily="18" charset="0"/>
              </a:rPr>
              <a:t>G</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cs typeface="Times New Roman" panose="02020603050405020304" pitchFamily="18" charset="0"/>
              </a:rPr>
              <a:t> G </a:t>
            </a:r>
            <a:r>
              <a:rPr lang="en-US" altLang="zh-CN" sz="2400" b="1" i="1" dirty="0">
                <a:latin typeface="Trebuchet MS" panose="020B0603020202020204" pitchFamily="34" charset="0"/>
                <a:ea typeface="宋体" panose="02010600030101010101" pitchFamily="2" charset="-122"/>
                <a:cs typeface="Times New Roman" panose="02020603050405020304" pitchFamily="18" charset="0"/>
              </a:rPr>
              <a:t>holds</a:t>
            </a:r>
            <a:r>
              <a:rPr lang="en-US" altLang="zh-CN" sz="2400" b="1" dirty="0">
                <a:effectLst/>
                <a:latin typeface="Trebuchet MS" panose="020B0603020202020204" pitchFamily="34" charset="0"/>
                <a:ea typeface="宋体" panose="02010600030101010101" pitchFamily="2" charset="-122"/>
                <a:cs typeface="Times New Roman" panose="02020603050405020304" pitchFamily="18" charset="0"/>
              </a:rPr>
              <a:t>.</a:t>
            </a:r>
          </a:p>
          <a:p>
            <a:pPr marL="539750" indent="-361950">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Calibri" panose="020F0502020204030204" pitchFamily="34" charset="0"/>
              </a:rPr>
              <a:t>④ </a:t>
            </a:r>
            <a:r>
              <a:rPr lang="en-US" sz="2400" dirty="0">
                <a:latin typeface="Trebuchet MS" panose="020B0603020202020204" pitchFamily="34" charset="0"/>
              </a:rPr>
              <a:t>Since both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25000" dirty="0" err="1">
                <a:latin typeface="Trebuchet MS" panose="020B0603020202020204" pitchFamily="34" charset="0"/>
                <a:cs typeface="Times New Roman" panose="02020603050405020304" pitchFamily="18" charset="0"/>
              </a:rPr>
              <a:t>i</a:t>
            </a:r>
            <a:r>
              <a:rPr lang="en-US" altLang="zh-CN" sz="2400" b="1" i="1" dirty="0" err="1">
                <a:latin typeface="Trebuchet MS" panose="020B0603020202020204" pitchFamily="34" charset="0"/>
                <a:cs typeface="Times New Roman" panose="02020603050405020304" pitchFamily="18" charset="0"/>
              </a:rPr>
              <a:t>G</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G  </a:t>
            </a:r>
            <a:r>
              <a:rPr lang="en-US" sz="2400" dirty="0">
                <a:latin typeface="Trebuchet MS" panose="020B0603020202020204" pitchFamily="34" charset="0"/>
              </a:rPr>
              <a:t>and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25000" dirty="0" err="1">
                <a:latin typeface="Trebuchet MS" panose="020B0603020202020204" pitchFamily="34" charset="0"/>
                <a:cs typeface="Times New Roman" panose="02020603050405020304" pitchFamily="18" charset="0"/>
              </a:rPr>
              <a:t>i</a:t>
            </a:r>
            <a:r>
              <a:rPr lang="en-US" altLang="zh-CN" sz="2400" b="1" i="1" dirty="0" err="1">
                <a:latin typeface="Trebuchet MS" panose="020B0603020202020204" pitchFamily="34" charset="0"/>
                <a:cs typeface="Times New Roman" panose="02020603050405020304" pitchFamily="18" charset="0"/>
              </a:rPr>
              <a:t>G</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cs typeface="Times New Roman" panose="02020603050405020304" pitchFamily="18" charset="0"/>
              </a:rPr>
              <a:t> G  </a:t>
            </a:r>
            <a:r>
              <a:rPr lang="en-US" sz="2400" dirty="0">
                <a:latin typeface="Trebuchet MS" panose="020B0603020202020204" pitchFamily="34" charset="0"/>
              </a:rPr>
              <a:t>hold, we conclude that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25000" dirty="0" err="1">
                <a:latin typeface="Trebuchet MS" panose="020B0603020202020204" pitchFamily="34" charset="0"/>
                <a:cs typeface="Times New Roman" panose="02020603050405020304" pitchFamily="18" charset="0"/>
              </a:rPr>
              <a:t>i</a:t>
            </a:r>
            <a:r>
              <a:rPr lang="en-US" altLang="zh-CN" sz="2400" b="1" i="1" dirty="0" err="1">
                <a:latin typeface="Trebuchet MS" panose="020B0603020202020204" pitchFamily="34" charset="0"/>
                <a:cs typeface="Times New Roman" panose="02020603050405020304" pitchFamily="18" charset="0"/>
              </a:rPr>
              <a:t>G</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G .</a:t>
            </a:r>
            <a:endParaRPr lang="en-US" altLang="zh-CN" sz="2400" b="1" dirty="0">
              <a:latin typeface="Trebuchet MS" panose="020B0603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18197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2" end="2"/>
                                            </p:txEl>
                                          </p:spTgt>
                                        </p:tgtEl>
                                        <p:attrNameLst>
                                          <p:attrName>style.visibility</p:attrName>
                                        </p:attrNameLst>
                                      </p:cBhvr>
                                      <p:to>
                                        <p:strVal val="visible"/>
                                      </p:to>
                                    </p:set>
                                    <p:animEffect transition="in" filter="fade">
                                      <p:cBhvr>
                                        <p:cTn id="14" dur="1000"/>
                                        <p:tgtEl>
                                          <p:spTgt spid="12">
                                            <p:txEl>
                                              <p:pRg st="2" end="2"/>
                                            </p:txEl>
                                          </p:spTgt>
                                        </p:tgtEl>
                                      </p:cBhvr>
                                    </p:animEffect>
                                    <p:anim calcmode="lin" valueType="num">
                                      <p:cBhvr>
                                        <p:cTn id="15"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animEffect transition="in" filter="fade">
                                      <p:cBhvr>
                                        <p:cTn id="21" dur="1000"/>
                                        <p:tgtEl>
                                          <p:spTgt spid="12">
                                            <p:txEl>
                                              <p:pRg st="3" end="3"/>
                                            </p:txEl>
                                          </p:spTgt>
                                        </p:tgtEl>
                                      </p:cBhvr>
                                    </p:animEffect>
                                    <p:anim calcmode="lin" valueType="num">
                                      <p:cBhvr>
                                        <p:cTn id="22"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
                                            <p:txEl>
                                              <p:pRg st="4" end="4"/>
                                            </p:txEl>
                                          </p:spTgt>
                                        </p:tgtEl>
                                        <p:attrNameLst>
                                          <p:attrName>style.visibility</p:attrName>
                                        </p:attrNameLst>
                                      </p:cBhvr>
                                      <p:to>
                                        <p:strVal val="visible"/>
                                      </p:to>
                                    </p:set>
                                    <p:animEffect transition="in" filter="fade">
                                      <p:cBhvr>
                                        <p:cTn id="28" dur="1000"/>
                                        <p:tgtEl>
                                          <p:spTgt spid="12">
                                            <p:txEl>
                                              <p:pRg st="4" end="4"/>
                                            </p:txEl>
                                          </p:spTgt>
                                        </p:tgtEl>
                                      </p:cBhvr>
                                    </p:animEffect>
                                    <p:anim calcmode="lin" valueType="num">
                                      <p:cBhvr>
                                        <p:cTn id="29"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sz="20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Cancellation Law in Groups(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5"/>
            <a:ext cx="9877336" cy="52115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7" name="文本框 16">
            <a:extLst>
              <a:ext uri="{FF2B5EF4-FFF2-40B4-BE49-F238E27FC236}">
                <a16:creationId xmlns:a16="http://schemas.microsoft.com/office/drawing/2014/main" id="{CA05724A-67A0-4978-92E8-22D478E7AD23}"/>
              </a:ext>
            </a:extLst>
          </p:cNvPr>
          <p:cNvSpPr txBox="1"/>
          <p:nvPr/>
        </p:nvSpPr>
        <p:spPr>
          <a:xfrm>
            <a:off x="1047976" y="879167"/>
            <a:ext cx="8934224" cy="5273623"/>
          </a:xfrm>
          <a:prstGeom prst="rect">
            <a:avLst/>
          </a:prstGeom>
          <a:noFill/>
        </p:spPr>
        <p:txBody>
          <a:bodyPr wrap="square">
            <a:spAutoFit/>
          </a:bodyPr>
          <a:lstStyle/>
          <a:p>
            <a:pPr marL="342900" indent="-342900">
              <a:lnSpc>
                <a:spcPct val="120000"/>
              </a:lnSpc>
              <a:spcBef>
                <a:spcPts val="300"/>
              </a:spcBef>
              <a:buClr>
                <a:srgbClr val="0B61FF"/>
              </a:buClr>
              <a:buSzPct val="120000"/>
              <a:buFont typeface="Arial" panose="020B0604020202020204" pitchFamily="34" charset="0"/>
              <a:buChar char="•"/>
            </a:pPr>
            <a:r>
              <a:rPr lang="en-US" sz="2400" dirty="0">
                <a:latin typeface="Trebuchet MS" panose="020B0603020202020204" pitchFamily="34" charset="0"/>
              </a:rPr>
              <a:t>Let the group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have elements </a:t>
            </a:r>
            <a:r>
              <a:rPr lang="en-US" altLang="zh-CN" sz="2400" b="1" dirty="0">
                <a:solidFill>
                  <a:srgbClr val="0D0D0D"/>
                </a:solidFill>
                <a:latin typeface="Trebuchet MS" panose="020B0603020202020204" pitchFamily="34" charset="0"/>
                <a:cs typeface="Times New Roman" panose="02020603050405020304" pitchFamily="18" charset="0"/>
              </a:rPr>
              <a:t>{</a:t>
            </a:r>
            <a:r>
              <a:rPr lang="en-US" altLang="zh-CN" sz="2400" b="1" i="1" dirty="0" err="1">
                <a:solidFill>
                  <a:srgbClr val="0D0D0D"/>
                </a:solidFill>
                <a:latin typeface="Trebuchet MS" panose="020B0603020202020204" pitchFamily="34" charset="0"/>
                <a:cs typeface="Times New Roman" panose="02020603050405020304" pitchFamily="18" charset="0"/>
              </a:rPr>
              <a:t>e</a:t>
            </a:r>
            <a:r>
              <a:rPr lang="en-US" altLang="zh-CN" sz="2400" b="1" dirty="0" err="1">
                <a:solidFill>
                  <a:srgbClr val="0D0D0D"/>
                </a:solidFill>
                <a:latin typeface="Trebuchet MS" panose="020B0603020202020204" pitchFamily="34" charset="0"/>
                <a:cs typeface="Times New Roman" panose="02020603050405020304" pitchFamily="18" charset="0"/>
              </a:rPr>
              <a:t>,</a:t>
            </a:r>
            <a:r>
              <a:rPr lang="en-US" altLang="zh-CN" sz="2400" b="1" i="1" dirty="0" err="1">
                <a:solidFill>
                  <a:srgbClr val="0D0D0D"/>
                </a:solidFill>
                <a:latin typeface="Trebuchet MS" panose="020B0603020202020204" pitchFamily="34" charset="0"/>
                <a:cs typeface="Times New Roman" panose="02020603050405020304" pitchFamily="18" charset="0"/>
              </a:rPr>
              <a:t>a</a:t>
            </a:r>
            <a:r>
              <a:rPr lang="en-US" altLang="zh-CN" sz="2400" b="1" dirty="0" err="1">
                <a:solidFill>
                  <a:srgbClr val="0D0D0D"/>
                </a:solidFill>
                <a:latin typeface="Trebuchet MS" panose="020B0603020202020204" pitchFamily="34" charset="0"/>
                <a:cs typeface="Times New Roman" panose="02020603050405020304" pitchFamily="18" charset="0"/>
              </a:rPr>
              <a:t>,</a:t>
            </a:r>
            <a:r>
              <a:rPr lang="en-US" altLang="zh-CN" sz="2400" b="1" i="1" dirty="0" err="1">
                <a:solidFill>
                  <a:srgbClr val="0D0D0D"/>
                </a:solidFill>
                <a:latin typeface="Trebuchet MS" panose="020B0603020202020204" pitchFamily="34" charset="0"/>
                <a:cs typeface="Times New Roman" panose="02020603050405020304" pitchFamily="18" charset="0"/>
              </a:rPr>
              <a:t>b</a:t>
            </a:r>
            <a:r>
              <a:rPr lang="en-US" altLang="zh-CN" sz="2400" b="1" dirty="0" err="1">
                <a:solidFill>
                  <a:srgbClr val="0D0D0D"/>
                </a:solidFill>
                <a:latin typeface="Trebuchet MS" panose="020B0603020202020204" pitchFamily="34" charset="0"/>
                <a:cs typeface="Times New Roman" panose="02020603050405020304" pitchFamily="18" charset="0"/>
              </a:rPr>
              <a:t>,</a:t>
            </a:r>
            <a:r>
              <a:rPr lang="en-US" altLang="zh-CN" sz="2400" b="1" i="1" dirty="0" err="1">
                <a:solidFill>
                  <a:srgbClr val="0D0D0D"/>
                </a:solidFill>
                <a:latin typeface="Trebuchet MS" panose="020B0603020202020204" pitchFamily="34" charset="0"/>
                <a:cs typeface="Times New Roman" panose="02020603050405020304" pitchFamily="18" charset="0"/>
              </a:rPr>
              <a:t>c</a:t>
            </a:r>
            <a:r>
              <a:rPr lang="en-US" altLang="zh-CN" sz="2400" b="1" dirty="0">
                <a:solidFill>
                  <a:srgbClr val="0D0D0D"/>
                </a:solidFill>
                <a:latin typeface="Trebuchet MS" panose="020B0603020202020204" pitchFamily="34" charset="0"/>
                <a:cs typeface="Times New Roman" panose="02020603050405020304" pitchFamily="18" charset="0"/>
              </a:rPr>
              <a:t>}</a:t>
            </a:r>
            <a:r>
              <a:rPr lang="en-US" altLang="zh-CN" sz="2400"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where </a:t>
            </a:r>
            <a:r>
              <a:rPr lang="en-US" altLang="zh-CN" sz="2400" b="1" i="1" dirty="0">
                <a:solidFill>
                  <a:srgbClr val="0D0D0D"/>
                </a:solidFill>
                <a:latin typeface="Trebuchet MS" panose="020B0603020202020204" pitchFamily="34" charset="0"/>
                <a:cs typeface="Times New Roman" panose="02020603050405020304" pitchFamily="18" charset="0"/>
              </a:rPr>
              <a:t>e</a:t>
            </a:r>
            <a:r>
              <a:rPr lang="zh-CN"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 is the identity element. The </a:t>
            </a:r>
            <a:r>
              <a:rPr lang="en-US" sz="2400" b="1" i="1" dirty="0">
                <a:solidFill>
                  <a:srgbClr val="0B61FF"/>
                </a:solidFill>
                <a:latin typeface="Trebuchet MS" panose="020B0603020202020204" pitchFamily="34" charset="0"/>
              </a:rPr>
              <a:t>multiplication operation rules </a:t>
            </a:r>
            <a:r>
              <a:rPr lang="en-US" sz="2400" dirty="0">
                <a:latin typeface="Trebuchet MS" panose="020B0603020202020204" pitchFamily="34" charset="0"/>
              </a:rPr>
              <a:t>are:</a:t>
            </a:r>
          </a:p>
          <a:p>
            <a:pPr>
              <a:lnSpc>
                <a:spcPct val="120000"/>
              </a:lnSpc>
              <a:spcBef>
                <a:spcPts val="300"/>
              </a:spcBef>
            </a:pPr>
            <a:endParaRPr lang="en-US" sz="2400" dirty="0">
              <a:latin typeface="Trebuchet MS" panose="020B0603020202020204" pitchFamily="34" charset="0"/>
            </a:endParaRPr>
          </a:p>
          <a:p>
            <a:pPr>
              <a:lnSpc>
                <a:spcPct val="120000"/>
              </a:lnSpc>
              <a:spcBef>
                <a:spcPts val="300"/>
              </a:spcBef>
            </a:pPr>
            <a:endParaRPr lang="en-US" sz="2400" dirty="0">
              <a:latin typeface="Trebuchet MS" panose="020B0603020202020204" pitchFamily="34" charset="0"/>
            </a:endParaRPr>
          </a:p>
          <a:p>
            <a:pPr>
              <a:lnSpc>
                <a:spcPct val="120000"/>
              </a:lnSpc>
              <a:spcBef>
                <a:spcPts val="300"/>
              </a:spcBef>
            </a:pPr>
            <a:endParaRPr lang="en-US" sz="2400" dirty="0">
              <a:latin typeface="Trebuchet MS" panose="020B0603020202020204" pitchFamily="34" charset="0"/>
            </a:endParaRPr>
          </a:p>
          <a:p>
            <a:pPr>
              <a:lnSpc>
                <a:spcPct val="120000"/>
              </a:lnSpc>
              <a:spcBef>
                <a:spcPts val="300"/>
              </a:spcBef>
            </a:pPr>
            <a:endParaRPr lang="en-US" sz="2400" dirty="0">
              <a:latin typeface="Trebuchet MS" panose="020B0603020202020204" pitchFamily="34" charset="0"/>
            </a:endParaRPr>
          </a:p>
          <a:p>
            <a:pPr>
              <a:lnSpc>
                <a:spcPct val="120000"/>
              </a:lnSpc>
              <a:spcBef>
                <a:spcPts val="300"/>
              </a:spcBef>
            </a:pPr>
            <a:endParaRPr lang="en-US" sz="2400" dirty="0">
              <a:latin typeface="Trebuchet MS" panose="020B0603020202020204" pitchFamily="34" charset="0"/>
            </a:endParaRPr>
          </a:p>
          <a:p>
            <a:pPr>
              <a:lnSpc>
                <a:spcPct val="120000"/>
              </a:lnSpc>
              <a:spcBef>
                <a:spcPts val="300"/>
              </a:spcBef>
            </a:pPr>
            <a:r>
              <a:rPr lang="en-US" sz="2400" b="1" i="1" dirty="0">
                <a:solidFill>
                  <a:srgbClr val="0B61FF"/>
                </a:solidFill>
                <a:latin typeface="Trebuchet MS" panose="020B0603020202020204" pitchFamily="34" charset="0"/>
              </a:rPr>
              <a:t>Compute</a:t>
            </a:r>
            <a:r>
              <a:rPr lang="en-US" sz="2400" dirty="0">
                <a:latin typeface="Trebuchet MS" panose="020B0603020202020204" pitchFamily="34" charset="0"/>
              </a:rPr>
              <a:t>  </a:t>
            </a:r>
            <a:r>
              <a:rPr lang="en-US" altLang="zh-CN" sz="2400" b="1" i="1" dirty="0" err="1">
                <a:solidFill>
                  <a:srgbClr val="0B61FF"/>
                </a:solidFill>
                <a:effectLst/>
                <a:latin typeface="Trebuchet MS" panose="020B0603020202020204" pitchFamily="34" charset="0"/>
                <a:ea typeface="宋体" panose="02010600030101010101" pitchFamily="2" charset="-122"/>
                <a:cs typeface="Times New Roman" panose="02020603050405020304" pitchFamily="18" charset="0"/>
              </a:rPr>
              <a:t>aG</a:t>
            </a:r>
            <a:r>
              <a:rPr lang="en-US" altLang="zh-CN" sz="2400" i="1"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                      </a:t>
            </a:r>
            <a:endPar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a:lnSpc>
                <a:spcPct val="120000"/>
              </a:lnSpc>
              <a:spcBef>
                <a:spcPts val="300"/>
              </a:spcBef>
            </a:pPr>
            <a:endParaRPr lang="en-US" altLang="zh-CN" sz="2400" dirty="0">
              <a:latin typeface="Trebuchet MS" panose="020B0603020202020204" pitchFamily="34" charset="0"/>
              <a:ea typeface="宋体" panose="02010600030101010101" pitchFamily="2" charset="-122"/>
              <a:cs typeface="Times New Roman" panose="02020603050405020304" pitchFamily="18" charset="0"/>
            </a:endParaRPr>
          </a:p>
          <a:p>
            <a:pPr>
              <a:lnSpc>
                <a:spcPct val="120000"/>
              </a:lnSpc>
              <a:spcBef>
                <a:spcPts val="300"/>
              </a:spcBef>
            </a:pPr>
            <a:endParaRPr lang="en-US" altLang="zh-CN" sz="2400" dirty="0">
              <a:latin typeface="Trebuchet MS" panose="020B0603020202020204" pitchFamily="34" charset="0"/>
            </a:endParaRPr>
          </a:p>
          <a:p>
            <a:pPr>
              <a:lnSpc>
                <a:spcPct val="120000"/>
              </a:lnSpc>
              <a:spcBef>
                <a:spcPts val="300"/>
              </a:spcBef>
            </a:pPr>
            <a:r>
              <a:rPr lang="en-US" altLang="zh-CN" sz="2400" dirty="0">
                <a:latin typeface="Trebuchet MS" panose="020B0603020202020204" pitchFamily="34" charset="0"/>
              </a:rPr>
              <a:t>The set</a:t>
            </a:r>
            <a:r>
              <a:rPr lang="zh-CN" altLang="zh-CN" sz="2400" b="1" dirty="0">
                <a:latin typeface="Trebuchet MS" panose="020B0603020202020204" pitchFamily="34" charset="0"/>
                <a:ea typeface="Times New Roman" panose="02020603050405020304" pitchFamily="18" charset="0"/>
                <a:cs typeface="Times New Roman" panose="02020603050405020304" pitchFamily="18" charset="0"/>
              </a:rPr>
              <a:t> </a:t>
            </a:r>
            <a:r>
              <a:rPr lang="en-US" altLang="zh-CN" sz="2400" b="1" i="1" dirty="0" err="1">
                <a:solidFill>
                  <a:srgbClr val="0B61FF"/>
                </a:solidFill>
                <a:latin typeface="Trebuchet MS" panose="020B0603020202020204" pitchFamily="34" charset="0"/>
                <a:cs typeface="Times New Roman" panose="02020603050405020304" pitchFamily="18" charset="0"/>
              </a:rPr>
              <a:t>aG</a:t>
            </a:r>
            <a:r>
              <a:rPr lang="zh-CN" altLang="zh-CN" sz="2400" b="1" dirty="0">
                <a:solidFill>
                  <a:srgbClr val="0B61FF"/>
                </a:solidFill>
                <a:latin typeface="Trebuchet MS" panose="020B0603020202020204" pitchFamily="34" charset="0"/>
                <a:cs typeface="Times New Roman" panose="02020603050405020304" pitchFamily="18" charset="0"/>
              </a:rPr>
              <a:t> </a:t>
            </a:r>
            <a:r>
              <a:rPr lang="en-US" altLang="zh-CN" sz="2400" b="1" dirty="0">
                <a:solidFill>
                  <a:srgbClr val="0B61FF"/>
                </a:solidFill>
                <a:latin typeface="Trebuchet MS" panose="020B0603020202020204" pitchFamily="34" charset="0"/>
                <a:cs typeface="Times New Roman" panose="02020603050405020304" pitchFamily="18" charset="0"/>
              </a:rPr>
              <a:t>=</a:t>
            </a:r>
            <a:r>
              <a:rPr lang="zh-CN" altLang="zh-CN" sz="2400" b="1" dirty="0">
                <a:solidFill>
                  <a:srgbClr val="0B61FF"/>
                </a:solidFill>
                <a:latin typeface="Trebuchet MS" panose="020B0603020202020204" pitchFamily="34" charset="0"/>
                <a:ea typeface="Times New Roman" panose="02020603050405020304" pitchFamily="18" charset="0"/>
                <a:cs typeface="Times New Roman" panose="02020603050405020304" pitchFamily="18" charset="0"/>
              </a:rPr>
              <a:t> </a:t>
            </a:r>
            <a:r>
              <a:rPr lang="en-US" altLang="zh-CN" sz="2400" b="1" dirty="0">
                <a:solidFill>
                  <a:srgbClr val="0B61FF"/>
                </a:solidFill>
                <a:latin typeface="Trebuchet MS" panose="020B0603020202020204" pitchFamily="34" charset="0"/>
                <a:cs typeface="Times New Roman" panose="02020603050405020304" pitchFamily="18" charset="0"/>
              </a:rPr>
              <a:t>{</a:t>
            </a:r>
            <a:r>
              <a:rPr lang="en-US" altLang="zh-CN" sz="2400" b="1" i="1" dirty="0" err="1">
                <a:solidFill>
                  <a:srgbClr val="0B61FF"/>
                </a:solidFill>
                <a:latin typeface="Trebuchet MS" panose="020B0603020202020204" pitchFamily="34" charset="0"/>
                <a:cs typeface="Times New Roman" panose="02020603050405020304" pitchFamily="18" charset="0"/>
              </a:rPr>
              <a:t>a</a:t>
            </a:r>
            <a:r>
              <a:rPr lang="en-US" altLang="zh-CN" sz="2400" b="1" dirty="0" err="1">
                <a:solidFill>
                  <a:srgbClr val="0B61FF"/>
                </a:solidFill>
                <a:latin typeface="Trebuchet MS" panose="020B0603020202020204" pitchFamily="34" charset="0"/>
                <a:cs typeface="Times New Roman" panose="02020603050405020304" pitchFamily="18" charset="0"/>
              </a:rPr>
              <a:t>,</a:t>
            </a:r>
            <a:r>
              <a:rPr lang="en-US" altLang="zh-CN" sz="2400" b="1" i="1" dirty="0" err="1">
                <a:solidFill>
                  <a:srgbClr val="0B61FF"/>
                </a:solidFill>
                <a:latin typeface="Trebuchet MS" panose="020B0603020202020204" pitchFamily="34" charset="0"/>
                <a:cs typeface="Times New Roman" panose="02020603050405020304" pitchFamily="18" charset="0"/>
              </a:rPr>
              <a:t>e</a:t>
            </a:r>
            <a:r>
              <a:rPr lang="en-US" altLang="zh-CN" sz="2400" b="1" dirty="0" err="1">
                <a:solidFill>
                  <a:srgbClr val="0B61FF"/>
                </a:solidFill>
                <a:latin typeface="Trebuchet MS" panose="020B0603020202020204" pitchFamily="34" charset="0"/>
                <a:cs typeface="Times New Roman" panose="02020603050405020304" pitchFamily="18" charset="0"/>
              </a:rPr>
              <a:t>,</a:t>
            </a:r>
            <a:r>
              <a:rPr lang="en-US" altLang="zh-CN" sz="2400" b="1" i="1" dirty="0" err="1">
                <a:solidFill>
                  <a:srgbClr val="0B61FF"/>
                </a:solidFill>
                <a:latin typeface="Trebuchet MS" panose="020B0603020202020204" pitchFamily="34" charset="0"/>
                <a:cs typeface="Times New Roman" panose="02020603050405020304" pitchFamily="18" charset="0"/>
              </a:rPr>
              <a:t>c</a:t>
            </a:r>
            <a:r>
              <a:rPr lang="en-US" altLang="zh-CN" sz="2400" b="1" dirty="0" err="1">
                <a:solidFill>
                  <a:srgbClr val="0B61FF"/>
                </a:solidFill>
                <a:latin typeface="Trebuchet MS" panose="020B0603020202020204" pitchFamily="34" charset="0"/>
                <a:cs typeface="Times New Roman" panose="02020603050405020304" pitchFamily="18" charset="0"/>
              </a:rPr>
              <a:t>,</a:t>
            </a:r>
            <a:r>
              <a:rPr lang="en-US" altLang="zh-CN" sz="2400" b="1" i="1" dirty="0" err="1">
                <a:solidFill>
                  <a:srgbClr val="0B61FF"/>
                </a:solidFill>
                <a:latin typeface="Trebuchet MS" panose="020B0603020202020204" pitchFamily="34" charset="0"/>
                <a:cs typeface="Times New Roman" panose="02020603050405020304" pitchFamily="18" charset="0"/>
              </a:rPr>
              <a:t>b</a:t>
            </a:r>
            <a:r>
              <a:rPr lang="en-US" altLang="zh-CN" sz="2400" b="1" dirty="0">
                <a:solidFill>
                  <a:srgbClr val="0B61FF"/>
                </a:solidFill>
                <a:latin typeface="Trebuchet MS" panose="020B0603020202020204" pitchFamily="34" charset="0"/>
                <a:cs typeface="Times New Roman" panose="02020603050405020304" pitchFamily="18" charset="0"/>
              </a:rPr>
              <a:t>}</a:t>
            </a:r>
            <a:r>
              <a:rPr lang="zh-CN" altLang="zh-CN" sz="2400" b="1" dirty="0">
                <a:solidFill>
                  <a:srgbClr val="0B61FF"/>
                </a:solidFill>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is a permutation of the group </a:t>
            </a:r>
            <a:r>
              <a:rPr lang="en-US" altLang="zh-CN" sz="2400" b="1" i="1" dirty="0">
                <a:solidFill>
                  <a:srgbClr val="0D0D0D"/>
                </a:solidFill>
                <a:latin typeface="Trebuchet MS" panose="020B0603020202020204" pitchFamily="34" charset="0"/>
                <a:cs typeface="Times New Roman" panose="02020603050405020304" pitchFamily="18" charset="0"/>
              </a:rPr>
              <a:t>G .</a:t>
            </a:r>
            <a:r>
              <a:rPr lang="zh-CN" altLang="zh-CN" sz="2400" b="1" dirty="0">
                <a:latin typeface="Trebuchet MS" panose="020B0603020202020204" pitchFamily="34" charset="0"/>
                <a:cs typeface="Times New Roman" panose="02020603050405020304" pitchFamily="18" charset="0"/>
              </a:rPr>
              <a:t> </a:t>
            </a:r>
            <a:endPar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8CB56A55-CEAA-45EC-9DE9-A5D4A7A079AF}"/>
              </a:ext>
            </a:extLst>
          </p:cNvPr>
          <p:cNvGraphicFramePr>
            <a:graphicFrameLocks noGrp="1"/>
          </p:cNvGraphicFramePr>
          <p:nvPr>
            <p:extLst>
              <p:ext uri="{D42A27DB-BD31-4B8C-83A1-F6EECF244321}">
                <p14:modId xmlns:p14="http://schemas.microsoft.com/office/powerpoint/2010/main" val="2640385508"/>
              </p:ext>
            </p:extLst>
          </p:nvPr>
        </p:nvGraphicFramePr>
        <p:xfrm>
          <a:off x="2363179" y="1837979"/>
          <a:ext cx="4126520" cy="2103120"/>
        </p:xfrm>
        <a:graphic>
          <a:graphicData uri="http://schemas.openxmlformats.org/drawingml/2006/table">
            <a:tbl>
              <a:tblPr firstRow="1" bandRow="1">
                <a:tableStyleId>{5940675A-B579-460E-94D1-54222C63F5DA}</a:tableStyleId>
              </a:tblPr>
              <a:tblGrid>
                <a:gridCol w="825304">
                  <a:extLst>
                    <a:ext uri="{9D8B030D-6E8A-4147-A177-3AD203B41FA5}">
                      <a16:colId xmlns:a16="http://schemas.microsoft.com/office/drawing/2014/main" val="77165060"/>
                    </a:ext>
                  </a:extLst>
                </a:gridCol>
                <a:gridCol w="825304">
                  <a:extLst>
                    <a:ext uri="{9D8B030D-6E8A-4147-A177-3AD203B41FA5}">
                      <a16:colId xmlns:a16="http://schemas.microsoft.com/office/drawing/2014/main" val="427217293"/>
                    </a:ext>
                  </a:extLst>
                </a:gridCol>
                <a:gridCol w="825304">
                  <a:extLst>
                    <a:ext uri="{9D8B030D-6E8A-4147-A177-3AD203B41FA5}">
                      <a16:colId xmlns:a16="http://schemas.microsoft.com/office/drawing/2014/main" val="3017181967"/>
                    </a:ext>
                  </a:extLst>
                </a:gridCol>
                <a:gridCol w="825304">
                  <a:extLst>
                    <a:ext uri="{9D8B030D-6E8A-4147-A177-3AD203B41FA5}">
                      <a16:colId xmlns:a16="http://schemas.microsoft.com/office/drawing/2014/main" val="168944087"/>
                    </a:ext>
                  </a:extLst>
                </a:gridCol>
                <a:gridCol w="825304">
                  <a:extLst>
                    <a:ext uri="{9D8B030D-6E8A-4147-A177-3AD203B41FA5}">
                      <a16:colId xmlns:a16="http://schemas.microsoft.com/office/drawing/2014/main" val="337333249"/>
                    </a:ext>
                  </a:extLst>
                </a:gridCol>
              </a:tblGrid>
              <a:tr h="450030">
                <a:tc>
                  <a:txBody>
                    <a:bodyPr/>
                    <a:lstStyle/>
                    <a:p>
                      <a:r>
                        <a:rPr lang="en-US" altLang="zh-CN" sz="2800" dirty="0">
                          <a:ln>
                            <a:solidFill>
                              <a:srgbClr val="7030A0"/>
                            </a:solidFill>
                          </a:ln>
                          <a:solidFill>
                            <a:srgbClr val="FF0000"/>
                          </a:solidFill>
                        </a:rPr>
                        <a:t>·</a:t>
                      </a:r>
                      <a:endParaRPr lang="zh-CN" altLang="en-US" sz="2800" dirty="0">
                        <a:ln>
                          <a:solidFill>
                            <a:srgbClr val="7030A0"/>
                          </a:solidFill>
                        </a:ln>
                        <a:solidFill>
                          <a:srgbClr val="FF0000"/>
                        </a:solidFill>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e</a:t>
                      </a:r>
                      <a:endParaRPr lang="zh-CN" altLang="en-US" sz="2000" i="1" dirty="0">
                        <a:ln>
                          <a:solidFill>
                            <a:srgbClr val="7030A0"/>
                          </a:solidFill>
                        </a:ln>
                        <a:solidFill>
                          <a:schemeClr val="tx1"/>
                        </a:solidFill>
                        <a:latin typeface="Trebuchet MS" panose="020B0603020202020204" pitchFamily="34" charset="0"/>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a</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b</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c</a:t>
                      </a:r>
                      <a:endParaRPr lang="zh-CN" altLang="en-US" sz="2000" dirty="0">
                        <a:ln>
                          <a:solidFill>
                            <a:srgbClr val="7030A0"/>
                          </a:solidFill>
                        </a:ln>
                      </a:endParaRPr>
                    </a:p>
                  </a:txBody>
                  <a:tcPr anchor="ctr" anchorCtr="1"/>
                </a:tc>
                <a:extLst>
                  <a:ext uri="{0D108BD9-81ED-4DB2-BD59-A6C34878D82A}">
                    <a16:rowId xmlns:a16="http://schemas.microsoft.com/office/drawing/2014/main" val="2384836483"/>
                  </a:ext>
                </a:extLst>
              </a:tr>
              <a:tr h="370840">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e</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e</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a</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b</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c</a:t>
                      </a:r>
                      <a:endParaRPr lang="zh-CN" altLang="en-US" sz="2000" dirty="0">
                        <a:ln>
                          <a:solidFill>
                            <a:srgbClr val="7030A0"/>
                          </a:solidFill>
                        </a:ln>
                      </a:endParaRPr>
                    </a:p>
                  </a:txBody>
                  <a:tcPr anchor="ctr" anchorCtr="1"/>
                </a:tc>
                <a:extLst>
                  <a:ext uri="{0D108BD9-81ED-4DB2-BD59-A6C34878D82A}">
                    <a16:rowId xmlns:a16="http://schemas.microsoft.com/office/drawing/2014/main" val="3632278722"/>
                  </a:ext>
                </a:extLst>
              </a:tr>
              <a:tr h="370840">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a</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a</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e</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c</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b</a:t>
                      </a:r>
                      <a:endParaRPr lang="zh-CN" altLang="en-US" sz="2000" dirty="0">
                        <a:ln>
                          <a:solidFill>
                            <a:srgbClr val="7030A0"/>
                          </a:solidFill>
                        </a:ln>
                      </a:endParaRPr>
                    </a:p>
                  </a:txBody>
                  <a:tcPr anchor="ctr" anchorCtr="1"/>
                </a:tc>
                <a:extLst>
                  <a:ext uri="{0D108BD9-81ED-4DB2-BD59-A6C34878D82A}">
                    <a16:rowId xmlns:a16="http://schemas.microsoft.com/office/drawing/2014/main" val="2246436052"/>
                  </a:ext>
                </a:extLst>
              </a:tr>
              <a:tr h="370840">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b</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b</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c</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e</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a</a:t>
                      </a:r>
                      <a:endParaRPr lang="zh-CN" altLang="en-US" sz="2000" dirty="0">
                        <a:ln>
                          <a:solidFill>
                            <a:srgbClr val="7030A0"/>
                          </a:solidFill>
                        </a:ln>
                      </a:endParaRPr>
                    </a:p>
                  </a:txBody>
                  <a:tcPr anchor="ctr" anchorCtr="1"/>
                </a:tc>
                <a:extLst>
                  <a:ext uri="{0D108BD9-81ED-4DB2-BD59-A6C34878D82A}">
                    <a16:rowId xmlns:a16="http://schemas.microsoft.com/office/drawing/2014/main" val="4131990586"/>
                  </a:ext>
                </a:extLst>
              </a:tr>
              <a:tr h="370840">
                <a:tc>
                  <a:txBody>
                    <a:bodyPr/>
                    <a:lstStyle/>
                    <a:p>
                      <a:r>
                        <a:rPr lang="en-US" altLang="zh-CN" sz="1800" b="1" i="1" dirty="0">
                          <a:solidFill>
                            <a:srgbClr val="0D0D0D"/>
                          </a:solidFill>
                          <a:latin typeface="Trebuchet MS" panose="020B0603020202020204" pitchFamily="34" charset="0"/>
                          <a:cs typeface="Times New Roman" panose="02020603050405020304" pitchFamily="18" charset="0"/>
                        </a:rPr>
                        <a:t>c</a:t>
                      </a:r>
                      <a:endParaRPr lang="zh-CN" altLang="en-US"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c</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b</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a</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e</a:t>
                      </a:r>
                      <a:endParaRPr lang="zh-CN" altLang="en-US" sz="2000" dirty="0">
                        <a:ln>
                          <a:solidFill>
                            <a:srgbClr val="7030A0"/>
                          </a:solidFill>
                        </a:ln>
                      </a:endParaRPr>
                    </a:p>
                  </a:txBody>
                  <a:tcPr anchor="ctr" anchorCtr="1"/>
                </a:tc>
                <a:extLst>
                  <a:ext uri="{0D108BD9-81ED-4DB2-BD59-A6C34878D82A}">
                    <a16:rowId xmlns:a16="http://schemas.microsoft.com/office/drawing/2014/main" val="1401644415"/>
                  </a:ext>
                </a:extLst>
              </a:tr>
            </a:tbl>
          </a:graphicData>
        </a:graphic>
      </p:graphicFrame>
      <p:graphicFrame>
        <p:nvGraphicFramePr>
          <p:cNvPr id="15" name="表格 14">
            <a:extLst>
              <a:ext uri="{FF2B5EF4-FFF2-40B4-BE49-F238E27FC236}">
                <a16:creationId xmlns:a16="http://schemas.microsoft.com/office/drawing/2014/main" id="{7C96A8FC-63EB-4A06-B0DF-629649D8DF0B}"/>
              </a:ext>
            </a:extLst>
          </p:cNvPr>
          <p:cNvGraphicFramePr>
            <a:graphicFrameLocks noGrp="1"/>
          </p:cNvGraphicFramePr>
          <p:nvPr>
            <p:extLst>
              <p:ext uri="{D42A27DB-BD31-4B8C-83A1-F6EECF244321}">
                <p14:modId xmlns:p14="http://schemas.microsoft.com/office/powerpoint/2010/main" val="2080139800"/>
              </p:ext>
            </p:extLst>
          </p:nvPr>
        </p:nvGraphicFramePr>
        <p:xfrm>
          <a:off x="3094307" y="4363938"/>
          <a:ext cx="4126520" cy="914400"/>
        </p:xfrm>
        <a:graphic>
          <a:graphicData uri="http://schemas.openxmlformats.org/drawingml/2006/table">
            <a:tbl>
              <a:tblPr firstRow="1" bandRow="1">
                <a:tableStyleId>{5940675A-B579-460E-94D1-54222C63F5DA}</a:tableStyleId>
              </a:tblPr>
              <a:tblGrid>
                <a:gridCol w="825304">
                  <a:extLst>
                    <a:ext uri="{9D8B030D-6E8A-4147-A177-3AD203B41FA5}">
                      <a16:colId xmlns:a16="http://schemas.microsoft.com/office/drawing/2014/main" val="77165060"/>
                    </a:ext>
                  </a:extLst>
                </a:gridCol>
                <a:gridCol w="825304">
                  <a:extLst>
                    <a:ext uri="{9D8B030D-6E8A-4147-A177-3AD203B41FA5}">
                      <a16:colId xmlns:a16="http://schemas.microsoft.com/office/drawing/2014/main" val="427217293"/>
                    </a:ext>
                  </a:extLst>
                </a:gridCol>
                <a:gridCol w="825304">
                  <a:extLst>
                    <a:ext uri="{9D8B030D-6E8A-4147-A177-3AD203B41FA5}">
                      <a16:colId xmlns:a16="http://schemas.microsoft.com/office/drawing/2014/main" val="3017181967"/>
                    </a:ext>
                  </a:extLst>
                </a:gridCol>
                <a:gridCol w="825304">
                  <a:extLst>
                    <a:ext uri="{9D8B030D-6E8A-4147-A177-3AD203B41FA5}">
                      <a16:colId xmlns:a16="http://schemas.microsoft.com/office/drawing/2014/main" val="168944087"/>
                    </a:ext>
                  </a:extLst>
                </a:gridCol>
                <a:gridCol w="825304">
                  <a:extLst>
                    <a:ext uri="{9D8B030D-6E8A-4147-A177-3AD203B41FA5}">
                      <a16:colId xmlns:a16="http://schemas.microsoft.com/office/drawing/2014/main" val="337333249"/>
                    </a:ext>
                  </a:extLst>
                </a:gridCol>
              </a:tblGrid>
              <a:tr h="0">
                <a:tc>
                  <a:txBody>
                    <a:bodyPr/>
                    <a:lstStyle/>
                    <a:p>
                      <a:r>
                        <a:rPr lang="en-US" altLang="zh-CN" sz="2800" dirty="0">
                          <a:ln>
                            <a:solidFill>
                              <a:srgbClr val="7030A0"/>
                            </a:solidFill>
                          </a:ln>
                          <a:solidFill>
                            <a:srgbClr val="FF0000"/>
                          </a:solidFill>
                        </a:rPr>
                        <a:t>·</a:t>
                      </a:r>
                      <a:endParaRPr lang="zh-CN" altLang="en-US" sz="2800" dirty="0">
                        <a:ln>
                          <a:solidFill>
                            <a:srgbClr val="7030A0"/>
                          </a:solidFill>
                        </a:ln>
                        <a:solidFill>
                          <a:srgbClr val="FF0000"/>
                        </a:solidFill>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e</a:t>
                      </a:r>
                      <a:endParaRPr lang="zh-CN" altLang="en-US" sz="2000" i="1" dirty="0">
                        <a:ln>
                          <a:solidFill>
                            <a:srgbClr val="7030A0"/>
                          </a:solidFill>
                        </a:ln>
                        <a:solidFill>
                          <a:schemeClr val="tx1"/>
                        </a:solidFill>
                        <a:latin typeface="Trebuchet MS" panose="020B0603020202020204" pitchFamily="34" charset="0"/>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a</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b</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c</a:t>
                      </a:r>
                      <a:endParaRPr lang="zh-CN" altLang="en-US" sz="2000" dirty="0">
                        <a:ln>
                          <a:solidFill>
                            <a:srgbClr val="7030A0"/>
                          </a:solidFill>
                        </a:ln>
                      </a:endParaRPr>
                    </a:p>
                  </a:txBody>
                  <a:tcPr anchor="ctr" anchorCtr="1"/>
                </a:tc>
                <a:extLst>
                  <a:ext uri="{0D108BD9-81ED-4DB2-BD59-A6C34878D82A}">
                    <a16:rowId xmlns:a16="http://schemas.microsoft.com/office/drawing/2014/main" val="2384836483"/>
                  </a:ext>
                </a:extLst>
              </a:tr>
              <a:tr h="370840">
                <a:tc>
                  <a:txBody>
                    <a:bodyPr/>
                    <a:lstStyle/>
                    <a:p>
                      <a:r>
                        <a:rPr lang="en-US" altLang="zh-CN" sz="2000" b="1" i="1" dirty="0" err="1">
                          <a:solidFill>
                            <a:srgbClr val="0D0D0D"/>
                          </a:solidFill>
                          <a:latin typeface="Trebuchet MS" panose="020B0603020202020204" pitchFamily="34" charset="0"/>
                          <a:cs typeface="Times New Roman" panose="02020603050405020304" pitchFamily="18" charset="0"/>
                        </a:rPr>
                        <a:t>a</a:t>
                      </a:r>
                      <a:r>
                        <a:rPr lang="en-US" altLang="zh-CN" sz="2000" dirty="0" err="1">
                          <a:ln>
                            <a:solidFill>
                              <a:srgbClr val="7030A0"/>
                            </a:solidFill>
                          </a:ln>
                          <a:solidFill>
                            <a:schemeClr val="tx1"/>
                          </a:solidFill>
                        </a:rPr>
                        <a:t>·</a:t>
                      </a:r>
                      <a:r>
                        <a:rPr lang="en-US" altLang="zh-CN" sz="2000" b="1" i="1" kern="1200" dirty="0" err="1">
                          <a:solidFill>
                            <a:srgbClr val="0D0D0D"/>
                          </a:solidFill>
                          <a:latin typeface="Trebuchet MS" panose="020B0603020202020204" pitchFamily="34" charset="0"/>
                          <a:ea typeface="+mn-ea"/>
                          <a:cs typeface="Times New Roman" panose="02020603050405020304" pitchFamily="18" charset="0"/>
                        </a:rPr>
                        <a:t>x</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a</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e</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c</a:t>
                      </a:r>
                      <a:endParaRPr lang="zh-CN" altLang="en-US" sz="2000" dirty="0">
                        <a:ln>
                          <a:solidFill>
                            <a:srgbClr val="7030A0"/>
                          </a:solidFill>
                        </a:ln>
                      </a:endParaRPr>
                    </a:p>
                  </a:txBody>
                  <a:tcPr anchor="ctr" anchorCtr="1"/>
                </a:tc>
                <a:tc>
                  <a:txBody>
                    <a:bodyPr/>
                    <a:lstStyle/>
                    <a:p>
                      <a:r>
                        <a:rPr lang="en-US" altLang="zh-CN" sz="2000" b="1" i="1" dirty="0">
                          <a:solidFill>
                            <a:srgbClr val="0D0D0D"/>
                          </a:solidFill>
                          <a:latin typeface="Trebuchet MS" panose="020B0603020202020204" pitchFamily="34" charset="0"/>
                          <a:cs typeface="Times New Roman" panose="02020603050405020304" pitchFamily="18" charset="0"/>
                        </a:rPr>
                        <a:t>b</a:t>
                      </a:r>
                      <a:endParaRPr lang="zh-CN" altLang="en-US" sz="2000" dirty="0">
                        <a:ln>
                          <a:solidFill>
                            <a:srgbClr val="7030A0"/>
                          </a:solidFill>
                        </a:ln>
                      </a:endParaRPr>
                    </a:p>
                  </a:txBody>
                  <a:tcPr anchor="ctr" anchorCtr="1"/>
                </a:tc>
                <a:extLst>
                  <a:ext uri="{0D108BD9-81ED-4DB2-BD59-A6C34878D82A}">
                    <a16:rowId xmlns:a16="http://schemas.microsoft.com/office/drawing/2014/main" val="2246436052"/>
                  </a:ext>
                </a:extLst>
              </a:tr>
            </a:tbl>
          </a:graphicData>
        </a:graphic>
      </p:graphicFrame>
    </p:spTree>
    <p:extLst>
      <p:ext uri="{BB962C8B-B14F-4D97-AF65-F5344CB8AC3E}">
        <p14:creationId xmlns:p14="http://schemas.microsoft.com/office/powerpoint/2010/main" val="3427226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6" end="6"/>
                                            </p:txEl>
                                          </p:spTgt>
                                        </p:tgtEl>
                                        <p:attrNameLst>
                                          <p:attrName>style.visibility</p:attrName>
                                        </p:attrNameLst>
                                      </p:cBhvr>
                                      <p:to>
                                        <p:strVal val="visible"/>
                                      </p:to>
                                    </p:set>
                                    <p:animEffect transition="in" filter="fade">
                                      <p:cBhvr>
                                        <p:cTn id="7" dur="1000"/>
                                        <p:tgtEl>
                                          <p:spTgt spid="17">
                                            <p:txEl>
                                              <p:pRg st="6" end="6"/>
                                            </p:txEl>
                                          </p:spTgt>
                                        </p:tgtEl>
                                      </p:cBhvr>
                                    </p:animEffect>
                                    <p:anim calcmode="lin" valueType="num">
                                      <p:cBhvr>
                                        <p:cTn id="8" dur="1000" fill="hold"/>
                                        <p:tgtEl>
                                          <p:spTgt spid="17">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7">
                                            <p:txEl>
                                              <p:pRg st="9" end="9"/>
                                            </p:txEl>
                                          </p:spTgt>
                                        </p:tgtEl>
                                        <p:attrNameLst>
                                          <p:attrName>style.visibility</p:attrName>
                                        </p:attrNameLst>
                                      </p:cBhvr>
                                      <p:to>
                                        <p:strVal val="visible"/>
                                      </p:to>
                                    </p:set>
                                    <p:animEffect transition="in" filter="fade">
                                      <p:cBhvr>
                                        <p:cTn id="19" dur="1000"/>
                                        <p:tgtEl>
                                          <p:spTgt spid="17">
                                            <p:txEl>
                                              <p:pRg st="9" end="9"/>
                                            </p:txEl>
                                          </p:spTgt>
                                        </p:tgtEl>
                                      </p:cBhvr>
                                    </p:animEffect>
                                    <p:anim calcmode="lin" valueType="num">
                                      <p:cBhvr>
                                        <p:cTn id="20" dur="1000" fill="hold"/>
                                        <p:tgtEl>
                                          <p:spTgt spid="17">
                                            <p:txEl>
                                              <p:pRg st="9" end="9"/>
                                            </p:txEl>
                                          </p:spTgt>
                                        </p:tgtEl>
                                        <p:attrNameLst>
                                          <p:attrName>ppt_x</p:attrName>
                                        </p:attrNameLst>
                                      </p:cBhvr>
                                      <p:tavLst>
                                        <p:tav tm="0">
                                          <p:val>
                                            <p:strVal val="#ppt_x"/>
                                          </p:val>
                                        </p:tav>
                                        <p:tav tm="100000">
                                          <p:val>
                                            <p:strVal val="#ppt_x"/>
                                          </p:val>
                                        </p:tav>
                                      </p:tavLst>
                                    </p:anim>
                                    <p:anim calcmode="lin" valueType="num">
                                      <p:cBhvr>
                                        <p:cTn id="21" dur="1000" fill="hold"/>
                                        <p:tgtEl>
                                          <p:spTgt spid="1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9.3.2 Groups</a:t>
            </a:r>
            <a:endParaRPr lang="en-US" altLang="zh-CN" b="1" dirty="0">
              <a:latin typeface="Trebuchet MS" panose="020B0603020202020204" pitchFamily="34"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Permutation Property of Finite Group Operation Tables</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23256" y="903512"/>
            <a:ext cx="10057493" cy="48749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Theorem 9.6: </a:t>
            </a:r>
            <a:r>
              <a:rPr lang="en-US" sz="2400" dirty="0">
                <a:latin typeface="Trebuchet MS" panose="020B0603020202020204" pitchFamily="34" charset="0"/>
              </a:rPr>
              <a:t>Let </a:t>
            </a:r>
            <a:r>
              <a:rPr lang="en-US" altLang="zh-CN" sz="2400" b="1" i="1" dirty="0">
                <a:latin typeface="Trebuchet MS" panose="020B0603020202020204" pitchFamily="34" charset="0"/>
              </a:rPr>
              <a:t>G</a:t>
            </a:r>
            <a:r>
              <a:rPr lang="en-US" sz="2400" dirty="0">
                <a:latin typeface="Trebuchet MS" panose="020B0603020202020204" pitchFamily="34" charset="0"/>
              </a:rPr>
              <a:t> be a finite group. Then in the </a:t>
            </a:r>
            <a:r>
              <a:rPr lang="en-US" sz="2400" b="1" i="1" dirty="0">
                <a:solidFill>
                  <a:srgbClr val="0B61FF"/>
                </a:solidFill>
                <a:latin typeface="Trebuchet MS" panose="020B0603020202020204" pitchFamily="34" charset="0"/>
              </a:rPr>
              <a:t>operation table </a:t>
            </a:r>
            <a:r>
              <a:rPr lang="en-US" sz="2400" dirty="0">
                <a:latin typeface="Trebuchet MS" panose="020B0603020202020204" pitchFamily="34" charset="0"/>
              </a:rPr>
              <a:t>of </a:t>
            </a:r>
            <a:r>
              <a:rPr lang="en-US" altLang="zh-CN" sz="2400" b="1" i="1" dirty="0">
                <a:latin typeface="Trebuchet MS" panose="020B0603020202020204" pitchFamily="34" charset="0"/>
              </a:rPr>
              <a:t>G</a:t>
            </a:r>
            <a:r>
              <a:rPr lang="en-US" sz="2400" dirty="0">
                <a:latin typeface="Trebuchet MS" panose="020B0603020202020204" pitchFamily="34" charset="0"/>
              </a:rPr>
              <a:t>, each row and each column is a </a:t>
            </a:r>
            <a:r>
              <a:rPr lang="en-US" sz="2400" b="1" i="1" dirty="0">
                <a:solidFill>
                  <a:srgbClr val="0B61FF"/>
                </a:solidFill>
                <a:latin typeface="Trebuchet MS" panose="020B0603020202020204" pitchFamily="34" charset="0"/>
              </a:rPr>
              <a:t>complete permutation </a:t>
            </a:r>
            <a:r>
              <a:rPr lang="en-US" sz="2400" dirty="0">
                <a:latin typeface="Trebuchet MS" panose="020B0603020202020204" pitchFamily="34" charset="0"/>
              </a:rPr>
              <a:t>of the elements of </a:t>
            </a:r>
            <a:r>
              <a:rPr lang="en-US" altLang="zh-CN" sz="2400" b="1" i="1" dirty="0">
                <a:latin typeface="Trebuchet MS" panose="020B0603020202020204" pitchFamily="34" charset="0"/>
              </a:rPr>
              <a:t>G</a:t>
            </a:r>
            <a:r>
              <a:rPr lang="en-US" sz="2400" dirty="0">
                <a:latin typeface="Trebuchet MS" panose="020B0603020202020204" pitchFamily="34" charset="0"/>
              </a:rPr>
              <a:t>, and the permutations in different rows (or columns) are all distinct.</a:t>
            </a:r>
          </a:p>
          <a:p>
            <a:pPr eaLnBrk="1" hangingPunct="1">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Note: </a:t>
            </a:r>
          </a:p>
          <a:p>
            <a:pPr marL="628650" indent="-361950" eaLnBrk="1" hangingPunct="1">
              <a:lnSpc>
                <a:spcPct val="120000"/>
              </a:lnSpc>
              <a:spcBef>
                <a:spcPts val="600"/>
              </a:spcBef>
              <a:buClr>
                <a:srgbClr val="0B61FF"/>
              </a:buClr>
              <a:buSzPct val="80000"/>
              <a:buNone/>
            </a:pPr>
            <a:r>
              <a:rPr lang="en-US" sz="2400" b="1" dirty="0">
                <a:solidFill>
                  <a:srgbClr val="0B61FF"/>
                </a:solidFill>
                <a:latin typeface="Trebuchet MS" panose="020B0603020202020204" pitchFamily="34" charset="0"/>
              </a:rPr>
              <a:t>①</a:t>
            </a:r>
            <a:r>
              <a:rPr lang="en-US" sz="2400" dirty="0">
                <a:latin typeface="Trebuchet MS" panose="020B0603020202020204" pitchFamily="34" charset="0"/>
              </a:rPr>
              <a:t> Only the </a:t>
            </a:r>
            <a:r>
              <a:rPr lang="en-US" sz="2400" b="1" i="1" dirty="0">
                <a:solidFill>
                  <a:srgbClr val="0B61FF"/>
                </a:solidFill>
                <a:latin typeface="Trebuchet MS" panose="020B0603020202020204" pitchFamily="34" charset="0"/>
              </a:rPr>
              <a:t>three conditions </a:t>
            </a:r>
            <a:r>
              <a:rPr lang="en-US" sz="2400" dirty="0">
                <a:latin typeface="Trebuchet MS" panose="020B0603020202020204" pitchFamily="34" charset="0"/>
              </a:rPr>
              <a:t>of closure, identity element, and inverses among the four group axioms are necessary to guarantee this result.</a:t>
            </a:r>
          </a:p>
          <a:p>
            <a:pPr marL="628650" indent="-361950" eaLnBrk="1" hangingPunct="1">
              <a:lnSpc>
                <a:spcPct val="120000"/>
              </a:lnSpc>
              <a:spcBef>
                <a:spcPts val="600"/>
              </a:spcBef>
              <a:buClr>
                <a:srgbClr val="0B61FF"/>
              </a:buClr>
              <a:buSzPct val="80000"/>
              <a:buNone/>
            </a:pPr>
            <a:r>
              <a:rPr lang="en-US" sz="2400" b="1" dirty="0">
                <a:solidFill>
                  <a:srgbClr val="0B61FF"/>
                </a:solidFill>
                <a:latin typeface="Trebuchet MS" panose="020B0603020202020204" pitchFamily="34" charset="0"/>
              </a:rPr>
              <a:t>② </a:t>
            </a:r>
            <a:r>
              <a:rPr lang="en-US" sz="2400" dirty="0">
                <a:latin typeface="Trebuchet MS" panose="020B0603020202020204" pitchFamily="34" charset="0"/>
              </a:rPr>
              <a:t>The </a:t>
            </a:r>
            <a:r>
              <a:rPr lang="en-US" sz="2400" b="1" i="1" dirty="0">
                <a:solidFill>
                  <a:srgbClr val="0B61FF"/>
                </a:solidFill>
                <a:latin typeface="Trebuchet MS" panose="020B0603020202020204" pitchFamily="34" charset="0"/>
              </a:rPr>
              <a:t>associative law </a:t>
            </a:r>
            <a:r>
              <a:rPr lang="en-US" sz="2400" dirty="0">
                <a:latin typeface="Trebuchet MS" panose="020B0603020202020204" pitchFamily="34" charset="0"/>
              </a:rPr>
              <a:t>is a property concerning ternary operations, and it cannot be directly reflected in the binary operation table.</a:t>
            </a:r>
            <a:endParaRPr lang="en-US" altLang="zh-CN" sz="2400" b="1" dirty="0">
              <a:latin typeface="Trebuchet MS" panose="020B0603020202020204" pitchFamily="34" charset="0"/>
            </a:endParaRPr>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832812"/>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9" name="Rectangle 3">
            <a:extLst>
              <a:ext uri="{FF2B5EF4-FFF2-40B4-BE49-F238E27FC236}">
                <a16:creationId xmlns:a16="http://schemas.microsoft.com/office/drawing/2014/main" id="{990FB8C9-6A28-4CAD-94A3-E6C01C00C453}"/>
              </a:ext>
            </a:extLst>
          </p:cNvPr>
          <p:cNvSpPr txBox="1">
            <a:spLocks noChangeArrowheads="1"/>
          </p:cNvSpPr>
          <p:nvPr/>
        </p:nvSpPr>
        <p:spPr>
          <a:xfrm>
            <a:off x="724303" y="3843693"/>
            <a:ext cx="9877336" cy="12032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Tree>
    <p:extLst>
      <p:ext uri="{BB962C8B-B14F-4D97-AF65-F5344CB8AC3E}">
        <p14:creationId xmlns:p14="http://schemas.microsoft.com/office/powerpoint/2010/main" val="3214149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fade">
                                      <p:cBhvr>
                                        <p:cTn id="11" dur="1000"/>
                                        <p:tgtEl>
                                          <p:spTgt spid="8">
                                            <p:txEl>
                                              <p:pRg st="1" end="1"/>
                                            </p:txEl>
                                          </p:spTgt>
                                        </p:tgtEl>
                                      </p:cBhvr>
                                    </p:animEffect>
                                    <p:anim calcmode="lin" valueType="num">
                                      <p:cBhvr>
                                        <p:cTn id="12"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3"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fade">
                                      <p:cBhvr>
                                        <p:cTn id="16" dur="1000"/>
                                        <p:tgtEl>
                                          <p:spTgt spid="8">
                                            <p:txEl>
                                              <p:pRg st="2" end="2"/>
                                            </p:txEl>
                                          </p:spTgt>
                                        </p:tgtEl>
                                      </p:cBhvr>
                                    </p:animEffect>
                                    <p:anim calcmode="lin" valueType="num">
                                      <p:cBhvr>
                                        <p:cTn id="17"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8"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1000"/>
                                        <p:tgtEl>
                                          <p:spTgt spid="8">
                                            <p:txEl>
                                              <p:pRg st="3" end="3"/>
                                            </p:txEl>
                                          </p:spTgt>
                                        </p:tgtEl>
                                      </p:cBhvr>
                                    </p:animEffect>
                                    <p:anim calcmode="lin" valueType="num">
                                      <p:cBhvr>
                                        <p:cTn id="24"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9.3.2 Groups</a:t>
            </a:r>
            <a:endParaRPr lang="en-US" altLang="zh-CN" b="1" dirty="0">
              <a:latin typeface="Trebuchet MS" panose="020B0603020202020204" pitchFamily="34"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Checking Group Conditions Using the Operation Table(</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832812"/>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9" name="Rectangle 3">
            <a:extLst>
              <a:ext uri="{FF2B5EF4-FFF2-40B4-BE49-F238E27FC236}">
                <a16:creationId xmlns:a16="http://schemas.microsoft.com/office/drawing/2014/main" id="{990FB8C9-6A28-4CAD-94A3-E6C01C00C453}"/>
              </a:ext>
            </a:extLst>
          </p:cNvPr>
          <p:cNvSpPr txBox="1">
            <a:spLocks noChangeArrowheads="1"/>
          </p:cNvSpPr>
          <p:nvPr/>
        </p:nvSpPr>
        <p:spPr>
          <a:xfrm>
            <a:off x="1000125" y="1137103"/>
            <a:ext cx="9877336" cy="12032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lang="en-US" sz="2400" dirty="0">
                <a:latin typeface="Trebuchet MS" panose="020B0603020202020204" pitchFamily="34" charset="0"/>
              </a:rPr>
              <a:t> Analyze the following operation table and determine whether it satisfies the necessary conditions of a group.</a:t>
            </a:r>
          </a:p>
          <a:p>
            <a:pPr marL="609600" indent="-609600" eaLnBrk="1" hangingPunct="1">
              <a:lnSpc>
                <a:spcPct val="90000"/>
              </a:lnSpc>
              <a:buFontTx/>
              <a:buNone/>
            </a:pPr>
            <a:endParaRPr lang="en-US" altLang="zh-CN" b="1" dirty="0"/>
          </a:p>
        </p:txBody>
      </p:sp>
      <p:graphicFrame>
        <p:nvGraphicFramePr>
          <p:cNvPr id="17" name="表格 16">
            <a:extLst>
              <a:ext uri="{FF2B5EF4-FFF2-40B4-BE49-F238E27FC236}">
                <a16:creationId xmlns:a16="http://schemas.microsoft.com/office/drawing/2014/main" id="{C7DFE271-336E-4B2D-B86F-1B7E1DE6CBFA}"/>
              </a:ext>
            </a:extLst>
          </p:cNvPr>
          <p:cNvGraphicFramePr>
            <a:graphicFrameLocks noGrp="1"/>
          </p:cNvGraphicFramePr>
          <p:nvPr>
            <p:extLst>
              <p:ext uri="{D42A27DB-BD31-4B8C-83A1-F6EECF244321}">
                <p14:modId xmlns:p14="http://schemas.microsoft.com/office/powerpoint/2010/main" val="3278202321"/>
              </p:ext>
            </p:extLst>
          </p:nvPr>
        </p:nvGraphicFramePr>
        <p:xfrm>
          <a:off x="7026798" y="2745340"/>
          <a:ext cx="2296360" cy="1828800"/>
        </p:xfrm>
        <a:graphic>
          <a:graphicData uri="http://schemas.openxmlformats.org/drawingml/2006/table">
            <a:tbl>
              <a:tblPr firstRow="1" firstCol="1" bandRow="1">
                <a:tableStyleId>{5C22544A-7EE6-4342-B048-85BDC9FD1C3A}</a:tableStyleId>
              </a:tblPr>
              <a:tblGrid>
                <a:gridCol w="574090">
                  <a:extLst>
                    <a:ext uri="{9D8B030D-6E8A-4147-A177-3AD203B41FA5}">
                      <a16:colId xmlns:a16="http://schemas.microsoft.com/office/drawing/2014/main" val="472818237"/>
                    </a:ext>
                  </a:extLst>
                </a:gridCol>
                <a:gridCol w="574090">
                  <a:extLst>
                    <a:ext uri="{9D8B030D-6E8A-4147-A177-3AD203B41FA5}">
                      <a16:colId xmlns:a16="http://schemas.microsoft.com/office/drawing/2014/main" val="887715237"/>
                    </a:ext>
                  </a:extLst>
                </a:gridCol>
                <a:gridCol w="574090">
                  <a:extLst>
                    <a:ext uri="{9D8B030D-6E8A-4147-A177-3AD203B41FA5}">
                      <a16:colId xmlns:a16="http://schemas.microsoft.com/office/drawing/2014/main" val="1100459409"/>
                    </a:ext>
                  </a:extLst>
                </a:gridCol>
                <a:gridCol w="574090">
                  <a:extLst>
                    <a:ext uri="{9D8B030D-6E8A-4147-A177-3AD203B41FA5}">
                      <a16:colId xmlns:a16="http://schemas.microsoft.com/office/drawing/2014/main" val="2287470781"/>
                    </a:ext>
                  </a:extLst>
                </a:gridCol>
              </a:tblGrid>
              <a:tr h="457200">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 </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a</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b</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c</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926352"/>
                  </a:ext>
                </a:extLst>
              </a:tr>
              <a:tr h="457200">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a</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indent="127000" algn="ctr"/>
                      <a:r>
                        <a:rPr lang="en-US" sz="2400" b="1" i="1" kern="100" dirty="0">
                          <a:solidFill>
                            <a:srgbClr val="FF0000"/>
                          </a:solidFill>
                          <a:effectLst/>
                          <a:latin typeface="Times New Roman" panose="02020603050405020304" pitchFamily="18" charset="0"/>
                          <a:cs typeface="Times New Roman" panose="02020603050405020304" pitchFamily="18" charset="0"/>
                        </a:rPr>
                        <a:t>b</a:t>
                      </a:r>
                      <a:endParaRPr lang="zh-CN" sz="24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indent="127000" algn="ctr"/>
                      <a:r>
                        <a:rPr lang="en-US" sz="2400" b="1" i="1" kern="100" dirty="0">
                          <a:solidFill>
                            <a:srgbClr val="FF0000"/>
                          </a:solidFill>
                          <a:effectLst/>
                          <a:latin typeface="Times New Roman" panose="02020603050405020304" pitchFamily="18" charset="0"/>
                          <a:cs typeface="Times New Roman" panose="02020603050405020304" pitchFamily="18" charset="0"/>
                        </a:rPr>
                        <a:t>c</a:t>
                      </a:r>
                      <a:endParaRPr lang="zh-CN" sz="24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9050" cap="flat" cmpd="sng" algn="ctr">
                      <a:solidFill>
                        <a:schemeClr val="tx1"/>
                      </a:solidFill>
                      <a:prstDash val="solid"/>
                      <a:round/>
                      <a:headEnd type="none" w="med" len="med"/>
                      <a:tailEnd type="none" w="med" len="med"/>
                    </a:lnT>
                    <a:noFill/>
                  </a:tcPr>
                </a:tc>
                <a:tc>
                  <a:txBody>
                    <a:bodyPr/>
                    <a:lstStyle/>
                    <a:p>
                      <a:pPr indent="127000" algn="ctr"/>
                      <a:r>
                        <a:rPr lang="en-US" sz="2400" b="1" i="1" kern="100" dirty="0">
                          <a:solidFill>
                            <a:srgbClr val="FF0000"/>
                          </a:solidFill>
                          <a:effectLst/>
                          <a:latin typeface="Times New Roman" panose="02020603050405020304" pitchFamily="18" charset="0"/>
                          <a:cs typeface="Times New Roman" panose="02020603050405020304" pitchFamily="18" charset="0"/>
                        </a:rPr>
                        <a:t>a</a:t>
                      </a:r>
                      <a:endParaRPr lang="zh-CN" sz="24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313642292"/>
                  </a:ext>
                </a:extLst>
              </a:tr>
              <a:tr h="457200">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b</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indent="127000" algn="ctr"/>
                      <a:r>
                        <a:rPr lang="en-US" sz="2400" b="1" i="1" kern="100" dirty="0">
                          <a:solidFill>
                            <a:srgbClr val="FF0000"/>
                          </a:solidFill>
                          <a:effectLst/>
                          <a:latin typeface="Times New Roman" panose="02020603050405020304" pitchFamily="18" charset="0"/>
                          <a:cs typeface="Times New Roman" panose="02020603050405020304" pitchFamily="18" charset="0"/>
                        </a:rPr>
                        <a:t>c</a:t>
                      </a:r>
                      <a:endParaRPr lang="zh-CN" sz="24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a</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b</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628665864"/>
                  </a:ext>
                </a:extLst>
              </a:tr>
              <a:tr h="457200">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c</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noFill/>
                  </a:tcPr>
                </a:tc>
                <a:tc>
                  <a:txBody>
                    <a:bodyPr/>
                    <a:lstStyle/>
                    <a:p>
                      <a:pPr indent="127000" algn="ctr"/>
                      <a:r>
                        <a:rPr lang="en-US" sz="2400" b="1" i="1" kern="100" dirty="0">
                          <a:solidFill>
                            <a:srgbClr val="FF0000"/>
                          </a:solidFill>
                          <a:effectLst/>
                          <a:latin typeface="Times New Roman" panose="02020603050405020304" pitchFamily="18" charset="0"/>
                          <a:cs typeface="Times New Roman" panose="02020603050405020304" pitchFamily="18" charset="0"/>
                        </a:rPr>
                        <a:t>a</a:t>
                      </a:r>
                      <a:endParaRPr lang="zh-CN" sz="24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noFill/>
                  </a:tcPr>
                </a:tc>
                <a:tc>
                  <a:txBody>
                    <a:bodyPr/>
                    <a:lstStyle/>
                    <a:p>
                      <a:pPr indent="127000" algn="ctr"/>
                      <a:r>
                        <a:rPr lang="en-US" sz="2400" b="1" i="1" kern="100">
                          <a:effectLst/>
                          <a:latin typeface="Times New Roman" panose="02020603050405020304" pitchFamily="18" charset="0"/>
                          <a:cs typeface="Times New Roman" panose="02020603050405020304" pitchFamily="18" charset="0"/>
                        </a:rPr>
                        <a:t>b</a:t>
                      </a:r>
                      <a:endParaRPr lang="zh-CN" sz="2400" b="1" i="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28575" cap="flat" cmpd="sng" algn="ctr">
                      <a:solidFill>
                        <a:schemeClr val="tx1"/>
                      </a:solidFill>
                      <a:prstDash val="solid"/>
                      <a:round/>
                      <a:headEnd type="none" w="med" len="med"/>
                      <a:tailEnd type="none" w="med" len="med"/>
                    </a:lnB>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c</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9414522"/>
                  </a:ext>
                </a:extLst>
              </a:tr>
            </a:tbl>
          </a:graphicData>
        </a:graphic>
      </p:graphicFrame>
      <p:graphicFrame>
        <p:nvGraphicFramePr>
          <p:cNvPr id="25" name="表格 24">
            <a:extLst>
              <a:ext uri="{FF2B5EF4-FFF2-40B4-BE49-F238E27FC236}">
                <a16:creationId xmlns:a16="http://schemas.microsoft.com/office/drawing/2014/main" id="{64E9076E-3B1D-4DEF-A658-026180B279CA}"/>
              </a:ext>
            </a:extLst>
          </p:cNvPr>
          <p:cNvGraphicFramePr>
            <a:graphicFrameLocks noGrp="1"/>
          </p:cNvGraphicFramePr>
          <p:nvPr>
            <p:extLst>
              <p:ext uri="{D42A27DB-BD31-4B8C-83A1-F6EECF244321}">
                <p14:modId xmlns:p14="http://schemas.microsoft.com/office/powerpoint/2010/main" val="3224867584"/>
              </p:ext>
            </p:extLst>
          </p:nvPr>
        </p:nvGraphicFramePr>
        <p:xfrm>
          <a:off x="1434282" y="2745340"/>
          <a:ext cx="2175065" cy="1828800"/>
        </p:xfrm>
        <a:graphic>
          <a:graphicData uri="http://schemas.openxmlformats.org/drawingml/2006/table">
            <a:tbl>
              <a:tblPr firstRow="1" firstCol="1" bandRow="1">
                <a:tableStyleId>{5C22544A-7EE6-4342-B048-85BDC9FD1C3A}</a:tableStyleId>
              </a:tblPr>
              <a:tblGrid>
                <a:gridCol w="435013">
                  <a:extLst>
                    <a:ext uri="{9D8B030D-6E8A-4147-A177-3AD203B41FA5}">
                      <a16:colId xmlns:a16="http://schemas.microsoft.com/office/drawing/2014/main" val="472818237"/>
                    </a:ext>
                  </a:extLst>
                </a:gridCol>
                <a:gridCol w="435013">
                  <a:extLst>
                    <a:ext uri="{9D8B030D-6E8A-4147-A177-3AD203B41FA5}">
                      <a16:colId xmlns:a16="http://schemas.microsoft.com/office/drawing/2014/main" val="887715237"/>
                    </a:ext>
                  </a:extLst>
                </a:gridCol>
                <a:gridCol w="435013">
                  <a:extLst>
                    <a:ext uri="{9D8B030D-6E8A-4147-A177-3AD203B41FA5}">
                      <a16:colId xmlns:a16="http://schemas.microsoft.com/office/drawing/2014/main" val="1100459409"/>
                    </a:ext>
                  </a:extLst>
                </a:gridCol>
                <a:gridCol w="435013">
                  <a:extLst>
                    <a:ext uri="{9D8B030D-6E8A-4147-A177-3AD203B41FA5}">
                      <a16:colId xmlns:a16="http://schemas.microsoft.com/office/drawing/2014/main" val="2287470781"/>
                    </a:ext>
                  </a:extLst>
                </a:gridCol>
                <a:gridCol w="435013">
                  <a:extLst>
                    <a:ext uri="{9D8B030D-6E8A-4147-A177-3AD203B41FA5}">
                      <a16:colId xmlns:a16="http://schemas.microsoft.com/office/drawing/2014/main" val="2122199800"/>
                    </a:ext>
                  </a:extLst>
                </a:gridCol>
              </a:tblGrid>
              <a:tr h="334948">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 </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a</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b</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c</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alt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926352"/>
                  </a:ext>
                </a:extLst>
              </a:tr>
              <a:tr h="334948">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a</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indent="127000" algn="ctr"/>
                      <a:r>
                        <a:rPr lang="en-US" sz="2400" b="1" i="1" kern="100" dirty="0">
                          <a:solidFill>
                            <a:srgbClr val="FF0000"/>
                          </a:solidFill>
                          <a:effectLst/>
                          <a:latin typeface="Times New Roman" panose="02020603050405020304" pitchFamily="18" charset="0"/>
                          <a:cs typeface="Times New Roman" panose="02020603050405020304" pitchFamily="18" charset="0"/>
                        </a:rPr>
                        <a:t>b</a:t>
                      </a:r>
                      <a:endParaRPr lang="zh-CN" sz="24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c</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9050" cap="flat" cmpd="sng" algn="ctr">
                      <a:solidFill>
                        <a:schemeClr val="tx1"/>
                      </a:solidFill>
                      <a:prstDash val="solid"/>
                      <a:round/>
                      <a:headEnd type="none" w="med" len="med"/>
                      <a:tailEnd type="none" w="med" len="med"/>
                    </a:lnT>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d</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9050" cap="flat" cmpd="sng" algn="ctr">
                      <a:solidFill>
                        <a:schemeClr val="tx1"/>
                      </a:solidFill>
                      <a:prstDash val="solid"/>
                      <a:round/>
                      <a:headEnd type="none" w="med" len="med"/>
                      <a:tailEnd type="none" w="med" len="med"/>
                    </a:lnT>
                    <a:noFill/>
                  </a:tcPr>
                </a:tc>
                <a:tc>
                  <a:txBody>
                    <a:bodyPr/>
                    <a:lstStyle/>
                    <a:p>
                      <a:pPr marL="0" marR="0" lvl="0" indent="127000" algn="ctr" defTabSz="914400" rtl="0" eaLnBrk="1" fontAlgn="auto" latinLnBrk="0" hangingPunct="1">
                        <a:lnSpc>
                          <a:spcPct val="100000"/>
                        </a:lnSpc>
                        <a:spcBef>
                          <a:spcPts val="0"/>
                        </a:spcBef>
                        <a:spcAft>
                          <a:spcPts val="0"/>
                        </a:spcAft>
                        <a:buClrTx/>
                        <a:buSzTx/>
                        <a:buFontTx/>
                        <a:buNone/>
                        <a:tabLst/>
                        <a:defRPr/>
                      </a:pPr>
                      <a:r>
                        <a:rPr lang="en-US" altLang="zh-CN" sz="2400" b="1" i="1" kern="100" dirty="0">
                          <a:effectLst/>
                          <a:latin typeface="Times New Roman" panose="02020603050405020304" pitchFamily="18" charset="0"/>
                          <a:cs typeface="Times New Roman" panose="02020603050405020304" pitchFamily="18" charset="0"/>
                        </a:rPr>
                        <a:t>a</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313642292"/>
                  </a:ext>
                </a:extLst>
              </a:tr>
              <a:tr h="334948">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b</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indent="127000" algn="ctr"/>
                      <a:r>
                        <a:rPr lang="en-US" sz="2400" b="1" i="1" kern="100" dirty="0">
                          <a:solidFill>
                            <a:srgbClr val="FF0000"/>
                          </a:solidFill>
                          <a:effectLst/>
                          <a:latin typeface="Times New Roman" panose="02020603050405020304" pitchFamily="18" charset="0"/>
                          <a:cs typeface="Times New Roman" panose="02020603050405020304" pitchFamily="18" charset="0"/>
                        </a:rPr>
                        <a:t>b</a:t>
                      </a:r>
                      <a:endParaRPr lang="zh-CN" sz="2400" b="1" i="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a</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c</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d</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628665864"/>
                  </a:ext>
                </a:extLst>
              </a:tr>
              <a:tr h="334948">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c</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c</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d</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b</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a</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799414522"/>
                  </a:ext>
                </a:extLst>
              </a:tr>
              <a:tr h="334948">
                <a:tc>
                  <a:txBody>
                    <a:bodyPr/>
                    <a:lstStyle/>
                    <a:p>
                      <a:pPr indent="127000" algn="ctr"/>
                      <a:r>
                        <a:rPr lang="en-US" alt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d</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b</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28575" cap="flat" cmpd="sng" algn="ctr">
                      <a:solidFill>
                        <a:schemeClr val="tx1"/>
                      </a:solidFill>
                      <a:prstDash val="solid"/>
                      <a:round/>
                      <a:headEnd type="none" w="med" len="med"/>
                      <a:tailEnd type="none" w="med" len="med"/>
                    </a:lnB>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a</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28575" cap="flat" cmpd="sng" algn="ctr">
                      <a:solidFill>
                        <a:schemeClr val="tx1"/>
                      </a:solidFill>
                      <a:prstDash val="solid"/>
                      <a:round/>
                      <a:headEnd type="none" w="med" len="med"/>
                      <a:tailEnd type="none" w="med" len="med"/>
                    </a:lnB>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c</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4702850"/>
                  </a:ext>
                </a:extLst>
              </a:tr>
            </a:tbl>
          </a:graphicData>
        </a:graphic>
      </p:graphicFrame>
      <p:graphicFrame>
        <p:nvGraphicFramePr>
          <p:cNvPr id="26" name="表格 25">
            <a:extLst>
              <a:ext uri="{FF2B5EF4-FFF2-40B4-BE49-F238E27FC236}">
                <a16:creationId xmlns:a16="http://schemas.microsoft.com/office/drawing/2014/main" id="{A5349843-0FA9-480D-9609-3D0577570A6B}"/>
              </a:ext>
            </a:extLst>
          </p:cNvPr>
          <p:cNvGraphicFramePr>
            <a:graphicFrameLocks noGrp="1"/>
          </p:cNvGraphicFramePr>
          <p:nvPr>
            <p:extLst>
              <p:ext uri="{D42A27DB-BD31-4B8C-83A1-F6EECF244321}">
                <p14:modId xmlns:p14="http://schemas.microsoft.com/office/powerpoint/2010/main" val="339353461"/>
              </p:ext>
            </p:extLst>
          </p:nvPr>
        </p:nvGraphicFramePr>
        <p:xfrm>
          <a:off x="4193342" y="2745340"/>
          <a:ext cx="2296360" cy="1828800"/>
        </p:xfrm>
        <a:graphic>
          <a:graphicData uri="http://schemas.openxmlformats.org/drawingml/2006/table">
            <a:tbl>
              <a:tblPr firstRow="1" firstCol="1" bandRow="1">
                <a:tableStyleId>{5C22544A-7EE6-4342-B048-85BDC9FD1C3A}</a:tableStyleId>
              </a:tblPr>
              <a:tblGrid>
                <a:gridCol w="459272">
                  <a:extLst>
                    <a:ext uri="{9D8B030D-6E8A-4147-A177-3AD203B41FA5}">
                      <a16:colId xmlns:a16="http://schemas.microsoft.com/office/drawing/2014/main" val="472818237"/>
                    </a:ext>
                  </a:extLst>
                </a:gridCol>
                <a:gridCol w="459272">
                  <a:extLst>
                    <a:ext uri="{9D8B030D-6E8A-4147-A177-3AD203B41FA5}">
                      <a16:colId xmlns:a16="http://schemas.microsoft.com/office/drawing/2014/main" val="887715237"/>
                    </a:ext>
                  </a:extLst>
                </a:gridCol>
                <a:gridCol w="459272">
                  <a:extLst>
                    <a:ext uri="{9D8B030D-6E8A-4147-A177-3AD203B41FA5}">
                      <a16:colId xmlns:a16="http://schemas.microsoft.com/office/drawing/2014/main" val="1100459409"/>
                    </a:ext>
                  </a:extLst>
                </a:gridCol>
                <a:gridCol w="459272">
                  <a:extLst>
                    <a:ext uri="{9D8B030D-6E8A-4147-A177-3AD203B41FA5}">
                      <a16:colId xmlns:a16="http://schemas.microsoft.com/office/drawing/2014/main" val="2287470781"/>
                    </a:ext>
                  </a:extLst>
                </a:gridCol>
                <a:gridCol w="459272">
                  <a:extLst>
                    <a:ext uri="{9D8B030D-6E8A-4147-A177-3AD203B41FA5}">
                      <a16:colId xmlns:a16="http://schemas.microsoft.com/office/drawing/2014/main" val="2122199800"/>
                    </a:ext>
                  </a:extLst>
                </a:gridCol>
              </a:tblGrid>
              <a:tr h="340751">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 </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a</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b</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c</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indent="127000" algn="ctr"/>
                      <a:r>
                        <a:rPr lang="en-US" alt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926352"/>
                  </a:ext>
                </a:extLst>
              </a:tr>
              <a:tr h="340751">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a</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a</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b</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9050" cap="flat" cmpd="sng" algn="ctr">
                      <a:solidFill>
                        <a:schemeClr val="tx1"/>
                      </a:solidFill>
                      <a:prstDash val="solid"/>
                      <a:round/>
                      <a:headEnd type="none" w="med" len="med"/>
                      <a:tailEnd type="none" w="med" len="med"/>
                    </a:lnT>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c</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9050" cap="flat" cmpd="sng" algn="ctr">
                      <a:solidFill>
                        <a:schemeClr val="tx1"/>
                      </a:solidFill>
                      <a:prstDash val="solid"/>
                      <a:round/>
                      <a:headEnd type="none" w="med" len="med"/>
                      <a:tailEnd type="none" w="med" len="med"/>
                    </a:lnT>
                    <a:noFill/>
                  </a:tcPr>
                </a:tc>
                <a:tc>
                  <a:txBody>
                    <a:bodyPr/>
                    <a:lstStyle/>
                    <a:p>
                      <a:pPr marL="0" marR="0" lvl="0" indent="127000" algn="ctr" defTabSz="914400" rtl="0" eaLnBrk="1" fontAlgn="auto" latinLnBrk="0" hangingPunct="1">
                        <a:lnSpc>
                          <a:spcPct val="100000"/>
                        </a:lnSpc>
                        <a:spcBef>
                          <a:spcPts val="0"/>
                        </a:spcBef>
                        <a:spcAft>
                          <a:spcPts val="0"/>
                        </a:spcAft>
                        <a:buClrTx/>
                        <a:buSzTx/>
                        <a:buFontTx/>
                        <a:buNone/>
                        <a:tabLst/>
                        <a:defRPr/>
                      </a:pPr>
                      <a:r>
                        <a:rPr lang="en-US" altLang="zh-CN" sz="2400" b="1" i="1" kern="100" dirty="0">
                          <a:effectLst/>
                          <a:latin typeface="Times New Roman" panose="02020603050405020304" pitchFamily="18" charset="0"/>
                          <a:cs typeface="Times New Roman" panose="02020603050405020304" pitchFamily="18" charset="0"/>
                        </a:rPr>
                        <a:t>d</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313642292"/>
                  </a:ext>
                </a:extLst>
              </a:tr>
              <a:tr h="340751">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b</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c</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d</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a</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b</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628665864"/>
                  </a:ext>
                </a:extLst>
              </a:tr>
              <a:tr h="340751">
                <a:tc>
                  <a:txBody>
                    <a:bodyPr/>
                    <a:lstStyle/>
                    <a:p>
                      <a:pPr indent="127000" algn="ctr"/>
                      <a:r>
                        <a:rPr lang="en-US" sz="2400" b="1" i="1" kern="100" dirty="0">
                          <a:solidFill>
                            <a:schemeClr val="tx1"/>
                          </a:solidFill>
                          <a:effectLst/>
                          <a:latin typeface="Times New Roman" panose="02020603050405020304" pitchFamily="18" charset="0"/>
                          <a:cs typeface="Times New Roman" panose="02020603050405020304" pitchFamily="18" charset="0"/>
                        </a:rPr>
                        <a:t>c</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b</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c</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oFill/>
                  </a:tcPr>
                </a:tc>
                <a:tc>
                  <a:txBody>
                    <a:bodyPr/>
                    <a:lstStyle/>
                    <a:p>
                      <a:pPr indent="127000" algn="ctr"/>
                      <a:r>
                        <a:rPr lang="en-US" sz="2400" b="1" i="1" kern="100" dirty="0">
                          <a:effectLst/>
                          <a:latin typeface="Times New Roman" panose="02020603050405020304" pitchFamily="18" charset="0"/>
                          <a:cs typeface="Times New Roman" panose="02020603050405020304" pitchFamily="18" charset="0"/>
                        </a:rPr>
                        <a:t>d</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a</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799414522"/>
                  </a:ext>
                </a:extLst>
              </a:tr>
              <a:tr h="340751">
                <a:tc>
                  <a:txBody>
                    <a:bodyPr/>
                    <a:lstStyle/>
                    <a:p>
                      <a:pPr indent="127000" algn="ctr"/>
                      <a:r>
                        <a:rPr lang="en-US" alt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lang="zh-CN" sz="24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d</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a</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28575" cap="flat" cmpd="sng" algn="ctr">
                      <a:solidFill>
                        <a:schemeClr val="tx1"/>
                      </a:solidFill>
                      <a:prstDash val="solid"/>
                      <a:round/>
                      <a:headEnd type="none" w="med" len="med"/>
                      <a:tailEnd type="none" w="med" len="med"/>
                    </a:lnB>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b</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28575" cap="flat" cmpd="sng" algn="ctr">
                      <a:solidFill>
                        <a:schemeClr val="tx1"/>
                      </a:solidFill>
                      <a:prstDash val="solid"/>
                      <a:round/>
                      <a:headEnd type="none" w="med" len="med"/>
                      <a:tailEnd type="none" w="med" len="med"/>
                    </a:lnB>
                    <a:noFill/>
                  </a:tcPr>
                </a:tc>
                <a:tc>
                  <a:txBody>
                    <a:bodyPr/>
                    <a:lstStyle/>
                    <a:p>
                      <a:pPr indent="127000" algn="ctr"/>
                      <a:r>
                        <a:rPr lang="en-US" altLang="zh-CN" sz="2400" b="1" i="1" kern="100" dirty="0">
                          <a:effectLst/>
                          <a:latin typeface="Times New Roman" panose="02020603050405020304" pitchFamily="18" charset="0"/>
                          <a:ea typeface="宋体" panose="02010600030101010101" pitchFamily="2" charset="-122"/>
                          <a:cs typeface="Times New Roman" panose="02020603050405020304" pitchFamily="18" charset="0"/>
                        </a:rPr>
                        <a:t>c</a:t>
                      </a:r>
                      <a:endParaRPr lang="zh-CN" sz="2400" b="1" i="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4702850"/>
                  </a:ext>
                </a:extLst>
              </a:tr>
            </a:tbl>
          </a:graphicData>
        </a:graphic>
      </p:graphicFrame>
      <p:sp>
        <p:nvSpPr>
          <p:cNvPr id="28" name="文本框 27">
            <a:extLst>
              <a:ext uri="{FF2B5EF4-FFF2-40B4-BE49-F238E27FC236}">
                <a16:creationId xmlns:a16="http://schemas.microsoft.com/office/drawing/2014/main" id="{3FD9E07C-B258-4150-A805-07A90C9781C7}"/>
              </a:ext>
            </a:extLst>
          </p:cNvPr>
          <p:cNvSpPr txBox="1"/>
          <p:nvPr/>
        </p:nvSpPr>
        <p:spPr>
          <a:xfrm>
            <a:off x="2263775" y="4692948"/>
            <a:ext cx="644525" cy="461665"/>
          </a:xfrm>
          <a:prstGeom prst="rect">
            <a:avLst/>
          </a:prstGeom>
          <a:noFill/>
        </p:spPr>
        <p:txBody>
          <a:bodyPr wrap="square">
            <a:spAutoFit/>
          </a:bodyPr>
          <a:lstStyle/>
          <a:p>
            <a:pPr algn="ctr"/>
            <a:r>
              <a:rPr lang="en-US" altLang="zh-CN" sz="2400" b="1" dirty="0"/>
              <a:t>(1)</a:t>
            </a:r>
            <a:endParaRPr lang="zh-CN" altLang="en-US" sz="2400" b="1" dirty="0"/>
          </a:p>
        </p:txBody>
      </p:sp>
      <p:sp>
        <p:nvSpPr>
          <p:cNvPr id="29" name="文本框 28">
            <a:extLst>
              <a:ext uri="{FF2B5EF4-FFF2-40B4-BE49-F238E27FC236}">
                <a16:creationId xmlns:a16="http://schemas.microsoft.com/office/drawing/2014/main" id="{F539B40C-C982-4662-9FEC-5D7ADF98ABC2}"/>
              </a:ext>
            </a:extLst>
          </p:cNvPr>
          <p:cNvSpPr txBox="1"/>
          <p:nvPr/>
        </p:nvSpPr>
        <p:spPr>
          <a:xfrm>
            <a:off x="5106767" y="4692948"/>
            <a:ext cx="644525" cy="461665"/>
          </a:xfrm>
          <a:prstGeom prst="rect">
            <a:avLst/>
          </a:prstGeom>
          <a:noFill/>
        </p:spPr>
        <p:txBody>
          <a:bodyPr wrap="square">
            <a:spAutoFit/>
          </a:bodyPr>
          <a:lstStyle/>
          <a:p>
            <a:pPr algn="ctr"/>
            <a:r>
              <a:rPr lang="en-US" altLang="zh-CN" sz="2400" b="1" dirty="0"/>
              <a:t>(2)</a:t>
            </a:r>
            <a:endParaRPr lang="zh-CN" altLang="en-US" sz="2400" b="1" dirty="0"/>
          </a:p>
        </p:txBody>
      </p:sp>
      <p:sp>
        <p:nvSpPr>
          <p:cNvPr id="30" name="文本框 29">
            <a:extLst>
              <a:ext uri="{FF2B5EF4-FFF2-40B4-BE49-F238E27FC236}">
                <a16:creationId xmlns:a16="http://schemas.microsoft.com/office/drawing/2014/main" id="{6E065A4B-2315-49F8-9208-F33B6DDDAD8F}"/>
              </a:ext>
            </a:extLst>
          </p:cNvPr>
          <p:cNvSpPr txBox="1"/>
          <p:nvPr/>
        </p:nvSpPr>
        <p:spPr>
          <a:xfrm>
            <a:off x="7830696" y="4692948"/>
            <a:ext cx="644525" cy="461665"/>
          </a:xfrm>
          <a:prstGeom prst="rect">
            <a:avLst/>
          </a:prstGeom>
          <a:noFill/>
        </p:spPr>
        <p:txBody>
          <a:bodyPr wrap="square">
            <a:spAutoFit/>
          </a:bodyPr>
          <a:lstStyle/>
          <a:p>
            <a:pPr algn="ctr"/>
            <a:r>
              <a:rPr lang="en-US" altLang="zh-CN" sz="2400" b="1" dirty="0"/>
              <a:t>(3)</a:t>
            </a:r>
            <a:endParaRPr lang="zh-CN" altLang="en-US" sz="2400" b="1" dirty="0"/>
          </a:p>
        </p:txBody>
      </p:sp>
    </p:spTree>
    <p:extLst>
      <p:ext uri="{BB962C8B-B14F-4D97-AF65-F5344CB8AC3E}">
        <p14:creationId xmlns:p14="http://schemas.microsoft.com/office/powerpoint/2010/main" val="1914169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Algebraic Structures and Their Properties</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graphicFrame>
        <p:nvGraphicFramePr>
          <p:cNvPr id="3" name="表格 2">
            <a:extLst>
              <a:ext uri="{FF2B5EF4-FFF2-40B4-BE49-F238E27FC236}">
                <a16:creationId xmlns:a16="http://schemas.microsoft.com/office/drawing/2014/main" id="{AFFA0119-6495-4444-982C-B7150888455C}"/>
              </a:ext>
            </a:extLst>
          </p:cNvPr>
          <p:cNvGraphicFramePr>
            <a:graphicFrameLocks noGrp="1"/>
          </p:cNvGraphicFramePr>
          <p:nvPr>
            <p:extLst>
              <p:ext uri="{D42A27DB-BD31-4B8C-83A1-F6EECF244321}">
                <p14:modId xmlns:p14="http://schemas.microsoft.com/office/powerpoint/2010/main" val="517782141"/>
              </p:ext>
            </p:extLst>
          </p:nvPr>
        </p:nvGraphicFramePr>
        <p:xfrm>
          <a:off x="824682" y="903515"/>
          <a:ext cx="10358939" cy="5271291"/>
        </p:xfrm>
        <a:graphic>
          <a:graphicData uri="http://schemas.openxmlformats.org/drawingml/2006/table">
            <a:tbl>
              <a:tblPr firstRow="1" firstCol="1" bandRow="1">
                <a:tableStyleId>{5C22544A-7EE6-4342-B048-85BDC9FD1C3A}</a:tableStyleId>
              </a:tblPr>
              <a:tblGrid>
                <a:gridCol w="2089910">
                  <a:extLst>
                    <a:ext uri="{9D8B030D-6E8A-4147-A177-3AD203B41FA5}">
                      <a16:colId xmlns:a16="http://schemas.microsoft.com/office/drawing/2014/main" val="1084696531"/>
                    </a:ext>
                  </a:extLst>
                </a:gridCol>
                <a:gridCol w="2654358">
                  <a:extLst>
                    <a:ext uri="{9D8B030D-6E8A-4147-A177-3AD203B41FA5}">
                      <a16:colId xmlns:a16="http://schemas.microsoft.com/office/drawing/2014/main" val="1305113570"/>
                    </a:ext>
                  </a:extLst>
                </a:gridCol>
                <a:gridCol w="1263858">
                  <a:extLst>
                    <a:ext uri="{9D8B030D-6E8A-4147-A177-3AD203B41FA5}">
                      <a16:colId xmlns:a16="http://schemas.microsoft.com/office/drawing/2014/main" val="838807117"/>
                    </a:ext>
                  </a:extLst>
                </a:gridCol>
                <a:gridCol w="1036186">
                  <a:extLst>
                    <a:ext uri="{9D8B030D-6E8A-4147-A177-3AD203B41FA5}">
                      <a16:colId xmlns:a16="http://schemas.microsoft.com/office/drawing/2014/main" val="615055044"/>
                    </a:ext>
                  </a:extLst>
                </a:gridCol>
                <a:gridCol w="1449784">
                  <a:extLst>
                    <a:ext uri="{9D8B030D-6E8A-4147-A177-3AD203B41FA5}">
                      <a16:colId xmlns:a16="http://schemas.microsoft.com/office/drawing/2014/main" val="3695762928"/>
                    </a:ext>
                  </a:extLst>
                </a:gridCol>
                <a:gridCol w="1864843">
                  <a:extLst>
                    <a:ext uri="{9D8B030D-6E8A-4147-A177-3AD203B41FA5}">
                      <a16:colId xmlns:a16="http://schemas.microsoft.com/office/drawing/2014/main" val="2828732667"/>
                    </a:ext>
                  </a:extLst>
                </a:gridCol>
              </a:tblGrid>
              <a:tr h="893896">
                <a:tc>
                  <a:txBody>
                    <a:bodyPr/>
                    <a:lstStyle/>
                    <a:p>
                      <a:pPr marL="0" indent="127000" algn="ctr" defTabSz="914400" rtl="0" eaLnBrk="1" latinLnBrk="0" hangingPunct="1"/>
                      <a:r>
                        <a:rPr lang="en-US" sz="2000" b="1" kern="100" dirty="0">
                          <a:solidFill>
                            <a:schemeClr val="tx1"/>
                          </a:solidFill>
                          <a:effectLst/>
                          <a:latin typeface="Times New Roman" panose="02020603050405020304" pitchFamily="18" charset="0"/>
                          <a:ea typeface="+mn-ea"/>
                          <a:cs typeface="Times New Roman" panose="02020603050405020304" pitchFamily="18" charset="0"/>
                        </a:rPr>
                        <a:t>Algebra or Subalgebra System</a:t>
                      </a:r>
                    </a:p>
                  </a:txBody>
                  <a:tcPr marL="68580" marR="68580" marT="0" marB="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marL="0" indent="127000" algn="ctr" defTabSz="914400" rtl="0" eaLnBrk="1" latinLnBrk="0" hangingPunct="1"/>
                      <a:r>
                        <a:rPr lang="en-US" sz="2000" b="1" kern="100" dirty="0">
                          <a:solidFill>
                            <a:schemeClr val="tx1"/>
                          </a:solidFill>
                          <a:effectLst/>
                          <a:latin typeface="Times New Roman" panose="02020603050405020304" pitchFamily="18" charset="0"/>
                          <a:ea typeface="+mn-ea"/>
                          <a:cs typeface="Times New Roman" panose="02020603050405020304" pitchFamily="18" charset="0"/>
                        </a:rPr>
                        <a:t>Structure</a:t>
                      </a:r>
                      <a:endParaRPr lang="zh-CN" altLang="en-US" sz="2000" b="1"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lnT w="19050" cap="flat" cmpd="sng" algn="ctr">
                      <a:solidFill>
                        <a:schemeClr val="tx1"/>
                      </a:solidFill>
                      <a:prstDash val="solid"/>
                      <a:round/>
                      <a:headEnd type="none" w="med" len="med"/>
                      <a:tailEnd type="none" w="med" len="med"/>
                    </a:lnT>
                    <a:noFill/>
                  </a:tcPr>
                </a:tc>
                <a:tc>
                  <a:txBody>
                    <a:bodyPr/>
                    <a:lstStyle/>
                    <a:p>
                      <a:pPr marL="0" indent="127000" algn="ctr" defTabSz="914400" rtl="0" eaLnBrk="1" latinLnBrk="0" hangingPunct="1"/>
                      <a:r>
                        <a:rPr lang="en-US" sz="2000" b="1" kern="100" dirty="0">
                          <a:solidFill>
                            <a:schemeClr val="tx1"/>
                          </a:solidFill>
                          <a:effectLst/>
                          <a:latin typeface="Times New Roman" panose="02020603050405020304" pitchFamily="18" charset="0"/>
                          <a:ea typeface="+mn-ea"/>
                          <a:cs typeface="Times New Roman" panose="02020603050405020304" pitchFamily="18" charset="0"/>
                        </a:rPr>
                        <a:t>Closure</a:t>
                      </a:r>
                      <a:endParaRPr lang="zh-CN" altLang="en-US" sz="2000" b="1"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lnT w="19050" cap="flat" cmpd="sng" algn="ctr">
                      <a:solidFill>
                        <a:schemeClr val="tx1"/>
                      </a:solidFill>
                      <a:prstDash val="solid"/>
                      <a:round/>
                      <a:headEnd type="none" w="med" len="med"/>
                      <a:tailEnd type="none" w="med" len="med"/>
                    </a:lnT>
                    <a:noFill/>
                  </a:tcPr>
                </a:tc>
                <a:tc>
                  <a:txBody>
                    <a:bodyPr/>
                    <a:lstStyle/>
                    <a:p>
                      <a:pPr indent="127000" algn="ctr"/>
                      <a:r>
                        <a:rPr lang="en-US" sz="2000" b="1" kern="100" dirty="0">
                          <a:solidFill>
                            <a:schemeClr val="tx1"/>
                          </a:solidFill>
                          <a:effectLst/>
                          <a:latin typeface="Times New Roman" panose="02020603050405020304" pitchFamily="18" charset="0"/>
                          <a:ea typeface="+mn-ea"/>
                          <a:cs typeface="Times New Roman" panose="02020603050405020304" pitchFamily="18" charset="0"/>
                        </a:rPr>
                        <a:t>Associativity</a:t>
                      </a:r>
                      <a:endParaRPr lang="zh-CN" altLang="en-US" sz="2000" b="1"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lnT w="19050" cap="flat" cmpd="sng" algn="ctr">
                      <a:solidFill>
                        <a:schemeClr val="tx1"/>
                      </a:solidFill>
                      <a:prstDash val="solid"/>
                      <a:round/>
                      <a:headEnd type="none" w="med" len="med"/>
                      <a:tailEnd type="none" w="med" len="med"/>
                    </a:lnT>
                    <a:noFill/>
                  </a:tcPr>
                </a:tc>
                <a:tc>
                  <a:txBody>
                    <a:bodyPr/>
                    <a:lstStyle/>
                    <a:p>
                      <a:pPr marL="0" marR="0" lvl="0" indent="127000" algn="ctr" defTabSz="914400" rtl="0" eaLnBrk="1" fontAlgn="auto" latinLnBrk="0" hangingPunct="1">
                        <a:lnSpc>
                          <a:spcPct val="100000"/>
                        </a:lnSpc>
                        <a:spcBef>
                          <a:spcPts val="0"/>
                        </a:spcBef>
                        <a:spcAft>
                          <a:spcPts val="0"/>
                        </a:spcAft>
                        <a:buClrTx/>
                        <a:buSzTx/>
                        <a:buFontTx/>
                        <a:buNone/>
                        <a:tabLst/>
                        <a:defRPr/>
                      </a:pPr>
                      <a:r>
                        <a:rPr lang="en-US" sz="2000" b="1" kern="100" dirty="0">
                          <a:solidFill>
                            <a:schemeClr val="tx1"/>
                          </a:solidFill>
                          <a:effectLst/>
                          <a:latin typeface="Times New Roman" panose="02020603050405020304" pitchFamily="18" charset="0"/>
                          <a:ea typeface="+mn-ea"/>
                          <a:cs typeface="Times New Roman" panose="02020603050405020304" pitchFamily="18" charset="0"/>
                        </a:rPr>
                        <a:t>Identity element</a:t>
                      </a:r>
                    </a:p>
                    <a:p>
                      <a:pPr indent="127000" algn="ctr"/>
                      <a:endParaRPr lang="zh-CN" altLang="en-US" sz="2000" b="1"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lnT w="19050" cap="flat" cmpd="sng" algn="ctr">
                      <a:solidFill>
                        <a:schemeClr val="tx1"/>
                      </a:solidFill>
                      <a:prstDash val="solid"/>
                      <a:round/>
                      <a:headEnd type="none" w="med" len="med"/>
                      <a:tailEnd type="none" w="med" len="med"/>
                    </a:lnT>
                    <a:noFill/>
                  </a:tcPr>
                </a:tc>
                <a:tc>
                  <a:txBody>
                    <a:bodyPr/>
                    <a:lstStyle/>
                    <a:p>
                      <a:pPr marL="0" marR="0" lvl="0" indent="127000" algn="ctr" defTabSz="914400" rtl="0" eaLnBrk="1" fontAlgn="auto" latinLnBrk="0" hangingPunct="1">
                        <a:lnSpc>
                          <a:spcPct val="100000"/>
                        </a:lnSpc>
                        <a:spcBef>
                          <a:spcPts val="0"/>
                        </a:spcBef>
                        <a:spcAft>
                          <a:spcPts val="0"/>
                        </a:spcAft>
                        <a:buClrTx/>
                        <a:buSzTx/>
                        <a:buFontTx/>
                        <a:buNone/>
                        <a:tabLst/>
                        <a:defRPr/>
                      </a:pPr>
                      <a:r>
                        <a:rPr lang="en-US" sz="2000" b="1" kern="100" dirty="0">
                          <a:solidFill>
                            <a:schemeClr val="tx1"/>
                          </a:solidFill>
                          <a:effectLst/>
                          <a:latin typeface="Times New Roman" panose="02020603050405020304" pitchFamily="18" charset="0"/>
                          <a:ea typeface="+mn-ea"/>
                          <a:cs typeface="Times New Roman" panose="02020603050405020304" pitchFamily="18" charset="0"/>
                        </a:rPr>
                        <a:t>Inverse element</a:t>
                      </a:r>
                    </a:p>
                    <a:p>
                      <a:pPr indent="127000" algn="ctr"/>
                      <a:endParaRPr lang="zh-CN" altLang="en-US" sz="2000" b="1"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18963887"/>
                  </a:ext>
                </a:extLst>
              </a:tr>
              <a:tr h="596516">
                <a:tc>
                  <a:txBody>
                    <a:bodyPr/>
                    <a:lstStyle/>
                    <a:p>
                      <a:pPr indent="127000" algn="ctr"/>
                      <a:r>
                        <a:rPr lang="en-US" sz="2000" kern="100" dirty="0">
                          <a:solidFill>
                            <a:schemeClr val="tx1"/>
                          </a:solidFill>
                          <a:effectLst/>
                          <a:latin typeface="Times New Roman" panose="02020603050405020304" pitchFamily="18" charset="0"/>
                          <a:cs typeface="Times New Roman" panose="02020603050405020304" pitchFamily="18" charset="0"/>
                        </a:rPr>
                        <a:t>Semigroup</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noFill/>
                  </a:tcPr>
                </a:tc>
                <a:tc>
                  <a:txBody>
                    <a:bodyPr/>
                    <a:lstStyle/>
                    <a:p>
                      <a:pPr indent="127000" algn="ctr"/>
                      <a:r>
                        <a:rPr lang="en-US" sz="2000" dirty="0"/>
                        <a:t>Binary operation </a:t>
                      </a:r>
                      <a:r>
                        <a:rPr lang="en-US" sz="2000" b="1" dirty="0"/>
                        <a:t>∘</a:t>
                      </a:r>
                      <a:r>
                        <a:rPr lang="en-US" sz="2000" dirty="0"/>
                        <a:t> on the set S</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S</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S</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sz="2000" kern="100">
                          <a:solidFill>
                            <a:schemeClr val="tx1"/>
                          </a:solidFill>
                          <a:effectLst/>
                          <a:latin typeface="Times New Roman" panose="02020603050405020304" pitchFamily="18" charset="0"/>
                          <a:cs typeface="Times New Roman" panose="02020603050405020304" pitchFamily="18" charset="0"/>
                        </a:rPr>
                        <a:t> </a:t>
                      </a:r>
                      <a:endParaRPr lang="zh-CN" sz="20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sz="2000" kern="100">
                          <a:solidFill>
                            <a:schemeClr val="tx1"/>
                          </a:solidFill>
                          <a:effectLst/>
                          <a:latin typeface="Times New Roman" panose="02020603050405020304" pitchFamily="18" charset="0"/>
                          <a:cs typeface="Times New Roman" panose="02020603050405020304" pitchFamily="18" charset="0"/>
                        </a:rPr>
                        <a:t> </a:t>
                      </a:r>
                      <a:endParaRPr lang="zh-CN" sz="20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R w="190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515347118"/>
                  </a:ext>
                </a:extLst>
              </a:tr>
              <a:tr h="596516">
                <a:tc>
                  <a:txBody>
                    <a:bodyPr/>
                    <a:lstStyle/>
                    <a:p>
                      <a:pPr indent="127000" algn="ctr"/>
                      <a:r>
                        <a:rPr lang="en-US" sz="2000" kern="100" dirty="0" err="1">
                          <a:solidFill>
                            <a:schemeClr val="tx1"/>
                          </a:solidFill>
                          <a:effectLst/>
                          <a:latin typeface="Times New Roman" panose="02020603050405020304" pitchFamily="18" charset="0"/>
                          <a:cs typeface="Times New Roman" panose="02020603050405020304" pitchFamily="18" charset="0"/>
                        </a:rPr>
                        <a:t>Subsemigroup</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noFill/>
                  </a:tcPr>
                </a:tc>
                <a:tc>
                  <a:txBody>
                    <a:bodyPr/>
                    <a:lstStyle/>
                    <a:p>
                      <a:pPr indent="127000" algn="ctr"/>
                      <a:r>
                        <a:rPr lang="en-US" sz="2000" dirty="0"/>
                        <a:t>Binary operation </a:t>
                      </a:r>
                      <a:r>
                        <a:rPr lang="en-US" sz="2000" b="1" dirty="0"/>
                        <a:t>∘</a:t>
                      </a:r>
                      <a:r>
                        <a:rPr lang="en-US" sz="2000" dirty="0"/>
                        <a:t> on the subset </a:t>
                      </a:r>
                      <a:r>
                        <a:rPr lang="en-US" sz="2000" b="1" i="1" kern="100" dirty="0">
                          <a:solidFill>
                            <a:srgbClr val="FF0000"/>
                          </a:solidFill>
                          <a:effectLst/>
                          <a:latin typeface="Times New Roman" panose="02020603050405020304" pitchFamily="18" charset="0"/>
                          <a:cs typeface="Times New Roman" panose="02020603050405020304" pitchFamily="18" charset="0"/>
                        </a:rPr>
                        <a:t>T</a:t>
                      </a:r>
                      <a:r>
                        <a:rPr lang="zh-CN" sz="2000" b="1" kern="100" dirty="0">
                          <a:solidFill>
                            <a:srgbClr val="FF0000"/>
                          </a:solidFill>
                          <a:effectLst/>
                          <a:latin typeface="Times New Roman" panose="02020603050405020304" pitchFamily="18" charset="0"/>
                          <a:cs typeface="Times New Roman" panose="02020603050405020304" pitchFamily="18" charset="0"/>
                        </a:rPr>
                        <a:t>⊆</a:t>
                      </a:r>
                      <a:r>
                        <a:rPr lang="en-US" sz="2000" b="1" i="1" kern="100" dirty="0">
                          <a:solidFill>
                            <a:srgbClr val="FF0000"/>
                          </a:solidFill>
                          <a:effectLst/>
                          <a:latin typeface="Times New Roman" panose="02020603050405020304" pitchFamily="18" charset="0"/>
                          <a:cs typeface="Times New Roman" panose="02020603050405020304" pitchFamily="18" charset="0"/>
                        </a:rPr>
                        <a:t>S</a:t>
                      </a:r>
                      <a:r>
                        <a:rPr lang="en-US" sz="2000" kern="100" dirty="0">
                          <a:solidFill>
                            <a:schemeClr val="tx1"/>
                          </a:solidFill>
                          <a:effectLst/>
                          <a:latin typeface="Times New Roman" panose="02020603050405020304" pitchFamily="18" charset="0"/>
                          <a:cs typeface="Times New Roman" panose="02020603050405020304" pitchFamily="18" charset="0"/>
                        </a:rPr>
                        <a:t> </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T</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T</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sz="2000" kern="100">
                          <a:solidFill>
                            <a:schemeClr val="tx1"/>
                          </a:solidFill>
                          <a:effectLst/>
                          <a:latin typeface="Times New Roman" panose="02020603050405020304" pitchFamily="18" charset="0"/>
                          <a:cs typeface="Times New Roman" panose="02020603050405020304" pitchFamily="18" charset="0"/>
                        </a:rPr>
                        <a:t> </a:t>
                      </a:r>
                      <a:endParaRPr lang="zh-CN" sz="20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sz="2000" kern="100">
                          <a:solidFill>
                            <a:schemeClr val="tx1"/>
                          </a:solidFill>
                          <a:effectLst/>
                          <a:latin typeface="Times New Roman" panose="02020603050405020304" pitchFamily="18" charset="0"/>
                          <a:cs typeface="Times New Roman" panose="02020603050405020304" pitchFamily="18" charset="0"/>
                        </a:rPr>
                        <a:t> </a:t>
                      </a:r>
                      <a:endParaRPr lang="zh-CN" sz="20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R w="190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502359284"/>
                  </a:ext>
                </a:extLst>
              </a:tr>
              <a:tr h="596516">
                <a:tc>
                  <a:txBody>
                    <a:bodyPr/>
                    <a:lstStyle/>
                    <a:p>
                      <a:pPr indent="127000" algn="ctr"/>
                      <a:r>
                        <a:rPr lang="zh-CN" sz="2000" kern="100" dirty="0">
                          <a:solidFill>
                            <a:schemeClr val="tx1"/>
                          </a:solidFill>
                          <a:effectLst/>
                          <a:latin typeface="Times New Roman" panose="02020603050405020304" pitchFamily="18" charset="0"/>
                          <a:cs typeface="Times New Roman" panose="02020603050405020304" pitchFamily="18" charset="0"/>
                        </a:rPr>
                        <a:t> </a:t>
                      </a:r>
                      <a:r>
                        <a:rPr lang="en-US" sz="2000" kern="100" dirty="0">
                          <a:solidFill>
                            <a:schemeClr val="tx1"/>
                          </a:solidFill>
                          <a:effectLst/>
                          <a:latin typeface="Times New Roman" panose="02020603050405020304" pitchFamily="18" charset="0"/>
                          <a:cs typeface="Times New Roman" panose="02020603050405020304" pitchFamily="18" charset="0"/>
                        </a:rPr>
                        <a:t>Monoid</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noFill/>
                  </a:tcPr>
                </a:tc>
                <a:tc>
                  <a:txBody>
                    <a:bodyPr/>
                    <a:lstStyle/>
                    <a:p>
                      <a:pPr indent="127000" algn="ctr"/>
                      <a:r>
                        <a:rPr lang="en-US" sz="2000" dirty="0"/>
                        <a:t>Binary operation </a:t>
                      </a:r>
                      <a:r>
                        <a:rPr lang="en-US" sz="2000" b="1" dirty="0"/>
                        <a:t>∘</a:t>
                      </a:r>
                      <a:r>
                        <a:rPr lang="en-US" sz="2000" dirty="0"/>
                        <a:t> on the set  </a:t>
                      </a:r>
                      <a:r>
                        <a:rPr lang="en-US" sz="2000" i="1" kern="100" dirty="0">
                          <a:solidFill>
                            <a:schemeClr val="tx1"/>
                          </a:solidFill>
                          <a:effectLst/>
                          <a:latin typeface="Times New Roman" panose="02020603050405020304" pitchFamily="18" charset="0"/>
                          <a:cs typeface="Times New Roman" panose="02020603050405020304" pitchFamily="18" charset="0"/>
                        </a:rPr>
                        <a:t>M</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M</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M</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pPr indent="127000" algn="ctr"/>
                      <a:r>
                        <a:rPr lang="en-US" altLang="zh-CN" sz="2000" kern="100" dirty="0">
                          <a:solidFill>
                            <a:schemeClr val="tx1"/>
                          </a:solidFill>
                          <a:effectLst/>
                          <a:latin typeface="Times New Roman" panose="02020603050405020304" pitchFamily="18" charset="0"/>
                          <a:cs typeface="Times New Roman" panose="02020603050405020304" pitchFamily="18" charset="0"/>
                        </a:rPr>
                        <a:t>unit</a:t>
                      </a:r>
                      <a:r>
                        <a:rPr lang="zh-CN" sz="2000" kern="100" dirty="0">
                          <a:solidFill>
                            <a:schemeClr val="tx1"/>
                          </a:solidFill>
                          <a:effectLst/>
                          <a:latin typeface="Times New Roman" panose="02020603050405020304" pitchFamily="18" charset="0"/>
                          <a:cs typeface="Times New Roman" panose="02020603050405020304" pitchFamily="18" charset="0"/>
                        </a:rPr>
                        <a:t> </a:t>
                      </a:r>
                      <a:r>
                        <a:rPr lang="en-US" sz="2000" b="1" i="1" kern="100" dirty="0" err="1">
                          <a:solidFill>
                            <a:schemeClr val="tx1"/>
                          </a:solidFill>
                          <a:effectLst/>
                          <a:latin typeface="Times New Roman" panose="02020603050405020304" pitchFamily="18" charset="0"/>
                          <a:cs typeface="Times New Roman" panose="02020603050405020304" pitchFamily="18" charset="0"/>
                        </a:rPr>
                        <a:t>e</a:t>
                      </a:r>
                      <a:r>
                        <a:rPr lang="en-US" sz="2000" b="1" kern="100" dirty="0" err="1">
                          <a:solidFill>
                            <a:schemeClr val="tx1"/>
                          </a:solidFill>
                          <a:effectLst/>
                          <a:latin typeface="Times New Roman" panose="02020603050405020304" pitchFamily="18" charset="0"/>
                          <a:cs typeface="Times New Roman" panose="02020603050405020304" pitchFamily="18" charset="0"/>
                        </a:rPr>
                        <a:t>∈</a:t>
                      </a:r>
                      <a:r>
                        <a:rPr lang="en-US" sz="2000" b="1" i="1" kern="100" dirty="0" err="1">
                          <a:solidFill>
                            <a:schemeClr val="tx1"/>
                          </a:solidFill>
                          <a:effectLst/>
                          <a:latin typeface="Times New Roman" panose="02020603050405020304" pitchFamily="18" charset="0"/>
                          <a:cs typeface="Times New Roman" panose="02020603050405020304" pitchFamily="18" charset="0"/>
                        </a:rPr>
                        <a:t>M</a:t>
                      </a:r>
                      <a:r>
                        <a:rPr lang="zh-CN" sz="2000" kern="100" dirty="0">
                          <a:solidFill>
                            <a:schemeClr val="tx1"/>
                          </a:solidFill>
                          <a:effectLst/>
                          <a:latin typeface="Times New Roman" panose="02020603050405020304" pitchFamily="18" charset="0"/>
                          <a:cs typeface="Times New Roman" panose="02020603050405020304" pitchFamily="18" charset="0"/>
                        </a:rPr>
                        <a:t> </a:t>
                      </a:r>
                      <a:r>
                        <a:rPr lang="en-US" sz="2000" kern="100" dirty="0">
                          <a:solidFill>
                            <a:schemeClr val="tx1"/>
                          </a:solidFill>
                          <a:effectLst/>
                          <a:latin typeface="Times New Roman" panose="02020603050405020304" pitchFamily="18" charset="0"/>
                          <a:cs typeface="Times New Roman" panose="02020603050405020304" pitchFamily="18" charset="0"/>
                        </a:rPr>
                        <a:t> </a:t>
                      </a:r>
                      <a:endParaRPr lang="zh-CN" sz="2000"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noFill/>
                  </a:tcPr>
                </a:tc>
                <a:tc>
                  <a:txBody>
                    <a:bodyPr/>
                    <a:lstStyle/>
                    <a:p>
                      <a:endParaRPr lang="zh-CN" altLang="en-US" sz="2000" dirty="0">
                        <a:solidFill>
                          <a:schemeClr val="tx1"/>
                        </a:solidFill>
                        <a:latin typeface="Times New Roman" panose="02020603050405020304" pitchFamily="18" charset="0"/>
                        <a:cs typeface="Times New Roman" panose="02020603050405020304" pitchFamily="18" charset="0"/>
                      </a:endParaRPr>
                    </a:p>
                  </a:txBody>
                  <a:tcPr>
                    <a:lnR w="190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298368907"/>
                  </a:ext>
                </a:extLst>
              </a:tr>
              <a:tr h="710139">
                <a:tc>
                  <a:txBody>
                    <a:bodyPr/>
                    <a:lstStyle/>
                    <a:p>
                      <a:pPr indent="127000" algn="ctr"/>
                      <a:r>
                        <a:rPr lang="zh-CN" sz="2000" kern="100" dirty="0">
                          <a:solidFill>
                            <a:schemeClr val="tx1"/>
                          </a:solidFill>
                          <a:effectLst/>
                          <a:latin typeface="Times New Roman" panose="02020603050405020304" pitchFamily="18" charset="0"/>
                          <a:cs typeface="Times New Roman" panose="02020603050405020304" pitchFamily="18" charset="0"/>
                        </a:rPr>
                        <a:t> </a:t>
                      </a:r>
                      <a:r>
                        <a:rPr lang="en-US" sz="2000" kern="100" dirty="0" err="1">
                          <a:solidFill>
                            <a:schemeClr val="tx1"/>
                          </a:solidFill>
                          <a:effectLst/>
                          <a:latin typeface="Times New Roman" panose="02020603050405020304" pitchFamily="18" charset="0"/>
                          <a:cs typeface="Times New Roman" panose="02020603050405020304" pitchFamily="18" charset="0"/>
                        </a:rPr>
                        <a:t>Submonoid</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noFill/>
                  </a:tcPr>
                </a:tc>
                <a:tc>
                  <a:txBody>
                    <a:bodyPr/>
                    <a:lstStyle/>
                    <a:p>
                      <a:pPr indent="127000" algn="ctr"/>
                      <a:r>
                        <a:rPr lang="en-US" sz="2000" dirty="0"/>
                        <a:t>Binary operation </a:t>
                      </a:r>
                      <a:r>
                        <a:rPr lang="en-US" sz="2000" b="1" dirty="0"/>
                        <a:t>∘</a:t>
                      </a:r>
                      <a:r>
                        <a:rPr lang="en-US" sz="2000" dirty="0"/>
                        <a:t> on the subset  </a:t>
                      </a:r>
                      <a:r>
                        <a:rPr lang="en-US" sz="2000" b="1" i="1" kern="100" dirty="0">
                          <a:solidFill>
                            <a:srgbClr val="FF0000"/>
                          </a:solidFill>
                          <a:effectLst/>
                          <a:latin typeface="Times New Roman" panose="02020603050405020304" pitchFamily="18" charset="0"/>
                          <a:cs typeface="Times New Roman" panose="02020603050405020304" pitchFamily="18" charset="0"/>
                        </a:rPr>
                        <a:t>N</a:t>
                      </a:r>
                      <a:r>
                        <a:rPr lang="zh-CN" sz="2000" b="1" kern="100" dirty="0">
                          <a:solidFill>
                            <a:srgbClr val="FF0000"/>
                          </a:solidFill>
                          <a:effectLst/>
                          <a:latin typeface="Times New Roman" panose="02020603050405020304" pitchFamily="18" charset="0"/>
                          <a:cs typeface="Times New Roman" panose="02020603050405020304" pitchFamily="18" charset="0"/>
                        </a:rPr>
                        <a:t>⊆</a:t>
                      </a:r>
                      <a:r>
                        <a:rPr lang="en-US" sz="2000" b="1" i="1" kern="100" dirty="0">
                          <a:solidFill>
                            <a:srgbClr val="FF0000"/>
                          </a:solidFill>
                          <a:effectLst/>
                          <a:latin typeface="Times New Roman" panose="02020603050405020304" pitchFamily="18" charset="0"/>
                          <a:cs typeface="Times New Roman" panose="02020603050405020304" pitchFamily="18" charset="0"/>
                        </a:rPr>
                        <a:t>M</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N</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N</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noFill/>
                  </a:tcPr>
                </a:tc>
                <a:tc>
                  <a:txBody>
                    <a:bodyPr/>
                    <a:lstStyle/>
                    <a:p>
                      <a:pPr indent="127000" algn="ctr"/>
                      <a:r>
                        <a:rPr lang="en-US" sz="2000" b="1" i="1" kern="100" dirty="0">
                          <a:solidFill>
                            <a:schemeClr val="tx1"/>
                          </a:solidFill>
                          <a:effectLst/>
                          <a:latin typeface="Times New Roman" panose="02020603050405020304" pitchFamily="18" charset="0"/>
                          <a:cs typeface="Times New Roman" panose="02020603050405020304" pitchFamily="18" charset="0"/>
                        </a:rPr>
                        <a:t>e</a:t>
                      </a:r>
                      <a:r>
                        <a:rPr lang="zh-CN" sz="2000" b="1" kern="100" dirty="0">
                          <a:solidFill>
                            <a:schemeClr val="tx1"/>
                          </a:solidFill>
                          <a:effectLst/>
                          <a:latin typeface="Times New Roman" panose="02020603050405020304" pitchFamily="18" charset="0"/>
                          <a:cs typeface="Times New Roman" panose="02020603050405020304" pitchFamily="18" charset="0"/>
                        </a:rPr>
                        <a:t>∈</a:t>
                      </a:r>
                      <a:r>
                        <a:rPr lang="zh-CN" sz="2000" b="1" i="1" kern="100" dirty="0">
                          <a:solidFill>
                            <a:schemeClr val="tx1"/>
                          </a:solidFill>
                          <a:effectLst/>
                          <a:latin typeface="Times New Roman" panose="02020603050405020304" pitchFamily="18" charset="0"/>
                          <a:cs typeface="Times New Roman" panose="02020603050405020304" pitchFamily="18" charset="0"/>
                        </a:rPr>
                        <a:t>N</a:t>
                      </a:r>
                      <a:r>
                        <a:rPr lang="zh-CN" sz="2000" kern="100" dirty="0">
                          <a:solidFill>
                            <a:schemeClr val="tx1"/>
                          </a:solidFill>
                          <a:effectLst/>
                          <a:latin typeface="Times New Roman" panose="02020603050405020304" pitchFamily="18" charset="0"/>
                          <a:cs typeface="Times New Roman" panose="02020603050405020304" pitchFamily="18" charset="0"/>
                        </a:rPr>
                        <a:t> </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noFill/>
                  </a:tcPr>
                </a:tc>
                <a:tc>
                  <a:txBody>
                    <a:bodyPr/>
                    <a:lstStyle/>
                    <a:p>
                      <a:pPr indent="127000" algn="ctr"/>
                      <a:r>
                        <a:rPr lang="en-US" sz="2000" kern="100" dirty="0">
                          <a:solidFill>
                            <a:schemeClr val="tx1"/>
                          </a:solidFill>
                          <a:effectLst/>
                          <a:latin typeface="Times New Roman" panose="02020603050405020304" pitchFamily="18" charset="0"/>
                          <a:cs typeface="Times New Roman" panose="02020603050405020304" pitchFamily="18" charset="0"/>
                        </a:rPr>
                        <a:t> </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lnR w="190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763806195"/>
                  </a:ext>
                </a:extLst>
              </a:tr>
              <a:tr h="908976">
                <a:tc>
                  <a:txBody>
                    <a:bodyPr/>
                    <a:lstStyle/>
                    <a:p>
                      <a:pPr indent="127000" algn="ctr"/>
                      <a:r>
                        <a:rPr lang="zh-CN" sz="2000" kern="100">
                          <a:solidFill>
                            <a:schemeClr val="tx1"/>
                          </a:solidFill>
                          <a:effectLst/>
                          <a:latin typeface="Times New Roman" panose="02020603050405020304" pitchFamily="18" charset="0"/>
                          <a:cs typeface="Times New Roman" panose="02020603050405020304" pitchFamily="18" charset="0"/>
                        </a:rPr>
                        <a:t> </a:t>
                      </a:r>
                      <a:r>
                        <a:rPr lang="en-US" sz="2000" kern="100">
                          <a:solidFill>
                            <a:schemeClr val="tx1"/>
                          </a:solidFill>
                          <a:effectLst/>
                          <a:latin typeface="Times New Roman" panose="02020603050405020304" pitchFamily="18" charset="0"/>
                          <a:cs typeface="Times New Roman" panose="02020603050405020304" pitchFamily="18" charset="0"/>
                        </a:rPr>
                        <a:t>Group</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noFill/>
                  </a:tcPr>
                </a:tc>
                <a:tc>
                  <a:txBody>
                    <a:bodyPr/>
                    <a:lstStyle/>
                    <a:p>
                      <a:pPr indent="127000" algn="ctr"/>
                      <a:r>
                        <a:rPr lang="en-US" sz="2000" dirty="0"/>
                        <a:t>Binary operation </a:t>
                      </a:r>
                      <a:r>
                        <a:rPr lang="en-US" sz="2000" b="1" dirty="0"/>
                        <a:t>∘</a:t>
                      </a:r>
                      <a:r>
                        <a:rPr lang="en-US" sz="2000" dirty="0"/>
                        <a:t> on the set </a:t>
                      </a:r>
                      <a:r>
                        <a:rPr lang="en-US" sz="2000" i="1" kern="100" dirty="0">
                          <a:solidFill>
                            <a:schemeClr val="tx1"/>
                          </a:solidFill>
                          <a:effectLst/>
                          <a:latin typeface="Times New Roman" panose="02020603050405020304" pitchFamily="18" charset="0"/>
                          <a:cs typeface="Times New Roman" panose="02020603050405020304" pitchFamily="18" charset="0"/>
                        </a:rPr>
                        <a:t>G</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G</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G</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noFill/>
                  </a:tcPr>
                </a:tc>
                <a:tc>
                  <a:txBody>
                    <a:bodyPr/>
                    <a:lstStyle/>
                    <a:p>
                      <a:pPr indent="127000" algn="ctr"/>
                      <a:r>
                        <a:rPr lang="en-US" sz="2000" b="1" i="1" kern="100" dirty="0">
                          <a:solidFill>
                            <a:schemeClr val="tx1"/>
                          </a:solidFill>
                          <a:effectLst/>
                          <a:latin typeface="Times New Roman" panose="02020603050405020304" pitchFamily="18" charset="0"/>
                          <a:cs typeface="Times New Roman" panose="02020603050405020304" pitchFamily="18" charset="0"/>
                        </a:rPr>
                        <a:t>e</a:t>
                      </a:r>
                      <a:r>
                        <a:rPr lang="zh-CN" sz="2000" b="1" kern="100" dirty="0">
                          <a:solidFill>
                            <a:schemeClr val="tx1"/>
                          </a:solidFill>
                          <a:effectLst/>
                          <a:latin typeface="Times New Roman" panose="02020603050405020304" pitchFamily="18" charset="0"/>
                          <a:cs typeface="Times New Roman" panose="02020603050405020304" pitchFamily="18" charset="0"/>
                        </a:rPr>
                        <a:t>∈</a:t>
                      </a:r>
                      <a:r>
                        <a:rPr lang="zh-CN" sz="2000" b="1" i="1" kern="100" dirty="0">
                          <a:solidFill>
                            <a:schemeClr val="tx1"/>
                          </a:solidFill>
                          <a:effectLst/>
                          <a:latin typeface="Times New Roman" panose="02020603050405020304" pitchFamily="18" charset="0"/>
                          <a:cs typeface="Times New Roman" panose="02020603050405020304" pitchFamily="18" charset="0"/>
                        </a:rPr>
                        <a:t>G</a:t>
                      </a:r>
                      <a:endParaRPr lang="zh-CN" sz="20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noFill/>
                  </a:tcPr>
                </a:tc>
                <a:tc>
                  <a:txBody>
                    <a:bodyPr/>
                    <a:lstStyle/>
                    <a:p>
                      <a:r>
                        <a:rPr lang="en-US" altLang="zh-CN" sz="2000" i="0" kern="100" dirty="0">
                          <a:solidFill>
                            <a:schemeClr val="tx1"/>
                          </a:solidFill>
                          <a:effectLst/>
                          <a:latin typeface="Times New Roman" panose="02020603050405020304" pitchFamily="18" charset="0"/>
                          <a:cs typeface="Times New Roman" panose="02020603050405020304" pitchFamily="18" charset="0"/>
                        </a:rPr>
                        <a:t>Each element in </a:t>
                      </a:r>
                      <a:r>
                        <a:rPr lang="en-US" altLang="zh-CN" sz="2000" b="1" i="1" kern="100" dirty="0">
                          <a:solidFill>
                            <a:schemeClr val="tx1"/>
                          </a:solidFill>
                          <a:effectLst/>
                          <a:latin typeface="Times New Roman" panose="02020603050405020304" pitchFamily="18" charset="0"/>
                          <a:cs typeface="Times New Roman" panose="02020603050405020304" pitchFamily="18" charset="0"/>
                        </a:rPr>
                        <a:t>G</a:t>
                      </a:r>
                      <a:r>
                        <a:rPr lang="en-US" altLang="zh-CN" sz="2000" i="1" kern="100" dirty="0">
                          <a:solidFill>
                            <a:schemeClr val="tx1"/>
                          </a:solidFill>
                          <a:effectLst/>
                          <a:latin typeface="Times New Roman" panose="02020603050405020304" pitchFamily="18" charset="0"/>
                          <a:cs typeface="Times New Roman" panose="02020603050405020304" pitchFamily="18" charset="0"/>
                        </a:rPr>
                        <a:t> </a:t>
                      </a:r>
                      <a:r>
                        <a:rPr lang="en-US" altLang="zh-CN" sz="2000" i="0" kern="100" dirty="0">
                          <a:solidFill>
                            <a:schemeClr val="tx1"/>
                          </a:solidFill>
                          <a:effectLst/>
                          <a:latin typeface="Times New Roman" panose="02020603050405020304" pitchFamily="18" charset="0"/>
                          <a:cs typeface="Times New Roman" panose="02020603050405020304" pitchFamily="18" charset="0"/>
                        </a:rPr>
                        <a:t>exist</a:t>
                      </a:r>
                      <a:endParaRPr lang="zh-CN" altLang="en-US" sz="2000" i="0" dirty="0">
                        <a:solidFill>
                          <a:schemeClr val="tx1"/>
                        </a:solidFill>
                        <a:latin typeface="Times New Roman" panose="02020603050405020304" pitchFamily="18" charset="0"/>
                        <a:cs typeface="Times New Roman" panose="02020603050405020304" pitchFamily="18" charset="0"/>
                      </a:endParaRPr>
                    </a:p>
                  </a:txBody>
                  <a:tcPr>
                    <a:lnR w="190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702753504"/>
                  </a:ext>
                </a:extLst>
              </a:tr>
              <a:tr h="908976">
                <a:tc>
                  <a:txBody>
                    <a:bodyPr/>
                    <a:lstStyle/>
                    <a:p>
                      <a:pPr indent="127000" algn="ctr"/>
                      <a:r>
                        <a:rPr lang="zh-CN" sz="2000" kern="100" dirty="0">
                          <a:solidFill>
                            <a:schemeClr val="tx1"/>
                          </a:solidFill>
                          <a:effectLst/>
                          <a:latin typeface="Times New Roman" panose="02020603050405020304" pitchFamily="18" charset="0"/>
                          <a:cs typeface="Times New Roman" panose="02020603050405020304" pitchFamily="18" charset="0"/>
                        </a:rPr>
                        <a:t> </a:t>
                      </a:r>
                      <a:r>
                        <a:rPr lang="en-US" sz="2000" kern="100" dirty="0">
                          <a:solidFill>
                            <a:schemeClr val="tx1"/>
                          </a:solidFill>
                          <a:effectLst/>
                          <a:latin typeface="Times New Roman" panose="02020603050405020304" pitchFamily="18" charset="0"/>
                          <a:cs typeface="Times New Roman" panose="02020603050405020304" pitchFamily="18" charset="0"/>
                        </a:rPr>
                        <a:t>Subgroup</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noFill/>
                  </a:tcPr>
                </a:tc>
                <a:tc>
                  <a:txBody>
                    <a:bodyPr/>
                    <a:lstStyle/>
                    <a:p>
                      <a:pPr indent="127000" algn="ctr"/>
                      <a:r>
                        <a:rPr lang="en-US" sz="2000" dirty="0"/>
                        <a:t>Binary operation </a:t>
                      </a:r>
                      <a:r>
                        <a:rPr lang="en-US" sz="2000" b="1" dirty="0"/>
                        <a:t>∘</a:t>
                      </a:r>
                      <a:r>
                        <a:rPr lang="en-US" sz="2000" dirty="0"/>
                        <a:t> on the subset  </a:t>
                      </a:r>
                      <a:r>
                        <a:rPr lang="en-US" sz="2000" b="1" i="1" kern="100" dirty="0">
                          <a:solidFill>
                            <a:srgbClr val="FF0000"/>
                          </a:solidFill>
                          <a:effectLst/>
                          <a:latin typeface="Times New Roman" panose="02020603050405020304" pitchFamily="18" charset="0"/>
                          <a:cs typeface="Times New Roman" panose="02020603050405020304" pitchFamily="18" charset="0"/>
                        </a:rPr>
                        <a:t>H</a:t>
                      </a:r>
                      <a:r>
                        <a:rPr lang="en-US" sz="2000" b="1" kern="100" dirty="0">
                          <a:solidFill>
                            <a:srgbClr val="FF0000"/>
                          </a:solidFill>
                          <a:effectLst/>
                          <a:latin typeface="Times New Roman" panose="02020603050405020304" pitchFamily="18" charset="0"/>
                          <a:cs typeface="Times New Roman" panose="02020603050405020304" pitchFamily="18" charset="0"/>
                        </a:rPr>
                        <a:t>⊆ </a:t>
                      </a:r>
                      <a:r>
                        <a:rPr lang="en-US" sz="2000" b="1" i="1" kern="100" dirty="0">
                          <a:solidFill>
                            <a:srgbClr val="FF0000"/>
                          </a:solidFill>
                          <a:effectLst/>
                          <a:latin typeface="Times New Roman" panose="02020603050405020304" pitchFamily="18" charset="0"/>
                          <a:cs typeface="Times New Roman" panose="02020603050405020304" pitchFamily="18" charset="0"/>
                        </a:rPr>
                        <a:t>G</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lnB w="19050" cap="flat" cmpd="sng" algn="ctr">
                      <a:solidFill>
                        <a:schemeClr val="tx1"/>
                      </a:solidFill>
                      <a:prstDash val="solid"/>
                      <a:round/>
                      <a:headEnd type="none" w="med" len="med"/>
                      <a:tailEnd type="none" w="med" len="med"/>
                    </a:lnB>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H</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lnB w="19050" cap="flat" cmpd="sng" algn="ctr">
                      <a:solidFill>
                        <a:schemeClr val="tx1"/>
                      </a:solidFill>
                      <a:prstDash val="solid"/>
                      <a:round/>
                      <a:headEnd type="none" w="med" len="med"/>
                      <a:tailEnd type="none" w="med" len="med"/>
                    </a:lnB>
                    <a:noFill/>
                  </a:tcPr>
                </a:tc>
                <a:tc>
                  <a:txBody>
                    <a:bodyPr/>
                    <a:lstStyle/>
                    <a:p>
                      <a:pPr indent="127000" algn="ctr"/>
                      <a:r>
                        <a:rPr lang="en-US" sz="2000" b="1" dirty="0"/>
                        <a:t>Holds on  </a:t>
                      </a:r>
                      <a:r>
                        <a:rPr lang="en-US" sz="2000" i="1" kern="100" dirty="0">
                          <a:solidFill>
                            <a:schemeClr val="tx1"/>
                          </a:solidFill>
                          <a:effectLst/>
                          <a:latin typeface="Times New Roman" panose="02020603050405020304" pitchFamily="18" charset="0"/>
                          <a:cs typeface="Times New Roman" panose="02020603050405020304" pitchFamily="18" charset="0"/>
                        </a:rPr>
                        <a:t>H</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lnB w="19050" cap="flat" cmpd="sng" algn="ctr">
                      <a:solidFill>
                        <a:schemeClr val="tx1"/>
                      </a:solidFill>
                      <a:prstDash val="solid"/>
                      <a:round/>
                      <a:headEnd type="none" w="med" len="med"/>
                      <a:tailEnd type="none" w="med" len="med"/>
                    </a:lnB>
                    <a:noFill/>
                  </a:tcPr>
                </a:tc>
                <a:tc>
                  <a:txBody>
                    <a:bodyPr/>
                    <a:lstStyle/>
                    <a:p>
                      <a:pPr indent="127000" algn="ctr"/>
                      <a:r>
                        <a:rPr lang="en-US" sz="2000" b="1" i="1" kern="100" dirty="0">
                          <a:solidFill>
                            <a:schemeClr val="tx1"/>
                          </a:solidFill>
                          <a:effectLst/>
                          <a:latin typeface="Times New Roman" panose="02020603050405020304" pitchFamily="18" charset="0"/>
                          <a:cs typeface="Times New Roman" panose="02020603050405020304" pitchFamily="18" charset="0"/>
                        </a:rPr>
                        <a:t>e</a:t>
                      </a:r>
                      <a:r>
                        <a:rPr lang="zh-CN" sz="2000" b="1" kern="100" dirty="0">
                          <a:solidFill>
                            <a:schemeClr val="tx1"/>
                          </a:solidFill>
                          <a:effectLst/>
                          <a:latin typeface="Times New Roman" panose="02020603050405020304" pitchFamily="18" charset="0"/>
                          <a:cs typeface="Times New Roman" panose="02020603050405020304" pitchFamily="18" charset="0"/>
                        </a:rPr>
                        <a:t>∈</a:t>
                      </a:r>
                      <a:r>
                        <a:rPr lang="zh-CN" sz="2000" b="1" i="1" kern="100" dirty="0">
                          <a:solidFill>
                            <a:schemeClr val="tx1"/>
                          </a:solidFill>
                          <a:effectLst/>
                          <a:latin typeface="Times New Roman" panose="02020603050405020304" pitchFamily="18" charset="0"/>
                          <a:cs typeface="Times New Roman" panose="02020603050405020304" pitchFamily="18" charset="0"/>
                        </a:rPr>
                        <a:t>H</a:t>
                      </a:r>
                      <a:endParaRPr lang="zh-CN" sz="2000" b="1" i="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anchor="ctr">
                    <a:lnB w="19050" cap="flat" cmpd="sng" algn="ctr">
                      <a:solidFill>
                        <a:schemeClr val="tx1"/>
                      </a:solidFill>
                      <a:prstDash val="solid"/>
                      <a:round/>
                      <a:headEnd type="none" w="med" len="med"/>
                      <a:tailEnd type="none" w="med" len="med"/>
                    </a:lnB>
                    <a:noFill/>
                  </a:tcPr>
                </a:tc>
                <a:tc>
                  <a:txBody>
                    <a:bodyPr/>
                    <a:lstStyle/>
                    <a:p>
                      <a:r>
                        <a:rPr lang="en-US" altLang="zh-CN" sz="2000" i="0" kern="100" dirty="0">
                          <a:solidFill>
                            <a:schemeClr val="tx1"/>
                          </a:solidFill>
                          <a:effectLst/>
                          <a:latin typeface="Times New Roman" panose="02020603050405020304" pitchFamily="18" charset="0"/>
                          <a:cs typeface="Times New Roman" panose="02020603050405020304" pitchFamily="18" charset="0"/>
                        </a:rPr>
                        <a:t>Each element in </a:t>
                      </a:r>
                      <a:r>
                        <a:rPr lang="en-US" altLang="zh-CN" sz="2000" b="1" i="1" kern="100" dirty="0">
                          <a:solidFill>
                            <a:schemeClr val="tx1"/>
                          </a:solidFill>
                          <a:effectLst/>
                          <a:latin typeface="Times New Roman" panose="02020603050405020304" pitchFamily="18" charset="0"/>
                          <a:cs typeface="Times New Roman" panose="02020603050405020304" pitchFamily="18" charset="0"/>
                        </a:rPr>
                        <a:t>H </a:t>
                      </a:r>
                      <a:r>
                        <a:rPr lang="en-US" altLang="zh-CN" sz="2000" i="0" kern="100" dirty="0">
                          <a:solidFill>
                            <a:schemeClr val="tx1"/>
                          </a:solidFill>
                          <a:effectLst/>
                          <a:latin typeface="Times New Roman" panose="02020603050405020304" pitchFamily="18" charset="0"/>
                          <a:cs typeface="Times New Roman" panose="02020603050405020304" pitchFamily="18" charset="0"/>
                        </a:rPr>
                        <a:t>exist</a:t>
                      </a:r>
                      <a:endParaRPr lang="zh-CN" altLang="en-US" sz="2000" i="0" dirty="0">
                        <a:solidFill>
                          <a:schemeClr val="tx1"/>
                        </a:solidFill>
                        <a:latin typeface="Times New Roman" panose="02020603050405020304" pitchFamily="18" charset="0"/>
                        <a:cs typeface="Times New Roman" panose="02020603050405020304" pitchFamily="18" charset="0"/>
                      </a:endParaRPr>
                    </a:p>
                  </a:txBody>
                  <a:tcP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638968"/>
                  </a:ext>
                </a:extLst>
              </a:tr>
            </a:tbl>
          </a:graphicData>
        </a:graphic>
      </p:graphicFrame>
    </p:spTree>
    <p:extLst>
      <p:ext uri="{BB962C8B-B14F-4D97-AF65-F5344CB8AC3E}">
        <p14:creationId xmlns:p14="http://schemas.microsoft.com/office/powerpoint/2010/main" val="39770645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9.3.2 Groups</a:t>
            </a:r>
            <a:endParaRPr lang="en-US" altLang="zh-CN" b="1" dirty="0">
              <a:latin typeface="Trebuchet MS" panose="020B0603020202020204" pitchFamily="34" charset="0"/>
              <a:cs typeface="Times New Roman" panose="02020603050405020304" pitchFamily="18" charset="0"/>
            </a:endParaRPr>
          </a:p>
          <a:p>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Subgroup, Proper Subgroup, and Trivial Subgroup</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2" name="Text Box 3">
            <a:extLst>
              <a:ext uri="{FF2B5EF4-FFF2-40B4-BE49-F238E27FC236}">
                <a16:creationId xmlns:a16="http://schemas.microsoft.com/office/drawing/2014/main" id="{EB3FD36C-3A2D-439D-80A3-7C8E834A21EB}"/>
              </a:ext>
            </a:extLst>
          </p:cNvPr>
          <p:cNvSpPr txBox="1">
            <a:spLocks noChangeArrowheads="1"/>
          </p:cNvSpPr>
          <p:nvPr/>
        </p:nvSpPr>
        <p:spPr bwMode="auto">
          <a:xfrm>
            <a:off x="1008377" y="831310"/>
            <a:ext cx="9680405" cy="4544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269875" indent="-269875">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9.17</a:t>
            </a:r>
            <a:r>
              <a:rPr lang="en-US" altLang="zh-CN" sz="2400" b="1" dirty="0">
                <a:latin typeface="Trebuchet MS" panose="020B0603020202020204" pitchFamily="34" charset="0"/>
              </a:rPr>
              <a:t>: </a:t>
            </a:r>
            <a:r>
              <a:rPr lang="en-US" sz="2400" dirty="0">
                <a:latin typeface="Trebuchet MS" panose="020B0603020202020204" pitchFamily="34" charset="0"/>
              </a:rPr>
              <a:t>Let </a:t>
            </a:r>
            <a:r>
              <a:rPr lang="en-US" altLang="zh-CN" sz="2400" b="1" i="1" dirty="0">
                <a:solidFill>
                  <a:schemeClr val="tx1"/>
                </a:solidFill>
                <a:latin typeface="Trebuchet MS" panose="020B0603020202020204" pitchFamily="34" charset="0"/>
                <a:ea typeface="宋体" panose="02010600030101010101" pitchFamily="2" charset="-122"/>
              </a:rPr>
              <a:t>G</a:t>
            </a:r>
            <a:r>
              <a:rPr lang="en-US" sz="2400" dirty="0">
                <a:latin typeface="Trebuchet MS" panose="020B0603020202020204" pitchFamily="34" charset="0"/>
              </a:rPr>
              <a:t> be a group, and let </a:t>
            </a:r>
            <a:r>
              <a:rPr lang="en-US" altLang="zh-CN" sz="2400" b="1" i="1" dirty="0">
                <a:solidFill>
                  <a:schemeClr val="tx1"/>
                </a:solidFill>
                <a:latin typeface="Trebuchet MS" panose="020B0603020202020204" pitchFamily="34" charset="0"/>
                <a:ea typeface="宋体" panose="02010600030101010101" pitchFamily="2" charset="-122"/>
              </a:rPr>
              <a:t>H </a:t>
            </a:r>
            <a:r>
              <a:rPr lang="en-US" sz="2400" dirty="0">
                <a:latin typeface="Trebuchet MS" panose="020B0603020202020204" pitchFamily="34" charset="0"/>
              </a:rPr>
              <a:t>be a </a:t>
            </a:r>
            <a:r>
              <a:rPr lang="en-US" sz="2400" b="1" dirty="0">
                <a:latin typeface="Trebuchet MS" panose="020B0603020202020204" pitchFamily="34" charset="0"/>
              </a:rPr>
              <a:t>nonempty subset </a:t>
            </a:r>
            <a:r>
              <a:rPr lang="en-US" sz="2400" dirty="0">
                <a:latin typeface="Trebuchet MS" panose="020B0603020202020204" pitchFamily="34" charset="0"/>
              </a:rPr>
              <a:t>of </a:t>
            </a:r>
            <a:r>
              <a:rPr lang="en-US" altLang="zh-CN" sz="2400" b="1" i="1" dirty="0">
                <a:solidFill>
                  <a:schemeClr val="tx1"/>
                </a:solidFill>
                <a:latin typeface="Trebuchet MS" panose="020B0603020202020204" pitchFamily="34" charset="0"/>
                <a:ea typeface="宋体" panose="02010600030101010101" pitchFamily="2" charset="-122"/>
              </a:rPr>
              <a:t>G </a:t>
            </a:r>
            <a:r>
              <a:rPr lang="en-US" sz="2400" dirty="0">
                <a:latin typeface="Trebuchet MS" panose="020B0603020202020204" pitchFamily="34" charset="0"/>
              </a:rPr>
              <a:t>. </a:t>
            </a:r>
          </a:p>
          <a:p>
            <a:pPr marL="450850" indent="-180975">
              <a:lnSpc>
                <a:spcPct val="120000"/>
              </a:lnSpc>
              <a:spcBef>
                <a:spcPts val="600"/>
              </a:spcBef>
              <a:buClr>
                <a:srgbClr val="0B61FF"/>
              </a:buClr>
              <a:buSzPct val="120000"/>
              <a:buFont typeface="Arial" panose="020B0604020202020204" pitchFamily="34" charset="0"/>
              <a:buChar char="•"/>
              <a:tabLst>
                <a:tab pos="269875" algn="l"/>
              </a:tabLst>
            </a:pPr>
            <a:r>
              <a:rPr lang="en-US" sz="2400" dirty="0">
                <a:latin typeface="Trebuchet MS" panose="020B0603020202020204" pitchFamily="34" charset="0"/>
              </a:rPr>
              <a:t>If </a:t>
            </a:r>
            <a:r>
              <a:rPr lang="en-US" altLang="zh-CN" sz="2400" b="1" i="1" dirty="0">
                <a:solidFill>
                  <a:schemeClr val="tx1"/>
                </a:solidFill>
                <a:latin typeface="Trebuchet MS" panose="020B0603020202020204" pitchFamily="34" charset="0"/>
                <a:ea typeface="宋体" panose="02010600030101010101" pitchFamily="2" charset="-122"/>
              </a:rPr>
              <a:t>H</a:t>
            </a:r>
            <a:r>
              <a:rPr lang="en-US" sz="2400" dirty="0">
                <a:latin typeface="Trebuchet MS" panose="020B0603020202020204" pitchFamily="34" charset="0"/>
              </a:rPr>
              <a:t>, under the operation inherited from </a:t>
            </a:r>
            <a:r>
              <a:rPr lang="en-US" altLang="zh-CN" sz="2400" b="1" i="1" dirty="0">
                <a:solidFill>
                  <a:schemeClr val="tx1"/>
                </a:solidFill>
                <a:latin typeface="Trebuchet MS" panose="020B0603020202020204" pitchFamily="34" charset="0"/>
                <a:ea typeface="宋体" panose="02010600030101010101" pitchFamily="2" charset="-122"/>
              </a:rPr>
              <a:t>G </a:t>
            </a:r>
            <a:r>
              <a:rPr lang="en-US" sz="2400" dirty="0">
                <a:latin typeface="Trebuchet MS" panose="020B0603020202020204" pitchFamily="34" charset="0"/>
              </a:rPr>
              <a:t>, forms a group, then H is called a </a:t>
            </a:r>
            <a:r>
              <a:rPr lang="en-US" sz="2400" b="1" i="1" dirty="0">
                <a:solidFill>
                  <a:srgbClr val="0B61FF"/>
                </a:solidFill>
                <a:latin typeface="Trebuchet MS" panose="020B0603020202020204" pitchFamily="34" charset="0"/>
              </a:rPr>
              <a:t>subgroup </a:t>
            </a:r>
            <a:r>
              <a:rPr lang="en-US" sz="2400" dirty="0">
                <a:latin typeface="Trebuchet MS" panose="020B0603020202020204" pitchFamily="34" charset="0"/>
              </a:rPr>
              <a:t>of </a:t>
            </a:r>
            <a:r>
              <a:rPr lang="en-US" altLang="zh-CN" sz="2400" b="1" i="1" dirty="0">
                <a:latin typeface="Trebuchet MS" panose="020B0603020202020204" pitchFamily="34" charset="0"/>
                <a:ea typeface="宋体" panose="02010600030101010101" pitchFamily="2" charset="-122"/>
              </a:rPr>
              <a:t>G</a:t>
            </a:r>
            <a:r>
              <a:rPr lang="en-US" altLang="zh-CN" sz="2400" b="1" i="1" dirty="0">
                <a:solidFill>
                  <a:schemeClr val="tx1"/>
                </a:solidFill>
                <a:latin typeface="Trebuchet MS" panose="020B0603020202020204" pitchFamily="34" charset="0"/>
                <a:ea typeface="宋体" panose="02010600030101010101" pitchFamily="2" charset="-122"/>
              </a:rPr>
              <a:t> </a:t>
            </a:r>
            <a:r>
              <a:rPr lang="en-US" sz="2400" dirty="0">
                <a:latin typeface="Trebuchet MS" panose="020B0603020202020204" pitchFamily="34" charset="0"/>
              </a:rPr>
              <a:t>, denoted </a:t>
            </a:r>
            <a:r>
              <a:rPr lang="en-US" altLang="zh-CN" sz="2400" b="1" i="1" dirty="0">
                <a:solidFill>
                  <a:srgbClr val="FF0000"/>
                </a:solidFill>
                <a:latin typeface="Trebuchet MS" panose="020B0603020202020204" pitchFamily="34" charset="0"/>
                <a:ea typeface="宋体" panose="02010600030101010101" pitchFamily="2" charset="-122"/>
              </a:rPr>
              <a:t>H</a:t>
            </a:r>
            <a:r>
              <a:rPr lang="en-US" altLang="zh-CN" sz="2400" b="1" dirty="0">
                <a:solidFill>
                  <a:srgbClr val="FF0000"/>
                </a:solidFill>
                <a:latin typeface="Trebuchet MS" panose="020B0603020202020204" pitchFamily="34" charset="0"/>
                <a:ea typeface="宋体" panose="02010600030101010101" pitchFamily="2" charset="-122"/>
              </a:rPr>
              <a:t>≤</a:t>
            </a:r>
            <a:r>
              <a:rPr lang="en-US" altLang="zh-CN" sz="2400" b="1" i="1" dirty="0">
                <a:solidFill>
                  <a:srgbClr val="FF0000"/>
                </a:solidFill>
                <a:latin typeface="Trebuchet MS" panose="020B0603020202020204" pitchFamily="34" charset="0"/>
                <a:ea typeface="宋体" panose="02010600030101010101" pitchFamily="2" charset="-122"/>
              </a:rPr>
              <a:t>G</a:t>
            </a:r>
            <a:r>
              <a:rPr lang="en-US" altLang="zh-CN" sz="2400" b="1" dirty="0">
                <a:solidFill>
                  <a:schemeClr val="tx1"/>
                </a:solidFill>
                <a:latin typeface="Trebuchet MS" panose="020B0603020202020204" pitchFamily="34" charset="0"/>
                <a:ea typeface="宋体" panose="02010600030101010101" pitchFamily="2" charset="-122"/>
              </a:rPr>
              <a:t>. </a:t>
            </a:r>
          </a:p>
          <a:p>
            <a:pPr marL="450850" indent="-180975">
              <a:lnSpc>
                <a:spcPct val="120000"/>
              </a:lnSpc>
              <a:spcBef>
                <a:spcPts val="600"/>
              </a:spcBef>
              <a:buClr>
                <a:srgbClr val="0B61FF"/>
              </a:buClr>
              <a:buSzPct val="120000"/>
              <a:buFont typeface="Arial" panose="020B0604020202020204" pitchFamily="34" charset="0"/>
              <a:buChar char="•"/>
              <a:tabLst>
                <a:tab pos="269875" algn="l"/>
              </a:tabLst>
            </a:pPr>
            <a:r>
              <a:rPr lang="en-US" sz="2400" dirty="0">
                <a:latin typeface="Trebuchet MS" panose="020B0603020202020204" pitchFamily="34" charset="0"/>
              </a:rPr>
              <a:t>If </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H </a:t>
            </a:r>
            <a:r>
              <a:rPr lang="en-US" sz="2400" dirty="0">
                <a:latin typeface="Trebuchet MS" panose="020B0603020202020204" pitchFamily="34" charset="0"/>
              </a:rPr>
              <a:t> is a subgroup of </a:t>
            </a:r>
            <a:r>
              <a:rPr lang="en-US" altLang="zh-CN" sz="2400" b="1" i="1" dirty="0">
                <a:solidFill>
                  <a:schemeClr val="tx1"/>
                </a:solidFill>
                <a:latin typeface="Trebuchet MS" panose="020B0603020202020204" pitchFamily="34" charset="0"/>
                <a:ea typeface="宋体" panose="02010600030101010101" pitchFamily="2" charset="-122"/>
              </a:rPr>
              <a:t>G</a:t>
            </a:r>
            <a:r>
              <a:rPr lang="en-US" sz="2400" dirty="0">
                <a:latin typeface="Trebuchet MS" panose="020B0603020202020204" pitchFamily="34" charset="0"/>
              </a:rPr>
              <a:t> and H⊊G, then </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H</a:t>
            </a:r>
            <a:r>
              <a:rPr lang="en-US" sz="2400" dirty="0">
                <a:latin typeface="Trebuchet MS" panose="020B0603020202020204" pitchFamily="34" charset="0"/>
              </a:rPr>
              <a:t> is called </a:t>
            </a:r>
            <a:r>
              <a:rPr lang="en-US" sz="2400" i="1" dirty="0">
                <a:solidFill>
                  <a:srgbClr val="0B61FF"/>
                </a:solidFill>
                <a:latin typeface="Trebuchet MS" panose="020B0603020202020204" pitchFamily="34" charset="0"/>
              </a:rPr>
              <a:t>a </a:t>
            </a:r>
            <a:r>
              <a:rPr lang="en-US" sz="2400" b="1" i="1" dirty="0">
                <a:solidFill>
                  <a:srgbClr val="0B61FF"/>
                </a:solidFill>
                <a:latin typeface="Trebuchet MS" panose="020B0603020202020204" pitchFamily="34" charset="0"/>
              </a:rPr>
              <a:t>proper subgroup</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of </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G</a:t>
            </a:r>
            <a:r>
              <a:rPr lang="en-US" sz="2400" dirty="0">
                <a:latin typeface="Trebuchet MS" panose="020B0603020202020204" pitchFamily="34" charset="0"/>
              </a:rPr>
              <a:t>, denoted </a:t>
            </a:r>
            <a:r>
              <a:rPr lang="en-US" altLang="zh-CN" sz="2400" b="1" i="1" dirty="0">
                <a:solidFill>
                  <a:srgbClr val="FF0000"/>
                </a:solidFill>
                <a:latin typeface="Trebuchet MS" panose="020B0603020202020204" pitchFamily="34" charset="0"/>
                <a:ea typeface="宋体" panose="02010600030101010101" pitchFamily="2" charset="-122"/>
                <a:sym typeface="Symbol" panose="05050102010706020507" pitchFamily="18" charset="2"/>
              </a:rPr>
              <a:t>H</a:t>
            </a:r>
            <a:r>
              <a:rPr lang="en-US" altLang="zh-CN" sz="2400" b="1" dirty="0">
                <a:solidFill>
                  <a:srgbClr val="FF0000"/>
                </a:solidFill>
                <a:latin typeface="Trebuchet MS" panose="020B0603020202020204" pitchFamily="34" charset="0"/>
                <a:ea typeface="宋体" panose="02010600030101010101" pitchFamily="2" charset="-122"/>
                <a:sym typeface="Symbol" panose="05050102010706020507" pitchFamily="18" charset="2"/>
              </a:rPr>
              <a:t>&lt;</a:t>
            </a:r>
            <a:r>
              <a:rPr lang="en-US" altLang="zh-CN" sz="2400" b="1" i="1" dirty="0">
                <a:solidFill>
                  <a:srgbClr val="FF0000"/>
                </a:solidFill>
                <a:latin typeface="Trebuchet MS" panose="020B0603020202020204" pitchFamily="34" charset="0"/>
                <a:ea typeface="宋体" panose="02010600030101010101" pitchFamily="2" charset="-122"/>
                <a:sym typeface="Symbol" panose="05050102010706020507" pitchFamily="18" charset="2"/>
              </a:rPr>
              <a:t>G</a:t>
            </a:r>
            <a:r>
              <a:rPr lang="en-US" sz="2400" dirty="0">
                <a:latin typeface="Trebuchet MS" panose="020B0603020202020204" pitchFamily="34" charset="0"/>
              </a:rPr>
              <a:t>.</a:t>
            </a:r>
          </a:p>
          <a:p>
            <a:pPr marL="450850" indent="-180975">
              <a:lnSpc>
                <a:spcPct val="120000"/>
              </a:lnSpc>
              <a:spcBef>
                <a:spcPts val="600"/>
              </a:spcBef>
              <a:buClr>
                <a:srgbClr val="0B61FF"/>
              </a:buClr>
              <a:buSzPct val="120000"/>
              <a:buFont typeface="Arial" panose="020B0604020202020204" pitchFamily="34" charset="0"/>
              <a:buChar char="•"/>
              <a:tabLst>
                <a:tab pos="269875" algn="l"/>
              </a:tabLst>
            </a:pPr>
            <a:r>
              <a:rPr lang="en-US" sz="2400" dirty="0">
                <a:latin typeface="Trebuchet MS" panose="020B0603020202020204" pitchFamily="34" charset="0"/>
              </a:rPr>
              <a:t>Every group </a:t>
            </a:r>
            <a:r>
              <a:rPr lang="en-US" sz="2400" b="1" i="1" dirty="0">
                <a:latin typeface="Trebuchet MS" panose="020B0603020202020204" pitchFamily="34" charset="0"/>
              </a:rPr>
              <a:t>G</a:t>
            </a:r>
            <a:r>
              <a:rPr lang="en-US" sz="2400" dirty="0">
                <a:latin typeface="Trebuchet MS" panose="020B0603020202020204" pitchFamily="34" charset="0"/>
              </a:rPr>
              <a:t> has subgroups. Both </a:t>
            </a:r>
            <a:r>
              <a:rPr lang="en-US" sz="2400" b="1" i="1" dirty="0">
                <a:latin typeface="Trebuchet MS" panose="020B0603020202020204" pitchFamily="34" charset="0"/>
              </a:rPr>
              <a:t>G</a:t>
            </a:r>
            <a:r>
              <a:rPr lang="en-US" sz="2400" dirty="0">
                <a:latin typeface="Trebuchet MS" panose="020B0603020202020204" pitchFamily="34" charset="0"/>
              </a:rPr>
              <a:t> itself and the set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e</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sz="2400" dirty="0">
                <a:latin typeface="Trebuchet MS" panose="020B0603020202020204" pitchFamily="34" charset="0"/>
              </a:rPr>
              <a:t>(where e is the identity element of </a:t>
            </a:r>
            <a:r>
              <a:rPr lang="en-US" sz="2400" b="1" i="1" dirty="0">
                <a:latin typeface="Trebuchet MS" panose="020B0603020202020204" pitchFamily="34" charset="0"/>
              </a:rPr>
              <a:t>G</a:t>
            </a:r>
            <a:r>
              <a:rPr lang="en-US" sz="2400" dirty="0">
                <a:latin typeface="Trebuchet MS" panose="020B0603020202020204" pitchFamily="34" charset="0"/>
              </a:rPr>
              <a:t>) are subgroups of </a:t>
            </a:r>
            <a:r>
              <a:rPr lang="en-US" sz="2400" b="1" i="1" dirty="0">
                <a:latin typeface="Trebuchet MS" panose="020B0603020202020204" pitchFamily="34" charset="0"/>
              </a:rPr>
              <a:t>G</a:t>
            </a:r>
            <a:r>
              <a:rPr lang="en-US" sz="2400" dirty="0">
                <a:latin typeface="Trebuchet MS" panose="020B0603020202020204" pitchFamily="34" charset="0"/>
              </a:rPr>
              <a:t>, and they are called the </a:t>
            </a:r>
            <a:r>
              <a:rPr lang="en-US" sz="2400" b="1" i="1" dirty="0">
                <a:solidFill>
                  <a:srgbClr val="0B61FF"/>
                </a:solidFill>
                <a:latin typeface="Trebuchet MS" panose="020B0603020202020204" pitchFamily="34" charset="0"/>
              </a:rPr>
              <a:t>trivial subgroups</a:t>
            </a:r>
            <a:r>
              <a:rPr lang="en-US" sz="2400" dirty="0">
                <a:latin typeface="Trebuchet MS" panose="020B0603020202020204" pitchFamily="34" charset="0"/>
              </a:rPr>
              <a:t> of </a:t>
            </a:r>
            <a:r>
              <a:rPr lang="en-US" sz="2400" b="1" i="1" dirty="0">
                <a:latin typeface="Trebuchet MS" panose="020B0603020202020204" pitchFamily="34" charset="0"/>
              </a:rPr>
              <a:t>G</a:t>
            </a:r>
            <a:r>
              <a:rPr lang="en-US" sz="2400" dirty="0">
                <a:latin typeface="Trebuchet MS" panose="020B0603020202020204" pitchFamily="34" charset="0"/>
              </a:rPr>
              <a:t>.</a:t>
            </a:r>
            <a:endPar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endParaRPr>
          </a:p>
        </p:txBody>
      </p:sp>
    </p:spTree>
    <p:extLst>
      <p:ext uri="{BB962C8B-B14F-4D97-AF65-F5344CB8AC3E}">
        <p14:creationId xmlns:p14="http://schemas.microsoft.com/office/powerpoint/2010/main" val="3140333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3" end="3"/>
                                            </p:txEl>
                                          </p:spTgt>
                                        </p:tgtEl>
                                        <p:attrNameLst>
                                          <p:attrName>style.visibility</p:attrName>
                                        </p:attrNameLst>
                                      </p:cBhvr>
                                      <p:to>
                                        <p:strVal val="visible"/>
                                      </p:to>
                                    </p:set>
                                    <p:animEffect transition="in" filter="fade">
                                      <p:cBhvr>
                                        <p:cTn id="14" dur="1000"/>
                                        <p:tgtEl>
                                          <p:spTgt spid="12">
                                            <p:txEl>
                                              <p:pRg st="3" end="3"/>
                                            </p:txEl>
                                          </p:spTgt>
                                        </p:tgtEl>
                                      </p:cBhvr>
                                    </p:animEffect>
                                    <p:anim calcmode="lin" valueType="num">
                                      <p:cBhvr>
                                        <p:cTn id="1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Subgroup, Proper Subgroup, and Trivial Subgroup(</a:t>
            </a:r>
            <a:r>
              <a:rPr lang="en-US" altLang="zh-CN" sz="2400" b="1" dirty="0" err="1">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0" name="Text Box 3">
            <a:extLst>
              <a:ext uri="{FF2B5EF4-FFF2-40B4-BE49-F238E27FC236}">
                <a16:creationId xmlns:a16="http://schemas.microsoft.com/office/drawing/2014/main" id="{5AB2A464-1A26-4709-8F45-AB36450363DE}"/>
              </a:ext>
            </a:extLst>
          </p:cNvPr>
          <p:cNvSpPr txBox="1">
            <a:spLocks noChangeArrowheads="1"/>
          </p:cNvSpPr>
          <p:nvPr/>
        </p:nvSpPr>
        <p:spPr bwMode="auto">
          <a:xfrm>
            <a:off x="967830" y="806178"/>
            <a:ext cx="10256340" cy="5298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p>
          <a:p>
            <a:pPr marL="360363">
              <a:lnSpc>
                <a:spcPct val="120000"/>
              </a:lnSpc>
              <a:spcBef>
                <a:spcPts val="600"/>
              </a:spcBef>
              <a:buClr>
                <a:srgbClr val="0B61FF"/>
              </a:buClr>
              <a:buSzPct val="80000"/>
            </a:pPr>
            <a:r>
              <a:rPr lang="en-US" sz="2400" dirty="0">
                <a:latin typeface="Trebuchet MS" panose="020B0603020202020204" pitchFamily="34" charset="0"/>
              </a:rPr>
              <a:t>For any natural number n, the set </a:t>
            </a:r>
            <a:r>
              <a:rPr lang="zh-CN" altLang="en-US" sz="2400" b="1" dirty="0">
                <a:solidFill>
                  <a:srgbClr val="00B0F0"/>
                </a:solidFill>
                <a:latin typeface="Trebuchet MS" panose="020B0603020202020204" pitchFamily="34" charset="0"/>
                <a:sym typeface="Symbol" panose="05050102010706020507" pitchFamily="18" charset="2"/>
              </a:rPr>
              <a:t> </a:t>
            </a:r>
            <a:r>
              <a:rPr lang="en-US" altLang="zh-CN" sz="2400" b="1" i="1" dirty="0" err="1">
                <a:latin typeface="Trebuchet MS" panose="020B0603020202020204" pitchFamily="34" charset="0"/>
                <a:sym typeface="Symbol" panose="05050102010706020507" pitchFamily="18" charset="2"/>
              </a:rPr>
              <a:t>n</a:t>
            </a:r>
            <a:r>
              <a:rPr lang="en-US" altLang="zh-CN" sz="2400" b="1" dirty="0" err="1">
                <a:latin typeface="Trebuchet MS" panose="020B0603020202020204" pitchFamily="34" charset="0"/>
                <a:sym typeface="Symbol" panose="05050102010706020507" pitchFamily="18" charset="2"/>
              </a:rPr>
              <a:t>Z</a:t>
            </a:r>
            <a:r>
              <a:rPr lang="en-US" altLang="zh-CN" sz="2400" b="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is a subgroup of the additive group of integers </a:t>
            </a:r>
            <a:r>
              <a:rPr lang="en-US" altLang="zh-CN" sz="2400" b="1" dirty="0">
                <a:latin typeface="Trebuchet MS" panose="020B0603020202020204" pitchFamily="34" charset="0"/>
                <a:sym typeface="Symbol" panose="05050102010706020507" pitchFamily="18" charset="2"/>
              </a:rPr>
              <a:t>&lt;Z,+&gt; .</a:t>
            </a:r>
            <a:r>
              <a:rPr lang="en-US" sz="2400" dirty="0">
                <a:latin typeface="Trebuchet MS" panose="020B0603020202020204" pitchFamily="34" charset="0"/>
              </a:rPr>
              <a:t>When </a:t>
            </a:r>
            <a:r>
              <a:rPr lang="en-US" altLang="zh-CN" sz="2400" b="1" i="1" dirty="0">
                <a:latin typeface="Trebuchet MS" panose="020B0603020202020204" pitchFamily="34" charset="0"/>
                <a:sym typeface="Symbol" panose="05050102010706020507" pitchFamily="18" charset="2"/>
              </a:rPr>
              <a:t>n</a:t>
            </a:r>
            <a:r>
              <a:rPr lang="en-US" altLang="zh-CN" sz="2400" b="1" dirty="0">
                <a:latin typeface="Trebuchet MS" panose="020B0603020202020204" pitchFamily="34" charset="0"/>
                <a:sym typeface="Symbol" panose="05050102010706020507" pitchFamily="18" charset="2"/>
              </a:rPr>
              <a:t>≠1</a:t>
            </a:r>
            <a:r>
              <a:rPr lang="en-US" sz="2400" dirty="0">
                <a:latin typeface="Trebuchet MS" panose="020B0603020202020204" pitchFamily="34" charset="0"/>
              </a:rPr>
              <a:t>, </a:t>
            </a:r>
            <a:r>
              <a:rPr lang="en-US" altLang="zh-CN" sz="2400" b="1" i="1" dirty="0" err="1">
                <a:latin typeface="Trebuchet MS" panose="020B0603020202020204" pitchFamily="34" charset="0"/>
                <a:sym typeface="Symbol" panose="05050102010706020507" pitchFamily="18" charset="2"/>
              </a:rPr>
              <a:t>n</a:t>
            </a:r>
            <a:r>
              <a:rPr lang="en-US" altLang="zh-CN" sz="2400" b="1" dirty="0" err="1">
                <a:latin typeface="Trebuchet MS" panose="020B0603020202020204" pitchFamily="34" charset="0"/>
                <a:sym typeface="Symbol" panose="05050102010706020507" pitchFamily="18" charset="2"/>
              </a:rPr>
              <a:t>Z</a:t>
            </a:r>
            <a:r>
              <a:rPr lang="en-US" altLang="zh-CN" sz="2400" b="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is a </a:t>
            </a:r>
            <a:r>
              <a:rPr lang="en-US" sz="2400" b="1" dirty="0">
                <a:latin typeface="Trebuchet MS" panose="020B0603020202020204" pitchFamily="34" charset="0"/>
              </a:rPr>
              <a:t>proper subgroup</a:t>
            </a:r>
            <a:r>
              <a:rPr lang="en-US" sz="2400" dirty="0">
                <a:latin typeface="Trebuchet MS" panose="020B0603020202020204" pitchFamily="34" charset="0"/>
              </a:rPr>
              <a:t> of </a:t>
            </a:r>
            <a:r>
              <a:rPr lang="en-US" altLang="zh-CN" sz="2400" b="1" dirty="0">
                <a:latin typeface="Trebuchet MS" panose="020B0603020202020204" pitchFamily="34" charset="0"/>
                <a:sym typeface="Symbol" panose="05050102010706020507" pitchFamily="18" charset="2"/>
              </a:rPr>
              <a:t>Z</a:t>
            </a:r>
            <a:r>
              <a:rPr lang="en-US" sz="2400" dirty="0">
                <a:latin typeface="Trebuchet MS" panose="020B0603020202020204" pitchFamily="34" charset="0"/>
              </a:rPr>
              <a:t>.</a:t>
            </a:r>
          </a:p>
          <a:p>
            <a:pPr marL="342900" indent="-342900">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Notes:</a:t>
            </a:r>
          </a:p>
          <a:p>
            <a:pPr marL="539750" indent="-269875">
              <a:lnSpc>
                <a:spcPct val="120000"/>
              </a:lnSpc>
              <a:spcBef>
                <a:spcPts val="600"/>
              </a:spcBef>
              <a:buClr>
                <a:srgbClr val="0B61FF"/>
              </a:buClr>
              <a:buSzPct val="120000"/>
              <a:buFont typeface="Arial" panose="020B0604020202020204" pitchFamily="34" charset="0"/>
              <a:buChar char="•"/>
              <a:tabLst>
                <a:tab pos="539750" algn="l"/>
              </a:tabLst>
            </a:pPr>
            <a:r>
              <a:rPr lang="en-US" sz="2400" dirty="0">
                <a:latin typeface="Trebuchet MS" panose="020B0603020202020204" pitchFamily="34" charset="0"/>
              </a:rPr>
              <a:t>The notation </a:t>
            </a:r>
            <a:r>
              <a:rPr lang="en-US" altLang="zh-CN" sz="2400" b="1" i="1" dirty="0" err="1">
                <a:latin typeface="Trebuchet MS" panose="020B0603020202020204" pitchFamily="34" charset="0"/>
                <a:sym typeface="Symbol" panose="05050102010706020507" pitchFamily="18" charset="2"/>
              </a:rPr>
              <a:t>n</a:t>
            </a:r>
            <a:r>
              <a:rPr lang="en-US" altLang="zh-CN" sz="2400" b="1" dirty="0" err="1">
                <a:latin typeface="Trebuchet MS" panose="020B0603020202020204" pitchFamily="34" charset="0"/>
                <a:sym typeface="Symbol" panose="05050102010706020507" pitchFamily="18" charset="2"/>
              </a:rPr>
              <a:t>Z</a:t>
            </a:r>
            <a:r>
              <a:rPr lang="en-US" altLang="zh-CN" sz="2400" b="1" dirty="0">
                <a:latin typeface="Trebuchet MS" panose="020B0603020202020204" pitchFamily="34" charset="0"/>
                <a:sym typeface="Symbol" panose="05050102010706020507" pitchFamily="18" charset="2"/>
              </a:rPr>
              <a:t> </a:t>
            </a:r>
            <a:r>
              <a:rPr lang="en-US" sz="2400" dirty="0">
                <a:latin typeface="Trebuchet MS" panose="020B0603020202020204" pitchFamily="34" charset="0"/>
              </a:rPr>
              <a:t>denotes the set of all integer multiples of </a:t>
            </a:r>
            <a:r>
              <a:rPr lang="en-US" altLang="zh-CN" sz="2400" b="1" i="1"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n</a:t>
            </a:r>
            <a:r>
              <a:rPr lang="en-US" sz="2400" dirty="0">
                <a:latin typeface="Trebuchet MS" panose="020B0603020202020204" pitchFamily="34" charset="0"/>
              </a:rPr>
              <a:t>, it is a subset of </a:t>
            </a:r>
            <a:r>
              <a:rPr lang="en-US" sz="2400" b="1" dirty="0">
                <a:latin typeface="Trebuchet MS" panose="020B0603020202020204" pitchFamily="34" charset="0"/>
              </a:rPr>
              <a:t>Z</a:t>
            </a:r>
            <a:r>
              <a:rPr lang="en-US" sz="2400" dirty="0">
                <a:latin typeface="Trebuchet MS" panose="020B0603020202020204" pitchFamily="34" charset="0"/>
              </a:rPr>
              <a:t>, and the subgroup </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&lt;</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n</a:t>
            </a:r>
            <a:r>
              <a:rPr lang="en-US" altLang="zh-CN" sz="2400" b="1" dirty="0" err="1">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Z</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,+&gt; </a:t>
            </a:r>
            <a:r>
              <a:rPr lang="en-US" sz="2400" dirty="0">
                <a:latin typeface="Trebuchet MS" panose="020B0603020202020204" pitchFamily="34" charset="0"/>
              </a:rPr>
              <a:t>satisfies the conditions of closure, associativity, existence of the identity element, and existence of inverses.</a:t>
            </a:r>
          </a:p>
          <a:p>
            <a:pPr marL="539750" indent="-269875">
              <a:lnSpc>
                <a:spcPct val="120000"/>
              </a:lnSpc>
              <a:spcBef>
                <a:spcPts val="600"/>
              </a:spcBef>
              <a:buClr>
                <a:srgbClr val="0B61FF"/>
              </a:buClr>
              <a:buSzPct val="120000"/>
              <a:buFont typeface="Arial" panose="020B0604020202020204" pitchFamily="34" charset="0"/>
              <a:buChar char="•"/>
              <a:tabLst>
                <a:tab pos="539750" algn="l"/>
              </a:tabLst>
            </a:pPr>
            <a:r>
              <a:rPr lang="en-US" sz="2400" dirty="0">
                <a:latin typeface="Trebuchet MS" panose="020B0603020202020204" pitchFamily="34" charset="0"/>
              </a:rPr>
              <a:t>Each natural number </a:t>
            </a:r>
            <a:r>
              <a:rPr lang="en-US" sz="2400" b="1" i="1" dirty="0">
                <a:latin typeface="Trebuchet MS" panose="020B0603020202020204" pitchFamily="34" charset="0"/>
              </a:rPr>
              <a:t>n</a:t>
            </a:r>
            <a:r>
              <a:rPr lang="en-US" sz="2400" dirty="0">
                <a:latin typeface="Trebuchet MS" panose="020B0603020202020204" pitchFamily="34" charset="0"/>
              </a:rPr>
              <a:t> corresponds to a unique subgroup </a:t>
            </a:r>
            <a:r>
              <a:rPr lang="en-US" altLang="zh-CN" sz="2400" b="1" i="1" dirty="0" err="1">
                <a:solidFill>
                  <a:srgbClr val="0D0D0D"/>
                </a:solidFill>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dirty="0" err="1">
                <a:solidFill>
                  <a:srgbClr val="0D0D0D"/>
                </a:solidFill>
                <a:latin typeface="Trebuchet MS" panose="020B0603020202020204" pitchFamily="34" charset="0"/>
                <a:ea typeface="楷体" panose="02010609060101010101" pitchFamily="49" charset="-122"/>
                <a:cs typeface="Times New Roman" panose="02020603050405020304" pitchFamily="18" charset="0"/>
              </a:rPr>
              <a:t>Z</a:t>
            </a:r>
            <a:r>
              <a:rPr lang="en-US" sz="2400" dirty="0">
                <a:latin typeface="Trebuchet MS" panose="020B0603020202020204" pitchFamily="34" charset="0"/>
              </a:rPr>
              <a:t>. In particular, </a:t>
            </a:r>
            <a:r>
              <a:rPr lang="en-US" altLang="zh-CN" sz="2400" b="1"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0</a:t>
            </a:r>
            <a:r>
              <a:rPr lang="en-US" altLang="zh-CN" sz="2400" b="1" i="1"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Z</a:t>
            </a:r>
            <a:r>
              <a:rPr lang="en-US" sz="2400" dirty="0">
                <a:latin typeface="Trebuchet MS" panose="020B0603020202020204" pitchFamily="34" charset="0"/>
              </a:rPr>
              <a:t>, which contains only the zero element </a:t>
            </a:r>
            <a:r>
              <a:rPr lang="en-US" sz="2400" b="1" dirty="0">
                <a:latin typeface="Trebuchet MS" panose="020B0603020202020204" pitchFamily="34" charset="0"/>
              </a:rPr>
              <a:t>{0}</a:t>
            </a:r>
            <a:r>
              <a:rPr lang="en-US" sz="2400" dirty="0">
                <a:latin typeface="Trebuchet MS" panose="020B0603020202020204" pitchFamily="34" charset="0"/>
              </a:rPr>
              <a:t>, is a </a:t>
            </a:r>
            <a:r>
              <a:rPr lang="en-US" sz="2400" b="1" dirty="0">
                <a:latin typeface="Trebuchet MS" panose="020B0603020202020204" pitchFamily="34" charset="0"/>
              </a:rPr>
              <a:t>trivial subgroup</a:t>
            </a:r>
            <a:r>
              <a:rPr lang="en-US" sz="2400" dirty="0">
                <a:latin typeface="Trebuchet MS" panose="020B0603020202020204" pitchFamily="34" charset="0"/>
              </a:rPr>
              <a:t> of </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&lt;Z,+&gt;</a:t>
            </a:r>
            <a:r>
              <a:rPr lang="en-US" altLang="zh-CN" sz="2400" b="1" dirty="0">
                <a:solidFill>
                  <a:srgbClr val="0D0D0D"/>
                </a:solidFill>
                <a:latin typeface="Trebuchet MS" panose="020B0603020202020204" pitchFamily="34" charset="0"/>
                <a:ea typeface="楷体" panose="02010609060101010101" pitchFamily="49" charset="-122"/>
                <a:cs typeface="Times New Roman" panose="02020603050405020304" pitchFamily="18" charset="0"/>
                <a:sym typeface="Symbol" panose="05050102010706020507" pitchFamily="18" charset="2"/>
              </a:rPr>
              <a:t>.</a:t>
            </a:r>
            <a:endParaRPr lang="en-US" sz="2400" b="1" dirty="0">
              <a:latin typeface="Trebuchet MS" panose="020B0603020202020204" pitchFamily="34" charset="0"/>
            </a:endParaRPr>
          </a:p>
        </p:txBody>
      </p:sp>
    </p:spTree>
    <p:extLst>
      <p:ext uri="{BB962C8B-B14F-4D97-AF65-F5344CB8AC3E}">
        <p14:creationId xmlns:p14="http://schemas.microsoft.com/office/powerpoint/2010/main" val="33937535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1000"/>
                                        <p:tgtEl>
                                          <p:spTgt spid="10">
                                            <p:txEl>
                                              <p:pRg st="2" end="2"/>
                                            </p:txEl>
                                          </p:spTgt>
                                        </p:tgtEl>
                                      </p:cBhvr>
                                    </p:animEffect>
                                    <p:anim calcmode="lin" valueType="num">
                                      <p:cBhvr>
                                        <p:cTn id="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1000"/>
                                        <p:tgtEl>
                                          <p:spTgt spid="10">
                                            <p:txEl>
                                              <p:pRg st="3" end="3"/>
                                            </p:txEl>
                                          </p:spTgt>
                                        </p:tgtEl>
                                      </p:cBhvr>
                                    </p:animEffect>
                                    <p:anim calcmode="lin" valueType="num">
                                      <p:cBhvr>
                                        <p:cTn id="1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fade">
                                      <p:cBhvr>
                                        <p:cTn id="19" dur="1000"/>
                                        <p:tgtEl>
                                          <p:spTgt spid="10">
                                            <p:txEl>
                                              <p:pRg st="4" end="4"/>
                                            </p:txEl>
                                          </p:spTgt>
                                        </p:tgtEl>
                                      </p:cBhvr>
                                    </p:animEffect>
                                    <p:anim calcmode="lin" valueType="num">
                                      <p:cBhvr>
                                        <p:cTn id="2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16169"/>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9.3.2 Groups</a:t>
            </a:r>
            <a:endParaRPr lang="en-US" altLang="zh-CN"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0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Subgroup criterion(Closure under </a:t>
            </a:r>
            <a:r>
              <a:rPr lang="en-US" altLang="zh-CN" sz="2400" b="1" i="1" kern="100" dirty="0">
                <a:latin typeface="Trebuchet MS" panose="020B0603020202020204" pitchFamily="34" charset="0"/>
                <a:cs typeface="Times New Roman" panose="02020603050405020304" pitchFamily="18" charset="0"/>
              </a:rPr>
              <a:t>x</a:t>
            </a:r>
            <a:r>
              <a:rPr lang="zh-CN" altLang="zh-CN" sz="2400" b="1" i="1" kern="100" dirty="0">
                <a:latin typeface="Trebuchet MS" panose="020B0603020202020204" pitchFamily="34" charset="0"/>
                <a:cs typeface="Times New Roman" panose="02020603050405020304" pitchFamily="18" charset="0"/>
              </a:rPr>
              <a:t>y</a:t>
            </a:r>
            <a:r>
              <a:rPr lang="en-US" altLang="zh-CN" sz="2400" b="1" i="1" kern="100"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0" name="Rectangle 3">
            <a:extLst>
              <a:ext uri="{FF2B5EF4-FFF2-40B4-BE49-F238E27FC236}">
                <a16:creationId xmlns:a16="http://schemas.microsoft.com/office/drawing/2014/main" id="{59CFBD4F-BFA1-4EB8-B435-176762C12E82}"/>
              </a:ext>
            </a:extLst>
          </p:cNvPr>
          <p:cNvSpPr>
            <a:spLocks noGrp="1" noChangeArrowheads="1"/>
          </p:cNvSpPr>
          <p:nvPr>
            <p:ph idx="1"/>
          </p:nvPr>
        </p:nvSpPr>
        <p:spPr>
          <a:xfrm>
            <a:off x="1125317" y="903514"/>
            <a:ext cx="10043426" cy="4684033"/>
          </a:xfrm>
        </p:spPr>
        <p:txBody>
          <a:bodyPr>
            <a:noAutofit/>
          </a:bodyPr>
          <a:lstStyle/>
          <a:p>
            <a:pPr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Theorem 9.7 : </a:t>
            </a:r>
            <a:r>
              <a:rPr lang="en-US" sz="2400" dirty="0">
                <a:latin typeface="Trebuchet MS" panose="020B0603020202020204" pitchFamily="34" charset="0"/>
              </a:rPr>
              <a:t>Let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be a group and </a:t>
            </a:r>
            <a:r>
              <a:rPr lang="en-US" sz="2400" b="1" i="1" dirty="0">
                <a:latin typeface="Trebuchet MS" panose="020B0603020202020204" pitchFamily="34" charset="0"/>
              </a:rPr>
              <a:t>H</a:t>
            </a:r>
            <a:r>
              <a:rPr lang="en-US" sz="2400" dirty="0">
                <a:latin typeface="Trebuchet MS" panose="020B0603020202020204" pitchFamily="34" charset="0"/>
              </a:rPr>
              <a:t> be a nonempty subset of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If for any </a:t>
            </a:r>
            <a:r>
              <a:rPr lang="en-US" altLang="zh-CN" sz="2400" b="1" i="1" dirty="0" err="1">
                <a:latin typeface="Trebuchet MS" panose="020B0603020202020204" pitchFamily="34" charset="0"/>
                <a:cs typeface="Times New Roman" panose="02020603050405020304" pitchFamily="18" charset="0"/>
              </a:rPr>
              <a:t>x,y</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H </a:t>
            </a:r>
            <a:r>
              <a:rPr lang="en-US" sz="2400" dirty="0">
                <a:latin typeface="Trebuchet MS" panose="020B0603020202020204" pitchFamily="34" charset="0"/>
              </a:rPr>
              <a:t>, we have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z=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kern="100" baseline="30000" dirty="0">
                <a:effectLst/>
                <a:latin typeface="Trebuchet MS" panose="020B0603020202020204" pitchFamily="34" charset="0"/>
                <a:ea typeface="宋体" panose="02010600030101010101" pitchFamily="2" charset="-122"/>
                <a:cs typeface="Times New Roman" panose="02020603050405020304" pitchFamily="18" charset="0"/>
              </a:rPr>
              <a:t>−1 </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 then </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 is a </a:t>
            </a:r>
            <a:r>
              <a:rPr lang="en-US" sz="2400" b="1" i="1" dirty="0">
                <a:solidFill>
                  <a:srgbClr val="0B61FF"/>
                </a:solidFill>
                <a:latin typeface="Trebuchet MS" panose="020B0603020202020204" pitchFamily="34" charset="0"/>
              </a:rPr>
              <a:t>subgroup</a:t>
            </a:r>
            <a:r>
              <a:rPr lang="en-US" sz="2400" dirty="0">
                <a:latin typeface="Trebuchet MS" panose="020B0603020202020204" pitchFamily="34" charset="0"/>
              </a:rPr>
              <a:t> of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a:t>
            </a:r>
          </a:p>
          <a:p>
            <a:pPr marL="360363" indent="-179388" eaLnBrk="1" hangingPunct="1">
              <a:lnSpc>
                <a:spcPct val="120000"/>
              </a:lnSpc>
              <a:spcBef>
                <a:spcPts val="300"/>
              </a:spcBef>
              <a:buClr>
                <a:srgbClr val="0B61FF"/>
              </a:buClr>
              <a:buSzPct val="120000"/>
            </a:pPr>
            <a:r>
              <a:rPr lang="en-US" sz="2400" b="1" dirty="0">
                <a:latin typeface="Trebuchet MS" panose="020B0603020202020204" pitchFamily="34" charset="0"/>
              </a:rPr>
              <a:t>Closure Proof</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By the given condition,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kern="100" baseline="30000" dirty="0">
                <a:effectLst/>
                <a:latin typeface="Trebuchet MS" panose="020B0603020202020204" pitchFamily="34" charset="0"/>
                <a:ea typeface="宋体" panose="02010600030101010101" pitchFamily="2" charset="-122"/>
                <a:cs typeface="Times New Roman" panose="02020603050405020304" pitchFamily="18" charset="0"/>
              </a:rPr>
              <a:t>−1</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 Let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kern="100" baseline="30000" dirty="0">
                <a:effectLst/>
                <a:latin typeface="Trebuchet MS" panose="020B0603020202020204" pitchFamily="34" charset="0"/>
                <a:ea typeface="宋体" panose="02010600030101010101" pitchFamily="2" charset="-122"/>
                <a:cs typeface="Times New Roman" panose="02020603050405020304" pitchFamily="18" charset="0"/>
              </a:rPr>
              <a:t>−1</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=z </a:t>
            </a:r>
            <a:r>
              <a:rPr lang="en-US" sz="2400" dirty="0">
                <a:latin typeface="Trebuchet MS" panose="020B0603020202020204" pitchFamily="34" charset="0"/>
              </a:rPr>
              <a:t>where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z</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 then we have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kern="100" baseline="30000" dirty="0">
                <a:effectLst/>
                <a:latin typeface="Trebuchet MS" panose="020B0603020202020204" pitchFamily="34" charset="0"/>
                <a:ea typeface="宋体" panose="02010600030101010101" pitchFamily="2" charset="-122"/>
                <a:cs typeface="Times New Roman" panose="02020603050405020304" pitchFamily="18" charset="0"/>
              </a:rPr>
              <a:t>−1</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=z </a:t>
            </a:r>
            <a:r>
              <a:rPr lang="en-US" sz="2400" dirty="0">
                <a:latin typeface="Trebuchet MS" panose="020B0603020202020204" pitchFamily="34" charset="0"/>
              </a:rPr>
              <a:t>and </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xz=xy</a:t>
            </a:r>
            <a:r>
              <a:rPr lang="zh-CN" altLang="zh-CN" sz="2400" b="1" i="1" kern="100" baseline="30000" dirty="0">
                <a:effectLst/>
                <a:latin typeface="Trebuchet MS" panose="020B0603020202020204" pitchFamily="34" charset="0"/>
                <a:ea typeface="宋体" panose="02010600030101010101" pitchFamily="2" charset="-122"/>
                <a:cs typeface="Times New Roman" panose="02020603050405020304" pitchFamily="18" charset="0"/>
              </a:rPr>
              <a:t>-1</a:t>
            </a:r>
            <a:r>
              <a:rPr lang="en-US" sz="2400" dirty="0">
                <a:latin typeface="Trebuchet MS" panose="020B0603020202020204" pitchFamily="34" charset="0"/>
              </a:rPr>
              <a:t>. Thus, for any </a:t>
            </a:r>
            <a:r>
              <a:rPr lang="en-US" altLang="zh-CN" sz="2400" b="1" i="1" kern="100" dirty="0" err="1">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kern="100" dirty="0" err="1">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err="1">
                <a:effectLst/>
                <a:latin typeface="Trebuchet MS" panose="020B0603020202020204" pitchFamily="34" charset="0"/>
                <a:ea typeface="宋体" panose="02010600030101010101" pitchFamily="2" charset="-122"/>
                <a:cs typeface="Times New Roman" panose="02020603050405020304" pitchFamily="18" charset="0"/>
              </a:rPr>
              <a:t>y</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 we have </a:t>
            </a:r>
            <a:r>
              <a:rPr lang="en-US" altLang="zh-CN" sz="2400" b="1" i="1" kern="100" dirty="0" err="1">
                <a:effectLst/>
                <a:latin typeface="Trebuchet MS" panose="020B0603020202020204" pitchFamily="34" charset="0"/>
                <a:ea typeface="宋体" panose="02010600030101010101" pitchFamily="2" charset="-122"/>
                <a:cs typeface="Times New Roman" panose="02020603050405020304" pitchFamily="18" charset="0"/>
              </a:rPr>
              <a:t>xz</a:t>
            </a:r>
            <a:r>
              <a:rPr lang="en-US" altLang="zh-CN" sz="2400" b="1" kern="100" dirty="0" err="1">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err="1">
                <a:effectLst/>
                <a:latin typeface="Trebuchet MS" panose="020B0603020202020204" pitchFamily="34" charset="0"/>
                <a:ea typeface="宋体" panose="02010600030101010101" pitchFamily="2" charset="-122"/>
                <a:cs typeface="Times New Roman" panose="02020603050405020304" pitchFamily="18" charset="0"/>
              </a:rPr>
              <a:t>H</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(because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z=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kern="100" baseline="30000" dirty="0">
                <a:effectLst/>
                <a:latin typeface="Trebuchet MS" panose="020B0603020202020204" pitchFamily="34" charset="0"/>
                <a:ea typeface="宋体" panose="02010600030101010101" pitchFamily="2" charset="-122"/>
                <a:cs typeface="Times New Roman" panose="02020603050405020304" pitchFamily="18" charset="0"/>
              </a:rPr>
              <a:t>−1 </a:t>
            </a:r>
            <a:r>
              <a:rPr lang="en-US"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a:t>
            </a:r>
          </a:p>
          <a:p>
            <a:pPr marL="360363" indent="-179388" eaLnBrk="1" hangingPunct="1">
              <a:lnSpc>
                <a:spcPct val="120000"/>
              </a:lnSpc>
              <a:spcBef>
                <a:spcPts val="300"/>
              </a:spcBef>
              <a:buClr>
                <a:srgbClr val="0B61FF"/>
              </a:buClr>
              <a:buSzPct val="120000"/>
            </a:pPr>
            <a:r>
              <a:rPr lang="en-US" sz="2400" b="1" dirty="0">
                <a:latin typeface="Trebuchet MS" panose="020B0603020202020204" pitchFamily="34" charset="0"/>
              </a:rPr>
              <a:t>Identity Proof: </a:t>
            </a:r>
            <a:r>
              <a:rPr lang="en-US" sz="2400" dirty="0">
                <a:latin typeface="Trebuchet MS" panose="020B0603020202020204" pitchFamily="34" charset="0"/>
              </a:rPr>
              <a:t>By the given condition, for any </a:t>
            </a:r>
            <a:r>
              <a:rPr lang="en-US" altLang="zh-CN" sz="2400" b="1" i="1" kern="100" dirty="0" err="1">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kern="100" dirty="0" err="1">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err="1">
                <a:effectLst/>
                <a:latin typeface="Trebuchet MS" panose="020B0603020202020204" pitchFamily="34" charset="0"/>
                <a:ea typeface="宋体" panose="02010600030101010101" pitchFamily="2" charset="-122"/>
                <a:cs typeface="Times New Roman" panose="02020603050405020304" pitchFamily="18" charset="0"/>
              </a:rPr>
              <a:t>y</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we have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y</a:t>
            </a:r>
            <a:r>
              <a:rPr lang="en-US" altLang="zh-CN" sz="2400" b="1" i="1" kern="100" baseline="30000" dirty="0">
                <a:effectLst/>
                <a:latin typeface="Trebuchet MS" panose="020B0603020202020204" pitchFamily="34" charset="0"/>
                <a:ea typeface="宋体" panose="02010600030101010101" pitchFamily="2" charset="-122"/>
                <a:cs typeface="Times New Roman" panose="02020603050405020304" pitchFamily="18" charset="0"/>
              </a:rPr>
              <a:t>−1</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 Let </a:t>
            </a:r>
            <a:r>
              <a:rPr lang="en-US" sz="2400" b="1" i="1" dirty="0">
                <a:latin typeface="Trebuchet MS" panose="020B0603020202020204" pitchFamily="34" charset="0"/>
              </a:rPr>
              <a:t>y</a:t>
            </a:r>
            <a:r>
              <a:rPr lang="en-US" sz="2400" b="1" dirty="0">
                <a:latin typeface="Trebuchet MS" panose="020B0603020202020204" pitchFamily="34" charset="0"/>
              </a:rPr>
              <a:t>=</a:t>
            </a:r>
            <a:r>
              <a:rPr lang="en-US" sz="2400" b="1" i="1" dirty="0" err="1">
                <a:latin typeface="Trebuchet MS" panose="020B0603020202020204" pitchFamily="34" charset="0"/>
              </a:rPr>
              <a:t>x</a:t>
            </a:r>
            <a:r>
              <a:rPr lang="en-US" sz="2400" b="1" dirty="0" err="1">
                <a:latin typeface="Trebuchet MS" panose="020B0603020202020204" pitchFamily="34" charset="0"/>
              </a:rPr>
              <a:t>∈</a:t>
            </a:r>
            <a:r>
              <a:rPr lang="en-US" sz="2400" b="1" i="1" dirty="0" err="1">
                <a:latin typeface="Trebuchet MS" panose="020B0603020202020204" pitchFamily="34" charset="0"/>
              </a:rPr>
              <a:t>H</a:t>
            </a:r>
            <a:r>
              <a:rPr lang="en-US" sz="2400" dirty="0">
                <a:latin typeface="Trebuchet MS" panose="020B0603020202020204" pitchFamily="34" charset="0"/>
              </a:rPr>
              <a:t>, then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i="1" kern="100" baseline="30000" dirty="0">
                <a:effectLst/>
                <a:latin typeface="Trebuchet MS" panose="020B0603020202020204" pitchFamily="34" charset="0"/>
                <a:ea typeface="宋体" panose="02010600030101010101" pitchFamily="2" charset="-122"/>
                <a:cs typeface="Times New Roman" panose="02020603050405020304" pitchFamily="18" charset="0"/>
              </a:rPr>
              <a:t>−1</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 where </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e</a:t>
            </a:r>
            <a:r>
              <a:rPr lang="en-US" sz="2400" dirty="0">
                <a:latin typeface="Trebuchet MS" panose="020B0603020202020204" pitchFamily="34" charset="0"/>
              </a:rPr>
              <a:t> is the identity element of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we conclude that </a:t>
            </a:r>
            <a:r>
              <a:rPr lang="en-US" altLang="zh-CN" sz="2400" b="1" i="1" kern="100"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e</a:t>
            </a:r>
            <a:r>
              <a:rPr lang="zh-CN" altLang="zh-CN" sz="2400" b="1" kern="100"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a:t>
            </a:r>
          </a:p>
          <a:p>
            <a:pPr marL="360363" indent="-179388" eaLnBrk="1" hangingPunct="1">
              <a:lnSpc>
                <a:spcPct val="120000"/>
              </a:lnSpc>
              <a:spcBef>
                <a:spcPts val="300"/>
              </a:spcBef>
              <a:buClr>
                <a:srgbClr val="0B61FF"/>
              </a:buClr>
              <a:buSzPct val="120000"/>
            </a:pPr>
            <a:r>
              <a:rPr lang="en-US" sz="2400" b="1" dirty="0">
                <a:latin typeface="Trebuchet MS" panose="020B0603020202020204" pitchFamily="34" charset="0"/>
              </a:rPr>
              <a:t>Inverse Proof: </a:t>
            </a:r>
            <a:r>
              <a:rPr lang="en-US" sz="2400" dirty="0">
                <a:latin typeface="Trebuchet MS" panose="020B0603020202020204" pitchFamily="34" charset="0"/>
              </a:rPr>
              <a:t>We have already proven that </a:t>
            </a:r>
            <a:r>
              <a:rPr lang="en-US" altLang="zh-CN" sz="2400" b="1" i="1" kern="100"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e</a:t>
            </a:r>
            <a:r>
              <a:rPr lang="zh-CN" altLang="zh-CN" sz="2400" b="1" kern="100"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 By the given condition, for any </a:t>
            </a:r>
            <a:r>
              <a:rPr lang="en-US" altLang="zh-CN" sz="2400" b="1" i="1" kern="100"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x</a:t>
            </a:r>
            <a:r>
              <a:rPr lang="zh-CN" altLang="zh-CN" sz="2400" b="1" kern="100"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 we have </a:t>
            </a:r>
            <a:r>
              <a:rPr lang="en-US" altLang="zh-CN" sz="2400" b="1" i="1" kern="100"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e</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i="1" kern="100" baseline="30000"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−1</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sz="2400" dirty="0">
                <a:latin typeface="Trebuchet MS" panose="020B0603020202020204" pitchFamily="34" charset="0"/>
              </a:rPr>
              <a:t>, so </a:t>
            </a:r>
            <a:r>
              <a:rPr lang="en-US" altLang="zh-CN" sz="2400" b="1" i="1" kern="100"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x</a:t>
            </a:r>
            <a:r>
              <a:rPr lang="en-US" altLang="zh-CN" sz="2400" b="1" i="1" kern="100" baseline="30000"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−1</a:t>
            </a:r>
            <a:r>
              <a:rPr lang="zh-CN" altLang="zh-CN" sz="2400" b="1" kern="100" dirty="0">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H</a:t>
            </a:r>
            <a:r>
              <a:rPr lang="en-US" altLang="zh-CN" sz="2400" b="1" i="1" kern="100" dirty="0">
                <a:effectLst/>
                <a:latin typeface="Trebuchet MS" panose="020B0603020202020204" pitchFamily="34" charset="0"/>
                <a:ea typeface="宋体" panose="02010600030101010101" pitchFamily="2" charset="-122"/>
                <a:cs typeface="Times New Roman" panose="02020603050405020304" pitchFamily="18" charset="0"/>
              </a:rPr>
              <a:t> </a:t>
            </a:r>
            <a:r>
              <a:rPr lang="en-US" sz="2400" dirty="0">
                <a:latin typeface="Trebuchet MS" panose="020B0603020202020204" pitchFamily="34" charset="0"/>
              </a:rPr>
              <a:t>holds.</a:t>
            </a:r>
          </a:p>
          <a:p>
            <a:pPr eaLnBrk="1" hangingPunct="1">
              <a:buFontTx/>
              <a:buNone/>
            </a:pPr>
            <a:endParaRPr lang="en-US" altLang="zh-CN"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993200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animEffect transition="in" filter="fade">
                                      <p:cBhvr>
                                        <p:cTn id="21" dur="1000"/>
                                        <p:tgtEl>
                                          <p:spTgt spid="10">
                                            <p:txEl>
                                              <p:pRg st="3" end="3"/>
                                            </p:txEl>
                                          </p:spTgt>
                                        </p:tgtEl>
                                      </p:cBhvr>
                                    </p:animEffect>
                                    <p:anim calcmode="lin" valueType="num">
                                      <p:cBhvr>
                                        <p:cTn id="22"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16169"/>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9.3.2 Groups</a:t>
            </a:r>
            <a:endParaRPr lang="en-US" altLang="zh-CN" b="1" dirty="0">
              <a:latin typeface="Trebuchet MS" panose="020B0603020202020204" pitchFamily="34"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Generated Subgroup</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4" name="Rectangle 3">
            <a:extLst>
              <a:ext uri="{FF2B5EF4-FFF2-40B4-BE49-F238E27FC236}">
                <a16:creationId xmlns:a16="http://schemas.microsoft.com/office/drawing/2014/main" id="{8AF0B9DC-5A11-4F4E-8F86-448D4B8ABD8C}"/>
              </a:ext>
            </a:extLst>
          </p:cNvPr>
          <p:cNvSpPr txBox="1">
            <a:spLocks noChangeArrowheads="1"/>
          </p:cNvSpPr>
          <p:nvPr/>
        </p:nvSpPr>
        <p:spPr>
          <a:xfrm>
            <a:off x="1000124" y="832595"/>
            <a:ext cx="9189893" cy="51218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9.8 :</a:t>
            </a:r>
            <a:br>
              <a:rPr lang="en-US" sz="2400" dirty="0">
                <a:latin typeface="Trebuchet MS" panose="020B0603020202020204" pitchFamily="34" charset="0"/>
              </a:rPr>
            </a:br>
            <a:r>
              <a:rPr lang="en-US" sz="2400" dirty="0">
                <a:latin typeface="Trebuchet MS" panose="020B0603020202020204" pitchFamily="34" charset="0"/>
              </a:rPr>
              <a:t>Let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be a group. For any </a:t>
            </a:r>
            <a:r>
              <a:rPr lang="en-US" altLang="zh-CN" sz="2400" b="1" i="1" dirty="0" err="1">
                <a:latin typeface="Trebuchet MS" panose="020B0603020202020204" pitchFamily="34" charset="0"/>
                <a:cs typeface="Times New Roman" panose="02020603050405020304" pitchFamily="18" charset="0"/>
              </a:rPr>
              <a:t>a</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define </a:t>
            </a:r>
            <a:r>
              <a:rPr lang="en-US" altLang="zh-CN" sz="2400" b="1" i="1" dirty="0">
                <a:latin typeface="Trebuchet MS" panose="020B0603020202020204" pitchFamily="34" charset="0"/>
                <a:cs typeface="Times New Roman" panose="02020603050405020304" pitchFamily="18" charset="0"/>
              </a:rPr>
              <a:t>H</a:t>
            </a:r>
            <a:r>
              <a:rPr lang="en-US" altLang="zh-CN"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30000" dirty="0" err="1">
                <a:latin typeface="Trebuchet MS" panose="020B0603020202020204" pitchFamily="34" charset="0"/>
                <a:cs typeface="Times New Roman" panose="02020603050405020304" pitchFamily="18" charset="0"/>
              </a:rPr>
              <a:t>k</a:t>
            </a:r>
            <a:r>
              <a:rPr lang="en-US" altLang="zh-CN" sz="2400" b="1" i="1" baseline="300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k</a:t>
            </a:r>
            <a:r>
              <a:rPr lang="en-US" altLang="zh-CN" sz="2400" b="1" dirty="0" err="1">
                <a:latin typeface="Trebuchet MS" panose="020B0603020202020204" pitchFamily="34" charset="0"/>
                <a:cs typeface="Times New Roman" panose="02020603050405020304" pitchFamily="18" charset="0"/>
              </a:rPr>
              <a:t>∈Z</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t</a:t>
            </a:r>
            <a:r>
              <a:rPr lang="en-US" sz="2400" dirty="0">
                <a:latin typeface="Trebuchet MS" panose="020B0603020202020204" pitchFamily="34" charset="0"/>
              </a:rPr>
              <a:t>hen </a:t>
            </a:r>
            <a:r>
              <a:rPr lang="en-US" altLang="zh-CN" sz="2400" b="1" i="1" dirty="0">
                <a:latin typeface="Trebuchet MS" panose="020B0603020202020204" pitchFamily="34" charset="0"/>
                <a:cs typeface="Times New Roman" panose="02020603050405020304" pitchFamily="18" charset="0"/>
              </a:rPr>
              <a:t>H</a:t>
            </a:r>
            <a:r>
              <a:rPr lang="en-US" sz="2400" dirty="0">
                <a:latin typeface="Trebuchet MS" panose="020B0603020202020204" pitchFamily="34" charset="0"/>
              </a:rPr>
              <a:t> is a subgroup of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called the </a:t>
            </a:r>
            <a:r>
              <a:rPr lang="en-US" sz="2400" b="1" i="1" dirty="0">
                <a:solidFill>
                  <a:srgbClr val="0B61FF"/>
                </a:solidFill>
                <a:latin typeface="Trebuchet MS" panose="020B0603020202020204" pitchFamily="34" charset="0"/>
              </a:rPr>
              <a:t>subgroup generated by </a:t>
            </a:r>
            <a:r>
              <a:rPr lang="en-US" altLang="zh-CN" sz="2400" b="1" i="1" dirty="0">
                <a:solidFill>
                  <a:srgbClr val="0B61FF"/>
                </a:solidFill>
                <a:latin typeface="Trebuchet MS" panose="020B0603020202020204" pitchFamily="34" charset="0"/>
                <a:cs typeface="Times New Roman" panose="02020603050405020304" pitchFamily="18" charset="0"/>
              </a:rPr>
              <a:t>a</a:t>
            </a:r>
            <a:r>
              <a:rPr lang="en-US" sz="2400" dirty="0">
                <a:latin typeface="Trebuchet MS" panose="020B0603020202020204" pitchFamily="34" charset="0"/>
              </a:rPr>
              <a:t>, and is denoted by </a:t>
            </a:r>
            <a:r>
              <a:rPr lang="en-US" altLang="zh-CN" sz="2400" b="1" dirty="0">
                <a:solidFill>
                  <a:srgbClr val="FF0000"/>
                </a:solidFill>
                <a:latin typeface="Trebuchet MS" panose="020B0603020202020204" pitchFamily="34" charset="0"/>
                <a:cs typeface="Times New Roman" panose="02020603050405020304" pitchFamily="18" charset="0"/>
              </a:rPr>
              <a:t>&lt;</a:t>
            </a:r>
            <a:r>
              <a:rPr lang="en-US" altLang="zh-CN" sz="2400" b="1" i="1" dirty="0">
                <a:solidFill>
                  <a:srgbClr val="FF0000"/>
                </a:solidFill>
                <a:latin typeface="Trebuchet MS" panose="020B0603020202020204" pitchFamily="34" charset="0"/>
                <a:cs typeface="Times New Roman" panose="02020603050405020304" pitchFamily="18" charset="0"/>
              </a:rPr>
              <a:t>a</a:t>
            </a:r>
            <a:r>
              <a:rPr lang="en-US" altLang="zh-CN" sz="2400" b="1" dirty="0">
                <a:solidFill>
                  <a:srgbClr val="FF0000"/>
                </a:solidFill>
                <a:latin typeface="Trebuchet MS" panose="020B0603020202020204" pitchFamily="34" charset="0"/>
                <a:cs typeface="Times New Roman" panose="02020603050405020304" pitchFamily="18" charset="0"/>
              </a:rPr>
              <a:t>&gt;</a:t>
            </a:r>
            <a:r>
              <a:rPr lang="en-US" altLang="zh-CN" sz="2400" b="1" dirty="0">
                <a:latin typeface="Trebuchet MS" panose="020B0603020202020204" pitchFamily="34" charset="0"/>
                <a:cs typeface="Times New Roman" panose="02020603050405020304" pitchFamily="18" charset="0"/>
              </a:rPr>
              <a:t>.</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Proof:</a:t>
            </a:r>
            <a:br>
              <a:rPr lang="en-US" sz="2400" dirty="0">
                <a:latin typeface="Trebuchet MS" panose="020B0603020202020204" pitchFamily="34" charset="0"/>
              </a:rPr>
            </a:br>
            <a:r>
              <a:rPr lang="en-US" sz="2400" dirty="0">
                <a:latin typeface="Trebuchet MS" panose="020B0603020202020204" pitchFamily="34" charset="0"/>
              </a:rPr>
              <a:t>Since </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&gt; </a:t>
            </a:r>
            <a:r>
              <a:rPr lang="en-US" sz="2400" dirty="0">
                <a:latin typeface="Trebuchet MS" panose="020B0603020202020204" pitchFamily="34" charset="0"/>
              </a:rPr>
              <a:t>we know that </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&gt;≠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p>
          <a:p>
            <a:pPr marL="0" indent="0">
              <a:lnSpc>
                <a:spcPct val="120000"/>
              </a:lnSpc>
              <a:spcBef>
                <a:spcPts val="600"/>
              </a:spcBef>
              <a:buClr>
                <a:srgbClr val="0B61FF"/>
              </a:buClr>
              <a:buSzPct val="80000"/>
              <a:buNone/>
            </a:pPr>
            <a:r>
              <a:rPr lang="en-US" sz="2400" dirty="0">
                <a:latin typeface="Trebuchet MS" panose="020B0603020202020204" pitchFamily="34" charset="0"/>
              </a:rPr>
              <a:t>   Let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30000" dirty="0" err="1">
                <a:latin typeface="Trebuchet MS" panose="020B0603020202020204" pitchFamily="34" charset="0"/>
                <a:cs typeface="Times New Roman" panose="02020603050405020304" pitchFamily="18" charset="0"/>
              </a:rPr>
              <a:t>m</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30000" dirty="0" err="1">
                <a:latin typeface="Trebuchet MS" panose="020B0603020202020204" pitchFamily="34" charset="0"/>
                <a:cs typeface="Times New Roman" panose="02020603050405020304" pitchFamily="18" charset="0"/>
              </a:rPr>
              <a:t>l</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&gt;, </a:t>
            </a:r>
            <a:r>
              <a:rPr lang="en-US" sz="2400" dirty="0">
                <a:latin typeface="Trebuchet MS" panose="020B0603020202020204" pitchFamily="34" charset="0"/>
              </a:rPr>
              <a:t>be arbitrary. Then:</a:t>
            </a:r>
          </a:p>
          <a:p>
            <a:pPr marL="609600" indent="-609600">
              <a:lnSpc>
                <a:spcPct val="120000"/>
              </a:lnSpc>
              <a:spcBef>
                <a:spcPts val="600"/>
              </a:spcBef>
              <a:buFontTx/>
              <a:buNone/>
            </a:pP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a:t>
            </a:r>
            <a:r>
              <a:rPr lang="en-US" altLang="zh-CN" sz="2400" b="1" i="1" baseline="30000" dirty="0">
                <a:latin typeface="Trebuchet MS" panose="020B0603020202020204" pitchFamily="34" charset="0"/>
                <a:cs typeface="Times New Roman" panose="02020603050405020304" pitchFamily="18" charset="0"/>
              </a:rPr>
              <a:t>m</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a</a:t>
            </a:r>
            <a:r>
              <a:rPr lang="en-US" altLang="zh-CN" sz="2400" b="1" i="1" baseline="30000" dirty="0">
                <a:latin typeface="Trebuchet MS" panose="020B0603020202020204" pitchFamily="34" charset="0"/>
                <a:cs typeface="Times New Roman" panose="02020603050405020304" pitchFamily="18" charset="0"/>
              </a:rPr>
              <a:t>l</a:t>
            </a:r>
            <a:r>
              <a:rPr lang="en-US" altLang="zh-CN" sz="2400" b="1" dirty="0">
                <a:latin typeface="Trebuchet MS" panose="020B0603020202020204" pitchFamily="34" charset="0"/>
                <a:cs typeface="Times New Roman" panose="02020603050405020304" pitchFamily="18" charset="0"/>
              </a:rPr>
              <a:t>)</a:t>
            </a:r>
            <a:r>
              <a:rPr lang="en-US" altLang="zh-CN" sz="2400" b="1" baseline="30000"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latin typeface="Trebuchet MS" panose="020B0603020202020204" pitchFamily="34" charset="0"/>
                <a:cs typeface="Times New Roman" panose="02020603050405020304" pitchFamily="18" charset="0"/>
              </a:rPr>
              <a:t>1 </a:t>
            </a:r>
            <a:r>
              <a:rPr lang="en-US" altLang="zh-CN"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30000" dirty="0" err="1">
                <a:latin typeface="Trebuchet MS" panose="020B0603020202020204" pitchFamily="34" charset="0"/>
                <a:cs typeface="Times New Roman" panose="02020603050405020304" pitchFamily="18" charset="0"/>
              </a:rPr>
              <a:t>m</a:t>
            </a:r>
            <a:r>
              <a:rPr lang="en-US" altLang="zh-CN" sz="2400" b="1" i="1" dirty="0" err="1">
                <a:latin typeface="Trebuchet MS" panose="020B0603020202020204" pitchFamily="34" charset="0"/>
                <a:cs typeface="Times New Roman" panose="02020603050405020304" pitchFamily="18" charset="0"/>
              </a:rPr>
              <a:t>a</a:t>
            </a:r>
            <a:r>
              <a:rPr lang="en-US" altLang="zh-CN" sz="2400" b="1" baseline="30000"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err="1">
                <a:latin typeface="Trebuchet MS" panose="020B0603020202020204" pitchFamily="34" charset="0"/>
                <a:cs typeface="Times New Roman" panose="02020603050405020304" pitchFamily="18" charset="0"/>
              </a:rPr>
              <a:t>l</a:t>
            </a:r>
            <a:r>
              <a:rPr lang="en-US" altLang="zh-CN" sz="2400" b="1" i="1" baseline="30000"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a</a:t>
            </a:r>
            <a:r>
              <a:rPr lang="en-US" altLang="zh-CN" sz="2400" b="1" i="1" baseline="30000" dirty="0" err="1">
                <a:latin typeface="Trebuchet MS" panose="020B0603020202020204" pitchFamily="34" charset="0"/>
                <a:cs typeface="Times New Roman" panose="02020603050405020304" pitchFamily="18" charset="0"/>
              </a:rPr>
              <a:t>m</a:t>
            </a:r>
            <a:r>
              <a:rPr lang="en-US" altLang="zh-CN" sz="2400" b="1" baseline="30000"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err="1">
                <a:latin typeface="Trebuchet MS" panose="020B0603020202020204" pitchFamily="34" charset="0"/>
                <a:cs typeface="Times New Roman" panose="02020603050405020304" pitchFamily="18" charset="0"/>
              </a:rPr>
              <a:t>l</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&gt;.</a:t>
            </a:r>
          </a:p>
          <a:p>
            <a:pPr marL="609600" indent="-609600">
              <a:lnSpc>
                <a:spcPct val="120000"/>
              </a:lnSpc>
              <a:spcBef>
                <a:spcPts val="600"/>
              </a:spcBef>
              <a:buFontTx/>
              <a:buNone/>
            </a:pPr>
            <a:r>
              <a:rPr lang="en-US" sz="2400" dirty="0">
                <a:latin typeface="Trebuchet MS" panose="020B0603020202020204" pitchFamily="34" charset="0"/>
              </a:rPr>
              <a:t>   By </a:t>
            </a:r>
            <a:r>
              <a:rPr lang="en-US" sz="2400" b="1" dirty="0">
                <a:latin typeface="Trebuchet MS" panose="020B0603020202020204" pitchFamily="34" charset="0"/>
              </a:rPr>
              <a:t>Theorem 9.7 </a:t>
            </a:r>
            <a:r>
              <a:rPr lang="en-US" sz="2400" dirty="0">
                <a:latin typeface="Trebuchet MS" panose="020B0603020202020204" pitchFamily="34" charset="0"/>
              </a:rPr>
              <a:t>(the subgroup criterion), we conclude that </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&gt;≤</a:t>
            </a:r>
            <a:r>
              <a:rPr lang="en-US" altLang="zh-CN" sz="2400" b="1" i="1" dirty="0">
                <a:latin typeface="Trebuchet MS" panose="020B0603020202020204" pitchFamily="34" charset="0"/>
                <a:cs typeface="Times New Roman" panose="02020603050405020304" pitchFamily="18" charset="0"/>
              </a:rPr>
              <a:t>G</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rPr>
              <a:t>      </a:t>
            </a:r>
          </a:p>
        </p:txBody>
      </p:sp>
    </p:spTree>
    <p:extLst>
      <p:ext uri="{BB962C8B-B14F-4D97-AF65-F5344CB8AC3E}">
        <p14:creationId xmlns:p14="http://schemas.microsoft.com/office/powerpoint/2010/main" val="30528576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Effect transition="in" filter="fade">
                                      <p:cBhvr>
                                        <p:cTn id="19" dur="1000"/>
                                        <p:tgtEl>
                                          <p:spTgt spid="14">
                                            <p:txEl>
                                              <p:pRg st="3" end="3"/>
                                            </p:txEl>
                                          </p:spTgt>
                                        </p:tgtEl>
                                      </p:cBhvr>
                                    </p:animEffect>
                                    <p:anim calcmode="lin" valueType="num">
                                      <p:cBhvr>
                                        <p:cTn id="20"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4">
                                            <p:txEl>
                                              <p:pRg st="4" end="4"/>
                                            </p:txEl>
                                          </p:spTgt>
                                        </p:tgtEl>
                                        <p:attrNameLst>
                                          <p:attrName>style.visibility</p:attrName>
                                        </p:attrNameLst>
                                      </p:cBhvr>
                                      <p:to>
                                        <p:strVal val="visible"/>
                                      </p:to>
                                    </p:set>
                                    <p:animEffect transition="in" filter="fade">
                                      <p:cBhvr>
                                        <p:cTn id="26" dur="1000"/>
                                        <p:tgtEl>
                                          <p:spTgt spid="14">
                                            <p:txEl>
                                              <p:pRg st="4" end="4"/>
                                            </p:txEl>
                                          </p:spTgt>
                                        </p:tgtEl>
                                      </p:cBhvr>
                                    </p:animEffect>
                                    <p:anim calcmode="lin" valueType="num">
                                      <p:cBhvr>
                                        <p:cTn id="27"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Generated Subgroup(</a:t>
            </a:r>
            <a:r>
              <a:rPr lang="en-US" altLang="zh-CN" sz="2400" b="1" dirty="0">
                <a:solidFill>
                  <a:srgbClr val="FF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0" name="Rectangle 3">
            <a:extLst>
              <a:ext uri="{FF2B5EF4-FFF2-40B4-BE49-F238E27FC236}">
                <a16:creationId xmlns:a16="http://schemas.microsoft.com/office/drawing/2014/main" id="{FDE2C451-E56C-4A67-90AD-48CD50C980A8}"/>
              </a:ext>
            </a:extLst>
          </p:cNvPr>
          <p:cNvSpPr>
            <a:spLocks noGrp="1" noChangeArrowheads="1"/>
          </p:cNvSpPr>
          <p:nvPr>
            <p:ph idx="1"/>
          </p:nvPr>
        </p:nvSpPr>
        <p:spPr>
          <a:xfrm>
            <a:off x="1008378" y="816426"/>
            <a:ext cx="8956835" cy="4617556"/>
          </a:xfrm>
        </p:spPr>
        <p:txBody>
          <a:bodyPr>
            <a:noAutofit/>
          </a:bodyPr>
          <a:lstStyle/>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p>
          <a:p>
            <a:pPr marL="628650" indent="-447675">
              <a:lnSpc>
                <a:spcPct val="120000"/>
              </a:lnSpc>
              <a:spcBef>
                <a:spcPts val="600"/>
              </a:spcBef>
              <a:buClr>
                <a:srgbClr val="0B61FF"/>
              </a:buClr>
              <a:buSzPct val="80000"/>
              <a:buNone/>
            </a:pPr>
            <a:r>
              <a:rPr lang="en-US" altLang="zh-CN" sz="2400" b="1" dirty="0">
                <a:solidFill>
                  <a:srgbClr val="0B61FF"/>
                </a:solidFill>
                <a:latin typeface="Trebuchet MS" panose="020B0603020202020204" pitchFamily="34" charset="0"/>
                <a:cs typeface="Times New Roman" panose="02020603050405020304" pitchFamily="18" charset="0"/>
              </a:rPr>
              <a:t>(1)</a:t>
            </a:r>
            <a:r>
              <a:rPr lang="en-US" altLang="zh-CN" sz="2400" dirty="0">
                <a:solidFill>
                  <a:srgbClr val="0B61FF"/>
                </a:solidFill>
                <a:latin typeface="Trebuchet MS" panose="020B0603020202020204" pitchFamily="34" charset="0"/>
              </a:rPr>
              <a:t> </a:t>
            </a:r>
            <a:r>
              <a:rPr lang="en-US" sz="2400" dirty="0">
                <a:latin typeface="Trebuchet MS" panose="020B0603020202020204" pitchFamily="34" charset="0"/>
              </a:rPr>
              <a:t>For the additive group </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Z</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&gt; </a:t>
            </a:r>
            <a:r>
              <a:rPr lang="zh-CN" altLang="en-US" sz="2400" b="1" dirty="0">
                <a:latin typeface="Trebuchet MS" panose="020B0603020202020204" pitchFamily="34" charset="0"/>
                <a:cs typeface="Times New Roman" panose="02020603050405020304" pitchFamily="18" charset="0"/>
              </a:rPr>
              <a:t>，</a:t>
            </a:r>
            <a:r>
              <a:rPr lang="en-US" sz="2400" dirty="0">
                <a:latin typeface="Trebuchet MS" panose="020B0603020202020204" pitchFamily="34" charset="0"/>
              </a:rPr>
              <a:t>the subgroup generated by </a:t>
            </a:r>
            <a:r>
              <a:rPr lang="en-US" sz="2400" b="1" dirty="0">
                <a:latin typeface="Trebuchet MS" panose="020B0603020202020204" pitchFamily="34" charset="0"/>
              </a:rPr>
              <a:t>2</a:t>
            </a:r>
            <a:r>
              <a:rPr lang="en-US" sz="2400" dirty="0">
                <a:latin typeface="Trebuchet MS" panose="020B0603020202020204" pitchFamily="34" charset="0"/>
              </a:rPr>
              <a:t> is </a:t>
            </a:r>
            <a:r>
              <a:rPr lang="en-US" altLang="zh-CN" sz="2400" b="1" dirty="0">
                <a:latin typeface="Trebuchet MS" panose="020B0603020202020204" pitchFamily="34" charset="0"/>
                <a:cs typeface="Times New Roman" panose="02020603050405020304" pitchFamily="18" charset="0"/>
              </a:rPr>
              <a:t>&lt;2&gt; = { 2</a:t>
            </a:r>
            <a:r>
              <a:rPr lang="en-US" altLang="zh-CN" sz="2400" b="1" i="1" dirty="0">
                <a:latin typeface="Trebuchet MS" panose="020B0603020202020204" pitchFamily="34" charset="0"/>
                <a:cs typeface="Times New Roman" panose="02020603050405020304" pitchFamily="18" charset="0"/>
              </a:rPr>
              <a:t>k </a:t>
            </a:r>
            <a:r>
              <a:rPr lang="en-US" altLang="zh-CN"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k</a:t>
            </a:r>
            <a:r>
              <a:rPr lang="en-US" altLang="zh-CN" sz="2400" b="1" dirty="0" err="1">
                <a:latin typeface="Trebuchet MS" panose="020B0603020202020204" pitchFamily="34" charset="0"/>
                <a:cs typeface="Times New Roman" panose="02020603050405020304" pitchFamily="18" charset="0"/>
              </a:rPr>
              <a:t>∈Z</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 2Z</a:t>
            </a:r>
            <a:r>
              <a:rPr lang="en-US" sz="2400" dirty="0">
                <a:latin typeface="Trebuchet MS" panose="020B0603020202020204" pitchFamily="34" charset="0"/>
              </a:rPr>
              <a:t>.</a:t>
            </a:r>
          </a:p>
          <a:p>
            <a:pPr marL="628650" indent="-447675">
              <a:lnSpc>
                <a:spcPct val="120000"/>
              </a:lnSpc>
              <a:spcBef>
                <a:spcPts val="600"/>
              </a:spcBef>
              <a:buClr>
                <a:srgbClr val="0B61FF"/>
              </a:buClr>
              <a:buSzPct val="80000"/>
              <a:buNone/>
            </a:pPr>
            <a:r>
              <a:rPr lang="en-US" altLang="zh-CN" sz="2400" b="1" dirty="0">
                <a:solidFill>
                  <a:srgbClr val="0B61FF"/>
                </a:solidFill>
                <a:latin typeface="Trebuchet MS" panose="020B0603020202020204" pitchFamily="34" charset="0"/>
                <a:cs typeface="Times New Roman" panose="02020603050405020304" pitchFamily="18" charset="0"/>
              </a:rPr>
              <a:t>(2)</a:t>
            </a:r>
            <a:r>
              <a:rPr lang="en-US" sz="2400" b="1" dirty="0">
                <a:solidFill>
                  <a:srgbClr val="0B61FF"/>
                </a:solidFill>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In the group </a:t>
            </a:r>
            <a:r>
              <a:rPr lang="en-US" sz="2400" b="1" dirty="0">
                <a:latin typeface="Trebuchet MS" panose="020B0603020202020204" pitchFamily="34" charset="0"/>
              </a:rPr>
              <a:t>⟨</a:t>
            </a:r>
            <a:r>
              <a:rPr lang="en-US" altLang="zh-CN" sz="2400" b="1" i="1" dirty="0">
                <a:latin typeface="Trebuchet MS" panose="020B0603020202020204" pitchFamily="34" charset="0"/>
                <a:cs typeface="Times New Roman" panose="02020603050405020304" pitchFamily="18" charset="0"/>
              </a:rPr>
              <a:t> Z</a:t>
            </a:r>
            <a:r>
              <a:rPr lang="en-US" altLang="zh-CN" sz="2400" b="1" baseline="-25000" dirty="0">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a:t>
            </a:r>
            <a:r>
              <a:rPr lang="en-US" sz="2400" b="1" dirty="0">
                <a:latin typeface="Trebuchet MS" panose="020B0603020202020204" pitchFamily="34" charset="0"/>
              </a:rPr>
              <a:t>⟩</a:t>
            </a:r>
            <a:r>
              <a:rPr lang="en-US" altLang="zh-CN" sz="2400" dirty="0">
                <a:latin typeface="Trebuchet MS" panose="020B0603020202020204" pitchFamily="34" charset="0"/>
              </a:rPr>
              <a:t>, </a:t>
            </a:r>
            <a:r>
              <a:rPr lang="en-US" sz="2400" dirty="0">
                <a:latin typeface="Trebuchet MS" panose="020B0603020202020204" pitchFamily="34" charset="0"/>
              </a:rPr>
              <a:t>the subgroup generated by </a:t>
            </a:r>
            <a:r>
              <a:rPr lang="en-US" sz="2400" b="1" dirty="0">
                <a:latin typeface="Trebuchet MS" panose="020B0603020202020204" pitchFamily="34" charset="0"/>
              </a:rPr>
              <a:t>2</a:t>
            </a:r>
            <a:r>
              <a:rPr lang="en-US" sz="2400" dirty="0">
                <a:latin typeface="Trebuchet MS" panose="020B0603020202020204" pitchFamily="34" charset="0"/>
              </a:rPr>
              <a:t> is ⟨2⟩={0,2,4}.</a:t>
            </a:r>
            <a:r>
              <a:rPr lang="zh-CN" altLang="en-US" sz="2400" dirty="0">
                <a:latin typeface="Trebuchet MS" panose="020B0603020202020204" pitchFamily="34" charset="0"/>
              </a:rPr>
              <a:t> </a:t>
            </a:r>
            <a:r>
              <a:rPr lang="en-US" sz="2400" dirty="0">
                <a:latin typeface="Trebuchet MS" panose="020B0603020202020204" pitchFamily="34" charset="0"/>
              </a:rPr>
              <a:t>Similarly, </a:t>
            </a:r>
            <a:r>
              <a:rPr lang="en-US" altLang="zh-CN" sz="2400" b="1" dirty="0">
                <a:latin typeface="Trebuchet MS" panose="020B0603020202020204" pitchFamily="34" charset="0"/>
                <a:cs typeface="Times New Roman" panose="02020603050405020304" pitchFamily="18" charset="0"/>
              </a:rPr>
              <a:t>&lt;3&gt; = { 0, 3}, &lt;1&gt; = &lt;5&gt; ={ 0, 1, 2, 3,4 ,5} =</a:t>
            </a:r>
            <a:r>
              <a:rPr lang="en-US" altLang="zh-CN" sz="2400" b="1" i="1" dirty="0">
                <a:latin typeface="Trebuchet MS" panose="020B0603020202020204" pitchFamily="34" charset="0"/>
                <a:cs typeface="Times New Roman" panose="02020603050405020304" pitchFamily="18" charset="0"/>
              </a:rPr>
              <a:t> Z</a:t>
            </a:r>
            <a:r>
              <a:rPr lang="en-US" altLang="zh-CN" sz="2400" b="1" baseline="-25000" dirty="0">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rPr>
              <a:t>, &lt;0&gt; = { 0}, &lt;4&gt; = { 0, 2, 4 }.</a:t>
            </a:r>
          </a:p>
          <a:p>
            <a:pPr marL="628650" indent="-447675">
              <a:lnSpc>
                <a:spcPct val="120000"/>
              </a:lnSpc>
              <a:spcBef>
                <a:spcPts val="600"/>
              </a:spcBef>
              <a:buClr>
                <a:srgbClr val="0B61FF"/>
              </a:buClr>
              <a:buSzPct val="80000"/>
              <a:buNone/>
            </a:pPr>
            <a:r>
              <a:rPr lang="en-US" sz="2400" b="1" dirty="0">
                <a:solidFill>
                  <a:srgbClr val="0B61FF"/>
                </a:solidFill>
                <a:latin typeface="Trebuchet MS" panose="020B0603020202020204" pitchFamily="34" charset="0"/>
                <a:cs typeface="Times New Roman" panose="02020603050405020304" pitchFamily="18" charset="0"/>
              </a:rPr>
              <a:t>(3) </a:t>
            </a:r>
            <a:r>
              <a:rPr lang="en-US" sz="2400" dirty="0">
                <a:latin typeface="Trebuchet MS" panose="020B0603020202020204" pitchFamily="34" charset="0"/>
              </a:rPr>
              <a:t>The </a:t>
            </a:r>
            <a:r>
              <a:rPr lang="en-US" sz="2400" b="1" dirty="0">
                <a:latin typeface="Trebuchet MS" panose="020B0603020202020204" pitchFamily="34" charset="0"/>
                <a:hlinkClick r:id="rId5" action="ppaction://hlinksldjump"/>
              </a:rPr>
              <a:t>Klein four-group </a:t>
            </a:r>
            <a:r>
              <a:rPr lang="en-US" sz="2400" b="1" i="1" dirty="0">
                <a:latin typeface="Trebuchet MS" panose="020B0603020202020204" pitchFamily="34" charset="0"/>
              </a:rPr>
              <a:t>G</a:t>
            </a:r>
            <a:r>
              <a:rPr lang="en-US" sz="2400" b="1" dirty="0">
                <a:latin typeface="Trebuchet MS" panose="020B0603020202020204" pitchFamily="34" charset="0"/>
              </a:rPr>
              <a:t>={</a:t>
            </a:r>
            <a:r>
              <a:rPr lang="en-US" sz="2400" b="1" i="1" dirty="0" err="1">
                <a:latin typeface="Trebuchet MS" panose="020B0603020202020204" pitchFamily="34" charset="0"/>
              </a:rPr>
              <a:t>e,a,b,c</a:t>
            </a:r>
            <a:r>
              <a:rPr lang="en-US" sz="2400" b="1" dirty="0">
                <a:latin typeface="Trebuchet MS" panose="020B0603020202020204" pitchFamily="34" charset="0"/>
              </a:rPr>
              <a:t>} </a:t>
            </a:r>
            <a:r>
              <a:rPr lang="en-US" sz="2400" dirty="0">
                <a:latin typeface="Trebuchet MS" panose="020B0603020202020204" pitchFamily="34" charset="0"/>
              </a:rPr>
              <a:t>has the following subgroups generated by each element:</a:t>
            </a:r>
          </a:p>
          <a:p>
            <a:pPr marL="609600" indent="-609600" eaLnBrk="1" hangingPunct="1">
              <a:lnSpc>
                <a:spcPct val="120000"/>
              </a:lnSpc>
              <a:spcBef>
                <a:spcPts val="600"/>
              </a:spcBef>
              <a:buFontTx/>
              <a:buNone/>
            </a:pPr>
            <a:r>
              <a:rPr lang="en-US" altLang="zh-CN" sz="2400" b="1" dirty="0">
                <a:latin typeface="Trebuchet MS" panose="020B0603020202020204" pitchFamily="34" charset="0"/>
                <a:cs typeface="Times New Roman" panose="02020603050405020304" pitchFamily="18" charset="0"/>
              </a:rPr>
              <a:t>      &lt;</a:t>
            </a:r>
            <a:r>
              <a:rPr lang="en-US" altLang="zh-CN" sz="2400" b="1" i="1" dirty="0">
                <a:latin typeface="Trebuchet MS" panose="020B0603020202020204" pitchFamily="34" charset="0"/>
                <a:cs typeface="Times New Roman" panose="02020603050405020304" pitchFamily="18" charset="0"/>
              </a:rPr>
              <a:t>e</a:t>
            </a:r>
            <a:r>
              <a:rPr lang="en-US" altLang="zh-CN" sz="2400" b="1" dirty="0">
                <a:latin typeface="Trebuchet MS" panose="020B0603020202020204" pitchFamily="34" charset="0"/>
                <a:cs typeface="Times New Roman" panose="02020603050405020304" pitchFamily="18" charset="0"/>
              </a:rPr>
              <a:t>&gt; = { </a:t>
            </a:r>
            <a:r>
              <a:rPr lang="en-US" altLang="zh-CN" sz="2400" b="1" i="1" dirty="0">
                <a:latin typeface="Trebuchet MS" panose="020B0603020202020204" pitchFamily="34" charset="0"/>
                <a:cs typeface="Times New Roman" panose="02020603050405020304" pitchFamily="18" charset="0"/>
              </a:rPr>
              <a:t>e </a:t>
            </a:r>
            <a:r>
              <a:rPr lang="en-US" altLang="zh-CN" sz="2400" b="1" dirty="0">
                <a:latin typeface="Trebuchet MS" panose="020B0603020202020204" pitchFamily="34" charset="0"/>
                <a:cs typeface="Times New Roman" panose="02020603050405020304" pitchFamily="18" charset="0"/>
              </a:rPr>
              <a:t>},  &lt;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&gt; = { </a:t>
            </a:r>
            <a:r>
              <a:rPr lang="en-US" altLang="zh-CN" sz="2400" b="1" i="1" dirty="0">
                <a:latin typeface="Trebuchet MS" panose="020B0603020202020204" pitchFamily="34" charset="0"/>
                <a:cs typeface="Times New Roman" panose="02020603050405020304" pitchFamily="18" charset="0"/>
              </a:rPr>
              <a:t>e</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a </a:t>
            </a:r>
            <a:r>
              <a:rPr lang="en-US" altLang="zh-CN" sz="2400" b="1" dirty="0">
                <a:latin typeface="Trebuchet MS" panose="020B0603020202020204" pitchFamily="34" charset="0"/>
                <a:cs typeface="Times New Roman" panose="02020603050405020304" pitchFamily="18" charset="0"/>
              </a:rPr>
              <a:t>},  &lt;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&gt; = { </a:t>
            </a:r>
            <a:r>
              <a:rPr lang="en-US" altLang="zh-CN" sz="2400" b="1" i="1" dirty="0">
                <a:latin typeface="Trebuchet MS" panose="020B0603020202020204" pitchFamily="34" charset="0"/>
                <a:cs typeface="Times New Roman" panose="02020603050405020304" pitchFamily="18" charset="0"/>
              </a:rPr>
              <a:t>e</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b </a:t>
            </a:r>
            <a:r>
              <a:rPr lang="en-US" altLang="zh-CN" sz="2400" b="1" dirty="0">
                <a:latin typeface="Trebuchet MS" panose="020B0603020202020204" pitchFamily="34" charset="0"/>
                <a:cs typeface="Times New Roman" panose="02020603050405020304" pitchFamily="18" charset="0"/>
              </a:rPr>
              <a:t>}, &lt;</a:t>
            </a:r>
            <a:r>
              <a:rPr lang="en-US" altLang="zh-CN" sz="2400" b="1" i="1" dirty="0">
                <a:latin typeface="Trebuchet MS" panose="020B0603020202020204" pitchFamily="34" charset="0"/>
                <a:cs typeface="Times New Roman" panose="02020603050405020304" pitchFamily="18" charset="0"/>
              </a:rPr>
              <a:t>c</a:t>
            </a:r>
            <a:r>
              <a:rPr lang="en-US" altLang="zh-CN" sz="2400" b="1" dirty="0">
                <a:latin typeface="Trebuchet MS" panose="020B0603020202020204" pitchFamily="34" charset="0"/>
                <a:cs typeface="Times New Roman" panose="02020603050405020304" pitchFamily="18" charset="0"/>
              </a:rPr>
              <a:t>&gt; = { </a:t>
            </a:r>
            <a:r>
              <a:rPr lang="en-US" altLang="zh-CN" sz="2400" b="1" i="1" dirty="0">
                <a:latin typeface="Trebuchet MS" panose="020B0603020202020204" pitchFamily="34" charset="0"/>
                <a:cs typeface="Times New Roman" panose="02020603050405020304" pitchFamily="18" charset="0"/>
              </a:rPr>
              <a:t>e</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c </a:t>
            </a:r>
            <a:r>
              <a:rPr lang="en-US" altLang="zh-CN" sz="2400" b="1" dirty="0">
                <a:latin typeface="Trebuchet MS" panose="020B0603020202020204" pitchFamily="34" charset="0"/>
                <a:cs typeface="Times New Roman" panose="02020603050405020304" pitchFamily="18" charset="0"/>
              </a:rPr>
              <a:t>}. </a:t>
            </a:r>
          </a:p>
        </p:txBody>
      </p:sp>
    </p:spTree>
    <p:extLst>
      <p:ext uri="{BB962C8B-B14F-4D97-AF65-F5344CB8AC3E}">
        <p14:creationId xmlns:p14="http://schemas.microsoft.com/office/powerpoint/2010/main" val="4105937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1000"/>
                                        <p:tgtEl>
                                          <p:spTgt spid="10">
                                            <p:txEl>
                                              <p:pRg st="2" end="2"/>
                                            </p:txEl>
                                          </p:spTgt>
                                        </p:tgtEl>
                                      </p:cBhvr>
                                    </p:animEffect>
                                    <p:anim calcmode="lin" valueType="num">
                                      <p:cBhvr>
                                        <p:cTn id="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3" end="3"/>
                                            </p:txEl>
                                          </p:spTgt>
                                        </p:tgtEl>
                                        <p:attrNameLst>
                                          <p:attrName>style.visibility</p:attrName>
                                        </p:attrNameLst>
                                      </p:cBhvr>
                                      <p:to>
                                        <p:strVal val="visible"/>
                                      </p:to>
                                    </p:set>
                                    <p:animEffect transition="in" filter="fade">
                                      <p:cBhvr>
                                        <p:cTn id="14" dur="1000"/>
                                        <p:tgtEl>
                                          <p:spTgt spid="10">
                                            <p:txEl>
                                              <p:pRg st="3" end="3"/>
                                            </p:txEl>
                                          </p:spTgt>
                                        </p:tgtEl>
                                      </p:cBhvr>
                                    </p:animEffect>
                                    <p:anim calcmode="lin" valueType="num">
                                      <p:cBhvr>
                                        <p:cTn id="15"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fade">
                                      <p:cBhvr>
                                        <p:cTn id="19" dur="1000"/>
                                        <p:tgtEl>
                                          <p:spTgt spid="10">
                                            <p:txEl>
                                              <p:pRg st="4" end="4"/>
                                            </p:txEl>
                                          </p:spTgt>
                                        </p:tgtEl>
                                      </p:cBhvr>
                                    </p:animEffect>
                                    <p:anim calcmode="lin" valueType="num">
                                      <p:cBhvr>
                                        <p:cTn id="2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Cyclic Subgroup: A Special Case of a Generated Subgroup</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0" name="Rectangle 3">
            <a:extLst>
              <a:ext uri="{FF2B5EF4-FFF2-40B4-BE49-F238E27FC236}">
                <a16:creationId xmlns:a16="http://schemas.microsoft.com/office/drawing/2014/main" id="{59CFBD4F-BFA1-4EB8-B435-176762C12E82}"/>
              </a:ext>
            </a:extLst>
          </p:cNvPr>
          <p:cNvSpPr>
            <a:spLocks noGrp="1" noChangeArrowheads="1"/>
          </p:cNvSpPr>
          <p:nvPr>
            <p:ph idx="1"/>
          </p:nvPr>
        </p:nvSpPr>
        <p:spPr>
          <a:xfrm>
            <a:off x="755508" y="750070"/>
            <a:ext cx="10042565" cy="5572851"/>
          </a:xfrm>
        </p:spPr>
        <p:txBody>
          <a:bodyPr>
            <a:noAutofit/>
          </a:bodyPr>
          <a:lstStyle/>
          <a:p>
            <a:pPr>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9.19: </a:t>
            </a:r>
            <a:r>
              <a:rPr lang="en-US" sz="2400" dirty="0">
                <a:latin typeface="Trebuchet MS" panose="020B0603020202020204" pitchFamily="34" charset="0"/>
              </a:rPr>
              <a:t>Let </a:t>
            </a:r>
            <a:r>
              <a:rPr lang="en-US" altLang="zh-CN" sz="2400" b="1" i="1" dirty="0">
                <a:latin typeface="Trebuchet MS" panose="020B0603020202020204" pitchFamily="34" charset="0"/>
              </a:rPr>
              <a:t>G</a:t>
            </a:r>
            <a:r>
              <a:rPr lang="en-US" sz="2400" dirty="0">
                <a:latin typeface="Trebuchet MS" panose="020B0603020202020204" pitchFamily="34" charset="0"/>
              </a:rPr>
              <a:t> be a group. If there exists </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G</a:t>
            </a:r>
            <a:r>
              <a:rPr lang="en-US" altLang="zh-CN" sz="2400" b="1" i="1" dirty="0">
                <a:latin typeface="Trebuchet MS" panose="020B0603020202020204" pitchFamily="34" charset="0"/>
              </a:rPr>
              <a:t>  </a:t>
            </a:r>
            <a:r>
              <a:rPr lang="en-US" sz="2400" dirty="0">
                <a:latin typeface="Trebuchet MS" panose="020B0603020202020204" pitchFamily="34" charset="0"/>
              </a:rPr>
              <a:t>such that </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 </a:t>
            </a:r>
            <a:r>
              <a:rPr lang="en-US" altLang="zh-CN" sz="2400" b="1" i="1" dirty="0" err="1">
                <a:latin typeface="Trebuchet MS" panose="020B0603020202020204" pitchFamily="34" charset="0"/>
              </a:rPr>
              <a:t>a</a:t>
            </a:r>
            <a:r>
              <a:rPr lang="en-US" altLang="zh-CN" sz="2400" b="1" i="1" baseline="30000" dirty="0" err="1">
                <a:latin typeface="Trebuchet MS" panose="020B0603020202020204" pitchFamily="34" charset="0"/>
              </a:rPr>
              <a:t>k</a:t>
            </a:r>
            <a:r>
              <a:rPr lang="en-US" altLang="zh-CN" sz="2400" b="1" i="1" dirty="0">
                <a:latin typeface="Trebuchet MS" panose="020B0603020202020204" pitchFamily="34" charset="0"/>
              </a:rPr>
              <a:t>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k</a:t>
            </a:r>
            <a:r>
              <a:rPr lang="en-US" altLang="zh-CN" sz="2400" b="1" dirty="0" err="1">
                <a:latin typeface="Trebuchet MS" panose="020B0603020202020204" pitchFamily="34" charset="0"/>
              </a:rPr>
              <a:t>∈Z</a:t>
            </a:r>
            <a:r>
              <a:rPr lang="en-US" altLang="zh-CN" sz="2400" b="1" i="1" dirty="0">
                <a:latin typeface="Trebuchet MS" panose="020B0603020202020204" pitchFamily="34" charset="0"/>
              </a:rPr>
              <a:t> </a:t>
            </a:r>
            <a:r>
              <a:rPr lang="en-US" altLang="zh-CN" sz="2400" b="1" dirty="0">
                <a:latin typeface="Trebuchet MS" panose="020B0603020202020204" pitchFamily="34" charset="0"/>
              </a:rPr>
              <a:t>}, </a:t>
            </a:r>
            <a:r>
              <a:rPr lang="en-US" sz="2400" dirty="0">
                <a:latin typeface="Trebuchet MS" panose="020B0603020202020204" pitchFamily="34" charset="0"/>
              </a:rPr>
              <a:t>then </a:t>
            </a:r>
            <a:r>
              <a:rPr lang="en-US" altLang="zh-CN" sz="2400" b="1" i="1" dirty="0">
                <a:latin typeface="Trebuchet MS" panose="020B0603020202020204" pitchFamily="34" charset="0"/>
              </a:rPr>
              <a:t>G</a:t>
            </a:r>
            <a:r>
              <a:rPr lang="en-US" sz="2400" dirty="0">
                <a:latin typeface="Trebuchet MS" panose="020B0603020202020204" pitchFamily="34" charset="0"/>
              </a:rPr>
              <a:t> is called a </a:t>
            </a:r>
            <a:r>
              <a:rPr lang="en-US" sz="2400" b="1" i="1" dirty="0">
                <a:solidFill>
                  <a:srgbClr val="0B61FF"/>
                </a:solidFill>
                <a:latin typeface="Trebuchet MS" panose="020B0603020202020204" pitchFamily="34" charset="0"/>
              </a:rPr>
              <a:t>cyclic group</a:t>
            </a:r>
            <a:r>
              <a:rPr lang="en-US" sz="2400" dirty="0">
                <a:latin typeface="Trebuchet MS" panose="020B0603020202020204" pitchFamily="34" charset="0"/>
              </a:rPr>
              <a:t>, denoted by </a:t>
            </a:r>
            <a:r>
              <a:rPr lang="en-US" altLang="zh-CN" sz="2400" b="1" i="1" dirty="0">
                <a:solidFill>
                  <a:srgbClr val="FF0000"/>
                </a:solidFill>
                <a:latin typeface="Trebuchet MS" panose="020B0603020202020204" pitchFamily="34" charset="0"/>
              </a:rPr>
              <a:t>G</a:t>
            </a:r>
            <a:r>
              <a:rPr lang="en-US" altLang="zh-CN" sz="2400" b="1" dirty="0">
                <a:solidFill>
                  <a:srgbClr val="FF0000"/>
                </a:solidFill>
                <a:latin typeface="Trebuchet MS" panose="020B0603020202020204" pitchFamily="34" charset="0"/>
              </a:rPr>
              <a:t>=&lt;</a:t>
            </a:r>
            <a:r>
              <a:rPr lang="en-US" altLang="zh-CN" sz="2400" b="1" i="1" dirty="0">
                <a:solidFill>
                  <a:srgbClr val="FF0000"/>
                </a:solidFill>
                <a:latin typeface="Trebuchet MS" panose="020B0603020202020204" pitchFamily="34" charset="0"/>
              </a:rPr>
              <a:t>a</a:t>
            </a:r>
            <a:r>
              <a:rPr lang="en-US" altLang="zh-CN" sz="2400" b="1" dirty="0">
                <a:solidFill>
                  <a:srgbClr val="FF0000"/>
                </a:solidFill>
                <a:latin typeface="Trebuchet MS" panose="020B0603020202020204" pitchFamily="34" charset="0"/>
              </a:rPr>
              <a:t>&gt;</a:t>
            </a:r>
            <a:r>
              <a:rPr lang="en-US" altLang="zh-CN" sz="2400" b="1" dirty="0">
                <a:latin typeface="Trebuchet MS" panose="020B0603020202020204" pitchFamily="34" charset="0"/>
              </a:rPr>
              <a:t>,</a:t>
            </a:r>
            <a:r>
              <a:rPr lang="en-US" altLang="zh-CN" sz="2400" b="1" dirty="0">
                <a:solidFill>
                  <a:srgbClr val="FF0000"/>
                </a:solidFill>
                <a:latin typeface="Trebuchet MS" panose="020B0603020202020204" pitchFamily="34" charset="0"/>
              </a:rPr>
              <a:t> </a:t>
            </a:r>
            <a:r>
              <a:rPr lang="en-US" sz="2400" dirty="0">
                <a:latin typeface="Trebuchet MS" panose="020B0603020202020204" pitchFamily="34" charset="0"/>
              </a:rPr>
              <a:t>and </a:t>
            </a:r>
            <a:r>
              <a:rPr lang="en-US" altLang="zh-CN" sz="2400" b="1" i="1" dirty="0">
                <a:latin typeface="Trebuchet MS" panose="020B0603020202020204" pitchFamily="34" charset="0"/>
              </a:rPr>
              <a:t>a</a:t>
            </a:r>
            <a:r>
              <a:rPr lang="en-US" sz="2400" dirty="0">
                <a:latin typeface="Trebuchet MS" panose="020B0603020202020204" pitchFamily="34" charset="0"/>
              </a:rPr>
              <a:t> is called a </a:t>
            </a:r>
            <a:r>
              <a:rPr lang="en-US" sz="2400" b="1" i="1" dirty="0">
                <a:solidFill>
                  <a:srgbClr val="0B61FF"/>
                </a:solidFill>
                <a:latin typeface="Trebuchet MS" panose="020B0603020202020204" pitchFamily="34" charset="0"/>
              </a:rPr>
              <a:t>generator</a:t>
            </a:r>
            <a:r>
              <a:rPr lang="en-US" sz="2400" dirty="0">
                <a:latin typeface="Trebuchet MS" panose="020B0603020202020204" pitchFamily="34" charset="0"/>
              </a:rPr>
              <a:t> of </a:t>
            </a:r>
            <a:r>
              <a:rPr lang="en-US" altLang="zh-CN" sz="2400" b="1" i="1" dirty="0">
                <a:latin typeface="Trebuchet MS" panose="020B0603020202020204" pitchFamily="34" charset="0"/>
              </a:rPr>
              <a:t>G </a:t>
            </a:r>
            <a:r>
              <a:rPr lang="en-US" sz="2400" dirty="0">
                <a:latin typeface="Trebuchet MS" panose="020B0603020202020204" pitchFamily="34" charset="0"/>
              </a:rPr>
              <a:t>.</a:t>
            </a:r>
          </a:p>
          <a:p>
            <a:pPr marL="360363" indent="-179388">
              <a:lnSpc>
                <a:spcPct val="120000"/>
              </a:lnSpc>
              <a:spcBef>
                <a:spcPts val="0"/>
              </a:spcBef>
              <a:buClr>
                <a:srgbClr val="0B61FF"/>
              </a:buClr>
              <a:buSzPct val="120000"/>
              <a:tabLst>
                <a:tab pos="268288" algn="l"/>
              </a:tabLst>
            </a:pPr>
            <a:r>
              <a:rPr lang="en-US" sz="2400" dirty="0">
                <a:latin typeface="Trebuchet MS" panose="020B0603020202020204" pitchFamily="34" charset="0"/>
              </a:rPr>
              <a:t>If </a:t>
            </a:r>
            <a:r>
              <a:rPr lang="en-US" altLang="zh-CN" sz="2400" b="1" i="1" dirty="0">
                <a:latin typeface="Trebuchet MS" panose="020B0603020202020204" pitchFamily="34" charset="0"/>
              </a:rPr>
              <a:t>G</a:t>
            </a:r>
            <a:r>
              <a:rPr lang="en-US" altLang="zh-CN" sz="2400" b="1" dirty="0">
                <a:latin typeface="Trebuchet MS" panose="020B0603020202020204" pitchFamily="34" charset="0"/>
              </a:rPr>
              <a:t>=&lt;</a:t>
            </a:r>
            <a:r>
              <a:rPr lang="en-US" altLang="zh-CN" sz="2400" b="1" i="1" dirty="0">
                <a:latin typeface="Trebuchet MS" panose="020B0603020202020204" pitchFamily="34" charset="0"/>
              </a:rPr>
              <a:t>a</a:t>
            </a:r>
            <a:r>
              <a:rPr lang="en-US" altLang="zh-CN" sz="2400" b="1" dirty="0">
                <a:latin typeface="Trebuchet MS" panose="020B0603020202020204" pitchFamily="34" charset="0"/>
              </a:rPr>
              <a:t>&gt;, </a:t>
            </a:r>
            <a:r>
              <a:rPr lang="en-US" sz="2400" dirty="0">
                <a:latin typeface="Trebuchet MS" panose="020B0603020202020204" pitchFamily="34" charset="0"/>
              </a:rPr>
              <a:t>and </a:t>
            </a:r>
            <a:r>
              <a:rPr lang="en-US" altLang="zh-CN" sz="2400" b="1" i="1" dirty="0">
                <a:latin typeface="Trebuchet MS" panose="020B0603020202020204" pitchFamily="34" charset="0"/>
              </a:rPr>
              <a:t>a</a:t>
            </a:r>
            <a:r>
              <a:rPr lang="en-US" sz="2400" dirty="0">
                <a:latin typeface="Trebuchet MS" panose="020B0603020202020204" pitchFamily="34" charset="0"/>
              </a:rPr>
              <a:t> is an element of order </a:t>
            </a:r>
            <a:r>
              <a:rPr lang="en-US" altLang="zh-CN" sz="2400" b="1" i="1" dirty="0">
                <a:latin typeface="Trebuchet MS" panose="020B0603020202020204" pitchFamily="34" charset="0"/>
              </a:rPr>
              <a:t>n</a:t>
            </a:r>
            <a:r>
              <a:rPr lang="en-US" sz="2400" dirty="0">
                <a:latin typeface="Trebuchet MS" panose="020B0603020202020204" pitchFamily="34" charset="0"/>
              </a:rPr>
              <a:t>, then </a:t>
            </a:r>
            <a:r>
              <a:rPr lang="en-US" altLang="zh-CN" sz="2400" b="1" i="1" dirty="0">
                <a:latin typeface="Trebuchet MS" panose="020B0603020202020204" pitchFamily="34" charset="0"/>
              </a:rPr>
              <a:t>G</a:t>
            </a:r>
            <a:r>
              <a:rPr lang="en-US" sz="2400" dirty="0">
                <a:latin typeface="Trebuchet MS" panose="020B0603020202020204" pitchFamily="34" charset="0"/>
              </a:rPr>
              <a:t> is called an </a:t>
            </a:r>
            <a:r>
              <a:rPr lang="en-US" sz="2400" b="1" i="1" dirty="0">
                <a:solidFill>
                  <a:srgbClr val="0B61FF"/>
                </a:solidFill>
                <a:latin typeface="Trebuchet MS" panose="020B0603020202020204" pitchFamily="34" charset="0"/>
              </a:rPr>
              <a:t>n-order cyclic group</a:t>
            </a:r>
            <a:r>
              <a:rPr lang="en-US" sz="2400" dirty="0">
                <a:latin typeface="Trebuchet MS" panose="020B0603020202020204" pitchFamily="34" charset="0"/>
              </a:rPr>
              <a:t>, i.e., </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 </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0</a:t>
            </a:r>
            <a:r>
              <a:rPr lang="en-US" altLang="zh-CN" sz="2400" b="1" dirty="0">
                <a:latin typeface="Trebuchet MS" panose="020B0603020202020204" pitchFamily="34" charset="0"/>
              </a:rPr>
              <a:t>=</a:t>
            </a:r>
            <a:r>
              <a:rPr lang="en-US" altLang="zh-CN" sz="2400" b="1" i="1" dirty="0">
                <a:latin typeface="Trebuchet MS" panose="020B0603020202020204" pitchFamily="34" charset="0"/>
              </a:rPr>
              <a:t>e</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 … , </a:t>
            </a:r>
            <a:r>
              <a:rPr lang="en-US" altLang="zh-CN" sz="2400" b="1" i="1" dirty="0">
                <a:latin typeface="Trebuchet MS" panose="020B0603020202020204" pitchFamily="34" charset="0"/>
              </a:rPr>
              <a:t>a</a:t>
            </a:r>
            <a:r>
              <a:rPr lang="en-US" altLang="zh-CN" sz="2400" b="1" i="1" baseline="30000" dirty="0">
                <a:latin typeface="Trebuchet MS" panose="020B0603020202020204" pitchFamily="34" charset="0"/>
              </a:rPr>
              <a:t>n</a:t>
            </a:r>
            <a:r>
              <a:rPr lang="en-US" altLang="zh-CN" sz="2400" b="1" baseline="30000" dirty="0">
                <a:latin typeface="Trebuchet MS" panose="020B0603020202020204" pitchFamily="34" charset="0"/>
                <a:sym typeface="Symbol" pitchFamily="18" charset="2"/>
              </a:rPr>
              <a:t></a:t>
            </a:r>
            <a:r>
              <a:rPr lang="en-US" altLang="zh-CN" sz="2400" b="1" baseline="30000" dirty="0">
                <a:latin typeface="Trebuchet MS" panose="020B0603020202020204" pitchFamily="34" charset="0"/>
              </a:rPr>
              <a:t>1 </a:t>
            </a:r>
            <a:r>
              <a:rPr lang="en-US" altLang="zh-CN" sz="2400" b="1" dirty="0">
                <a:latin typeface="Trebuchet MS" panose="020B0603020202020204" pitchFamily="34" charset="0"/>
              </a:rPr>
              <a:t>}.</a:t>
            </a:r>
          </a:p>
          <a:p>
            <a:pPr marL="360363" indent="-179388">
              <a:lnSpc>
                <a:spcPct val="120000"/>
              </a:lnSpc>
              <a:spcBef>
                <a:spcPts val="0"/>
              </a:spcBef>
              <a:buClr>
                <a:srgbClr val="0B61FF"/>
              </a:buClr>
              <a:buSzPct val="120000"/>
              <a:tabLst>
                <a:tab pos="268288" algn="l"/>
              </a:tabLst>
            </a:pPr>
            <a:r>
              <a:rPr lang="en-US" sz="2400" dirty="0">
                <a:latin typeface="Trebuchet MS" panose="020B0603020202020204" pitchFamily="34" charset="0"/>
              </a:rPr>
              <a:t>If </a:t>
            </a:r>
            <a:r>
              <a:rPr lang="en-US" altLang="zh-CN" sz="2400" b="1" i="1" dirty="0">
                <a:latin typeface="Trebuchet MS" panose="020B0603020202020204" pitchFamily="34" charset="0"/>
              </a:rPr>
              <a:t>a</a:t>
            </a:r>
            <a:r>
              <a:rPr lang="en-US" sz="2400" dirty="0">
                <a:latin typeface="Trebuchet MS" panose="020B0603020202020204" pitchFamily="34" charset="0"/>
              </a:rPr>
              <a:t> is an element of infinite order, then </a:t>
            </a:r>
            <a:r>
              <a:rPr lang="en-US" altLang="zh-CN" sz="2400" b="1" i="1" dirty="0">
                <a:latin typeface="Trebuchet MS" panose="020B0603020202020204" pitchFamily="34" charset="0"/>
              </a:rPr>
              <a:t>G</a:t>
            </a:r>
            <a:r>
              <a:rPr lang="en-US" sz="2400" dirty="0">
                <a:latin typeface="Trebuchet MS" panose="020B0603020202020204" pitchFamily="34" charset="0"/>
              </a:rPr>
              <a:t> is called an </a:t>
            </a:r>
            <a:r>
              <a:rPr lang="en-US" sz="2400" b="1" i="1" dirty="0">
                <a:solidFill>
                  <a:srgbClr val="0B61FF"/>
                </a:solidFill>
                <a:latin typeface="Trebuchet MS" panose="020B0603020202020204" pitchFamily="34" charset="0"/>
              </a:rPr>
              <a:t>infinite cyclic group</a:t>
            </a:r>
            <a:r>
              <a:rPr lang="en-US" sz="2400" dirty="0">
                <a:latin typeface="Trebuchet MS" panose="020B0603020202020204" pitchFamily="34" charset="0"/>
              </a:rPr>
              <a:t>, i.e., </a:t>
            </a:r>
            <a:r>
              <a:rPr lang="en-US" altLang="zh-CN" sz="2400" b="1" i="1" dirty="0">
                <a:latin typeface="Trebuchet MS" panose="020B0603020202020204" pitchFamily="34" charset="0"/>
              </a:rPr>
              <a:t>G </a:t>
            </a:r>
            <a:r>
              <a:rPr lang="en-US" altLang="zh-CN" sz="2400" b="1" dirty="0">
                <a:latin typeface="Trebuchet MS" panose="020B0603020202020204" pitchFamily="34" charset="0"/>
              </a:rPr>
              <a:t>= { </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±0</a:t>
            </a:r>
            <a:r>
              <a:rPr lang="en-US" altLang="zh-CN" sz="2400" b="1" dirty="0">
                <a:latin typeface="Trebuchet MS" panose="020B0603020202020204" pitchFamily="34" charset="0"/>
              </a:rPr>
              <a:t>=</a:t>
            </a:r>
            <a:r>
              <a:rPr lang="en-US" altLang="zh-CN" sz="2400" b="1" i="1" dirty="0">
                <a:latin typeface="Trebuchet MS" panose="020B0603020202020204" pitchFamily="34" charset="0"/>
              </a:rPr>
              <a:t>e</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±1</a:t>
            </a:r>
            <a:r>
              <a:rPr lang="en-US" altLang="zh-CN" sz="2400" b="1" dirty="0">
                <a:latin typeface="Trebuchet MS" panose="020B0603020202020204" pitchFamily="34" charset="0"/>
              </a:rPr>
              <a:t>, </a:t>
            </a:r>
            <a:r>
              <a:rPr lang="en-US" altLang="zh-CN" sz="2400" b="1" i="1" dirty="0">
                <a:latin typeface="Trebuchet MS" panose="020B0603020202020204" pitchFamily="34" charset="0"/>
              </a:rPr>
              <a:t>a</a:t>
            </a:r>
            <a:r>
              <a:rPr lang="en-US" altLang="zh-CN" sz="2400" b="1" baseline="30000" dirty="0">
                <a:latin typeface="Trebuchet MS" panose="020B0603020202020204" pitchFamily="34" charset="0"/>
              </a:rPr>
              <a:t>±2</a:t>
            </a:r>
            <a:r>
              <a:rPr lang="en-US" altLang="zh-CN" sz="2400" b="1" dirty="0">
                <a:latin typeface="Trebuchet MS" panose="020B0603020202020204" pitchFamily="34" charset="0"/>
              </a:rPr>
              <a:t>, … }.</a:t>
            </a: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 of Cyclic Groups:</a:t>
            </a:r>
          </a:p>
          <a:p>
            <a:pPr marL="803275" indent="-534988">
              <a:lnSpc>
                <a:spcPct val="120000"/>
              </a:lnSpc>
              <a:spcBef>
                <a:spcPts val="300"/>
              </a:spcBef>
              <a:buClr>
                <a:srgbClr val="0B61FF"/>
              </a:buClr>
              <a:buSzPct val="80000"/>
              <a:buNone/>
              <a:tabLst>
                <a:tab pos="268288" algn="l"/>
              </a:tabLst>
            </a:pPr>
            <a:r>
              <a:rPr lang="en-US" altLang="zh-CN" sz="2400" b="1" dirty="0">
                <a:solidFill>
                  <a:srgbClr val="0B61FF"/>
                </a:solidFill>
                <a:latin typeface="Trebuchet MS" panose="020B0603020202020204" pitchFamily="34" charset="0"/>
              </a:rPr>
              <a:t>(1) </a:t>
            </a:r>
            <a:r>
              <a:rPr lang="en-US" altLang="zh-CN" sz="2400" dirty="0">
                <a:latin typeface="Trebuchet MS" panose="020B0603020202020204" pitchFamily="34" charset="0"/>
              </a:rPr>
              <a:t>The additive group of integers </a:t>
            </a:r>
            <a:r>
              <a:rPr lang="en-US" altLang="zh-CN" sz="2400" b="1" i="1" dirty="0">
                <a:latin typeface="Trebuchet MS" panose="020B0603020202020204" pitchFamily="34" charset="0"/>
              </a:rPr>
              <a:t>G</a:t>
            </a:r>
            <a:r>
              <a:rPr lang="en-US" altLang="zh-CN" sz="2400" b="1" dirty="0">
                <a:latin typeface="Trebuchet MS" panose="020B0603020202020204" pitchFamily="34" charset="0"/>
              </a:rPr>
              <a:t> = &lt;Z,+&gt; = &lt;1&gt; = &lt; -1&gt;, </a:t>
            </a:r>
            <a:r>
              <a:rPr lang="en-US" altLang="zh-CN" sz="2400" dirty="0">
                <a:latin typeface="Trebuchet MS" panose="020B0603020202020204" pitchFamily="34" charset="0"/>
              </a:rPr>
              <a:t>is a typical </a:t>
            </a:r>
            <a:r>
              <a:rPr lang="en-US" altLang="zh-CN" sz="2400" b="1" dirty="0">
                <a:latin typeface="Trebuchet MS" panose="020B0603020202020204" pitchFamily="34" charset="0"/>
              </a:rPr>
              <a:t>infinite cyclic group</a:t>
            </a:r>
            <a:r>
              <a:rPr lang="en-US" altLang="zh-CN" sz="2400" dirty="0">
                <a:latin typeface="Trebuchet MS" panose="020B0603020202020204" pitchFamily="34" charset="0"/>
              </a:rPr>
              <a:t>, with </a:t>
            </a:r>
            <a:r>
              <a:rPr lang="en-US" altLang="zh-CN" sz="2400" b="1" dirty="0">
                <a:latin typeface="Trebuchet MS" panose="020B0603020202020204" pitchFamily="34" charset="0"/>
              </a:rPr>
              <a:t>2 generators</a:t>
            </a:r>
            <a:r>
              <a:rPr lang="en-US" altLang="zh-CN" sz="2400" dirty="0">
                <a:latin typeface="Trebuchet MS" panose="020B0603020202020204" pitchFamily="34" charset="0"/>
              </a:rPr>
              <a:t>.</a:t>
            </a:r>
          </a:p>
          <a:p>
            <a:pPr marL="803275" indent="-534988">
              <a:lnSpc>
                <a:spcPct val="120000"/>
              </a:lnSpc>
              <a:spcBef>
                <a:spcPts val="300"/>
              </a:spcBef>
              <a:buClr>
                <a:srgbClr val="0B61FF"/>
              </a:buClr>
              <a:buSzPct val="80000"/>
              <a:buNone/>
              <a:tabLst>
                <a:tab pos="268288" algn="l"/>
              </a:tabLst>
            </a:pPr>
            <a:r>
              <a:rPr lang="en-US" altLang="zh-CN" sz="2400" b="1" dirty="0">
                <a:solidFill>
                  <a:srgbClr val="0B61FF"/>
                </a:solidFill>
                <a:latin typeface="Trebuchet MS" panose="020B0603020202020204" pitchFamily="34" charset="0"/>
              </a:rPr>
              <a:t>(2) </a:t>
            </a:r>
            <a:r>
              <a:rPr lang="en-US" altLang="zh-CN" sz="2400" dirty="0">
                <a:latin typeface="Trebuchet MS" panose="020B0603020202020204" pitchFamily="34" charset="0"/>
              </a:rPr>
              <a:t>The additive group modulo </a:t>
            </a:r>
            <a:r>
              <a:rPr lang="en-US" altLang="zh-CN" sz="2400" b="1" dirty="0">
                <a:latin typeface="Trebuchet MS" panose="020B0603020202020204" pitchFamily="34" charset="0"/>
              </a:rPr>
              <a:t>6</a:t>
            </a:r>
            <a:r>
              <a:rPr lang="en-US" altLang="zh-CN" sz="2400" dirty="0">
                <a:latin typeface="Trebuchet MS" panose="020B0603020202020204" pitchFamily="34" charset="0"/>
              </a:rPr>
              <a:t> </a:t>
            </a:r>
            <a:r>
              <a:rPr lang="en-US" altLang="zh-CN" sz="2400" b="1" i="1" dirty="0">
                <a:latin typeface="Trebuchet MS" panose="020B0603020202020204" pitchFamily="34" charset="0"/>
              </a:rPr>
              <a:t>G</a:t>
            </a:r>
            <a:r>
              <a:rPr lang="en-US" altLang="zh-CN" sz="2400" b="1" dirty="0">
                <a:latin typeface="Trebuchet MS" panose="020B0603020202020204" pitchFamily="34" charset="0"/>
              </a:rPr>
              <a:t> = &lt;Z</a:t>
            </a:r>
            <a:r>
              <a:rPr lang="en-US" altLang="zh-CN" sz="2400" b="1" baseline="-25000" dirty="0">
                <a:latin typeface="Trebuchet MS" panose="020B0603020202020204" pitchFamily="34" charset="0"/>
              </a:rPr>
              <a:t>6</a:t>
            </a:r>
            <a:r>
              <a:rPr lang="en-US" altLang="zh-CN" sz="2400" b="1" dirty="0">
                <a:latin typeface="Trebuchet MS" panose="020B0603020202020204" pitchFamily="34" charset="0"/>
              </a:rPr>
              <a:t>,</a:t>
            </a:r>
            <a:r>
              <a:rPr lang="en-US" altLang="zh-CN" sz="2400" b="1" dirty="0">
                <a:latin typeface="Trebuchet MS" panose="020B0603020202020204" pitchFamily="34" charset="0"/>
                <a:sym typeface="Symbol" pitchFamily="18" charset="2"/>
              </a:rPr>
              <a:t>&gt; = &lt;1&gt; = &lt;5&gt;</a:t>
            </a:r>
            <a:r>
              <a:rPr lang="en-US" altLang="zh-CN" sz="2400" b="1" dirty="0">
                <a:latin typeface="Trebuchet MS" panose="020B0603020202020204" pitchFamily="34" charset="0"/>
              </a:rPr>
              <a:t>, </a:t>
            </a:r>
            <a:r>
              <a:rPr lang="en-US" altLang="zh-CN" sz="2400" dirty="0">
                <a:latin typeface="Trebuchet MS" panose="020B0603020202020204" pitchFamily="34" charset="0"/>
              </a:rPr>
              <a:t>is a </a:t>
            </a:r>
            <a:r>
              <a:rPr lang="en-US" altLang="zh-CN" sz="2400" b="1" dirty="0">
                <a:latin typeface="Trebuchet MS" panose="020B0603020202020204" pitchFamily="34" charset="0"/>
              </a:rPr>
              <a:t>finite cyclic group </a:t>
            </a:r>
            <a:r>
              <a:rPr lang="en-US" altLang="zh-CN" sz="2400" dirty="0">
                <a:latin typeface="Trebuchet MS" panose="020B0603020202020204" pitchFamily="34" charset="0"/>
              </a:rPr>
              <a:t>with </a:t>
            </a:r>
            <a:r>
              <a:rPr lang="en-US" altLang="zh-CN" sz="2400" b="1" dirty="0">
                <a:latin typeface="Trebuchet MS" panose="020B0603020202020204" pitchFamily="34" charset="0"/>
              </a:rPr>
              <a:t>6</a:t>
            </a:r>
            <a:r>
              <a:rPr lang="en-US" altLang="zh-CN" sz="2400" dirty="0">
                <a:latin typeface="Trebuchet MS" panose="020B0603020202020204" pitchFamily="34" charset="0"/>
              </a:rPr>
              <a:t> elements, and it has </a:t>
            </a:r>
            <a:r>
              <a:rPr lang="en-US" altLang="zh-CN" sz="2400" b="1" dirty="0">
                <a:latin typeface="Trebuchet MS" panose="020B0603020202020204" pitchFamily="34" charset="0"/>
              </a:rPr>
              <a:t>2 generators</a:t>
            </a:r>
            <a:r>
              <a:rPr lang="en-US" altLang="zh-CN" sz="2400" dirty="0">
                <a:latin typeface="Trebuchet MS" panose="020B0603020202020204" pitchFamily="34" charset="0"/>
              </a:rPr>
              <a:t>.</a:t>
            </a:r>
            <a:endParaRPr lang="en-US" altLang="zh-C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12203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animEffect transition="in" filter="fade">
                                      <p:cBhvr>
                                        <p:cTn id="21" dur="1000"/>
                                        <p:tgtEl>
                                          <p:spTgt spid="10">
                                            <p:txEl>
                                              <p:pRg st="3" end="3"/>
                                            </p:txEl>
                                          </p:spTgt>
                                        </p:tgtEl>
                                      </p:cBhvr>
                                    </p:animEffect>
                                    <p:anim calcmode="lin" valueType="num">
                                      <p:cBhvr>
                                        <p:cTn id="22"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0">
                                            <p:txEl>
                                              <p:pRg st="4" end="4"/>
                                            </p:txEl>
                                          </p:spTgt>
                                        </p:tgtEl>
                                        <p:attrNameLst>
                                          <p:attrName>style.visibility</p:attrName>
                                        </p:attrNameLst>
                                      </p:cBhvr>
                                      <p:to>
                                        <p:strVal val="visible"/>
                                      </p:to>
                                    </p:set>
                                    <p:animEffect transition="in" filter="fade">
                                      <p:cBhvr>
                                        <p:cTn id="26" dur="1000"/>
                                        <p:tgtEl>
                                          <p:spTgt spid="10">
                                            <p:txEl>
                                              <p:pRg st="4" end="4"/>
                                            </p:txEl>
                                          </p:spTgt>
                                        </p:tgtEl>
                                      </p:cBhvr>
                                    </p:animEffect>
                                    <p:anim calcmode="lin" valueType="num">
                                      <p:cBhvr>
                                        <p:cTn id="2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animEffect transition="in" filter="fade">
                                      <p:cBhvr>
                                        <p:cTn id="33" dur="1000"/>
                                        <p:tgtEl>
                                          <p:spTgt spid="10">
                                            <p:txEl>
                                              <p:pRg st="5" end="5"/>
                                            </p:txEl>
                                          </p:spTgt>
                                        </p:tgtEl>
                                      </p:cBhvr>
                                    </p:animEffect>
                                    <p:anim calcmode="lin" valueType="num">
                                      <p:cBhvr>
                                        <p:cTn id="3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rebuchet MS" panose="020B0603020202020204" pitchFamily="34"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rPr>
              <a:t>n</a:t>
            </a:r>
            <a:r>
              <a:rPr lang="en-US" altLang="zh-CN" sz="2400" b="1" dirty="0">
                <a:latin typeface="Trebuchet MS" panose="020B0603020202020204" pitchFamily="34" charset="0"/>
              </a:rPr>
              <a:t>-order Cyclic Groups </a:t>
            </a:r>
            <a:r>
              <a:rPr lang="en-US" altLang="zh-CN" sz="2400" b="1" dirty="0">
                <a:latin typeface="Times New Roman" panose="02020603050405020304" pitchFamily="18" charset="0"/>
                <a:cs typeface="Times New Roman" panose="02020603050405020304" pitchFamily="18" charset="0"/>
              </a:rPr>
              <a:t>&amp;</a:t>
            </a:r>
            <a:r>
              <a:rPr lang="en-US" altLang="zh-CN" sz="2400" b="1" dirty="0">
                <a:latin typeface="Trebuchet MS" panose="020B0603020202020204" pitchFamily="34" charset="0"/>
              </a:rPr>
              <a:t> Infinite Cyclic Groups</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4" name="Rectangle 3">
            <a:extLst>
              <a:ext uri="{FF2B5EF4-FFF2-40B4-BE49-F238E27FC236}">
                <a16:creationId xmlns:a16="http://schemas.microsoft.com/office/drawing/2014/main" id="{8AF0B9DC-5A11-4F4E-8F86-448D4B8ABD8C}"/>
              </a:ext>
            </a:extLst>
          </p:cNvPr>
          <p:cNvSpPr txBox="1">
            <a:spLocks noChangeArrowheads="1"/>
          </p:cNvSpPr>
          <p:nvPr/>
        </p:nvSpPr>
        <p:spPr>
          <a:xfrm>
            <a:off x="912403" y="2132961"/>
            <a:ext cx="8779142" cy="12175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90600" lvl="1" indent="-903288">
              <a:buFontTx/>
              <a:buNone/>
            </a:pPr>
            <a:endParaRPr lang="en-US" altLang="zh-CN" sz="2400" b="1" dirty="0">
              <a:solidFill>
                <a:srgbClr val="000066"/>
              </a:solidFill>
            </a:endParaRPr>
          </a:p>
        </p:txBody>
      </p:sp>
      <p:sp>
        <p:nvSpPr>
          <p:cNvPr id="12" name="Rectangle 3">
            <a:extLst>
              <a:ext uri="{FF2B5EF4-FFF2-40B4-BE49-F238E27FC236}">
                <a16:creationId xmlns:a16="http://schemas.microsoft.com/office/drawing/2014/main" id="{B449F850-BD70-4697-8634-7A40D8DFFE16}"/>
              </a:ext>
            </a:extLst>
          </p:cNvPr>
          <p:cNvSpPr txBox="1">
            <a:spLocks noChangeArrowheads="1"/>
          </p:cNvSpPr>
          <p:nvPr/>
        </p:nvSpPr>
        <p:spPr>
          <a:xfrm>
            <a:off x="824681" y="816426"/>
            <a:ext cx="9769545" cy="38953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i="1" dirty="0">
                <a:latin typeface="Trebuchet MS" panose="020B0603020202020204" pitchFamily="34" charset="0"/>
              </a:rPr>
              <a:t>n</a:t>
            </a:r>
            <a:r>
              <a:rPr lang="en-US" sz="2400" b="1" dirty="0">
                <a:latin typeface="Trebuchet MS" panose="020B0603020202020204" pitchFamily="34" charset="0"/>
              </a:rPr>
              <a:t>-order Cyclic Groups </a:t>
            </a:r>
            <a:r>
              <a:rPr lang="en-US" sz="2400" b="1" dirty="0"/>
              <a:t>&amp;</a:t>
            </a:r>
            <a:r>
              <a:rPr lang="en-US" sz="2400" b="1" dirty="0">
                <a:latin typeface="Trebuchet MS" panose="020B0603020202020204" pitchFamily="34" charset="0"/>
              </a:rPr>
              <a:t> Infinite Cyclic Groups:</a:t>
            </a:r>
          </a:p>
          <a:p>
            <a:pPr marL="536575" indent="-355600">
              <a:lnSpc>
                <a:spcPct val="120000"/>
              </a:lnSpc>
              <a:spcBef>
                <a:spcPts val="600"/>
              </a:spcBef>
              <a:buNone/>
            </a:pP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①  </a:t>
            </a:r>
            <a:r>
              <a:rPr lang="en-US" altLang="zh-CN" sz="2400" dirty="0">
                <a:latin typeface="Trebuchet MS" panose="020B0603020202020204" pitchFamily="34" charset="0"/>
              </a:rPr>
              <a:t>In any cyclic group, </a:t>
            </a:r>
            <a:r>
              <a:rPr lang="en-US" altLang="zh-CN" sz="2400" b="1" i="1"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baseline="300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0</a:t>
            </a:r>
            <a:r>
              <a:rPr lang="en-US" altLang="zh-CN" sz="2400" b="1"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e  </a:t>
            </a:r>
            <a:r>
              <a:rPr lang="en-US" altLang="zh-CN" sz="2400" dirty="0">
                <a:latin typeface="Trebuchet MS" panose="020B0603020202020204" pitchFamily="34" charset="0"/>
              </a:rPr>
              <a:t>for all elements </a:t>
            </a:r>
            <a:r>
              <a:rPr lang="en-US" altLang="zh-CN" sz="2400" b="1" i="1" dirty="0">
                <a:latin typeface="Trebuchet MS" panose="020B0603020202020204" pitchFamily="34" charset="0"/>
              </a:rPr>
              <a:t>a</a:t>
            </a:r>
            <a:r>
              <a:rPr lang="en-US" altLang="zh-CN" sz="2400" dirty="0">
                <a:latin typeface="Trebuchet MS" panose="020B0603020202020204" pitchFamily="34" charset="0"/>
              </a:rPr>
              <a:t>.</a:t>
            </a:r>
            <a:endParaRPr lang="en-US" sz="2400" dirty="0">
              <a:latin typeface="Trebuchet MS" panose="020B0603020202020204" pitchFamily="34" charset="0"/>
            </a:endParaRPr>
          </a:p>
          <a:p>
            <a:pPr marL="536575" indent="-355600">
              <a:lnSpc>
                <a:spcPct val="120000"/>
              </a:lnSpc>
              <a:spcBef>
                <a:spcPts val="600"/>
              </a:spcBef>
              <a:buNone/>
            </a:pP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② </a:t>
            </a:r>
            <a:r>
              <a:rPr lang="en-US" altLang="zh-CN" sz="2400" dirty="0">
                <a:latin typeface="Trebuchet MS" panose="020B0603020202020204" pitchFamily="34" charset="0"/>
              </a:rPr>
              <a:t>The periodicity of a cyclic group of order </a:t>
            </a:r>
            <a:r>
              <a:rPr lang="en-US" altLang="zh-CN" sz="2400" b="1" i="1" dirty="0">
                <a:latin typeface="Trebuchet MS" panose="020B0603020202020204" pitchFamily="34" charset="0"/>
              </a:rPr>
              <a:t>n</a:t>
            </a:r>
            <a:r>
              <a:rPr lang="en-US" altLang="zh-CN" sz="2400" dirty="0">
                <a:latin typeface="Trebuchet MS" panose="020B0603020202020204" pitchFamily="34" charset="0"/>
              </a:rPr>
              <a:t> implies that its generator satisfies </a:t>
            </a:r>
            <a:r>
              <a:rPr lang="en-US" altLang="zh-CN" sz="2400" b="1" i="1" dirty="0">
                <a:solidFill>
                  <a:srgbClr val="FF0000"/>
                </a:solidFill>
                <a:latin typeface="Trebuchet MS" panose="020B0603020202020204" pitchFamily="34" charset="0"/>
              </a:rPr>
              <a:t>a</a:t>
            </a:r>
            <a:r>
              <a:rPr lang="en-US" altLang="zh-CN" sz="2400" b="1" i="1" baseline="30000" dirty="0">
                <a:solidFill>
                  <a:srgbClr val="FF0000"/>
                </a:solidFill>
                <a:latin typeface="Trebuchet MS" panose="020B0603020202020204" pitchFamily="34" charset="0"/>
              </a:rPr>
              <a:t>n</a:t>
            </a:r>
            <a:r>
              <a:rPr lang="en-US" altLang="zh-CN" sz="2400" b="1" i="1" dirty="0">
                <a:solidFill>
                  <a:srgbClr val="FF0000"/>
                </a:solidFill>
                <a:latin typeface="Trebuchet MS" panose="020B0603020202020204" pitchFamily="34" charset="0"/>
              </a:rPr>
              <a:t>=e</a:t>
            </a:r>
            <a:r>
              <a:rPr lang="en-US" altLang="zh-CN" sz="2400" dirty="0">
                <a:latin typeface="Trebuchet MS" panose="020B0603020202020204" pitchFamily="34" charset="0"/>
              </a:rPr>
              <a:t> (the identity element). The properties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i="1" baseline="30000" dirty="0">
                <a:latin typeface="Trebuchet MS" panose="020B0603020202020204" pitchFamily="34" charset="0"/>
                <a:ea typeface="楷体" panose="02010609060101010101" pitchFamily="49" charset="-122"/>
                <a:cs typeface="Times New Roman" panose="02020603050405020304" pitchFamily="18" charset="0"/>
              </a:rPr>
              <a:t>0</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e</a:t>
            </a:r>
            <a:r>
              <a:rPr lang="en-US" altLang="zh-CN" sz="2400" b="1"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and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a</a:t>
            </a:r>
            <a:r>
              <a:rPr lang="en-US" altLang="zh-CN" sz="2400" b="1" i="1" baseline="30000" dirty="0">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e</a:t>
            </a:r>
            <a:r>
              <a:rPr lang="en-US" altLang="zh-CN" sz="2400" b="1"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are fundamental to cyclic groups, ensuring both </a:t>
            </a:r>
            <a:r>
              <a:rPr lang="en-US" altLang="zh-CN" sz="2400" b="1" i="1" dirty="0">
                <a:solidFill>
                  <a:srgbClr val="0B61FF"/>
                </a:solidFill>
                <a:latin typeface="Trebuchet MS" panose="020B0603020202020204" pitchFamily="34" charset="0"/>
              </a:rPr>
              <a:t>closure and periodicity</a:t>
            </a:r>
            <a:r>
              <a:rPr lang="en-US" altLang="zh-CN" sz="2400" dirty="0">
                <a:latin typeface="Trebuchet MS" panose="020B0603020202020204" pitchFamily="34" charset="0"/>
              </a:rPr>
              <a:t>.</a:t>
            </a:r>
            <a:endParaRPr lang="en-US" sz="2400" dirty="0">
              <a:latin typeface="Trebuchet MS" panose="020B0603020202020204" pitchFamily="34" charset="0"/>
            </a:endParaRPr>
          </a:p>
          <a:p>
            <a:pPr marL="536575" indent="-355600">
              <a:lnSpc>
                <a:spcPct val="120000"/>
              </a:lnSpc>
              <a:spcBef>
                <a:spcPts val="600"/>
              </a:spcBef>
              <a:buNone/>
            </a:pP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③</a:t>
            </a:r>
            <a:r>
              <a:rPr lang="en-US" altLang="zh-CN" sz="24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All cyclic groups of the </a:t>
            </a:r>
            <a:r>
              <a:rPr lang="en-US" altLang="zh-CN" sz="2400" b="1" i="1" dirty="0">
                <a:solidFill>
                  <a:srgbClr val="0B61FF"/>
                </a:solidFill>
                <a:latin typeface="Trebuchet MS" panose="020B0603020202020204" pitchFamily="34" charset="0"/>
              </a:rPr>
              <a:t>same order are isomorphic</a:t>
            </a:r>
            <a:r>
              <a:rPr lang="en-US" altLang="zh-CN" sz="2400" dirty="0">
                <a:latin typeface="Trebuchet MS" panose="020B0603020202020204" pitchFamily="34" charset="0"/>
              </a:rPr>
              <a:t>.</a:t>
            </a:r>
            <a:endParaRPr lang="en-US" altLang="zh-CN"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3318844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3" end="3"/>
                                            </p:txEl>
                                          </p:spTgt>
                                        </p:tgtEl>
                                        <p:attrNameLst>
                                          <p:attrName>style.visibility</p:attrName>
                                        </p:attrNameLst>
                                      </p:cBhvr>
                                      <p:to>
                                        <p:strVal val="visible"/>
                                      </p:to>
                                    </p:set>
                                    <p:animEffect transition="in" filter="fade">
                                      <p:cBhvr>
                                        <p:cTn id="14" dur="1000"/>
                                        <p:tgtEl>
                                          <p:spTgt spid="12">
                                            <p:txEl>
                                              <p:pRg st="3" end="3"/>
                                            </p:txEl>
                                          </p:spTgt>
                                        </p:tgtEl>
                                      </p:cBhvr>
                                    </p:animEffect>
                                    <p:anim calcmode="lin" valueType="num">
                                      <p:cBhvr>
                                        <p:cTn id="1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Theorem on Generators of Cyclic Groups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14" name="Rectangle 3">
                <a:extLst>
                  <a:ext uri="{FF2B5EF4-FFF2-40B4-BE49-F238E27FC236}">
                    <a16:creationId xmlns:a16="http://schemas.microsoft.com/office/drawing/2014/main" id="{0B4336AD-0667-432C-B1BB-89EDB92FA23B}"/>
                  </a:ext>
                </a:extLst>
              </p:cNvPr>
              <p:cNvSpPr>
                <a:spLocks noGrp="1" noChangeArrowheads="1"/>
              </p:cNvSpPr>
              <p:nvPr>
                <p:ph idx="1"/>
              </p:nvPr>
            </p:nvSpPr>
            <p:spPr>
              <a:xfrm>
                <a:off x="1160235" y="808252"/>
                <a:ext cx="8131641" cy="4957709"/>
              </a:xfrm>
            </p:spPr>
            <p:txBody>
              <a:bodyPr>
                <a:noAutofit/>
              </a:bodyPr>
              <a:lstStyle/>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Theorem 9.8: </a:t>
                </a:r>
                <a:r>
                  <a:rPr lang="en-US" sz="2400" dirty="0">
                    <a:latin typeface="Trebuchet MS" panose="020B0603020202020204" pitchFamily="34" charset="0"/>
                  </a:rPr>
                  <a:t>Let </a:t>
                </a:r>
                <a:r>
                  <a:rPr lang="en-US" altLang="zh-CN" sz="2400" b="1" i="1" dirty="0">
                    <a:latin typeface="Trebuchet MS" panose="020B0603020202020204" pitchFamily="34" charset="0"/>
                    <a:cs typeface="Times New Roman" panose="02020603050405020304" pitchFamily="18" charset="0"/>
                  </a:rPr>
                  <a:t>G</a:t>
                </a: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&gt; </a:t>
                </a:r>
                <a:r>
                  <a:rPr lang="en-US" sz="2400" dirty="0">
                    <a:latin typeface="Trebuchet MS" panose="020B0603020202020204" pitchFamily="34" charset="0"/>
                  </a:rPr>
                  <a:t>be a cyclic group.</a:t>
                </a:r>
              </a:p>
              <a:p>
                <a:pPr marL="715963" indent="-534988">
                  <a:lnSpc>
                    <a:spcPct val="120000"/>
                  </a:lnSpc>
                  <a:spcBef>
                    <a:spcPts val="600"/>
                  </a:spcBef>
                  <a:buNone/>
                </a:pPr>
                <a:r>
                  <a:rPr lang="en-US" sz="2400" b="1" dirty="0">
                    <a:solidFill>
                      <a:srgbClr val="0B61FF"/>
                    </a:solidFill>
                    <a:latin typeface="Trebuchet MS" panose="020B0603020202020204" pitchFamily="34" charset="0"/>
                  </a:rPr>
                  <a:t>(1) </a:t>
                </a:r>
                <a:r>
                  <a:rPr lang="en-US" sz="2400" dirty="0">
                    <a:latin typeface="Trebuchet MS" panose="020B0603020202020204" pitchFamily="34" charset="0"/>
                  </a:rPr>
                  <a:t>If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is an infinite cyclic group, then </a:t>
                </a:r>
                <a:r>
                  <a:rPr lang="en-US" sz="2400" b="1" i="1" dirty="0">
                    <a:latin typeface="Trebuchet MS" panose="020B0603020202020204" pitchFamily="34" charset="0"/>
                  </a:rPr>
                  <a:t>G </a:t>
                </a:r>
                <a:r>
                  <a:rPr lang="en-US" sz="2400" dirty="0">
                    <a:latin typeface="Trebuchet MS" panose="020B0603020202020204" pitchFamily="34" charset="0"/>
                  </a:rPr>
                  <a:t>has exactly </a:t>
                </a:r>
                <a:r>
                  <a:rPr lang="en-US" sz="2400" b="1" i="1" dirty="0">
                    <a:solidFill>
                      <a:srgbClr val="0B61FF"/>
                    </a:solidFill>
                    <a:latin typeface="Trebuchet MS" panose="020B0603020202020204" pitchFamily="34" charset="0"/>
                  </a:rPr>
                  <a:t>two generators</a:t>
                </a:r>
                <a:r>
                  <a:rPr lang="en-US" sz="2400" dirty="0">
                    <a:latin typeface="Trebuchet MS" panose="020B0603020202020204" pitchFamily="34" charset="0"/>
                  </a:rPr>
                  <a:t>, namely </a:t>
                </a:r>
                <a:r>
                  <a:rPr lang="en-US" altLang="zh-CN" sz="2400" b="1" i="1" dirty="0">
                    <a:solidFill>
                      <a:srgbClr val="FF0000"/>
                    </a:solidFill>
                    <a:latin typeface="Trebuchet MS" panose="020B0603020202020204" pitchFamily="34" charset="0"/>
                    <a:cs typeface="Times New Roman" panose="02020603050405020304" pitchFamily="18" charset="0"/>
                  </a:rPr>
                  <a:t>a</a:t>
                </a:r>
                <a:r>
                  <a:rPr lang="en-US" sz="2400" dirty="0">
                    <a:latin typeface="Trebuchet MS" panose="020B0603020202020204" pitchFamily="34" charset="0"/>
                  </a:rPr>
                  <a:t> and </a:t>
                </a:r>
                <a:r>
                  <a:rPr lang="en-US" altLang="zh-CN" sz="2400" b="1" i="1" dirty="0">
                    <a:solidFill>
                      <a:srgbClr val="FF0000"/>
                    </a:solidFill>
                    <a:latin typeface="Trebuchet MS" panose="020B0603020202020204" pitchFamily="34" charset="0"/>
                    <a:cs typeface="Times New Roman" panose="02020603050405020304" pitchFamily="18" charset="0"/>
                  </a:rPr>
                  <a:t>a</a:t>
                </a:r>
                <a:r>
                  <a:rPr lang="en-US" altLang="zh-CN" sz="2400" b="1" baseline="30000"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baseline="30000" dirty="0">
                    <a:solidFill>
                      <a:srgbClr val="FF0000"/>
                    </a:solidFill>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 </a:t>
                </a:r>
                <a:endParaRPr lang="en-US" sz="2400" dirty="0">
                  <a:latin typeface="Trebuchet MS" panose="020B0603020202020204" pitchFamily="34" charset="0"/>
                </a:endParaRPr>
              </a:p>
              <a:p>
                <a:pPr marL="715963" indent="-534988">
                  <a:lnSpc>
                    <a:spcPct val="120000"/>
                  </a:lnSpc>
                  <a:spcBef>
                    <a:spcPts val="600"/>
                  </a:spcBef>
                  <a:buNone/>
                </a:pPr>
                <a:r>
                  <a:rPr lang="en-US" altLang="zh-CN" sz="2400" b="1" dirty="0">
                    <a:solidFill>
                      <a:srgbClr val="0B61FF"/>
                    </a:solidFill>
                    <a:latin typeface="Trebuchet MS" panose="020B0603020202020204" pitchFamily="34" charset="0"/>
                  </a:rPr>
                  <a:t>(2) </a:t>
                </a:r>
                <a:r>
                  <a:rPr lang="en-US" sz="2400" dirty="0">
                    <a:latin typeface="Trebuchet MS" panose="020B0603020202020204" pitchFamily="34" charset="0"/>
                  </a:rPr>
                  <a:t>If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is an </a:t>
                </a:r>
                <a:r>
                  <a:rPr lang="en-US" altLang="zh-CN" sz="2400" b="1" i="1" dirty="0">
                    <a:latin typeface="Trebuchet MS" panose="020B0603020202020204" pitchFamily="34" charset="0"/>
                    <a:cs typeface="Times New Roman" panose="02020603050405020304" pitchFamily="18" charset="0"/>
                  </a:rPr>
                  <a:t>n</a:t>
                </a:r>
                <a:r>
                  <a:rPr lang="en-US" sz="2400" dirty="0">
                    <a:latin typeface="Trebuchet MS" panose="020B0603020202020204" pitchFamily="34" charset="0"/>
                  </a:rPr>
                  <a:t>-order cyclic group, then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contains </a:t>
                </a:r>
                <a14:m>
                  <m:oMath xmlns:m="http://schemas.openxmlformats.org/officeDocument/2006/math">
                    <m:r>
                      <a:rPr lang="zh-CN" altLang="en-US" sz="2400" b="1" i="1" smtClean="0">
                        <a:solidFill>
                          <a:srgbClr val="FF0000"/>
                        </a:solidFill>
                        <a:latin typeface="Cambria Math" panose="02040503050406030204" pitchFamily="18" charset="0"/>
                        <a:cs typeface="Times New Roman" panose="02020603050405020304" pitchFamily="18" charset="0"/>
                      </a:rPr>
                      <m:t>𝝋</m:t>
                    </m:r>
                    <m:d>
                      <m:dPr>
                        <m:ctrlPr>
                          <a:rPr lang="en-US" altLang="zh-CN" sz="2400" b="1" i="1" smtClean="0">
                            <a:solidFill>
                              <a:srgbClr val="FF0000"/>
                            </a:solidFill>
                            <a:latin typeface="Cambria Math" panose="02040503050406030204" pitchFamily="18" charset="0"/>
                            <a:cs typeface="Times New Roman" panose="02020603050405020304" pitchFamily="18" charset="0"/>
                          </a:rPr>
                        </m:ctrlPr>
                      </m:dPr>
                      <m:e>
                        <m:r>
                          <a:rPr lang="en-US" altLang="zh-CN" sz="2400" b="1" i="1">
                            <a:solidFill>
                              <a:srgbClr val="FF0000"/>
                            </a:solidFill>
                            <a:latin typeface="Cambria Math" panose="02040503050406030204" pitchFamily="18" charset="0"/>
                            <a:cs typeface="Times New Roman" panose="02020603050405020304" pitchFamily="18" charset="0"/>
                          </a:rPr>
                          <m:t>𝒏</m:t>
                        </m:r>
                      </m:e>
                    </m:d>
                  </m:oMath>
                </a14:m>
                <a:r>
                  <a:rPr lang="en-US" sz="2400" dirty="0">
                    <a:solidFill>
                      <a:srgbClr val="FF0000"/>
                    </a:solidFill>
                    <a:latin typeface="Trebuchet MS" panose="020B0603020202020204" pitchFamily="34" charset="0"/>
                  </a:rPr>
                  <a:t> </a:t>
                </a:r>
                <a:r>
                  <a:rPr lang="en-US" sz="2400" b="1" i="1" dirty="0">
                    <a:solidFill>
                      <a:srgbClr val="0B61FF"/>
                    </a:solidFill>
                    <a:latin typeface="Trebuchet MS" panose="020B0603020202020204" pitchFamily="34" charset="0"/>
                  </a:rPr>
                  <a:t>generator</a:t>
                </a:r>
                <a:r>
                  <a:rPr lang="en-US" sz="2400" dirty="0">
                    <a:latin typeface="Trebuchet MS" panose="020B0603020202020204" pitchFamily="34" charset="0"/>
                  </a:rPr>
                  <a:t>s, where</a:t>
                </a:r>
                <a14:m>
                  <m:oMath xmlns:m="http://schemas.openxmlformats.org/officeDocument/2006/math">
                    <m:r>
                      <a:rPr lang="en-US" altLang="zh-CN" sz="2400" b="0" i="0" smtClean="0">
                        <a:latin typeface="Cambria Math" panose="02040503050406030204" pitchFamily="18" charset="0"/>
                        <a:cs typeface="Times New Roman" panose="02020603050405020304" pitchFamily="18" charset="0"/>
                      </a:rPr>
                      <m:t> </m:t>
                    </m:r>
                    <m:r>
                      <a:rPr lang="zh-CN" altLang="en-US" sz="2400" b="1" i="1" smtClean="0">
                        <a:latin typeface="Cambria Math" panose="02040503050406030204" pitchFamily="18" charset="0"/>
                        <a:cs typeface="Times New Roman" panose="02020603050405020304" pitchFamily="18" charset="0"/>
                      </a:rPr>
                      <m:t>𝝋</m:t>
                    </m:r>
                    <m:d>
                      <m:dPr>
                        <m:ctrlPr>
                          <a:rPr lang="en-US" altLang="zh-CN" sz="2400" b="1" i="1">
                            <a:latin typeface="Cambria Math" panose="02040503050406030204" pitchFamily="18" charset="0"/>
                            <a:cs typeface="Times New Roman" panose="02020603050405020304" pitchFamily="18" charset="0"/>
                          </a:rPr>
                        </m:ctrlPr>
                      </m:dPr>
                      <m:e>
                        <m:r>
                          <a:rPr lang="en-US" altLang="zh-CN" sz="2400" b="1" i="1">
                            <a:latin typeface="Cambria Math" panose="02040503050406030204" pitchFamily="18" charset="0"/>
                            <a:cs typeface="Times New Roman" panose="02020603050405020304" pitchFamily="18" charset="0"/>
                          </a:rPr>
                          <m:t>𝒏</m:t>
                        </m:r>
                      </m:e>
                    </m:d>
                  </m:oMath>
                </a14:m>
                <a:r>
                  <a:rPr lang="en-US" sz="2400" dirty="0">
                    <a:latin typeface="Trebuchet MS" panose="020B0603020202020204" pitchFamily="34" charset="0"/>
                  </a:rPr>
                  <a:t>denotes Euler's totient function, i.e., the number of positive integers less than </a:t>
                </a:r>
                <a:r>
                  <a:rPr lang="en-US" altLang="zh-CN" sz="2400" b="1" i="1" dirty="0">
                    <a:solidFill>
                      <a:srgbClr val="0D0D0D"/>
                    </a:solidFill>
                    <a:latin typeface="Trebuchet MS" panose="020B0603020202020204" pitchFamily="34" charset="0"/>
                    <a:cs typeface="Times New Roman" panose="02020603050405020304" pitchFamily="18" charset="0"/>
                  </a:rPr>
                  <a:t>n</a:t>
                </a:r>
                <a:r>
                  <a:rPr lang="en-US" sz="2400" dirty="0">
                    <a:latin typeface="Trebuchet MS" panose="020B0603020202020204" pitchFamily="34" charset="0"/>
                  </a:rPr>
                  <a:t> that are coprime to </a:t>
                </a:r>
                <a:r>
                  <a:rPr lang="en-US" altLang="zh-CN" sz="2400" b="1" i="1" dirty="0">
                    <a:solidFill>
                      <a:srgbClr val="0D0D0D"/>
                    </a:solidFill>
                    <a:latin typeface="Trebuchet MS" panose="020B0603020202020204" pitchFamily="34" charset="0"/>
                    <a:cs typeface="Times New Roman" panose="02020603050405020304" pitchFamily="18" charset="0"/>
                  </a:rPr>
                  <a:t>n</a:t>
                </a:r>
                <a:r>
                  <a:rPr lang="en-US" sz="2400" dirty="0">
                    <a:latin typeface="Trebuchet MS" panose="020B0603020202020204" pitchFamily="34" charset="0"/>
                  </a:rPr>
                  <a:t>.</a:t>
                </a:r>
              </a:p>
              <a:p>
                <a:pPr marL="715963" indent="-534988">
                  <a:lnSpc>
                    <a:spcPct val="120000"/>
                  </a:lnSpc>
                  <a:spcBef>
                    <a:spcPts val="600"/>
                  </a:spcBef>
                  <a:buNone/>
                </a:pPr>
                <a:r>
                  <a:rPr lang="en-US" altLang="zh-CN" sz="2400" b="1" dirty="0">
                    <a:solidFill>
                      <a:srgbClr val="0B61FF"/>
                    </a:solidFill>
                    <a:latin typeface="Trebuchet MS" panose="020B0603020202020204" pitchFamily="34" charset="0"/>
                  </a:rPr>
                  <a:t>(3) </a:t>
                </a:r>
                <a:r>
                  <a:rPr lang="en-US" sz="2400" dirty="0">
                    <a:latin typeface="Trebuchet MS" panose="020B0603020202020204" pitchFamily="34" charset="0"/>
                  </a:rPr>
                  <a:t>For any natural number </a:t>
                </a:r>
                <a:r>
                  <a:rPr lang="en-US" altLang="zh-CN" sz="2400" b="1" i="1" dirty="0">
                    <a:latin typeface="Trebuchet MS" panose="020B0603020202020204" pitchFamily="34" charset="0"/>
                    <a:cs typeface="Times New Roman" panose="02020603050405020304" pitchFamily="18" charset="0"/>
                  </a:rPr>
                  <a:t>r</a:t>
                </a:r>
                <a:r>
                  <a:rPr lang="en-US" sz="2400" dirty="0">
                    <a:latin typeface="Trebuchet MS" panose="020B0603020202020204" pitchFamily="34" charset="0"/>
                  </a:rPr>
                  <a:t> less than </a:t>
                </a:r>
                <a:r>
                  <a:rPr lang="en-US" altLang="zh-CN" sz="2400" b="1" i="1" dirty="0">
                    <a:solidFill>
                      <a:srgbClr val="0D0D0D"/>
                    </a:solidFill>
                    <a:latin typeface="Trebuchet MS" panose="020B0603020202020204" pitchFamily="34" charset="0"/>
                    <a:cs typeface="Times New Roman" panose="02020603050405020304" pitchFamily="18" charset="0"/>
                  </a:rPr>
                  <a:t>n</a:t>
                </a:r>
                <a:r>
                  <a:rPr lang="en-US" sz="2400" dirty="0">
                    <a:latin typeface="Trebuchet MS" panose="020B0603020202020204" pitchFamily="34" charset="0"/>
                  </a:rPr>
                  <a:t> and coprime to </a:t>
                </a:r>
                <a:r>
                  <a:rPr lang="en-US" altLang="zh-CN" sz="2400" b="1" i="1" dirty="0">
                    <a:solidFill>
                      <a:srgbClr val="0D0D0D"/>
                    </a:solidFill>
                    <a:latin typeface="Trebuchet MS" panose="020B0603020202020204" pitchFamily="34" charset="0"/>
                    <a:cs typeface="Times New Roman" panose="02020603050405020304" pitchFamily="18" charset="0"/>
                  </a:rPr>
                  <a:t>n</a:t>
                </a:r>
                <a:r>
                  <a:rPr lang="en-US" sz="2400" dirty="0">
                    <a:latin typeface="Trebuchet MS" panose="020B0603020202020204" pitchFamily="34" charset="0"/>
                  </a:rPr>
                  <a:t>, </a:t>
                </a:r>
                <a:r>
                  <a:rPr lang="en-US" altLang="zh-CN" sz="2400" b="1" i="1" dirty="0" err="1">
                    <a:solidFill>
                      <a:srgbClr val="FF0000"/>
                    </a:solidFill>
                    <a:latin typeface="Trebuchet MS" panose="020B0603020202020204" pitchFamily="34" charset="0"/>
                    <a:cs typeface="Times New Roman" panose="02020603050405020304" pitchFamily="18" charset="0"/>
                  </a:rPr>
                  <a:t>a</a:t>
                </a:r>
                <a:r>
                  <a:rPr lang="en-US" altLang="zh-CN" sz="2400" b="1" i="1" baseline="30000" dirty="0" err="1">
                    <a:solidFill>
                      <a:srgbClr val="FF0000"/>
                    </a:solidFill>
                    <a:latin typeface="Trebuchet MS" panose="020B0603020202020204" pitchFamily="34" charset="0"/>
                    <a:cs typeface="Times New Roman" panose="02020603050405020304" pitchFamily="18" charset="0"/>
                  </a:rPr>
                  <a:t>r</a:t>
                </a:r>
                <a:r>
                  <a:rPr lang="en-US" altLang="zh-CN" sz="2400" b="1" i="1" baseline="30000" dirty="0">
                    <a:solidFill>
                      <a:srgbClr val="FF0000"/>
                    </a:solidFill>
                    <a:latin typeface="Times New Roman" panose="02020603050405020304" pitchFamily="18" charset="0"/>
                    <a:cs typeface="Times New Roman" panose="02020603050405020304" pitchFamily="18" charset="0"/>
                  </a:rPr>
                  <a:t> </a:t>
                </a:r>
                <a:r>
                  <a:rPr lang="en-US" altLang="zh-CN" sz="2400" b="1" i="1" baseline="30000" dirty="0">
                    <a:latin typeface="Times New Roman" panose="02020603050405020304" pitchFamily="18" charset="0"/>
                    <a:cs typeface="Times New Roman" panose="02020603050405020304" pitchFamily="18" charset="0"/>
                  </a:rPr>
                  <a:t> </a:t>
                </a:r>
                <a:r>
                  <a:rPr lang="en-US" sz="2400" dirty="0">
                    <a:latin typeface="Trebuchet MS" panose="020B0603020202020204" pitchFamily="34" charset="0"/>
                  </a:rPr>
                  <a:t>is a </a:t>
                </a:r>
                <a:r>
                  <a:rPr lang="en-US" sz="2400" b="1" i="1" dirty="0">
                    <a:solidFill>
                      <a:srgbClr val="0B61FF"/>
                    </a:solidFill>
                    <a:latin typeface="Trebuchet MS" panose="020B0603020202020204" pitchFamily="34" charset="0"/>
                  </a:rPr>
                  <a:t>generator</a:t>
                </a:r>
                <a:r>
                  <a:rPr lang="en-US" sz="2400" dirty="0">
                    <a:latin typeface="Trebuchet MS" panose="020B0603020202020204" pitchFamily="34" charset="0"/>
                  </a:rPr>
                  <a:t> of the </a:t>
                </a:r>
                <a:r>
                  <a:rPr lang="en-US" sz="2400" b="1" i="1" dirty="0">
                    <a:latin typeface="Trebuchet MS" panose="020B0603020202020204" pitchFamily="34" charset="0"/>
                  </a:rPr>
                  <a:t>n</a:t>
                </a:r>
                <a:r>
                  <a:rPr lang="en-US" sz="2400" dirty="0">
                    <a:latin typeface="Trebuchet MS" panose="020B0603020202020204" pitchFamily="34" charset="0"/>
                  </a:rPr>
                  <a:t>-order cyclic group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a:t>
                </a:r>
              </a:p>
            </p:txBody>
          </p:sp>
        </mc:Choice>
        <mc:Fallback xmlns="">
          <p:sp>
            <p:nvSpPr>
              <p:cNvPr id="14" name="Rectangle 3">
                <a:extLst>
                  <a:ext uri="{FF2B5EF4-FFF2-40B4-BE49-F238E27FC236}">
                    <a16:creationId xmlns:a16="http://schemas.microsoft.com/office/drawing/2014/main" id="{0B4336AD-0667-432C-B1BB-89EDB92FA23B}"/>
                  </a:ext>
                </a:extLst>
              </p:cNvPr>
              <p:cNvSpPr>
                <a:spLocks noGrp="1" noRot="1" noChangeAspect="1" noMove="1" noResize="1" noEditPoints="1" noAdjustHandles="1" noChangeArrowheads="1" noChangeShapeType="1" noTextEdit="1"/>
              </p:cNvSpPr>
              <p:nvPr>
                <p:ph idx="1"/>
              </p:nvPr>
            </p:nvSpPr>
            <p:spPr>
              <a:xfrm>
                <a:off x="1160235" y="808252"/>
                <a:ext cx="8131641" cy="4957709"/>
              </a:xfrm>
              <a:blipFill>
                <a:blip r:embed="rId5"/>
                <a:stretch>
                  <a:fillRect l="-525" t="-369" r="-12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52315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animEffect transition="in" filter="fade">
                                      <p:cBhvr>
                                        <p:cTn id="7" dur="1000"/>
                                        <p:tgtEl>
                                          <p:spTgt spid="14">
                                            <p:txEl>
                                              <p:pRg st="2" end="2"/>
                                            </p:txEl>
                                          </p:spTgt>
                                        </p:tgtEl>
                                      </p:cBhvr>
                                    </p:animEffect>
                                    <p:anim calcmode="lin" valueType="num">
                                      <p:cBhvr>
                                        <p:cTn id="8"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3" end="3"/>
                                            </p:txEl>
                                          </p:spTgt>
                                        </p:tgtEl>
                                        <p:attrNameLst>
                                          <p:attrName>style.visibility</p:attrName>
                                        </p:attrNameLst>
                                      </p:cBhvr>
                                      <p:to>
                                        <p:strVal val="visible"/>
                                      </p:to>
                                    </p:set>
                                    <p:animEffect transition="in" filter="fade">
                                      <p:cBhvr>
                                        <p:cTn id="14" dur="1000"/>
                                        <p:tgtEl>
                                          <p:spTgt spid="14">
                                            <p:txEl>
                                              <p:pRg st="3" end="3"/>
                                            </p:txEl>
                                          </p:spTgt>
                                        </p:tgtEl>
                                      </p:cBhvr>
                                    </p:animEffect>
                                    <p:anim calcmode="lin" valueType="num">
                                      <p:cBhvr>
                                        <p:cTn id="15"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Subgroup Structure Theorem for Cyclic Groups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4" name="Rectangle 3">
            <a:extLst>
              <a:ext uri="{FF2B5EF4-FFF2-40B4-BE49-F238E27FC236}">
                <a16:creationId xmlns:a16="http://schemas.microsoft.com/office/drawing/2014/main" id="{2F68EA50-4E6E-4FCA-90A5-3C7786FF7998}"/>
              </a:ext>
            </a:extLst>
          </p:cNvPr>
          <p:cNvSpPr>
            <a:spLocks noGrp="1" noChangeArrowheads="1"/>
          </p:cNvSpPr>
          <p:nvPr>
            <p:ph idx="1"/>
          </p:nvPr>
        </p:nvSpPr>
        <p:spPr>
          <a:xfrm>
            <a:off x="1040945" y="785879"/>
            <a:ext cx="9984273" cy="5133232"/>
          </a:xfrm>
        </p:spPr>
        <p:txBody>
          <a:bodyPr>
            <a:noAutofit/>
          </a:body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a:t>
            </a:r>
            <a:r>
              <a:rPr lang="en-US" sz="2400" b="1" dirty="0">
                <a:latin typeface="Trebuchet MS" panose="020B0603020202020204" pitchFamily="34" charset="0"/>
              </a:rPr>
              <a:t> 9.9: </a:t>
            </a:r>
            <a:r>
              <a:rPr lang="en-US" sz="2400" dirty="0">
                <a:latin typeface="Trebuchet MS" panose="020B0603020202020204" pitchFamily="34" charset="0"/>
              </a:rPr>
              <a:t>Let </a:t>
            </a:r>
            <a:r>
              <a:rPr lang="en-US" altLang="zh-CN" sz="2400" b="1" i="1" dirty="0">
                <a:latin typeface="Trebuchet MS" panose="020B0603020202020204" pitchFamily="34" charset="0"/>
              </a:rPr>
              <a:t>G</a:t>
            </a:r>
            <a:r>
              <a:rPr lang="en-US" altLang="zh-CN" sz="2400" b="1" dirty="0">
                <a:latin typeface="Trebuchet MS" panose="020B0603020202020204" pitchFamily="34" charset="0"/>
              </a:rPr>
              <a:t>=&lt;</a:t>
            </a:r>
            <a:r>
              <a:rPr lang="en-US" altLang="zh-CN" sz="2400" b="1" i="1" dirty="0">
                <a:latin typeface="Trebuchet MS" panose="020B0603020202020204" pitchFamily="34" charset="0"/>
              </a:rPr>
              <a:t>a</a:t>
            </a:r>
            <a:r>
              <a:rPr lang="en-US" altLang="zh-CN" sz="2400" b="1" dirty="0">
                <a:latin typeface="Trebuchet MS" panose="020B0603020202020204" pitchFamily="34" charset="0"/>
              </a:rPr>
              <a:t>&gt; </a:t>
            </a:r>
            <a:r>
              <a:rPr lang="en-US" sz="2400" dirty="0">
                <a:latin typeface="Trebuchet MS" panose="020B0603020202020204" pitchFamily="34" charset="0"/>
              </a:rPr>
              <a:t>be a cyclic group. Then:</a:t>
            </a:r>
          </a:p>
          <a:p>
            <a:pPr marL="803275" indent="-534988">
              <a:lnSpc>
                <a:spcPct val="120000"/>
              </a:lnSpc>
              <a:spcBef>
                <a:spcPts val="300"/>
              </a:spcBef>
              <a:buClr>
                <a:srgbClr val="0B61FF"/>
              </a:buClr>
              <a:buSzPct val="80000"/>
              <a:buNone/>
            </a:pPr>
            <a:r>
              <a:rPr lang="en-US" sz="2400" b="1" dirty="0">
                <a:solidFill>
                  <a:srgbClr val="0B61FF"/>
                </a:solidFill>
                <a:latin typeface="Trebuchet MS" panose="020B0603020202020204" pitchFamily="34" charset="0"/>
              </a:rPr>
              <a:t>(1) </a:t>
            </a:r>
            <a:r>
              <a:rPr lang="en-US" sz="2400" dirty="0">
                <a:latin typeface="Trebuchet MS" panose="020B0603020202020204" pitchFamily="34" charset="0"/>
              </a:rPr>
              <a:t>A </a:t>
            </a:r>
            <a:r>
              <a:rPr lang="en-US" sz="2400" b="1" dirty="0">
                <a:latin typeface="Trebuchet MS" panose="020B0603020202020204" pitchFamily="34" charset="0"/>
              </a:rPr>
              <a:t>subgroup</a:t>
            </a:r>
            <a:r>
              <a:rPr lang="en-US" sz="2400" dirty="0">
                <a:latin typeface="Trebuchet MS" panose="020B0603020202020204" pitchFamily="34" charset="0"/>
              </a:rPr>
              <a:t> of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is also a </a:t>
            </a:r>
            <a:r>
              <a:rPr lang="en-US" sz="2400" b="1" i="1" dirty="0">
                <a:solidFill>
                  <a:srgbClr val="0B61FF"/>
                </a:solidFill>
                <a:latin typeface="Trebuchet MS" panose="020B0603020202020204" pitchFamily="34" charset="0"/>
              </a:rPr>
              <a:t>cyclic group</a:t>
            </a:r>
            <a:r>
              <a:rPr lang="en-US" sz="2400" dirty="0">
                <a:latin typeface="Trebuchet MS" panose="020B0603020202020204" pitchFamily="34" charset="0"/>
              </a:rPr>
              <a:t>.</a:t>
            </a:r>
          </a:p>
          <a:p>
            <a:pPr marL="803275" indent="-534988">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(2) </a:t>
            </a:r>
            <a:r>
              <a:rPr lang="en-US" sz="2400" dirty="0">
                <a:latin typeface="Trebuchet MS" panose="020B0603020202020204" pitchFamily="34" charset="0"/>
              </a:rPr>
              <a:t>If </a:t>
            </a:r>
            <a:r>
              <a:rPr lang="en-US" altLang="zh-CN" sz="2400" b="1" i="1" dirty="0">
                <a:latin typeface="Trebuchet MS" panose="020B0603020202020204" pitchFamily="34" charset="0"/>
              </a:rPr>
              <a:t>G</a:t>
            </a:r>
            <a:r>
              <a:rPr lang="en-US" altLang="zh-CN" sz="2400" b="1" dirty="0">
                <a:latin typeface="Trebuchet MS" panose="020B0603020202020204" pitchFamily="34" charset="0"/>
              </a:rPr>
              <a:t>=&lt;</a:t>
            </a:r>
            <a:r>
              <a:rPr lang="en-US" altLang="zh-CN" sz="2400" b="1" i="1" dirty="0">
                <a:latin typeface="Trebuchet MS" panose="020B0603020202020204" pitchFamily="34" charset="0"/>
              </a:rPr>
              <a:t>a</a:t>
            </a:r>
            <a:r>
              <a:rPr lang="en-US" altLang="zh-CN" sz="2400" b="1" dirty="0">
                <a:latin typeface="Trebuchet MS" panose="020B0603020202020204" pitchFamily="34" charset="0"/>
              </a:rPr>
              <a:t>&gt; </a:t>
            </a:r>
            <a:r>
              <a:rPr lang="en-US" sz="2400" dirty="0">
                <a:latin typeface="Trebuchet MS" panose="020B0603020202020204" pitchFamily="34" charset="0"/>
              </a:rPr>
              <a:t>is an infinite cyclic group, then every </a:t>
            </a:r>
            <a:r>
              <a:rPr lang="en-US" sz="2400" b="1" dirty="0">
                <a:latin typeface="Trebuchet MS" panose="020B0603020202020204" pitchFamily="34" charset="0"/>
              </a:rPr>
              <a:t>subgroup</a:t>
            </a:r>
            <a:r>
              <a:rPr lang="en-US" sz="2400" dirty="0">
                <a:latin typeface="Trebuchet MS" panose="020B0603020202020204" pitchFamily="34" charset="0"/>
              </a:rPr>
              <a:t> of </a:t>
            </a:r>
            <a:r>
              <a:rPr lang="en-US" altLang="zh-CN" sz="2400" b="1" i="1" dirty="0">
                <a:latin typeface="Trebuchet MS" panose="020B0603020202020204" pitchFamily="34" charset="0"/>
                <a:cs typeface="Times New Roman" panose="02020603050405020304" pitchFamily="18" charset="0"/>
              </a:rPr>
              <a:t>G</a:t>
            </a:r>
            <a:r>
              <a:rPr lang="en-US" sz="2400" dirty="0">
                <a:latin typeface="Trebuchet MS" panose="020B0603020202020204" pitchFamily="34" charset="0"/>
              </a:rPr>
              <a:t>, except for </a:t>
            </a:r>
            <a:r>
              <a:rPr lang="en-US" altLang="zh-CN" sz="2400" b="1" dirty="0">
                <a:latin typeface="Trebuchet MS" panose="020B0603020202020204" pitchFamily="34" charset="0"/>
              </a:rPr>
              <a:t>{</a:t>
            </a:r>
            <a:r>
              <a:rPr lang="en-US" altLang="zh-CN" sz="2400" b="1" i="1" dirty="0">
                <a:latin typeface="Trebuchet MS" panose="020B0603020202020204" pitchFamily="34" charset="0"/>
              </a:rPr>
              <a:t>e</a:t>
            </a:r>
            <a:r>
              <a:rPr lang="en-US" altLang="zh-CN" sz="2400" b="1" dirty="0">
                <a:latin typeface="Trebuchet MS" panose="020B0603020202020204" pitchFamily="34" charset="0"/>
              </a:rPr>
              <a:t>}</a:t>
            </a:r>
            <a:r>
              <a:rPr lang="en-US" altLang="zh-CN" sz="2400" dirty="0">
                <a:latin typeface="Trebuchet MS" panose="020B0603020202020204" pitchFamily="34" charset="0"/>
              </a:rPr>
              <a:t>, </a:t>
            </a:r>
            <a:r>
              <a:rPr lang="en-US" sz="2400" dirty="0">
                <a:latin typeface="Trebuchet MS" panose="020B0603020202020204" pitchFamily="34" charset="0"/>
              </a:rPr>
              <a:t>is also an </a:t>
            </a:r>
            <a:r>
              <a:rPr lang="en-US" sz="2400" b="1" i="1" dirty="0">
                <a:solidFill>
                  <a:srgbClr val="0B61FF"/>
                </a:solidFill>
                <a:latin typeface="Trebuchet MS" panose="020B0603020202020204" pitchFamily="34" charset="0"/>
              </a:rPr>
              <a:t>infinite cyclic group</a:t>
            </a:r>
            <a:r>
              <a:rPr lang="en-US" sz="2400" dirty="0">
                <a:latin typeface="Trebuchet MS" panose="020B0603020202020204" pitchFamily="34" charset="0"/>
              </a:rPr>
              <a:t>.</a:t>
            </a:r>
          </a:p>
          <a:p>
            <a:pPr marL="803275" indent="-534988">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(3) </a:t>
            </a:r>
            <a:r>
              <a:rPr lang="en-US" altLang="zh-CN" sz="2400" dirty="0">
                <a:latin typeface="Trebuchet MS" panose="020B0603020202020204" pitchFamily="34" charset="0"/>
              </a:rPr>
              <a:t>If</a:t>
            </a:r>
            <a:r>
              <a:rPr lang="en-US" altLang="zh-CN" sz="2400" b="1" dirty="0">
                <a:solidFill>
                  <a:srgbClr val="0B61FF"/>
                </a:solidFill>
                <a:latin typeface="Trebuchet MS" panose="020B0603020202020204" pitchFamily="34" charset="0"/>
              </a:rPr>
              <a:t> </a:t>
            </a:r>
            <a:r>
              <a:rPr lang="en-US" altLang="zh-CN" sz="2400" b="1" i="1" dirty="0">
                <a:latin typeface="Trebuchet MS" panose="020B0603020202020204" pitchFamily="34" charset="0"/>
              </a:rPr>
              <a:t>G</a:t>
            </a:r>
            <a:r>
              <a:rPr lang="en-US" altLang="zh-CN" sz="2400" b="1" dirty="0">
                <a:latin typeface="Trebuchet MS" panose="020B0603020202020204" pitchFamily="34" charset="0"/>
              </a:rPr>
              <a:t>=&lt;</a:t>
            </a:r>
            <a:r>
              <a:rPr lang="en-US" altLang="zh-CN" sz="2400" b="1" i="1" dirty="0">
                <a:latin typeface="Trebuchet MS" panose="020B0603020202020204" pitchFamily="34" charset="0"/>
              </a:rPr>
              <a:t>a</a:t>
            </a:r>
            <a:r>
              <a:rPr lang="en-US" altLang="zh-CN" sz="2400" b="1" dirty="0">
                <a:latin typeface="Trebuchet MS" panose="020B0603020202020204" pitchFamily="34" charset="0"/>
              </a:rPr>
              <a:t>&gt;</a:t>
            </a:r>
            <a:r>
              <a:rPr lang="en-US" altLang="zh-CN" sz="2400" dirty="0">
                <a:latin typeface="Trebuchet MS" panose="020B0603020202020204" pitchFamily="34" charset="0"/>
              </a:rPr>
              <a:t> </a:t>
            </a:r>
            <a:r>
              <a:rPr lang="en-US" sz="2400" dirty="0">
                <a:latin typeface="Trebuchet MS" panose="020B0603020202020204" pitchFamily="34" charset="0"/>
              </a:rPr>
              <a:t>is an </a:t>
            </a:r>
            <a:r>
              <a:rPr lang="en-US" sz="2400" b="1" i="1" dirty="0">
                <a:latin typeface="Trebuchet MS" panose="020B0603020202020204" pitchFamily="34" charset="0"/>
              </a:rPr>
              <a:t>n</a:t>
            </a:r>
            <a:r>
              <a:rPr lang="en-US" sz="2400" b="1" dirty="0">
                <a:latin typeface="Trebuchet MS" panose="020B0603020202020204" pitchFamily="34" charset="0"/>
              </a:rPr>
              <a:t>-order cyclic group</a:t>
            </a:r>
            <a:r>
              <a:rPr lang="en-US" sz="2400" dirty="0">
                <a:latin typeface="Trebuchet MS" panose="020B0603020202020204" pitchFamily="34" charset="0"/>
              </a:rPr>
              <a:t>, then for every positive divisor </a:t>
            </a:r>
            <a:r>
              <a:rPr lang="en-US" altLang="zh-CN" sz="2400" dirty="0">
                <a:latin typeface="Trebuchet MS" panose="020B0603020202020204" pitchFamily="34" charset="0"/>
              </a:rPr>
              <a:t>d</a:t>
            </a:r>
            <a:r>
              <a:rPr lang="en-US" sz="2400" dirty="0">
                <a:latin typeface="Trebuchet MS" panose="020B0603020202020204" pitchFamily="34" charset="0"/>
              </a:rPr>
              <a:t> of </a:t>
            </a:r>
            <a:r>
              <a:rPr lang="en-US" altLang="zh-CN" sz="2400" b="1" i="1" dirty="0">
                <a:latin typeface="Trebuchet MS" panose="020B0603020202020204" pitchFamily="34" charset="0"/>
              </a:rPr>
              <a:t>n</a:t>
            </a:r>
            <a:r>
              <a:rPr lang="en-US" sz="2400" dirty="0">
                <a:latin typeface="Trebuchet MS" panose="020B0603020202020204" pitchFamily="34" charset="0"/>
              </a:rPr>
              <a:t>, </a:t>
            </a:r>
            <a:r>
              <a:rPr lang="en-US" altLang="zh-CN" sz="2400" b="1" i="1" dirty="0">
                <a:latin typeface="Trebuchet MS" panose="020B0603020202020204" pitchFamily="34" charset="0"/>
              </a:rPr>
              <a:t>G</a:t>
            </a:r>
            <a:r>
              <a:rPr lang="en-US" sz="2400" dirty="0">
                <a:latin typeface="Trebuchet MS" panose="020B0603020202020204" pitchFamily="34" charset="0"/>
              </a:rPr>
              <a:t> contains exactly one </a:t>
            </a:r>
            <a:r>
              <a:rPr lang="en-US" sz="2400" b="1" i="1" dirty="0">
                <a:solidFill>
                  <a:srgbClr val="0B61FF"/>
                </a:solidFill>
                <a:latin typeface="Trebuchet MS" panose="020B0603020202020204" pitchFamily="34" charset="0"/>
              </a:rPr>
              <a:t>subgroup of order </a:t>
            </a:r>
            <a:r>
              <a:rPr lang="en-US" altLang="zh-CN" sz="2400" b="1" i="1" dirty="0">
                <a:solidFill>
                  <a:srgbClr val="0B61FF"/>
                </a:solidFill>
                <a:latin typeface="Trebuchet MS" panose="020B0603020202020204" pitchFamily="34" charset="0"/>
              </a:rPr>
              <a:t>d</a:t>
            </a:r>
            <a:r>
              <a:rPr lang="en-US" sz="2400" dirty="0">
                <a:latin typeface="Trebuchet MS" panose="020B0603020202020204" pitchFamily="34" charset="0"/>
              </a:rPr>
              <a:t>.</a:t>
            </a: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a:t>
            </a:r>
            <a:r>
              <a:rPr lang="en-US" altLang="zh-CN" sz="2400" b="1" dirty="0">
                <a:solidFill>
                  <a:srgbClr val="0B61FF"/>
                </a:solidFill>
                <a:latin typeface="Trebuchet MS" panose="020B0603020202020204" pitchFamily="34" charset="0"/>
              </a:rPr>
              <a:t>(1) </a:t>
            </a:r>
            <a:r>
              <a:rPr lang="en-US" altLang="zh-CN" sz="2400" b="1"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G</a:t>
            </a:r>
            <a:r>
              <a:rPr lang="en-US" altLang="zh-CN" sz="2400" b="1" dirty="0">
                <a:latin typeface="Trebuchet MS" panose="020B0603020202020204" pitchFamily="34" charset="0"/>
                <a:cs typeface="Times New Roman" panose="02020603050405020304" pitchFamily="18" charset="0"/>
              </a:rPr>
              <a:t>=&lt;Z,+&gt; </a:t>
            </a:r>
            <a:r>
              <a:rPr lang="en-US" altLang="zh-CN" sz="2400" dirty="0">
                <a:latin typeface="Trebuchet MS" panose="020B0603020202020204" pitchFamily="34" charset="0"/>
              </a:rPr>
              <a:t>is an infinite cyclic group. For any natural number </a:t>
            </a:r>
            <a:r>
              <a:rPr lang="en-US" altLang="zh-CN" sz="2400" b="1" i="1" dirty="0" err="1">
                <a:latin typeface="Trebuchet MS" panose="020B0603020202020204" pitchFamily="34" charset="0"/>
                <a:cs typeface="Times New Roman" panose="02020603050405020304" pitchFamily="18" charset="0"/>
              </a:rPr>
              <a:t>m</a:t>
            </a:r>
            <a:r>
              <a:rPr lang="en-US" altLang="zh-CN" sz="2400" b="1" dirty="0" err="1">
                <a:latin typeface="Trebuchet MS" panose="020B0603020202020204" pitchFamily="34" charset="0"/>
                <a:cs typeface="Times New Roman" panose="02020603050405020304" pitchFamily="18" charset="0"/>
              </a:rPr>
              <a:t>∈N</a:t>
            </a:r>
            <a:r>
              <a:rPr lang="en-US" altLang="zh-CN" sz="2400" dirty="0">
                <a:latin typeface="Trebuchet MS" panose="020B0603020202020204" pitchFamily="34" charset="0"/>
              </a:rPr>
              <a:t>, the </a:t>
            </a:r>
            <a:r>
              <a:rPr lang="en-US" altLang="zh-CN" sz="2400" b="1" i="1" dirty="0">
                <a:latin typeface="Trebuchet MS" panose="020B0603020202020204" pitchFamily="34" charset="0"/>
                <a:cs typeface="Times New Roman" panose="02020603050405020304" pitchFamily="18" charset="0"/>
              </a:rPr>
              <a:t>m</a:t>
            </a:r>
            <a:r>
              <a:rPr lang="en-US" altLang="zh-CN" sz="2400" dirty="0">
                <a:latin typeface="Trebuchet MS" panose="020B0603020202020204" pitchFamily="34" charset="0"/>
              </a:rPr>
              <a:t>-</a:t>
            </a:r>
            <a:r>
              <a:rPr lang="en-US" altLang="zh-CN" sz="2400" dirty="0" err="1">
                <a:latin typeface="Trebuchet MS" panose="020B0603020202020204" pitchFamily="34" charset="0"/>
              </a:rPr>
              <a:t>th</a:t>
            </a:r>
            <a:r>
              <a:rPr lang="en-US" altLang="zh-CN" sz="2400" dirty="0">
                <a:latin typeface="Trebuchet MS" panose="020B0603020202020204" pitchFamily="34" charset="0"/>
              </a:rPr>
              <a:t> power of </a:t>
            </a:r>
            <a:r>
              <a:rPr lang="en-US" altLang="zh-CN" sz="2400" b="1" dirty="0">
                <a:latin typeface="Trebuchet MS" panose="020B0603020202020204" pitchFamily="34" charset="0"/>
              </a:rPr>
              <a:t>1</a:t>
            </a:r>
            <a:r>
              <a:rPr lang="en-US" altLang="zh-CN" sz="2400" dirty="0">
                <a:latin typeface="Trebuchet MS" panose="020B0603020202020204" pitchFamily="34" charset="0"/>
              </a:rPr>
              <a:t> is </a:t>
            </a:r>
            <a:r>
              <a:rPr lang="en-US" altLang="zh-CN" sz="2400" b="1" i="1" dirty="0">
                <a:latin typeface="Trebuchet MS" panose="020B0603020202020204" pitchFamily="34" charset="0"/>
                <a:cs typeface="Times New Roman" panose="02020603050405020304" pitchFamily="18" charset="0"/>
              </a:rPr>
              <a:t>m</a:t>
            </a:r>
            <a:r>
              <a:rPr lang="en-US" altLang="zh-CN" sz="2400" dirty="0">
                <a:latin typeface="Trebuchet MS" panose="020B0603020202020204" pitchFamily="34" charset="0"/>
              </a:rPr>
              <a:t>, and the subgroup generated by </a:t>
            </a:r>
            <a:r>
              <a:rPr lang="en-US" altLang="zh-CN" sz="2400" b="1" i="1" dirty="0">
                <a:latin typeface="Trebuchet MS" panose="020B0603020202020204" pitchFamily="34" charset="0"/>
                <a:cs typeface="Times New Roman" panose="02020603050405020304" pitchFamily="18" charset="0"/>
              </a:rPr>
              <a:t>m</a:t>
            </a:r>
            <a:r>
              <a:rPr lang="en-US" altLang="zh-CN" sz="2400" dirty="0">
                <a:latin typeface="Trebuchet MS" panose="020B0603020202020204" pitchFamily="34" charset="0"/>
              </a:rPr>
              <a:t> is </a:t>
            </a:r>
            <a:r>
              <a:rPr lang="en-US" altLang="zh-CN" sz="2400" b="1" i="1" dirty="0" err="1">
                <a:latin typeface="Trebuchet MS" panose="020B0603020202020204" pitchFamily="34" charset="0"/>
                <a:cs typeface="Times New Roman" panose="02020603050405020304" pitchFamily="18" charset="0"/>
              </a:rPr>
              <a:t>m</a:t>
            </a:r>
            <a:r>
              <a:rPr lang="en-US" altLang="zh-CN" sz="2400" b="1" dirty="0" err="1">
                <a:latin typeface="Trebuchet MS" panose="020B0603020202020204" pitchFamily="34" charset="0"/>
                <a:cs typeface="Times New Roman" panose="02020603050405020304" pitchFamily="18" charset="0"/>
              </a:rPr>
              <a:t>Z</a:t>
            </a:r>
            <a:r>
              <a:rPr lang="en-US" altLang="zh-CN" sz="2400" dirty="0">
                <a:latin typeface="Trebuchet MS" panose="020B0603020202020204" pitchFamily="34" charset="0"/>
              </a:rPr>
              <a:t>, where </a:t>
            </a:r>
            <a:r>
              <a:rPr lang="en-US" altLang="zh-CN" sz="2400" b="1" i="1" dirty="0" err="1">
                <a:latin typeface="Trebuchet MS" panose="020B0603020202020204" pitchFamily="34" charset="0"/>
                <a:cs typeface="Times New Roman" panose="02020603050405020304" pitchFamily="18" charset="0"/>
              </a:rPr>
              <a:t>m</a:t>
            </a:r>
            <a:r>
              <a:rPr lang="en-US" altLang="zh-CN" sz="2400" b="1" dirty="0" err="1">
                <a:latin typeface="Trebuchet MS" panose="020B0603020202020204" pitchFamily="34" charset="0"/>
                <a:cs typeface="Times New Roman" panose="02020603050405020304" pitchFamily="18" charset="0"/>
              </a:rPr>
              <a:t>∈N</a:t>
            </a:r>
            <a:r>
              <a:rPr lang="en-US" altLang="zh-CN" sz="2400" dirty="0">
                <a:latin typeface="Trebuchet MS" panose="020B0603020202020204" pitchFamily="34" charset="0"/>
              </a:rPr>
              <a:t>. That is,</a:t>
            </a:r>
            <a:br>
              <a:rPr lang="zh-CN" altLang="en-US" sz="2400" b="1" dirty="0">
                <a:latin typeface="Trebuchet MS" panose="020B0603020202020204" pitchFamily="34" charset="0"/>
                <a:cs typeface="Times New Roman" panose="02020603050405020304" pitchFamily="18" charset="0"/>
              </a:rPr>
            </a:br>
            <a:r>
              <a:rPr lang="en-US" altLang="zh-CN" sz="2400" b="1" dirty="0">
                <a:latin typeface="Trebuchet MS" panose="020B0603020202020204" pitchFamily="34" charset="0"/>
                <a:cs typeface="Times New Roman" panose="02020603050405020304" pitchFamily="18" charset="0"/>
              </a:rPr>
              <a:t>&lt;0&gt; = { 0 }=0Z , &lt;2&gt; = { 2k | </a:t>
            </a:r>
            <a:r>
              <a:rPr lang="en-US" altLang="zh-CN" sz="2400" b="1" dirty="0" err="1">
                <a:latin typeface="Trebuchet MS" panose="020B0603020202020204" pitchFamily="34" charset="0"/>
                <a:cs typeface="Times New Roman" panose="02020603050405020304" pitchFamily="18" charset="0"/>
              </a:rPr>
              <a:t>k∈Z</a:t>
            </a:r>
            <a:r>
              <a:rPr lang="en-US" altLang="zh-CN" sz="2400" b="1" dirty="0">
                <a:latin typeface="Trebuchet MS" panose="020B0603020202020204" pitchFamily="34" charset="0"/>
                <a:cs typeface="Times New Roman" panose="02020603050405020304" pitchFamily="18" charset="0"/>
              </a:rPr>
              <a:t> } = 2Z</a:t>
            </a:r>
            <a:br>
              <a:rPr lang="en-US" altLang="zh-CN" sz="2400" b="1" dirty="0">
                <a:latin typeface="Trebuchet MS" panose="020B0603020202020204" pitchFamily="34" charset="0"/>
                <a:cs typeface="Times New Roman" panose="02020603050405020304" pitchFamily="18" charset="0"/>
              </a:rPr>
            </a:br>
            <a:r>
              <a:rPr lang="en-US" altLang="zh-CN" sz="2400" b="1" dirty="0">
                <a:latin typeface="Trebuchet MS" panose="020B0603020202020204" pitchFamily="34" charset="0"/>
                <a:cs typeface="Times New Roman" panose="02020603050405020304" pitchFamily="18" charset="0"/>
              </a:rPr>
              <a:t>&lt;</a:t>
            </a:r>
            <a:r>
              <a:rPr lang="en-US" altLang="zh-CN" sz="2400" b="1" i="1" dirty="0">
                <a:latin typeface="Trebuchet MS" panose="020B0603020202020204" pitchFamily="34" charset="0"/>
                <a:cs typeface="Times New Roman" panose="02020603050405020304" pitchFamily="18" charset="0"/>
              </a:rPr>
              <a:t>m</a:t>
            </a:r>
            <a:r>
              <a:rPr lang="en-US" altLang="zh-CN" sz="2400" b="1" dirty="0">
                <a:latin typeface="Trebuchet MS" panose="020B0603020202020204" pitchFamily="34" charset="0"/>
                <a:cs typeface="Times New Roman" panose="02020603050405020304" pitchFamily="18" charset="0"/>
              </a:rPr>
              <a:t>&gt; = { </a:t>
            </a:r>
            <a:r>
              <a:rPr lang="en-US" altLang="zh-CN" sz="2400" b="1" i="1" dirty="0" err="1">
                <a:latin typeface="Trebuchet MS" panose="020B0603020202020204" pitchFamily="34" charset="0"/>
                <a:cs typeface="Times New Roman" panose="02020603050405020304" pitchFamily="18" charset="0"/>
              </a:rPr>
              <a:t>mz</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a:t>
            </a:r>
            <a:r>
              <a:rPr lang="en-US" altLang="zh-CN" sz="2400" b="1" i="1" dirty="0" err="1">
                <a:latin typeface="Trebuchet MS" panose="020B0603020202020204" pitchFamily="34" charset="0"/>
                <a:cs typeface="Times New Roman" panose="02020603050405020304" pitchFamily="18" charset="0"/>
              </a:rPr>
              <a:t>z</a:t>
            </a:r>
            <a:r>
              <a:rPr lang="en-US" altLang="zh-CN" sz="2400" b="1" dirty="0" err="1">
                <a:latin typeface="Trebuchet MS" panose="020B0603020202020204" pitchFamily="34" charset="0"/>
                <a:cs typeface="Times New Roman" panose="02020603050405020304" pitchFamily="18" charset="0"/>
              </a:rPr>
              <a:t>∈Z</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 = </a:t>
            </a:r>
            <a:r>
              <a:rPr lang="en-US" altLang="zh-CN" sz="2400" b="1" i="1" dirty="0" err="1">
                <a:latin typeface="Trebuchet MS" panose="020B0603020202020204" pitchFamily="34" charset="0"/>
                <a:cs typeface="Times New Roman" panose="02020603050405020304" pitchFamily="18" charset="0"/>
              </a:rPr>
              <a:t>m</a:t>
            </a:r>
            <a:r>
              <a:rPr lang="en-US" altLang="zh-CN" sz="2400" b="1" dirty="0" err="1">
                <a:latin typeface="Trebuchet MS" panose="020B0603020202020204" pitchFamily="34" charset="0"/>
                <a:cs typeface="Times New Roman" panose="02020603050405020304" pitchFamily="18" charset="0"/>
              </a:rPr>
              <a:t>Z</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m</a:t>
            </a:r>
            <a:r>
              <a:rPr lang="en-US" altLang="zh-CN" sz="2400" b="1" dirty="0">
                <a:latin typeface="Trebuchet MS" panose="020B0603020202020204" pitchFamily="34" charset="0"/>
                <a:cs typeface="Times New Roman" panose="02020603050405020304" pitchFamily="18" charset="0"/>
              </a:rPr>
              <a:t>&gt;0 </a:t>
            </a:r>
            <a:r>
              <a:rPr lang="en-US" altLang="zh-CN" sz="2400" b="1" dirty="0">
                <a:solidFill>
                  <a:srgbClr val="000066"/>
                </a:solidFill>
                <a:latin typeface="Trebuchet MS" panose="020B0603020202020204" pitchFamily="34" charset="0"/>
              </a:rPr>
              <a:t> </a:t>
            </a:r>
          </a:p>
          <a:p>
            <a:pPr marL="803275" indent="-534988">
              <a:lnSpc>
                <a:spcPct val="120000"/>
              </a:lnSpc>
              <a:spcBef>
                <a:spcPts val="300"/>
              </a:spcBef>
              <a:buClr>
                <a:srgbClr val="0B61FF"/>
              </a:buClr>
              <a:buSzPct val="80000"/>
              <a:buNone/>
            </a:pPr>
            <a:endParaRPr lang="en-US" sz="2400" dirty="0">
              <a:latin typeface="Trebuchet MS" panose="020B0603020202020204" pitchFamily="34" charset="0"/>
            </a:endParaRPr>
          </a:p>
        </p:txBody>
      </p:sp>
    </p:spTree>
    <p:extLst>
      <p:ext uri="{BB962C8B-B14F-4D97-AF65-F5344CB8AC3E}">
        <p14:creationId xmlns:p14="http://schemas.microsoft.com/office/powerpoint/2010/main" val="1473094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animEffect transition="in" filter="fade">
                                      <p:cBhvr>
                                        <p:cTn id="7" dur="1000"/>
                                        <p:tgtEl>
                                          <p:spTgt spid="14">
                                            <p:txEl>
                                              <p:pRg st="2" end="2"/>
                                            </p:txEl>
                                          </p:spTgt>
                                        </p:tgtEl>
                                      </p:cBhvr>
                                    </p:animEffect>
                                    <p:anim calcmode="lin" valueType="num">
                                      <p:cBhvr>
                                        <p:cTn id="8"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3" end="3"/>
                                            </p:txEl>
                                          </p:spTgt>
                                        </p:tgtEl>
                                        <p:attrNameLst>
                                          <p:attrName>style.visibility</p:attrName>
                                        </p:attrNameLst>
                                      </p:cBhvr>
                                      <p:to>
                                        <p:strVal val="visible"/>
                                      </p:to>
                                    </p:set>
                                    <p:animEffect transition="in" filter="fade">
                                      <p:cBhvr>
                                        <p:cTn id="14" dur="1000"/>
                                        <p:tgtEl>
                                          <p:spTgt spid="14">
                                            <p:txEl>
                                              <p:pRg st="3" end="3"/>
                                            </p:txEl>
                                          </p:spTgt>
                                        </p:tgtEl>
                                      </p:cBhvr>
                                    </p:animEffect>
                                    <p:anim calcmode="lin" valueType="num">
                                      <p:cBhvr>
                                        <p:cTn id="15"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4" end="4"/>
                                            </p:txEl>
                                          </p:spTgt>
                                        </p:tgtEl>
                                        <p:attrNameLst>
                                          <p:attrName>style.visibility</p:attrName>
                                        </p:attrNameLst>
                                      </p:cBhvr>
                                      <p:to>
                                        <p:strVal val="visible"/>
                                      </p:to>
                                    </p:set>
                                    <p:animEffect transition="in" filter="fade">
                                      <p:cBhvr>
                                        <p:cTn id="21" dur="1000"/>
                                        <p:tgtEl>
                                          <p:spTgt spid="14">
                                            <p:txEl>
                                              <p:pRg st="4" end="4"/>
                                            </p:txEl>
                                          </p:spTgt>
                                        </p:tgtEl>
                                      </p:cBhvr>
                                    </p:animEffect>
                                    <p:anim calcmode="lin" valueType="num">
                                      <p:cBhvr>
                                        <p:cTn id="22"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Subgroup Structure Theorem for Cyclic Groups(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2" name="Rectangle 2">
            <a:extLst>
              <a:ext uri="{FF2B5EF4-FFF2-40B4-BE49-F238E27FC236}">
                <a16:creationId xmlns:a16="http://schemas.microsoft.com/office/drawing/2014/main" id="{8C22F563-270A-4D89-8C20-3FEA95A76987}"/>
              </a:ext>
            </a:extLst>
          </p:cNvPr>
          <p:cNvSpPr>
            <a:spLocks noGrp="1" noChangeArrowheads="1"/>
          </p:cNvSpPr>
          <p:nvPr>
            <p:ph idx="1"/>
          </p:nvPr>
        </p:nvSpPr>
        <p:spPr>
          <a:xfrm>
            <a:off x="1129895" y="839190"/>
            <a:ext cx="9994334" cy="4881707"/>
          </a:xfrm>
        </p:spPr>
        <p:txBody>
          <a:bodyPr>
            <a:noAutofit/>
          </a:body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 </a:t>
            </a:r>
            <a:r>
              <a:rPr lang="en-US" sz="2400" b="1" dirty="0">
                <a:solidFill>
                  <a:srgbClr val="0B61FF"/>
                </a:solidFill>
                <a:latin typeface="Trebuchet MS" panose="020B0603020202020204" pitchFamily="34" charset="0"/>
              </a:rPr>
              <a:t>(2)</a:t>
            </a:r>
            <a:r>
              <a:rPr lang="en-US" sz="2400" b="1"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G</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Z</a:t>
            </a:r>
            <a:r>
              <a:rPr lang="en-US" altLang="zh-CN" sz="2400" b="1" baseline="-25000" dirty="0">
                <a:latin typeface="Trebuchet MS" panose="020B0603020202020204" pitchFamily="34" charset="0"/>
                <a:cs typeface="Times New Roman" panose="02020603050405020304" pitchFamily="18" charset="0"/>
              </a:rPr>
              <a:t>12 </a:t>
            </a:r>
            <a:r>
              <a:rPr lang="en-US" sz="2400" dirty="0">
                <a:latin typeface="Trebuchet MS" panose="020B0603020202020204" pitchFamily="34" charset="0"/>
              </a:rPr>
              <a:t>is a cyclic group of order </a:t>
            </a:r>
            <a:r>
              <a:rPr lang="en-US" sz="2400" b="1" dirty="0">
                <a:latin typeface="Trebuchet MS" panose="020B0603020202020204" pitchFamily="34" charset="0"/>
              </a:rPr>
              <a:t>12</a:t>
            </a:r>
            <a:r>
              <a:rPr lang="en-US" sz="2400" dirty="0">
                <a:latin typeface="Trebuchet MS" panose="020B0603020202020204" pitchFamily="34" charset="0"/>
              </a:rPr>
              <a:t>. The positive divisors of </a:t>
            </a:r>
            <a:r>
              <a:rPr lang="en-US" sz="2400" b="1" dirty="0">
                <a:latin typeface="Trebuchet MS" panose="020B0603020202020204" pitchFamily="34" charset="0"/>
              </a:rPr>
              <a:t>12</a:t>
            </a:r>
            <a:r>
              <a:rPr lang="en-US" sz="2400" dirty="0">
                <a:latin typeface="Trebuchet MS" panose="020B0603020202020204" pitchFamily="34" charset="0"/>
              </a:rPr>
              <a:t> are </a:t>
            </a:r>
            <a:r>
              <a:rPr lang="en-US" sz="2400" b="1" dirty="0">
                <a:latin typeface="Trebuchet MS" panose="020B0603020202020204" pitchFamily="34" charset="0"/>
              </a:rPr>
              <a:t>1, 2, 3, 4, 6</a:t>
            </a:r>
            <a:r>
              <a:rPr lang="en-US" sz="2400" dirty="0">
                <a:latin typeface="Trebuchet MS" panose="020B0603020202020204" pitchFamily="34" charset="0"/>
              </a:rPr>
              <a:t>, and </a:t>
            </a:r>
            <a:r>
              <a:rPr lang="en-US" sz="2400" b="1" dirty="0">
                <a:latin typeface="Trebuchet MS" panose="020B0603020202020204" pitchFamily="34" charset="0"/>
              </a:rPr>
              <a:t>12</a:t>
            </a:r>
            <a:r>
              <a:rPr lang="en-US" sz="2400" dirty="0">
                <a:latin typeface="Trebuchet MS" panose="020B0603020202020204" pitchFamily="34" charset="0"/>
              </a:rPr>
              <a:t>. For each positive divisor </a:t>
            </a:r>
            <a:r>
              <a:rPr lang="en-US" altLang="zh-CN" sz="2400" b="1" i="1"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d</a:t>
            </a:r>
            <a:r>
              <a:rPr lang="en-US" sz="2400" dirty="0">
                <a:latin typeface="Trebuchet MS" panose="020B0603020202020204" pitchFamily="34" charset="0"/>
              </a:rPr>
              <a:t>, we construct a subgroup of order </a:t>
            </a:r>
            <a:r>
              <a:rPr lang="en-US" altLang="zh-CN" sz="2400" b="1" i="1" dirty="0">
                <a:solidFill>
                  <a:srgbClr val="0D0D0D"/>
                </a:solidFill>
                <a:effectLst/>
                <a:latin typeface="Trebuchet MS" panose="020B0603020202020204" pitchFamily="34" charset="0"/>
                <a:ea typeface="宋体" panose="02010600030101010101" pitchFamily="2" charset="-122"/>
                <a:cs typeface="Times New Roman" panose="02020603050405020304" pitchFamily="18" charset="0"/>
              </a:rPr>
              <a:t>d</a:t>
            </a:r>
            <a:r>
              <a:rPr lang="en-US" sz="2400" dirty="0">
                <a:latin typeface="Trebuchet MS" panose="020B0603020202020204" pitchFamily="34" charset="0"/>
              </a:rPr>
              <a:t>.</a:t>
            </a:r>
          </a:p>
          <a:p>
            <a:pPr marL="447675" indent="-179388">
              <a:lnSpc>
                <a:spcPct val="120000"/>
              </a:lnSpc>
              <a:spcBef>
                <a:spcPts val="300"/>
              </a:spcBef>
              <a:buClr>
                <a:srgbClr val="0B61FF"/>
              </a:buClr>
              <a:buSzPct val="120000"/>
            </a:pPr>
            <a:r>
              <a:rPr lang="en-US" sz="2400" b="1" dirty="0">
                <a:latin typeface="Trebuchet MS" panose="020B0603020202020204" pitchFamily="34" charset="0"/>
              </a:rPr>
              <a:t>Notes: </a:t>
            </a:r>
          </a:p>
          <a:p>
            <a:pPr marL="268288" indent="0">
              <a:lnSpc>
                <a:spcPct val="120000"/>
              </a:lnSpc>
              <a:spcBef>
                <a:spcPts val="300"/>
              </a:spcBef>
              <a:buClr>
                <a:srgbClr val="0B61FF"/>
              </a:buClr>
              <a:buSzPct val="80000"/>
              <a:buNone/>
            </a:pPr>
            <a:r>
              <a:rPr lang="en-US" altLang="zh-CN" sz="2400" dirty="0">
                <a:latin typeface="Trebuchet MS" panose="020B0603020202020204" pitchFamily="34" charset="0"/>
              </a:rPr>
              <a:t>In the additive group modulo </a:t>
            </a:r>
            <a:r>
              <a:rPr lang="en-US" altLang="zh-CN" sz="2400" b="1" dirty="0">
                <a:latin typeface="Trebuchet MS" panose="020B0603020202020204" pitchFamily="34" charset="0"/>
              </a:rPr>
              <a:t>12</a:t>
            </a:r>
            <a:r>
              <a:rPr lang="en-US" altLang="zh-CN" sz="2400" dirty="0">
                <a:latin typeface="Trebuchet MS" panose="020B0603020202020204" pitchFamily="34" charset="0"/>
              </a:rPr>
              <a:t>, </a:t>
            </a:r>
            <a:r>
              <a:rPr lang="en-US" altLang="zh-CN" sz="2400" b="1" dirty="0">
                <a:latin typeface="Trebuchet MS" panose="020B0603020202020204" pitchFamily="34" charset="0"/>
              </a:rPr>
              <a:t>&lt;</a:t>
            </a:r>
            <a:r>
              <a:rPr lang="en-US" altLang="zh-CN" sz="2400" b="1" i="1" dirty="0">
                <a:latin typeface="Trebuchet MS" panose="020B0603020202020204" pitchFamily="34" charset="0"/>
                <a:cs typeface="Times New Roman" panose="02020603050405020304" pitchFamily="18" charset="0"/>
              </a:rPr>
              <a:t>Z</a:t>
            </a:r>
            <a:r>
              <a:rPr lang="en-US" altLang="zh-CN" sz="2400" b="1" baseline="-25000" dirty="0">
                <a:latin typeface="Trebuchet MS" panose="020B0603020202020204" pitchFamily="34" charset="0"/>
                <a:cs typeface="Times New Roman" panose="02020603050405020304" pitchFamily="18" charset="0"/>
              </a:rPr>
              <a:t>12</a:t>
            </a:r>
            <a:r>
              <a:rPr lang="en-US" altLang="zh-CN" sz="2400" b="1" dirty="0">
                <a:latin typeface="Trebuchet MS" panose="020B0603020202020204" pitchFamily="34" charset="0"/>
              </a:rPr>
              <a:t>,+&gt;</a:t>
            </a:r>
            <a:r>
              <a:rPr lang="en-US" altLang="zh-CN" sz="2400" dirty="0">
                <a:latin typeface="Trebuchet MS" panose="020B0603020202020204" pitchFamily="34" charset="0"/>
              </a:rPr>
              <a:t>, a nonempty subset </a:t>
            </a:r>
            <a:r>
              <a:rPr lang="en-US" altLang="zh-CN" sz="2400" b="1" i="1" dirty="0">
                <a:latin typeface="Trebuchet MS" panose="020B0603020202020204" pitchFamily="34" charset="0"/>
              </a:rPr>
              <a:t>H</a:t>
            </a:r>
            <a:r>
              <a:rPr lang="en-US" altLang="zh-CN" sz="2400" dirty="0">
                <a:latin typeface="Trebuchet MS" panose="020B0603020202020204" pitchFamily="34" charset="0"/>
              </a:rPr>
              <a:t> is a subgroup if and only if: </a:t>
            </a:r>
          </a:p>
          <a:p>
            <a:pPr marL="268288" indent="0">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ea typeface="宋体" panose="02010600030101010101" pitchFamily="2" charset="-122"/>
              </a:rPr>
              <a:t>① </a:t>
            </a:r>
            <a:r>
              <a:rPr lang="en-US" altLang="zh-CN" sz="2400" dirty="0">
                <a:latin typeface="Trebuchet MS" panose="020B0603020202020204" pitchFamily="34" charset="0"/>
              </a:rPr>
              <a:t>It contains the identity element </a:t>
            </a:r>
            <a:r>
              <a:rPr lang="en-US" altLang="zh-CN" sz="2400" b="1" dirty="0">
                <a:latin typeface="Trebuchet MS" panose="020B0603020202020204" pitchFamily="34" charset="0"/>
              </a:rPr>
              <a:t>0</a:t>
            </a:r>
            <a:r>
              <a:rPr lang="en-US" altLang="zh-CN" sz="2400" dirty="0">
                <a:latin typeface="Trebuchet MS" panose="020B0603020202020204" pitchFamily="34" charset="0"/>
              </a:rPr>
              <a:t>. </a:t>
            </a:r>
          </a:p>
          <a:p>
            <a:pPr marL="628650" indent="-360363">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ea typeface="宋体" panose="02010600030101010101" pitchFamily="2" charset="-122"/>
              </a:rPr>
              <a:t>②</a:t>
            </a:r>
            <a:r>
              <a:rPr lang="en-US" altLang="zh-CN" sz="2400" dirty="0">
                <a:latin typeface="Trebuchet MS" panose="020B0603020202020204" pitchFamily="34" charset="0"/>
                <a:ea typeface="宋体" panose="02010600030101010101" pitchFamily="2" charset="-122"/>
              </a:rPr>
              <a:t> </a:t>
            </a:r>
            <a:r>
              <a:rPr lang="en-US" altLang="zh-CN" sz="2400" dirty="0">
                <a:latin typeface="Trebuchet MS" panose="020B0603020202020204" pitchFamily="34" charset="0"/>
              </a:rPr>
              <a:t>It is closed under addition modulo 12: if </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H</a:t>
            </a:r>
            <a:r>
              <a:rPr lang="en-US" altLang="zh-CN" sz="2400" dirty="0">
                <a:latin typeface="Trebuchet MS" panose="020B0603020202020204" pitchFamily="34" charset="0"/>
              </a:rPr>
              <a:t>, then (</a:t>
            </a:r>
            <a:r>
              <a:rPr lang="en-US" altLang="zh-CN" sz="2400" b="1" i="1" dirty="0">
                <a:latin typeface="Trebuchet MS" panose="020B0603020202020204" pitchFamily="34" charset="0"/>
              </a:rPr>
              <a:t>a</a:t>
            </a:r>
            <a:r>
              <a:rPr lang="en-US" altLang="zh-CN" sz="2400" b="1" dirty="0">
                <a:latin typeface="Trebuchet MS" panose="020B0603020202020204" pitchFamily="34" charset="0"/>
              </a:rPr>
              <a:t> + </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dirty="0">
                <a:latin typeface="Trebuchet MS" panose="020B0603020202020204" pitchFamily="34" charset="0"/>
              </a:rPr>
              <a:t>mod </a:t>
            </a:r>
            <a:r>
              <a:rPr lang="en-US" altLang="zh-CN" sz="2400" b="1" dirty="0">
                <a:latin typeface="Trebuchet MS" panose="020B0603020202020204" pitchFamily="34" charset="0"/>
              </a:rPr>
              <a:t>12∈</a:t>
            </a:r>
            <a:r>
              <a:rPr lang="en-US" altLang="zh-CN" sz="2400" b="1" i="1" dirty="0">
                <a:latin typeface="Trebuchet MS" panose="020B0603020202020204" pitchFamily="34" charset="0"/>
              </a:rPr>
              <a:t>H</a:t>
            </a:r>
            <a:r>
              <a:rPr lang="en-US" altLang="zh-CN" sz="2400" dirty="0">
                <a:latin typeface="Trebuchet MS" panose="020B0603020202020204" pitchFamily="34" charset="0"/>
              </a:rPr>
              <a:t>. </a:t>
            </a:r>
          </a:p>
          <a:p>
            <a:pPr marL="268288" indent="0">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ea typeface="宋体" panose="02010600030101010101" pitchFamily="2" charset="-122"/>
              </a:rPr>
              <a:t>③ </a:t>
            </a:r>
            <a:r>
              <a:rPr lang="en-US" altLang="zh-CN" sz="2400" dirty="0">
                <a:latin typeface="Trebuchet MS" panose="020B0603020202020204" pitchFamily="34" charset="0"/>
              </a:rPr>
              <a:t>It contains additive inverses: for every </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H</a:t>
            </a:r>
            <a:r>
              <a:rPr lang="en-US" altLang="zh-CN" sz="2400" dirty="0">
                <a:latin typeface="Trebuchet MS" panose="020B0603020202020204" pitchFamily="34" charset="0"/>
              </a:rPr>
              <a:t>, </a:t>
            </a:r>
            <a:r>
              <a:rPr lang="en-US" altLang="zh-CN" sz="2400" b="1" i="1" dirty="0">
                <a:latin typeface="Trebuchet MS" panose="020B0603020202020204" pitchFamily="34" charset="0"/>
              </a:rPr>
              <a:t>−a</a:t>
            </a:r>
            <a:r>
              <a:rPr lang="en-US" altLang="zh-CN" sz="2400" dirty="0">
                <a:latin typeface="Trebuchet MS" panose="020B0603020202020204" pitchFamily="34" charset="0"/>
              </a:rPr>
              <a:t> mod  </a:t>
            </a:r>
            <a:r>
              <a:rPr lang="en-US" altLang="zh-CN" sz="2400" b="1" dirty="0">
                <a:latin typeface="Trebuchet MS" panose="020B0603020202020204" pitchFamily="34" charset="0"/>
              </a:rPr>
              <a:t>12</a:t>
            </a:r>
            <a:r>
              <a:rPr lang="en-US" altLang="zh-CN" sz="2400" dirty="0">
                <a:latin typeface="Trebuchet MS" panose="020B0603020202020204" pitchFamily="34" charset="0"/>
              </a:rPr>
              <a:t>∈</a:t>
            </a:r>
            <a:r>
              <a:rPr lang="en-US" altLang="zh-CN" sz="2400" b="1" i="1" dirty="0">
                <a:latin typeface="Trebuchet MS" panose="020B0603020202020204" pitchFamily="34" charset="0"/>
              </a:rPr>
              <a:t>H</a:t>
            </a:r>
            <a:r>
              <a:rPr lang="en-US" altLang="zh-CN" sz="2400" dirty="0">
                <a:latin typeface="Trebuchet MS" panose="020B0603020202020204" pitchFamily="34" charset="0"/>
              </a:rPr>
              <a:t>.</a:t>
            </a:r>
            <a:endParaRPr lang="en-US" sz="2400" dirty="0">
              <a:latin typeface="Trebuchet MS" panose="020B0603020202020204" pitchFamily="34" charset="0"/>
            </a:endParaRPr>
          </a:p>
        </p:txBody>
      </p:sp>
    </p:spTree>
    <p:extLst>
      <p:ext uri="{BB962C8B-B14F-4D97-AF65-F5344CB8AC3E}">
        <p14:creationId xmlns:p14="http://schemas.microsoft.com/office/powerpoint/2010/main" val="41160052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1000"/>
                                        <p:tgtEl>
                                          <p:spTgt spid="12">
                                            <p:txEl>
                                              <p:pRg st="2" end="2"/>
                                            </p:txEl>
                                          </p:spTgt>
                                        </p:tgtEl>
                                      </p:cBhvr>
                                    </p:animEffect>
                                    <p:anim calcmode="lin" valueType="num">
                                      <p:cBhvr>
                                        <p:cTn id="13"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fade">
                                      <p:cBhvr>
                                        <p:cTn id="17" dur="1000"/>
                                        <p:tgtEl>
                                          <p:spTgt spid="12">
                                            <p:txEl>
                                              <p:pRg st="3" end="3"/>
                                            </p:txEl>
                                          </p:spTgt>
                                        </p:tgtEl>
                                      </p:cBhvr>
                                    </p:animEffect>
                                    <p:anim calcmode="lin" valueType="num">
                                      <p:cBhvr>
                                        <p:cTn id="18"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2">
                                            <p:txEl>
                                              <p:pRg st="4" end="4"/>
                                            </p:txEl>
                                          </p:spTgt>
                                        </p:tgtEl>
                                        <p:attrNameLst>
                                          <p:attrName>style.visibility</p:attrName>
                                        </p:attrNameLst>
                                      </p:cBhvr>
                                      <p:to>
                                        <p:strVal val="visible"/>
                                      </p:to>
                                    </p:set>
                                    <p:animEffect transition="in" filter="fade">
                                      <p:cBhvr>
                                        <p:cTn id="24" dur="1000"/>
                                        <p:tgtEl>
                                          <p:spTgt spid="12">
                                            <p:txEl>
                                              <p:pRg st="4" end="4"/>
                                            </p:txEl>
                                          </p:spTgt>
                                        </p:tgtEl>
                                      </p:cBhvr>
                                    </p:animEffect>
                                    <p:anim calcmode="lin" valueType="num">
                                      <p:cBhvr>
                                        <p:cTn id="25"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2">
                                            <p:txEl>
                                              <p:pRg st="5" end="5"/>
                                            </p:txEl>
                                          </p:spTgt>
                                        </p:tgtEl>
                                        <p:attrNameLst>
                                          <p:attrName>style.visibility</p:attrName>
                                        </p:attrNameLst>
                                      </p:cBhvr>
                                      <p:to>
                                        <p:strVal val="visible"/>
                                      </p:to>
                                    </p:set>
                                    <p:animEffect transition="in" filter="fade">
                                      <p:cBhvr>
                                        <p:cTn id="31" dur="1000"/>
                                        <p:tgtEl>
                                          <p:spTgt spid="12">
                                            <p:txEl>
                                              <p:pRg st="5" end="5"/>
                                            </p:txEl>
                                          </p:spTgt>
                                        </p:tgtEl>
                                      </p:cBhvr>
                                    </p:animEffect>
                                    <p:anim calcmode="lin" valueType="num">
                                      <p:cBhvr>
                                        <p:cTn id="32"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Subgroup Structure Theorem for Cyclic Groups(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1" name="Rectangle 2">
            <a:extLst>
              <a:ext uri="{FF2B5EF4-FFF2-40B4-BE49-F238E27FC236}">
                <a16:creationId xmlns:a16="http://schemas.microsoft.com/office/drawing/2014/main" id="{70D1E40B-BE16-4C4E-924D-474B5DE5FB28}"/>
              </a:ext>
            </a:extLst>
          </p:cNvPr>
          <p:cNvSpPr txBox="1">
            <a:spLocks noChangeArrowheads="1"/>
          </p:cNvSpPr>
          <p:nvPr/>
        </p:nvSpPr>
        <p:spPr>
          <a:xfrm>
            <a:off x="564949" y="743639"/>
            <a:ext cx="11089079"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Construct subgroups of </a:t>
            </a:r>
            <a:r>
              <a:rPr lang="en-US" altLang="zh-CN" sz="2400" b="1" i="1" dirty="0">
                <a:latin typeface="Trebuchet MS" panose="020B0603020202020204" pitchFamily="34" charset="0"/>
                <a:cs typeface="Times New Roman" panose="02020603050405020304" pitchFamily="18" charset="0"/>
              </a:rPr>
              <a:t>Z</a:t>
            </a:r>
            <a:r>
              <a:rPr lang="en-US" altLang="zh-CN" sz="2400" b="1" baseline="-25000" dirty="0">
                <a:latin typeface="Trebuchet MS" panose="020B0603020202020204" pitchFamily="34" charset="0"/>
                <a:cs typeface="Times New Roman" panose="02020603050405020304" pitchFamily="18" charset="0"/>
              </a:rPr>
              <a:t>12 </a:t>
            </a:r>
            <a:r>
              <a:rPr lang="en-US" altLang="zh-CN" sz="2400" b="1" dirty="0">
                <a:latin typeface="Trebuchet MS" panose="020B0603020202020204" pitchFamily="34" charset="0"/>
              </a:rPr>
              <a:t>by divisors of 12</a:t>
            </a:r>
            <a:r>
              <a:rPr lang="en-US" altLang="zh-CN" sz="2400" dirty="0">
                <a:latin typeface="Trebuchet MS" panose="020B0603020202020204" pitchFamily="34" charset="0"/>
              </a:rPr>
              <a:t>.</a:t>
            </a:r>
          </a:p>
          <a:p>
            <a:pPr marL="360363" indent="-179388">
              <a:lnSpc>
                <a:spcPct val="110000"/>
              </a:lnSpc>
              <a:spcBef>
                <a:spcPts val="0"/>
              </a:spcBef>
              <a:buClr>
                <a:srgbClr val="0B61FF"/>
              </a:buClr>
              <a:buSzPct val="120000"/>
            </a:pPr>
            <a:r>
              <a:rPr lang="en-US" sz="2400" b="1" dirty="0">
                <a:latin typeface="Trebuchet MS" panose="020B0603020202020204" pitchFamily="34" charset="0"/>
              </a:rPr>
              <a:t>Order 1 subgroup</a:t>
            </a:r>
            <a:r>
              <a:rPr lang="en-US" altLang="zh-CN"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solidFill>
                  <a:srgbClr val="0B61FF"/>
                </a:solidFill>
                <a:latin typeface="Trebuchet MS" panose="020B0603020202020204" pitchFamily="34" charset="0"/>
                <a:cs typeface="Times New Roman" panose="02020603050405020304" pitchFamily="18" charset="0"/>
              </a:rPr>
              <a:t>&lt;12&gt; </a:t>
            </a:r>
            <a:r>
              <a:rPr lang="en-US" altLang="zh-CN" sz="2400" b="1" dirty="0">
                <a:latin typeface="Trebuchet MS" panose="020B0603020202020204" pitchFamily="34" charset="0"/>
                <a:cs typeface="Times New Roman" panose="02020603050405020304" pitchFamily="18" charset="0"/>
              </a:rPr>
              <a:t>= &lt;0&gt; = {0}</a:t>
            </a:r>
          </a:p>
          <a:p>
            <a:pPr marL="360363" indent="-179388">
              <a:lnSpc>
                <a:spcPct val="110000"/>
              </a:lnSpc>
              <a:spcBef>
                <a:spcPts val="0"/>
              </a:spcBef>
              <a:buClr>
                <a:srgbClr val="0B61FF"/>
              </a:buClr>
              <a:buSzPct val="120000"/>
            </a:pPr>
            <a:r>
              <a:rPr lang="en-US" sz="2400" b="1" dirty="0">
                <a:latin typeface="Trebuchet MS" panose="020B0603020202020204" pitchFamily="34" charset="0"/>
              </a:rPr>
              <a:t>Order 2 subgroup: </a:t>
            </a:r>
            <a:r>
              <a:rPr lang="en-US" sz="2400" dirty="0">
                <a:latin typeface="Trebuchet MS" panose="020B0603020202020204" pitchFamily="34" charset="0"/>
              </a:rPr>
              <a:t>Divide 12 by its divisor 2 to get the generator 6. </a:t>
            </a:r>
            <a:r>
              <a:rPr lang="en-US" altLang="zh-CN" sz="2400" b="1" dirty="0">
                <a:solidFill>
                  <a:srgbClr val="0B61FF"/>
                </a:solidFill>
                <a:latin typeface="Trebuchet MS" panose="020B0603020202020204" pitchFamily="34" charset="0"/>
                <a:cs typeface="Times New Roman" panose="02020603050405020304" pitchFamily="18" charset="0"/>
              </a:rPr>
              <a:t>&lt;6&gt;</a:t>
            </a:r>
            <a:r>
              <a:rPr lang="en-US" altLang="zh-CN" sz="2400" b="1" dirty="0">
                <a:latin typeface="Trebuchet MS" panose="020B0603020202020204" pitchFamily="34" charset="0"/>
                <a:cs typeface="Times New Roman" panose="02020603050405020304" pitchFamily="18" charset="0"/>
              </a:rPr>
              <a:t> = { 0, 6 }</a:t>
            </a:r>
          </a:p>
          <a:p>
            <a:pPr marL="360363" indent="-179388">
              <a:lnSpc>
                <a:spcPct val="110000"/>
              </a:lnSpc>
              <a:spcBef>
                <a:spcPts val="0"/>
              </a:spcBef>
              <a:buClr>
                <a:srgbClr val="0B61FF"/>
              </a:buClr>
              <a:buSzPct val="120000"/>
            </a:pPr>
            <a:r>
              <a:rPr lang="en-US" sz="2400" b="1" dirty="0">
                <a:latin typeface="Trebuchet MS" panose="020B0603020202020204" pitchFamily="34" charset="0"/>
              </a:rPr>
              <a:t>Order 3 </a:t>
            </a:r>
            <a:r>
              <a:rPr lang="en-US" sz="2400" b="1" dirty="0" err="1">
                <a:latin typeface="Trebuchet MS" panose="020B0603020202020204" pitchFamily="34" charset="0"/>
              </a:rPr>
              <a:t>subgroup:</a:t>
            </a:r>
            <a:r>
              <a:rPr lang="en-US" sz="2400" dirty="0" err="1">
                <a:latin typeface="Trebuchet MS" panose="020B0603020202020204" pitchFamily="34" charset="0"/>
              </a:rPr>
              <a:t>Divide</a:t>
            </a:r>
            <a:r>
              <a:rPr lang="en-US" sz="2400" dirty="0">
                <a:latin typeface="Trebuchet MS" panose="020B0603020202020204" pitchFamily="34" charset="0"/>
              </a:rPr>
              <a:t> 12 by 3 to get the generator 4.</a:t>
            </a:r>
            <a:r>
              <a:rPr lang="en-US" altLang="zh-CN" sz="2400" b="1" dirty="0">
                <a:solidFill>
                  <a:srgbClr val="0B61FF"/>
                </a:solidFill>
                <a:latin typeface="Trebuchet MS" panose="020B0603020202020204" pitchFamily="34" charset="0"/>
                <a:cs typeface="Times New Roman" panose="02020603050405020304" pitchFamily="18" charset="0"/>
              </a:rPr>
              <a:t>&lt;4&gt;</a:t>
            </a:r>
            <a:r>
              <a:rPr lang="en-US" altLang="zh-CN" sz="2400" b="1" dirty="0">
                <a:latin typeface="Trebuchet MS" panose="020B0603020202020204" pitchFamily="34" charset="0"/>
                <a:cs typeface="Times New Roman" panose="02020603050405020304" pitchFamily="18" charset="0"/>
              </a:rPr>
              <a:t> = {0, 4, 8 }</a:t>
            </a:r>
          </a:p>
          <a:p>
            <a:pPr marL="360363" indent="-179388">
              <a:lnSpc>
                <a:spcPct val="110000"/>
              </a:lnSpc>
              <a:spcBef>
                <a:spcPts val="0"/>
              </a:spcBef>
              <a:buClr>
                <a:srgbClr val="0B61FF"/>
              </a:buClr>
              <a:buSzPct val="120000"/>
            </a:pPr>
            <a:r>
              <a:rPr lang="en-US" sz="2400" b="1" dirty="0">
                <a:latin typeface="Trebuchet MS" panose="020B0603020202020204" pitchFamily="34" charset="0"/>
              </a:rPr>
              <a:t>Order 4 </a:t>
            </a:r>
            <a:r>
              <a:rPr lang="en-US" sz="2400" b="1" dirty="0" err="1">
                <a:latin typeface="Trebuchet MS" panose="020B0603020202020204" pitchFamily="34" charset="0"/>
              </a:rPr>
              <a:t>subgroup:</a:t>
            </a:r>
            <a:r>
              <a:rPr lang="en-US" sz="2400" dirty="0" err="1">
                <a:latin typeface="Trebuchet MS" panose="020B0603020202020204" pitchFamily="34" charset="0"/>
              </a:rPr>
              <a:t>Divide</a:t>
            </a:r>
            <a:r>
              <a:rPr lang="en-US" sz="2400" dirty="0">
                <a:latin typeface="Trebuchet MS" panose="020B0603020202020204" pitchFamily="34" charset="0"/>
              </a:rPr>
              <a:t> 12 by 4 to get the generator 3.</a:t>
            </a:r>
            <a:r>
              <a:rPr lang="en-US" altLang="zh-CN" sz="2400" b="1" dirty="0">
                <a:latin typeface="Trebuchet MS" panose="020B0603020202020204" pitchFamily="34" charset="0"/>
                <a:cs typeface="Times New Roman" panose="02020603050405020304" pitchFamily="18" charset="0"/>
              </a:rPr>
              <a:t>&lt;</a:t>
            </a:r>
            <a:r>
              <a:rPr lang="en-US" altLang="zh-CN" sz="2400" b="1" dirty="0">
                <a:solidFill>
                  <a:srgbClr val="0B61FF"/>
                </a:solidFill>
                <a:latin typeface="Trebuchet MS" panose="020B0603020202020204" pitchFamily="34" charset="0"/>
                <a:cs typeface="Times New Roman" panose="02020603050405020304" pitchFamily="18" charset="0"/>
              </a:rPr>
              <a:t>3&gt; </a:t>
            </a:r>
            <a:r>
              <a:rPr lang="en-US" altLang="zh-CN" sz="2400" b="1" dirty="0">
                <a:latin typeface="Trebuchet MS" panose="020B0603020202020204" pitchFamily="34" charset="0"/>
                <a:cs typeface="Times New Roman" panose="02020603050405020304" pitchFamily="18" charset="0"/>
              </a:rPr>
              <a:t>= {0, 3, 6, 9 }</a:t>
            </a:r>
          </a:p>
          <a:p>
            <a:pPr marL="360363" indent="-179388">
              <a:lnSpc>
                <a:spcPct val="110000"/>
              </a:lnSpc>
              <a:spcBef>
                <a:spcPts val="0"/>
              </a:spcBef>
              <a:buClr>
                <a:srgbClr val="0B61FF"/>
              </a:buClr>
              <a:buSzPct val="120000"/>
            </a:pPr>
            <a:r>
              <a:rPr lang="en-US" sz="2400" b="1" dirty="0">
                <a:latin typeface="Trebuchet MS" panose="020B0603020202020204" pitchFamily="34" charset="0"/>
              </a:rPr>
              <a:t>Order 6 </a:t>
            </a:r>
            <a:r>
              <a:rPr lang="en-US" sz="2400" b="1" dirty="0" err="1">
                <a:latin typeface="Trebuchet MS" panose="020B0603020202020204" pitchFamily="34" charset="0"/>
              </a:rPr>
              <a:t>subgroup:</a:t>
            </a:r>
            <a:r>
              <a:rPr lang="en-US" sz="2400" dirty="0" err="1">
                <a:latin typeface="Trebuchet MS" panose="020B0603020202020204" pitchFamily="34" charset="0"/>
              </a:rPr>
              <a:t>Divide</a:t>
            </a:r>
            <a:r>
              <a:rPr lang="en-US" sz="2400" dirty="0">
                <a:latin typeface="Trebuchet MS" panose="020B0603020202020204" pitchFamily="34" charset="0"/>
              </a:rPr>
              <a:t> 12 by 6 to get the generator 2.</a:t>
            </a:r>
            <a:r>
              <a:rPr lang="en-US" altLang="zh-CN" sz="2400" b="1" dirty="0">
                <a:solidFill>
                  <a:srgbClr val="0B61FF"/>
                </a:solidFill>
                <a:latin typeface="Trebuchet MS" panose="020B0603020202020204" pitchFamily="34" charset="0"/>
                <a:cs typeface="Times New Roman" panose="02020603050405020304" pitchFamily="18" charset="0"/>
              </a:rPr>
              <a:t>&lt;6&gt; </a:t>
            </a:r>
            <a:r>
              <a:rPr lang="en-US" altLang="zh-CN" sz="2400" b="1" dirty="0">
                <a:latin typeface="Trebuchet MS" panose="020B0603020202020204" pitchFamily="34" charset="0"/>
                <a:cs typeface="Times New Roman" panose="02020603050405020304" pitchFamily="18" charset="0"/>
              </a:rPr>
              <a:t>= {0, 2, 4, 6, 8, 10 }</a:t>
            </a:r>
          </a:p>
          <a:p>
            <a:pPr marL="360363" indent="-179388">
              <a:lnSpc>
                <a:spcPct val="110000"/>
              </a:lnSpc>
              <a:spcBef>
                <a:spcPts val="0"/>
              </a:spcBef>
              <a:buClr>
                <a:srgbClr val="0B61FF"/>
              </a:buClr>
              <a:buSzPct val="120000"/>
            </a:pPr>
            <a:r>
              <a:rPr lang="en-US" sz="2400" b="1" dirty="0">
                <a:latin typeface="Trebuchet MS" panose="020B0603020202020204" pitchFamily="34" charset="0"/>
              </a:rPr>
              <a:t>Order 12 subgroup: </a:t>
            </a:r>
            <a:r>
              <a:rPr lang="en-US" sz="2400" dirty="0">
                <a:latin typeface="Trebuchet MS" panose="020B0603020202020204" pitchFamily="34" charset="0"/>
              </a:rPr>
              <a:t>Divide 12 by 12 to get the generator 1.</a:t>
            </a:r>
            <a:r>
              <a:rPr lang="en-US" altLang="zh-CN" sz="2400" b="1" dirty="0">
                <a:solidFill>
                  <a:srgbClr val="0B61FF"/>
                </a:solidFill>
                <a:latin typeface="Trebuchet MS" panose="020B0603020202020204" pitchFamily="34" charset="0"/>
                <a:cs typeface="Times New Roman" panose="02020603050405020304" pitchFamily="18" charset="0"/>
              </a:rPr>
              <a:t>&lt;1&gt; </a:t>
            </a:r>
            <a:r>
              <a:rPr lang="en-US" altLang="zh-CN" sz="2400" b="1" dirty="0">
                <a:latin typeface="Trebuchet MS" panose="020B0603020202020204" pitchFamily="34" charset="0"/>
                <a:cs typeface="Times New Roman" panose="02020603050405020304" pitchFamily="18" charset="0"/>
              </a:rPr>
              <a:t>= Z</a:t>
            </a:r>
            <a:r>
              <a:rPr lang="en-US" altLang="zh-CN" sz="2400" b="1" baseline="-25000" dirty="0">
                <a:latin typeface="Trebuchet MS" panose="020B0603020202020204" pitchFamily="34" charset="0"/>
                <a:cs typeface="Times New Roman" panose="02020603050405020304" pitchFamily="18" charset="0"/>
              </a:rPr>
              <a:t>12</a:t>
            </a:r>
            <a:r>
              <a:rPr lang="en-US" altLang="zh-CN" sz="2400" b="1" dirty="0">
                <a:latin typeface="Trebuchet MS" panose="020B0603020202020204" pitchFamily="34" charset="0"/>
                <a:cs typeface="Times New Roman" panose="02020603050405020304" pitchFamily="18" charset="0"/>
              </a:rPr>
              <a:t> </a:t>
            </a:r>
          </a:p>
          <a:p>
            <a:pPr>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Verification of ⟨4⟩: </a:t>
            </a:r>
            <a:r>
              <a:rPr lang="en-US" altLang="zh-CN" sz="2400" b="1" dirty="0">
                <a:solidFill>
                  <a:srgbClr val="0B61FF"/>
                </a:solidFill>
                <a:latin typeface="Trebuchet MS" panose="020B0603020202020204" pitchFamily="34" charset="0"/>
                <a:ea typeface="宋体" panose="02010600030101010101" pitchFamily="2" charset="-122"/>
              </a:rPr>
              <a:t>①</a:t>
            </a:r>
            <a:r>
              <a:rPr lang="en-US" altLang="zh-CN" sz="2400" b="1" dirty="0">
                <a:latin typeface="Trebuchet MS" panose="020B0603020202020204" pitchFamily="34" charset="0"/>
              </a:rPr>
              <a:t>Closure</a:t>
            </a:r>
            <a:r>
              <a:rPr lang="en-US" altLang="zh-CN" sz="2400" dirty="0">
                <a:latin typeface="Trebuchet MS" panose="020B0603020202020204" pitchFamily="34" charset="0"/>
              </a:rPr>
              <a:t>: For any two elements in the set {0,3,6,9}, their sum  is still in the set. </a:t>
            </a:r>
            <a:r>
              <a:rPr lang="en-US" altLang="zh-CN" sz="2400" b="1" dirty="0">
                <a:solidFill>
                  <a:srgbClr val="0B61FF"/>
                </a:solidFill>
                <a:latin typeface="Trebuchet MS" panose="020B0603020202020204" pitchFamily="34" charset="0"/>
                <a:ea typeface="宋体" panose="02010600030101010101" pitchFamily="2" charset="-122"/>
              </a:rPr>
              <a:t>② </a:t>
            </a:r>
            <a:r>
              <a:rPr lang="en-US" altLang="zh-CN" sz="2400" b="1" dirty="0">
                <a:latin typeface="Trebuchet MS" panose="020B0603020202020204" pitchFamily="34" charset="0"/>
              </a:rPr>
              <a:t>Inverses</a:t>
            </a:r>
            <a:r>
              <a:rPr lang="en-US" altLang="zh-CN" sz="2400" dirty="0">
                <a:latin typeface="Trebuchet MS" panose="020B0603020202020204" pitchFamily="34" charset="0"/>
              </a:rPr>
              <a:t>: The inverse of 0 is 0(0+0=0). The inverse of 3 is 9(3+9=12≡0mod  12) .  The inverse of 6 is 6(6+6=12≡0mod  12).  The inverse of 9 is 3(9+3=12≡0mod  12) . All inverses are contained in the set.</a:t>
            </a:r>
            <a:r>
              <a:rPr lang="en-US" altLang="zh-CN" sz="2400" b="1" dirty="0">
                <a:latin typeface="Trebuchet MS" panose="020B0603020202020204" pitchFamily="34" charset="0"/>
                <a:cs typeface="Times New Roman" panose="02020603050405020304" pitchFamily="18" charset="0"/>
              </a:rPr>
              <a:t>   </a:t>
            </a:r>
          </a:p>
        </p:txBody>
      </p:sp>
    </p:spTree>
    <p:extLst>
      <p:ext uri="{BB962C8B-B14F-4D97-AF65-F5344CB8AC3E}">
        <p14:creationId xmlns:p14="http://schemas.microsoft.com/office/powerpoint/2010/main" val="30109895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3" end="3"/>
                                            </p:txEl>
                                          </p:spTgt>
                                        </p:tgtEl>
                                        <p:attrNameLst>
                                          <p:attrName>style.visibility</p:attrName>
                                        </p:attrNameLst>
                                      </p:cBhvr>
                                      <p:to>
                                        <p:strVal val="visible"/>
                                      </p:to>
                                    </p:set>
                                    <p:animEffect transition="in" filter="fade">
                                      <p:cBhvr>
                                        <p:cTn id="14" dur="1000"/>
                                        <p:tgtEl>
                                          <p:spTgt spid="11">
                                            <p:txEl>
                                              <p:pRg st="3" end="3"/>
                                            </p:txEl>
                                          </p:spTgt>
                                        </p:tgtEl>
                                      </p:cBhvr>
                                    </p:animEffect>
                                    <p:anim calcmode="lin" valueType="num">
                                      <p:cBhvr>
                                        <p:cTn id="15"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fade">
                                      <p:cBhvr>
                                        <p:cTn id="19" dur="1000"/>
                                        <p:tgtEl>
                                          <p:spTgt spid="11">
                                            <p:txEl>
                                              <p:pRg st="4" end="4"/>
                                            </p:txEl>
                                          </p:spTgt>
                                        </p:tgtEl>
                                      </p:cBhvr>
                                    </p:animEffect>
                                    <p:anim calcmode="lin" valueType="num">
                                      <p:cBhvr>
                                        <p:cTn id="20"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1">
                                            <p:txEl>
                                              <p:pRg st="5" end="5"/>
                                            </p:txEl>
                                          </p:spTgt>
                                        </p:tgtEl>
                                        <p:attrNameLst>
                                          <p:attrName>style.visibility</p:attrName>
                                        </p:attrNameLst>
                                      </p:cBhvr>
                                      <p:to>
                                        <p:strVal val="visible"/>
                                      </p:to>
                                    </p:set>
                                    <p:animEffect transition="in" filter="fade">
                                      <p:cBhvr>
                                        <p:cTn id="26" dur="1000"/>
                                        <p:tgtEl>
                                          <p:spTgt spid="11">
                                            <p:txEl>
                                              <p:pRg st="5" end="5"/>
                                            </p:txEl>
                                          </p:spTgt>
                                        </p:tgtEl>
                                      </p:cBhvr>
                                    </p:animEffect>
                                    <p:anim calcmode="lin" valueType="num">
                                      <p:cBhvr>
                                        <p:cTn id="27"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1">
                                            <p:txEl>
                                              <p:pRg st="5" end="5"/>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animEffect transition="in" filter="fade">
                                      <p:cBhvr>
                                        <p:cTn id="31" dur="1000"/>
                                        <p:tgtEl>
                                          <p:spTgt spid="11">
                                            <p:txEl>
                                              <p:pRg st="6" end="6"/>
                                            </p:txEl>
                                          </p:spTgt>
                                        </p:tgtEl>
                                      </p:cBhvr>
                                    </p:animEffect>
                                    <p:anim calcmode="lin" valueType="num">
                                      <p:cBhvr>
                                        <p:cTn id="32"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1">
                                            <p:txEl>
                                              <p:pRg st="7" end="7"/>
                                            </p:txEl>
                                          </p:spTgt>
                                        </p:tgtEl>
                                        <p:attrNameLst>
                                          <p:attrName>style.visibility</p:attrName>
                                        </p:attrNameLst>
                                      </p:cBhvr>
                                      <p:to>
                                        <p:strVal val="visible"/>
                                      </p:to>
                                    </p:set>
                                    <p:animEffect transition="in" filter="fade">
                                      <p:cBhvr>
                                        <p:cTn id="38" dur="1000"/>
                                        <p:tgtEl>
                                          <p:spTgt spid="11">
                                            <p:txEl>
                                              <p:pRg st="7" end="7"/>
                                            </p:txEl>
                                          </p:spTgt>
                                        </p:tgtEl>
                                      </p:cBhvr>
                                    </p:animEffect>
                                    <p:anim calcmode="lin" valueType="num">
                                      <p:cBhvr>
                                        <p:cTn id="39"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40"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An </a:t>
            </a:r>
            <a:r>
              <a:rPr lang="en-US" altLang="zh-CN" sz="2400" b="1" i="1" dirty="0">
                <a:latin typeface="Trebuchet MS" panose="020B0603020202020204" pitchFamily="34" charset="0"/>
              </a:rPr>
              <a:t>n</a:t>
            </a:r>
            <a:r>
              <a:rPr lang="en-US" altLang="zh-CN" sz="2400" b="1" dirty="0">
                <a:latin typeface="Trebuchet MS" panose="020B0603020202020204" pitchFamily="34" charset="0"/>
              </a:rPr>
              <a:t>-permutation on the set 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5" name="Rectangle 3">
            <a:extLst>
              <a:ext uri="{FF2B5EF4-FFF2-40B4-BE49-F238E27FC236}">
                <a16:creationId xmlns:a16="http://schemas.microsoft.com/office/drawing/2014/main" id="{94A10449-72CB-4E39-82B8-E61C558B2069}"/>
              </a:ext>
            </a:extLst>
          </p:cNvPr>
          <p:cNvSpPr txBox="1">
            <a:spLocks noChangeArrowheads="1"/>
          </p:cNvSpPr>
          <p:nvPr/>
        </p:nvSpPr>
        <p:spPr>
          <a:xfrm>
            <a:off x="1000125" y="879005"/>
            <a:ext cx="9760403" cy="48418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 </a:t>
            </a:r>
            <a:r>
              <a:rPr lang="en-US" altLang="zh-CN" sz="2400" b="1" dirty="0">
                <a:latin typeface="Trebuchet MS" panose="020B0603020202020204" pitchFamily="34" charset="0"/>
                <a:cs typeface="Times New Roman" panose="02020603050405020304" pitchFamily="18" charset="0"/>
              </a:rPr>
              <a:t>9.20:  </a:t>
            </a:r>
            <a:r>
              <a:rPr lang="en-US" sz="2400" dirty="0">
                <a:latin typeface="Trebuchet MS" panose="020B0603020202020204" pitchFamily="34" charset="0"/>
              </a:rPr>
              <a:t>Let </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S </a:t>
            </a:r>
            <a:r>
              <a:rPr lang="en-US" altLang="zh-CN" sz="2400" b="1" dirty="0">
                <a:latin typeface="Trebuchet MS" panose="020B0603020202020204" pitchFamily="34" charset="0"/>
                <a:cs typeface="Times New Roman" panose="02020603050405020304" pitchFamily="18" charset="0"/>
              </a:rPr>
              <a:t>= { 1, 2, … , </a:t>
            </a:r>
            <a:r>
              <a:rPr lang="en-US" altLang="zh-CN" sz="2400" b="1" i="1" dirty="0">
                <a:latin typeface="Trebuchet MS" panose="020B0603020202020204" pitchFamily="34" charset="0"/>
                <a:cs typeface="Times New Roman" panose="02020603050405020304" pitchFamily="18" charset="0"/>
              </a:rPr>
              <a:t>n </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A bijective function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S</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S </a:t>
            </a:r>
            <a:r>
              <a:rPr lang="en-US" sz="2400" dirty="0">
                <a:latin typeface="Trebuchet MS" panose="020B0603020202020204" pitchFamily="34" charset="0"/>
              </a:rPr>
              <a:t>is called a </a:t>
            </a:r>
            <a:r>
              <a:rPr lang="en-US" sz="2400" b="1" dirty="0">
                <a:latin typeface="Trebuchet MS" panose="020B0603020202020204" pitchFamily="34" charset="0"/>
              </a:rPr>
              <a:t>permutation</a:t>
            </a:r>
            <a:r>
              <a:rPr lang="en-US" sz="2400" dirty="0">
                <a:latin typeface="Trebuchet MS" panose="020B0603020202020204" pitchFamily="34" charset="0"/>
              </a:rPr>
              <a:t> of the set </a:t>
            </a:r>
            <a:r>
              <a:rPr lang="en-US" altLang="zh-CN" sz="2400" b="1" i="1" dirty="0">
                <a:latin typeface="Trebuchet MS" panose="020B0603020202020204" pitchFamily="34" charset="0"/>
                <a:cs typeface="Times New Roman" panose="02020603050405020304" pitchFamily="18" charset="0"/>
              </a:rPr>
              <a:t>S</a:t>
            </a:r>
            <a:r>
              <a:rPr lang="en-US" sz="2400" dirty="0">
                <a:latin typeface="Trebuchet MS" panose="020B0603020202020204" pitchFamily="34" charset="0"/>
              </a:rPr>
              <a:t>, and is referred to as an </a:t>
            </a:r>
            <a:r>
              <a:rPr lang="en-US" sz="2400" b="1" i="1" dirty="0">
                <a:solidFill>
                  <a:srgbClr val="0B61FF"/>
                </a:solidFill>
                <a:latin typeface="Trebuchet MS" panose="020B0603020202020204" pitchFamily="34" charset="0"/>
              </a:rPr>
              <a:t>n-permutation</a:t>
            </a:r>
            <a:r>
              <a:rPr lang="en-US" sz="2400" dirty="0">
                <a:latin typeface="Trebuchet MS" panose="020B0603020202020204" pitchFamily="34" charset="0"/>
              </a:rPr>
              <a:t>.</a:t>
            </a:r>
          </a:p>
          <a:p>
            <a:pPr marL="0" indent="265113">
              <a:lnSpc>
                <a:spcPct val="120000"/>
              </a:lnSpc>
              <a:spcBef>
                <a:spcPts val="600"/>
              </a:spcBef>
              <a:buClr>
                <a:srgbClr val="0B61FF"/>
              </a:buClr>
              <a:buSzPct val="80000"/>
              <a:buNone/>
            </a:pPr>
            <a:r>
              <a:rPr lang="en-US" sz="2400" dirty="0">
                <a:latin typeface="Trebuchet MS" panose="020B0603020202020204" pitchFamily="34" charset="0"/>
              </a:rPr>
              <a:t>An </a:t>
            </a:r>
            <a:r>
              <a:rPr lang="en-US" altLang="zh-CN" sz="2400" b="1" i="1" dirty="0">
                <a:latin typeface="Trebuchet MS" panose="020B0603020202020204" pitchFamily="34" charset="0"/>
                <a:cs typeface="Times New Roman" panose="02020603050405020304" pitchFamily="18" charset="0"/>
              </a:rPr>
              <a:t>n</a:t>
            </a:r>
            <a:r>
              <a:rPr lang="en-US" sz="2400" dirty="0">
                <a:latin typeface="Trebuchet MS" panose="020B0603020202020204" pitchFamily="34" charset="0"/>
              </a:rPr>
              <a:t>-permutation</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is usually written as:</a:t>
            </a: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a:lnSpc>
                <a:spcPct val="120000"/>
              </a:lnSpc>
              <a:spcBef>
                <a:spcPts val="600"/>
              </a:spcBef>
              <a:buClr>
                <a:srgbClr val="0B61FF"/>
              </a:buClr>
              <a:buSzPct val="80000"/>
              <a:buFont typeface="Wingdings" panose="05000000000000000000" pitchFamily="2" charset="2"/>
              <a:buChar char="n"/>
            </a:pPr>
            <a:r>
              <a:rPr lang="en-US" altLang="zh-CN" sz="2400" b="1" dirty="0">
                <a:latin typeface="Times New Roman" panose="02020603050405020304" pitchFamily="18" charset="0"/>
                <a:cs typeface="Times New Roman" panose="02020603050405020304" pitchFamily="18" charset="0"/>
              </a:rPr>
              <a:t>Example: </a:t>
            </a:r>
            <a:r>
              <a:rPr lang="en-US" altLang="zh-CN" sz="2400" b="1" i="1" dirty="0">
                <a:latin typeface="Times New Roman" panose="02020603050405020304" pitchFamily="18" charset="0"/>
                <a:cs typeface="Times New Roman" panose="02020603050405020304" pitchFamily="18" charset="0"/>
              </a:rPr>
              <a:t>S</a:t>
            </a:r>
            <a:r>
              <a:rPr lang="en-US" altLang="zh-CN" sz="2400" b="1" dirty="0">
                <a:latin typeface="Times New Roman" panose="02020603050405020304" pitchFamily="18" charset="0"/>
                <a:cs typeface="Times New Roman" panose="02020603050405020304" pitchFamily="18" charset="0"/>
              </a:rPr>
              <a:t> = { 1, 2, 3, 4, 5 }, then</a:t>
            </a:r>
          </a:p>
          <a:p>
            <a:pPr>
              <a:lnSpc>
                <a:spcPct val="120000"/>
              </a:lnSpc>
              <a:spcBef>
                <a:spcPts val="600"/>
              </a:spcBef>
              <a:buClr>
                <a:srgbClr val="0B61FF"/>
              </a:buClr>
              <a:buSzPct val="80000"/>
              <a:buFont typeface="Wingdings" panose="05000000000000000000" pitchFamily="2" charset="2"/>
              <a:buChar char="n"/>
            </a:pPr>
            <a:endParaRPr lang="en-US" altLang="zh-CN" sz="2400" b="1" dirty="0">
              <a:latin typeface="Times New Roman" panose="02020603050405020304" pitchFamily="18" charset="0"/>
              <a:cs typeface="Times New Roman" panose="02020603050405020304" pitchFamily="18" charset="0"/>
            </a:endParaRPr>
          </a:p>
          <a:p>
            <a:pPr>
              <a:lnSpc>
                <a:spcPct val="120000"/>
              </a:lnSpc>
              <a:spcBef>
                <a:spcPts val="600"/>
              </a:spcBef>
              <a:buClr>
                <a:srgbClr val="0B61FF"/>
              </a:buClr>
              <a:buSzPct val="80000"/>
              <a:buFont typeface="Wingdings" panose="05000000000000000000" pitchFamily="2" charset="2"/>
              <a:buChar char="n"/>
            </a:pPr>
            <a:endParaRPr lang="en-US" altLang="zh-CN" sz="2400" b="1" dirty="0">
              <a:latin typeface="Times New Roman" panose="02020603050405020304" pitchFamily="18" charset="0"/>
              <a:cs typeface="Times New Roman" panose="02020603050405020304" pitchFamily="18" charset="0"/>
            </a:endParaRPr>
          </a:p>
          <a:p>
            <a:pPr marL="0" indent="536575">
              <a:lnSpc>
                <a:spcPct val="120000"/>
              </a:lnSpc>
              <a:spcBef>
                <a:spcPts val="600"/>
              </a:spcBef>
              <a:buClr>
                <a:srgbClr val="0B61FF"/>
              </a:buClr>
              <a:buSzPct val="80000"/>
              <a:buNone/>
              <a:tabLst>
                <a:tab pos="536575" algn="l"/>
              </a:tabLst>
            </a:pPr>
            <a:r>
              <a:rPr lang="en-US" altLang="zh-CN" sz="2400" dirty="0"/>
              <a:t>All are </a:t>
            </a:r>
            <a:r>
              <a:rPr lang="en-US" altLang="zh-CN" sz="2400" b="1" i="1" dirty="0">
                <a:solidFill>
                  <a:srgbClr val="0B61FF"/>
                </a:solidFill>
                <a:latin typeface="Trebuchet MS" panose="020B0603020202020204" pitchFamily="34" charset="0"/>
              </a:rPr>
              <a:t>5-permutations</a:t>
            </a:r>
            <a:r>
              <a:rPr lang="en-US" altLang="zh-CN" sz="2400" dirty="0"/>
              <a:t> on the set </a:t>
            </a:r>
            <a:r>
              <a:rPr lang="en-US" altLang="zh-CN" sz="2400" b="1" i="1" dirty="0">
                <a:latin typeface="Times New Roman" panose="02020603050405020304" pitchFamily="18" charset="0"/>
                <a:cs typeface="Times New Roman" panose="02020603050405020304" pitchFamily="18" charset="0"/>
              </a:rPr>
              <a:t>S</a:t>
            </a:r>
            <a:r>
              <a:rPr lang="en-US" altLang="zh-CN" sz="2400" b="1" dirty="0">
                <a:latin typeface="Times New Roman" panose="02020603050405020304" pitchFamily="18" charset="0"/>
                <a:cs typeface="Times New Roman" panose="02020603050405020304" pitchFamily="18" charset="0"/>
              </a:rPr>
              <a:t>.</a:t>
            </a:r>
          </a:p>
          <a:p>
            <a:pPr marL="0" indent="0">
              <a:lnSpc>
                <a:spcPct val="120000"/>
              </a:lnSpc>
              <a:spcBef>
                <a:spcPts val="300"/>
              </a:spcBef>
              <a:buClr>
                <a:srgbClr val="0B61FF"/>
              </a:buClr>
              <a:buSzPct val="80000"/>
              <a:buNone/>
            </a:pPr>
            <a:br>
              <a:rPr lang="zh-CN" altLang="en-US" sz="2400" b="1" dirty="0">
                <a:latin typeface="Times New Roman" panose="02020603050405020304" pitchFamily="18" charset="0"/>
                <a:cs typeface="Times New Roman" panose="02020603050405020304" pitchFamily="18" charset="0"/>
              </a:rPr>
            </a:br>
            <a:endParaRPr lang="zh-CN" altLang="en-US" sz="2400" b="1" dirty="0">
              <a:latin typeface="Trebuchet MS" panose="020B0603020202020204" pitchFamily="34" charset="0"/>
            </a:endParaRPr>
          </a:p>
        </p:txBody>
      </p:sp>
      <p:graphicFrame>
        <p:nvGraphicFramePr>
          <p:cNvPr id="16" name="Object 4">
            <a:extLst>
              <a:ext uri="{FF2B5EF4-FFF2-40B4-BE49-F238E27FC236}">
                <a16:creationId xmlns:a16="http://schemas.microsoft.com/office/drawing/2014/main" id="{8E0024DD-BA41-4C29-BC9A-CBFBF80D5565}"/>
              </a:ext>
            </a:extLst>
          </p:cNvPr>
          <p:cNvGraphicFramePr>
            <a:graphicFrameLocks noChangeAspect="1"/>
          </p:cNvGraphicFramePr>
          <p:nvPr>
            <p:extLst>
              <p:ext uri="{D42A27DB-BD31-4B8C-83A1-F6EECF244321}">
                <p14:modId xmlns:p14="http://schemas.microsoft.com/office/powerpoint/2010/main" val="2918304690"/>
              </p:ext>
            </p:extLst>
          </p:nvPr>
        </p:nvGraphicFramePr>
        <p:xfrm>
          <a:off x="6978969" y="2081400"/>
          <a:ext cx="2787650" cy="877887"/>
        </p:xfrm>
        <a:graphic>
          <a:graphicData uri="http://schemas.openxmlformats.org/presentationml/2006/ole">
            <mc:AlternateContent xmlns:mc="http://schemas.openxmlformats.org/markup-compatibility/2006">
              <mc:Choice xmlns:v="urn:schemas-microsoft-com:vml" Requires="v">
                <p:oleObj spid="_x0000_s5126" name="Equation" r:id="rId6" imgW="1536700" imgH="431800" progId="Equation.DSMT4">
                  <p:embed/>
                </p:oleObj>
              </mc:Choice>
              <mc:Fallback>
                <p:oleObj name="Equation" r:id="rId6" imgW="1536700" imgH="431800" progId="Equation.DSMT4">
                  <p:embed/>
                  <p:pic>
                    <p:nvPicPr>
                      <p:cNvPr id="16" name="Object 4">
                        <a:extLst>
                          <a:ext uri="{FF2B5EF4-FFF2-40B4-BE49-F238E27FC236}">
                            <a16:creationId xmlns:a16="http://schemas.microsoft.com/office/drawing/2014/main" id="{8E0024DD-BA41-4C29-BC9A-CBFBF80D5565}"/>
                          </a:ext>
                        </a:extLst>
                      </p:cNvPr>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78969" y="2081400"/>
                        <a:ext cx="2787650" cy="877887"/>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Text Box 3">
            <a:extLst>
              <a:ext uri="{FF2B5EF4-FFF2-40B4-BE49-F238E27FC236}">
                <a16:creationId xmlns:a16="http://schemas.microsoft.com/office/drawing/2014/main" id="{F924D06C-FC71-4801-8915-01C5F7666668}"/>
              </a:ext>
            </a:extLst>
          </p:cNvPr>
          <p:cNvSpPr txBox="1">
            <a:spLocks noChangeArrowheads="1"/>
          </p:cNvSpPr>
          <p:nvPr/>
        </p:nvSpPr>
        <p:spPr bwMode="auto">
          <a:xfrm>
            <a:off x="1738654" y="4591134"/>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graphicFrame>
        <p:nvGraphicFramePr>
          <p:cNvPr id="14" name="Object 5">
            <a:extLst>
              <a:ext uri="{FF2B5EF4-FFF2-40B4-BE49-F238E27FC236}">
                <a16:creationId xmlns:a16="http://schemas.microsoft.com/office/drawing/2014/main" id="{31E6BBE0-56D8-4B2D-A0BA-2D3A4C742820}"/>
              </a:ext>
            </a:extLst>
          </p:cNvPr>
          <p:cNvGraphicFramePr>
            <a:graphicFrameLocks noChangeAspect="1"/>
          </p:cNvGraphicFramePr>
          <p:nvPr>
            <p:extLst>
              <p:ext uri="{D42A27DB-BD31-4B8C-83A1-F6EECF244321}">
                <p14:modId xmlns:p14="http://schemas.microsoft.com/office/powerpoint/2010/main" val="3535727744"/>
              </p:ext>
            </p:extLst>
          </p:nvPr>
        </p:nvGraphicFramePr>
        <p:xfrm>
          <a:off x="1637620" y="3374561"/>
          <a:ext cx="6053137" cy="985837"/>
        </p:xfrm>
        <a:graphic>
          <a:graphicData uri="http://schemas.openxmlformats.org/presentationml/2006/ole">
            <mc:AlternateContent xmlns:mc="http://schemas.openxmlformats.org/markup-compatibility/2006">
              <mc:Choice xmlns:v="urn:schemas-microsoft-com:vml" Requires="v">
                <p:oleObj spid="_x0000_s5127" name="Equation" r:id="rId8" imgW="4925160" imgH="698400" progId="Equation.DSMT4">
                  <p:embed/>
                </p:oleObj>
              </mc:Choice>
              <mc:Fallback>
                <p:oleObj name="Equation" r:id="rId8" imgW="4925160" imgH="698400" progId="Equation.DSMT4">
                  <p:embed/>
                  <p:pic>
                    <p:nvPicPr>
                      <p:cNvPr id="14" name="Object 5">
                        <a:extLst>
                          <a:ext uri="{FF2B5EF4-FFF2-40B4-BE49-F238E27FC236}">
                            <a16:creationId xmlns:a16="http://schemas.microsoft.com/office/drawing/2014/main" id="{31E6BBE0-56D8-4B2D-A0BA-2D3A4C742820}"/>
                          </a:ext>
                        </a:extLst>
                      </p:cNvPr>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37620" y="3374561"/>
                        <a:ext cx="6053137" cy="985837"/>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466328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1000"/>
                                        <p:tgtEl>
                                          <p:spTgt spid="15">
                                            <p:txEl>
                                              <p:pRg st="2" end="2"/>
                                            </p:txEl>
                                          </p:spTgt>
                                        </p:tgtEl>
                                      </p:cBhvr>
                                    </p:animEffect>
                                    <p:anim calcmode="lin" valueType="num">
                                      <p:cBhvr>
                                        <p:cTn id="8"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xEl>
                                              <p:pRg st="5" end="5"/>
                                            </p:txEl>
                                          </p:spTgt>
                                        </p:tgtEl>
                                        <p:attrNameLst>
                                          <p:attrName>style.visibility</p:attrName>
                                        </p:attrNameLst>
                                      </p:cBhvr>
                                      <p:to>
                                        <p:strVal val="visible"/>
                                      </p:to>
                                    </p:set>
                                    <p:animEffect transition="in" filter="fade">
                                      <p:cBhvr>
                                        <p:cTn id="12" dur="1000"/>
                                        <p:tgtEl>
                                          <p:spTgt spid="15">
                                            <p:txEl>
                                              <p:pRg st="5" end="5"/>
                                            </p:txEl>
                                          </p:spTgt>
                                        </p:tgtEl>
                                      </p:cBhvr>
                                    </p:animEffect>
                                    <p:anim calcmode="lin" valueType="num">
                                      <p:cBhvr>
                                        <p:cTn id="13" dur="1000" fill="hold"/>
                                        <p:tgtEl>
                                          <p:spTgt spid="1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15">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Symmetric group of degree </a:t>
            </a:r>
            <a:r>
              <a:rPr lang="en-US" altLang="zh-CN" sz="2400" b="1" i="1" dirty="0">
                <a:latin typeface="Trebuchet MS" panose="020B0603020202020204" pitchFamily="34" charset="0"/>
              </a:rPr>
              <a:t>n</a:t>
            </a:r>
            <a:r>
              <a:rPr lang="en-US" altLang="zh-CN" sz="2400" b="1" dirty="0">
                <a:latin typeface="Trebuchet MS" panose="020B0603020202020204" pitchFamily="34" charset="0"/>
              </a:rPr>
              <a:t> (the group of all </a:t>
            </a:r>
            <a:r>
              <a:rPr lang="en-US" altLang="zh-CN" sz="2400" b="1" i="1" dirty="0">
                <a:latin typeface="Trebuchet MS" panose="020B0603020202020204" pitchFamily="34" charset="0"/>
              </a:rPr>
              <a:t>n</a:t>
            </a:r>
            <a:r>
              <a:rPr lang="en-US" altLang="zh-CN" sz="2400" b="1" dirty="0">
                <a:latin typeface="Trebuchet MS" panose="020B0603020202020204" pitchFamily="34" charset="0"/>
              </a:rPr>
              <a:t>-permutations)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2E685364-D648-4D89-8297-3AFF51F7FAD6}"/>
                  </a:ext>
                </a:extLst>
              </p:cNvPr>
              <p:cNvSpPr txBox="1">
                <a:spLocks noChangeArrowheads="1"/>
              </p:cNvSpPr>
              <p:nvPr/>
            </p:nvSpPr>
            <p:spPr>
              <a:xfrm>
                <a:off x="1000124" y="882927"/>
                <a:ext cx="10055225" cy="50543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dirty="0">
                    <a:latin typeface="Trebuchet MS" panose="020B0603020202020204" pitchFamily="34" charset="0"/>
                  </a:rPr>
                  <a:t>A permutation is a </a:t>
                </a:r>
                <a:r>
                  <a:rPr lang="en-US" sz="2400" b="1" dirty="0">
                    <a:latin typeface="Trebuchet MS" panose="020B0603020202020204" pitchFamily="34" charset="0"/>
                  </a:rPr>
                  <a:t>rearrangement of </a:t>
                </a:r>
                <a:r>
                  <a:rPr lang="en-US" altLang="zh-CN" sz="2400" b="1" i="1" dirty="0">
                    <a:latin typeface="Trebuchet MS" panose="020B0603020202020204" pitchFamily="34" charset="0"/>
                  </a:rPr>
                  <a:t>n</a:t>
                </a:r>
                <a:r>
                  <a:rPr lang="en-US" sz="2400" b="1" dirty="0">
                    <a:latin typeface="Trebuchet MS" panose="020B0603020202020204" pitchFamily="34" charset="0"/>
                  </a:rPr>
                  <a:t> group elements</a:t>
                </a:r>
                <a:r>
                  <a:rPr lang="en-US" sz="2400" dirty="0">
                    <a:latin typeface="Trebuchet MS" panose="020B0603020202020204" pitchFamily="34" charset="0"/>
                  </a:rPr>
                  <a:t>. The </a:t>
                </a:r>
                <a:r>
                  <a:rPr lang="en-US" altLang="zh-CN" sz="2400" b="1" i="1"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possible arrangements correspond to </a:t>
                </a:r>
                <a:r>
                  <a:rPr lang="en-US" altLang="zh-CN" sz="2400" b="1" i="1" dirty="0">
                    <a:solidFill>
                      <a:srgbClr val="FF0000"/>
                    </a:solidFill>
                    <a:latin typeface="Trebuchet MS" panose="020B0603020202020204" pitchFamily="34" charset="0"/>
                    <a:cs typeface="Times New Roman" panose="02020603050405020304" pitchFamily="18" charset="0"/>
                  </a:rPr>
                  <a:t>n</a:t>
                </a:r>
                <a:r>
                  <a:rPr lang="en-US" altLang="zh-CN" sz="2400" b="1" dirty="0">
                    <a:solidFill>
                      <a:srgbClr val="FF0000"/>
                    </a:solidFill>
                    <a:latin typeface="Trebuchet MS" panose="020B0603020202020204" pitchFamily="34" charset="0"/>
                    <a:cs typeface="Times New Roman" panose="02020603050405020304" pitchFamily="18" charset="0"/>
                  </a:rPr>
                  <a:t>! </a:t>
                </a:r>
                <a:r>
                  <a:rPr lang="en-US" sz="2400" b="1" i="1" dirty="0">
                    <a:solidFill>
                      <a:srgbClr val="0B61FF"/>
                    </a:solidFill>
                    <a:latin typeface="Trebuchet MS" panose="020B0603020202020204" pitchFamily="34" charset="0"/>
                  </a:rPr>
                  <a:t>permutations</a:t>
                </a:r>
                <a:r>
                  <a:rPr lang="en-US" sz="2400" dirty="0">
                    <a:latin typeface="Trebuchet MS" panose="020B0603020202020204" pitchFamily="34" charset="0"/>
                  </a:rPr>
                  <a:t>, and the set of all such permutations is denoted by </a:t>
                </a:r>
                <a:r>
                  <a:rPr lang="en-US" altLang="zh-CN" sz="2400" b="1" i="1" dirty="0">
                    <a:solidFill>
                      <a:srgbClr val="FF0000"/>
                    </a:solidFill>
                    <a:latin typeface="Trebuchet MS" panose="020B0603020202020204" pitchFamily="34" charset="0"/>
                    <a:cs typeface="Times New Roman" panose="02020603050405020304" pitchFamily="18" charset="0"/>
                  </a:rPr>
                  <a:t>S</a:t>
                </a:r>
                <a:r>
                  <a:rPr lang="en-US" altLang="zh-CN" sz="2400" b="1" i="1" baseline="-25000" dirty="0">
                    <a:solidFill>
                      <a:srgbClr val="FF0000"/>
                    </a:solidFill>
                    <a:latin typeface="Trebuchet MS" panose="020B0603020202020204" pitchFamily="34" charset="0"/>
                    <a:cs typeface="Times New Roman" panose="02020603050405020304" pitchFamily="18" charset="0"/>
                  </a:rPr>
                  <a:t>n</a:t>
                </a:r>
                <a:r>
                  <a:rPr lang="en-US" sz="2400" dirty="0">
                    <a:latin typeface="Trebuchet MS" panose="020B0603020202020204" pitchFamily="34" charset="0"/>
                  </a:rPr>
                  <a:t>​.</a:t>
                </a:r>
              </a:p>
              <a:p>
                <a:pPr>
                  <a:lnSpc>
                    <a:spcPct val="120000"/>
                  </a:lnSpc>
                  <a:spcBef>
                    <a:spcPts val="600"/>
                  </a:spcBef>
                  <a:buClr>
                    <a:srgbClr val="0B61FF"/>
                  </a:buClr>
                  <a:buSzPct val="80000"/>
                  <a:buFont typeface="Wingdings" panose="05000000000000000000" pitchFamily="2" charset="2"/>
                  <a:buChar char="n"/>
                </a:pPr>
                <a:r>
                  <a:rPr lang="en-US" sz="2400" dirty="0">
                    <a:latin typeface="Trebuchet MS" panose="020B0603020202020204" pitchFamily="34" charset="0"/>
                  </a:rPr>
                  <a:t>Under the operation of permutation composition (denoted </a:t>
                </a:r>
                <a:r>
                  <a:rPr lang="en-US" sz="2400" b="1" dirty="0">
                    <a:solidFill>
                      <a:srgbClr val="FF0000"/>
                    </a:solidFill>
                    <a:latin typeface="Trebuchet MS" panose="020B0603020202020204" pitchFamily="34" charset="0"/>
                  </a:rPr>
                  <a:t>∘</a:t>
                </a:r>
                <a:r>
                  <a:rPr lang="en-US" sz="2400"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S</a:t>
                </a:r>
                <a:r>
                  <a:rPr lang="en-US" altLang="zh-CN" sz="2400" b="1" i="1" baseline="-25000" dirty="0">
                    <a:latin typeface="Trebuchet MS" panose="020B0603020202020204" pitchFamily="34" charset="0"/>
                    <a:cs typeface="Times New Roman" panose="02020603050405020304" pitchFamily="18" charset="0"/>
                  </a:rPr>
                  <a:t>n</a:t>
                </a:r>
                <a:r>
                  <a:rPr lang="en-US" sz="2400" dirty="0">
                    <a:latin typeface="Trebuchet MS" panose="020B0603020202020204" pitchFamily="34" charset="0"/>
                  </a:rPr>
                  <a:t>​ forms a group </a:t>
                </a:r>
                <a:r>
                  <a:rPr lang="en-US" altLang="zh-CN" sz="2400" b="1" dirty="0">
                    <a:solidFill>
                      <a:srgbClr val="FF0000"/>
                    </a:solidFill>
                    <a:latin typeface="Trebuchet MS" panose="020B0603020202020204" pitchFamily="34" charset="0"/>
                    <a:cs typeface="Times New Roman" panose="02020603050405020304" pitchFamily="18" charset="0"/>
                  </a:rPr>
                  <a:t>&lt;</a:t>
                </a:r>
                <a:r>
                  <a:rPr lang="en-US" altLang="zh-CN" sz="2400" b="1" i="1" dirty="0">
                    <a:solidFill>
                      <a:srgbClr val="FF0000"/>
                    </a:solidFill>
                    <a:latin typeface="Trebuchet MS" panose="020B0603020202020204" pitchFamily="34" charset="0"/>
                    <a:cs typeface="Times New Roman" panose="02020603050405020304" pitchFamily="18" charset="0"/>
                  </a:rPr>
                  <a:t> S</a:t>
                </a:r>
                <a:r>
                  <a:rPr lang="en-US" altLang="zh-CN" sz="2400" b="1" i="1" baseline="-25000" dirty="0">
                    <a:solidFill>
                      <a:srgbClr val="FF0000"/>
                    </a:solidFill>
                    <a:latin typeface="Trebuchet MS" panose="020B0603020202020204" pitchFamily="34" charset="0"/>
                    <a:cs typeface="Times New Roman" panose="02020603050405020304" pitchFamily="18" charset="0"/>
                  </a:rPr>
                  <a:t>n</a:t>
                </a:r>
                <a:r>
                  <a:rPr lang="en-US" altLang="zh-CN" sz="2400" b="1" dirty="0">
                    <a:solidFill>
                      <a:srgbClr val="FF0000"/>
                    </a:solidFill>
                    <a:latin typeface="Trebuchet MS" panose="020B0603020202020204" pitchFamily="34" charset="0"/>
                    <a:cs typeface="Times New Roman" panose="02020603050405020304" pitchFamily="18" charset="0"/>
                  </a:rPr>
                  <a:t>, </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rgbClr val="FF0000"/>
                    </a:solidFill>
                    <a:latin typeface="Trebuchet MS" panose="020B0603020202020204" pitchFamily="34" charset="0"/>
                    <a:cs typeface="Times New Roman" panose="02020603050405020304" pitchFamily="18" charset="0"/>
                  </a:rPr>
                  <a:t> &gt;</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The identity permutation </a:t>
                </a:r>
                <a:r>
                  <a:rPr lang="en-US" altLang="zh-CN" sz="2400" b="1" i="1" dirty="0">
                    <a:solidFill>
                      <a:srgbClr val="FF0000"/>
                    </a:solidFill>
                    <a:latin typeface="Trebuchet MS" panose="020B0603020202020204" pitchFamily="34" charset="0"/>
                    <a:cs typeface="Times New Roman" panose="02020603050405020304" pitchFamily="18" charset="0"/>
                  </a:rPr>
                  <a:t>I</a:t>
                </a:r>
                <a:r>
                  <a:rPr lang="en-US" altLang="zh-CN" sz="2400" b="1" i="1" baseline="-25000" dirty="0">
                    <a:solidFill>
                      <a:srgbClr val="FF0000"/>
                    </a:solidFill>
                    <a:latin typeface="Trebuchet MS" panose="020B0603020202020204" pitchFamily="34" charset="0"/>
                    <a:cs typeface="Times New Roman" panose="02020603050405020304" pitchFamily="18" charset="0"/>
                  </a:rPr>
                  <a:t>n</a:t>
                </a:r>
                <a:r>
                  <a:rPr lang="en-US" sz="2400" dirty="0">
                    <a:latin typeface="Trebuchet MS" panose="020B0603020202020204" pitchFamily="34" charset="0"/>
                  </a:rPr>
                  <a:t>​ serves as the identity element (neutral element) of the group. The inverse of a permutation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en-US" sz="2400" dirty="0">
                    <a:latin typeface="Trebuchet MS" panose="020B0603020202020204" pitchFamily="34" charset="0"/>
                  </a:rPr>
                  <a:t>is given by:</a:t>
                </a:r>
                <a14:m>
                  <m:oMath xmlns:m="http://schemas.openxmlformats.org/officeDocument/2006/math">
                    <m:r>
                      <a:rPr lang="en-US" altLang="zh-CN" sz="2400" b="0" i="0" smtClean="0">
                        <a:latin typeface="Cambria Math" panose="02040503050406030204" pitchFamily="18" charset="0"/>
                        <a:cs typeface="Times New Roman" panose="02020603050405020304" pitchFamily="18" charset="0"/>
                      </a:rPr>
                      <m:t>    </m:t>
                    </m:r>
                    <m:sSup>
                      <m:sSupPr>
                        <m:ctrlPr>
                          <a:rPr lang="en-US" altLang="zh-CN" sz="2400" b="1" i="1" smtClean="0">
                            <a:solidFill>
                              <a:srgbClr val="FF0000"/>
                            </a:solidFill>
                            <a:latin typeface="Cambria Math" panose="02040503050406030204" pitchFamily="18" charset="0"/>
                            <a:cs typeface="Times New Roman" panose="02020603050405020304" pitchFamily="18" charset="0"/>
                          </a:rPr>
                        </m:ctrlPr>
                      </m:sSupPr>
                      <m:e>
                        <m:r>
                          <a:rPr lang="zh-CN" altLang="en-US" sz="2400" b="1" i="1" smtClean="0">
                            <a:solidFill>
                              <a:srgbClr val="FF0000"/>
                            </a:solidFill>
                            <a:latin typeface="Cambria Math" panose="02040503050406030204" pitchFamily="18" charset="0"/>
                            <a:cs typeface="Times New Roman" panose="02020603050405020304" pitchFamily="18" charset="0"/>
                          </a:rPr>
                          <m:t>𝝈</m:t>
                        </m:r>
                      </m:e>
                      <m:sup>
                        <m:r>
                          <a:rPr lang="en-US" altLang="zh-CN" sz="2400" b="1" i="1">
                            <a:solidFill>
                              <a:srgbClr val="FF0000"/>
                            </a:solidFill>
                            <a:latin typeface="Cambria Math" panose="02040503050406030204" pitchFamily="18" charset="0"/>
                            <a:cs typeface="Times New Roman" panose="02020603050405020304" pitchFamily="18" charset="0"/>
                          </a:rPr>
                          <m:t>−</m:t>
                        </m:r>
                        <m:r>
                          <a:rPr lang="en-US" altLang="zh-CN" sz="2400" b="1" i="1" smtClean="0">
                            <a:solidFill>
                              <a:srgbClr val="FF0000"/>
                            </a:solidFill>
                            <a:latin typeface="Cambria Math" panose="02040503050406030204" pitchFamily="18" charset="0"/>
                            <a:cs typeface="Times New Roman" panose="02020603050405020304" pitchFamily="18" charset="0"/>
                          </a:rPr>
                          <m:t>𝟏</m:t>
                        </m:r>
                      </m:sup>
                    </m:sSup>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ctrlPr>
                      </m:dPr>
                      <m:e>
                        <m:f>
                          <m:fPr>
                            <m:type m:val="noBar"/>
                            <m:ctrl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400" b="1" i="1" smtClean="0">
                                <a:latin typeface="Cambria Math" panose="02040503050406030204" pitchFamily="18" charset="0"/>
                                <a:ea typeface="Cambria Math" panose="02040503050406030204" pitchFamily="18" charset="0"/>
                                <a:cs typeface="Times New Roman" panose="02020603050405020304" pitchFamily="18" charset="0"/>
                              </a:rPr>
                              <m:t>𝝈</m:t>
                            </m:r>
                            <m:d>
                              <m:dPr>
                                <m:ctrl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𝟏</m:t>
                                </m:r>
                              </m:e>
                            </m:d>
                          </m:num>
                          <m:den>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𝟏</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400" b="1" i="1">
                                <a:latin typeface="Cambria Math" panose="02040503050406030204" pitchFamily="18" charset="0"/>
                                <a:ea typeface="Cambria Math" panose="02040503050406030204" pitchFamily="18" charset="0"/>
                                <a:cs typeface="Times New Roman" panose="02020603050405020304" pitchFamily="18" charset="0"/>
                              </a:rPr>
                              <m:t>𝝈</m:t>
                            </m:r>
                            <m:d>
                              <m:dPr>
                                <m:ctrl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𝟐</m:t>
                                </m:r>
                              </m:e>
                            </m:d>
                          </m:num>
                          <m:den>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𝟐</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400" b="1" i="1" smtClean="0">
                                <a:latin typeface="Cambria Math" panose="02040503050406030204" pitchFamily="18" charset="0"/>
                                <a:ea typeface="Cambria Math" panose="02040503050406030204" pitchFamily="18" charset="0"/>
                                <a:cs typeface="Times New Roman" panose="02020603050405020304" pitchFamily="18" charset="0"/>
                              </a:rPr>
                              <m:t>⋯</m:t>
                            </m:r>
                          </m:num>
                          <m:den>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400" b="1" i="1">
                                <a:latin typeface="Cambria Math" panose="02040503050406030204" pitchFamily="18" charset="0"/>
                                <a:ea typeface="Cambria Math" panose="02040503050406030204" pitchFamily="18" charset="0"/>
                                <a:cs typeface="Times New Roman" panose="02020603050405020304" pitchFamily="18" charset="0"/>
                              </a:rPr>
                              <m:t>𝝈</m:t>
                            </m:r>
                            <m:d>
                              <m:dP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𝒏</m:t>
                                </m:r>
                              </m:e>
                            </m:d>
                          </m:num>
                          <m:den>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𝒏</m:t>
                            </m:r>
                          </m:den>
                        </m:f>
                      </m:e>
                    </m:d>
                  </m:oMath>
                </a14:m>
                <a:endParaRPr lang="en-US" altLang="zh-CN" sz="2400" b="1" dirty="0">
                  <a:latin typeface="Trebuchet MS" panose="020B0603020202020204" pitchFamily="34" charset="0"/>
                  <a:cs typeface="Times New Roman" panose="02020603050405020304" pitchFamily="18" charset="0"/>
                </a:endParaRPr>
              </a:p>
              <a:p>
                <a:pPr>
                  <a:lnSpc>
                    <a:spcPct val="120000"/>
                  </a:lnSpc>
                  <a:spcBef>
                    <a:spcPts val="600"/>
                  </a:spcBef>
                  <a:buClr>
                    <a:srgbClr val="0B61FF"/>
                  </a:buClr>
                  <a:buSzPct val="80000"/>
                  <a:buFont typeface="Wingdings" panose="05000000000000000000" pitchFamily="2" charset="2"/>
                  <a:buChar char="n"/>
                </a:pPr>
                <a:r>
                  <a:rPr lang="en-US" sz="2400" dirty="0">
                    <a:latin typeface="Trebuchet MS" panose="020B0603020202020204" pitchFamily="34" charset="0"/>
                  </a:rPr>
                  <a:t>The group </a:t>
                </a:r>
                <a:r>
                  <a:rPr lang="en-US" altLang="zh-CN" sz="2400" b="1" dirty="0">
                    <a:latin typeface="Trebuchet MS" panose="020B0603020202020204" pitchFamily="34" charset="0"/>
                    <a:cs typeface="Times New Roman" panose="02020603050405020304" pitchFamily="18" charset="0"/>
                  </a:rPr>
                  <a:t>&lt;</a:t>
                </a:r>
                <a:r>
                  <a:rPr lang="en-US" altLang="zh-CN" sz="2400" b="1" i="1" dirty="0">
                    <a:solidFill>
                      <a:srgbClr val="FF0000"/>
                    </a:solidFill>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S</a:t>
                </a:r>
                <a:r>
                  <a:rPr lang="en-US" altLang="zh-CN" sz="2400" b="1" i="1" baseline="-25000"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 &gt; </a:t>
                </a:r>
                <a:r>
                  <a:rPr lang="en-US" sz="2400" dirty="0">
                    <a:latin typeface="Trebuchet MS" panose="020B0603020202020204" pitchFamily="34" charset="0"/>
                  </a:rPr>
                  <a:t>is called the </a:t>
                </a:r>
                <a:r>
                  <a:rPr lang="en-US" sz="2400" b="1" dirty="0">
                    <a:latin typeface="Trebuchet MS" panose="020B0603020202020204" pitchFamily="34" charset="0"/>
                  </a:rPr>
                  <a:t>symmetric group of degree </a:t>
                </a:r>
                <a:r>
                  <a:rPr lang="en-US" altLang="zh-CN" sz="2400" b="1" i="1" dirty="0">
                    <a:solidFill>
                      <a:srgbClr val="FF0000"/>
                    </a:solidFill>
                    <a:latin typeface="Trebuchet MS" panose="020B0603020202020204" pitchFamily="34" charset="0"/>
                    <a:cs typeface="Times New Roman" panose="02020603050405020304" pitchFamily="18" charset="0"/>
                  </a:rPr>
                  <a:t>n</a:t>
                </a:r>
                <a:r>
                  <a:rPr lang="en-US" sz="2400" dirty="0">
                    <a:latin typeface="Trebuchet MS" panose="020B0603020202020204" pitchFamily="34" charset="0"/>
                  </a:rPr>
                  <a:t>, and any subgroup of </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S</a:t>
                </a:r>
                <a:r>
                  <a:rPr lang="en-US" altLang="zh-CN" sz="2400" b="1" i="1" baseline="-25000" dirty="0">
                    <a:latin typeface="Trebuchet MS" panose="020B0603020202020204" pitchFamily="34" charset="0"/>
                    <a:cs typeface="Times New Roman" panose="02020603050405020304" pitchFamily="18" charset="0"/>
                  </a:rPr>
                  <a:t>n </a:t>
                </a:r>
                <a:r>
                  <a:rPr lang="en-US" sz="2400" dirty="0">
                    <a:latin typeface="Trebuchet MS" panose="020B0603020202020204" pitchFamily="34" charset="0"/>
                  </a:rPr>
                  <a:t>is called an </a:t>
                </a:r>
                <a:r>
                  <a:rPr lang="en-US" altLang="zh-CN" sz="2400" b="1" i="1" dirty="0">
                    <a:solidFill>
                      <a:srgbClr val="0B61FF"/>
                    </a:solidFill>
                    <a:latin typeface="Trebuchet MS" panose="020B0603020202020204" pitchFamily="34" charset="0"/>
                    <a:cs typeface="Times New Roman" panose="02020603050405020304" pitchFamily="18" charset="0"/>
                  </a:rPr>
                  <a:t>n</a:t>
                </a:r>
                <a:r>
                  <a:rPr lang="en-US" sz="2400" b="1" i="1" dirty="0">
                    <a:solidFill>
                      <a:srgbClr val="0B61FF"/>
                    </a:solidFill>
                    <a:latin typeface="Trebuchet MS" panose="020B0603020202020204" pitchFamily="34" charset="0"/>
                  </a:rPr>
                  <a:t>-permutation group</a:t>
                </a:r>
                <a:r>
                  <a:rPr lang="en-US" sz="2400" dirty="0">
                    <a:latin typeface="Trebuchet MS" panose="020B0603020202020204" pitchFamily="34" charset="0"/>
                  </a:rPr>
                  <a:t>.</a:t>
                </a:r>
              </a:p>
              <a:p>
                <a:pPr marL="0" indent="0">
                  <a:buNone/>
                </a:pPr>
                <a:endParaRPr lang="en-US" altLang="zh-CN" sz="2400" b="1" dirty="0">
                  <a:solidFill>
                    <a:srgbClr val="FF0000"/>
                  </a:solidFill>
                  <a:latin typeface="Times New Roman" panose="02020603050405020304" pitchFamily="18" charset="0"/>
                  <a:cs typeface="Times New Roman" panose="02020603050405020304" pitchFamily="18" charset="0"/>
                </a:endParaRPr>
              </a:p>
              <a:p>
                <a:pPr>
                  <a:lnSpc>
                    <a:spcPct val="110000"/>
                  </a:lnSpc>
                  <a:spcBef>
                    <a:spcPts val="0"/>
                  </a:spcBef>
                  <a:buClr>
                    <a:srgbClr val="0B61FF"/>
                  </a:buClr>
                  <a:buSzPct val="80000"/>
                  <a:buFont typeface="Wingdings" panose="05000000000000000000" pitchFamily="2" charset="2"/>
                  <a:buChar char="n"/>
                </a:pPr>
                <a:endParaRPr lang="en-US" altLang="zh-CN" sz="2400" b="1" dirty="0">
                  <a:latin typeface="Trebuchet MS" panose="020B0603020202020204" pitchFamily="34" charset="0"/>
                  <a:cs typeface="Times New Roman" panose="02020603050405020304" pitchFamily="18" charset="0"/>
                </a:endParaRPr>
              </a:p>
            </p:txBody>
          </p:sp>
        </mc:Choice>
        <mc:Fallback xmlns="">
          <p:sp>
            <p:nvSpPr>
              <p:cNvPr id="12" name="Rectangle 3">
                <a:extLst>
                  <a:ext uri="{FF2B5EF4-FFF2-40B4-BE49-F238E27FC236}">
                    <a16:creationId xmlns:a16="http://schemas.microsoft.com/office/drawing/2014/main" id="{2E685364-D648-4D89-8297-3AFF51F7FAD6}"/>
                  </a:ext>
                </a:extLst>
              </p:cNvPr>
              <p:cNvSpPr txBox="1">
                <a:spLocks noRot="1" noChangeAspect="1" noMove="1" noResize="1" noEditPoints="1" noAdjustHandles="1" noChangeArrowheads="1" noChangeShapeType="1" noTextEdit="1"/>
              </p:cNvSpPr>
              <p:nvPr/>
            </p:nvSpPr>
            <p:spPr>
              <a:xfrm>
                <a:off x="1000124" y="882927"/>
                <a:ext cx="10055225" cy="5054324"/>
              </a:xfrm>
              <a:prstGeom prst="rect">
                <a:avLst/>
              </a:prstGeom>
              <a:blipFill>
                <a:blip r:embed="rId5"/>
                <a:stretch>
                  <a:fillRect l="-424" t="-362" r="-11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59490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2" end="2"/>
                                            </p:txEl>
                                          </p:spTgt>
                                        </p:tgtEl>
                                        <p:attrNameLst>
                                          <p:attrName>style.visibility</p:attrName>
                                        </p:attrNameLst>
                                      </p:cBhvr>
                                      <p:to>
                                        <p:strVal val="visible"/>
                                      </p:to>
                                    </p:set>
                                    <p:animEffect transition="in" filter="fade">
                                      <p:cBhvr>
                                        <p:cTn id="14" dur="1000"/>
                                        <p:tgtEl>
                                          <p:spTgt spid="12">
                                            <p:txEl>
                                              <p:pRg st="2" end="2"/>
                                            </p:txEl>
                                          </p:spTgt>
                                        </p:tgtEl>
                                      </p:cBhvr>
                                    </p:animEffect>
                                    <p:anim calcmode="lin" valueType="num">
                                      <p:cBhvr>
                                        <p:cTn id="15"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Symmetric group of degree </a:t>
            </a:r>
            <a:r>
              <a:rPr lang="en-US" altLang="zh-CN" sz="2400" b="1" i="1" dirty="0">
                <a:latin typeface="Trebuchet MS" panose="020B0603020202020204" pitchFamily="34" charset="0"/>
              </a:rPr>
              <a:t>n</a:t>
            </a:r>
            <a:r>
              <a:rPr lang="en-US" altLang="zh-CN" sz="2400" b="1" dirty="0">
                <a:latin typeface="Trebuchet MS" panose="020B0603020202020204" pitchFamily="34" charset="0"/>
              </a:rPr>
              <a:t> (the group of all </a:t>
            </a:r>
            <a:r>
              <a:rPr lang="en-US" altLang="zh-CN" sz="2400" b="1" i="1" dirty="0">
                <a:latin typeface="Trebuchet MS" panose="020B0603020202020204" pitchFamily="34" charset="0"/>
              </a:rPr>
              <a:t>n</a:t>
            </a:r>
            <a:r>
              <a:rPr lang="en-US" altLang="zh-CN" sz="2400" b="1" dirty="0">
                <a:latin typeface="Trebuchet MS" panose="020B0603020202020204" pitchFamily="34" charset="0"/>
              </a:rPr>
              <a:t>-permutations)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p:sp>
        <p:nvSpPr>
          <p:cNvPr id="12" name="Rectangle 3">
            <a:extLst>
              <a:ext uri="{FF2B5EF4-FFF2-40B4-BE49-F238E27FC236}">
                <a16:creationId xmlns:a16="http://schemas.microsoft.com/office/drawing/2014/main" id="{2E685364-D648-4D89-8297-3AFF51F7FAD6}"/>
              </a:ext>
            </a:extLst>
          </p:cNvPr>
          <p:cNvSpPr txBox="1">
            <a:spLocks noChangeArrowheads="1"/>
          </p:cNvSpPr>
          <p:nvPr/>
        </p:nvSpPr>
        <p:spPr>
          <a:xfrm>
            <a:off x="1000125" y="902876"/>
            <a:ext cx="9826128" cy="43685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Notes:</a:t>
            </a:r>
          </a:p>
          <a:p>
            <a:pPr marL="539750" indent="-273050">
              <a:lnSpc>
                <a:spcPct val="120000"/>
              </a:lnSpc>
              <a:spcBef>
                <a:spcPts val="600"/>
              </a:spcBef>
              <a:buClr>
                <a:srgbClr val="0B61FF"/>
              </a:buClr>
              <a:buSzPct val="120000"/>
            </a:pPr>
            <a:r>
              <a:rPr lang="en-US" altLang="zh-CN" sz="2400" dirty="0">
                <a:latin typeface="Trebuchet MS" panose="020B0603020202020204" pitchFamily="34" charset="0"/>
              </a:rPr>
              <a:t>The symmetric group of degree </a:t>
            </a:r>
            <a:r>
              <a:rPr lang="en-US" altLang="zh-CN" sz="2400" i="1" dirty="0">
                <a:latin typeface="Trebuchet MS" panose="020B0603020202020204" pitchFamily="34" charset="0"/>
                <a:ea typeface="楷体" panose="02010609060101010101" pitchFamily="49" charset="-122"/>
                <a:cs typeface="Times New Roman" panose="02020603050405020304" pitchFamily="18" charset="0"/>
              </a:rPr>
              <a:t>n</a:t>
            </a:r>
            <a:r>
              <a:rPr lang="en-US" altLang="zh-CN" sz="2400" dirty="0">
                <a:latin typeface="Trebuchet MS" panose="020B0603020202020204" pitchFamily="34" charset="0"/>
              </a:rPr>
              <a:t>, denoted </a:t>
            </a:r>
            <a:r>
              <a:rPr lang="en-US" altLang="zh-CN" sz="2400" b="1" i="1" dirty="0">
                <a:solidFill>
                  <a:srgbClr val="0B61FF"/>
                </a:solidFill>
                <a:latin typeface="Trebuchet MS" panose="020B0603020202020204" pitchFamily="34" charset="0"/>
                <a:cs typeface="Times New Roman" panose="02020603050405020304" pitchFamily="18" charset="0"/>
              </a:rPr>
              <a:t>S</a:t>
            </a:r>
            <a:r>
              <a:rPr lang="en-US" altLang="zh-CN" sz="2400" b="1" i="1" baseline="-25000" dirty="0">
                <a:solidFill>
                  <a:srgbClr val="0B61FF"/>
                </a:solidFill>
                <a:latin typeface="Trebuchet MS" panose="020B0603020202020204" pitchFamily="34" charset="0"/>
                <a:cs typeface="Times New Roman" panose="02020603050405020304" pitchFamily="18" charset="0"/>
              </a:rPr>
              <a:t>n</a:t>
            </a:r>
            <a:r>
              <a:rPr lang="en-US" altLang="zh-CN" sz="2400" dirty="0">
                <a:solidFill>
                  <a:srgbClr val="0B61FF"/>
                </a:solidFill>
                <a:latin typeface="Trebuchet MS" panose="020B0603020202020204" pitchFamily="34" charset="0"/>
              </a:rPr>
              <a:t>​, </a:t>
            </a:r>
            <a:r>
              <a:rPr lang="en-US" altLang="zh-CN" sz="2400" b="1" i="1" dirty="0">
                <a:solidFill>
                  <a:srgbClr val="0B61FF"/>
                </a:solidFill>
                <a:latin typeface="Trebuchet MS" panose="020B0603020202020204" pitchFamily="34" charset="0"/>
              </a:rPr>
              <a:t>contains all possible </a:t>
            </a:r>
            <a:r>
              <a:rPr lang="en-US" altLang="zh-CN" sz="2400" b="1" i="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n! </a:t>
            </a:r>
            <a:r>
              <a:rPr lang="en-US" altLang="zh-CN" sz="2400" b="1" i="1" dirty="0">
                <a:solidFill>
                  <a:srgbClr val="0B61FF"/>
                </a:solidFill>
                <a:latin typeface="Trebuchet MS" panose="020B0603020202020204" pitchFamily="34" charset="0"/>
              </a:rPr>
              <a:t>permutations</a:t>
            </a:r>
            <a:r>
              <a:rPr lang="en-US" altLang="zh-CN" sz="2400" dirty="0">
                <a:solidFill>
                  <a:srgbClr val="0B61FF"/>
                </a:solidFill>
                <a:latin typeface="Trebuchet MS" panose="020B0603020202020204" pitchFamily="34" charset="0"/>
              </a:rPr>
              <a:t> </a:t>
            </a:r>
            <a:r>
              <a:rPr lang="en-US" altLang="zh-CN" sz="2400" dirty="0">
                <a:latin typeface="Trebuchet MS" panose="020B0603020202020204" pitchFamily="34" charset="0"/>
              </a:rPr>
              <a:t>(arrangements) of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n</a:t>
            </a:r>
            <a:r>
              <a:rPr lang="en-US" altLang="zh-CN" sz="2400" dirty="0">
                <a:latin typeface="Trebuchet MS" panose="020B0603020202020204" pitchFamily="34" charset="0"/>
              </a:rPr>
              <a:t> elements. These permutations preserve the group structure and represent mathematical symmetry.</a:t>
            </a:r>
          </a:p>
          <a:p>
            <a:pPr marL="539750" indent="-273050">
              <a:lnSpc>
                <a:spcPct val="120000"/>
              </a:lnSpc>
              <a:spcBef>
                <a:spcPts val="600"/>
              </a:spcBef>
              <a:buClr>
                <a:srgbClr val="0B61FF"/>
              </a:buClr>
              <a:buSzPct val="120000"/>
            </a:pPr>
            <a:r>
              <a:rPr lang="en-US" altLang="zh-CN" sz="2400" dirty="0">
                <a:latin typeface="Trebuchet MS" panose="020B0603020202020204" pitchFamily="34" charset="0"/>
              </a:rPr>
              <a:t>An </a:t>
            </a:r>
            <a:r>
              <a:rPr lang="en-US" altLang="zh-CN" sz="2400" i="1" dirty="0">
                <a:latin typeface="Trebuchet MS" panose="020B0603020202020204" pitchFamily="34" charset="0"/>
                <a:ea typeface="楷体" panose="02010609060101010101" pitchFamily="49" charset="-122"/>
                <a:cs typeface="Times New Roman" panose="02020603050405020304" pitchFamily="18" charset="0"/>
              </a:rPr>
              <a:t>n</a:t>
            </a:r>
            <a:r>
              <a:rPr lang="en-US" altLang="zh-CN" sz="2400" dirty="0">
                <a:latin typeface="Trebuchet MS" panose="020B0603020202020204" pitchFamily="34" charset="0"/>
              </a:rPr>
              <a:t>-permutation group is any specific set of permutations of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n</a:t>
            </a:r>
            <a:r>
              <a:rPr lang="en-US" altLang="zh-CN" sz="2400" dirty="0">
                <a:latin typeface="Trebuchet MS" panose="020B0603020202020204" pitchFamily="34" charset="0"/>
              </a:rPr>
              <a:t> elements, its number of elements can be less than </a:t>
            </a:r>
            <a:r>
              <a:rPr lang="en-US" altLang="zh-CN" sz="2400" b="1" i="1" dirty="0">
                <a:latin typeface="Trebuchet MS" panose="020B0603020202020204" pitchFamily="34" charset="0"/>
                <a:ea typeface="楷体" panose="02010609060101010101" pitchFamily="49" charset="-122"/>
              </a:rPr>
              <a:t>n</a:t>
            </a:r>
            <a:r>
              <a:rPr lang="en-US" altLang="zh-CN" sz="2400" b="1" dirty="0">
                <a:latin typeface="Trebuchet MS" panose="020B0603020202020204" pitchFamily="34" charset="0"/>
                <a:ea typeface="楷体" panose="02010609060101010101" pitchFamily="49" charset="-122"/>
              </a:rPr>
              <a:t>!</a:t>
            </a:r>
            <a:r>
              <a:rPr lang="en-US" altLang="zh-CN" sz="2400" dirty="0">
                <a:latin typeface="Trebuchet MS" panose="020B0603020202020204" pitchFamily="34" charset="0"/>
                <a:ea typeface="楷体" panose="02010609060101010101" pitchFamily="49" charset="-122"/>
              </a:rPr>
              <a:t>,</a:t>
            </a:r>
            <a:r>
              <a:rPr lang="en-US" altLang="zh-CN" sz="2400" b="1" i="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The group </a:t>
            </a:r>
            <a:r>
              <a:rPr lang="en-US" altLang="zh-CN" sz="2400" b="1" i="1" dirty="0">
                <a:solidFill>
                  <a:srgbClr val="0B61FF"/>
                </a:solidFill>
                <a:latin typeface="Trebuchet MS" panose="020B0603020202020204" pitchFamily="34" charset="0"/>
                <a:cs typeface="Times New Roman" panose="02020603050405020304" pitchFamily="18" charset="0"/>
              </a:rPr>
              <a:t>S</a:t>
            </a:r>
            <a:r>
              <a:rPr lang="en-US" altLang="zh-CN" sz="2400" b="1" i="1" baseline="-25000" dirty="0">
                <a:solidFill>
                  <a:srgbClr val="0B61FF"/>
                </a:solidFill>
                <a:latin typeface="Trebuchet MS" panose="020B0603020202020204" pitchFamily="34" charset="0"/>
                <a:cs typeface="Times New Roman" panose="02020603050405020304" pitchFamily="18" charset="0"/>
              </a:rPr>
              <a:t>n</a:t>
            </a:r>
            <a:r>
              <a:rPr lang="en-US" altLang="zh-CN" sz="2400" b="1" i="1" dirty="0">
                <a:solidFill>
                  <a:srgbClr val="0B61FF"/>
                </a:solidFill>
                <a:latin typeface="Trebuchet MS" panose="020B0603020202020204" pitchFamily="34" charset="0"/>
              </a:rPr>
              <a:t>​ is the largest </a:t>
            </a:r>
            <a:r>
              <a:rPr lang="en-US" altLang="zh-CN" sz="2400" b="1" i="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n</a:t>
            </a:r>
            <a:r>
              <a:rPr lang="en-US" altLang="zh-CN" sz="2400" b="1" i="1" dirty="0">
                <a:solidFill>
                  <a:srgbClr val="0B61FF"/>
                </a:solidFill>
                <a:latin typeface="Trebuchet MS" panose="020B0603020202020204" pitchFamily="34" charset="0"/>
              </a:rPr>
              <a:t>-permutation group</a:t>
            </a:r>
            <a:r>
              <a:rPr lang="en-US" altLang="zh-CN" sz="2400" dirty="0">
                <a:latin typeface="Trebuchet MS" panose="020B0603020202020204" pitchFamily="34" charset="0"/>
              </a:rPr>
              <a:t>.</a:t>
            </a:r>
          </a:p>
          <a:p>
            <a:pPr marL="0" indent="0">
              <a:lnSpc>
                <a:spcPct val="120000"/>
              </a:lnSpc>
              <a:spcBef>
                <a:spcPts val="600"/>
              </a:spcBef>
              <a:buNone/>
            </a:pPr>
            <a:endParaRPr lang="en-US" altLang="zh-CN" sz="2400" b="1" dirty="0">
              <a:solidFill>
                <a:srgbClr val="FF0000"/>
              </a:solidFill>
              <a:latin typeface="Trebuchet MS" panose="020B0603020202020204" pitchFamily="34" charset="0"/>
              <a:cs typeface="Times New Roman" panose="02020603050405020304" pitchFamily="18" charset="0"/>
            </a:endParaRPr>
          </a:p>
          <a:p>
            <a:pPr>
              <a:lnSpc>
                <a:spcPct val="120000"/>
              </a:lnSpc>
              <a:spcBef>
                <a:spcPts val="600"/>
              </a:spcBef>
              <a:buClr>
                <a:srgbClr val="0B61FF"/>
              </a:buClr>
              <a:buSzPct val="80000"/>
              <a:buFont typeface="Wingdings" panose="05000000000000000000" pitchFamily="2" charset="2"/>
              <a:buChar char="n"/>
            </a:pPr>
            <a:endParaRPr lang="en-US" altLang="zh-CN"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27205097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The representation of permutation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856647"/>
            <a:ext cx="8268620" cy="42052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8" name="Text Box 3">
            <a:extLst>
              <a:ext uri="{FF2B5EF4-FFF2-40B4-BE49-F238E27FC236}">
                <a16:creationId xmlns:a16="http://schemas.microsoft.com/office/drawing/2014/main" id="{7874B320-CF19-4D85-BF2D-E44552E156ED}"/>
              </a:ext>
            </a:extLst>
          </p:cNvPr>
          <p:cNvSpPr txBox="1">
            <a:spLocks noChangeArrowheads="1"/>
          </p:cNvSpPr>
          <p:nvPr/>
        </p:nvSpPr>
        <p:spPr bwMode="auto">
          <a:xfrm>
            <a:off x="1453470" y="113710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zh-CN" altLang="en-US" b="1">
              <a:solidFill>
                <a:schemeClr val="tx1"/>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12" name="Rectangle 3">
                <a:extLst>
                  <a:ext uri="{FF2B5EF4-FFF2-40B4-BE49-F238E27FC236}">
                    <a16:creationId xmlns:a16="http://schemas.microsoft.com/office/drawing/2014/main" id="{2E685364-D648-4D89-8297-3AFF51F7FAD6}"/>
                  </a:ext>
                </a:extLst>
              </p:cNvPr>
              <p:cNvSpPr txBox="1">
                <a:spLocks noChangeArrowheads="1"/>
              </p:cNvSpPr>
              <p:nvPr/>
            </p:nvSpPr>
            <p:spPr>
              <a:xfrm>
                <a:off x="912402" y="882927"/>
                <a:ext cx="10256341" cy="51184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800"/>
                  </a:spcBef>
                  <a:buClr>
                    <a:srgbClr val="0B61FF"/>
                  </a:buClr>
                  <a:buSzPct val="80000"/>
                  <a:buFont typeface="Wingdings" panose="05000000000000000000" pitchFamily="2" charset="2"/>
                  <a:buChar char="n"/>
                </a:pPr>
                <a:r>
                  <a:rPr lang="en-US" sz="2400" dirty="0">
                    <a:latin typeface="Trebuchet MS" panose="020B0603020202020204" pitchFamily="34" charset="0"/>
                  </a:rPr>
                  <a:t>Permutations can be represented in several ways, including </a:t>
                </a:r>
                <a:r>
                  <a:rPr lang="en-US" sz="2400" b="1" dirty="0">
                    <a:latin typeface="Trebuchet MS" panose="020B0603020202020204" pitchFamily="34" charset="0"/>
                  </a:rPr>
                  <a:t>two-line notation</a:t>
                </a:r>
                <a:r>
                  <a:rPr lang="en-US" sz="2400" dirty="0">
                    <a:latin typeface="Trebuchet MS" panose="020B0603020202020204" pitchFamily="34" charset="0"/>
                  </a:rPr>
                  <a:t>, </a:t>
                </a:r>
                <a:r>
                  <a:rPr lang="en-US" sz="2400" b="1" dirty="0">
                    <a:latin typeface="Trebuchet MS" panose="020B0603020202020204" pitchFamily="34" charset="0"/>
                  </a:rPr>
                  <a:t>cycle notation</a:t>
                </a:r>
                <a:r>
                  <a:rPr lang="en-US" sz="2400" dirty="0">
                    <a:latin typeface="Trebuchet MS" panose="020B0603020202020204" pitchFamily="34" charset="0"/>
                  </a:rPr>
                  <a:t>, </a:t>
                </a:r>
                <a:r>
                  <a:rPr lang="en-US" sz="2400" b="1" dirty="0">
                    <a:latin typeface="Trebuchet MS" panose="020B0603020202020204" pitchFamily="34" charset="0"/>
                  </a:rPr>
                  <a:t>matrix representation</a:t>
                </a:r>
                <a:r>
                  <a:rPr lang="en-US" sz="2400" dirty="0">
                    <a:latin typeface="Trebuchet MS" panose="020B0603020202020204" pitchFamily="34" charset="0"/>
                  </a:rPr>
                  <a:t>, and </a:t>
                </a:r>
                <a:r>
                  <a:rPr lang="en-US" sz="2400" b="1" dirty="0">
                    <a:latin typeface="Trebuchet MS" panose="020B0603020202020204" pitchFamily="34" charset="0"/>
                  </a:rPr>
                  <a:t>list notation</a:t>
                </a:r>
                <a:r>
                  <a:rPr lang="en-US" sz="2400" dirty="0">
                    <a:latin typeface="Trebuchet MS" panose="020B0603020202020204" pitchFamily="34" charset="0"/>
                  </a:rPr>
                  <a:t>. </a:t>
                </a:r>
              </a:p>
              <a:p>
                <a:pPr>
                  <a:lnSpc>
                    <a:spcPct val="120000"/>
                  </a:lnSpc>
                  <a:spcBef>
                    <a:spcPts val="800"/>
                  </a:spcBef>
                  <a:buClr>
                    <a:srgbClr val="0B61FF"/>
                  </a:buClr>
                  <a:buSzPct val="80000"/>
                  <a:buFont typeface="Wingdings" panose="05000000000000000000" pitchFamily="2" charset="2"/>
                  <a:buChar char="n"/>
                </a:pPr>
                <a:r>
                  <a:rPr lang="en-US" sz="2400" dirty="0">
                    <a:latin typeface="Trebuchet MS" panose="020B0603020202020204" pitchFamily="34" charset="0"/>
                  </a:rPr>
                  <a:t>A permutation </a:t>
                </a:r>
                <a14:m>
                  <m:oMath xmlns:m="http://schemas.openxmlformats.org/officeDocument/2006/math">
                    <m:r>
                      <a:rPr lang="zh-CN" altLang="en-US" sz="2400" b="1" i="1">
                        <a:latin typeface="Cambria Math" panose="02040503050406030204" pitchFamily="18" charset="0"/>
                        <a:ea typeface="Cambria Math" panose="02040503050406030204" pitchFamily="18" charset="0"/>
                        <a:cs typeface="Times New Roman" panose="02020603050405020304" pitchFamily="18" charset="0"/>
                      </a:rPr>
                      <m:t>𝝈</m:t>
                    </m:r>
                  </m:oMath>
                </a14:m>
                <a:r>
                  <a:rPr lang="en-US" sz="2400" dirty="0">
                    <a:latin typeface="Trebuchet MS" panose="020B0603020202020204" pitchFamily="34" charset="0"/>
                  </a:rPr>
                  <a:t>∈</a:t>
                </a:r>
                <a:r>
                  <a:rPr lang="en-US" altLang="zh-CN" sz="2400" b="1" i="1" dirty="0">
                    <a:latin typeface="Trebuchet MS" panose="020B0603020202020204" pitchFamily="34" charset="0"/>
                    <a:cs typeface="Times New Roman" panose="02020603050405020304" pitchFamily="18" charset="0"/>
                  </a:rPr>
                  <a:t> S</a:t>
                </a:r>
                <a:r>
                  <a:rPr lang="en-US" altLang="zh-CN" sz="2400" b="1" i="1" baseline="-25000" dirty="0">
                    <a:latin typeface="Trebuchet MS" panose="020B0603020202020204" pitchFamily="34" charset="0"/>
                    <a:cs typeface="Times New Roman" panose="02020603050405020304" pitchFamily="18" charset="0"/>
                  </a:rPr>
                  <a:t>6 </a:t>
                </a:r>
                <a:r>
                  <a:rPr lang="en-US" sz="2400" dirty="0">
                    <a:latin typeface="Trebuchet MS" panose="020B0603020202020204" pitchFamily="34" charset="0"/>
                  </a:rPr>
                  <a:t>can be written in </a:t>
                </a:r>
                <a:r>
                  <a:rPr lang="en-US" sz="2400" b="1" i="1" dirty="0">
                    <a:solidFill>
                      <a:srgbClr val="0B61FF"/>
                    </a:solidFill>
                    <a:latin typeface="Trebuchet MS" panose="020B0603020202020204" pitchFamily="34" charset="0"/>
                  </a:rPr>
                  <a:t>two-line notation </a:t>
                </a:r>
                <a:r>
                  <a:rPr lang="en-US" sz="2400" dirty="0">
                    <a:latin typeface="Trebuchet MS" panose="020B0603020202020204" pitchFamily="34" charset="0"/>
                  </a:rPr>
                  <a:t>as</a:t>
                </a:r>
                <a:r>
                  <a:rPr lang="en-US" altLang="zh-CN" sz="2400" b="1" dirty="0">
                    <a:latin typeface="Trebuchet MS" panose="020B0603020202020204" pitchFamily="34" charset="0"/>
                    <a:cs typeface="Times New Roman" panose="02020603050405020304" pitchFamily="18" charset="0"/>
                  </a:rPr>
                  <a:t>:</a:t>
                </a:r>
                <a14:m>
                  <m:oMath xmlns:m="http://schemas.openxmlformats.org/officeDocument/2006/math">
                    <m:r>
                      <a:rPr lang="en-US" altLang="zh-CN" sz="2400" b="1" i="0" smtClean="0">
                        <a:latin typeface="Cambria Math" panose="02040503050406030204" pitchFamily="18" charset="0"/>
                        <a:ea typeface="Cambria Math" panose="02040503050406030204" pitchFamily="18" charset="0"/>
                        <a:cs typeface="Times New Roman" panose="02020603050405020304" pitchFamily="18" charset="0"/>
                      </a:rPr>
                      <m:t>  </m:t>
                    </m:r>
                    <m:r>
                      <a:rPr lang="zh-CN" altLang="en-US" sz="2400" b="1" i="1">
                        <a:latin typeface="Cambria Math" panose="02040503050406030204" pitchFamily="18" charset="0"/>
                        <a:ea typeface="Cambria Math" panose="02040503050406030204" pitchFamily="18" charset="0"/>
                        <a:cs typeface="Times New Roman" panose="02020603050405020304" pitchFamily="18" charset="0"/>
                      </a:rPr>
                      <m:t>𝝈</m:t>
                    </m:r>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dPr>
                      <m:e>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𝟏</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𝟏</m:t>
                            </m:r>
                          </m:den>
                        </m:f>
                        <m:f>
                          <m:fPr>
                            <m:type m:val="noBar"/>
                            <m:ctrl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𝟐</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𝟓</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𝟑</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𝟐</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𝟒</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𝟒</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𝟓</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𝟑</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𝟔</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𝟔</m:t>
                            </m:r>
                          </m:den>
                        </m:f>
                      </m:e>
                    </m:d>
                  </m:oMath>
                </a14:m>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a:t>
                </a:r>
                <a:r>
                  <a:rPr lang="en-US" sz="2400" dirty="0">
                    <a:latin typeface="Trebuchet MS" panose="020B0603020202020204" pitchFamily="34" charset="0"/>
                  </a:rPr>
                  <a:t> This can also be expressed in </a:t>
                </a:r>
                <a:r>
                  <a:rPr lang="en-US" sz="2400" b="1" i="1" dirty="0">
                    <a:solidFill>
                      <a:srgbClr val="0B61FF"/>
                    </a:solidFill>
                    <a:latin typeface="Trebuchet MS" panose="020B0603020202020204" pitchFamily="34" charset="0"/>
                  </a:rPr>
                  <a:t>cycle notation</a:t>
                </a:r>
                <a:r>
                  <a:rPr lang="en-US" sz="2400" i="1" dirty="0">
                    <a:solidFill>
                      <a:srgbClr val="0B61FF"/>
                    </a:solidFill>
                    <a:latin typeface="Trebuchet MS" panose="020B0603020202020204" pitchFamily="34" charset="0"/>
                  </a:rPr>
                  <a:t> </a:t>
                </a:r>
                <a:r>
                  <a:rPr lang="en-US" sz="2400" dirty="0">
                    <a:latin typeface="Trebuchet MS" panose="020B0603020202020204" pitchFamily="34" charset="0"/>
                  </a:rPr>
                  <a:t>as:</a:t>
                </a:r>
                <a14:m>
                  <m:oMath xmlns:m="http://schemas.openxmlformats.org/officeDocument/2006/math">
                    <m:r>
                      <a:rPr lang="en-US" altLang="zh-CN" sz="2400" b="0" i="0" smtClean="0">
                        <a:latin typeface="Cambria Math" panose="02040503050406030204" pitchFamily="18" charset="0"/>
                        <a:ea typeface="Cambria Math" panose="02040503050406030204" pitchFamily="18" charset="0"/>
                        <a:cs typeface="Times New Roman" panose="02020603050405020304" pitchFamily="18" charset="0"/>
                      </a:rPr>
                      <m:t> </m:t>
                    </m:r>
                    <m:r>
                      <a:rPr lang="zh-CN" altLang="en-US" sz="2400" b="1" i="1">
                        <a:latin typeface="Cambria Math" panose="02040503050406030204" pitchFamily="18" charset="0"/>
                        <a:ea typeface="Cambria Math" panose="02040503050406030204" pitchFamily="18" charset="0"/>
                        <a:cs typeface="Times New Roman" panose="02020603050405020304" pitchFamily="18" charset="0"/>
                      </a:rPr>
                      <m:t>𝝈</m:t>
                    </m:r>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𝟐𝟓𝟑</m:t>
                        </m:r>
                      </m:e>
                    </m:d>
                    <m:r>
                      <a:rPr lang="en-US" altLang="zh-CN" sz="2400" b="1" i="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a:t>
                </a:r>
                <a:r>
                  <a:rPr lang="en-US" sz="2400" dirty="0">
                    <a:latin typeface="Trebuchet MS" panose="020B0603020202020204" pitchFamily="34" charset="0"/>
                  </a:rPr>
                  <a:t> which means </a:t>
                </a:r>
                <a:r>
                  <a:rPr lang="en-US" sz="2400" b="1" dirty="0">
                    <a:latin typeface="Trebuchet MS" panose="020B0603020202020204" pitchFamily="34" charset="0"/>
                  </a:rPr>
                  <a:t>2</a:t>
                </a:r>
                <a:r>
                  <a:rPr lang="en-US" sz="2400" dirty="0">
                    <a:latin typeface="Trebuchet MS" panose="020B0603020202020204" pitchFamily="34" charset="0"/>
                  </a:rPr>
                  <a:t> maps to </a:t>
                </a:r>
                <a:r>
                  <a:rPr lang="en-US" sz="2400" b="1" dirty="0">
                    <a:latin typeface="Trebuchet MS" panose="020B0603020202020204" pitchFamily="34" charset="0"/>
                  </a:rPr>
                  <a:t>5</a:t>
                </a:r>
                <a:r>
                  <a:rPr lang="en-US" sz="2400" dirty="0">
                    <a:latin typeface="Trebuchet MS" panose="020B0603020202020204" pitchFamily="34" charset="0"/>
                  </a:rPr>
                  <a:t>, </a:t>
                </a:r>
                <a:r>
                  <a:rPr lang="en-US" sz="2400" b="1" dirty="0">
                    <a:latin typeface="Trebuchet MS" panose="020B0603020202020204" pitchFamily="34" charset="0"/>
                  </a:rPr>
                  <a:t>5</a:t>
                </a:r>
                <a:r>
                  <a:rPr lang="en-US" sz="2400" dirty="0">
                    <a:latin typeface="Trebuchet MS" panose="020B0603020202020204" pitchFamily="34" charset="0"/>
                  </a:rPr>
                  <a:t> maps to </a:t>
                </a:r>
                <a:r>
                  <a:rPr lang="en-US" sz="2400" b="1" dirty="0">
                    <a:latin typeface="Trebuchet MS" panose="020B0603020202020204" pitchFamily="34" charset="0"/>
                  </a:rPr>
                  <a:t>3</a:t>
                </a:r>
                <a:r>
                  <a:rPr lang="en-US" sz="2400" dirty="0">
                    <a:latin typeface="Trebuchet MS" panose="020B0603020202020204" pitchFamily="34" charset="0"/>
                  </a:rPr>
                  <a:t>, and </a:t>
                </a:r>
                <a:r>
                  <a:rPr lang="en-US" sz="2400" b="1" dirty="0">
                    <a:latin typeface="Trebuchet MS" panose="020B0603020202020204" pitchFamily="34" charset="0"/>
                  </a:rPr>
                  <a:t>3</a:t>
                </a:r>
                <a:r>
                  <a:rPr lang="en-US" sz="2400" dirty="0">
                    <a:latin typeface="Trebuchet MS" panose="020B0603020202020204" pitchFamily="34" charset="0"/>
                  </a:rPr>
                  <a:t> maps to </a:t>
                </a:r>
                <a:r>
                  <a:rPr lang="en-US" sz="2400" b="1" dirty="0">
                    <a:latin typeface="Trebuchet MS" panose="020B0603020202020204" pitchFamily="34" charset="0"/>
                  </a:rPr>
                  <a:t>2</a:t>
                </a:r>
                <a:r>
                  <a:rPr lang="en-US" sz="2400" dirty="0">
                    <a:latin typeface="Trebuchet MS" panose="020B0603020202020204" pitchFamily="34" charset="0"/>
                  </a:rPr>
                  <a:t>.</a:t>
                </a:r>
              </a:p>
              <a:p>
                <a:pPr>
                  <a:lnSpc>
                    <a:spcPct val="120000"/>
                  </a:lnSpc>
                  <a:spcBef>
                    <a:spcPts val="800"/>
                  </a:spcBef>
                  <a:buClr>
                    <a:srgbClr val="0B61FF"/>
                  </a:buClr>
                  <a:buSzPct val="80000"/>
                  <a:buFont typeface="Wingdings" panose="05000000000000000000" pitchFamily="2" charset="2"/>
                  <a:buChar char="n"/>
                </a:pPr>
                <a:r>
                  <a:rPr lang="en-US" sz="2400" dirty="0">
                    <a:latin typeface="Trebuchet MS" panose="020B0603020202020204" pitchFamily="34" charset="0"/>
                  </a:rPr>
                  <a:t>If a cycle has length </a:t>
                </a:r>
                <a:r>
                  <a:rPr lang="en-US" sz="2400" b="1" i="1" dirty="0">
                    <a:latin typeface="Trebuchet MS" panose="020B0603020202020204" pitchFamily="34" charset="0"/>
                  </a:rPr>
                  <a:t>m</a:t>
                </a:r>
                <a:r>
                  <a:rPr lang="en-US" sz="2400" dirty="0">
                    <a:latin typeface="Trebuchet MS" panose="020B0603020202020204" pitchFamily="34" charset="0"/>
                  </a:rPr>
                  <a:t>, then</a:t>
                </a:r>
                <a14:m>
                  <m:oMath xmlns:m="http://schemas.openxmlformats.org/officeDocument/2006/math">
                    <m:r>
                      <a:rPr lang="en-US" altLang="zh-CN" sz="2400" b="0" i="0" smtClean="0">
                        <a:latin typeface="Cambria Math" panose="02040503050406030204" pitchFamily="18" charset="0"/>
                        <a:ea typeface="Cambria Math" panose="02040503050406030204" pitchFamily="18" charset="0"/>
                        <a:cs typeface="Times New Roman" panose="02020603050405020304" pitchFamily="18" charset="0"/>
                      </a:rPr>
                      <m:t> </m:t>
                    </m:r>
                    <m:r>
                      <a:rPr lang="zh-CN" altLang="en-US" sz="2400" b="1" i="1">
                        <a:latin typeface="Cambria Math" panose="02040503050406030204" pitchFamily="18" charset="0"/>
                        <a:ea typeface="Cambria Math" panose="02040503050406030204" pitchFamily="18" charset="0"/>
                        <a:cs typeface="Times New Roman" panose="02020603050405020304" pitchFamily="18" charset="0"/>
                      </a:rPr>
                      <m:t>𝝈</m:t>
                    </m:r>
                  </m:oMath>
                </a14:m>
                <a:r>
                  <a:rPr lang="en-US" sz="2400" dirty="0">
                    <a:latin typeface="Trebuchet MS" panose="020B0603020202020204" pitchFamily="34" charset="0"/>
                  </a:rPr>
                  <a:t> is called an </a:t>
                </a:r>
                <a:r>
                  <a:rPr lang="en-US" sz="2400" b="1" i="1" dirty="0">
                    <a:solidFill>
                      <a:srgbClr val="0B61FF"/>
                    </a:solidFill>
                    <a:latin typeface="Trebuchet MS" panose="020B0603020202020204" pitchFamily="34" charset="0"/>
                  </a:rPr>
                  <a:t>m-cycle</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m</a:t>
                </a:r>
                <a:r>
                  <a:rPr lang="en-US" altLang="zh-CN" sz="2400" b="1" dirty="0">
                    <a:latin typeface="Trebuchet MS" panose="020B0603020202020204" pitchFamily="34" charset="0"/>
                    <a:cs typeface="Times New Roman" panose="02020603050405020304" pitchFamily="18" charset="0"/>
                  </a:rPr>
                  <a:t>=2</a:t>
                </a:r>
                <a:r>
                  <a:rPr lang="en-US" sz="2400" dirty="0">
                    <a:latin typeface="Trebuchet MS" panose="020B0603020202020204" pitchFamily="34" charset="0"/>
                  </a:rPr>
                  <a:t>  it's called a </a:t>
                </a:r>
                <a:r>
                  <a:rPr lang="en-US" sz="2400" b="1" i="1" dirty="0">
                    <a:solidFill>
                      <a:srgbClr val="0B61FF"/>
                    </a:solidFill>
                    <a:latin typeface="Trebuchet MS" panose="020B0603020202020204" pitchFamily="34" charset="0"/>
                  </a:rPr>
                  <a:t>transposition</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 m</a:t>
                </a:r>
                <a:r>
                  <a:rPr lang="en-US" altLang="zh-CN" sz="2400" b="1" dirty="0">
                    <a:latin typeface="Trebuchet MS" panose="020B0603020202020204" pitchFamily="34" charset="0"/>
                    <a:cs typeface="Times New Roman" panose="02020603050405020304" pitchFamily="18" charset="0"/>
                  </a:rPr>
                  <a:t>=1</a:t>
                </a:r>
                <a:r>
                  <a:rPr lang="en-US" sz="2400" dirty="0">
                    <a:latin typeface="Trebuchet MS" panose="020B0603020202020204" pitchFamily="34" charset="0"/>
                  </a:rPr>
                  <a:t> it's the </a:t>
                </a:r>
                <a:r>
                  <a:rPr lang="en-US" sz="2400" b="1" i="1" dirty="0">
                    <a:solidFill>
                      <a:srgbClr val="0B61FF"/>
                    </a:solidFill>
                    <a:latin typeface="Trebuchet MS" panose="020B0603020202020204" pitchFamily="34" charset="0"/>
                  </a:rPr>
                  <a:t>identity permutation</a:t>
                </a:r>
                <a:r>
                  <a:rPr lang="en-US" sz="2400" dirty="0">
                    <a:latin typeface="Trebuchet MS" panose="020B0603020202020204" pitchFamily="34" charset="0"/>
                  </a:rPr>
                  <a:t>.</a:t>
                </a:r>
                <a:endParaRPr lang="en-US" sz="2400" b="1" dirty="0">
                  <a:latin typeface="Trebuchet MS" panose="020B0603020202020204" pitchFamily="34" charset="0"/>
                  <a:ea typeface="Cambria Math" panose="02040503050406030204" pitchFamily="18" charset="0"/>
                  <a:cs typeface="Times New Roman" panose="02020603050405020304" pitchFamily="18" charset="0"/>
                </a:endParaRPr>
              </a:p>
              <a:p>
                <a:pPr>
                  <a:lnSpc>
                    <a:spcPct val="120000"/>
                  </a:lnSpc>
                  <a:spcBef>
                    <a:spcPts val="800"/>
                  </a:spcBef>
                  <a:buClr>
                    <a:srgbClr val="0B61FF"/>
                  </a:buClr>
                  <a:buSzPct val="80000"/>
                  <a:buFont typeface="Wingdings" panose="05000000000000000000" pitchFamily="2" charset="2"/>
                  <a:buChar char="n"/>
                </a:pPr>
                <a:r>
                  <a:rPr lang="en-US" sz="2400" b="1" dirty="0">
                    <a:latin typeface="Trebuchet MS" panose="020B0603020202020204" pitchFamily="34" charset="0"/>
                  </a:rPr>
                  <a:t>Any permutation</a:t>
                </a:r>
                <a14:m>
                  <m:oMath xmlns:m="http://schemas.openxmlformats.org/officeDocument/2006/math">
                    <m:r>
                      <a:rPr lang="en-US" altLang="zh-CN" sz="2400" b="1" i="0" smtClean="0">
                        <a:latin typeface="Cambria Math" panose="02040503050406030204" pitchFamily="18" charset="0"/>
                        <a:ea typeface="Cambria Math" panose="02040503050406030204" pitchFamily="18" charset="0"/>
                        <a:cs typeface="Times New Roman" panose="02020603050405020304" pitchFamily="18" charset="0"/>
                      </a:rPr>
                      <m:t> </m:t>
                    </m:r>
                    <m:r>
                      <a:rPr lang="zh-CN" altLang="en-US" sz="2400" b="1" i="1">
                        <a:latin typeface="Cambria Math" panose="02040503050406030204" pitchFamily="18" charset="0"/>
                        <a:ea typeface="Cambria Math" panose="02040503050406030204" pitchFamily="18" charset="0"/>
                        <a:cs typeface="Times New Roman" panose="02020603050405020304" pitchFamily="18" charset="0"/>
                      </a:rPr>
                      <m:t>𝝈</m:t>
                    </m:r>
                  </m:oMath>
                </a14:m>
                <a:r>
                  <a:rPr lang="en-US" sz="2400" dirty="0">
                    <a:latin typeface="Trebuchet MS" panose="020B0603020202020204" pitchFamily="34" charset="0"/>
                  </a:rPr>
                  <a:t> can be expressed as a product of </a:t>
                </a:r>
                <a:r>
                  <a:rPr lang="en-US" sz="2400" b="1" i="1" dirty="0">
                    <a:solidFill>
                      <a:srgbClr val="0B61FF"/>
                    </a:solidFill>
                    <a:latin typeface="Trebuchet MS" panose="020B0603020202020204" pitchFamily="34" charset="0"/>
                  </a:rPr>
                  <a:t>disjoint cycles</a:t>
                </a:r>
                <a:r>
                  <a:rPr lang="en-US" sz="2400"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For example:</a:t>
                </a:r>
                <a14:m>
                  <m:oMath xmlns:m="http://schemas.openxmlformats.org/officeDocument/2006/math">
                    <m:r>
                      <a:rPr lang="zh-CN" altLang="en-US" sz="2400" b="1" i="1">
                        <a:latin typeface="Cambria Math" panose="02040503050406030204" pitchFamily="18" charset="0"/>
                        <a:ea typeface="Cambria Math" panose="02040503050406030204" pitchFamily="18" charset="0"/>
                        <a:cs typeface="Times New Roman" panose="02020603050405020304" pitchFamily="18" charset="0"/>
                      </a:rPr>
                      <m:t>𝝈</m:t>
                    </m:r>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dPr>
                      <m:e>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𝟏</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𝟔</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𝟐</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𝟓</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𝟑</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𝟐</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𝟒</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𝟒</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𝟓</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𝟑</m:t>
                            </m:r>
                          </m:den>
                        </m:f>
                        <m:f>
                          <m:fPr>
                            <m:type m:val="noBa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𝟔</m:t>
                            </m:r>
                          </m:num>
                          <m:den>
                            <m:r>
                              <a:rPr lang="en-US" altLang="zh-CN" sz="2400" b="1" i="1">
                                <a:latin typeface="Cambria Math" panose="02040503050406030204" pitchFamily="18" charset="0"/>
                                <a:ea typeface="Cambria Math" panose="02040503050406030204" pitchFamily="18" charset="0"/>
                                <a:cs typeface="Times New Roman" panose="02020603050405020304" pitchFamily="18" charset="0"/>
                              </a:rPr>
                              <m:t>𝟏</m:t>
                            </m:r>
                          </m:den>
                        </m:f>
                      </m:e>
                    </m:d>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𝟏𝟔</m:t>
                        </m:r>
                      </m:e>
                    </m:d>
                    <m:d>
                      <m:dPr>
                        <m:ctrlPr>
                          <a:rPr lang="en-US" altLang="zh-CN" sz="2400" b="1"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𝟐𝟓𝟑</m:t>
                        </m:r>
                      </m:e>
                    </m:d>
                  </m:oMath>
                </a14:m>
                <a:endParaRPr lang="en-US" altLang="zh-CN" sz="2400" b="1" i="1" dirty="0">
                  <a:latin typeface="Trebuchet MS" panose="020B0603020202020204" pitchFamily="34" charset="0"/>
                  <a:cs typeface="Times New Roman" panose="02020603050405020304" pitchFamily="18" charset="0"/>
                </a:endParaRPr>
              </a:p>
              <a:p>
                <a:pPr marL="0" indent="0">
                  <a:lnSpc>
                    <a:spcPct val="120000"/>
                  </a:lnSpc>
                  <a:spcBef>
                    <a:spcPts val="0"/>
                  </a:spcBef>
                  <a:buNone/>
                </a:pPr>
                <a:endParaRPr lang="en-US" altLang="zh-CN" sz="2400" b="1" dirty="0">
                  <a:latin typeface="Trebuchet MS" panose="020B0603020202020204" pitchFamily="34" charset="0"/>
                  <a:cs typeface="Times New Roman" panose="02020603050405020304" pitchFamily="18" charset="0"/>
                </a:endParaRPr>
              </a:p>
            </p:txBody>
          </p:sp>
        </mc:Choice>
        <mc:Fallback xmlns="">
          <p:sp>
            <p:nvSpPr>
              <p:cNvPr id="12" name="Rectangle 3">
                <a:extLst>
                  <a:ext uri="{FF2B5EF4-FFF2-40B4-BE49-F238E27FC236}">
                    <a16:creationId xmlns:a16="http://schemas.microsoft.com/office/drawing/2014/main" id="{2E685364-D648-4D89-8297-3AFF51F7FAD6}"/>
                  </a:ext>
                </a:extLst>
              </p:cNvPr>
              <p:cNvSpPr txBox="1">
                <a:spLocks noRot="1" noChangeAspect="1" noMove="1" noResize="1" noEditPoints="1" noAdjustHandles="1" noChangeArrowheads="1" noChangeShapeType="1" noTextEdit="1"/>
              </p:cNvSpPr>
              <p:nvPr/>
            </p:nvSpPr>
            <p:spPr>
              <a:xfrm>
                <a:off x="912402" y="882927"/>
                <a:ext cx="10256341" cy="5118426"/>
              </a:xfrm>
              <a:prstGeom prst="rect">
                <a:avLst/>
              </a:prstGeom>
              <a:blipFill>
                <a:blip r:embed="rId5"/>
                <a:stretch>
                  <a:fillRect l="-476" t="-358" r="-5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88788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2" end="2"/>
                                            </p:txEl>
                                          </p:spTgt>
                                        </p:tgtEl>
                                        <p:attrNameLst>
                                          <p:attrName>style.visibility</p:attrName>
                                        </p:attrNameLst>
                                      </p:cBhvr>
                                      <p:to>
                                        <p:strVal val="visible"/>
                                      </p:to>
                                    </p:set>
                                    <p:animEffect transition="in" filter="fade">
                                      <p:cBhvr>
                                        <p:cTn id="14" dur="1000"/>
                                        <p:tgtEl>
                                          <p:spTgt spid="12">
                                            <p:txEl>
                                              <p:pRg st="2" end="2"/>
                                            </p:txEl>
                                          </p:spTgt>
                                        </p:tgtEl>
                                      </p:cBhvr>
                                    </p:animEffect>
                                    <p:anim calcmode="lin" valueType="num">
                                      <p:cBhvr>
                                        <p:cTn id="15"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animEffect transition="in" filter="fade">
                                      <p:cBhvr>
                                        <p:cTn id="21" dur="1000"/>
                                        <p:tgtEl>
                                          <p:spTgt spid="12">
                                            <p:txEl>
                                              <p:pRg st="3" end="3"/>
                                            </p:txEl>
                                          </p:spTgt>
                                        </p:tgtEl>
                                      </p:cBhvr>
                                    </p:animEffect>
                                    <p:anim calcmode="lin" valueType="num">
                                      <p:cBhvr>
                                        <p:cTn id="22"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Common types of permutations in groups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1" name="Rectangle 3">
            <a:extLst>
              <a:ext uri="{FF2B5EF4-FFF2-40B4-BE49-F238E27FC236}">
                <a16:creationId xmlns:a16="http://schemas.microsoft.com/office/drawing/2014/main" id="{1CC6F61A-F3D1-459C-A235-89B3CDCB21F5}"/>
              </a:ext>
            </a:extLst>
          </p:cNvPr>
          <p:cNvSpPr>
            <a:spLocks noGrp="1" noChangeArrowheads="1"/>
          </p:cNvSpPr>
          <p:nvPr>
            <p:ph idx="1"/>
          </p:nvPr>
        </p:nvSpPr>
        <p:spPr>
          <a:xfrm>
            <a:off x="1023030" y="794338"/>
            <a:ext cx="9914373" cy="5388185"/>
          </a:xfrm>
        </p:spPr>
        <p:txBody>
          <a:bodyPr>
            <a:noAutofit/>
          </a:bodyPr>
          <a:lstStyle/>
          <a:p>
            <a:pPr eaLnBrk="1" hangingPunct="1">
              <a:lnSpc>
                <a:spcPct val="120000"/>
              </a:lnSpc>
              <a:spcBef>
                <a:spcPts val="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Identity Permutation</a:t>
            </a:r>
            <a:r>
              <a:rPr lang="en-US" sz="2400" b="1" dirty="0">
                <a:latin typeface="Trebuchet MS" panose="020B0603020202020204" pitchFamily="34" charset="0"/>
              </a:rPr>
              <a:t>:  </a:t>
            </a:r>
            <a:r>
              <a:rPr lang="en-US" sz="2400" dirty="0">
                <a:latin typeface="Trebuchet MS" panose="020B0603020202020204" pitchFamily="34" charset="0"/>
              </a:rPr>
              <a:t>A permutation that does not change the position of any element. It is denoted by </a:t>
            </a:r>
            <a:r>
              <a:rPr lang="en-US" altLang="zh-CN" sz="2400" b="1" i="1" dirty="0">
                <a:latin typeface="Trebuchet MS" panose="020B0603020202020204" pitchFamily="34" charset="0"/>
                <a:cs typeface="Times New Roman" panose="02020603050405020304" pitchFamily="18" charset="0"/>
              </a:rPr>
              <a:t>e</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 or </a:t>
            </a:r>
            <a:r>
              <a:rPr lang="en-US" altLang="zh-CN" sz="2400" b="1" i="1" dirty="0">
                <a:latin typeface="Trebuchet MS" panose="020B0603020202020204" pitchFamily="34" charset="0"/>
                <a:cs typeface="Times New Roman" panose="02020603050405020304" pitchFamily="18" charset="0"/>
              </a:rPr>
              <a:t>id</a:t>
            </a:r>
            <a:r>
              <a:rPr lang="en-US" sz="2400" dirty="0">
                <a:latin typeface="Trebuchet MS" panose="020B0603020202020204" pitchFamily="34" charset="0"/>
              </a:rPr>
              <a:t>.</a:t>
            </a:r>
          </a:p>
          <a:p>
            <a:pPr marL="447675" indent="-182563" eaLnBrk="1" hangingPunct="1">
              <a:lnSpc>
                <a:spcPct val="120000"/>
              </a:lnSpc>
              <a:spcBef>
                <a:spcPts val="0"/>
              </a:spcBef>
              <a:buClr>
                <a:srgbClr val="0B61FF"/>
              </a:buClr>
              <a:buSzPct val="120000"/>
            </a:pPr>
            <a:r>
              <a:rPr lang="en-US" sz="2400" b="1" dirty="0">
                <a:latin typeface="Trebuchet MS" panose="020B0603020202020204" pitchFamily="34" charset="0"/>
              </a:rPr>
              <a:t>Example:</a:t>
            </a:r>
            <a:r>
              <a:rPr lang="en-US" sz="2400" dirty="0">
                <a:latin typeface="Trebuchet MS" panose="020B0603020202020204" pitchFamily="34" charset="0"/>
              </a:rPr>
              <a:t> In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S</a:t>
            </a:r>
            <a:r>
              <a:rPr lang="en-US" altLang="zh-CN" sz="2400" b="1" baseline="-25000" dirty="0">
                <a:latin typeface="Trebuchet MS" panose="020B0603020202020204" pitchFamily="34" charset="0"/>
                <a:ea typeface="楷体" panose="02010609060101010101" pitchFamily="49" charset="-122"/>
                <a:cs typeface="Times New Roman" panose="02020603050405020304" pitchFamily="18" charset="0"/>
              </a:rPr>
              <a:t>3</a:t>
            </a:r>
            <a:r>
              <a:rPr lang="en-US" sz="2400" dirty="0">
                <a:latin typeface="Trebuchet MS" panose="020B0603020202020204" pitchFamily="34" charset="0"/>
              </a:rPr>
              <a:t>, the identity permutation is </a:t>
            </a:r>
            <a:r>
              <a:rPr lang="en-US" altLang="zh-CN" sz="2400" b="1" i="1"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e</a:t>
            </a:r>
            <a:r>
              <a:rPr lang="en-US" altLang="zh-CN" sz="2400" b="1"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=(1)(2)(3)</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a:t>
            </a:r>
          </a:p>
          <a:p>
            <a:pPr>
              <a:lnSpc>
                <a:spcPct val="120000"/>
              </a:lnSpc>
              <a:spcBef>
                <a:spcPts val="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Transpositions</a:t>
            </a:r>
            <a:r>
              <a:rPr lang="en-US" sz="2400" b="1" dirty="0">
                <a:latin typeface="Trebuchet MS" panose="020B0603020202020204" pitchFamily="34" charset="0"/>
              </a:rPr>
              <a:t>: </a:t>
            </a:r>
            <a:r>
              <a:rPr lang="en-US" sz="2400" dirty="0">
                <a:latin typeface="Trebuchet MS" panose="020B0603020202020204" pitchFamily="34" charset="0"/>
              </a:rPr>
              <a:t>A permutation that swaps exactly two elements while leaving all others unchanged. It is denoted as </a:t>
            </a:r>
            <a:r>
              <a:rPr lang="en-US" altLang="zh-CN" sz="2400" b="1" dirty="0">
                <a:solidFill>
                  <a:srgbClr val="FF0000"/>
                </a:solidFill>
                <a:latin typeface="Trebuchet MS" panose="020B0603020202020204" pitchFamily="34" charset="0"/>
                <a:cs typeface="Times New Roman" panose="02020603050405020304" pitchFamily="18" charset="0"/>
              </a:rPr>
              <a:t>(ab)</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 .</a:t>
            </a:r>
            <a:endParaRPr lang="en-US" altLang="zh-CN" sz="2400" b="1" dirty="0">
              <a:solidFill>
                <a:srgbClr val="FF0000"/>
              </a:solidFill>
              <a:latin typeface="Trebuchet MS" panose="020B0603020202020204" pitchFamily="34" charset="0"/>
              <a:cs typeface="Times New Roman" panose="02020603050405020304" pitchFamily="18" charset="0"/>
            </a:endParaRPr>
          </a:p>
          <a:p>
            <a:pPr>
              <a:lnSpc>
                <a:spcPct val="120000"/>
              </a:lnSpc>
              <a:spcBef>
                <a:spcPts val="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Cycles</a:t>
            </a:r>
            <a:r>
              <a:rPr lang="en-US" sz="2400" b="1" dirty="0">
                <a:latin typeface="Trebuchet MS" panose="020B0603020202020204" pitchFamily="34" charset="0"/>
              </a:rPr>
              <a:t>: </a:t>
            </a:r>
            <a:r>
              <a:rPr lang="en-US" sz="2400" dirty="0">
                <a:latin typeface="Trebuchet MS" panose="020B0603020202020204" pitchFamily="34" charset="0"/>
              </a:rPr>
              <a:t>A permutation that cycles a group of elements in a specific order, leaving all other elements unchanged. It is written </a:t>
            </a:r>
            <a:r>
              <a:rPr lang="en-US" altLang="zh-CN" sz="2400" b="1" dirty="0">
                <a:solidFill>
                  <a:srgbClr val="FF0000"/>
                </a:solidFill>
                <a:latin typeface="Trebuchet MS" panose="020B0603020202020204" pitchFamily="34" charset="0"/>
                <a:cs typeface="Times New Roman" panose="02020603050405020304" pitchFamily="18" charset="0"/>
              </a:rPr>
              <a:t>(a1a2⋯ak)</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 .</a:t>
            </a:r>
            <a:endParaRPr lang="en-US" altLang="zh-CN" sz="2400" b="1" dirty="0">
              <a:solidFill>
                <a:srgbClr val="FF0000"/>
              </a:solidFill>
              <a:latin typeface="Trebuchet MS" panose="020B0603020202020204" pitchFamily="34" charset="0"/>
              <a:cs typeface="Times New Roman" panose="02020603050405020304" pitchFamily="18" charset="0"/>
            </a:endParaRPr>
          </a:p>
          <a:p>
            <a:pPr>
              <a:lnSpc>
                <a:spcPct val="120000"/>
              </a:lnSpc>
              <a:spcBef>
                <a:spcPts val="0"/>
              </a:spcBef>
              <a:buClr>
                <a:srgbClr val="0B61FF"/>
              </a:buClr>
              <a:buSzPct val="80000"/>
              <a:buFont typeface="Wingdings" panose="05000000000000000000" pitchFamily="2" charset="2"/>
              <a:buChar char="n"/>
            </a:pPr>
            <a:r>
              <a:rPr lang="en-US" altLang="zh-CN" sz="2400" b="1" i="1" dirty="0">
                <a:solidFill>
                  <a:srgbClr val="0B61FF"/>
                </a:solidFill>
                <a:latin typeface="Trebuchet MS" panose="020B0603020202020204" pitchFamily="34" charset="0"/>
              </a:rPr>
              <a:t>Composition of Permutations</a:t>
            </a:r>
            <a:r>
              <a:rPr lang="en-US" altLang="zh-CN" sz="2400" b="1" dirty="0">
                <a:latin typeface="Trebuchet MS" panose="020B0603020202020204" pitchFamily="34" charset="0"/>
              </a:rPr>
              <a:t>: </a:t>
            </a:r>
            <a:r>
              <a:rPr lang="en-US" altLang="zh-CN" sz="2400" dirty="0">
                <a:latin typeface="Trebuchet MS" panose="020B0603020202020204" pitchFamily="34" charset="0"/>
              </a:rPr>
              <a:t>The operation of applying two or more permutations in sequence, denoted by </a:t>
            </a:r>
            <a:r>
              <a:rPr lang="en-US" altLang="zh-CN" sz="2400" b="1" dirty="0">
                <a:latin typeface="Trebuchet MS" panose="020B0603020202020204" pitchFamily="34" charset="0"/>
              </a:rPr>
              <a:t>∘</a:t>
            </a:r>
            <a:r>
              <a:rPr lang="en-US" altLang="zh-CN" sz="2400" dirty="0">
                <a:latin typeface="Trebuchet MS" panose="020B0603020202020204" pitchFamily="34" charset="0"/>
              </a:rPr>
              <a:t>. For example, </a:t>
            </a:r>
            <a:r>
              <a:rPr lang="el-GR" altLang="zh-CN" sz="2400" b="1" dirty="0">
                <a:solidFill>
                  <a:srgbClr val="FF0000"/>
                </a:solidFill>
                <a:latin typeface="Trebuchet MS" panose="020B0603020202020204" pitchFamily="34" charset="0"/>
                <a:cs typeface="Times New Roman" panose="02020603050405020304" pitchFamily="18" charset="0"/>
              </a:rPr>
              <a:t>σ∘τ</a:t>
            </a:r>
            <a:r>
              <a:rPr lang="el-GR"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means apply </a:t>
            </a:r>
            <a:r>
              <a:rPr lang="el-GR" altLang="zh-CN" sz="2400" b="1" dirty="0">
                <a:latin typeface="Trebuchet MS" panose="020B0603020202020204" pitchFamily="34" charset="0"/>
                <a:cs typeface="Times New Roman" panose="02020603050405020304" pitchFamily="18" charset="0"/>
              </a:rPr>
              <a:t>τ</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first, then </a:t>
            </a:r>
            <a:r>
              <a:rPr lang="el-GR" altLang="zh-CN" sz="2400" b="1" dirty="0">
                <a:latin typeface="Trebuchet MS" panose="020B0603020202020204" pitchFamily="34" charset="0"/>
                <a:cs typeface="Times New Roman" panose="02020603050405020304" pitchFamily="18" charset="0"/>
              </a:rPr>
              <a:t>σ</a:t>
            </a:r>
            <a:r>
              <a:rPr lang="en-US" altLang="zh-CN" sz="2400" dirty="0">
                <a:latin typeface="Trebuchet MS" panose="020B0603020202020204" pitchFamily="34" charset="0"/>
              </a:rPr>
              <a:t>.</a:t>
            </a:r>
          </a:p>
          <a:p>
            <a:pPr marL="447675" indent="-182563">
              <a:lnSpc>
                <a:spcPct val="120000"/>
              </a:lnSpc>
              <a:spcBef>
                <a:spcPts val="0"/>
              </a:spcBef>
              <a:buClr>
                <a:srgbClr val="0B61FF"/>
              </a:buClr>
              <a:buSzPct val="120000"/>
            </a:pPr>
            <a:r>
              <a:rPr lang="en-US" altLang="zh-CN" sz="2400" b="1" dirty="0">
                <a:latin typeface="Trebuchet MS" panose="020B0603020202020204" pitchFamily="34" charset="0"/>
              </a:rPr>
              <a:t>Example: </a:t>
            </a:r>
            <a:r>
              <a:rPr lang="en-US" altLang="zh-CN" sz="2400" dirty="0">
                <a:latin typeface="Trebuchet MS" panose="020B0603020202020204" pitchFamily="34" charset="0"/>
                <a:ea typeface="楷体" panose="02010609060101010101" pitchFamily="49" charset="-122"/>
                <a:cs typeface="Times New Roman" panose="02020603050405020304" pitchFamily="18" charset="0"/>
              </a:rPr>
              <a:t>In</a:t>
            </a:r>
            <a:r>
              <a:rPr lang="zh-CN" altLang="en-US" sz="2400" b="1" i="1"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S</a:t>
            </a:r>
            <a:r>
              <a:rPr lang="en-US" altLang="zh-CN" sz="2400" b="1" baseline="-25000" dirty="0">
                <a:latin typeface="Trebuchet MS" panose="020B0603020202020204" pitchFamily="34" charset="0"/>
                <a:ea typeface="楷体" panose="02010609060101010101" pitchFamily="49" charset="-122"/>
                <a:cs typeface="Times New Roman" panose="02020603050405020304" pitchFamily="18" charset="0"/>
              </a:rPr>
              <a:t>3</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 </a:t>
            </a:r>
            <a:r>
              <a:rPr lang="en-US" altLang="zh-CN" sz="2400"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if</a:t>
            </a:r>
            <a:r>
              <a:rPr lang="en-US"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 </a:t>
            </a:r>
            <a:r>
              <a:rPr lang="en-US" altLang="zh-CN" sz="2400" b="1" i="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σ</a:t>
            </a:r>
            <a:r>
              <a:rPr lang="en-US"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kern="100"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123)</a:t>
            </a:r>
            <a:r>
              <a:rPr lang="zh-CN" altLang="zh-CN" sz="2400" b="1" kern="1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and</a:t>
            </a:r>
            <a:r>
              <a:rPr lang="en-US"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 </a:t>
            </a:r>
            <a:r>
              <a:rPr lang="en-US" altLang="zh-CN" sz="2400" b="1" i="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τ</a:t>
            </a:r>
            <a:r>
              <a:rPr lang="en-US"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kern="100"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23)</a:t>
            </a:r>
            <a:r>
              <a:rPr lang="en-US" altLang="zh-CN" sz="2400" b="1" kern="1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kern="100" dirty="0">
                <a:latin typeface="Trebuchet MS" panose="020B0603020202020204" pitchFamily="34" charset="0"/>
                <a:ea typeface="楷体" panose="02010609060101010101" pitchFamily="49" charset="-122"/>
                <a:cs typeface="Times New Roman" panose="02020603050405020304" pitchFamily="18" charset="0"/>
              </a:rPr>
              <a:t>then</a:t>
            </a:r>
            <a:r>
              <a:rPr lang="en-US" altLang="zh-CN" sz="2400" b="1" kern="1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b="1" i="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σ</a:t>
            </a:r>
            <a:r>
              <a:rPr lang="zh-CN"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i="1" kern="100" dirty="0">
                <a:latin typeface="Trebuchet MS" panose="020B0603020202020204" pitchFamily="34" charset="0"/>
                <a:ea typeface="楷体" panose="02010609060101010101" pitchFamily="49" charset="-122"/>
                <a:cs typeface="Times New Roman" panose="02020603050405020304" pitchFamily="18" charset="0"/>
              </a:rPr>
              <a:t>τ</a:t>
            </a:r>
            <a:r>
              <a:rPr lang="en-US" altLang="zh-CN" sz="2400" b="1" i="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kern="100"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123)</a:t>
            </a:r>
            <a:r>
              <a:rPr lang="zh-CN"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kern="100"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23)=</a:t>
            </a:r>
            <a:r>
              <a:rPr lang="zh-CN" altLang="zh-CN" sz="2400" b="1" kern="100"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kern="100" dirty="0">
                <a:solidFill>
                  <a:srgbClr val="0D0D0D"/>
                </a:solidFill>
                <a:latin typeface="Trebuchet MS" panose="020B0603020202020204" pitchFamily="34" charset="0"/>
                <a:ea typeface="楷体" panose="02010609060101010101" pitchFamily="49" charset="-122"/>
                <a:cs typeface="Times New Roman" panose="02020603050405020304" pitchFamily="18" charset="0"/>
              </a:rPr>
              <a:t>12)</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a:t>
            </a:r>
          </a:p>
          <a:p>
            <a:pPr eaLnBrk="1" hangingPunct="1">
              <a:lnSpc>
                <a:spcPct val="120000"/>
              </a:lnSpc>
              <a:spcBef>
                <a:spcPts val="0"/>
              </a:spcBef>
              <a:buClr>
                <a:srgbClr val="0B61FF"/>
              </a:buClr>
              <a:buSzPct val="80000"/>
              <a:buFont typeface="Wingdings" panose="05000000000000000000" pitchFamily="2" charset="2"/>
              <a:buChar char="n"/>
            </a:pPr>
            <a:endParaRPr lang="en-US" altLang="zh-CN"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2532750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3" end="3"/>
                                            </p:txEl>
                                          </p:spTgt>
                                        </p:tgtEl>
                                        <p:attrNameLst>
                                          <p:attrName>style.visibility</p:attrName>
                                        </p:attrNameLst>
                                      </p:cBhvr>
                                      <p:to>
                                        <p:strVal val="visible"/>
                                      </p:to>
                                    </p:set>
                                    <p:animEffect transition="in" filter="fade">
                                      <p:cBhvr>
                                        <p:cTn id="14" dur="1000"/>
                                        <p:tgtEl>
                                          <p:spTgt spid="11">
                                            <p:txEl>
                                              <p:pRg st="3" end="3"/>
                                            </p:txEl>
                                          </p:spTgt>
                                        </p:tgtEl>
                                      </p:cBhvr>
                                    </p:animEffect>
                                    <p:anim calcmode="lin" valueType="num">
                                      <p:cBhvr>
                                        <p:cTn id="15"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fade">
                                      <p:cBhvr>
                                        <p:cTn id="21" dur="1000"/>
                                        <p:tgtEl>
                                          <p:spTgt spid="11">
                                            <p:txEl>
                                              <p:pRg st="4" end="4"/>
                                            </p:txEl>
                                          </p:spTgt>
                                        </p:tgtEl>
                                      </p:cBhvr>
                                    </p:animEffect>
                                    <p:anim calcmode="lin" valueType="num">
                                      <p:cBhvr>
                                        <p:cTn id="22"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fade">
                                      <p:cBhvr>
                                        <p:cTn id="28" dur="1000"/>
                                        <p:tgtEl>
                                          <p:spTgt spid="11">
                                            <p:txEl>
                                              <p:pRg st="5" end="5"/>
                                            </p:txEl>
                                          </p:spTgt>
                                        </p:tgtEl>
                                      </p:cBhvr>
                                    </p:animEffect>
                                    <p:anim calcmode="lin" valueType="num">
                                      <p:cBhvr>
                                        <p:cTn id="29"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Common types of permutations in groups(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mc:AlternateContent xmlns:mc="http://schemas.openxmlformats.org/markup-compatibility/2006" xmlns:a14="http://schemas.microsoft.com/office/drawing/2010/main">
        <mc:Choice Requires="a14">
          <p:sp>
            <p:nvSpPr>
              <p:cNvPr id="11" name="Rectangle 3">
                <a:extLst>
                  <a:ext uri="{FF2B5EF4-FFF2-40B4-BE49-F238E27FC236}">
                    <a16:creationId xmlns:a16="http://schemas.microsoft.com/office/drawing/2014/main" id="{1CC6F61A-F3D1-459C-A235-89B3CDCB21F5}"/>
                  </a:ext>
                </a:extLst>
              </p:cNvPr>
              <p:cNvSpPr>
                <a:spLocks noGrp="1" noChangeArrowheads="1"/>
              </p:cNvSpPr>
              <p:nvPr>
                <p:ph idx="1"/>
              </p:nvPr>
            </p:nvSpPr>
            <p:spPr>
              <a:xfrm>
                <a:off x="1023030" y="794338"/>
                <a:ext cx="10297831" cy="5320711"/>
              </a:xfrm>
            </p:spPr>
            <p:txBody>
              <a:bodyPr>
                <a:noAutofit/>
              </a:bodyPr>
              <a:lstStyle/>
              <a:p>
                <a:pPr eaLnBrk="1" hangingPunct="1">
                  <a:lnSpc>
                    <a:spcPct val="120000"/>
                  </a:lnSpc>
                  <a:spcBef>
                    <a:spcPts val="60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Inverse Permutations</a:t>
                </a:r>
                <a:r>
                  <a:rPr lang="en-US" sz="2400" b="1" dirty="0">
                    <a:latin typeface="Trebuchet MS" panose="020B0603020202020204" pitchFamily="34" charset="0"/>
                  </a:rPr>
                  <a:t>: </a:t>
                </a:r>
                <a:r>
                  <a:rPr lang="en-US" sz="2400" dirty="0">
                    <a:latin typeface="Trebuchet MS" panose="020B0603020202020204" pitchFamily="34" charset="0"/>
                  </a:rPr>
                  <a:t>A permutation that reverses the mapping of a given permutation, such that </a:t>
                </a:r>
                <a:r>
                  <a:rPr lang="el-GR" altLang="zh-CN" sz="2400" b="1" dirty="0">
                    <a:latin typeface="Trebuchet MS" panose="020B0603020202020204" pitchFamily="34" charset="0"/>
                    <a:cs typeface="Times New Roman" panose="02020603050405020304" pitchFamily="18" charset="0"/>
                  </a:rPr>
                  <a:t>σ∘σ</a:t>
                </a:r>
                <a:r>
                  <a:rPr lang="el-GR" altLang="zh-CN" sz="2400" b="1" baseline="30000" dirty="0">
                    <a:latin typeface="Trebuchet MS" panose="020B0603020202020204" pitchFamily="34" charset="0"/>
                    <a:cs typeface="Times New Roman" panose="02020603050405020304" pitchFamily="18" charset="0"/>
                  </a:rPr>
                  <a:t>−1</a:t>
                </a:r>
                <a:r>
                  <a:rPr lang="el-GR"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e</a:t>
                </a:r>
                <a:r>
                  <a:rPr lang="en-US" sz="2400" dirty="0">
                    <a:latin typeface="Trebuchet MS" panose="020B0603020202020204" pitchFamily="34" charset="0"/>
                  </a:rPr>
                  <a:t>. It is denoted as </a:t>
                </a:r>
                <a:r>
                  <a:rPr lang="el-GR" altLang="zh-CN" sz="2400" b="1" dirty="0">
                    <a:solidFill>
                      <a:srgbClr val="FF0000"/>
                    </a:solidFill>
                    <a:latin typeface="Trebuchet MS" panose="020B0603020202020204" pitchFamily="34" charset="0"/>
                    <a:cs typeface="Times New Roman" panose="02020603050405020304" pitchFamily="18" charset="0"/>
                  </a:rPr>
                  <a:t>σ</a:t>
                </a:r>
                <a:r>
                  <a:rPr lang="el-GR" altLang="zh-CN" sz="2400" b="1" baseline="30000" dirty="0">
                    <a:solidFill>
                      <a:srgbClr val="FF0000"/>
                    </a:solidFill>
                    <a:latin typeface="Trebuchet MS" panose="020B0603020202020204" pitchFamily="34" charset="0"/>
                    <a:cs typeface="Times New Roman" panose="02020603050405020304" pitchFamily="18" charset="0"/>
                  </a:rPr>
                  <a:t>−1</a:t>
                </a:r>
                <a:r>
                  <a:rPr lang="en-US" sz="2400" dirty="0">
                    <a:latin typeface="Trebuchet MS" panose="020B0603020202020204" pitchFamily="34" charset="0"/>
                  </a:rPr>
                  <a:t> </a:t>
                </a:r>
                <a:r>
                  <a:rPr lang="en-US" altLang="zh-CN" sz="2400" b="1" dirty="0">
                    <a:latin typeface="Trebuchet MS" panose="020B0603020202020204" pitchFamily="34" charset="0"/>
                    <a:cs typeface="Times New Roman" panose="02020603050405020304" pitchFamily="18" charset="0"/>
                  </a:rPr>
                  <a:t>.</a:t>
                </a:r>
              </a:p>
              <a:p>
                <a:pPr marL="360363" indent="-184150">
                  <a:lnSpc>
                    <a:spcPct val="120000"/>
                  </a:lnSpc>
                  <a:spcBef>
                    <a:spcPts val="600"/>
                  </a:spcBef>
                  <a:buClr>
                    <a:srgbClr val="0B61FF"/>
                  </a:buClr>
                  <a:buSzPct val="120000"/>
                  <a:tabLst>
                    <a:tab pos="447675" algn="l"/>
                  </a:tabLst>
                </a:pPr>
                <a:r>
                  <a:rPr lang="en-US" sz="2400" b="1" dirty="0">
                    <a:latin typeface="Trebuchet MS" panose="020B0603020202020204" pitchFamily="34" charset="0"/>
                  </a:rPr>
                  <a:t>Example</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In </a:t>
                </a:r>
                <a:r>
                  <a:rPr lang="en-US" altLang="zh-CN" sz="2400" b="1" i="1" dirty="0">
                    <a:latin typeface="Trebuchet MS" panose="020B0603020202020204" pitchFamily="34" charset="0"/>
                    <a:ea typeface="楷体" panose="02010609060101010101" pitchFamily="49" charset="-122"/>
                    <a:cs typeface="Times New Roman" panose="02020603050405020304" pitchFamily="18" charset="0"/>
                  </a:rPr>
                  <a:t>S</a:t>
                </a:r>
                <a:r>
                  <a:rPr lang="en-US" altLang="zh-CN" sz="2400" b="1" baseline="-25000" dirty="0">
                    <a:latin typeface="Trebuchet MS" panose="020B0603020202020204" pitchFamily="34" charset="0"/>
                    <a:ea typeface="楷体" panose="02010609060101010101" pitchFamily="49" charset="-122"/>
                    <a:cs typeface="Times New Roman" panose="02020603050405020304" pitchFamily="18" charset="0"/>
                  </a:rPr>
                  <a:t>3</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 </a:t>
                </a:r>
                <a:r>
                  <a:rPr lang="en-US" sz="2400" dirty="0">
                    <a:latin typeface="Trebuchet MS" panose="020B0603020202020204" pitchFamily="34" charset="0"/>
                  </a:rPr>
                  <a:t>if  </a:t>
                </a:r>
                <a:r>
                  <a:rPr lang="el-GR" altLang="zh-CN" sz="2400" b="1" dirty="0">
                    <a:latin typeface="Trebuchet MS" panose="020B0603020202020204" pitchFamily="34" charset="0"/>
                    <a:ea typeface="楷体" panose="02010609060101010101" pitchFamily="49" charset="-122"/>
                    <a:cs typeface="Times New Roman" panose="02020603050405020304" pitchFamily="18" charset="0"/>
                  </a:rPr>
                  <a:t>σ=(123),</a:t>
                </a:r>
                <a:r>
                  <a:rPr lang="en-US" altLang="zh-CN" sz="2400" b="1" dirty="0">
                    <a:latin typeface="Trebuchet MS" panose="020B0603020202020204" pitchFamily="34" charset="0"/>
                    <a:ea typeface="楷体" panose="02010609060101010101" pitchFamily="49" charset="-122"/>
                    <a:cs typeface="Times New Roman" panose="02020603050405020304" pitchFamily="18" charset="0"/>
                  </a:rPr>
                  <a:t>then</a:t>
                </a:r>
                <a:r>
                  <a:rPr lang="zh-CN" altLang="en-US" sz="2400" b="1" dirty="0">
                    <a:latin typeface="Trebuchet MS" panose="020B0603020202020204" pitchFamily="34" charset="0"/>
                    <a:ea typeface="楷体" panose="02010609060101010101" pitchFamily="49" charset="-122"/>
                    <a:cs typeface="Times New Roman" panose="02020603050405020304" pitchFamily="18" charset="0"/>
                  </a:rPr>
                  <a:t> </a:t>
                </a:r>
                <a:r>
                  <a:rPr lang="el-GR" altLang="zh-CN" sz="2400" b="1" dirty="0">
                    <a:latin typeface="Trebuchet MS" panose="020B0603020202020204" pitchFamily="34" charset="0"/>
                    <a:ea typeface="楷体" panose="02010609060101010101" pitchFamily="49" charset="-122"/>
                    <a:cs typeface="Times New Roman" panose="02020603050405020304" pitchFamily="18" charset="0"/>
                  </a:rPr>
                  <a:t>σ</a:t>
                </a:r>
                <a:r>
                  <a:rPr lang="el-GR" altLang="zh-CN" sz="2400" b="1" baseline="30000" dirty="0">
                    <a:latin typeface="Trebuchet MS" panose="020B0603020202020204" pitchFamily="34" charset="0"/>
                    <a:ea typeface="楷体" panose="02010609060101010101" pitchFamily="49" charset="-122"/>
                    <a:cs typeface="Times New Roman" panose="02020603050405020304" pitchFamily="18" charset="0"/>
                  </a:rPr>
                  <a:t>−1</a:t>
                </a:r>
                <a:r>
                  <a:rPr lang="el-GR" altLang="zh-CN" sz="2400" b="1" dirty="0">
                    <a:latin typeface="Trebuchet MS" panose="020B0603020202020204" pitchFamily="34" charset="0"/>
                    <a:ea typeface="楷体" panose="02010609060101010101" pitchFamily="49" charset="-122"/>
                    <a:cs typeface="Times New Roman" panose="02020603050405020304" pitchFamily="18" charset="0"/>
                  </a:rPr>
                  <a:t>=(132).</a:t>
                </a:r>
                <a:endParaRPr lang="en-US" altLang="zh-CN" sz="2400" b="1" dirty="0">
                  <a:latin typeface="Trebuchet MS" panose="020B0603020202020204" pitchFamily="34" charset="0"/>
                  <a:ea typeface="楷体" panose="02010609060101010101" pitchFamily="49" charset="-122"/>
                  <a:cs typeface="Times New Roman" panose="02020603050405020304" pitchFamily="18" charset="0"/>
                </a:endParaRPr>
              </a:p>
              <a:p>
                <a:pPr>
                  <a:lnSpc>
                    <a:spcPct val="120000"/>
                  </a:lnSpc>
                  <a:spcBef>
                    <a:spcPts val="600"/>
                  </a:spcBef>
                  <a:buClr>
                    <a:srgbClr val="0B61FF"/>
                  </a:buClr>
                  <a:buSzPct val="80000"/>
                  <a:buFont typeface="Wingdings" panose="05000000000000000000" pitchFamily="2" charset="2"/>
                  <a:buChar char="n"/>
                  <a:tabLst>
                    <a:tab pos="265113" algn="l"/>
                  </a:tabLst>
                </a:pPr>
                <a:r>
                  <a:rPr lang="en-US" altLang="zh-CN" sz="2400" b="1" dirty="0">
                    <a:latin typeface="Trebuchet MS" panose="020B0603020202020204" pitchFamily="34" charset="0"/>
                  </a:rPr>
                  <a:t>Example </a:t>
                </a:r>
                <a:r>
                  <a:rPr lang="en-US" altLang="zh-CN" sz="2400" b="1" dirty="0">
                    <a:latin typeface="Trebuchet MS" panose="020B0603020202020204" pitchFamily="34" charset="0"/>
                    <a:cs typeface="Times New Roman" panose="02020603050405020304" pitchFamily="18" charset="0"/>
                  </a:rPr>
                  <a:t>1: </a:t>
                </a:r>
                <a:r>
                  <a:rPr lang="en-US" altLang="zh-CN" sz="2400" dirty="0">
                    <a:latin typeface="Trebuchet MS" panose="020B0603020202020204" pitchFamily="34" charset="0"/>
                    <a:cs typeface="Times New Roman" panose="02020603050405020304" pitchFamily="18" charset="0"/>
                  </a:rPr>
                  <a:t>Let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S </a:t>
                </a:r>
                <a:r>
                  <a:rPr lang="en-US" altLang="zh-CN" sz="2400" b="1" dirty="0">
                    <a:latin typeface="Trebuchet MS" panose="020B0603020202020204" pitchFamily="34" charset="0"/>
                    <a:cs typeface="Times New Roman" panose="02020603050405020304" pitchFamily="18" charset="0"/>
                  </a:rPr>
                  <a:t>= {1, 2, 3},</a:t>
                </a:r>
                <a:r>
                  <a:rPr lang="zh-CN" altLang="zh-CN" sz="2400" dirty="0">
                    <a:latin typeface="Trebuchet MS" panose="020B0603020202020204" pitchFamily="34" charset="0"/>
                    <a:cs typeface="Segoe UI" panose="020B0502040204020203" pitchFamily="34" charset="0"/>
                  </a:rPr>
                  <a:t> </a:t>
                </a:r>
                <a:r>
                  <a:rPr lang="en-US" altLang="zh-CN" sz="2400" b="1" i="1" dirty="0">
                    <a:latin typeface="Trebuchet MS" panose="020B0603020202020204" pitchFamily="34" charset="0"/>
                    <a:cs typeface="Times New Roman" panose="02020603050405020304" pitchFamily="18" charset="0"/>
                  </a:rPr>
                  <a:t>σ</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123)</a:t>
                </a:r>
                <a:r>
                  <a:rPr lang="zh-CN"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and</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τ</a:t>
                </a:r>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23), </a:t>
                </a:r>
                <a:r>
                  <a:rPr lang="en-US" altLang="zh-CN" sz="2400" dirty="0">
                    <a:latin typeface="Trebuchet MS" panose="020B0603020202020204" pitchFamily="34" charset="0"/>
                  </a:rPr>
                  <a:t>find the compositions </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σ</a:t>
                </a:r>
                <a:r>
                  <a:rPr lang="zh-CN" altLang="zh-CN" sz="2400" b="1" kern="100" dirty="0">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i="1" kern="100" dirty="0">
                    <a:latin typeface="Trebuchet MS" panose="020B0603020202020204" pitchFamily="34" charset="0"/>
                    <a:ea typeface="楷体" panose="02010609060101010101" pitchFamily="49" charset="-122"/>
                    <a:cs typeface="Times New Roman" panose="02020603050405020304" pitchFamily="18" charset="0"/>
                  </a:rPr>
                  <a:t>τ</a:t>
                </a:r>
                <a:r>
                  <a:rPr lang="zh-CN" altLang="en-US" sz="2400" b="1" i="1" kern="1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i="1" kern="100" dirty="0">
                    <a:latin typeface="Trebuchet MS" panose="020B0603020202020204" pitchFamily="34" charset="0"/>
                    <a:ea typeface="楷体" panose="02010609060101010101" pitchFamily="49" charset="-122"/>
                    <a:cs typeface="Times New Roman" panose="02020603050405020304" pitchFamily="18" charset="0"/>
                  </a:rPr>
                  <a:t>and</a:t>
                </a:r>
                <a:r>
                  <a:rPr lang="zh-CN" altLang="en-US" sz="2400" b="1" i="1" kern="100" dirty="0">
                    <a:latin typeface="Trebuchet MS" panose="020B0603020202020204" pitchFamily="34" charset="0"/>
                    <a:ea typeface="楷体" panose="02010609060101010101" pitchFamily="49" charset="-122"/>
                    <a:cs typeface="Times New Roman" panose="02020603050405020304" pitchFamily="18" charset="0"/>
                  </a:rPr>
                  <a:t> </a:t>
                </a:r>
                <a:r>
                  <a:rPr lang="zh-CN" altLang="zh-CN" sz="2400" b="1" i="1" kern="100" dirty="0">
                    <a:latin typeface="Trebuchet MS" panose="020B0603020202020204" pitchFamily="34" charset="0"/>
                    <a:ea typeface="楷体" panose="02010609060101010101" pitchFamily="49" charset="-122"/>
                    <a:cs typeface="Times New Roman" panose="02020603050405020304" pitchFamily="18" charset="0"/>
                  </a:rPr>
                  <a:t>τ</a:t>
                </a:r>
                <a:r>
                  <a:rPr lang="zh-CN" altLang="zh-CN" sz="2400" b="1" kern="100"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σ .</a:t>
                </a:r>
              </a:p>
              <a:p>
                <a:pPr marL="360363" indent="-184150">
                  <a:lnSpc>
                    <a:spcPct val="120000"/>
                  </a:lnSpc>
                  <a:spcBef>
                    <a:spcPts val="600"/>
                  </a:spcBef>
                  <a:buClr>
                    <a:srgbClr val="0B61FF"/>
                  </a:buClr>
                  <a:buSzPct val="120000"/>
                </a:pPr>
                <a:r>
                  <a:rPr lang="en-US" altLang="zh-CN" sz="2400" b="1" dirty="0">
                    <a:solidFill>
                      <a:schemeClr val="tx1"/>
                    </a:solidFill>
                    <a:latin typeface="Trebuchet MS" panose="020B0603020202020204" pitchFamily="34" charset="0"/>
                  </a:rPr>
                  <a:t>Solution </a:t>
                </a:r>
                <a:r>
                  <a:rPr lang="en-US" altLang="zh-CN" sz="2400" b="1" dirty="0">
                    <a:solidFill>
                      <a:schemeClr val="tx1"/>
                    </a:solidFill>
                    <a:latin typeface="Trebuchet MS" panose="020B0603020202020204" pitchFamily="34" charset="0"/>
                    <a:cs typeface="Times New Roman" panose="02020603050405020304" pitchFamily="18" charset="0"/>
                  </a:rPr>
                  <a:t>1: </a:t>
                </a:r>
                <a:r>
                  <a:rPr lang="en-US" altLang="zh-CN" sz="2400" dirty="0">
                    <a:solidFill>
                      <a:schemeClr val="tx1"/>
                    </a:solidFill>
                    <a:latin typeface="Trebuchet MS" panose="020B0603020202020204" pitchFamily="34" charset="0"/>
                  </a:rPr>
                  <a:t>To find the composition </a:t>
                </a:r>
                <a:r>
                  <a:rPr lang="en-US" altLang="zh-CN" sz="2400" b="1" i="1" kern="100" dirty="0">
                    <a:solidFill>
                      <a:schemeClr val="tx1"/>
                    </a:solidFill>
                    <a:latin typeface="Trebuchet MS" panose="020B0603020202020204" pitchFamily="34" charset="0"/>
                    <a:cs typeface="Times New Roman" panose="02020603050405020304" pitchFamily="18" charset="0"/>
                  </a:rPr>
                  <a:t>σ</a:t>
                </a:r>
                <a:r>
                  <a:rPr lang="zh-CN" altLang="zh-CN" sz="2400" b="1" kern="100" dirty="0">
                    <a:solidFill>
                      <a:schemeClr val="tx1"/>
                    </a:solidFill>
                    <a:latin typeface="Trebuchet MS" panose="020B0603020202020204" pitchFamily="34" charset="0"/>
                    <a:cs typeface="Times New Roman" panose="02020603050405020304" pitchFamily="18" charset="0"/>
                  </a:rPr>
                  <a:t>∘</a:t>
                </a:r>
                <a:r>
                  <a:rPr lang="zh-CN" altLang="zh-CN" sz="2400" b="1" i="1" kern="100" dirty="0">
                    <a:solidFill>
                      <a:schemeClr val="tx1"/>
                    </a:solidFill>
                    <a:latin typeface="Trebuchet MS" panose="020B0603020202020204" pitchFamily="34" charset="0"/>
                    <a:cs typeface="Times New Roman" panose="02020603050405020304" pitchFamily="18" charset="0"/>
                  </a:rPr>
                  <a:t>τ </a:t>
                </a:r>
                <a:r>
                  <a:rPr lang="en-US" altLang="zh-CN" sz="2400" b="1" kern="100" dirty="0">
                    <a:solidFill>
                      <a:schemeClr val="tx1"/>
                    </a:solidFill>
                    <a:latin typeface="Trebuchet MS" panose="020B0603020202020204" pitchFamily="34" charset="0"/>
                    <a:cs typeface="Times New Roman" panose="02020603050405020304" pitchFamily="18" charset="0"/>
                  </a:rPr>
                  <a:t>.</a:t>
                </a:r>
              </a:p>
              <a:p>
                <a:pPr marL="176213" indent="0">
                  <a:lnSpc>
                    <a:spcPct val="120000"/>
                  </a:lnSpc>
                  <a:spcBef>
                    <a:spcPts val="600"/>
                  </a:spcBef>
                  <a:buClr>
                    <a:srgbClr val="0B61FF"/>
                  </a:buClr>
                  <a:buSzPct val="120000"/>
                  <a:buNone/>
                </a:pPr>
                <a:r>
                  <a:rPr lang="en-US" altLang="zh-CN" sz="2400" b="1" kern="100"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①</a:t>
                </a:r>
                <a:r>
                  <a:rPr lang="en-US" altLang="zh-CN" sz="2400" b="1" kern="100" dirty="0">
                    <a:solidFill>
                      <a:srgbClr val="0B61FF"/>
                    </a:solidFill>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E</a:t>
                </a:r>
                <a:r>
                  <a:rPr lang="en-US" altLang="zh-CN" sz="2400" dirty="0">
                    <a:solidFill>
                      <a:schemeClr val="tx1"/>
                    </a:solidFill>
                    <a:latin typeface="Trebuchet MS" panose="020B0603020202020204" pitchFamily="34" charset="0"/>
                  </a:rPr>
                  <a:t>xpress </a:t>
                </a:r>
                <a:r>
                  <a:rPr lang="zh-CN" altLang="zh-CN" sz="2400" b="1" i="1" kern="100" dirty="0">
                    <a:latin typeface="Trebuchet MS" panose="020B0603020202020204" pitchFamily="34" charset="0"/>
                    <a:cs typeface="Times New Roman" panose="02020603050405020304" pitchFamily="18" charset="0"/>
                  </a:rPr>
                  <a:t>τ </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cs typeface="Times New Roman" panose="02020603050405020304" pitchFamily="18" charset="0"/>
                  </a:rPr>
                  <a:t>τ</a:t>
                </a:r>
                <a:r>
                  <a:rPr lang="en-US" altLang="zh-CN" sz="2400" b="1" dirty="0">
                    <a:solidFill>
                      <a:schemeClr val="tx1"/>
                    </a:solidFill>
                    <a:latin typeface="Trebuchet MS" panose="020B0603020202020204" pitchFamily="34" charset="0"/>
                    <a:cs typeface="Times New Roman" panose="02020603050405020304" pitchFamily="18" charset="0"/>
                  </a:rPr>
                  <a:t>=</a:t>
                </a:r>
                <a:r>
                  <a:rPr lang="zh-CN" altLang="zh-CN" sz="2400" b="1" dirty="0">
                    <a:solidFill>
                      <a:schemeClr val="tx1"/>
                    </a:solidFill>
                    <a:latin typeface="Trebuchet MS" panose="020B0603020202020204" pitchFamily="34" charset="0"/>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rPr>
                  <a:t>23)</a:t>
                </a:r>
                <a14:m>
                  <m:oMath xmlns:m="http://schemas.openxmlformats.org/officeDocument/2006/math">
                    <m:r>
                      <a:rPr lang="en-US" altLang="zh-CN" sz="2400" b="1" i="1">
                        <a:solidFill>
                          <a:schemeClr val="tx1"/>
                        </a:solidFill>
                        <a:latin typeface="Cambria Math" panose="02040503050406030204" pitchFamily="18" charset="0"/>
                        <a:cs typeface="Times New Roman" panose="02020603050405020304" pitchFamily="18" charset="0"/>
                      </a:rPr>
                      <m:t>=</m:t>
                    </m:r>
                    <m:d>
                      <m:dPr>
                        <m:ctrlPr>
                          <a:rPr lang="en-US" altLang="zh-CN" sz="2400" b="1" i="1">
                            <a:solidFill>
                              <a:schemeClr val="tx1"/>
                            </a:solidFill>
                            <a:latin typeface="Cambria Math" panose="02040503050406030204" pitchFamily="18" charset="0"/>
                            <a:cs typeface="Times New Roman" panose="02020603050405020304" pitchFamily="18" charset="0"/>
                          </a:rPr>
                        </m:ctrlPr>
                      </m:dPr>
                      <m:e>
                        <m:f>
                          <m:fPr>
                            <m:type m:val="noBar"/>
                            <m:ctrlPr>
                              <a:rPr lang="en-US" altLang="zh-CN" sz="2400" b="1" i="1">
                                <a:solidFill>
                                  <a:schemeClr val="tx1"/>
                                </a:solidFill>
                                <a:latin typeface="Cambria Math" panose="02040503050406030204" pitchFamily="18" charset="0"/>
                                <a:cs typeface="Times New Roman" panose="02020603050405020304" pitchFamily="18" charset="0"/>
                              </a:rPr>
                            </m:ctrlPr>
                          </m:fPr>
                          <m:num>
                            <m:r>
                              <a:rPr lang="en-US" altLang="zh-CN" sz="2400" b="1" i="1">
                                <a:solidFill>
                                  <a:schemeClr val="tx1"/>
                                </a:solidFill>
                                <a:latin typeface="Cambria Math" panose="02040503050406030204" pitchFamily="18" charset="0"/>
                                <a:cs typeface="Times New Roman" panose="02020603050405020304" pitchFamily="18" charset="0"/>
                              </a:rPr>
                              <m:t>𝟏</m:t>
                            </m:r>
                          </m:num>
                          <m:den>
                            <m:r>
                              <a:rPr lang="en-US" altLang="zh-CN" sz="2400" b="1" i="1">
                                <a:solidFill>
                                  <a:schemeClr val="tx1"/>
                                </a:solidFill>
                                <a:latin typeface="Cambria Math" panose="02040503050406030204" pitchFamily="18" charset="0"/>
                                <a:cs typeface="Times New Roman" panose="02020603050405020304" pitchFamily="18" charset="0"/>
                              </a:rPr>
                              <m:t>𝟏</m:t>
                            </m:r>
                          </m:den>
                        </m:f>
                        <m:f>
                          <m:fPr>
                            <m:type m:val="noBar"/>
                            <m:ctrlPr>
                              <a:rPr lang="en-US" altLang="zh-CN" sz="2400" b="1" i="1">
                                <a:solidFill>
                                  <a:schemeClr val="tx1"/>
                                </a:solidFill>
                                <a:latin typeface="Cambria Math" panose="02040503050406030204" pitchFamily="18" charset="0"/>
                                <a:cs typeface="Times New Roman" panose="02020603050405020304" pitchFamily="18" charset="0"/>
                              </a:rPr>
                            </m:ctrlPr>
                          </m:fPr>
                          <m:num>
                            <m:r>
                              <a:rPr lang="en-US" altLang="zh-CN" sz="2400" b="1" i="1">
                                <a:solidFill>
                                  <a:schemeClr val="tx1"/>
                                </a:solidFill>
                                <a:latin typeface="Cambria Math" panose="02040503050406030204" pitchFamily="18" charset="0"/>
                                <a:cs typeface="Times New Roman" panose="02020603050405020304" pitchFamily="18" charset="0"/>
                              </a:rPr>
                              <m:t>𝟐</m:t>
                            </m:r>
                          </m:num>
                          <m:den>
                            <m:r>
                              <a:rPr lang="en-US" altLang="zh-CN" sz="2400" b="1" i="1">
                                <a:solidFill>
                                  <a:schemeClr val="tx1"/>
                                </a:solidFill>
                                <a:latin typeface="Cambria Math" panose="02040503050406030204" pitchFamily="18" charset="0"/>
                                <a:cs typeface="Times New Roman" panose="02020603050405020304" pitchFamily="18" charset="0"/>
                              </a:rPr>
                              <m:t>𝟑</m:t>
                            </m:r>
                          </m:den>
                        </m:f>
                        <m:f>
                          <m:fPr>
                            <m:type m:val="noBar"/>
                            <m:ctrlPr>
                              <a:rPr lang="en-US" altLang="zh-CN" sz="2400" b="1" i="1">
                                <a:solidFill>
                                  <a:schemeClr val="tx1"/>
                                </a:solidFill>
                                <a:latin typeface="Cambria Math" panose="02040503050406030204" pitchFamily="18" charset="0"/>
                                <a:cs typeface="Times New Roman" panose="02020603050405020304" pitchFamily="18" charset="0"/>
                              </a:rPr>
                            </m:ctrlPr>
                          </m:fPr>
                          <m:num>
                            <m:r>
                              <a:rPr lang="en-US" altLang="zh-CN" sz="2400" b="1" i="1">
                                <a:solidFill>
                                  <a:schemeClr val="tx1"/>
                                </a:solidFill>
                                <a:latin typeface="Cambria Math" panose="02040503050406030204" pitchFamily="18" charset="0"/>
                                <a:cs typeface="Times New Roman" panose="02020603050405020304" pitchFamily="18" charset="0"/>
                              </a:rPr>
                              <m:t>𝟑</m:t>
                            </m:r>
                          </m:num>
                          <m:den>
                            <m:r>
                              <a:rPr lang="en-US" altLang="zh-CN" sz="2400" b="1" i="1">
                                <a:solidFill>
                                  <a:schemeClr val="tx1"/>
                                </a:solidFill>
                                <a:latin typeface="Cambria Math" panose="02040503050406030204" pitchFamily="18" charset="0"/>
                                <a:cs typeface="Times New Roman" panose="02020603050405020304" pitchFamily="18" charset="0"/>
                              </a:rPr>
                              <m:t>𝟐</m:t>
                            </m:r>
                          </m:den>
                        </m:f>
                      </m:e>
                    </m:d>
                    <m:r>
                      <a:rPr lang="en-US" altLang="zh-CN" sz="2400" b="1" i="0" smtClean="0">
                        <a:solidFill>
                          <a:schemeClr val="tx1"/>
                        </a:solidFill>
                        <a:latin typeface="Cambria Math" panose="02040503050406030204" pitchFamily="18" charset="0"/>
                        <a:cs typeface="Times New Roman" panose="02020603050405020304" pitchFamily="18" charset="0"/>
                      </a:rPr>
                      <m:t>.</m:t>
                    </m:r>
                  </m:oMath>
                </a14:m>
                <a:endParaRPr lang="en-US" altLang="zh-CN" sz="2400" b="1" dirty="0">
                  <a:solidFill>
                    <a:schemeClr val="tx1"/>
                  </a:solidFill>
                  <a:latin typeface="Trebuchet MS" panose="020B0603020202020204" pitchFamily="34" charset="0"/>
                  <a:cs typeface="Times New Roman" panose="02020603050405020304" pitchFamily="18" charset="0"/>
                </a:endParaRPr>
              </a:p>
              <a:p>
                <a:pPr marL="536575" indent="-360363">
                  <a:lnSpc>
                    <a:spcPct val="120000"/>
                  </a:lnSpc>
                  <a:spcBef>
                    <a:spcPts val="600"/>
                  </a:spcBef>
                  <a:buClr>
                    <a:srgbClr val="0B61FF"/>
                  </a:buClr>
                  <a:buSzPct val="120000"/>
                  <a:buNone/>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②</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Apply </a:t>
                </a:r>
                <a:r>
                  <a:rPr lang="en-US" altLang="zh-CN" sz="2400" b="1" i="1" kern="100" dirty="0">
                    <a:solidFill>
                      <a:schemeClr val="tx1"/>
                    </a:solidFill>
                    <a:latin typeface="Trebuchet MS" panose="020B0603020202020204" pitchFamily="34" charset="0"/>
                    <a:cs typeface="Times New Roman" panose="02020603050405020304" pitchFamily="18" charset="0"/>
                  </a:rPr>
                  <a:t>σ </a:t>
                </a:r>
                <a:r>
                  <a:rPr lang="en-US" altLang="zh-CN" sz="2400" dirty="0">
                    <a:solidFill>
                      <a:schemeClr val="tx1"/>
                    </a:solidFill>
                    <a:latin typeface="Trebuchet MS" panose="020B0603020202020204" pitchFamily="34" charset="0"/>
                  </a:rPr>
                  <a:t>to the result of </a:t>
                </a:r>
                <a:r>
                  <a:rPr lang="en-US" altLang="zh-CN" sz="2400" b="1" i="1" dirty="0">
                    <a:solidFill>
                      <a:schemeClr val="tx1"/>
                    </a:solidFill>
                    <a:latin typeface="Trebuchet MS" panose="020B0603020202020204" pitchFamily="34" charset="0"/>
                    <a:cs typeface="Times New Roman" panose="02020603050405020304" pitchFamily="18" charset="0"/>
                  </a:rPr>
                  <a:t>τ, </a:t>
                </a:r>
                <a:r>
                  <a:rPr lang="en-US" altLang="zh-CN" sz="2400" dirty="0">
                    <a:latin typeface="Trebuchet MS" panose="020B0603020202020204" pitchFamily="34" charset="0"/>
                  </a:rPr>
                  <a:t>Using composition </a:t>
                </a:r>
                <a:r>
                  <a:rPr lang="en-US" altLang="zh-CN" sz="2400" b="1" dirty="0">
                    <a:latin typeface="Trebuchet MS" panose="020B0603020202020204" pitchFamily="34" charset="0"/>
                  </a:rPr>
                  <a:t>(</a:t>
                </a:r>
                <a:r>
                  <a:rPr lang="el-GR" altLang="zh-CN" sz="2400" b="1" dirty="0">
                    <a:latin typeface="Trebuchet MS" panose="020B0603020202020204" pitchFamily="34" charset="0"/>
                  </a:rPr>
                  <a:t>σ∘τ)(</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l-GR" altLang="zh-CN" sz="2400" b="1" dirty="0">
                    <a:latin typeface="Trebuchet MS" panose="020B0603020202020204" pitchFamily="34" charset="0"/>
                  </a:rPr>
                  <a:t>σ(τ(</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cs typeface="Times New Roman" panose="02020603050405020304" pitchFamily="18" charset="0"/>
                  </a:rPr>
                  <a:t>σ</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τ</a:t>
                </a:r>
                <a:r>
                  <a:rPr lang="en-US" altLang="zh-CN" sz="2400" b="1" dirty="0">
                    <a:solidFill>
                      <a:schemeClr val="tx1"/>
                    </a:solidFill>
                    <a:latin typeface="Trebuchet MS" panose="020B0603020202020204" pitchFamily="34" charset="0"/>
                    <a:cs typeface="Times New Roman" panose="02020603050405020304" pitchFamily="18" charset="0"/>
                  </a:rPr>
                  <a:t>(1))=</a:t>
                </a:r>
                <a:r>
                  <a:rPr lang="en-US" altLang="zh-CN" sz="2400" b="1" i="1" dirty="0">
                    <a:solidFill>
                      <a:schemeClr val="tx1"/>
                    </a:solidFill>
                    <a:latin typeface="Trebuchet MS" panose="020B0603020202020204" pitchFamily="34" charset="0"/>
                    <a:cs typeface="Times New Roman" panose="02020603050405020304" pitchFamily="18" charset="0"/>
                  </a:rPr>
                  <a:t>σ</a:t>
                </a:r>
                <a:r>
                  <a:rPr lang="en-US" altLang="zh-CN" sz="2400" b="1" dirty="0">
                    <a:solidFill>
                      <a:schemeClr val="tx1"/>
                    </a:solidFill>
                    <a:latin typeface="Trebuchet MS" panose="020B0603020202020204" pitchFamily="34" charset="0"/>
                    <a:cs typeface="Times New Roman" panose="02020603050405020304" pitchFamily="18" charset="0"/>
                  </a:rPr>
                  <a:t>(1)=2, </a:t>
                </a:r>
                <a:r>
                  <a:rPr lang="en-US" altLang="zh-CN" sz="2400" b="1" i="1" dirty="0">
                    <a:solidFill>
                      <a:schemeClr val="tx1"/>
                    </a:solidFill>
                    <a:latin typeface="Trebuchet MS" panose="020B0603020202020204" pitchFamily="34" charset="0"/>
                    <a:cs typeface="Times New Roman" panose="02020603050405020304" pitchFamily="18" charset="0"/>
                  </a:rPr>
                  <a:t>σ</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τ</a:t>
                </a:r>
                <a:r>
                  <a:rPr lang="en-US" altLang="zh-CN" sz="2400" b="1" dirty="0">
                    <a:solidFill>
                      <a:schemeClr val="tx1"/>
                    </a:solidFill>
                    <a:latin typeface="Trebuchet MS" panose="020B0603020202020204" pitchFamily="34" charset="0"/>
                    <a:cs typeface="Times New Roman" panose="02020603050405020304" pitchFamily="18" charset="0"/>
                  </a:rPr>
                  <a:t>(2))=</a:t>
                </a:r>
                <a:r>
                  <a:rPr lang="en-US" altLang="zh-CN" sz="2400" b="1" i="1" dirty="0">
                    <a:solidFill>
                      <a:schemeClr val="tx1"/>
                    </a:solidFill>
                    <a:latin typeface="Trebuchet MS" panose="020B0603020202020204" pitchFamily="34" charset="0"/>
                    <a:cs typeface="Times New Roman" panose="02020603050405020304" pitchFamily="18" charset="0"/>
                  </a:rPr>
                  <a:t>σ</a:t>
                </a:r>
                <a:r>
                  <a:rPr lang="en-US" altLang="zh-CN" sz="2400" b="1" dirty="0">
                    <a:solidFill>
                      <a:schemeClr val="tx1"/>
                    </a:solidFill>
                    <a:latin typeface="Trebuchet MS" panose="020B0603020202020204" pitchFamily="34" charset="0"/>
                    <a:cs typeface="Times New Roman" panose="02020603050405020304" pitchFamily="18" charset="0"/>
                  </a:rPr>
                  <a:t>(3)=1, </a:t>
                </a:r>
                <a:r>
                  <a:rPr lang="en-US" altLang="zh-CN" sz="2400" b="1" i="1" dirty="0">
                    <a:solidFill>
                      <a:schemeClr val="tx1"/>
                    </a:solidFill>
                    <a:latin typeface="Trebuchet MS" panose="020B0603020202020204" pitchFamily="34" charset="0"/>
                    <a:cs typeface="Times New Roman" panose="02020603050405020304" pitchFamily="18" charset="0"/>
                  </a:rPr>
                  <a:t>σ</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τ</a:t>
                </a:r>
                <a:r>
                  <a:rPr lang="en-US" altLang="zh-CN" sz="2400" b="1" dirty="0">
                    <a:solidFill>
                      <a:schemeClr val="tx1"/>
                    </a:solidFill>
                    <a:latin typeface="Trebuchet MS" panose="020B0603020202020204" pitchFamily="34" charset="0"/>
                    <a:cs typeface="Times New Roman" panose="02020603050405020304" pitchFamily="18" charset="0"/>
                  </a:rPr>
                  <a:t>(3))=</a:t>
                </a:r>
                <a:r>
                  <a:rPr lang="en-US" altLang="zh-CN" sz="2400" b="1" i="1" dirty="0">
                    <a:solidFill>
                      <a:schemeClr val="tx1"/>
                    </a:solidFill>
                    <a:latin typeface="Trebuchet MS" panose="020B0603020202020204" pitchFamily="34" charset="0"/>
                    <a:cs typeface="Times New Roman" panose="02020603050405020304" pitchFamily="18" charset="0"/>
                  </a:rPr>
                  <a:t>σ</a:t>
                </a:r>
                <a:r>
                  <a:rPr lang="en-US" altLang="zh-CN" sz="2400" b="1" dirty="0">
                    <a:solidFill>
                      <a:schemeClr val="tx1"/>
                    </a:solidFill>
                    <a:latin typeface="Trebuchet MS" panose="020B0603020202020204" pitchFamily="34" charset="0"/>
                    <a:cs typeface="Times New Roman" panose="02020603050405020304" pitchFamily="18" charset="0"/>
                  </a:rPr>
                  <a:t>(2)=3.</a:t>
                </a:r>
              </a:p>
              <a:p>
                <a:pPr marL="536575" indent="-360363">
                  <a:lnSpc>
                    <a:spcPct val="120000"/>
                  </a:lnSpc>
                  <a:spcBef>
                    <a:spcPts val="600"/>
                  </a:spcBef>
                  <a:buClr>
                    <a:srgbClr val="0B61FF"/>
                  </a:buClr>
                  <a:buSzPct val="120000"/>
                  <a:buNone/>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③ </a:t>
                </a:r>
                <a:r>
                  <a:rPr lang="en-US" altLang="zh-CN" sz="2400" dirty="0">
                    <a:latin typeface="Trebuchet MS" panose="020B0603020202020204" pitchFamily="34" charset="0"/>
                  </a:rPr>
                  <a:t>Final Result </a:t>
                </a:r>
                <a:r>
                  <a:rPr lang="en-US" altLang="zh-CN" sz="2400" b="1" i="1" kern="100" dirty="0">
                    <a:solidFill>
                      <a:schemeClr val="tx1"/>
                    </a:solidFill>
                    <a:latin typeface="Trebuchet MS" panose="020B0603020202020204" pitchFamily="34" charset="0"/>
                    <a:cs typeface="Times New Roman" panose="02020603050405020304" pitchFamily="18" charset="0"/>
                  </a:rPr>
                  <a:t>σ</a:t>
                </a:r>
                <a:r>
                  <a:rPr lang="zh-CN" altLang="zh-CN" sz="2400" b="1" kern="100" dirty="0">
                    <a:solidFill>
                      <a:schemeClr val="tx1"/>
                    </a:solidFill>
                    <a:latin typeface="Trebuchet MS" panose="020B0603020202020204" pitchFamily="34" charset="0"/>
                    <a:cs typeface="Times New Roman" panose="02020603050405020304" pitchFamily="18" charset="0"/>
                  </a:rPr>
                  <a:t>∘</a:t>
                </a:r>
                <a:r>
                  <a:rPr lang="zh-CN" altLang="zh-CN" sz="2400" b="1" i="1" kern="100" dirty="0">
                    <a:solidFill>
                      <a:schemeClr val="tx1"/>
                    </a:solidFill>
                    <a:latin typeface="Trebuchet MS" panose="020B0603020202020204" pitchFamily="34" charset="0"/>
                    <a:cs typeface="Times New Roman" panose="02020603050405020304" pitchFamily="18" charset="0"/>
                  </a:rPr>
                  <a:t>τ</a:t>
                </a:r>
                <a14:m>
                  <m:oMath xmlns:m="http://schemas.openxmlformats.org/officeDocument/2006/math">
                    <m:r>
                      <a:rPr lang="en-US" altLang="zh-CN" sz="2400" b="1" i="1">
                        <a:solidFill>
                          <a:schemeClr val="tx1"/>
                        </a:solidFill>
                        <a:latin typeface="Cambria Math" panose="02040503050406030204" pitchFamily="18" charset="0"/>
                        <a:cs typeface="Times New Roman" panose="02020603050405020304" pitchFamily="18" charset="0"/>
                      </a:rPr>
                      <m:t>=</m:t>
                    </m:r>
                    <m:d>
                      <m:dPr>
                        <m:ctrlPr>
                          <a:rPr lang="en-US" altLang="zh-CN" sz="2400" b="1" i="1">
                            <a:solidFill>
                              <a:schemeClr val="tx1"/>
                            </a:solidFill>
                            <a:latin typeface="Cambria Math" panose="02040503050406030204" pitchFamily="18" charset="0"/>
                            <a:cs typeface="Times New Roman" panose="02020603050405020304" pitchFamily="18" charset="0"/>
                          </a:rPr>
                        </m:ctrlPr>
                      </m:dPr>
                      <m:e>
                        <m:f>
                          <m:fPr>
                            <m:type m:val="noBar"/>
                            <m:ctrlPr>
                              <a:rPr lang="en-US" altLang="zh-CN" sz="2400" b="1" i="1">
                                <a:solidFill>
                                  <a:schemeClr val="tx1"/>
                                </a:solidFill>
                                <a:latin typeface="Cambria Math" panose="02040503050406030204" pitchFamily="18" charset="0"/>
                                <a:cs typeface="Times New Roman" panose="02020603050405020304" pitchFamily="18" charset="0"/>
                              </a:rPr>
                            </m:ctrlPr>
                          </m:fPr>
                          <m:num>
                            <m:r>
                              <a:rPr lang="en-US" altLang="zh-CN" sz="2400" b="1" i="1">
                                <a:solidFill>
                                  <a:schemeClr val="tx1"/>
                                </a:solidFill>
                                <a:latin typeface="Cambria Math" panose="02040503050406030204" pitchFamily="18" charset="0"/>
                                <a:cs typeface="Times New Roman" panose="02020603050405020304" pitchFamily="18" charset="0"/>
                              </a:rPr>
                              <m:t>𝟏</m:t>
                            </m:r>
                          </m:num>
                          <m:den>
                            <m:r>
                              <a:rPr lang="en-US" altLang="zh-CN" sz="2400" b="1" i="1">
                                <a:solidFill>
                                  <a:schemeClr val="tx1"/>
                                </a:solidFill>
                                <a:latin typeface="Cambria Math" panose="02040503050406030204" pitchFamily="18" charset="0"/>
                                <a:cs typeface="Times New Roman" panose="02020603050405020304" pitchFamily="18" charset="0"/>
                              </a:rPr>
                              <m:t>𝟐</m:t>
                            </m:r>
                          </m:den>
                        </m:f>
                        <m:f>
                          <m:fPr>
                            <m:type m:val="noBar"/>
                            <m:ctrlPr>
                              <a:rPr lang="en-US" altLang="zh-CN" sz="2400" b="1" i="1">
                                <a:solidFill>
                                  <a:schemeClr val="tx1"/>
                                </a:solidFill>
                                <a:latin typeface="Cambria Math" panose="02040503050406030204" pitchFamily="18" charset="0"/>
                                <a:cs typeface="Times New Roman" panose="02020603050405020304" pitchFamily="18" charset="0"/>
                              </a:rPr>
                            </m:ctrlPr>
                          </m:fPr>
                          <m:num>
                            <m:r>
                              <a:rPr lang="en-US" altLang="zh-CN" sz="2400" b="1" i="1">
                                <a:solidFill>
                                  <a:schemeClr val="tx1"/>
                                </a:solidFill>
                                <a:latin typeface="Cambria Math" panose="02040503050406030204" pitchFamily="18" charset="0"/>
                                <a:cs typeface="Times New Roman" panose="02020603050405020304" pitchFamily="18" charset="0"/>
                              </a:rPr>
                              <m:t>𝟐</m:t>
                            </m:r>
                          </m:num>
                          <m:den>
                            <m:r>
                              <a:rPr lang="en-US" altLang="zh-CN" sz="2400" b="1" i="1">
                                <a:solidFill>
                                  <a:schemeClr val="tx1"/>
                                </a:solidFill>
                                <a:latin typeface="Cambria Math" panose="02040503050406030204" pitchFamily="18" charset="0"/>
                                <a:cs typeface="Times New Roman" panose="02020603050405020304" pitchFamily="18" charset="0"/>
                              </a:rPr>
                              <m:t>𝟏</m:t>
                            </m:r>
                          </m:den>
                        </m:f>
                        <m:f>
                          <m:fPr>
                            <m:type m:val="noBar"/>
                            <m:ctrlPr>
                              <a:rPr lang="en-US" altLang="zh-CN" sz="2400" b="1" i="1">
                                <a:solidFill>
                                  <a:schemeClr val="tx1"/>
                                </a:solidFill>
                                <a:latin typeface="Cambria Math" panose="02040503050406030204" pitchFamily="18" charset="0"/>
                                <a:cs typeface="Times New Roman" panose="02020603050405020304" pitchFamily="18" charset="0"/>
                              </a:rPr>
                            </m:ctrlPr>
                          </m:fPr>
                          <m:num>
                            <m:r>
                              <a:rPr lang="en-US" altLang="zh-CN" sz="2400" b="1" i="1">
                                <a:solidFill>
                                  <a:schemeClr val="tx1"/>
                                </a:solidFill>
                                <a:latin typeface="Cambria Math" panose="02040503050406030204" pitchFamily="18" charset="0"/>
                                <a:cs typeface="Times New Roman" panose="02020603050405020304" pitchFamily="18" charset="0"/>
                              </a:rPr>
                              <m:t>𝟑</m:t>
                            </m:r>
                          </m:num>
                          <m:den>
                            <m:r>
                              <a:rPr lang="en-US" altLang="zh-CN" sz="2400" b="1" i="1">
                                <a:solidFill>
                                  <a:schemeClr val="tx1"/>
                                </a:solidFill>
                                <a:latin typeface="Cambria Math" panose="02040503050406030204" pitchFamily="18" charset="0"/>
                                <a:cs typeface="Times New Roman" panose="02020603050405020304" pitchFamily="18" charset="0"/>
                              </a:rPr>
                              <m:t>𝟑</m:t>
                            </m:r>
                          </m:den>
                        </m:f>
                      </m:e>
                    </m:d>
                  </m:oMath>
                </a14:m>
                <a:r>
                  <a:rPr lang="en-US" altLang="zh-CN" sz="2400" b="1" dirty="0">
                    <a:solidFill>
                      <a:schemeClr val="tx1"/>
                    </a:solidFill>
                    <a:latin typeface="Trebuchet MS" panose="020B0603020202020204" pitchFamily="34" charset="0"/>
                    <a:cs typeface="Times New Roman" panose="02020603050405020304" pitchFamily="18" charset="0"/>
                  </a:rPr>
                  <a:t>=</a:t>
                </a:r>
                <a:r>
                  <a:rPr lang="zh-CN" altLang="zh-CN" sz="2400" b="1"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12).</a:t>
                </a:r>
              </a:p>
              <a:p>
                <a:pPr marL="447675" indent="-271463">
                  <a:lnSpc>
                    <a:spcPct val="105000"/>
                  </a:lnSpc>
                  <a:spcBef>
                    <a:spcPts val="0"/>
                  </a:spcBef>
                  <a:buClr>
                    <a:srgbClr val="0B61FF"/>
                  </a:buClr>
                  <a:buSzPct val="120000"/>
                  <a:tabLst>
                    <a:tab pos="360363" algn="l"/>
                  </a:tabLst>
                </a:pPr>
                <a:endParaRPr lang="en-US" altLang="zh-CN" sz="2400" b="1" dirty="0">
                  <a:latin typeface="Trebuchet MS" panose="020B0603020202020204" pitchFamily="34" charset="0"/>
                  <a:ea typeface="楷体" panose="02010609060101010101" pitchFamily="49" charset="-122"/>
                  <a:cs typeface="Times New Roman" panose="02020603050405020304" pitchFamily="18" charset="0"/>
                </a:endParaRPr>
              </a:p>
            </p:txBody>
          </p:sp>
        </mc:Choice>
        <mc:Fallback xmlns="">
          <p:sp>
            <p:nvSpPr>
              <p:cNvPr id="11" name="Rectangle 3">
                <a:extLst>
                  <a:ext uri="{FF2B5EF4-FFF2-40B4-BE49-F238E27FC236}">
                    <a16:creationId xmlns:a16="http://schemas.microsoft.com/office/drawing/2014/main" id="{1CC6F61A-F3D1-459C-A235-89B3CDCB21F5}"/>
                  </a:ext>
                </a:extLst>
              </p:cNvPr>
              <p:cNvSpPr>
                <a:spLocks noGrp="1" noRot="1" noChangeAspect="1" noMove="1" noResize="1" noEditPoints="1" noAdjustHandles="1" noChangeArrowheads="1" noChangeShapeType="1" noTextEdit="1"/>
              </p:cNvSpPr>
              <p:nvPr>
                <p:ph idx="1"/>
              </p:nvPr>
            </p:nvSpPr>
            <p:spPr>
              <a:xfrm>
                <a:off x="1023030" y="794338"/>
                <a:ext cx="10297831" cy="5320711"/>
              </a:xfrm>
              <a:blipFill>
                <a:blip r:embed="rId5"/>
                <a:stretch>
                  <a:fillRect l="-474" t="-3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805048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3" end="3"/>
                                            </p:txEl>
                                          </p:spTgt>
                                        </p:tgtEl>
                                        <p:attrNameLst>
                                          <p:attrName>style.visibility</p:attrName>
                                        </p:attrNameLst>
                                      </p:cBhvr>
                                      <p:to>
                                        <p:strVal val="visible"/>
                                      </p:to>
                                    </p:set>
                                    <p:animEffect transition="in" filter="fade">
                                      <p:cBhvr>
                                        <p:cTn id="14" dur="1000"/>
                                        <p:tgtEl>
                                          <p:spTgt spid="11">
                                            <p:txEl>
                                              <p:pRg st="3" end="3"/>
                                            </p:txEl>
                                          </p:spTgt>
                                        </p:tgtEl>
                                      </p:cBhvr>
                                    </p:animEffect>
                                    <p:anim calcmode="lin" valueType="num">
                                      <p:cBhvr>
                                        <p:cTn id="15"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fade">
                                      <p:cBhvr>
                                        <p:cTn id="19" dur="1000"/>
                                        <p:tgtEl>
                                          <p:spTgt spid="11">
                                            <p:txEl>
                                              <p:pRg st="4" end="4"/>
                                            </p:txEl>
                                          </p:spTgt>
                                        </p:tgtEl>
                                      </p:cBhvr>
                                    </p:animEffect>
                                    <p:anim calcmode="lin" valueType="num">
                                      <p:cBhvr>
                                        <p:cTn id="20"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1">
                                            <p:txEl>
                                              <p:pRg st="5" end="5"/>
                                            </p:txEl>
                                          </p:spTgt>
                                        </p:tgtEl>
                                        <p:attrNameLst>
                                          <p:attrName>style.visibility</p:attrName>
                                        </p:attrNameLst>
                                      </p:cBhvr>
                                      <p:to>
                                        <p:strVal val="visible"/>
                                      </p:to>
                                    </p:set>
                                    <p:animEffect transition="in" filter="fade">
                                      <p:cBhvr>
                                        <p:cTn id="26" dur="1000"/>
                                        <p:tgtEl>
                                          <p:spTgt spid="11">
                                            <p:txEl>
                                              <p:pRg st="5" end="5"/>
                                            </p:txEl>
                                          </p:spTgt>
                                        </p:tgtEl>
                                      </p:cBhvr>
                                    </p:animEffect>
                                    <p:anim calcmode="lin" valueType="num">
                                      <p:cBhvr>
                                        <p:cTn id="27"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Effect transition="in" filter="fade">
                                      <p:cBhvr>
                                        <p:cTn id="33" dur="1000"/>
                                        <p:tgtEl>
                                          <p:spTgt spid="11">
                                            <p:txEl>
                                              <p:pRg st="6" end="6"/>
                                            </p:txEl>
                                          </p:spTgt>
                                        </p:tgtEl>
                                      </p:cBhvr>
                                    </p:animEffect>
                                    <p:anim calcmode="lin" valueType="num">
                                      <p:cBhvr>
                                        <p:cTn id="34"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Common types of permutations in groups(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5663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mc:AlternateContent xmlns:mc="http://schemas.openxmlformats.org/markup-compatibility/2006" xmlns:a14="http://schemas.microsoft.com/office/drawing/2010/main">
        <mc:Choice Requires="a14">
          <p:sp>
            <p:nvSpPr>
              <p:cNvPr id="11" name="Rectangle 3">
                <a:extLst>
                  <a:ext uri="{FF2B5EF4-FFF2-40B4-BE49-F238E27FC236}">
                    <a16:creationId xmlns:a16="http://schemas.microsoft.com/office/drawing/2014/main" id="{1CC6F61A-F3D1-459C-A235-89B3CDCB21F5}"/>
                  </a:ext>
                </a:extLst>
              </p:cNvPr>
              <p:cNvSpPr>
                <a:spLocks noGrp="1" noChangeArrowheads="1"/>
              </p:cNvSpPr>
              <p:nvPr>
                <p:ph idx="1"/>
              </p:nvPr>
            </p:nvSpPr>
            <p:spPr>
              <a:xfrm>
                <a:off x="1023030" y="794338"/>
                <a:ext cx="10297831" cy="5320711"/>
              </a:xfrm>
            </p:spPr>
            <p:txBody>
              <a:bodyPr>
                <a:noAutofit/>
              </a:bodyPr>
              <a:lstStyle/>
              <a:p>
                <a:pPr marL="360363" indent="-184150">
                  <a:lnSpc>
                    <a:spcPct val="120000"/>
                  </a:lnSpc>
                  <a:spcBef>
                    <a:spcPts val="600"/>
                  </a:spcBef>
                  <a:buClr>
                    <a:srgbClr val="0B61FF"/>
                  </a:buClr>
                  <a:buSzPct val="120000"/>
                </a:pPr>
                <a:r>
                  <a:rPr lang="en-US" altLang="zh-CN" sz="2400" b="1" dirty="0">
                    <a:latin typeface="Trebuchet MS" panose="020B0603020202020204" pitchFamily="34" charset="0"/>
                  </a:rPr>
                  <a:t>Solution 2: </a:t>
                </a:r>
                <a:r>
                  <a:rPr lang="en-US" altLang="zh-CN" sz="2400" dirty="0">
                    <a:latin typeface="Trebuchet MS" panose="020B0603020202020204" pitchFamily="34" charset="0"/>
                  </a:rPr>
                  <a:t>To find the composition </a:t>
                </a:r>
                <a:r>
                  <a:rPr lang="zh-CN" altLang="zh-CN" sz="2400" b="1" i="1" kern="100" dirty="0">
                    <a:latin typeface="Trebuchet MS" panose="020B0603020202020204" pitchFamily="34" charset="0"/>
                    <a:cs typeface="Times New Roman" panose="02020603050405020304" pitchFamily="18" charset="0"/>
                  </a:rPr>
                  <a:t>τ</a:t>
                </a:r>
                <a:r>
                  <a:rPr lang="zh-CN"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σ</a:t>
                </a:r>
                <a:r>
                  <a:rPr lang="en-US" altLang="zh-CN" sz="2400" b="1" kern="100" dirty="0">
                    <a:latin typeface="Trebuchet MS" panose="020B0603020202020204" pitchFamily="34" charset="0"/>
                    <a:cs typeface="Times New Roman" panose="02020603050405020304" pitchFamily="18" charset="0"/>
                  </a:rPr>
                  <a:t>.</a:t>
                </a:r>
              </a:p>
              <a:p>
                <a:pPr marL="176213" indent="0">
                  <a:lnSpc>
                    <a:spcPct val="120000"/>
                  </a:lnSpc>
                  <a:spcBef>
                    <a:spcPts val="600"/>
                  </a:spcBef>
                  <a:buClr>
                    <a:srgbClr val="0B61FF"/>
                  </a:buClr>
                  <a:buSzPct val="120000"/>
                  <a:buNone/>
                </a:pPr>
                <a:r>
                  <a:rPr lang="en-US" altLang="zh-CN" sz="2400" b="1" kern="100" dirty="0">
                    <a:latin typeface="Trebuchet MS" panose="020B0603020202020204" pitchFamily="34" charset="0"/>
                    <a:cs typeface="Times New Roman" panose="02020603050405020304" pitchFamily="18" charset="0"/>
                  </a:rPr>
                  <a:t> </a:t>
                </a:r>
                <a:r>
                  <a:rPr lang="en-US" altLang="zh-CN" sz="2400" b="1" kern="100" dirty="0">
                    <a:solidFill>
                      <a:srgbClr val="0B61FF"/>
                    </a:solidFill>
                    <a:latin typeface="Trebuchet MS" panose="020B0603020202020204" pitchFamily="34" charset="0"/>
                    <a:cs typeface="Times New Roman" panose="02020603050405020304" pitchFamily="18" charset="0"/>
                  </a:rPr>
                  <a:t>① </a:t>
                </a:r>
                <a:r>
                  <a:rPr lang="en-US" altLang="zh-CN" sz="2400" dirty="0">
                    <a:latin typeface="Trebuchet MS" panose="020B0603020202020204" pitchFamily="34" charset="0"/>
                  </a:rPr>
                  <a:t>Express </a:t>
                </a:r>
                <a:r>
                  <a:rPr lang="en-US" altLang="zh-CN" sz="2400" b="1" i="1" kern="100" dirty="0">
                    <a:latin typeface="Trebuchet MS" panose="020B0603020202020204" pitchFamily="34" charset="0"/>
                    <a:cs typeface="Times New Roman" panose="02020603050405020304" pitchFamily="18" charset="0"/>
                  </a:rPr>
                  <a:t>σ </a:t>
                </a:r>
                <a:r>
                  <a:rPr lang="en-US"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 σ </a:t>
                </a:r>
                <a:r>
                  <a:rPr lang="en-US" altLang="zh-CN" sz="2400" b="1" dirty="0">
                    <a:solidFill>
                      <a:srgbClr val="0D0D0D"/>
                    </a:solidFill>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1</a:t>
                </a:r>
                <a:r>
                  <a:rPr lang="en-US" altLang="zh-CN" sz="2400" b="1" dirty="0">
                    <a:solidFill>
                      <a:srgbClr val="0D0D0D"/>
                    </a:solidFill>
                    <a:latin typeface="Trebuchet MS" panose="020B0603020202020204" pitchFamily="34" charset="0"/>
                    <a:cs typeface="Times New Roman" panose="02020603050405020304" pitchFamily="18" charset="0"/>
                  </a:rPr>
                  <a:t>23)</a:t>
                </a:r>
                <a14:m>
                  <m:oMath xmlns:m="http://schemas.openxmlformats.org/officeDocument/2006/math">
                    <m:r>
                      <a:rPr lang="en-US" altLang="zh-CN" sz="2400" b="1" i="1">
                        <a:latin typeface="Cambria Math" panose="02040503050406030204" pitchFamily="18" charset="0"/>
                        <a:cs typeface="Times New Roman" panose="02020603050405020304" pitchFamily="18" charset="0"/>
                      </a:rPr>
                      <m:t>=</m:t>
                    </m:r>
                    <m:d>
                      <m:dPr>
                        <m:ctrlPr>
                          <a:rPr lang="en-US" altLang="zh-CN" sz="2400" b="1" i="1">
                            <a:latin typeface="Cambria Math" panose="02040503050406030204" pitchFamily="18" charset="0"/>
                            <a:cs typeface="Times New Roman" panose="02020603050405020304" pitchFamily="18" charset="0"/>
                          </a:rPr>
                        </m:ctrlPr>
                      </m:dPr>
                      <m:e>
                        <m:f>
                          <m:fPr>
                            <m:type m:val="noBar"/>
                            <m:ctrlPr>
                              <a:rPr lang="en-US" altLang="zh-CN" sz="2400" b="1" i="1">
                                <a:latin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cs typeface="Times New Roman" panose="02020603050405020304" pitchFamily="18" charset="0"/>
                              </a:rPr>
                              <m:t>𝟏</m:t>
                            </m:r>
                          </m:num>
                          <m:den>
                            <m:r>
                              <a:rPr lang="en-US" altLang="zh-CN" sz="2400" b="1" i="1">
                                <a:latin typeface="Cambria Math" panose="02040503050406030204" pitchFamily="18" charset="0"/>
                                <a:cs typeface="Times New Roman" panose="02020603050405020304" pitchFamily="18" charset="0"/>
                              </a:rPr>
                              <m:t>𝟐</m:t>
                            </m:r>
                          </m:den>
                        </m:f>
                        <m:f>
                          <m:fPr>
                            <m:type m:val="noBar"/>
                            <m:ctrlPr>
                              <a:rPr lang="en-US" altLang="zh-CN" sz="2400" b="1" i="1">
                                <a:latin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cs typeface="Times New Roman" panose="02020603050405020304" pitchFamily="18" charset="0"/>
                              </a:rPr>
                              <m:t>𝟐</m:t>
                            </m:r>
                          </m:num>
                          <m:den>
                            <m:r>
                              <a:rPr lang="en-US" altLang="zh-CN" sz="2400" b="1" i="1">
                                <a:latin typeface="Cambria Math" panose="02040503050406030204" pitchFamily="18" charset="0"/>
                                <a:cs typeface="Times New Roman" panose="02020603050405020304" pitchFamily="18" charset="0"/>
                              </a:rPr>
                              <m:t>𝟑</m:t>
                            </m:r>
                          </m:den>
                        </m:f>
                        <m:f>
                          <m:fPr>
                            <m:type m:val="noBar"/>
                            <m:ctrlPr>
                              <a:rPr lang="en-US" altLang="zh-CN" sz="2400" b="1" i="1">
                                <a:latin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cs typeface="Times New Roman" panose="02020603050405020304" pitchFamily="18" charset="0"/>
                              </a:rPr>
                              <m:t>𝟑</m:t>
                            </m:r>
                          </m:num>
                          <m:den>
                            <m:r>
                              <a:rPr lang="en-US" altLang="zh-CN" sz="2400" b="1" i="1">
                                <a:latin typeface="Cambria Math" panose="02040503050406030204" pitchFamily="18" charset="0"/>
                                <a:cs typeface="Times New Roman" panose="02020603050405020304" pitchFamily="18" charset="0"/>
                              </a:rPr>
                              <m:t>𝟏</m:t>
                            </m:r>
                          </m:den>
                        </m:f>
                      </m:e>
                    </m:d>
                  </m:oMath>
                </a14:m>
                <a:r>
                  <a:rPr lang="en-US" altLang="zh-CN" sz="2400" b="1" dirty="0">
                    <a:latin typeface="Trebuchet MS" panose="020B0603020202020204" pitchFamily="34" charset="0"/>
                    <a:cs typeface="Times New Roman" panose="02020603050405020304" pitchFamily="18" charset="0"/>
                  </a:rPr>
                  <a:t>.</a:t>
                </a:r>
              </a:p>
              <a:p>
                <a:pPr marL="625475" indent="-449263">
                  <a:lnSpc>
                    <a:spcPct val="120000"/>
                  </a:lnSpc>
                  <a:spcBef>
                    <a:spcPts val="600"/>
                  </a:spcBef>
                  <a:buClr>
                    <a:srgbClr val="0B61FF"/>
                  </a:buClr>
                  <a:buSzPct val="120000"/>
                  <a:buNone/>
                  <a:tabLst>
                    <a:tab pos="625475" algn="l"/>
                  </a:tabLst>
                </a:pPr>
                <a:r>
                  <a:rPr lang="en-US" altLang="zh-CN" sz="2400" b="1" dirty="0">
                    <a:latin typeface="Trebuchet MS" panose="020B0603020202020204" pitchFamily="34" charset="0"/>
                    <a:cs typeface="Times New Roman" panose="02020603050405020304" pitchFamily="18" charset="0"/>
                  </a:rPr>
                  <a:t> </a:t>
                </a:r>
                <a:r>
                  <a:rPr lang="en-US" altLang="zh-CN" sz="2400" b="1" dirty="0">
                    <a:solidFill>
                      <a:srgbClr val="0B61FF"/>
                    </a:solidFill>
                    <a:latin typeface="Trebuchet MS" panose="020B0603020202020204" pitchFamily="34" charset="0"/>
                    <a:cs typeface="Times New Roman" panose="02020603050405020304" pitchFamily="18" charset="0"/>
                  </a:rPr>
                  <a:t>②</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Apply </a:t>
                </a:r>
                <a:r>
                  <a:rPr lang="en-US" altLang="zh-CN" sz="2400" b="1" i="1" dirty="0">
                    <a:latin typeface="Trebuchet MS" panose="020B0603020202020204" pitchFamily="34" charset="0"/>
                  </a:rPr>
                  <a:t>τ</a:t>
                </a:r>
                <a:r>
                  <a:rPr lang="en-US" altLang="zh-CN" sz="2400" dirty="0">
                    <a:latin typeface="Trebuchet MS" panose="020B0603020202020204" pitchFamily="34" charset="0"/>
                  </a:rPr>
                  <a:t> to the result of </a:t>
                </a:r>
                <a:r>
                  <a:rPr lang="en-US" altLang="zh-CN" sz="2400" b="1" i="1" dirty="0">
                    <a:latin typeface="Trebuchet MS" panose="020B0603020202020204" pitchFamily="34" charset="0"/>
                  </a:rPr>
                  <a:t>σ</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Using composition </a:t>
                </a:r>
                <a:r>
                  <a:rPr lang="en-US" altLang="zh-CN" sz="2400" b="1" dirty="0">
                    <a:latin typeface="Trebuchet MS" panose="020B0603020202020204" pitchFamily="34" charset="0"/>
                  </a:rPr>
                  <a:t>(</a:t>
                </a:r>
                <a:r>
                  <a:rPr lang="zh-CN" altLang="zh-CN" sz="2400" b="1" i="1" kern="100" dirty="0">
                    <a:latin typeface="Trebuchet MS" panose="020B0603020202020204" pitchFamily="34" charset="0"/>
                    <a:cs typeface="Times New Roman" panose="02020603050405020304" pitchFamily="18" charset="0"/>
                  </a:rPr>
                  <a:t>τ</a:t>
                </a:r>
                <a:r>
                  <a:rPr lang="zh-CN"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σ</a:t>
                </a:r>
                <a:r>
                  <a:rPr lang="el-GR" altLang="zh-CN" sz="2400" b="1" dirty="0">
                    <a:latin typeface="Trebuchet MS" panose="020B0603020202020204" pitchFamily="34" charset="0"/>
                  </a:rPr>
                  <a:t>)(</a:t>
                </a:r>
                <a:r>
                  <a:rPr lang="en-US" altLang="zh-CN" sz="2400" b="1" i="1" dirty="0">
                    <a:latin typeface="Trebuchet MS" panose="020B0603020202020204" pitchFamily="34" charset="0"/>
                  </a:rPr>
                  <a:t>x</a:t>
                </a:r>
                <a:r>
                  <a:rPr lang="en-US" altLang="zh-CN" sz="2400" b="1" dirty="0">
                    <a:latin typeface="Trebuchet MS" panose="020B0603020202020204" pitchFamily="34" charset="0"/>
                  </a:rPr>
                  <a:t>)=</a:t>
                </a:r>
                <a:r>
                  <a:rPr lang="el-GR" altLang="zh-CN" sz="2400" b="1" dirty="0">
                    <a:latin typeface="Trebuchet MS" panose="020B0603020202020204" pitchFamily="34" charset="0"/>
                  </a:rPr>
                  <a:t>τ(σ(</a:t>
                </a:r>
                <a:r>
                  <a:rPr lang="en-US" altLang="zh-CN" sz="2400" b="1" i="1" dirty="0">
                    <a:latin typeface="Trebuchet MS" panose="020B0603020202020204" pitchFamily="34" charset="0"/>
                  </a:rPr>
                  <a:t>x</a:t>
                </a:r>
                <a:r>
                  <a:rPr lang="en-US" altLang="zh-CN" sz="2400" b="1" dirty="0">
                    <a:latin typeface="Trebuchet MS" panose="020B0603020202020204" pitchFamily="34" charset="0"/>
                  </a:rPr>
                  <a:t>)) </a:t>
                </a:r>
                <a:r>
                  <a:rPr lang="en-US" altLang="zh-CN" sz="2400"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τ</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σ</a:t>
                </a:r>
                <a:r>
                  <a:rPr lang="en-US" altLang="zh-CN" sz="2400" b="1"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rPr>
                  <a:t> τ</a:t>
                </a:r>
                <a:r>
                  <a:rPr lang="en-US" altLang="zh-CN" sz="2400" b="1" dirty="0">
                    <a:latin typeface="Trebuchet MS" panose="020B0603020202020204" pitchFamily="34" charset="0"/>
                    <a:cs typeface="Times New Roman" panose="02020603050405020304" pitchFamily="18" charset="0"/>
                  </a:rPr>
                  <a:t>(2)=3,  </a:t>
                </a:r>
                <a:r>
                  <a:rPr lang="en-US" altLang="zh-CN" sz="2400" b="1" i="1" dirty="0">
                    <a:latin typeface="Trebuchet MS" panose="020B0603020202020204" pitchFamily="34" charset="0"/>
                    <a:cs typeface="Times New Roman" panose="02020603050405020304" pitchFamily="18" charset="0"/>
                  </a:rPr>
                  <a:t>τ</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σ</a:t>
                </a:r>
                <a:r>
                  <a:rPr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 τ</a:t>
                </a:r>
                <a:r>
                  <a:rPr lang="en-US" altLang="zh-CN" sz="2400" b="1" dirty="0">
                    <a:latin typeface="Trebuchet MS" panose="020B0603020202020204" pitchFamily="34" charset="0"/>
                    <a:cs typeface="Times New Roman" panose="02020603050405020304" pitchFamily="18" charset="0"/>
                  </a:rPr>
                  <a:t>(3)=2, </a:t>
                </a:r>
                <a:r>
                  <a:rPr lang="en-US" altLang="zh-CN" sz="2400" b="1" i="1" dirty="0">
                    <a:latin typeface="Trebuchet MS" panose="020B0603020202020204" pitchFamily="34" charset="0"/>
                    <a:cs typeface="Times New Roman" panose="02020603050405020304" pitchFamily="18" charset="0"/>
                  </a:rPr>
                  <a:t>τ</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σ</a:t>
                </a:r>
                <a:r>
                  <a:rPr lang="en-US" altLang="zh-CN" sz="2400" b="1" dirty="0">
                    <a:latin typeface="Trebuchet MS" panose="020B0603020202020204" pitchFamily="34" charset="0"/>
                    <a:cs typeface="Times New Roman" panose="02020603050405020304" pitchFamily="18" charset="0"/>
                  </a:rPr>
                  <a:t>(3))=</a:t>
                </a:r>
                <a:r>
                  <a:rPr lang="en-US" altLang="zh-CN" sz="2400" b="1" i="1" dirty="0">
                    <a:latin typeface="Trebuchet MS" panose="020B0603020202020204" pitchFamily="34" charset="0"/>
                    <a:cs typeface="Times New Roman" panose="02020603050405020304" pitchFamily="18" charset="0"/>
                  </a:rPr>
                  <a:t> τ</a:t>
                </a:r>
                <a:r>
                  <a:rPr lang="en-US" altLang="zh-CN" sz="2400" b="1" dirty="0">
                    <a:latin typeface="Trebuchet MS" panose="020B0603020202020204" pitchFamily="34" charset="0"/>
                    <a:cs typeface="Times New Roman" panose="02020603050405020304" pitchFamily="18" charset="0"/>
                  </a:rPr>
                  <a:t>(1)=1.</a:t>
                </a:r>
              </a:p>
              <a:p>
                <a:pPr marL="625475" indent="-360363">
                  <a:lnSpc>
                    <a:spcPct val="120000"/>
                  </a:lnSpc>
                  <a:spcBef>
                    <a:spcPts val="600"/>
                  </a:spcBef>
                  <a:buClr>
                    <a:srgbClr val="0B61FF"/>
                  </a:buClr>
                  <a:buSzPct val="120000"/>
                  <a:buNone/>
                  <a:tabLst>
                    <a:tab pos="265113" algn="l"/>
                    <a:tab pos="625475" algn="l"/>
                  </a:tabLst>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③</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Final Result </a:t>
                </a:r>
                <a:r>
                  <a:rPr lang="zh-CN" altLang="zh-CN" sz="2400" b="1" i="1" kern="100" dirty="0">
                    <a:latin typeface="Trebuchet MS" panose="020B0603020202020204" pitchFamily="34" charset="0"/>
                    <a:cs typeface="Times New Roman" panose="02020603050405020304" pitchFamily="18" charset="0"/>
                  </a:rPr>
                  <a:t>τ</a:t>
                </a:r>
                <a:r>
                  <a:rPr lang="zh-CN" altLang="zh-CN" sz="2400" b="1" kern="100" dirty="0">
                    <a:latin typeface="Trebuchet MS" panose="020B0603020202020204" pitchFamily="34" charset="0"/>
                    <a:cs typeface="Times New Roman" panose="02020603050405020304" pitchFamily="18" charset="0"/>
                  </a:rPr>
                  <a:t>∘</a:t>
                </a:r>
                <a:r>
                  <a:rPr lang="en-US" altLang="zh-CN" sz="2400" b="1" i="1" kern="100" dirty="0">
                    <a:latin typeface="Trebuchet MS" panose="020B0603020202020204" pitchFamily="34" charset="0"/>
                    <a:cs typeface="Times New Roman" panose="02020603050405020304" pitchFamily="18" charset="0"/>
                  </a:rPr>
                  <a:t>σ</a:t>
                </a:r>
                <a:r>
                  <a:rPr lang="en-US" altLang="zh-CN" sz="2400" b="1" dirty="0">
                    <a:latin typeface="Trebuchet MS" panose="020B0603020202020204" pitchFamily="34" charset="0"/>
                    <a:cs typeface="Times New Roman" panose="02020603050405020304" pitchFamily="18" charset="0"/>
                  </a:rPr>
                  <a:t> </a:t>
                </a:r>
                <a14:m>
                  <m:oMath xmlns:m="http://schemas.openxmlformats.org/officeDocument/2006/math">
                    <m:r>
                      <a:rPr lang="en-US" altLang="zh-CN" sz="2400" b="1" i="1">
                        <a:latin typeface="Cambria Math" panose="02040503050406030204" pitchFamily="18" charset="0"/>
                        <a:cs typeface="Times New Roman" panose="02020603050405020304" pitchFamily="18" charset="0"/>
                      </a:rPr>
                      <m:t>=</m:t>
                    </m:r>
                    <m:d>
                      <m:dPr>
                        <m:ctrlPr>
                          <a:rPr lang="en-US" altLang="zh-CN" sz="2400" b="1" i="1">
                            <a:latin typeface="Cambria Math" panose="02040503050406030204" pitchFamily="18" charset="0"/>
                            <a:cs typeface="Times New Roman" panose="02020603050405020304" pitchFamily="18" charset="0"/>
                          </a:rPr>
                        </m:ctrlPr>
                      </m:dPr>
                      <m:e>
                        <m:f>
                          <m:fPr>
                            <m:type m:val="noBar"/>
                            <m:ctrlPr>
                              <a:rPr lang="en-US" altLang="zh-CN" sz="2400" b="1" i="1">
                                <a:latin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cs typeface="Times New Roman" panose="02020603050405020304" pitchFamily="18" charset="0"/>
                              </a:rPr>
                              <m:t>𝟏</m:t>
                            </m:r>
                          </m:num>
                          <m:den>
                            <m:r>
                              <a:rPr lang="en-US" altLang="zh-CN" sz="2400" b="1" i="1">
                                <a:latin typeface="Cambria Math" panose="02040503050406030204" pitchFamily="18" charset="0"/>
                                <a:cs typeface="Times New Roman" panose="02020603050405020304" pitchFamily="18" charset="0"/>
                              </a:rPr>
                              <m:t>𝟑</m:t>
                            </m:r>
                          </m:den>
                        </m:f>
                        <m:f>
                          <m:fPr>
                            <m:type m:val="noBar"/>
                            <m:ctrlPr>
                              <a:rPr lang="en-US" altLang="zh-CN" sz="2400" b="1" i="1">
                                <a:latin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cs typeface="Times New Roman" panose="02020603050405020304" pitchFamily="18" charset="0"/>
                              </a:rPr>
                              <m:t>𝟐</m:t>
                            </m:r>
                          </m:num>
                          <m:den>
                            <m:r>
                              <a:rPr lang="en-US" altLang="zh-CN" sz="2400" b="1" i="1">
                                <a:latin typeface="Cambria Math" panose="02040503050406030204" pitchFamily="18" charset="0"/>
                                <a:cs typeface="Times New Roman" panose="02020603050405020304" pitchFamily="18" charset="0"/>
                              </a:rPr>
                              <m:t>𝟐</m:t>
                            </m:r>
                          </m:den>
                        </m:f>
                        <m:f>
                          <m:fPr>
                            <m:type m:val="noBar"/>
                            <m:ctrlPr>
                              <a:rPr lang="en-US" altLang="zh-CN" sz="2400" b="1" i="1">
                                <a:latin typeface="Cambria Math" panose="02040503050406030204" pitchFamily="18" charset="0"/>
                                <a:cs typeface="Times New Roman" panose="02020603050405020304" pitchFamily="18" charset="0"/>
                              </a:rPr>
                            </m:ctrlPr>
                          </m:fPr>
                          <m:num>
                            <m:r>
                              <a:rPr lang="en-US" altLang="zh-CN" sz="2400" b="1" i="1">
                                <a:latin typeface="Cambria Math" panose="02040503050406030204" pitchFamily="18" charset="0"/>
                                <a:cs typeface="Times New Roman" panose="02020603050405020304" pitchFamily="18" charset="0"/>
                              </a:rPr>
                              <m:t>𝟑</m:t>
                            </m:r>
                          </m:num>
                          <m:den>
                            <m:r>
                              <a:rPr lang="en-US" altLang="zh-CN" sz="2400" b="1" i="1">
                                <a:latin typeface="Cambria Math" panose="02040503050406030204" pitchFamily="18" charset="0"/>
                                <a:cs typeface="Times New Roman" panose="02020603050405020304" pitchFamily="18" charset="0"/>
                              </a:rPr>
                              <m:t>𝟏</m:t>
                            </m:r>
                          </m:den>
                        </m:f>
                      </m:e>
                    </m:d>
                  </m:oMath>
                </a14:m>
                <a:r>
                  <a:rPr lang="en-US" altLang="zh-CN" sz="2400" b="1" dirty="0">
                    <a:latin typeface="Trebuchet MS" panose="020B0603020202020204" pitchFamily="34" charset="0"/>
                    <a:cs typeface="Times New Roman" panose="02020603050405020304" pitchFamily="18" charset="0"/>
                  </a:rPr>
                  <a:t>=</a:t>
                </a:r>
                <a:r>
                  <a:rPr lang="zh-CN" altLang="zh-CN"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1</a:t>
                </a:r>
                <a:r>
                  <a:rPr lang="en-US" altLang="zh-CN" sz="2400" b="1" dirty="0">
                    <a:solidFill>
                      <a:srgbClr val="0D0D0D"/>
                    </a:solidFill>
                    <a:latin typeface="Trebuchet MS" panose="020B0603020202020204" pitchFamily="34" charset="0"/>
                    <a:cs typeface="Times New Roman" panose="02020603050405020304" pitchFamily="18" charset="0"/>
                  </a:rPr>
                  <a:t>3).</a:t>
                </a:r>
                <a:endParaRPr lang="en-US" altLang="zh-CN" sz="2400" b="1" dirty="0">
                  <a:latin typeface="Trebuchet MS" panose="020B0603020202020204" pitchFamily="34" charset="0"/>
                  <a:cs typeface="Times New Roman" panose="02020603050405020304" pitchFamily="18" charset="0"/>
                </a:endParaRPr>
              </a:p>
              <a:p>
                <a:pPr marL="360363" indent="-184150">
                  <a:lnSpc>
                    <a:spcPct val="120000"/>
                  </a:lnSpc>
                  <a:spcBef>
                    <a:spcPts val="600"/>
                  </a:spcBef>
                  <a:buClr>
                    <a:srgbClr val="0B61FF"/>
                  </a:buClr>
                  <a:buSzPct val="120000"/>
                </a:pPr>
                <a:r>
                  <a:rPr lang="en-US" altLang="zh-CN" sz="2400" dirty="0">
                    <a:latin typeface="Trebuchet MS" panose="020B0603020202020204" pitchFamily="34" charset="0"/>
                  </a:rPr>
                  <a:t>The results of the compositions </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σ</a:t>
                </a:r>
                <a:r>
                  <a:rPr lang="zh-CN" altLang="zh-CN" sz="2400" b="1" kern="100" dirty="0">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i="1" kern="100" dirty="0">
                    <a:latin typeface="Trebuchet MS" panose="020B0603020202020204" pitchFamily="34" charset="0"/>
                    <a:ea typeface="楷体" panose="02010609060101010101" pitchFamily="49" charset="-122"/>
                    <a:cs typeface="Times New Roman" panose="02020603050405020304" pitchFamily="18" charset="0"/>
                  </a:rPr>
                  <a:t>τ</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latin typeface="Trebuchet MS" panose="020B0603020202020204" pitchFamily="34" charset="0"/>
                  </a:rPr>
                  <a:t>and </a:t>
                </a:r>
                <a:r>
                  <a:rPr lang="zh-CN" altLang="zh-CN" sz="2400" b="1" i="1" kern="100" dirty="0">
                    <a:latin typeface="Trebuchet MS" panose="020B0603020202020204" pitchFamily="34" charset="0"/>
                    <a:ea typeface="楷体" panose="02010609060101010101" pitchFamily="49" charset="-122"/>
                    <a:cs typeface="Times New Roman" panose="02020603050405020304" pitchFamily="18" charset="0"/>
                  </a:rPr>
                  <a:t>τ</a:t>
                </a:r>
                <a:r>
                  <a:rPr lang="zh-CN" altLang="zh-CN" sz="2400" b="1" kern="100" dirty="0">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σ </a:t>
                </a:r>
                <a:r>
                  <a:rPr lang="en-US" altLang="zh-CN" sz="2400" dirty="0">
                    <a:latin typeface="Trebuchet MS" panose="020B0603020202020204" pitchFamily="34" charset="0"/>
                  </a:rPr>
                  <a:t>are different, which shows that in the symmetric group</a:t>
                </a:r>
                <a:r>
                  <a:rPr lang="en-US" altLang="zh-CN" sz="2400" b="1" i="1" dirty="0">
                    <a:latin typeface="Trebuchet MS" panose="020B0603020202020204" pitchFamily="34" charset="0"/>
                  </a:rPr>
                  <a:t> </a:t>
                </a:r>
                <a:r>
                  <a:rPr lang="en-US" altLang="zh-CN" sz="2400" b="1" i="1" dirty="0">
                    <a:latin typeface="Trebuchet MS" panose="020B0603020202020204" pitchFamily="34" charset="0"/>
                    <a:cs typeface="Times New Roman" panose="02020603050405020304" pitchFamily="18" charset="0"/>
                  </a:rPr>
                  <a:t>S</a:t>
                </a:r>
                <a:r>
                  <a:rPr lang="en-US" altLang="zh-CN" sz="2400" b="1" i="1" baseline="-25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 the composition of permutations is </a:t>
                </a:r>
                <a:r>
                  <a:rPr lang="en-US" altLang="zh-CN" sz="2400" b="1" i="1" dirty="0">
                    <a:solidFill>
                      <a:srgbClr val="0B61FF"/>
                    </a:solidFill>
                    <a:latin typeface="Trebuchet MS" panose="020B0603020202020204" pitchFamily="34" charset="0"/>
                  </a:rPr>
                  <a:t>not commutative</a:t>
                </a:r>
                <a:r>
                  <a:rPr lang="en-US" altLang="zh-CN" sz="2400" dirty="0">
                    <a:latin typeface="Trebuchet MS" panose="020B0603020202020204" pitchFamily="34" charset="0"/>
                  </a:rPr>
                  <a:t>, that is, </a:t>
                </a:r>
                <a:r>
                  <a:rPr lang="en-US" altLang="zh-CN" sz="2400" b="1" i="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σ</a:t>
                </a:r>
                <a:r>
                  <a:rPr lang="zh-CN" altLang="zh-CN" sz="2400" b="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i="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τ</a:t>
                </a:r>
                <a:r>
                  <a:rPr lang="zh-CN" altLang="en-US" sz="2400" b="1" i="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i="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τ</a:t>
                </a:r>
                <a:r>
                  <a:rPr lang="zh-CN" altLang="zh-CN" sz="2400" b="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kern="100" dirty="0">
                    <a:solidFill>
                      <a:srgbClr val="FF0000"/>
                    </a:solidFill>
                    <a:latin typeface="Trebuchet MS" panose="020B0603020202020204" pitchFamily="34" charset="0"/>
                    <a:ea typeface="楷体" panose="02010609060101010101" pitchFamily="49" charset="-122"/>
                    <a:cs typeface="Times New Roman" panose="02020603050405020304" pitchFamily="18" charset="0"/>
                  </a:rPr>
                  <a:t>σ </a:t>
                </a:r>
                <a:r>
                  <a:rPr lang="en-US" altLang="zh-CN" sz="2400" b="1" i="1" kern="100" dirty="0">
                    <a:latin typeface="Trebuchet MS" panose="020B0603020202020204" pitchFamily="34" charset="0"/>
                    <a:ea typeface="楷体" panose="02010609060101010101" pitchFamily="49" charset="-122"/>
                    <a:cs typeface="Times New Roman" panose="02020603050405020304" pitchFamily="18" charset="0"/>
                  </a:rPr>
                  <a:t>.</a:t>
                </a:r>
                <a:endParaRPr lang="zh-CN" altLang="en-US" sz="2400" b="1" dirty="0">
                  <a:latin typeface="Trebuchet MS" panose="020B0603020202020204" pitchFamily="34" charset="0"/>
                </a:endParaRPr>
              </a:p>
              <a:p>
                <a:pPr marL="447675" indent="-271463">
                  <a:lnSpc>
                    <a:spcPct val="105000"/>
                  </a:lnSpc>
                  <a:spcBef>
                    <a:spcPts val="0"/>
                  </a:spcBef>
                  <a:buClr>
                    <a:srgbClr val="0B61FF"/>
                  </a:buClr>
                  <a:buSzPct val="120000"/>
                  <a:tabLst>
                    <a:tab pos="360363" algn="l"/>
                  </a:tabLst>
                </a:pPr>
                <a:endParaRPr lang="en-US" altLang="zh-CN" sz="2400" b="1" dirty="0">
                  <a:latin typeface="Trebuchet MS" panose="020B0603020202020204" pitchFamily="34" charset="0"/>
                  <a:ea typeface="楷体" panose="02010609060101010101" pitchFamily="49" charset="-122"/>
                  <a:cs typeface="Times New Roman" panose="02020603050405020304" pitchFamily="18" charset="0"/>
                </a:endParaRPr>
              </a:p>
            </p:txBody>
          </p:sp>
        </mc:Choice>
        <mc:Fallback xmlns="">
          <p:sp>
            <p:nvSpPr>
              <p:cNvPr id="11" name="Rectangle 3">
                <a:extLst>
                  <a:ext uri="{FF2B5EF4-FFF2-40B4-BE49-F238E27FC236}">
                    <a16:creationId xmlns:a16="http://schemas.microsoft.com/office/drawing/2014/main" id="{1CC6F61A-F3D1-459C-A235-89B3CDCB21F5}"/>
                  </a:ext>
                </a:extLst>
              </p:cNvPr>
              <p:cNvSpPr>
                <a:spLocks noGrp="1" noRot="1" noChangeAspect="1" noMove="1" noResize="1" noEditPoints="1" noAdjustHandles="1" noChangeArrowheads="1" noChangeShapeType="1" noTextEdit="1"/>
              </p:cNvSpPr>
              <p:nvPr>
                <p:ph idx="1"/>
              </p:nvPr>
            </p:nvSpPr>
            <p:spPr>
              <a:xfrm>
                <a:off x="1023030" y="794338"/>
                <a:ext cx="10297831" cy="5320711"/>
              </a:xfrm>
              <a:blipFill>
                <a:blip r:embed="rId5"/>
                <a:stretch>
                  <a:fillRect t="-1031" r="-1658"/>
                </a:stretch>
              </a:blipFill>
            </p:spPr>
            <p:txBody>
              <a:bodyPr/>
              <a:lstStyle/>
              <a:p>
                <a:r>
                  <a:rPr lang="en-US">
                    <a:noFill/>
                  </a:rPr>
                  <a:t> </a:t>
                </a:r>
              </a:p>
            </p:txBody>
          </p:sp>
        </mc:Fallback>
      </mc:AlternateContent>
    </p:spTree>
    <p:extLst>
      <p:ext uri="{BB962C8B-B14F-4D97-AF65-F5344CB8AC3E}">
        <p14:creationId xmlns:p14="http://schemas.microsoft.com/office/powerpoint/2010/main" val="37889859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3" end="3"/>
                                            </p:txEl>
                                          </p:spTgt>
                                        </p:tgtEl>
                                        <p:attrNameLst>
                                          <p:attrName>style.visibility</p:attrName>
                                        </p:attrNameLst>
                                      </p:cBhvr>
                                      <p:to>
                                        <p:strVal val="visible"/>
                                      </p:to>
                                    </p:set>
                                    <p:animEffect transition="in" filter="fade">
                                      <p:cBhvr>
                                        <p:cTn id="14" dur="1000"/>
                                        <p:tgtEl>
                                          <p:spTgt spid="11">
                                            <p:txEl>
                                              <p:pRg st="3" end="3"/>
                                            </p:txEl>
                                          </p:spTgt>
                                        </p:tgtEl>
                                      </p:cBhvr>
                                    </p:animEffect>
                                    <p:anim calcmode="lin" valueType="num">
                                      <p:cBhvr>
                                        <p:cTn id="15"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fade">
                                      <p:cBhvr>
                                        <p:cTn id="21" dur="1000"/>
                                        <p:tgtEl>
                                          <p:spTgt spid="11">
                                            <p:txEl>
                                              <p:pRg st="4" end="4"/>
                                            </p:txEl>
                                          </p:spTgt>
                                        </p:tgtEl>
                                      </p:cBhvr>
                                    </p:animEffect>
                                    <p:anim calcmode="lin" valueType="num">
                                      <p:cBhvr>
                                        <p:cTn id="22"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9.3.2 Groups</a:t>
            </a:r>
            <a:endParaRPr lang="en-US" altLang="zh-CN" sz="2000"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Common types of permutations in groups(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0"/>
            <a:ext cx="8268620" cy="48713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graphicFrame>
        <p:nvGraphicFramePr>
          <p:cNvPr id="10" name="Group 14">
            <a:extLst>
              <a:ext uri="{FF2B5EF4-FFF2-40B4-BE49-F238E27FC236}">
                <a16:creationId xmlns:a16="http://schemas.microsoft.com/office/drawing/2014/main" id="{B713FC11-434A-47B9-97A2-8EF947440E52}"/>
              </a:ext>
            </a:extLst>
          </p:cNvPr>
          <p:cNvGraphicFramePr>
            <a:graphicFrameLocks/>
          </p:cNvGraphicFramePr>
          <p:nvPr>
            <p:extLst>
              <p:ext uri="{D42A27DB-BD31-4B8C-83A1-F6EECF244321}">
                <p14:modId xmlns:p14="http://schemas.microsoft.com/office/powerpoint/2010/main" val="4221904081"/>
              </p:ext>
            </p:extLst>
          </p:nvPr>
        </p:nvGraphicFramePr>
        <p:xfrm>
          <a:off x="1278194" y="2043736"/>
          <a:ext cx="7632700" cy="3378476"/>
        </p:xfrm>
        <a:graphic>
          <a:graphicData uri="http://schemas.openxmlformats.org/drawingml/2006/table">
            <a:tbl>
              <a:tblPr/>
              <a:tblGrid>
                <a:gridCol w="1139825">
                  <a:extLst>
                    <a:ext uri="{9D8B030D-6E8A-4147-A177-3AD203B41FA5}">
                      <a16:colId xmlns:a16="http://schemas.microsoft.com/office/drawing/2014/main" val="20000"/>
                    </a:ext>
                  </a:extLst>
                </a:gridCol>
                <a:gridCol w="6492875">
                  <a:extLst>
                    <a:ext uri="{9D8B030D-6E8A-4147-A177-3AD203B41FA5}">
                      <a16:colId xmlns:a16="http://schemas.microsoft.com/office/drawing/2014/main" val="20001"/>
                    </a:ext>
                  </a:extLst>
                </a:gridCol>
              </a:tblGrid>
              <a:tr h="726756">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zh-CN" altLang="zh-CN" sz="24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a:t>
                      </a:r>
                      <a:endParaRPr kumimoji="1" lang="zh-CN" altLang="en-US" sz="2400" b="0"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endParaRP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(1 2)      (1 3)      (2 3)     (1 2 3)    (1 3 2) </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5144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(1 2)</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(1 3)</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(2 3)</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(1 2 3)</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(1 3 2)</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(1 2)      (1 3)      (2 3)     (1 2 3)    (1 3 2) </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(1 2)       (1)      (1 2 3)    (1 3 2)     (1 3)       (2 3)</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(1 3)    (1 3 2)      (1)       (1 2 3)     (2 3)       (1 2)</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(2 3)    (1 2 3)   (1 3 2)      (1)         (1 2)       (1 3)</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(1 2 3)    (2 3)      (1 2)      (1 3)     (1 3 2)       (1)</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(1 3 2)    (1 3)      (2 3)      (1 2)        (1)       (1 2 3)  </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 name="文本框 11">
            <a:extLst>
              <a:ext uri="{FF2B5EF4-FFF2-40B4-BE49-F238E27FC236}">
                <a16:creationId xmlns:a16="http://schemas.microsoft.com/office/drawing/2014/main" id="{D67092C6-6BDE-4338-8265-2337CA389AF5}"/>
              </a:ext>
            </a:extLst>
          </p:cNvPr>
          <p:cNvSpPr txBox="1"/>
          <p:nvPr/>
        </p:nvSpPr>
        <p:spPr>
          <a:xfrm>
            <a:off x="778715" y="794034"/>
            <a:ext cx="10217682" cy="1353331"/>
          </a:xfrm>
          <a:prstGeom prst="rect">
            <a:avLst/>
          </a:prstGeom>
          <a:noFill/>
        </p:spPr>
        <p:txBody>
          <a:bodyPr wrap="square">
            <a:noAutofit/>
          </a:bodyPr>
          <a:lstStyle/>
          <a:p>
            <a:pPr marL="342900" indent="-342900">
              <a:lnSpc>
                <a:spcPct val="110000"/>
              </a:lnSpc>
              <a:buClr>
                <a:srgbClr val="0B61FF"/>
              </a:buClr>
              <a:buSzPct val="80000"/>
              <a:buFont typeface="Wingdings" panose="05000000000000000000" pitchFamily="2" charset="2"/>
              <a:buChar char="n"/>
            </a:pPr>
            <a:r>
              <a:rPr lang="en-US" sz="2400" b="1" dirty="0">
                <a:latin typeface="Trebuchet MS" panose="020B0603020202020204" pitchFamily="34" charset="0"/>
              </a:rPr>
              <a:t>Example: </a:t>
            </a:r>
            <a:r>
              <a:rPr lang="en-US" sz="2400" dirty="0">
                <a:latin typeface="Trebuchet MS" panose="020B0603020202020204" pitchFamily="34" charset="0"/>
              </a:rPr>
              <a:t>Let </a:t>
            </a:r>
            <a:r>
              <a:rPr lang="en-US" altLang="zh-CN" sz="2400" b="1" i="1" dirty="0">
                <a:latin typeface="Trebuchet MS" panose="020B0603020202020204" pitchFamily="34" charset="0"/>
                <a:cs typeface="Times New Roman" panose="02020603050405020304" pitchFamily="18" charset="0"/>
              </a:rPr>
              <a:t>S </a:t>
            </a:r>
            <a:r>
              <a:rPr lang="en-US" altLang="zh-CN" sz="2400" b="1" dirty="0">
                <a:latin typeface="Trebuchet MS" panose="020B0603020202020204" pitchFamily="34" charset="0"/>
                <a:cs typeface="Times New Roman" panose="02020603050405020304" pitchFamily="18" charset="0"/>
              </a:rPr>
              <a:t>= {1, 2, 3}. </a:t>
            </a:r>
            <a:r>
              <a:rPr lang="en-US" altLang="zh-CN" sz="2400" dirty="0">
                <a:latin typeface="Trebuchet MS" panose="020B0603020202020204" pitchFamily="34" charset="0"/>
                <a:cs typeface="Times New Roman" panose="02020603050405020304" pitchFamily="18" charset="0"/>
              </a:rPr>
              <a:t>T</a:t>
            </a:r>
            <a:r>
              <a:rPr lang="en-US" sz="2400" dirty="0">
                <a:latin typeface="Trebuchet MS" panose="020B0603020202020204" pitchFamily="34" charset="0"/>
              </a:rPr>
              <a:t>he symmetric group of degree 3, </a:t>
            </a:r>
            <a:r>
              <a:rPr lang="en-US" altLang="zh-CN" sz="2400" b="1" i="1" dirty="0">
                <a:latin typeface="Trebuchet MS" panose="020B0603020202020204" pitchFamily="34" charset="0"/>
                <a:cs typeface="Times New Roman" panose="02020603050405020304" pitchFamily="18" charset="0"/>
              </a:rPr>
              <a:t>S</a:t>
            </a:r>
            <a:r>
              <a:rPr lang="en-US" altLang="zh-CN" sz="2400" b="1" baseline="-25000" dirty="0">
                <a:latin typeface="Trebuchet MS" panose="020B0603020202020204" pitchFamily="34" charset="0"/>
                <a:cs typeface="Times New Roman" panose="02020603050405020304" pitchFamily="18" charset="0"/>
              </a:rPr>
              <a:t>3 </a:t>
            </a:r>
            <a:r>
              <a:rPr lang="en-US" altLang="zh-CN" sz="2400" b="1" dirty="0">
                <a:latin typeface="Trebuchet MS" panose="020B0603020202020204" pitchFamily="34" charset="0"/>
                <a:cs typeface="Times New Roman" panose="02020603050405020304" pitchFamily="18" charset="0"/>
              </a:rPr>
              <a:t>= {(1), (1 2), (1 3), (2 3), (1 2 3), (1 3 2)}, </a:t>
            </a:r>
            <a:r>
              <a:rPr lang="en-US" altLang="zh-CN" sz="2400" dirty="0">
                <a:latin typeface="Trebuchet MS" panose="020B0603020202020204" pitchFamily="34" charset="0"/>
              </a:rPr>
              <a:t>has the following composition table under the operation </a:t>
            </a:r>
            <a:r>
              <a:rPr lang="en-US" altLang="zh-CN" sz="2400" b="1" dirty="0">
                <a:solidFill>
                  <a:srgbClr val="FF0000"/>
                </a:solidFill>
                <a:latin typeface="Trebuchet MS" panose="020B0603020202020204" pitchFamily="34" charset="0"/>
              </a:rPr>
              <a:t>∘</a:t>
            </a:r>
            <a:r>
              <a:rPr lang="en-US" altLang="zh-CN" sz="2400" dirty="0">
                <a:latin typeface="Trebuchet MS" panose="020B0603020202020204" pitchFamily="34" charset="0"/>
              </a:rPr>
              <a:t>:</a:t>
            </a:r>
            <a:r>
              <a:rPr lang="zh-CN" altLang="en-US" sz="2400" b="1" dirty="0">
                <a:latin typeface="Trebuchet MS" panose="020B0603020202020204" pitchFamily="34" charset="0"/>
                <a:cs typeface="Times New Roman" panose="02020603050405020304" pitchFamily="18" charset="0"/>
              </a:rPr>
              <a:t> </a:t>
            </a:r>
            <a:endParaRPr lang="zh-CN" altLang="en-US" sz="2400" b="1" dirty="0">
              <a:latin typeface="Trebuchet MS" panose="020B0603020202020204" pitchFamily="34" charset="0"/>
            </a:endParaRPr>
          </a:p>
        </p:txBody>
      </p:sp>
      <p:sp>
        <p:nvSpPr>
          <p:cNvPr id="11" name="文本框 10">
            <a:extLst>
              <a:ext uri="{FF2B5EF4-FFF2-40B4-BE49-F238E27FC236}">
                <a16:creationId xmlns:a16="http://schemas.microsoft.com/office/drawing/2014/main" id="{5713BE49-B92D-4C15-821D-AE8019F23E4E}"/>
              </a:ext>
            </a:extLst>
          </p:cNvPr>
          <p:cNvSpPr txBox="1"/>
          <p:nvPr/>
        </p:nvSpPr>
        <p:spPr>
          <a:xfrm>
            <a:off x="1077691" y="5613651"/>
            <a:ext cx="8679842" cy="873957"/>
          </a:xfrm>
          <a:prstGeom prst="rect">
            <a:avLst/>
          </a:prstGeom>
          <a:noFill/>
        </p:spPr>
        <p:txBody>
          <a:bodyPr wrap="square">
            <a:spAutoFit/>
          </a:bodyPr>
          <a:lstStyle/>
          <a:p>
            <a:pPr>
              <a:lnSpc>
                <a:spcPct val="110000"/>
              </a:lnSpc>
            </a:pPr>
            <a:r>
              <a:rPr kumimoji="0" lang="en-US" altLang="en-US" sz="2400" i="0" u="none" strike="noStrike" cap="none" normalizeH="0" baseline="0" dirty="0">
                <a:ln>
                  <a:noFill/>
                </a:ln>
                <a:solidFill>
                  <a:schemeClr val="tx1"/>
                </a:solidFill>
                <a:effectLst/>
                <a:latin typeface="Trebuchet MS" panose="020B0603020202020204" pitchFamily="34" charset="0"/>
              </a:rPr>
              <a:t>The results of </a:t>
            </a:r>
            <a:r>
              <a:rPr kumimoji="0" lang="en-US" altLang="en-US" sz="2400" b="1" i="0" u="none" strike="noStrike" cap="none" normalizeH="0" baseline="0" dirty="0">
                <a:ln>
                  <a:noFill/>
                </a:ln>
                <a:solidFill>
                  <a:schemeClr val="tx1"/>
                </a:solidFill>
                <a:effectLst/>
                <a:latin typeface="Trebuchet MS" panose="020B0603020202020204" pitchFamily="34" charset="0"/>
              </a:rPr>
              <a:t>permutation operations </a:t>
            </a:r>
            <a:r>
              <a:rPr kumimoji="0" lang="en-US" altLang="en-US" sz="2400" i="0" u="none" strike="noStrike" cap="none" normalizeH="0" baseline="0" dirty="0">
                <a:ln>
                  <a:noFill/>
                </a:ln>
                <a:solidFill>
                  <a:schemeClr val="tx1"/>
                </a:solidFill>
                <a:effectLst/>
                <a:latin typeface="Trebuchet MS" panose="020B0603020202020204" pitchFamily="34" charset="0"/>
              </a:rPr>
              <a:t>can be </a:t>
            </a:r>
            <a:r>
              <a:rPr kumimoji="0" lang="en-US" altLang="en-US" sz="2400" b="1" i="1" u="none" strike="noStrike" cap="none" normalizeH="0" baseline="0" dirty="0">
                <a:ln>
                  <a:noFill/>
                </a:ln>
                <a:solidFill>
                  <a:srgbClr val="0B61FF"/>
                </a:solidFill>
                <a:effectLst/>
                <a:latin typeface="Trebuchet MS" panose="020B0603020202020204" pitchFamily="34" charset="0"/>
              </a:rPr>
              <a:t>verified by checking the table</a:t>
            </a:r>
            <a:r>
              <a:rPr kumimoji="0" lang="en-US" altLang="en-US" sz="2400" b="0" i="0" u="none" strike="noStrike" cap="none" normalizeH="0" baseline="0" dirty="0">
                <a:ln>
                  <a:noFill/>
                </a:ln>
                <a:solidFill>
                  <a:schemeClr val="tx1"/>
                </a:solidFill>
                <a:effectLst/>
                <a:latin typeface="Trebuchet MS" panose="020B0603020202020204" pitchFamily="34" charset="0"/>
              </a:rPr>
              <a:t>.</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084943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9.3 Several Typical Algebraic Systems</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p:txBody>
      </p:sp>
      <p:sp>
        <p:nvSpPr>
          <p:cNvPr id="9" name="Rectangle 3">
            <a:extLst>
              <a:ext uri="{FF2B5EF4-FFF2-40B4-BE49-F238E27FC236}">
                <a16:creationId xmlns:a16="http://schemas.microsoft.com/office/drawing/2014/main" id="{DFB26965-CE5B-4DE7-9E7F-C771435C74C9}"/>
              </a:ext>
            </a:extLst>
          </p:cNvPr>
          <p:cNvSpPr txBox="1">
            <a:spLocks noChangeArrowheads="1"/>
          </p:cNvSpPr>
          <p:nvPr/>
        </p:nvSpPr>
        <p:spPr>
          <a:xfrm>
            <a:off x="2133599" y="1066801"/>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Clr>
                <a:srgbClr val="0B61FF"/>
              </a:buClr>
              <a:buSzPct val="80000"/>
              <a:buFont typeface="Wingdings" panose="05000000000000000000" pitchFamily="2" charset="2"/>
              <a:buChar char="n"/>
            </a:pPr>
            <a:r>
              <a:rPr lang="en-US" altLang="zh-CN" sz="2400" b="1" dirty="0">
                <a:solidFill>
                  <a:schemeClr val="bg2">
                    <a:lumMod val="75000"/>
                  </a:schemeClr>
                </a:solidFill>
                <a:latin typeface="Trebuchet MS" panose="020B0603020202020204" pitchFamily="34" charset="0"/>
              </a:rPr>
              <a:t>9.3.1 Semigroups and Idempotent Elements</a:t>
            </a:r>
          </a:p>
          <a:p>
            <a:pPr>
              <a:lnSpc>
                <a:spcPct val="130000"/>
              </a:lnSpc>
              <a:buClr>
                <a:srgbClr val="0B61FF"/>
              </a:buClr>
              <a:buSzPct val="80000"/>
              <a:buFont typeface="Wingdings" panose="05000000000000000000" pitchFamily="2" charset="2"/>
              <a:buChar char="n"/>
            </a:pPr>
            <a:r>
              <a:rPr lang="en-US" altLang="zh-CN" sz="2400" b="1" dirty="0">
                <a:solidFill>
                  <a:schemeClr val="bg2">
                    <a:lumMod val="75000"/>
                  </a:schemeClr>
                </a:solidFill>
                <a:latin typeface="Trebuchet MS" panose="020B0603020202020204" pitchFamily="34" charset="0"/>
              </a:rPr>
              <a:t>9.3.2 Groups</a:t>
            </a:r>
          </a:p>
          <a:p>
            <a:pPr>
              <a:lnSpc>
                <a:spcPct val="130000"/>
              </a:lnSpc>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9.3.3 Rings and Fields</a:t>
            </a:r>
          </a:p>
          <a:p>
            <a:pPr>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9.3.4 Lattices and Boolean Algebras</a:t>
            </a:r>
          </a:p>
        </p:txBody>
      </p:sp>
    </p:spTree>
    <p:extLst>
      <p:ext uri="{BB962C8B-B14F-4D97-AF65-F5344CB8AC3E}">
        <p14:creationId xmlns:p14="http://schemas.microsoft.com/office/powerpoint/2010/main" val="40447096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9.3.3 Rings and Fields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5" name="Rectangle 3">
            <a:extLst>
              <a:ext uri="{FF2B5EF4-FFF2-40B4-BE49-F238E27FC236}">
                <a16:creationId xmlns:a16="http://schemas.microsoft.com/office/drawing/2014/main" id="{CBE5D54F-6080-4CA2-AA18-AF256ACDA749}"/>
              </a:ext>
            </a:extLst>
          </p:cNvPr>
          <p:cNvSpPr>
            <a:spLocks noGrp="1" noChangeArrowheads="1"/>
          </p:cNvSpPr>
          <p:nvPr>
            <p:ph idx="1"/>
          </p:nvPr>
        </p:nvSpPr>
        <p:spPr>
          <a:xfrm>
            <a:off x="1023257" y="1055914"/>
            <a:ext cx="7772400" cy="4898572"/>
          </a:xfrm>
        </p:spPr>
        <p:txBody>
          <a:bodyPr>
            <a:normAutofit/>
          </a:bodyPr>
          <a:lstStyle/>
          <a:p>
            <a:pPr marL="1508125" indent="-342900">
              <a:lnSpc>
                <a:spcPct val="130000"/>
              </a:lnSpc>
              <a:buClr>
                <a:srgbClr val="0B61FF"/>
              </a:buClr>
              <a:buSzPct val="80000"/>
              <a:buFont typeface="Wingdings" panose="05000000000000000000" pitchFamily="2" charset="2"/>
              <a:buChar char="n"/>
            </a:pPr>
            <a:r>
              <a:rPr lang="en-US" altLang="zh-CN" sz="2400" dirty="0">
                <a:latin typeface="Trebuchet MS" panose="020B0603020202020204" pitchFamily="34" charset="0"/>
              </a:rPr>
              <a:t>Definition and Examples of Rings</a:t>
            </a:r>
            <a:endParaRPr lang="zh-CN" altLang="en-US" sz="2400" b="1" dirty="0">
              <a:latin typeface="Trebuchet MS" panose="020B0603020202020204" pitchFamily="34" charset="0"/>
            </a:endParaRPr>
          </a:p>
          <a:p>
            <a:pPr marL="1508125" indent="-342900">
              <a:lnSpc>
                <a:spcPct val="130000"/>
              </a:lnSpc>
              <a:buClr>
                <a:srgbClr val="0B61FF"/>
              </a:buClr>
              <a:buSzPct val="80000"/>
              <a:buFont typeface="Wingdings" panose="05000000000000000000" pitchFamily="2" charset="2"/>
              <a:buChar char="n"/>
            </a:pPr>
            <a:r>
              <a:rPr lang="en-US" altLang="zh-CN" sz="2400" dirty="0">
                <a:latin typeface="Trebuchet MS" panose="020B0603020202020204" pitchFamily="34" charset="0"/>
              </a:rPr>
              <a:t>Operational Properties of Rings</a:t>
            </a:r>
            <a:endParaRPr lang="zh-CN" altLang="en-US" sz="2400" b="1" dirty="0">
              <a:latin typeface="Trebuchet MS" panose="020B0603020202020204" pitchFamily="34" charset="0"/>
            </a:endParaRPr>
          </a:p>
          <a:p>
            <a:pPr marL="1508125" indent="-342900">
              <a:lnSpc>
                <a:spcPct val="130000"/>
              </a:lnSpc>
              <a:buClr>
                <a:srgbClr val="0B61FF"/>
              </a:buClr>
              <a:buSzPct val="80000"/>
              <a:buFont typeface="Wingdings" panose="05000000000000000000" pitchFamily="2" charset="2"/>
              <a:buChar char="n"/>
            </a:pPr>
            <a:r>
              <a:rPr lang="en-US" altLang="zh-CN" sz="2400" dirty="0">
                <a:latin typeface="Trebuchet MS" panose="020B0603020202020204" pitchFamily="34" charset="0"/>
              </a:rPr>
              <a:t>Subrings and Their Characterization</a:t>
            </a:r>
            <a:endParaRPr lang="zh-CN" altLang="en-US" sz="2400" b="1" dirty="0">
              <a:latin typeface="Trebuchet MS" panose="020B0603020202020204" pitchFamily="34" charset="0"/>
            </a:endParaRPr>
          </a:p>
          <a:p>
            <a:pPr marL="1508125" indent="-342900">
              <a:lnSpc>
                <a:spcPct val="130000"/>
              </a:lnSpc>
              <a:buClr>
                <a:srgbClr val="0B61FF"/>
              </a:buClr>
              <a:buSzPct val="80000"/>
              <a:buFont typeface="Wingdings" panose="05000000000000000000" pitchFamily="2" charset="2"/>
              <a:buChar char="n"/>
            </a:pPr>
            <a:r>
              <a:rPr lang="en-US" altLang="zh-CN" sz="2400" dirty="0">
                <a:latin typeface="Trebuchet MS" panose="020B0603020202020204" pitchFamily="34" charset="0"/>
              </a:rPr>
              <a:t>Ring Homomorphisms</a:t>
            </a:r>
            <a:endParaRPr lang="zh-CN" altLang="en-US" sz="2400" b="1" dirty="0">
              <a:latin typeface="Trebuchet MS" panose="020B0603020202020204" pitchFamily="34" charset="0"/>
            </a:endParaRPr>
          </a:p>
          <a:p>
            <a:pPr marL="1508125" indent="-342900">
              <a:lnSpc>
                <a:spcPct val="130000"/>
              </a:lnSpc>
              <a:buClr>
                <a:srgbClr val="0B61FF"/>
              </a:buClr>
              <a:buSzPct val="80000"/>
              <a:buFont typeface="Wingdings" panose="05000000000000000000" pitchFamily="2" charset="2"/>
              <a:buChar char="n"/>
            </a:pPr>
            <a:r>
              <a:rPr lang="en-US" altLang="zh-CN" sz="2400" dirty="0">
                <a:latin typeface="Trebuchet MS" panose="020B0603020202020204" pitchFamily="34" charset="0"/>
              </a:rPr>
              <a:t>Integral Domains and Fields</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31455495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9.3.3 Rings and Fields</a:t>
            </a:r>
            <a:endParaRPr lang="en-US" altLang="zh-CN" sz="2000" b="1" dirty="0">
              <a:latin typeface="Trebuchet MS" panose="020B0603020202020204" pitchFamily="34" charset="0"/>
              <a:ea typeface="宋体" panose="02010600030101010101" pitchFamily="2" charset="-122"/>
              <a:cs typeface="Times New Roman" panose="02020603050405020304" pitchFamily="18" charset="0"/>
            </a:endParaRPr>
          </a:p>
          <a:p>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Group </a:t>
            </a:r>
            <a:r>
              <a:rPr lang="en-US" altLang="zh-CN" sz="2400" b="1" dirty="0">
                <a:cs typeface="Times New Roman" panose="02020603050405020304" pitchFamily="18" charset="0"/>
              </a:rPr>
              <a:t>&amp; </a:t>
            </a:r>
            <a:r>
              <a:rPr lang="en-US" altLang="zh-CN" sz="2400" b="1" dirty="0">
                <a:latin typeface="Trebuchet MS" panose="020B0603020202020204" pitchFamily="34" charset="0"/>
                <a:cs typeface="Times New Roman" panose="02020603050405020304" pitchFamily="18" charset="0"/>
              </a:rPr>
              <a:t>Rings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表格 3">
            <a:extLst>
              <a:ext uri="{FF2B5EF4-FFF2-40B4-BE49-F238E27FC236}">
                <a16:creationId xmlns:a16="http://schemas.microsoft.com/office/drawing/2014/main" id="{F8F633E1-4811-41EE-B627-2CE400D6D0E7}"/>
              </a:ext>
            </a:extLst>
          </p:cNvPr>
          <p:cNvGraphicFramePr>
            <a:graphicFrameLocks noGrp="1"/>
          </p:cNvGraphicFramePr>
          <p:nvPr/>
        </p:nvGraphicFramePr>
        <p:xfrm>
          <a:off x="655398" y="815849"/>
          <a:ext cx="10930652" cy="5314950"/>
        </p:xfrm>
        <a:graphic>
          <a:graphicData uri="http://schemas.openxmlformats.org/drawingml/2006/table">
            <a:tbl>
              <a:tblPr firstRow="1" firstCol="1" bandRow="1">
                <a:tableStyleId>{5C22544A-7EE6-4342-B048-85BDC9FD1C3A}</a:tableStyleId>
              </a:tblPr>
              <a:tblGrid>
                <a:gridCol w="1967342">
                  <a:extLst>
                    <a:ext uri="{9D8B030D-6E8A-4147-A177-3AD203B41FA5}">
                      <a16:colId xmlns:a16="http://schemas.microsoft.com/office/drawing/2014/main" val="3615785365"/>
                    </a:ext>
                  </a:extLst>
                </a:gridCol>
                <a:gridCol w="4500819">
                  <a:extLst>
                    <a:ext uri="{9D8B030D-6E8A-4147-A177-3AD203B41FA5}">
                      <a16:colId xmlns:a16="http://schemas.microsoft.com/office/drawing/2014/main" val="1768105143"/>
                    </a:ext>
                  </a:extLst>
                </a:gridCol>
                <a:gridCol w="4462491">
                  <a:extLst>
                    <a:ext uri="{9D8B030D-6E8A-4147-A177-3AD203B41FA5}">
                      <a16:colId xmlns:a16="http://schemas.microsoft.com/office/drawing/2014/main" val="3531637402"/>
                    </a:ext>
                  </a:extLst>
                </a:gridCol>
              </a:tblGrid>
              <a:tr h="245797">
                <a:tc>
                  <a:txBody>
                    <a:bodyPr/>
                    <a:lstStyle/>
                    <a:p>
                      <a:pPr marL="0" indent="0" algn="ctr"/>
                      <a:endParaRPr lang="zh-CN" sz="2000"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5F1"/>
                    </a:solidFill>
                  </a:tcPr>
                </a:tc>
                <a:tc>
                  <a:txBody>
                    <a:bodyPr/>
                    <a:lstStyle/>
                    <a:p>
                      <a:pPr indent="-9525" algn="ctr"/>
                      <a:r>
                        <a:rPr lang="en-US" altLang="zh-CN" sz="2000" b="1" kern="1200" dirty="0">
                          <a:solidFill>
                            <a:schemeClr val="tx1"/>
                          </a:solidFill>
                          <a:effectLst/>
                          <a:latin typeface="Trebuchet MS" panose="020B0603020202020204" pitchFamily="34" charset="0"/>
                          <a:ea typeface="+mn-ea"/>
                          <a:cs typeface="Times New Roman" panose="02020603050405020304" pitchFamily="18" charset="0"/>
                        </a:rPr>
                        <a:t>Group</a:t>
                      </a:r>
                      <a:endParaRPr lang="zh-CN" sz="2000" kern="100" dirty="0">
                        <a:solidFill>
                          <a:schemeClr val="tx1"/>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tc>
                  <a:txBody>
                    <a:bodyPr/>
                    <a:lstStyle/>
                    <a:p>
                      <a:pPr indent="-8255" algn="ctr"/>
                      <a:r>
                        <a:rPr lang="en-US" altLang="zh-CN" sz="2000" b="1" kern="1200" dirty="0">
                          <a:solidFill>
                            <a:schemeClr val="tx1"/>
                          </a:solidFill>
                          <a:effectLst/>
                          <a:latin typeface="Trebuchet MS" panose="020B0603020202020204" pitchFamily="34" charset="0"/>
                          <a:ea typeface="+mn-ea"/>
                          <a:cs typeface="Times New Roman" panose="02020603050405020304" pitchFamily="18" charset="0"/>
                        </a:rPr>
                        <a:t>Ring</a:t>
                      </a:r>
                      <a:endParaRPr lang="zh-CN" sz="2000" kern="100" dirty="0">
                        <a:solidFill>
                          <a:schemeClr val="tx1"/>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extLst>
                  <a:ext uri="{0D108BD9-81ED-4DB2-BD59-A6C34878D82A}">
                    <a16:rowId xmlns:a16="http://schemas.microsoft.com/office/drawing/2014/main" val="1114635723"/>
                  </a:ext>
                </a:extLst>
              </a:tr>
              <a:tr h="684084">
                <a:tc>
                  <a:txBody>
                    <a:bodyPr/>
                    <a:lstStyle/>
                    <a:p>
                      <a:pPr indent="127000" algn="ctr"/>
                      <a:r>
                        <a:rPr lang="en-US" altLang="zh-CN" sz="2000" dirty="0">
                          <a:solidFill>
                            <a:schemeClr val="tx1"/>
                          </a:solidFill>
                          <a:latin typeface="Trebuchet MS" panose="020B0603020202020204" pitchFamily="34" charset="0"/>
                        </a:rPr>
                        <a:t>Definition</a:t>
                      </a:r>
                      <a:endParaRPr lang="zh-CN" sz="2000" kern="100" dirty="0">
                        <a:solidFill>
                          <a:schemeClr val="tx1"/>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BDDAF8"/>
                    </a:solidFill>
                  </a:tcPr>
                </a:tc>
                <a:tc>
                  <a:txBody>
                    <a:bodyPr/>
                    <a:lstStyle/>
                    <a:p>
                      <a:pPr marL="0" marR="0" lvl="0" indent="-9525" algn="l" defTabSz="914400" rtl="0" eaLnBrk="1" fontAlgn="auto" latinLnBrk="0" hangingPunct="1">
                        <a:lnSpc>
                          <a:spcPct val="100000"/>
                        </a:lnSpc>
                        <a:spcBef>
                          <a:spcPts val="0"/>
                        </a:spcBef>
                        <a:spcAft>
                          <a:spcPts val="0"/>
                        </a:spcAft>
                        <a:buClrTx/>
                        <a:buSzTx/>
                        <a:buFontTx/>
                        <a:buNone/>
                        <a:tabLst/>
                        <a:defRPr/>
                      </a:pPr>
                      <a:r>
                        <a:rPr lang="en-US" altLang="zh-CN" sz="2000" b="0" dirty="0">
                          <a:solidFill>
                            <a:schemeClr val="tx1"/>
                          </a:solidFill>
                          <a:latin typeface="Trebuchet MS" panose="020B0603020202020204" pitchFamily="34" charset="0"/>
                        </a:rPr>
                        <a:t>A set with a </a:t>
                      </a:r>
                      <a:r>
                        <a:rPr lang="en-US" altLang="zh-CN" sz="2000" b="1" dirty="0">
                          <a:solidFill>
                            <a:srgbClr val="FF0000"/>
                          </a:solidFill>
                          <a:latin typeface="Trebuchet MS" panose="020B0603020202020204" pitchFamily="34" charset="0"/>
                        </a:rPr>
                        <a:t>single</a:t>
                      </a:r>
                      <a:r>
                        <a:rPr lang="en-US" altLang="zh-CN" sz="2000" b="1" dirty="0">
                          <a:solidFill>
                            <a:schemeClr val="tx1"/>
                          </a:solidFill>
                          <a:latin typeface="Trebuchet MS" panose="020B0603020202020204" pitchFamily="34" charset="0"/>
                        </a:rPr>
                        <a:t> binary operation </a:t>
                      </a:r>
                      <a:r>
                        <a:rPr lang="en-US" altLang="zh-CN" sz="2000" b="0" dirty="0">
                          <a:solidFill>
                            <a:schemeClr val="tx1"/>
                          </a:solidFill>
                          <a:latin typeface="Trebuchet MS" panose="020B0603020202020204" pitchFamily="34" charset="0"/>
                        </a:rPr>
                        <a:t>that satisfies the properties of closure, associativity, identity element, and inverse element.</a:t>
                      </a:r>
                      <a:endParaRPr lang="zh-CN" sz="2000" b="0"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altLang="zh-CN" sz="2000" b="0" dirty="0">
                          <a:solidFill>
                            <a:schemeClr val="tx1"/>
                          </a:solidFill>
                          <a:latin typeface="Trebuchet MS" panose="020B0603020202020204" pitchFamily="34" charset="0"/>
                        </a:rPr>
                        <a:t>A set equipped with </a:t>
                      </a:r>
                      <a:r>
                        <a:rPr lang="en-US" altLang="zh-CN" sz="2000" b="1" dirty="0">
                          <a:solidFill>
                            <a:srgbClr val="FF0000"/>
                          </a:solidFill>
                          <a:latin typeface="Trebuchet MS" panose="020B0603020202020204" pitchFamily="34" charset="0"/>
                        </a:rPr>
                        <a:t>two</a:t>
                      </a:r>
                      <a:r>
                        <a:rPr lang="en-US" altLang="zh-CN" sz="2000" b="1" dirty="0">
                          <a:solidFill>
                            <a:schemeClr val="tx1"/>
                          </a:solidFill>
                          <a:latin typeface="Trebuchet MS" panose="020B0603020202020204" pitchFamily="34" charset="0"/>
                        </a:rPr>
                        <a:t> binary operations</a:t>
                      </a:r>
                      <a:r>
                        <a:rPr lang="en-US" altLang="zh-CN" sz="2000" b="0" dirty="0">
                          <a:solidFill>
                            <a:schemeClr val="tx1"/>
                          </a:solidFill>
                          <a:latin typeface="Trebuchet MS" panose="020B0603020202020204" pitchFamily="34" charset="0"/>
                        </a:rPr>
                        <a:t> (addition and multiplication) that satisfy specific properties.</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47578828"/>
                  </a:ext>
                </a:extLst>
              </a:tr>
              <a:tr h="361258">
                <a:tc>
                  <a:txBody>
                    <a:bodyPr/>
                    <a:lstStyle/>
                    <a:p>
                      <a:pPr indent="127000" algn="ctr"/>
                      <a:r>
                        <a:rPr lang="en-US" altLang="zh-CN" sz="2000" kern="100" dirty="0">
                          <a:solidFill>
                            <a:schemeClr val="tx1"/>
                          </a:solidFill>
                          <a:effectLst/>
                          <a:latin typeface="Trebuchet MS" panose="020B0603020202020204" pitchFamily="34" charset="0"/>
                          <a:ea typeface="+mn-ea"/>
                        </a:rPr>
                        <a:t>Operations</a:t>
                      </a:r>
                      <a:endParaRPr lang="zh-CN" sz="2000" kern="100" dirty="0">
                        <a:solidFill>
                          <a:schemeClr val="tx1"/>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BDDAF8"/>
                    </a:solidFill>
                  </a:tcPr>
                </a:tc>
                <a:tc>
                  <a:txBody>
                    <a:bodyPr/>
                    <a:lstStyle/>
                    <a:p>
                      <a:r>
                        <a:rPr lang="en-US" altLang="zh-CN" sz="2000" b="0" dirty="0">
                          <a:solidFill>
                            <a:schemeClr val="tx1"/>
                          </a:solidFill>
                          <a:latin typeface="Trebuchet MS" panose="020B0603020202020204" pitchFamily="34" charset="0"/>
                        </a:rPr>
                        <a:t>A single operation (usually </a:t>
                      </a:r>
                      <a:r>
                        <a:rPr lang="en-US" altLang="zh-CN" sz="2000" b="1" dirty="0">
                          <a:solidFill>
                            <a:schemeClr val="tx1"/>
                          </a:solidFill>
                          <a:latin typeface="Trebuchet MS" panose="020B0603020202020204" pitchFamily="34" charset="0"/>
                        </a:rPr>
                        <a:t>addition </a:t>
                      </a:r>
                      <a:r>
                        <a:rPr lang="en-US" altLang="zh-CN" sz="2000" b="1" dirty="0">
                          <a:solidFill>
                            <a:srgbClr val="FF0000"/>
                          </a:solidFill>
                          <a:latin typeface="Trebuchet MS" panose="020B0603020202020204" pitchFamily="34" charset="0"/>
                        </a:rPr>
                        <a:t>or</a:t>
                      </a:r>
                      <a:r>
                        <a:rPr lang="en-US" altLang="zh-CN" sz="2000" b="1" dirty="0">
                          <a:solidFill>
                            <a:schemeClr val="tx1"/>
                          </a:solidFill>
                          <a:latin typeface="Trebuchet MS" panose="020B0603020202020204" pitchFamily="34" charset="0"/>
                        </a:rPr>
                        <a:t> multiplication</a:t>
                      </a:r>
                      <a:r>
                        <a:rPr lang="en-US" altLang="zh-CN" sz="2000" b="0" dirty="0">
                          <a:solidFill>
                            <a:schemeClr val="tx1"/>
                          </a:solidFill>
                          <a:latin typeface="Trebuchet MS" panose="020B0603020202020204" pitchFamily="34" charset="0"/>
                        </a:rPr>
                        <a:t>)</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altLang="zh-CN" sz="2000" b="1" dirty="0">
                          <a:solidFill>
                            <a:schemeClr val="tx1"/>
                          </a:solidFill>
                          <a:latin typeface="Trebuchet MS" panose="020B0603020202020204" pitchFamily="34" charset="0"/>
                        </a:rPr>
                        <a:t>Addition </a:t>
                      </a:r>
                      <a:r>
                        <a:rPr lang="en-US" altLang="zh-CN" sz="2000" b="1" dirty="0">
                          <a:solidFill>
                            <a:srgbClr val="FF0000"/>
                          </a:solidFill>
                          <a:latin typeface="Trebuchet MS" panose="020B0603020202020204" pitchFamily="34" charset="0"/>
                        </a:rPr>
                        <a:t>and</a:t>
                      </a:r>
                      <a:r>
                        <a:rPr lang="en-US" altLang="zh-CN" sz="2000" b="1" dirty="0">
                          <a:solidFill>
                            <a:schemeClr val="tx1"/>
                          </a:solidFill>
                          <a:latin typeface="Trebuchet MS" panose="020B0603020202020204" pitchFamily="34" charset="0"/>
                        </a:rPr>
                        <a:t> Multiplication</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454797299"/>
                  </a:ext>
                </a:extLst>
              </a:tr>
              <a:tr h="417764">
                <a:tc>
                  <a:txBody>
                    <a:bodyPr/>
                    <a:lstStyle/>
                    <a:p>
                      <a:pPr algn="ctr"/>
                      <a:r>
                        <a:rPr lang="en-US" altLang="zh-CN" sz="2000" b="1" dirty="0">
                          <a:solidFill>
                            <a:schemeClr val="tx1"/>
                          </a:solidFill>
                          <a:latin typeface="Trebuchet MS" panose="020B0603020202020204" pitchFamily="34" charset="0"/>
                        </a:rPr>
                        <a:t>Additive Structure</a:t>
                      </a:r>
                      <a:endParaRPr lang="en-US" altLang="zh-CN" sz="2000" dirty="0">
                        <a:solidFill>
                          <a:schemeClr val="tx1"/>
                        </a:solidFill>
                        <a:latin typeface="Trebuchet MS" panose="020B0603020202020204" pitchFamily="34"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BDDAF8"/>
                    </a:solidFill>
                  </a:tcPr>
                </a:tc>
                <a:tc>
                  <a:txBody>
                    <a:bodyPr/>
                    <a:lstStyle/>
                    <a:p>
                      <a:pPr indent="-9525" algn="l"/>
                      <a:r>
                        <a:rPr lang="en-US" altLang="zh-CN" sz="2000" b="0" dirty="0">
                          <a:solidFill>
                            <a:schemeClr val="tx1"/>
                          </a:solidFill>
                          <a:latin typeface="Trebuchet MS" panose="020B0603020202020204" pitchFamily="34" charset="0"/>
                        </a:rPr>
                        <a:t>Ignore</a:t>
                      </a:r>
                      <a:endParaRPr lang="zh-CN" sz="2000" b="0"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altLang="zh-CN" sz="2000" b="0" dirty="0">
                          <a:solidFill>
                            <a:schemeClr val="tx1"/>
                          </a:solidFill>
                          <a:latin typeface="Trebuchet MS" panose="020B0603020202020204" pitchFamily="34" charset="0"/>
                        </a:rPr>
                        <a:t>Form an </a:t>
                      </a:r>
                      <a:r>
                        <a:rPr lang="en-US" altLang="zh-CN" sz="2000" b="1" dirty="0">
                          <a:solidFill>
                            <a:schemeClr val="tx1"/>
                          </a:solidFill>
                          <a:latin typeface="Trebuchet MS" panose="020B0603020202020204" pitchFamily="34" charset="0"/>
                        </a:rPr>
                        <a:t>Abelian group </a:t>
                      </a:r>
                      <a:r>
                        <a:rPr lang="en-US" altLang="zh-CN" sz="2000" b="0" dirty="0">
                          <a:solidFill>
                            <a:schemeClr val="tx1"/>
                          </a:solidFill>
                          <a:latin typeface="Trebuchet MS" panose="020B0603020202020204" pitchFamily="34" charset="0"/>
                        </a:rPr>
                        <a:t>(commutative group)</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167389538"/>
                  </a:ext>
                </a:extLst>
              </a:tr>
              <a:tr h="373455">
                <a:tc>
                  <a:txBody>
                    <a:bodyPr/>
                    <a:lstStyle/>
                    <a:p>
                      <a:pPr algn="ctr"/>
                      <a:r>
                        <a:rPr lang="en-US" altLang="zh-CN" sz="2000" b="1" dirty="0">
                          <a:solidFill>
                            <a:schemeClr val="tx1"/>
                          </a:solidFill>
                          <a:latin typeface="Trebuchet MS" panose="020B0603020202020204" pitchFamily="34" charset="0"/>
                        </a:rPr>
                        <a:t>Multiplicative Structure</a:t>
                      </a:r>
                      <a:endParaRPr lang="en-US" altLang="zh-CN" sz="2000" dirty="0">
                        <a:solidFill>
                          <a:schemeClr val="tx1"/>
                        </a:solidFill>
                        <a:latin typeface="Trebuchet MS" panose="020B0603020202020204" pitchFamily="34"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BDDAF8"/>
                    </a:solidFill>
                  </a:tcPr>
                </a:tc>
                <a:tc>
                  <a:txBody>
                    <a:bodyPr/>
                    <a:lstStyle/>
                    <a:p>
                      <a:r>
                        <a:rPr lang="en-US" altLang="zh-CN" sz="2000" b="0" dirty="0">
                          <a:solidFill>
                            <a:schemeClr val="tx1"/>
                          </a:solidFill>
                          <a:latin typeface="Trebuchet MS" panose="020B0603020202020204" pitchFamily="34" charset="0"/>
                        </a:rPr>
                        <a:t>Form a </a:t>
                      </a:r>
                      <a:r>
                        <a:rPr lang="en-US" altLang="zh-CN" sz="2000" b="1" dirty="0">
                          <a:solidFill>
                            <a:srgbClr val="FF0000"/>
                          </a:solidFill>
                          <a:latin typeface="Trebuchet MS" panose="020B0603020202020204" pitchFamily="34" charset="0"/>
                        </a:rPr>
                        <a:t>group</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altLang="zh-CN" sz="2000" b="0" dirty="0">
                          <a:solidFill>
                            <a:schemeClr val="tx1"/>
                          </a:solidFill>
                          <a:latin typeface="Trebuchet MS" panose="020B0603020202020204" pitchFamily="34" charset="0"/>
                        </a:rPr>
                        <a:t>Form a </a:t>
                      </a:r>
                      <a:r>
                        <a:rPr lang="en-US" altLang="zh-CN" sz="2000" b="1" dirty="0">
                          <a:solidFill>
                            <a:srgbClr val="FF0000"/>
                          </a:solidFill>
                          <a:latin typeface="Trebuchet MS" panose="020B0603020202020204" pitchFamily="34" charset="0"/>
                        </a:rPr>
                        <a:t>semigroup</a:t>
                      </a:r>
                      <a:r>
                        <a:rPr lang="en-US" altLang="zh-CN" sz="2000" b="0" dirty="0">
                          <a:solidFill>
                            <a:schemeClr val="tx1"/>
                          </a:solidFill>
                          <a:latin typeface="Trebuchet MS" panose="020B0603020202020204" pitchFamily="34" charset="0"/>
                        </a:rPr>
                        <a:t>, not necessarily a group.</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196715993"/>
                  </a:ext>
                </a:extLst>
              </a:tr>
              <a:tr h="361258">
                <a:tc>
                  <a:txBody>
                    <a:bodyPr/>
                    <a:lstStyle/>
                    <a:p>
                      <a:pPr indent="127000" algn="ctr"/>
                      <a:r>
                        <a:rPr lang="en-US" altLang="zh-CN" sz="2000" b="1" dirty="0">
                          <a:solidFill>
                            <a:schemeClr val="tx1"/>
                          </a:solidFill>
                          <a:latin typeface="Trebuchet MS" panose="020B0603020202020204" pitchFamily="34" charset="0"/>
                        </a:rPr>
                        <a:t>Identity Element</a:t>
                      </a:r>
                      <a:endParaRPr lang="zh-CN" sz="2000" kern="100" dirty="0">
                        <a:solidFill>
                          <a:schemeClr val="tx1"/>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BDDAF8"/>
                    </a:solidFill>
                  </a:tcPr>
                </a:tc>
                <a:tc>
                  <a:txBody>
                    <a:bodyPr/>
                    <a:lstStyle/>
                    <a:p>
                      <a:r>
                        <a:rPr lang="en-US" altLang="zh-CN" sz="2000" b="0" dirty="0">
                          <a:solidFill>
                            <a:schemeClr val="tx1"/>
                          </a:solidFill>
                          <a:latin typeface="Trebuchet MS" panose="020B0603020202020204" pitchFamily="34" charset="0"/>
                        </a:rPr>
                        <a:t>Requires an </a:t>
                      </a:r>
                      <a:r>
                        <a:rPr lang="en-US" altLang="zh-CN" sz="2000" b="1" dirty="0">
                          <a:solidFill>
                            <a:srgbClr val="FF0000"/>
                          </a:solidFill>
                          <a:latin typeface="Trebuchet MS" panose="020B0603020202020204" pitchFamily="34" charset="0"/>
                        </a:rPr>
                        <a:t>identity element</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altLang="zh-CN" sz="2000" b="0" dirty="0">
                          <a:solidFill>
                            <a:schemeClr val="tx1"/>
                          </a:solidFill>
                          <a:latin typeface="Trebuchet MS" panose="020B0603020202020204" pitchFamily="34" charset="0"/>
                        </a:rPr>
                        <a:t>An additive identity </a:t>
                      </a:r>
                      <a:r>
                        <a:rPr lang="en-US" altLang="zh-CN" sz="2000" b="1" dirty="0">
                          <a:solidFill>
                            <a:srgbClr val="FF0000"/>
                          </a:solidFill>
                          <a:latin typeface="Trebuchet MS" panose="020B0603020202020204" pitchFamily="34" charset="0"/>
                        </a:rPr>
                        <a:t>0</a:t>
                      </a:r>
                      <a:r>
                        <a:rPr lang="en-US" altLang="zh-CN" sz="2000" b="0" dirty="0">
                          <a:solidFill>
                            <a:schemeClr val="tx1"/>
                          </a:solidFill>
                          <a:latin typeface="Trebuchet MS" panose="020B0603020202020204" pitchFamily="34" charset="0"/>
                        </a:rPr>
                        <a:t> is required, while the multiplicative identity </a:t>
                      </a:r>
                      <a:r>
                        <a:rPr lang="en-US" altLang="zh-CN" sz="2000" b="1" dirty="0">
                          <a:solidFill>
                            <a:srgbClr val="FF0000"/>
                          </a:solidFill>
                          <a:latin typeface="Trebuchet MS" panose="020B0603020202020204" pitchFamily="34" charset="0"/>
                        </a:rPr>
                        <a:t>1</a:t>
                      </a:r>
                      <a:r>
                        <a:rPr lang="en-US" altLang="zh-CN" sz="2000" b="0" dirty="0">
                          <a:solidFill>
                            <a:schemeClr val="tx1"/>
                          </a:solidFill>
                          <a:latin typeface="Trebuchet MS" panose="020B0603020202020204" pitchFamily="34" charset="0"/>
                        </a:rPr>
                        <a:t> is optional.</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43945439"/>
                  </a:ext>
                </a:extLst>
              </a:tr>
              <a:tr h="611836">
                <a:tc>
                  <a:txBody>
                    <a:bodyPr/>
                    <a:lstStyle/>
                    <a:p>
                      <a:pPr indent="127000" algn="ctr"/>
                      <a:r>
                        <a:rPr lang="en-US" altLang="zh-CN" sz="2000" dirty="0">
                          <a:solidFill>
                            <a:schemeClr val="tx1"/>
                          </a:solidFill>
                          <a:latin typeface="Trebuchet MS" panose="020B0603020202020204" pitchFamily="34" charset="0"/>
                        </a:rPr>
                        <a:t>Commutativity</a:t>
                      </a:r>
                      <a:endParaRPr lang="zh-CN" sz="2000" kern="100" dirty="0">
                        <a:solidFill>
                          <a:schemeClr val="tx1"/>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BDDAF8"/>
                    </a:solidFill>
                  </a:tcPr>
                </a:tc>
                <a:tc>
                  <a:txBody>
                    <a:bodyPr/>
                    <a:lstStyle/>
                    <a:p>
                      <a:r>
                        <a:rPr lang="en-US" altLang="zh-CN" sz="2000" b="1" dirty="0">
                          <a:solidFill>
                            <a:srgbClr val="FF0000"/>
                          </a:solidFill>
                          <a:latin typeface="Trebuchet MS" panose="020B0603020202020204" pitchFamily="34" charset="0"/>
                        </a:rPr>
                        <a:t>Not necessarily commutative</a:t>
                      </a:r>
                      <a:r>
                        <a:rPr lang="en-US" altLang="zh-CN" sz="2000" b="0" dirty="0">
                          <a:solidFill>
                            <a:schemeClr val="tx1"/>
                          </a:solidFill>
                          <a:latin typeface="Trebuchet MS" panose="020B0603020202020204" pitchFamily="34" charset="0"/>
                        </a:rPr>
                        <a:t>; if it is commutative, it is called an Abelian group.</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altLang="zh-CN" sz="2000" b="1" dirty="0">
                          <a:solidFill>
                            <a:srgbClr val="FF0000"/>
                          </a:solidFill>
                          <a:latin typeface="Trebuchet MS" panose="020B0603020202020204" pitchFamily="34" charset="0"/>
                        </a:rPr>
                        <a:t>Addition is commutative</a:t>
                      </a:r>
                      <a:r>
                        <a:rPr lang="en-US" altLang="zh-CN" sz="2000" b="0" dirty="0">
                          <a:solidFill>
                            <a:schemeClr val="tx1"/>
                          </a:solidFill>
                          <a:latin typeface="Trebuchet MS" panose="020B0603020202020204" pitchFamily="34" charset="0"/>
                        </a:rPr>
                        <a:t>, while multiplication is not necessarily commutative.</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700557506"/>
                  </a:ext>
                </a:extLst>
              </a:tr>
            </a:tbl>
          </a:graphicData>
        </a:graphic>
      </p:graphicFrame>
    </p:spTree>
    <p:extLst>
      <p:ext uri="{BB962C8B-B14F-4D97-AF65-F5344CB8AC3E}">
        <p14:creationId xmlns:p14="http://schemas.microsoft.com/office/powerpoint/2010/main" val="28756519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9.3.3 Rings and Fields</a:t>
            </a:r>
          </a:p>
          <a:p>
            <a:r>
              <a:rPr lang="en-US" altLang="zh-CN" sz="20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Group </a:t>
            </a:r>
            <a:r>
              <a:rPr lang="en-US" altLang="zh-CN" sz="2400" b="1" dirty="0">
                <a:cs typeface="Times New Roman" panose="02020603050405020304" pitchFamily="18" charset="0"/>
              </a:rPr>
              <a:t>&amp; </a:t>
            </a:r>
            <a:r>
              <a:rPr lang="en-US" altLang="zh-CN" sz="2400" b="1" dirty="0">
                <a:latin typeface="Trebuchet MS" panose="020B0603020202020204" pitchFamily="34" charset="0"/>
                <a:cs typeface="Times New Roman" panose="02020603050405020304" pitchFamily="18" charset="0"/>
              </a:rPr>
              <a:t>Rings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graphicFrame>
        <p:nvGraphicFramePr>
          <p:cNvPr id="9" name="表格 8">
            <a:extLst>
              <a:ext uri="{FF2B5EF4-FFF2-40B4-BE49-F238E27FC236}">
                <a16:creationId xmlns:a16="http://schemas.microsoft.com/office/drawing/2014/main" id="{CD7DB5C7-A224-4E40-BF28-0A3BB7C1C200}"/>
              </a:ext>
            </a:extLst>
          </p:cNvPr>
          <p:cNvGraphicFramePr>
            <a:graphicFrameLocks noGrp="1"/>
          </p:cNvGraphicFramePr>
          <p:nvPr/>
        </p:nvGraphicFramePr>
        <p:xfrm>
          <a:off x="655398" y="930826"/>
          <a:ext cx="10930652" cy="3179634"/>
        </p:xfrm>
        <a:graphic>
          <a:graphicData uri="http://schemas.openxmlformats.org/drawingml/2006/table">
            <a:tbl>
              <a:tblPr firstRow="1" firstCol="1" bandRow="1">
                <a:tableStyleId>{5C22544A-7EE6-4342-B048-85BDC9FD1C3A}</a:tableStyleId>
              </a:tblPr>
              <a:tblGrid>
                <a:gridCol w="1967342">
                  <a:extLst>
                    <a:ext uri="{9D8B030D-6E8A-4147-A177-3AD203B41FA5}">
                      <a16:colId xmlns:a16="http://schemas.microsoft.com/office/drawing/2014/main" val="3615785365"/>
                    </a:ext>
                  </a:extLst>
                </a:gridCol>
                <a:gridCol w="4500819">
                  <a:extLst>
                    <a:ext uri="{9D8B030D-6E8A-4147-A177-3AD203B41FA5}">
                      <a16:colId xmlns:a16="http://schemas.microsoft.com/office/drawing/2014/main" val="1768105143"/>
                    </a:ext>
                  </a:extLst>
                </a:gridCol>
                <a:gridCol w="4462491">
                  <a:extLst>
                    <a:ext uri="{9D8B030D-6E8A-4147-A177-3AD203B41FA5}">
                      <a16:colId xmlns:a16="http://schemas.microsoft.com/office/drawing/2014/main" val="3531637402"/>
                    </a:ext>
                  </a:extLst>
                </a:gridCol>
              </a:tblGrid>
              <a:tr h="245797">
                <a:tc>
                  <a:txBody>
                    <a:bodyPr/>
                    <a:lstStyle/>
                    <a:p>
                      <a:pPr marL="0" indent="0" algn="ctr"/>
                      <a:endParaRPr lang="zh-CN" sz="2000"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5F1"/>
                    </a:solidFill>
                  </a:tcPr>
                </a:tc>
                <a:tc>
                  <a:txBody>
                    <a:bodyPr/>
                    <a:lstStyle/>
                    <a:p>
                      <a:pPr indent="-9525" algn="ctr"/>
                      <a:r>
                        <a:rPr lang="en-US" altLang="zh-CN" sz="2000" b="1" kern="1200" dirty="0">
                          <a:solidFill>
                            <a:schemeClr val="tx1"/>
                          </a:solidFill>
                          <a:effectLst/>
                          <a:latin typeface="Trebuchet MS" panose="020B0603020202020204" pitchFamily="34" charset="0"/>
                          <a:ea typeface="+mn-ea"/>
                          <a:cs typeface="Times New Roman" panose="02020603050405020304" pitchFamily="18" charset="0"/>
                        </a:rPr>
                        <a:t>Group</a:t>
                      </a:r>
                      <a:endParaRPr lang="zh-CN" sz="2000" kern="100" dirty="0">
                        <a:solidFill>
                          <a:schemeClr val="tx1"/>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tc>
                  <a:txBody>
                    <a:bodyPr/>
                    <a:lstStyle/>
                    <a:p>
                      <a:pPr indent="-8255" algn="ctr"/>
                      <a:r>
                        <a:rPr lang="en-US" altLang="zh-CN" sz="2000" b="1" kern="1200" dirty="0">
                          <a:solidFill>
                            <a:schemeClr val="tx1"/>
                          </a:solidFill>
                          <a:effectLst/>
                          <a:latin typeface="Trebuchet MS" panose="020B0603020202020204" pitchFamily="34" charset="0"/>
                          <a:ea typeface="+mn-ea"/>
                          <a:cs typeface="Times New Roman" panose="02020603050405020304" pitchFamily="18" charset="0"/>
                        </a:rPr>
                        <a:t>Ring</a:t>
                      </a:r>
                      <a:endParaRPr lang="zh-CN" sz="2000" kern="100" dirty="0">
                        <a:solidFill>
                          <a:schemeClr val="tx1"/>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extLst>
                  <a:ext uri="{0D108BD9-81ED-4DB2-BD59-A6C34878D82A}">
                    <a16:rowId xmlns:a16="http://schemas.microsoft.com/office/drawing/2014/main" val="1114635723"/>
                  </a:ext>
                </a:extLst>
              </a:tr>
              <a:tr h="684084">
                <a:tc>
                  <a:txBody>
                    <a:bodyPr/>
                    <a:lstStyle/>
                    <a:p>
                      <a:pPr indent="127000" algn="ctr"/>
                      <a:r>
                        <a:rPr lang="en-US" altLang="zh-CN" sz="2000" kern="100" dirty="0">
                          <a:solidFill>
                            <a:sysClr val="windowText" lastClr="000000"/>
                          </a:solidFill>
                          <a:effectLst/>
                          <a:latin typeface="Trebuchet MS" panose="020B0603020202020204" pitchFamily="34" charset="0"/>
                          <a:ea typeface="+mn-ea"/>
                        </a:rPr>
                        <a:t>Example</a:t>
                      </a:r>
                      <a:endParaRPr lang="zh-CN" sz="2000" kern="100" dirty="0">
                        <a:solidFill>
                          <a:sysClr val="windowText" lastClr="000000"/>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BDDAF8"/>
                    </a:solidFill>
                  </a:tcPr>
                </a:tc>
                <a:tc>
                  <a:txBody>
                    <a:bodyPr/>
                    <a:lstStyle/>
                    <a:p>
                      <a:pPr indent="-9525" algn="l"/>
                      <a:r>
                        <a:rPr lang="en-US" altLang="zh-CN" sz="2000" b="1" kern="100" dirty="0">
                          <a:solidFill>
                            <a:sysClr val="windowText" lastClr="000000"/>
                          </a:solidFill>
                          <a:effectLst/>
                          <a:latin typeface="Trebuchet MS" panose="020B0603020202020204" pitchFamily="34" charset="0"/>
                          <a:ea typeface="楷体" panose="02010609060101010101" pitchFamily="49" charset="-122"/>
                        </a:rPr>
                        <a:t>(</a:t>
                      </a:r>
                      <a:r>
                        <a:rPr lang="en-US" sz="2000" b="1" kern="100" dirty="0">
                          <a:solidFill>
                            <a:sysClr val="windowText" lastClr="000000"/>
                          </a:solidFill>
                          <a:effectLst/>
                          <a:latin typeface="Trebuchet MS" panose="020B0603020202020204" pitchFamily="34" charset="0"/>
                          <a:ea typeface="楷体" panose="02010609060101010101" pitchFamily="49" charset="-122"/>
                        </a:rPr>
                        <a:t>Z,+</a:t>
                      </a:r>
                      <a:r>
                        <a:rPr lang="en-US" altLang="zh-CN" sz="2000" b="1" kern="100" dirty="0">
                          <a:solidFill>
                            <a:sysClr val="windowText" lastClr="000000"/>
                          </a:solidFill>
                          <a:effectLst/>
                          <a:latin typeface="Trebuchet MS" panose="020B0603020202020204" pitchFamily="34" charset="0"/>
                          <a:ea typeface="楷体" panose="02010609060101010101" pitchFamily="49" charset="-122"/>
                        </a:rPr>
                        <a:t>),(</a:t>
                      </a:r>
                      <a:r>
                        <a:rPr lang="en-US" sz="2000" b="1" kern="100" dirty="0">
                          <a:solidFill>
                            <a:sysClr val="windowText" lastClr="000000"/>
                          </a:solidFill>
                          <a:effectLst/>
                          <a:latin typeface="Trebuchet MS" panose="020B0603020202020204" pitchFamily="34" charset="0"/>
                          <a:ea typeface="楷体" panose="02010609060101010101" pitchFamily="49" charset="-122"/>
                        </a:rPr>
                        <a:t>R</a:t>
                      </a:r>
                      <a:r>
                        <a:rPr lang="zh-CN" sz="2000" b="1" kern="100" baseline="30000" dirty="0">
                          <a:solidFill>
                            <a:sysClr val="windowText" lastClr="000000"/>
                          </a:solidFill>
                          <a:effectLst/>
                          <a:latin typeface="Trebuchet MS" panose="020B0603020202020204" pitchFamily="34" charset="0"/>
                          <a:ea typeface="楷体" panose="02010609060101010101" pitchFamily="49" charset="-122"/>
                        </a:rPr>
                        <a:t>∗</a:t>
                      </a:r>
                      <a:r>
                        <a:rPr lang="en-US" sz="2000" b="1" kern="100" dirty="0">
                          <a:solidFill>
                            <a:sysClr val="windowText" lastClr="000000"/>
                          </a:solidFill>
                          <a:effectLst/>
                          <a:latin typeface="Trebuchet MS" panose="020B0603020202020204" pitchFamily="34" charset="0"/>
                          <a:ea typeface="楷体" panose="02010609060101010101" pitchFamily="49" charset="-122"/>
                        </a:rPr>
                        <a:t>,</a:t>
                      </a:r>
                      <a:r>
                        <a:rPr lang="zh-CN" sz="2000" b="1" kern="100" dirty="0">
                          <a:solidFill>
                            <a:sysClr val="windowText" lastClr="000000"/>
                          </a:solidFill>
                          <a:effectLst/>
                          <a:latin typeface="Trebuchet MS" panose="020B0603020202020204" pitchFamily="34" charset="0"/>
                          <a:ea typeface="楷体" panose="02010609060101010101" pitchFamily="49" charset="-122"/>
                        </a:rPr>
                        <a:t>⋅</a:t>
                      </a:r>
                      <a:r>
                        <a:rPr lang="en-US" altLang="zh-CN" sz="2000" b="1" kern="100" dirty="0">
                          <a:solidFill>
                            <a:sysClr val="windowText" lastClr="000000"/>
                          </a:solidFill>
                          <a:effectLst/>
                          <a:latin typeface="Trebuchet MS" panose="020B0603020202020204" pitchFamily="34" charset="0"/>
                          <a:ea typeface="楷体" panose="02010609060101010101" pitchFamily="49" charset="-122"/>
                        </a:rPr>
                        <a:t>)</a:t>
                      </a:r>
                      <a:endParaRPr lang="zh-CN" sz="2000" b="1" kern="100" dirty="0">
                        <a:solidFill>
                          <a:sysClr val="windowText" lastClr="000000"/>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indent="-8255" algn="l"/>
                      <a:r>
                        <a:rPr lang="en-US" altLang="zh-CN" sz="2000" b="1" kern="100" dirty="0">
                          <a:solidFill>
                            <a:sysClr val="windowText" lastClr="000000"/>
                          </a:solidFill>
                          <a:effectLst/>
                          <a:latin typeface="Trebuchet MS" panose="020B0603020202020204" pitchFamily="34" charset="0"/>
                          <a:ea typeface="楷体" panose="02010609060101010101" pitchFamily="49" charset="-122"/>
                        </a:rPr>
                        <a:t>(</a:t>
                      </a:r>
                      <a:r>
                        <a:rPr lang="en-US" sz="2000" b="1" kern="100" dirty="0">
                          <a:solidFill>
                            <a:sysClr val="windowText" lastClr="000000"/>
                          </a:solidFill>
                          <a:effectLst/>
                          <a:latin typeface="Trebuchet MS" panose="020B0603020202020204" pitchFamily="34" charset="0"/>
                          <a:ea typeface="楷体" panose="02010609060101010101" pitchFamily="49" charset="-122"/>
                        </a:rPr>
                        <a:t>Z</a:t>
                      </a:r>
                      <a:r>
                        <a:rPr lang="en-US" altLang="zh-CN" sz="2000" b="1" kern="100" dirty="0">
                          <a:solidFill>
                            <a:sysClr val="windowText" lastClr="000000"/>
                          </a:solidFill>
                          <a:effectLst/>
                          <a:latin typeface="Trebuchet MS" panose="020B0603020202020204" pitchFamily="34" charset="0"/>
                          <a:ea typeface="楷体" panose="02010609060101010101" pitchFamily="49" charset="-122"/>
                        </a:rPr>
                        <a:t>)</a:t>
                      </a:r>
                      <a:r>
                        <a:rPr lang="zh-CN" sz="2000" b="1" kern="100" dirty="0">
                          <a:solidFill>
                            <a:sysClr val="windowText" lastClr="000000"/>
                          </a:solidFill>
                          <a:effectLst/>
                          <a:latin typeface="Trebuchet MS" panose="020B0603020202020204" pitchFamily="34" charset="0"/>
                          <a:ea typeface="楷体" panose="02010609060101010101" pitchFamily="49" charset="-122"/>
                        </a:rPr>
                        <a:t>，</a:t>
                      </a:r>
                      <a:r>
                        <a:rPr lang="en-US" altLang="zh-CN" sz="2000" b="1" kern="100" dirty="0">
                          <a:solidFill>
                            <a:sysClr val="windowText" lastClr="000000"/>
                          </a:solidFill>
                          <a:effectLst/>
                          <a:latin typeface="Trebuchet MS" panose="020B0603020202020204" pitchFamily="34" charset="0"/>
                          <a:ea typeface="楷体" panose="02010609060101010101" pitchFamily="49" charset="-122"/>
                        </a:rPr>
                        <a:t>(</a:t>
                      </a:r>
                      <a:r>
                        <a:rPr lang="en-US" sz="2000" b="1" kern="100" dirty="0">
                          <a:solidFill>
                            <a:sysClr val="windowText" lastClr="000000"/>
                          </a:solidFill>
                          <a:effectLst/>
                          <a:latin typeface="Trebuchet MS" panose="020B0603020202020204" pitchFamily="34" charset="0"/>
                          <a:ea typeface="楷体" panose="02010609060101010101" pitchFamily="49" charset="-122"/>
                        </a:rPr>
                        <a:t>R[x]</a:t>
                      </a:r>
                      <a:r>
                        <a:rPr lang="en-US" altLang="zh-CN" sz="2000" b="1" kern="100" dirty="0">
                          <a:solidFill>
                            <a:sysClr val="windowText" lastClr="000000"/>
                          </a:solidFill>
                          <a:effectLst/>
                          <a:latin typeface="Trebuchet MS" panose="020B0603020202020204" pitchFamily="34" charset="0"/>
                          <a:ea typeface="楷体" panose="02010609060101010101" pitchFamily="49" charset="-122"/>
                        </a:rPr>
                        <a:t>)</a:t>
                      </a:r>
                      <a:endParaRPr lang="zh-CN" sz="2000" b="1" kern="100" dirty="0">
                        <a:solidFill>
                          <a:sysClr val="windowText" lastClr="000000"/>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47578828"/>
                  </a:ext>
                </a:extLst>
              </a:tr>
              <a:tr h="361258">
                <a:tc>
                  <a:txBody>
                    <a:bodyPr/>
                    <a:lstStyle/>
                    <a:p>
                      <a:pPr indent="127000" algn="ctr"/>
                      <a:r>
                        <a:rPr lang="en-US" altLang="zh-CN" sz="2000" kern="100" dirty="0">
                          <a:solidFill>
                            <a:sysClr val="windowText" lastClr="000000"/>
                          </a:solidFill>
                          <a:effectLst/>
                          <a:latin typeface="Trebuchet MS" panose="020B0603020202020204" pitchFamily="34" charset="0"/>
                          <a:ea typeface="+mn-ea"/>
                        </a:rPr>
                        <a:t>Goal</a:t>
                      </a:r>
                      <a:endParaRPr lang="zh-CN" sz="2000" kern="100" dirty="0">
                        <a:solidFill>
                          <a:sysClr val="windowText" lastClr="000000"/>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BDDAF8"/>
                    </a:solidFill>
                  </a:tcPr>
                </a:tc>
                <a:tc>
                  <a:txBody>
                    <a:bodyPr/>
                    <a:lstStyle/>
                    <a:p>
                      <a:r>
                        <a:rPr lang="en-US" altLang="zh-CN" sz="2000" b="0" dirty="0">
                          <a:latin typeface="Trebuchet MS" panose="020B0603020202020204" pitchFamily="34" charset="0"/>
                        </a:rPr>
                        <a:t>Study of symmetry and transformations, abstract algebraic structures, and representation theory.</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altLang="zh-CN" sz="2000" b="0" dirty="0">
                          <a:latin typeface="Trebuchet MS" panose="020B0603020202020204" pitchFamily="34" charset="0"/>
                        </a:rPr>
                        <a:t>Study of structures with two operations, polynomial theory, and algebraic number theory.</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454797299"/>
                  </a:ext>
                </a:extLst>
              </a:tr>
              <a:tr h="417764">
                <a:tc>
                  <a:txBody>
                    <a:bodyPr/>
                    <a:lstStyle/>
                    <a:p>
                      <a:pPr indent="127000" algn="ctr"/>
                      <a:r>
                        <a:rPr lang="en-US" altLang="zh-CN" sz="2000" kern="100" dirty="0">
                          <a:solidFill>
                            <a:sysClr val="windowText" lastClr="000000"/>
                          </a:solidFill>
                          <a:effectLst/>
                          <a:latin typeface="Trebuchet MS" panose="020B0603020202020204" pitchFamily="34" charset="0"/>
                          <a:ea typeface="+mn-ea"/>
                        </a:rPr>
                        <a:t>Application</a:t>
                      </a:r>
                      <a:endParaRPr lang="zh-CN" sz="2000" kern="100" dirty="0">
                        <a:solidFill>
                          <a:sysClr val="windowText" lastClr="000000"/>
                        </a:solidFill>
                        <a:effectLst/>
                        <a:latin typeface="Trebuchet MS" panose="020B0603020202020204" pitchFamily="34" charset="0"/>
                        <a:ea typeface="+mn-ea"/>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BDDAF8"/>
                    </a:solidFill>
                  </a:tcPr>
                </a:tc>
                <a:tc>
                  <a:txBody>
                    <a:bodyPr/>
                    <a:lstStyle/>
                    <a:p>
                      <a:r>
                        <a:rPr lang="en-US" altLang="zh-CN" sz="2000" b="0" dirty="0">
                          <a:latin typeface="Trebuchet MS" panose="020B0603020202020204" pitchFamily="34" charset="0"/>
                        </a:rPr>
                        <a:t>Physics (symmetry operations), Chemistry (molecular symmetry), Cryptography (encryption algorithms), Computer Science (graph theory)</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r>
                        <a:rPr lang="en-US" altLang="zh-CN" sz="2000" b="0" dirty="0">
                          <a:latin typeface="Trebuchet MS" panose="020B0603020202020204" pitchFamily="34" charset="0"/>
                        </a:rPr>
                        <a:t>Linear Algebra (matrix rings), Coding Theory, Computer Algebra, Quantum Mechanics</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167389538"/>
                  </a:ext>
                </a:extLst>
              </a:tr>
            </a:tbl>
          </a:graphicData>
        </a:graphic>
      </p:graphicFrame>
    </p:spTree>
    <p:extLst>
      <p:ext uri="{BB962C8B-B14F-4D97-AF65-F5344CB8AC3E}">
        <p14:creationId xmlns:p14="http://schemas.microsoft.com/office/powerpoint/2010/main" val="41581476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9.3.3 Rings and Fields</a:t>
            </a:r>
          </a:p>
          <a:p>
            <a:r>
              <a:rPr lang="en-US" altLang="zh-CN" sz="20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Symmetry in Groups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655399" y="778385"/>
            <a:ext cx="10760224" cy="54492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9875" indent="-269875">
              <a:lnSpc>
                <a:spcPct val="12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Understanding Symmetry in Groups:</a:t>
            </a:r>
          </a:p>
          <a:p>
            <a:pPr marL="719138" indent="-541338">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rPr>
              <a:t>(1) </a:t>
            </a:r>
            <a:r>
              <a:rPr lang="en-US" altLang="zh-CN" sz="2400" b="1" i="1" dirty="0">
                <a:solidFill>
                  <a:srgbClr val="0B61FF"/>
                </a:solidFill>
                <a:latin typeface="Trebuchet MS" panose="020B0603020202020204" pitchFamily="34" charset="0"/>
              </a:rPr>
              <a:t>Symmetry</a:t>
            </a:r>
            <a:r>
              <a:rPr lang="en-US" altLang="zh-CN" sz="2400" dirty="0">
                <a:latin typeface="Trebuchet MS" panose="020B0603020202020204" pitchFamily="34" charset="0"/>
              </a:rPr>
              <a:t> refers to the property of an object remaining unchanged under certain operations. These operations can include rotations, reflections, translations, etc.</a:t>
            </a:r>
          </a:p>
          <a:p>
            <a:pPr marL="719138" indent="-541338">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rPr>
              <a:t>(2) </a:t>
            </a:r>
            <a:r>
              <a:rPr lang="en-US" altLang="zh-CN" sz="2400" b="1" i="1" dirty="0">
                <a:solidFill>
                  <a:srgbClr val="0B61FF"/>
                </a:solidFill>
                <a:latin typeface="Trebuchet MS" panose="020B0603020202020204" pitchFamily="34" charset="0"/>
              </a:rPr>
              <a:t>Group symmetry</a:t>
            </a:r>
            <a:r>
              <a:rPr lang="en-US" altLang="zh-CN" sz="2400" b="1" dirty="0">
                <a:solidFill>
                  <a:srgbClr val="0B61FF"/>
                </a:solidFill>
                <a:latin typeface="Trebuchet MS" panose="020B0603020202020204" pitchFamily="34" charset="0"/>
              </a:rPr>
              <a:t> </a:t>
            </a:r>
            <a:r>
              <a:rPr lang="en-US" altLang="zh-CN" sz="2400" dirty="0">
                <a:latin typeface="Trebuchet MS" panose="020B0603020202020204" pitchFamily="34" charset="0"/>
              </a:rPr>
              <a:t>refers to the invariance of an object under a set of operations that </a:t>
            </a:r>
            <a:r>
              <a:rPr lang="en-US" altLang="zh-CN" sz="2400" b="1" dirty="0">
                <a:latin typeface="Trebuchet MS" panose="020B0603020202020204" pitchFamily="34" charset="0"/>
              </a:rPr>
              <a:t>satisfy the four fundamental properties </a:t>
            </a:r>
            <a:r>
              <a:rPr lang="en-US" altLang="zh-CN" sz="2400" dirty="0">
                <a:latin typeface="Trebuchet MS" panose="020B0603020202020204" pitchFamily="34" charset="0"/>
              </a:rPr>
              <a:t>of a group: closure, associativity, existence of an identity element, and existence of inverse elements.</a:t>
            </a:r>
          </a:p>
          <a:p>
            <a:pPr marL="719138" indent="-541338">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rPr>
              <a:t>(3) </a:t>
            </a:r>
            <a:r>
              <a:rPr lang="en-US" altLang="zh-CN" sz="2400" dirty="0">
                <a:latin typeface="Trebuchet MS" panose="020B0603020202020204" pitchFamily="34" charset="0"/>
              </a:rPr>
              <a:t>The </a:t>
            </a:r>
            <a:r>
              <a:rPr lang="en-US" altLang="zh-CN" sz="2400" b="1" i="1" dirty="0">
                <a:solidFill>
                  <a:srgbClr val="0B61FF"/>
                </a:solidFill>
                <a:latin typeface="Trebuchet MS" panose="020B0603020202020204" pitchFamily="34" charset="0"/>
              </a:rPr>
              <a:t>symmetry of cyclic groups </a:t>
            </a:r>
            <a:r>
              <a:rPr lang="en-US" altLang="zh-CN" sz="2400" dirty="0">
                <a:latin typeface="Trebuchet MS" panose="020B0603020202020204" pitchFamily="34" charset="0"/>
              </a:rPr>
              <a:t>(a special type of group) is reflected in structures with periodic repetition.</a:t>
            </a:r>
          </a:p>
          <a:p>
            <a:pPr marL="719138" indent="-541338">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rPr>
              <a:t>(4) </a:t>
            </a:r>
            <a:r>
              <a:rPr lang="en-US" altLang="zh-CN" sz="2400" dirty="0">
                <a:latin typeface="Trebuchet MS" panose="020B0603020202020204" pitchFamily="34" charset="0"/>
              </a:rPr>
              <a:t>Each </a:t>
            </a:r>
            <a:r>
              <a:rPr lang="en-US" altLang="zh-CN" sz="2400" b="1" i="1" dirty="0">
                <a:solidFill>
                  <a:srgbClr val="0B61FF"/>
                </a:solidFill>
                <a:latin typeface="Trebuchet MS" panose="020B0603020202020204" pitchFamily="34" charset="0"/>
              </a:rPr>
              <a:t>permutation in the symmetric group </a:t>
            </a:r>
            <a:r>
              <a:rPr lang="en-US" altLang="zh-CN" sz="2400" b="1" i="1" dirty="0">
                <a:solidFill>
                  <a:srgbClr val="0D0D0D"/>
                </a:solidFill>
                <a:latin typeface="Trebuchet MS" panose="020B0603020202020204" pitchFamily="34" charset="0"/>
                <a:ea typeface="楷体" panose="02010609060101010101" pitchFamily="49" charset="-122"/>
                <a:cs typeface="Segoe UI" panose="020B0502040204020203" pitchFamily="34" charset="0"/>
              </a:rPr>
              <a:t>S</a:t>
            </a:r>
            <a:r>
              <a:rPr lang="en-US" altLang="zh-CN" sz="2400" b="1" i="1" baseline="-25000" dirty="0">
                <a:solidFill>
                  <a:srgbClr val="0D0D0D"/>
                </a:solidFill>
                <a:latin typeface="Trebuchet MS" panose="020B0603020202020204" pitchFamily="34" charset="0"/>
                <a:ea typeface="楷体" panose="02010609060101010101" pitchFamily="49" charset="-122"/>
                <a:cs typeface="Segoe UI" panose="020B0502040204020203" pitchFamily="34" charset="0"/>
              </a:rPr>
              <a:t>n </a:t>
            </a:r>
            <a:r>
              <a:rPr lang="en-US" altLang="zh-CN" sz="2400" dirty="0">
                <a:latin typeface="Trebuchet MS" panose="020B0603020202020204" pitchFamily="34" charset="0"/>
              </a:rPr>
              <a:t>(a special group) can be viewed as a </a:t>
            </a:r>
            <a:r>
              <a:rPr lang="en-US" altLang="zh-CN" sz="2400" b="1" dirty="0">
                <a:latin typeface="Trebuchet MS" panose="020B0603020202020204" pitchFamily="34" charset="0"/>
              </a:rPr>
              <a:t>symmetric transformation </a:t>
            </a:r>
            <a:r>
              <a:rPr lang="en-US" altLang="zh-CN" sz="2400" dirty="0">
                <a:latin typeface="Trebuchet MS" panose="020B0603020202020204" pitchFamily="34" charset="0"/>
              </a:rPr>
              <a:t>of the positions of elements.</a:t>
            </a:r>
            <a:endParaRPr lang="zh-CN" altLang="zh-CN" sz="2400" b="1" dirty="0">
              <a:solidFill>
                <a:srgbClr val="0D0D0D"/>
              </a:solidFill>
              <a:latin typeface="Trebuchet MS" panose="020B0603020202020204" pitchFamily="34" charset="0"/>
              <a:ea typeface="楷体" panose="02010609060101010101" pitchFamily="49" charset="-122"/>
              <a:cs typeface="Segoe UI" panose="020B0502040204020203" pitchFamily="34" charset="0"/>
            </a:endParaRPr>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00125" y="982864"/>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Tree>
    <p:extLst>
      <p:ext uri="{BB962C8B-B14F-4D97-AF65-F5344CB8AC3E}">
        <p14:creationId xmlns:p14="http://schemas.microsoft.com/office/powerpoint/2010/main" val="275246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9.3.3 Rings and Fields</a:t>
            </a:r>
          </a:p>
          <a:p>
            <a:r>
              <a:rPr lang="en-US" altLang="zh-CN" sz="20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Symmetry in Groups(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00125" y="982864"/>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4" name="Rectangle 3">
            <a:extLst>
              <a:ext uri="{FF2B5EF4-FFF2-40B4-BE49-F238E27FC236}">
                <a16:creationId xmlns:a16="http://schemas.microsoft.com/office/drawing/2014/main" id="{14E298D9-9D39-459C-90D8-52C760A063E8}"/>
              </a:ext>
            </a:extLst>
          </p:cNvPr>
          <p:cNvSpPr txBox="1">
            <a:spLocks noChangeArrowheads="1"/>
          </p:cNvSpPr>
          <p:nvPr/>
        </p:nvSpPr>
        <p:spPr>
          <a:xfrm>
            <a:off x="520700" y="762000"/>
            <a:ext cx="11216975" cy="52714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dirty="0">
                <a:latin typeface="Trebuchet MS" panose="020B0603020202020204" pitchFamily="34" charset="0"/>
              </a:rPr>
              <a:t> The </a:t>
            </a:r>
            <a:r>
              <a:rPr lang="en-US" altLang="zh-CN" sz="2400" dirty="0">
                <a:solidFill>
                  <a:srgbClr val="0B61FF"/>
                </a:solidFill>
                <a:latin typeface="Trebuchet MS" panose="020B0603020202020204" pitchFamily="34" charset="0"/>
              </a:rPr>
              <a:t>symmetry group </a:t>
            </a:r>
            <a:r>
              <a:rPr lang="en-US" altLang="zh-CN" sz="2400" b="1" i="1" kern="100" dirty="0">
                <a:solidFill>
                  <a:srgbClr val="0B61FF"/>
                </a:solidFill>
                <a:latin typeface="Trebuchet MS" panose="020B0603020202020204" pitchFamily="34" charset="0"/>
                <a:cs typeface="Times New Roman" panose="02020603050405020304" pitchFamily="18" charset="0"/>
              </a:rPr>
              <a:t>D</a:t>
            </a:r>
            <a:r>
              <a:rPr lang="en-US" altLang="zh-CN" sz="2400" b="1" kern="100" baseline="-25000" dirty="0">
                <a:solidFill>
                  <a:srgbClr val="0B61FF"/>
                </a:solidFill>
                <a:latin typeface="Trebuchet MS" panose="020B0603020202020204" pitchFamily="34" charset="0"/>
                <a:cs typeface="Times New Roman" panose="02020603050405020304" pitchFamily="18" charset="0"/>
              </a:rPr>
              <a:t>3</a:t>
            </a:r>
            <a:r>
              <a:rPr lang="en-US" altLang="zh-CN" sz="2400" b="1" kern="100" dirty="0">
                <a:solidFill>
                  <a:srgbClr val="0D0D0D"/>
                </a:solidFill>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of an equilateral triangle with vertices </a:t>
            </a:r>
            <a:r>
              <a:rPr lang="en-US" altLang="zh-CN" sz="2400" b="1" i="1" dirty="0">
                <a:latin typeface="Trebuchet MS" panose="020B0603020202020204" pitchFamily="34" charset="0"/>
              </a:rPr>
              <a:t>A</a:t>
            </a:r>
            <a:r>
              <a:rPr lang="en-US" altLang="zh-CN" sz="2400" dirty="0">
                <a:latin typeface="Trebuchet MS" panose="020B0603020202020204" pitchFamily="34" charset="0"/>
              </a:rPr>
              <a:t>, </a:t>
            </a:r>
            <a:r>
              <a:rPr lang="en-US" altLang="zh-CN" sz="2400" b="1" i="1" dirty="0">
                <a:latin typeface="Trebuchet MS" panose="020B0603020202020204" pitchFamily="34" charset="0"/>
              </a:rPr>
              <a:t>B</a:t>
            </a:r>
            <a:r>
              <a:rPr lang="en-US" altLang="zh-CN" sz="2400" dirty="0">
                <a:latin typeface="Trebuchet MS" panose="020B0603020202020204" pitchFamily="34" charset="0"/>
              </a:rPr>
              <a:t>, and </a:t>
            </a:r>
            <a:r>
              <a:rPr lang="en-US" altLang="zh-CN" sz="2400" b="1" i="1" dirty="0">
                <a:latin typeface="Trebuchet MS" panose="020B0603020202020204" pitchFamily="34" charset="0"/>
              </a:rPr>
              <a:t>C</a:t>
            </a:r>
            <a:r>
              <a:rPr lang="en-US" altLang="zh-CN" sz="2400" dirty="0">
                <a:latin typeface="Trebuchet MS" panose="020B0603020202020204" pitchFamily="34" charset="0"/>
              </a:rPr>
              <a:t> includes the following transformations that illustrate group symmetry: </a:t>
            </a:r>
          </a:p>
          <a:p>
            <a:pPr marL="627063" indent="-449263">
              <a:lnSpc>
                <a:spcPct val="110000"/>
              </a:lnSpc>
              <a:spcBef>
                <a:spcPts val="300"/>
              </a:spcBef>
              <a:buClr>
                <a:srgbClr val="0B61FF"/>
              </a:buClr>
              <a:buSzPct val="80000"/>
              <a:buNone/>
            </a:pPr>
            <a:r>
              <a:rPr lang="en-US" altLang="zh-CN" sz="2400" b="1" kern="100" dirty="0">
                <a:solidFill>
                  <a:srgbClr val="0B61FF"/>
                </a:solidFill>
                <a:latin typeface="Trebuchet MS" panose="020B0603020202020204" pitchFamily="34" charset="0"/>
                <a:cs typeface="Times New Roman" panose="02020603050405020304" pitchFamily="18" charset="0"/>
              </a:rPr>
              <a:t>(1) </a:t>
            </a:r>
            <a:r>
              <a:rPr lang="en-US" altLang="zh-CN" sz="2400" dirty="0">
                <a:latin typeface="Trebuchet MS" panose="020B0603020202020204" pitchFamily="34" charset="0"/>
              </a:rPr>
              <a:t>A </a:t>
            </a:r>
            <a:r>
              <a:rPr lang="en-US" altLang="zh-CN" sz="2400" b="1" dirty="0">
                <a:latin typeface="Trebuchet MS" panose="020B0603020202020204" pitchFamily="34" charset="0"/>
              </a:rPr>
              <a:t>120-degree clockwise rotation </a:t>
            </a:r>
            <a:r>
              <a:rPr lang="en-US" altLang="zh-CN" sz="2400" dirty="0">
                <a:latin typeface="Trebuchet MS" panose="020B0603020202020204" pitchFamily="34" charset="0"/>
              </a:rPr>
              <a:t>corresponds to the </a:t>
            </a:r>
            <a:r>
              <a:rPr lang="en-US" altLang="zh-CN" sz="2400" b="1" dirty="0">
                <a:solidFill>
                  <a:srgbClr val="0B61FF"/>
                </a:solidFill>
                <a:latin typeface="Trebuchet MS" panose="020B0603020202020204" pitchFamily="34" charset="0"/>
              </a:rPr>
              <a:t>cyclic permutation (</a:t>
            </a:r>
            <a:r>
              <a:rPr lang="en-US" altLang="zh-CN" sz="2400" b="1" i="1" dirty="0">
                <a:solidFill>
                  <a:srgbClr val="0B61FF"/>
                </a:solidFill>
                <a:latin typeface="Trebuchet MS" panose="020B0603020202020204" pitchFamily="34" charset="0"/>
              </a:rPr>
              <a:t>ABC</a:t>
            </a:r>
            <a:r>
              <a:rPr lang="en-US" altLang="zh-CN" sz="2400" b="1" dirty="0">
                <a:solidFill>
                  <a:srgbClr val="0B61FF"/>
                </a:solidFill>
                <a:latin typeface="Trebuchet MS" panose="020B0603020202020204" pitchFamily="34" charset="0"/>
              </a:rPr>
              <a:t>) </a:t>
            </a:r>
            <a:r>
              <a:rPr lang="en-US" altLang="zh-CN" sz="2400" dirty="0">
                <a:latin typeface="Trebuchet MS" panose="020B0603020202020204" pitchFamily="34" charset="0"/>
              </a:rPr>
              <a:t>in group </a:t>
            </a:r>
            <a:r>
              <a:rPr lang="en-US" altLang="zh-CN" sz="2400" b="1" i="1" kern="100" dirty="0">
                <a:solidFill>
                  <a:srgbClr val="0D0D0D"/>
                </a:solidFill>
                <a:latin typeface="Trebuchet MS" panose="020B0603020202020204" pitchFamily="34" charset="0"/>
                <a:cs typeface="Times New Roman" panose="02020603050405020304" pitchFamily="18" charset="0"/>
              </a:rPr>
              <a:t>D</a:t>
            </a:r>
            <a:r>
              <a:rPr lang="en-US" altLang="zh-CN" sz="2400" b="1" kern="100" baseline="-25000" dirty="0">
                <a:solidFill>
                  <a:srgbClr val="0D0D0D"/>
                </a:solidFill>
                <a:latin typeface="Trebuchet MS" panose="020B0603020202020204" pitchFamily="34" charset="0"/>
                <a:cs typeface="Times New Roman" panose="02020603050405020304" pitchFamily="18" charset="0"/>
              </a:rPr>
              <a:t>3</a:t>
            </a:r>
            <a:r>
              <a:rPr lang="en-US" altLang="zh-CN" sz="2400" b="1" kern="100" dirty="0">
                <a:solidFill>
                  <a:srgbClr val="0D0D0D"/>
                </a:solidFill>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cs typeface="Times New Roman" panose="02020603050405020304" pitchFamily="18" charset="0"/>
              </a:rPr>
              <a:t> </a:t>
            </a:r>
            <a:r>
              <a:rPr lang="en-US" altLang="zh-CN" sz="2400" b="1" kern="100" dirty="0">
                <a:latin typeface="Trebuchet MS" panose="020B0603020202020204" pitchFamily="34" charset="0"/>
                <a:cs typeface="Times New Roman" panose="02020603050405020304" pitchFamily="18" charset="0"/>
              </a:rPr>
              <a:t>.</a:t>
            </a:r>
          </a:p>
          <a:p>
            <a:pPr marL="627063" indent="-449263">
              <a:lnSpc>
                <a:spcPct val="110000"/>
              </a:lnSpc>
              <a:spcBef>
                <a:spcPts val="300"/>
              </a:spcBef>
              <a:buClr>
                <a:srgbClr val="0B61FF"/>
              </a:buClr>
              <a:buSzPct val="80000"/>
              <a:buNone/>
            </a:pPr>
            <a:r>
              <a:rPr lang="en-US" altLang="zh-CN" sz="2400" b="1" kern="100" dirty="0">
                <a:solidFill>
                  <a:srgbClr val="0B61FF"/>
                </a:solidFill>
                <a:latin typeface="Trebuchet MS" panose="020B0603020202020204" pitchFamily="34" charset="0"/>
                <a:cs typeface="Times New Roman" panose="02020603050405020304" pitchFamily="18" charset="0"/>
              </a:rPr>
              <a:t>(2) </a:t>
            </a:r>
            <a:r>
              <a:rPr lang="en-US" altLang="zh-CN" sz="2400" dirty="0">
                <a:latin typeface="Trebuchet MS" panose="020B0603020202020204" pitchFamily="34" charset="0"/>
              </a:rPr>
              <a:t>A</a:t>
            </a:r>
            <a:r>
              <a:rPr lang="en-US" altLang="zh-CN" sz="2400" b="1" dirty="0">
                <a:latin typeface="Trebuchet MS" panose="020B0603020202020204" pitchFamily="34" charset="0"/>
              </a:rPr>
              <a:t> 240-degree clockwise rotation </a:t>
            </a:r>
            <a:r>
              <a:rPr lang="en-US" altLang="zh-CN" sz="2400" dirty="0">
                <a:latin typeface="Trebuchet MS" panose="020B0603020202020204" pitchFamily="34" charset="0"/>
              </a:rPr>
              <a:t>corresponds to the </a:t>
            </a:r>
            <a:r>
              <a:rPr lang="en-US" altLang="zh-CN" sz="2400" b="1" i="1" dirty="0">
                <a:solidFill>
                  <a:srgbClr val="0B61FF"/>
                </a:solidFill>
                <a:latin typeface="Trebuchet MS" panose="020B0603020202020204" pitchFamily="34" charset="0"/>
              </a:rPr>
              <a:t>cyclic permutation </a:t>
            </a:r>
            <a:r>
              <a:rPr lang="en-US" altLang="zh-CN" sz="2400" b="1" dirty="0">
                <a:solidFill>
                  <a:srgbClr val="0B61FF"/>
                </a:solidFill>
                <a:latin typeface="Trebuchet MS" panose="020B0603020202020204" pitchFamily="34" charset="0"/>
              </a:rPr>
              <a:t>(</a:t>
            </a:r>
            <a:r>
              <a:rPr lang="en-US" altLang="zh-CN" sz="2400" b="1" i="1" dirty="0">
                <a:solidFill>
                  <a:srgbClr val="0B61FF"/>
                </a:solidFill>
                <a:latin typeface="Trebuchet MS" panose="020B0603020202020204" pitchFamily="34" charset="0"/>
              </a:rPr>
              <a:t>ACB</a:t>
            </a:r>
            <a:r>
              <a:rPr lang="en-US" altLang="zh-CN" sz="2400" b="1" dirty="0">
                <a:solidFill>
                  <a:srgbClr val="0B61FF"/>
                </a:solidFill>
                <a:latin typeface="Trebuchet MS" panose="020B0603020202020204" pitchFamily="34" charset="0"/>
              </a:rPr>
              <a:t>)</a:t>
            </a:r>
            <a:r>
              <a:rPr lang="en-US" altLang="zh-CN" sz="2400" b="1" i="1" dirty="0">
                <a:solidFill>
                  <a:srgbClr val="0B61FF"/>
                </a:solidFill>
                <a:latin typeface="Trebuchet MS" panose="020B0603020202020204" pitchFamily="34" charset="0"/>
              </a:rPr>
              <a:t> </a:t>
            </a:r>
            <a:r>
              <a:rPr lang="en-US" altLang="zh-CN" sz="2400" dirty="0">
                <a:latin typeface="Trebuchet MS" panose="020B0603020202020204" pitchFamily="34" charset="0"/>
              </a:rPr>
              <a:t>in group </a:t>
            </a:r>
            <a:r>
              <a:rPr lang="en-US" altLang="zh-CN" sz="2400" b="1" i="1" kern="100" dirty="0">
                <a:solidFill>
                  <a:srgbClr val="0D0D0D"/>
                </a:solidFill>
                <a:latin typeface="Trebuchet MS" panose="020B0603020202020204" pitchFamily="34" charset="0"/>
                <a:cs typeface="Times New Roman" panose="02020603050405020304" pitchFamily="18" charset="0"/>
              </a:rPr>
              <a:t>D</a:t>
            </a:r>
            <a:r>
              <a:rPr lang="en-US" altLang="zh-CN" sz="2400" b="1" kern="100" baseline="-25000" dirty="0">
                <a:solidFill>
                  <a:srgbClr val="0D0D0D"/>
                </a:solidFill>
                <a:latin typeface="Trebuchet MS" panose="020B0603020202020204" pitchFamily="34" charset="0"/>
                <a:cs typeface="Times New Roman" panose="02020603050405020304" pitchFamily="18" charset="0"/>
              </a:rPr>
              <a:t>3</a:t>
            </a:r>
            <a:r>
              <a:rPr lang="en-US" altLang="zh-CN" sz="2400" b="1" kern="100" dirty="0">
                <a:solidFill>
                  <a:srgbClr val="0D0D0D"/>
                </a:solidFill>
                <a:latin typeface="Trebuchet MS" panose="020B0603020202020204" pitchFamily="34" charset="0"/>
                <a:cs typeface="Times New Roman" panose="02020603050405020304" pitchFamily="18" charset="0"/>
              </a:rPr>
              <a:t>​</a:t>
            </a:r>
            <a:r>
              <a:rPr lang="zh-CN" altLang="zh-CN" sz="2400" b="1" kern="100" dirty="0">
                <a:latin typeface="Trebuchet MS" panose="020B0603020202020204" pitchFamily="34" charset="0"/>
                <a:cs typeface="Times New Roman" panose="02020603050405020304" pitchFamily="18" charset="0"/>
              </a:rPr>
              <a:t> </a:t>
            </a:r>
            <a:r>
              <a:rPr lang="en-US" altLang="zh-CN" sz="2400" b="1" kern="100" dirty="0">
                <a:latin typeface="Trebuchet MS" panose="020B0603020202020204" pitchFamily="34" charset="0"/>
                <a:cs typeface="Times New Roman" panose="02020603050405020304" pitchFamily="18" charset="0"/>
              </a:rPr>
              <a:t>.</a:t>
            </a:r>
          </a:p>
          <a:p>
            <a:pPr marL="627063" indent="-449263">
              <a:lnSpc>
                <a:spcPct val="110000"/>
              </a:lnSpc>
              <a:spcBef>
                <a:spcPts val="300"/>
              </a:spcBef>
              <a:buClr>
                <a:srgbClr val="0B61FF"/>
              </a:buClr>
              <a:buSzPct val="80000"/>
              <a:buNone/>
            </a:pPr>
            <a:r>
              <a:rPr lang="en-US" altLang="zh-CN" sz="2400" b="1" kern="100" dirty="0">
                <a:solidFill>
                  <a:srgbClr val="0B61FF"/>
                </a:solidFill>
                <a:latin typeface="Trebuchet MS" panose="020B0603020202020204" pitchFamily="34" charset="0"/>
                <a:cs typeface="Times New Roman" panose="02020603050405020304" pitchFamily="18" charset="0"/>
              </a:rPr>
              <a:t>(3) </a:t>
            </a:r>
            <a:r>
              <a:rPr lang="zh-CN" altLang="zh-CN" sz="2400" dirty="0">
                <a:latin typeface="Trebuchet MS" panose="020B0603020202020204" pitchFamily="34" charset="0"/>
              </a:rPr>
              <a:t>A </a:t>
            </a:r>
            <a:r>
              <a:rPr lang="zh-CN" altLang="zh-CN" sz="2400" b="1" dirty="0">
                <a:latin typeface="Trebuchet MS" panose="020B0603020202020204" pitchFamily="34" charset="0"/>
              </a:rPr>
              <a:t>reflection across the line connecting vertex </a:t>
            </a:r>
            <a:r>
              <a:rPr lang="zh-CN" altLang="zh-CN" sz="2400" b="1" i="1" dirty="0">
                <a:latin typeface="Trebuchet MS" panose="020B0603020202020204" pitchFamily="34" charset="0"/>
              </a:rPr>
              <a:t>A</a:t>
            </a:r>
            <a:r>
              <a:rPr lang="zh-CN" altLang="zh-CN" sz="2400" b="1" dirty="0">
                <a:latin typeface="Trebuchet MS" panose="020B0603020202020204" pitchFamily="34" charset="0"/>
              </a:rPr>
              <a:t> and the midpoint of the opposite side </a:t>
            </a:r>
            <a:r>
              <a:rPr lang="zh-CN" altLang="zh-CN" sz="2400" dirty="0">
                <a:latin typeface="Trebuchet MS" panose="020B0603020202020204" pitchFamily="34" charset="0"/>
              </a:rPr>
              <a:t>corresponds to the </a:t>
            </a:r>
            <a:r>
              <a:rPr lang="zh-CN" altLang="zh-CN" sz="2400" b="1" i="1" dirty="0">
                <a:solidFill>
                  <a:srgbClr val="0B61FF"/>
                </a:solidFill>
                <a:latin typeface="Trebuchet MS" panose="020B0603020202020204" pitchFamily="34" charset="0"/>
              </a:rPr>
              <a:t>transposition</a:t>
            </a:r>
            <a:r>
              <a:rPr lang="zh-CN" altLang="zh-CN" sz="2400" dirty="0">
                <a:solidFill>
                  <a:srgbClr val="0B61FF"/>
                </a:solidFill>
                <a:latin typeface="Trebuchet MS" panose="020B0603020202020204" pitchFamily="34" charset="0"/>
              </a:rPr>
              <a:t> (</a:t>
            </a:r>
            <a:r>
              <a:rPr lang="zh-CN" altLang="zh-CN" sz="2400" b="1" i="1" dirty="0">
                <a:solidFill>
                  <a:srgbClr val="0B61FF"/>
                </a:solidFill>
                <a:latin typeface="Trebuchet MS" panose="020B0603020202020204" pitchFamily="34" charset="0"/>
              </a:rPr>
              <a:t>BC</a:t>
            </a:r>
            <a:r>
              <a:rPr lang="zh-CN" altLang="zh-CN" sz="2400" dirty="0">
                <a:solidFill>
                  <a:srgbClr val="0B61FF"/>
                </a:solidFill>
                <a:latin typeface="Trebuchet MS" panose="020B0603020202020204" pitchFamily="34" charset="0"/>
              </a:rPr>
              <a:t>)</a:t>
            </a:r>
            <a:r>
              <a:rPr lang="en-US" altLang="zh-CN" sz="2400" dirty="0">
                <a:solidFill>
                  <a:srgbClr val="0B61FF"/>
                </a:solidFill>
                <a:latin typeface="Trebuchet MS" panose="020B0603020202020204" pitchFamily="34" charset="0"/>
              </a:rPr>
              <a:t> </a:t>
            </a:r>
            <a:r>
              <a:rPr lang="zh-CN" altLang="zh-CN" sz="2400" dirty="0">
                <a:latin typeface="Trebuchet MS" panose="020B0603020202020204" pitchFamily="34" charset="0"/>
              </a:rPr>
              <a:t>in group </a:t>
            </a:r>
            <a:r>
              <a:rPr lang="en-US" altLang="zh-CN" sz="2400" b="1" i="1" kern="100" dirty="0">
                <a:solidFill>
                  <a:srgbClr val="0D0D0D"/>
                </a:solidFill>
                <a:latin typeface="Trebuchet MS" panose="020B0603020202020204" pitchFamily="34" charset="0"/>
                <a:cs typeface="Times New Roman" panose="02020603050405020304" pitchFamily="18" charset="0"/>
              </a:rPr>
              <a:t>D</a:t>
            </a:r>
            <a:r>
              <a:rPr lang="en-US" altLang="zh-CN" sz="2400" b="1" kern="100" baseline="-25000" dirty="0">
                <a:solidFill>
                  <a:srgbClr val="0D0D0D"/>
                </a:solidFill>
                <a:latin typeface="Trebuchet MS" panose="020B0603020202020204" pitchFamily="34" charset="0"/>
                <a:cs typeface="Times New Roman" panose="02020603050405020304" pitchFamily="18" charset="0"/>
              </a:rPr>
              <a:t>3</a:t>
            </a:r>
            <a:r>
              <a:rPr lang="en-US" altLang="zh-CN" sz="2400" kern="100" baseline="-25000" dirty="0">
                <a:solidFill>
                  <a:srgbClr val="0D0D0D"/>
                </a:solidFill>
                <a:latin typeface="Trebuchet MS" panose="020B0603020202020204" pitchFamily="34" charset="0"/>
                <a:cs typeface="Times New Roman" panose="02020603050405020304" pitchFamily="18" charset="0"/>
              </a:rPr>
              <a:t> </a:t>
            </a:r>
            <a:r>
              <a:rPr lang="zh-CN" altLang="zh-CN" sz="2400" dirty="0">
                <a:latin typeface="Trebuchet MS" panose="020B0603020202020204" pitchFamily="34" charset="0"/>
              </a:rPr>
              <a:t>​.</a:t>
            </a:r>
            <a:endParaRPr lang="en-US" altLang="zh-CN" sz="2400" dirty="0">
              <a:latin typeface="Trebuchet MS" panose="020B0603020202020204" pitchFamily="34" charset="0"/>
            </a:endParaRPr>
          </a:p>
          <a:p>
            <a:pPr marL="627063" indent="-449263">
              <a:lnSpc>
                <a:spcPct val="110000"/>
              </a:lnSpc>
              <a:spcBef>
                <a:spcPts val="300"/>
              </a:spcBef>
              <a:buClr>
                <a:srgbClr val="0B61FF"/>
              </a:buClr>
              <a:buSzPct val="80000"/>
              <a:buNone/>
            </a:pPr>
            <a:r>
              <a:rPr lang="en-US" altLang="zh-CN" sz="2400" b="1" kern="100" dirty="0">
                <a:solidFill>
                  <a:srgbClr val="0B61FF"/>
                </a:solidFill>
                <a:latin typeface="Trebuchet MS" panose="020B0603020202020204" pitchFamily="34" charset="0"/>
                <a:cs typeface="Times New Roman" panose="02020603050405020304" pitchFamily="18" charset="0"/>
              </a:rPr>
              <a:t>(4) </a:t>
            </a:r>
            <a:r>
              <a:rPr lang="zh-CN" altLang="zh-CN" sz="2400" dirty="0">
                <a:latin typeface="Trebuchet MS" panose="020B0603020202020204" pitchFamily="34" charset="0"/>
              </a:rPr>
              <a:t>A </a:t>
            </a:r>
            <a:r>
              <a:rPr lang="zh-CN" altLang="zh-CN" sz="2400" b="1" dirty="0">
                <a:latin typeface="Trebuchet MS" panose="020B0603020202020204" pitchFamily="34" charset="0"/>
              </a:rPr>
              <a:t>reflection across the line connecting vertex </a:t>
            </a:r>
            <a:r>
              <a:rPr lang="zh-CN" altLang="zh-CN" sz="2400" b="1" i="1" dirty="0">
                <a:latin typeface="Trebuchet MS" panose="020B0603020202020204" pitchFamily="34" charset="0"/>
              </a:rPr>
              <a:t>B</a:t>
            </a:r>
            <a:r>
              <a:rPr lang="zh-CN" altLang="zh-CN" sz="2400" b="1" dirty="0">
                <a:latin typeface="Trebuchet MS" panose="020B0603020202020204" pitchFamily="34" charset="0"/>
              </a:rPr>
              <a:t> and the midpoint of the opposite side </a:t>
            </a:r>
            <a:r>
              <a:rPr lang="zh-CN" altLang="zh-CN" sz="2400" dirty="0">
                <a:latin typeface="Trebuchet MS" panose="020B0603020202020204" pitchFamily="34" charset="0"/>
              </a:rPr>
              <a:t>corresponds to the </a:t>
            </a:r>
            <a:r>
              <a:rPr lang="zh-CN" altLang="zh-CN" sz="2400" b="1" i="1" dirty="0">
                <a:solidFill>
                  <a:srgbClr val="0B61FF"/>
                </a:solidFill>
                <a:latin typeface="Trebuchet MS" panose="020B0603020202020204" pitchFamily="34" charset="0"/>
              </a:rPr>
              <a:t>transposition</a:t>
            </a:r>
            <a:r>
              <a:rPr lang="zh-CN" altLang="zh-CN" sz="2400" b="1" dirty="0">
                <a:latin typeface="Trebuchet MS" panose="020B0603020202020204" pitchFamily="34" charset="0"/>
              </a:rPr>
              <a:t> </a:t>
            </a:r>
            <a:r>
              <a:rPr lang="zh-CN" altLang="zh-CN" sz="2400" b="1" dirty="0">
                <a:solidFill>
                  <a:srgbClr val="0B61FF"/>
                </a:solidFill>
                <a:latin typeface="Trebuchet MS" panose="020B0603020202020204" pitchFamily="34" charset="0"/>
              </a:rPr>
              <a:t>(</a:t>
            </a:r>
            <a:r>
              <a:rPr lang="zh-CN" altLang="zh-CN" sz="2400" b="1" i="1" dirty="0">
                <a:solidFill>
                  <a:srgbClr val="0B61FF"/>
                </a:solidFill>
                <a:latin typeface="Trebuchet MS" panose="020B0603020202020204" pitchFamily="34" charset="0"/>
              </a:rPr>
              <a:t>AC</a:t>
            </a:r>
            <a:r>
              <a:rPr lang="zh-CN" altLang="zh-CN" sz="2400" b="1" dirty="0">
                <a:solidFill>
                  <a:srgbClr val="0B61FF"/>
                </a:solidFill>
                <a:latin typeface="Trebuchet MS" panose="020B0603020202020204" pitchFamily="34" charset="0"/>
              </a:rPr>
              <a:t>) </a:t>
            </a:r>
            <a:r>
              <a:rPr lang="zh-CN" altLang="zh-CN" sz="2400" dirty="0">
                <a:latin typeface="Trebuchet MS" panose="020B0603020202020204" pitchFamily="34" charset="0"/>
              </a:rPr>
              <a:t>in group </a:t>
            </a:r>
            <a:r>
              <a:rPr lang="en-US" altLang="zh-CN" sz="2400" b="1" i="1" kern="100" dirty="0">
                <a:solidFill>
                  <a:srgbClr val="0D0D0D"/>
                </a:solidFill>
                <a:latin typeface="Trebuchet MS" panose="020B0603020202020204" pitchFamily="34" charset="0"/>
                <a:cs typeface="Times New Roman" panose="02020603050405020304" pitchFamily="18" charset="0"/>
              </a:rPr>
              <a:t>D</a:t>
            </a:r>
            <a:r>
              <a:rPr lang="en-US" altLang="zh-CN" sz="2400" b="1" kern="100" baseline="-25000" dirty="0">
                <a:solidFill>
                  <a:srgbClr val="0D0D0D"/>
                </a:solidFill>
                <a:latin typeface="Trebuchet MS" panose="020B0603020202020204" pitchFamily="34" charset="0"/>
                <a:cs typeface="Times New Roman" panose="02020603050405020304" pitchFamily="18" charset="0"/>
              </a:rPr>
              <a:t>3</a:t>
            </a:r>
            <a:r>
              <a:rPr lang="en-US" altLang="zh-CN" sz="2400" kern="100" baseline="-25000" dirty="0">
                <a:solidFill>
                  <a:srgbClr val="0D0D0D"/>
                </a:solidFill>
                <a:latin typeface="Trebuchet MS" panose="020B0603020202020204" pitchFamily="34" charset="0"/>
                <a:cs typeface="Times New Roman" panose="02020603050405020304" pitchFamily="18" charset="0"/>
              </a:rPr>
              <a:t> </a:t>
            </a:r>
            <a:r>
              <a:rPr lang="zh-CN" altLang="zh-CN" sz="2400" dirty="0">
                <a:latin typeface="Trebuchet MS" panose="020B0603020202020204" pitchFamily="34" charset="0"/>
              </a:rPr>
              <a:t>​.</a:t>
            </a:r>
            <a:endParaRPr lang="en-US" altLang="zh-CN" sz="2400" dirty="0">
              <a:latin typeface="Trebuchet MS" panose="020B0603020202020204" pitchFamily="34" charset="0"/>
            </a:endParaRPr>
          </a:p>
          <a:p>
            <a:pPr marL="627063" indent="-449263">
              <a:lnSpc>
                <a:spcPct val="110000"/>
              </a:lnSpc>
              <a:spcBef>
                <a:spcPts val="300"/>
              </a:spcBef>
              <a:buClr>
                <a:srgbClr val="0B61FF"/>
              </a:buClr>
              <a:buSzPct val="80000"/>
              <a:buNone/>
            </a:pPr>
            <a:r>
              <a:rPr lang="en-US" altLang="zh-CN" sz="2400" b="1" kern="100" dirty="0">
                <a:solidFill>
                  <a:srgbClr val="0B61FF"/>
                </a:solidFill>
                <a:latin typeface="Trebuchet MS" panose="020B0603020202020204" pitchFamily="34" charset="0"/>
                <a:cs typeface="Times New Roman" panose="02020603050405020304" pitchFamily="18" charset="0"/>
              </a:rPr>
              <a:t>(5) </a:t>
            </a:r>
            <a:r>
              <a:rPr lang="zh-CN" altLang="zh-CN" sz="2400" dirty="0">
                <a:latin typeface="Trebuchet MS" panose="020B0603020202020204" pitchFamily="34" charset="0"/>
              </a:rPr>
              <a:t>A </a:t>
            </a:r>
            <a:r>
              <a:rPr lang="zh-CN" altLang="zh-CN" sz="2400" b="1" dirty="0">
                <a:latin typeface="Trebuchet MS" panose="020B0603020202020204" pitchFamily="34" charset="0"/>
              </a:rPr>
              <a:t>reflection across the line connecting vertex </a:t>
            </a:r>
            <a:r>
              <a:rPr lang="zh-CN" altLang="zh-CN" sz="2400" b="1" i="1" dirty="0">
                <a:latin typeface="Trebuchet MS" panose="020B0603020202020204" pitchFamily="34" charset="0"/>
              </a:rPr>
              <a:t>C</a:t>
            </a:r>
            <a:r>
              <a:rPr lang="zh-CN" altLang="zh-CN" sz="2400" b="1" dirty="0">
                <a:latin typeface="Trebuchet MS" panose="020B0603020202020204" pitchFamily="34" charset="0"/>
              </a:rPr>
              <a:t> and the midpoint of the opposite side </a:t>
            </a:r>
            <a:r>
              <a:rPr lang="zh-CN" altLang="zh-CN" sz="2400" dirty="0">
                <a:latin typeface="Trebuchet MS" panose="020B0603020202020204" pitchFamily="34" charset="0"/>
              </a:rPr>
              <a:t>corresponds to the </a:t>
            </a:r>
            <a:r>
              <a:rPr lang="zh-CN" altLang="zh-CN" sz="2400" b="1" i="1" dirty="0">
                <a:solidFill>
                  <a:srgbClr val="0B61FF"/>
                </a:solidFill>
                <a:latin typeface="Trebuchet MS" panose="020B0603020202020204" pitchFamily="34" charset="0"/>
              </a:rPr>
              <a:t>transposition</a:t>
            </a:r>
            <a:r>
              <a:rPr lang="zh-CN" altLang="zh-CN" sz="2400" dirty="0">
                <a:solidFill>
                  <a:srgbClr val="0B61FF"/>
                </a:solidFill>
                <a:latin typeface="Trebuchet MS" panose="020B0603020202020204" pitchFamily="34" charset="0"/>
              </a:rPr>
              <a:t> (</a:t>
            </a:r>
            <a:r>
              <a:rPr lang="zh-CN" altLang="zh-CN" sz="2400" b="1" i="1" dirty="0">
                <a:solidFill>
                  <a:srgbClr val="0B61FF"/>
                </a:solidFill>
                <a:latin typeface="Trebuchet MS" panose="020B0603020202020204" pitchFamily="34" charset="0"/>
              </a:rPr>
              <a:t>AB</a:t>
            </a:r>
            <a:r>
              <a:rPr lang="zh-CN" altLang="zh-CN" sz="2400" dirty="0">
                <a:solidFill>
                  <a:srgbClr val="0B61FF"/>
                </a:solidFill>
                <a:latin typeface="Trebuchet MS" panose="020B0603020202020204" pitchFamily="34" charset="0"/>
              </a:rPr>
              <a:t>)</a:t>
            </a:r>
            <a:r>
              <a:rPr lang="en-US" altLang="zh-CN" sz="2400" dirty="0">
                <a:solidFill>
                  <a:srgbClr val="0B61FF"/>
                </a:solidFill>
                <a:latin typeface="Trebuchet MS" panose="020B0603020202020204" pitchFamily="34" charset="0"/>
              </a:rPr>
              <a:t> </a:t>
            </a:r>
            <a:r>
              <a:rPr lang="zh-CN" altLang="zh-CN" sz="2400" dirty="0">
                <a:latin typeface="Trebuchet MS" panose="020B0603020202020204" pitchFamily="34" charset="0"/>
              </a:rPr>
              <a:t>in group </a:t>
            </a:r>
            <a:r>
              <a:rPr lang="en-US" altLang="zh-CN" sz="2400" b="1" i="1" kern="100" dirty="0">
                <a:solidFill>
                  <a:srgbClr val="0D0D0D"/>
                </a:solidFill>
                <a:latin typeface="Trebuchet MS" panose="020B0603020202020204" pitchFamily="34" charset="0"/>
                <a:cs typeface="Times New Roman" panose="02020603050405020304" pitchFamily="18" charset="0"/>
              </a:rPr>
              <a:t>D</a:t>
            </a:r>
            <a:r>
              <a:rPr lang="en-US" altLang="zh-CN" sz="2400" b="1" kern="100" baseline="-25000" dirty="0">
                <a:solidFill>
                  <a:srgbClr val="0D0D0D"/>
                </a:solidFill>
                <a:latin typeface="Trebuchet MS" panose="020B0603020202020204" pitchFamily="34" charset="0"/>
                <a:cs typeface="Times New Roman" panose="02020603050405020304" pitchFamily="18" charset="0"/>
              </a:rPr>
              <a:t>3 </a:t>
            </a:r>
            <a:r>
              <a:rPr lang="zh-CN" altLang="zh-CN" sz="2400" dirty="0">
                <a:latin typeface="Trebuchet MS" panose="020B0603020202020204" pitchFamily="34" charset="0"/>
              </a:rPr>
              <a:t>​.</a:t>
            </a:r>
            <a:endParaRPr lang="zh-CN" altLang="zh-CN" sz="2400" kern="100"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364868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animEffect transition="in" filter="fade">
                                      <p:cBhvr>
                                        <p:cTn id="7" dur="1000"/>
                                        <p:tgtEl>
                                          <p:spTgt spid="14">
                                            <p:txEl>
                                              <p:pRg st="2" end="2"/>
                                            </p:txEl>
                                          </p:spTgt>
                                        </p:tgtEl>
                                      </p:cBhvr>
                                    </p:animEffect>
                                    <p:anim calcmode="lin" valueType="num">
                                      <p:cBhvr>
                                        <p:cTn id="8"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3" end="3"/>
                                            </p:txEl>
                                          </p:spTgt>
                                        </p:tgtEl>
                                        <p:attrNameLst>
                                          <p:attrName>style.visibility</p:attrName>
                                        </p:attrNameLst>
                                      </p:cBhvr>
                                      <p:to>
                                        <p:strVal val="visible"/>
                                      </p:to>
                                    </p:set>
                                    <p:animEffect transition="in" filter="fade">
                                      <p:cBhvr>
                                        <p:cTn id="14" dur="1000"/>
                                        <p:tgtEl>
                                          <p:spTgt spid="14">
                                            <p:txEl>
                                              <p:pRg st="3" end="3"/>
                                            </p:txEl>
                                          </p:spTgt>
                                        </p:tgtEl>
                                      </p:cBhvr>
                                    </p:animEffect>
                                    <p:anim calcmode="lin" valueType="num">
                                      <p:cBhvr>
                                        <p:cTn id="15"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4" end="4"/>
                                            </p:txEl>
                                          </p:spTgt>
                                        </p:tgtEl>
                                        <p:attrNameLst>
                                          <p:attrName>style.visibility</p:attrName>
                                        </p:attrNameLst>
                                      </p:cBhvr>
                                      <p:to>
                                        <p:strVal val="visible"/>
                                      </p:to>
                                    </p:set>
                                    <p:animEffect transition="in" filter="fade">
                                      <p:cBhvr>
                                        <p:cTn id="21" dur="1000"/>
                                        <p:tgtEl>
                                          <p:spTgt spid="14">
                                            <p:txEl>
                                              <p:pRg st="4" end="4"/>
                                            </p:txEl>
                                          </p:spTgt>
                                        </p:tgtEl>
                                      </p:cBhvr>
                                    </p:animEffect>
                                    <p:anim calcmode="lin" valueType="num">
                                      <p:cBhvr>
                                        <p:cTn id="22"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5" end="5"/>
                                            </p:txEl>
                                          </p:spTgt>
                                        </p:tgtEl>
                                        <p:attrNameLst>
                                          <p:attrName>style.visibility</p:attrName>
                                        </p:attrNameLst>
                                      </p:cBhvr>
                                      <p:to>
                                        <p:strVal val="visible"/>
                                      </p:to>
                                    </p:set>
                                    <p:animEffect transition="in" filter="fade">
                                      <p:cBhvr>
                                        <p:cTn id="28" dur="1000"/>
                                        <p:tgtEl>
                                          <p:spTgt spid="14">
                                            <p:txEl>
                                              <p:pRg st="5" end="5"/>
                                            </p:txEl>
                                          </p:spTgt>
                                        </p:tgtEl>
                                      </p:cBhvr>
                                    </p:animEffect>
                                    <p:anim calcmode="lin" valueType="num">
                                      <p:cBhvr>
                                        <p:cTn id="29"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9.3.3 Rings and Fields</a:t>
            </a:r>
          </a:p>
          <a:p>
            <a:r>
              <a:rPr lang="en-US" altLang="zh-CN" sz="20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Definition of a Ring</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Rectangle 5">
            <a:extLst>
              <a:ext uri="{FF2B5EF4-FFF2-40B4-BE49-F238E27FC236}">
                <a16:creationId xmlns:a16="http://schemas.microsoft.com/office/drawing/2014/main" id="{FBA85CA3-41D1-4CC9-AF77-611C2B2993A9}"/>
              </a:ext>
            </a:extLst>
          </p:cNvPr>
          <p:cNvSpPr>
            <a:spLocks noChangeArrowheads="1"/>
          </p:cNvSpPr>
          <p:nvPr/>
        </p:nvSpPr>
        <p:spPr bwMode="auto">
          <a:xfrm>
            <a:off x="1016906" y="905554"/>
            <a:ext cx="9054194" cy="448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eaLnBrk="1" hangingPunct="1">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Definition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9.21:  </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Let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,+,·&gt;</a:t>
            </a:r>
            <a:r>
              <a:rPr lang="en-US" altLang="zh-CN" sz="2400" dirty="0">
                <a:solidFill>
                  <a:schemeClr val="tx1"/>
                </a:solidFill>
                <a:latin typeface="Trebuchet MS" panose="020B0603020202020204" pitchFamily="34" charset="0"/>
              </a:rPr>
              <a:t> be an algebraic system, where </a:t>
            </a:r>
            <a:r>
              <a:rPr lang="en-US" altLang="zh-CN" sz="2400" b="1" i="1" dirty="0">
                <a:solidFill>
                  <a:schemeClr val="tx1"/>
                </a:solidFill>
                <a:latin typeface="Trebuchet MS" panose="020B0603020202020204" pitchFamily="34" charset="0"/>
              </a:rPr>
              <a:t>R</a:t>
            </a:r>
            <a:r>
              <a:rPr lang="en-US" altLang="zh-CN" sz="2400" dirty="0">
                <a:solidFill>
                  <a:schemeClr val="tx1"/>
                </a:solidFill>
                <a:latin typeface="Trebuchet MS" panose="020B0603020202020204" pitchFamily="34" charset="0"/>
              </a:rPr>
              <a:t> is a set, and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are binary operations. </a:t>
            </a:r>
            <a:r>
              <a:rPr lang="en-US" altLang="zh-CN" sz="2400" b="1" dirty="0">
                <a:solidFill>
                  <a:schemeClr val="tx1"/>
                </a:solidFill>
                <a:latin typeface="Trebuchet MS" panose="020B0603020202020204" pitchFamily="34" charset="0"/>
              </a:rPr>
              <a:t>If</a:t>
            </a:r>
            <a:r>
              <a:rPr lang="en-US" altLang="zh-CN" sz="2400" dirty="0">
                <a:solidFill>
                  <a:schemeClr val="tx1"/>
                </a:solidFill>
                <a:latin typeface="Trebuchet MS" panose="020B0603020202020204" pitchFamily="34" charset="0"/>
              </a:rPr>
              <a:t> the following conditions are satisfied:</a:t>
            </a:r>
            <a:b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b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(1)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,+&gt;</a:t>
            </a:r>
            <a:r>
              <a:rPr lang="en-US" altLang="zh-CN" sz="2400" dirty="0">
                <a:solidFill>
                  <a:schemeClr val="tx1"/>
                </a:solidFill>
                <a:latin typeface="Trebuchet MS" panose="020B0603020202020204" pitchFamily="34" charset="0"/>
              </a:rPr>
              <a:t> forms an Abelian group (commutative group) ,</a:t>
            </a:r>
            <a:b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b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(2)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,·&gt;</a:t>
            </a:r>
            <a:r>
              <a:rPr lang="en-US" altLang="zh-CN" sz="2400" dirty="0">
                <a:solidFill>
                  <a:schemeClr val="tx1"/>
                </a:solidFill>
                <a:latin typeface="Trebuchet MS" panose="020B0603020202020204" pitchFamily="34" charset="0"/>
              </a:rPr>
              <a:t> forms a semigroup,</a:t>
            </a:r>
            <a:b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b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(3) </a:t>
            </a:r>
            <a:r>
              <a:rPr lang="en-US" altLang="zh-CN" sz="2400" dirty="0">
                <a:solidFill>
                  <a:schemeClr val="tx1"/>
                </a:solidFill>
                <a:latin typeface="Trebuchet MS" panose="020B0603020202020204" pitchFamily="34" charset="0"/>
              </a:rPr>
              <a:t>Multiplication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is distributive over addition (+), </a:t>
            </a:r>
            <a:b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b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then &lt;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,+,·&gt;</a:t>
            </a:r>
            <a:r>
              <a:rPr lang="en-US" altLang="zh-CN" sz="2400" dirty="0">
                <a:solidFill>
                  <a:schemeClr val="tx1"/>
                </a:solidFill>
                <a:latin typeface="Trebuchet MS" panose="020B0603020202020204" pitchFamily="34" charset="0"/>
              </a:rPr>
              <a:t>is called a </a:t>
            </a:r>
            <a:r>
              <a:rPr lang="en-US" altLang="zh-CN" sz="2400" b="1" i="1" dirty="0">
                <a:solidFill>
                  <a:srgbClr val="0B61FF"/>
                </a:solidFill>
                <a:latin typeface="Trebuchet MS" panose="020B0603020202020204" pitchFamily="34" charset="0"/>
              </a:rPr>
              <a:t>ring</a:t>
            </a:r>
            <a:r>
              <a:rPr lang="en-US" altLang="zh-CN" sz="2400" dirty="0">
                <a:solidFill>
                  <a:schemeClr val="tx1"/>
                </a:solidFill>
                <a:latin typeface="Trebuchet MS" panose="020B0603020202020204" pitchFamily="34" charset="0"/>
              </a:rPr>
              <a:t>.</a:t>
            </a: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823335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9.3.3 Rings and Fields</a:t>
            </a:r>
          </a:p>
          <a:p>
            <a:r>
              <a:rPr lang="en-US" altLang="zh-CN" sz="20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a Ring</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1" name="Rectangle 3">
            <a:extLst>
              <a:ext uri="{FF2B5EF4-FFF2-40B4-BE49-F238E27FC236}">
                <a16:creationId xmlns:a16="http://schemas.microsoft.com/office/drawing/2014/main" id="{34259301-D017-479F-BDF1-DFB8F0C67A9F}"/>
              </a:ext>
            </a:extLst>
          </p:cNvPr>
          <p:cNvSpPr>
            <a:spLocks noGrp="1" noChangeArrowheads="1"/>
          </p:cNvSpPr>
          <p:nvPr>
            <p:ph idx="1"/>
          </p:nvPr>
        </p:nvSpPr>
        <p:spPr>
          <a:xfrm>
            <a:off x="402566" y="800526"/>
            <a:ext cx="11386868" cy="5430160"/>
          </a:xfrm>
        </p:spPr>
        <p:txBody>
          <a:bodyPr>
            <a:noAutofit/>
          </a:bodyPr>
          <a:lstStyle/>
          <a:p>
            <a:pPr>
              <a:lnSpc>
                <a:spcPct val="11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a:t>
            </a:r>
            <a:endParaRPr lang="en-US" altLang="zh-CN" sz="2400" dirty="0">
              <a:latin typeface="Trebuchet MS" panose="020B0603020202020204" pitchFamily="34" charset="0"/>
            </a:endParaRPr>
          </a:p>
          <a:p>
            <a:pPr marL="627063" indent="-449263">
              <a:lnSpc>
                <a:spcPct val="110000"/>
              </a:lnSpc>
              <a:spcBef>
                <a:spcPts val="300"/>
              </a:spcBef>
              <a:buNone/>
            </a:pPr>
            <a:r>
              <a:rPr lang="en-US" altLang="zh-CN" sz="2400" b="1" dirty="0">
                <a:solidFill>
                  <a:srgbClr val="0B61FF"/>
                </a:solidFill>
                <a:latin typeface="Trebuchet MS" panose="020B0603020202020204" pitchFamily="34" charset="0"/>
              </a:rPr>
              <a:t>(1) </a:t>
            </a:r>
            <a:r>
              <a:rPr lang="en-US" altLang="zh-CN" sz="2400" dirty="0">
                <a:latin typeface="Trebuchet MS" panose="020B0603020202020204" pitchFamily="34" charset="0"/>
              </a:rPr>
              <a:t>The sets of integers, rational numbers, real numbers, and complex numbers form rings under the usual addition (</a:t>
            </a:r>
            <a:r>
              <a:rPr lang="en-US" altLang="zh-CN" sz="2400" b="1" dirty="0">
                <a:latin typeface="Trebuchet MS" panose="020B0603020202020204" pitchFamily="34" charset="0"/>
              </a:rPr>
              <a:t>+</a:t>
            </a:r>
            <a:r>
              <a:rPr lang="en-US" altLang="zh-CN" sz="2400" dirty="0">
                <a:latin typeface="Trebuchet MS" panose="020B0603020202020204" pitchFamily="34" charset="0"/>
              </a:rPr>
              <a:t>) and multiplication (</a:t>
            </a:r>
            <a:r>
              <a:rPr lang="en-US" altLang="zh-CN" sz="2400" b="1" dirty="0">
                <a:latin typeface="Trebuchet MS" panose="020B0603020202020204" pitchFamily="34" charset="0"/>
              </a:rPr>
              <a:t>·</a:t>
            </a:r>
            <a:r>
              <a:rPr lang="en-US" altLang="zh-CN" sz="2400" dirty="0">
                <a:latin typeface="Trebuchet MS" panose="020B0603020202020204" pitchFamily="34" charset="0"/>
              </a:rPr>
              <a:t>). They are called the </a:t>
            </a:r>
            <a:r>
              <a:rPr lang="en-US" altLang="zh-CN" sz="2400" b="1" i="1" dirty="0">
                <a:solidFill>
                  <a:srgbClr val="0B61FF"/>
                </a:solidFill>
                <a:latin typeface="Trebuchet MS" panose="020B0603020202020204" pitchFamily="34" charset="0"/>
              </a:rPr>
              <a:t>ring of integers </a:t>
            </a:r>
            <a:r>
              <a:rPr lang="en-US" altLang="zh-CN" sz="2400" b="1" dirty="0">
                <a:solidFill>
                  <a:srgbClr val="FF0000"/>
                </a:solidFill>
                <a:latin typeface="Trebuchet MS" panose="020B0603020202020204" pitchFamily="34" charset="0"/>
                <a:cs typeface="Times New Roman" panose="02020603050405020304" pitchFamily="18" charset="0"/>
              </a:rPr>
              <a:t>Z</a:t>
            </a:r>
            <a:r>
              <a:rPr lang="en-US" altLang="zh-CN" sz="2400" dirty="0">
                <a:latin typeface="Trebuchet MS" panose="020B0603020202020204" pitchFamily="34" charset="0"/>
              </a:rPr>
              <a:t>, the </a:t>
            </a:r>
            <a:r>
              <a:rPr lang="en-US" altLang="zh-CN" sz="2400" b="1" i="1" dirty="0">
                <a:solidFill>
                  <a:srgbClr val="0B61FF"/>
                </a:solidFill>
                <a:latin typeface="Trebuchet MS" panose="020B0603020202020204" pitchFamily="34" charset="0"/>
              </a:rPr>
              <a:t>ring of rational numbers </a:t>
            </a:r>
            <a:r>
              <a:rPr lang="en-US" altLang="zh-CN" sz="2400" b="1" dirty="0">
                <a:solidFill>
                  <a:srgbClr val="FF0000"/>
                </a:solidFill>
                <a:latin typeface="Trebuchet MS" panose="020B0603020202020204" pitchFamily="34" charset="0"/>
                <a:cs typeface="Times New Roman" panose="02020603050405020304" pitchFamily="18" charset="0"/>
              </a:rPr>
              <a:t>Q</a:t>
            </a:r>
            <a:r>
              <a:rPr lang="en-US" altLang="zh-CN" sz="2400" dirty="0">
                <a:latin typeface="Trebuchet MS" panose="020B0603020202020204" pitchFamily="34" charset="0"/>
              </a:rPr>
              <a:t>, the </a:t>
            </a:r>
            <a:r>
              <a:rPr lang="en-US" altLang="zh-CN" sz="2400" b="1" i="1" dirty="0">
                <a:solidFill>
                  <a:srgbClr val="0B61FF"/>
                </a:solidFill>
                <a:latin typeface="Trebuchet MS" panose="020B0603020202020204" pitchFamily="34" charset="0"/>
              </a:rPr>
              <a:t>ring of real numbers </a:t>
            </a:r>
            <a:r>
              <a:rPr lang="en-US" altLang="zh-CN" sz="2400" b="1" dirty="0">
                <a:solidFill>
                  <a:srgbClr val="FF0000"/>
                </a:solidFill>
                <a:latin typeface="Trebuchet MS" panose="020B0603020202020204" pitchFamily="34" charset="0"/>
                <a:cs typeface="Times New Roman" panose="02020603050405020304" pitchFamily="18" charset="0"/>
              </a:rPr>
              <a:t>R</a:t>
            </a:r>
            <a:r>
              <a:rPr lang="en-US" altLang="zh-CN" sz="2400" dirty="0">
                <a:latin typeface="Trebuchet MS" panose="020B0603020202020204" pitchFamily="34" charset="0"/>
              </a:rPr>
              <a:t>, and the </a:t>
            </a:r>
            <a:r>
              <a:rPr lang="en-US" altLang="zh-CN" sz="2400" b="1" i="1" dirty="0">
                <a:solidFill>
                  <a:srgbClr val="0B61FF"/>
                </a:solidFill>
                <a:latin typeface="Trebuchet MS" panose="020B0603020202020204" pitchFamily="34" charset="0"/>
              </a:rPr>
              <a:t>ring of complex numbers </a:t>
            </a:r>
            <a:r>
              <a:rPr lang="en-US" altLang="zh-CN" sz="2400" b="1" dirty="0">
                <a:solidFill>
                  <a:srgbClr val="FF0000"/>
                </a:solidFill>
                <a:latin typeface="Trebuchet MS" panose="020B0603020202020204" pitchFamily="34" charset="0"/>
                <a:cs typeface="Times New Roman" panose="02020603050405020304" pitchFamily="18" charset="0"/>
              </a:rPr>
              <a:t>C</a:t>
            </a:r>
            <a:r>
              <a:rPr lang="en-US" altLang="zh-CN" sz="2400" dirty="0">
                <a:latin typeface="Trebuchet MS" panose="020B0603020202020204" pitchFamily="34" charset="0"/>
              </a:rPr>
              <a:t>, respectively.</a:t>
            </a:r>
          </a:p>
          <a:p>
            <a:pPr marL="627063" indent="-449263">
              <a:lnSpc>
                <a:spcPct val="110000"/>
              </a:lnSpc>
              <a:spcBef>
                <a:spcPts val="300"/>
              </a:spcBef>
              <a:buNone/>
            </a:pPr>
            <a:r>
              <a:rPr lang="en-US" altLang="zh-CN" sz="2400" b="1" dirty="0">
                <a:solidFill>
                  <a:srgbClr val="0B61FF"/>
                </a:solidFill>
                <a:latin typeface="Trebuchet MS" panose="020B0603020202020204" pitchFamily="34" charset="0"/>
              </a:rPr>
              <a:t>(2) </a:t>
            </a:r>
            <a:r>
              <a:rPr lang="en-US" altLang="zh-CN" sz="2400" dirty="0">
                <a:latin typeface="Trebuchet MS" panose="020B0603020202020204" pitchFamily="34" charset="0"/>
              </a:rPr>
              <a:t>The set </a:t>
            </a:r>
            <a:r>
              <a:rPr lang="en-US" altLang="zh-CN" sz="2400" b="1" i="1" dirty="0">
                <a:latin typeface="Trebuchet MS" panose="020B0603020202020204" pitchFamily="34" charset="0"/>
              </a:rPr>
              <a:t>M</a:t>
            </a:r>
            <a:r>
              <a:rPr lang="en-US" altLang="zh-CN" sz="2400" b="1" i="1" baseline="-25000" dirty="0">
                <a:latin typeface="Trebuchet MS" panose="020B0603020202020204" pitchFamily="34" charset="0"/>
              </a:rPr>
              <a:t>n</a:t>
            </a:r>
            <a:r>
              <a:rPr lang="en-US" altLang="zh-CN" sz="2400" b="1" dirty="0">
                <a:latin typeface="Trebuchet MS" panose="020B0603020202020204" pitchFamily="34" charset="0"/>
              </a:rPr>
              <a:t>(</a:t>
            </a:r>
            <a:r>
              <a:rPr lang="en-US" altLang="zh-CN" sz="2400" b="1" i="1" dirty="0">
                <a:latin typeface="Trebuchet MS" panose="020B0603020202020204" pitchFamily="34" charset="0"/>
              </a:rPr>
              <a:t>R</a:t>
            </a:r>
            <a:r>
              <a:rPr lang="en-US" altLang="zh-CN" sz="2400" b="1" dirty="0">
                <a:latin typeface="Trebuchet MS" panose="020B0603020202020204" pitchFamily="34" charset="0"/>
              </a:rPr>
              <a:t>)</a:t>
            </a:r>
            <a:r>
              <a:rPr lang="en-US" altLang="zh-CN" sz="2400" dirty="0">
                <a:latin typeface="Trebuchet MS" panose="020B0603020202020204" pitchFamily="34" charset="0"/>
              </a:rPr>
              <a:t> of all </a:t>
            </a:r>
            <a:r>
              <a:rPr lang="en-US" altLang="zh-CN" sz="2400" b="1" i="1" dirty="0" err="1">
                <a:latin typeface="Trebuchet MS" panose="020B0603020202020204" pitchFamily="34" charset="0"/>
              </a:rPr>
              <a:t>n</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n</a:t>
            </a:r>
            <a:r>
              <a:rPr lang="en-US" altLang="zh-CN" sz="2400" dirty="0">
                <a:latin typeface="Trebuchet MS" panose="020B0603020202020204" pitchFamily="34" charset="0"/>
              </a:rPr>
              <a:t> real matrices (with </a:t>
            </a:r>
            <a:r>
              <a:rPr lang="en-US" altLang="zh-CN" sz="2400" b="1" i="1" dirty="0">
                <a:latin typeface="Trebuchet MS" panose="020B0603020202020204" pitchFamily="34" charset="0"/>
              </a:rPr>
              <a:t>n</a:t>
            </a:r>
            <a:r>
              <a:rPr lang="en-US" altLang="zh-CN" sz="2400" b="1" dirty="0">
                <a:latin typeface="Trebuchet MS" panose="020B0603020202020204" pitchFamily="34" charset="0"/>
              </a:rPr>
              <a:t>≥2</a:t>
            </a:r>
            <a:r>
              <a:rPr lang="en-US" altLang="zh-CN" sz="2400" dirty="0">
                <a:latin typeface="Trebuchet MS" panose="020B0603020202020204" pitchFamily="34" charset="0"/>
              </a:rPr>
              <a:t>) forms a ring under matrix addition and matrix multiplication, called the </a:t>
            </a:r>
            <a:r>
              <a:rPr lang="en-US" altLang="zh-CN" sz="2400" b="1" i="1" dirty="0">
                <a:solidFill>
                  <a:srgbClr val="0B61FF"/>
                </a:solidFill>
                <a:latin typeface="Trebuchet MS" panose="020B0603020202020204" pitchFamily="34" charset="0"/>
              </a:rPr>
              <a:t>ring of </a:t>
            </a:r>
            <a:r>
              <a:rPr lang="en-US" altLang="zh-CN" sz="2400" b="1" i="1" dirty="0" err="1">
                <a:solidFill>
                  <a:srgbClr val="0B61FF"/>
                </a:solidFill>
                <a:latin typeface="Trebuchet MS" panose="020B0603020202020204" pitchFamily="34" charset="0"/>
              </a:rPr>
              <a:t>n</a:t>
            </a:r>
            <a:r>
              <a:rPr lang="en-US" altLang="zh-CN" sz="2400" b="1" dirty="0" err="1">
                <a:solidFill>
                  <a:srgbClr val="0B61FF"/>
                </a:solidFill>
                <a:latin typeface="Trebuchet MS" panose="020B0603020202020204" pitchFamily="34" charset="0"/>
              </a:rPr>
              <a:t>×</a:t>
            </a:r>
            <a:r>
              <a:rPr lang="en-US" altLang="zh-CN" sz="2400" b="1" i="1" dirty="0" err="1">
                <a:solidFill>
                  <a:srgbClr val="0B61FF"/>
                </a:solidFill>
                <a:latin typeface="Trebuchet MS" panose="020B0603020202020204" pitchFamily="34" charset="0"/>
              </a:rPr>
              <a:t>n</a:t>
            </a:r>
            <a:r>
              <a:rPr lang="en-US" altLang="zh-CN" sz="2400" b="1" dirty="0">
                <a:solidFill>
                  <a:srgbClr val="0B61FF"/>
                </a:solidFill>
                <a:latin typeface="Trebuchet MS" panose="020B0603020202020204" pitchFamily="34" charset="0"/>
              </a:rPr>
              <a:t> </a:t>
            </a:r>
            <a:r>
              <a:rPr lang="en-US" altLang="zh-CN" sz="2400" b="1" i="1" dirty="0">
                <a:solidFill>
                  <a:srgbClr val="0B61FF"/>
                </a:solidFill>
                <a:latin typeface="Trebuchet MS" panose="020B0603020202020204" pitchFamily="34" charset="0"/>
              </a:rPr>
              <a:t>real matrices</a:t>
            </a:r>
            <a:r>
              <a:rPr lang="en-US" altLang="zh-CN" sz="2400" dirty="0">
                <a:latin typeface="Trebuchet MS" panose="020B0603020202020204" pitchFamily="34" charset="0"/>
              </a:rPr>
              <a:t>.</a:t>
            </a:r>
          </a:p>
          <a:p>
            <a:pPr marL="627063" indent="-449263">
              <a:lnSpc>
                <a:spcPct val="110000"/>
              </a:lnSpc>
              <a:spcBef>
                <a:spcPts val="300"/>
              </a:spcBef>
              <a:buNone/>
            </a:pPr>
            <a:r>
              <a:rPr lang="en-US" altLang="zh-CN" sz="2400" b="1" dirty="0">
                <a:solidFill>
                  <a:srgbClr val="0B61FF"/>
                </a:solidFill>
                <a:latin typeface="Trebuchet MS" panose="020B0603020202020204" pitchFamily="34" charset="0"/>
              </a:rPr>
              <a:t>(3) </a:t>
            </a:r>
            <a:r>
              <a:rPr lang="en-US" altLang="zh-CN" sz="2400" dirty="0">
                <a:latin typeface="Trebuchet MS" panose="020B0603020202020204" pitchFamily="34" charset="0"/>
              </a:rPr>
              <a:t>Let </a:t>
            </a:r>
            <a:r>
              <a:rPr lang="en-US" altLang="zh-CN" sz="2400" b="1" i="1" dirty="0">
                <a:latin typeface="Trebuchet MS" panose="020B0603020202020204" pitchFamily="34" charset="0"/>
              </a:rPr>
              <a:t>Z</a:t>
            </a:r>
            <a:r>
              <a:rPr lang="en-US" altLang="zh-CN" sz="2400" b="1" i="1" baseline="-25000" dirty="0">
                <a:latin typeface="Trebuchet MS" panose="020B0603020202020204" pitchFamily="34" charset="0"/>
              </a:rPr>
              <a:t>n</a:t>
            </a:r>
            <a:r>
              <a:rPr lang="en-US" altLang="zh-CN" sz="2400" b="1" dirty="0">
                <a:latin typeface="Trebuchet MS" panose="020B0603020202020204" pitchFamily="34" charset="0"/>
              </a:rPr>
              <a:t>={0,1,...,n−1}, </a:t>
            </a:r>
            <a:r>
              <a:rPr lang="en-US" altLang="zh-CN" sz="2400" dirty="0">
                <a:latin typeface="Trebuchet MS" panose="020B0603020202020204" pitchFamily="34" charset="0"/>
              </a:rPr>
              <a:t>where </a:t>
            </a:r>
            <a:r>
              <a:rPr lang="en-US" altLang="zh-CN" sz="2400" b="1" dirty="0">
                <a:latin typeface="Trebuchet MS" panose="020B0603020202020204" pitchFamily="34" charset="0"/>
              </a:rPr>
              <a:t>⊕</a:t>
            </a:r>
            <a:r>
              <a:rPr lang="en-US" altLang="zh-CN" sz="2400" dirty="0">
                <a:latin typeface="Trebuchet MS" panose="020B0603020202020204" pitchFamily="34" charset="0"/>
              </a:rPr>
              <a:t> and </a:t>
            </a:r>
            <a:r>
              <a:rPr lang="en-US" altLang="zh-CN" sz="2400" b="1" dirty="0">
                <a:latin typeface="Trebuchet MS" panose="020B0603020202020204" pitchFamily="34" charset="0"/>
              </a:rPr>
              <a:t>⊗</a:t>
            </a:r>
            <a:r>
              <a:rPr lang="en-US" altLang="zh-CN" sz="2400" dirty="0">
                <a:latin typeface="Trebuchet MS" panose="020B0603020202020204" pitchFamily="34" charset="0"/>
              </a:rPr>
              <a:t> denote addition and multiplication modulo </a:t>
            </a:r>
            <a:r>
              <a:rPr lang="en-US" altLang="zh-CN" sz="2400" b="1" i="1" dirty="0">
                <a:latin typeface="Trebuchet MS" panose="020B0603020202020204" pitchFamily="34" charset="0"/>
              </a:rPr>
              <a:t>n</a:t>
            </a:r>
            <a:r>
              <a:rPr lang="en-US" altLang="zh-CN" sz="2400" dirty="0">
                <a:latin typeface="Trebuchet MS" panose="020B0603020202020204" pitchFamily="34" charset="0"/>
              </a:rPr>
              <a:t>, respectively. Then </a:t>
            </a:r>
            <a:r>
              <a:rPr lang="en-US" altLang="zh-CN" sz="2400" b="1" dirty="0">
                <a:solidFill>
                  <a:srgbClr val="FF0000"/>
                </a:solidFill>
                <a:latin typeface="Trebuchet MS" panose="020B0603020202020204" pitchFamily="34" charset="0"/>
              </a:rPr>
              <a:t>⟨</a:t>
            </a:r>
            <a:r>
              <a:rPr lang="en-US" altLang="zh-CN" sz="2400" b="1" i="1" dirty="0">
                <a:solidFill>
                  <a:srgbClr val="FF0000"/>
                </a:solidFill>
                <a:latin typeface="Trebuchet MS" panose="020B0603020202020204" pitchFamily="34" charset="0"/>
              </a:rPr>
              <a:t> Z</a:t>
            </a:r>
            <a:r>
              <a:rPr lang="en-US" altLang="zh-CN" sz="2400" b="1" i="1" baseline="-25000" dirty="0">
                <a:solidFill>
                  <a:srgbClr val="FF0000"/>
                </a:solidFill>
                <a:latin typeface="Trebuchet MS" panose="020B0603020202020204" pitchFamily="34" charset="0"/>
              </a:rPr>
              <a:t>n</a:t>
            </a:r>
            <a:r>
              <a:rPr lang="en-US" altLang="zh-CN" sz="2400" b="1" dirty="0">
                <a:solidFill>
                  <a:srgbClr val="FF0000"/>
                </a:solidFill>
                <a:latin typeface="Trebuchet MS" panose="020B0603020202020204" pitchFamily="34" charset="0"/>
              </a:rPr>
              <a:t>,⊕,⊗⟩ </a:t>
            </a:r>
            <a:r>
              <a:rPr lang="en-US" altLang="zh-CN" sz="2400" dirty="0">
                <a:latin typeface="Trebuchet MS" panose="020B0603020202020204" pitchFamily="34" charset="0"/>
              </a:rPr>
              <a:t>forms a ring called the </a:t>
            </a:r>
            <a:r>
              <a:rPr lang="en-US" altLang="zh-CN" sz="2400" b="1" i="1" dirty="0">
                <a:solidFill>
                  <a:srgbClr val="0B61FF"/>
                </a:solidFill>
                <a:latin typeface="Trebuchet MS" panose="020B0603020202020204" pitchFamily="34" charset="0"/>
              </a:rPr>
              <a:t>ring of integers modulo n</a:t>
            </a:r>
            <a:r>
              <a:rPr lang="en-US" altLang="zh-CN" sz="2400" dirty="0">
                <a:latin typeface="Trebuchet MS" panose="020B0603020202020204" pitchFamily="34" charset="0"/>
              </a:rPr>
              <a:t>.</a:t>
            </a:r>
          </a:p>
          <a:p>
            <a:pPr marL="627063" indent="-449263">
              <a:lnSpc>
                <a:spcPct val="110000"/>
              </a:lnSpc>
              <a:spcBef>
                <a:spcPts val="300"/>
              </a:spcBef>
              <a:buNone/>
            </a:pPr>
            <a:r>
              <a:rPr lang="en-US" altLang="zh-CN" sz="2400" b="1" dirty="0">
                <a:solidFill>
                  <a:srgbClr val="0B61FF"/>
                </a:solidFill>
                <a:latin typeface="Trebuchet MS" panose="020B0603020202020204" pitchFamily="34" charset="0"/>
              </a:rPr>
              <a:t>(4) </a:t>
            </a:r>
            <a:r>
              <a:rPr lang="en-US" altLang="zh-CN" sz="2400" dirty="0">
                <a:latin typeface="Trebuchet MS" panose="020B0603020202020204" pitchFamily="34" charset="0"/>
              </a:rPr>
              <a:t>The power set </a:t>
            </a:r>
            <a:r>
              <a:rPr lang="en-US" altLang="zh-CN" sz="2400" b="1" i="1" dirty="0">
                <a:latin typeface="Trebuchet MS" panose="020B0603020202020204" pitchFamily="34" charset="0"/>
              </a:rPr>
              <a:t>P</a:t>
            </a:r>
            <a:r>
              <a:rPr lang="en-US" altLang="zh-CN" sz="2400" b="1" dirty="0">
                <a:latin typeface="Trebuchet MS" panose="020B0603020202020204" pitchFamily="34" charset="0"/>
              </a:rPr>
              <a:t>(</a:t>
            </a:r>
            <a:r>
              <a:rPr lang="en-US" altLang="zh-CN" sz="2400" b="1" i="1" dirty="0">
                <a:latin typeface="Trebuchet MS" panose="020B0603020202020204" pitchFamily="34" charset="0"/>
              </a:rPr>
              <a:t>B</a:t>
            </a:r>
            <a:r>
              <a:rPr lang="en-US" altLang="zh-CN" sz="2400" b="1" dirty="0">
                <a:latin typeface="Trebuchet MS" panose="020B0603020202020204" pitchFamily="34" charset="0"/>
              </a:rPr>
              <a:t>) </a:t>
            </a:r>
            <a:r>
              <a:rPr lang="en-US" altLang="zh-CN" sz="2400" dirty="0">
                <a:latin typeface="Trebuchet MS" panose="020B0603020202020204" pitchFamily="34" charset="0"/>
              </a:rPr>
              <a:t>of a set </a:t>
            </a:r>
            <a:r>
              <a:rPr lang="en-US" altLang="zh-CN" sz="2400" b="1" i="1" dirty="0">
                <a:latin typeface="Trebuchet MS" panose="020B0603020202020204" pitchFamily="34" charset="0"/>
              </a:rPr>
              <a:t>B</a:t>
            </a:r>
            <a:r>
              <a:rPr lang="en-US" altLang="zh-CN" sz="2400" dirty="0">
                <a:latin typeface="Trebuchet MS" panose="020B0603020202020204" pitchFamily="34" charset="0"/>
              </a:rPr>
              <a:t> forms a ring under the symmetric difference operation </a:t>
            </a:r>
            <a:r>
              <a:rPr lang="en-US" altLang="zh-CN" sz="2400" b="1" dirty="0">
                <a:latin typeface="Trebuchet MS" panose="020B0603020202020204" pitchFamily="34" charset="0"/>
              </a:rPr>
              <a:t>⊕</a:t>
            </a:r>
            <a:r>
              <a:rPr lang="en-US" altLang="zh-CN" sz="2400" dirty="0">
                <a:latin typeface="Trebuchet MS" panose="020B0603020202020204" pitchFamily="34" charset="0"/>
              </a:rPr>
              <a:t> and the intersection operation </a:t>
            </a:r>
            <a:r>
              <a:rPr lang="en-US" altLang="zh-CN" sz="2400" b="1" dirty="0">
                <a:latin typeface="Trebuchet MS" panose="020B0603020202020204" pitchFamily="34" charset="0"/>
              </a:rPr>
              <a:t>∩</a:t>
            </a:r>
            <a:r>
              <a:rPr lang="en-US" altLang="zh-CN" sz="2400" dirty="0">
                <a:latin typeface="Trebuchet MS" panose="020B0603020202020204" pitchFamily="34" charset="0"/>
              </a:rPr>
              <a:t>.</a:t>
            </a: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22760469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1000"/>
                                        <p:tgtEl>
                                          <p:spTgt spid="11">
                                            <p:txEl>
                                              <p:pRg st="2" end="2"/>
                                            </p:txEl>
                                          </p:spTgt>
                                        </p:tgtEl>
                                      </p:cBhvr>
                                    </p:animEffect>
                                    <p:anim calcmode="lin" valueType="num">
                                      <p:cBhvr>
                                        <p:cTn id="8"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3" end="3"/>
                                            </p:txEl>
                                          </p:spTgt>
                                        </p:tgtEl>
                                        <p:attrNameLst>
                                          <p:attrName>style.visibility</p:attrName>
                                        </p:attrNameLst>
                                      </p:cBhvr>
                                      <p:to>
                                        <p:strVal val="visible"/>
                                      </p:to>
                                    </p:set>
                                    <p:animEffect transition="in" filter="fade">
                                      <p:cBhvr>
                                        <p:cTn id="14" dur="1000"/>
                                        <p:tgtEl>
                                          <p:spTgt spid="11">
                                            <p:txEl>
                                              <p:pRg st="3" end="3"/>
                                            </p:txEl>
                                          </p:spTgt>
                                        </p:tgtEl>
                                      </p:cBhvr>
                                    </p:animEffect>
                                    <p:anim calcmode="lin" valueType="num">
                                      <p:cBhvr>
                                        <p:cTn id="15"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fade">
                                      <p:cBhvr>
                                        <p:cTn id="21" dur="1000"/>
                                        <p:tgtEl>
                                          <p:spTgt spid="11">
                                            <p:txEl>
                                              <p:pRg st="4" end="4"/>
                                            </p:txEl>
                                          </p:spTgt>
                                        </p:tgtEl>
                                      </p:cBhvr>
                                    </p:animEffect>
                                    <p:anim calcmode="lin" valueType="num">
                                      <p:cBhvr>
                                        <p:cTn id="22"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9.3.3 Rings and Fields</a:t>
            </a:r>
          </a:p>
          <a:p>
            <a:r>
              <a:rPr lang="en-US" altLang="zh-CN" sz="20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Commutative, unital, and zero-divisor-free rings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sp>
        <p:nvSpPr>
          <p:cNvPr id="10" name="Rectangle 5">
            <a:extLst>
              <a:ext uri="{FF2B5EF4-FFF2-40B4-BE49-F238E27FC236}">
                <a16:creationId xmlns:a16="http://schemas.microsoft.com/office/drawing/2014/main" id="{FBA85CA3-41D1-4CC9-AF77-611C2B2993A9}"/>
              </a:ext>
            </a:extLst>
          </p:cNvPr>
          <p:cNvSpPr>
            <a:spLocks noChangeArrowheads="1"/>
          </p:cNvSpPr>
          <p:nvPr/>
        </p:nvSpPr>
        <p:spPr bwMode="auto">
          <a:xfrm>
            <a:off x="1000125" y="725986"/>
            <a:ext cx="8579481" cy="5247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eaLnBrk="1" hangingPunct="1">
              <a:lnSpc>
                <a:spcPct val="120000"/>
              </a:lnSpc>
              <a:spcBef>
                <a:spcPts val="300"/>
              </a:spcBef>
              <a:buClr>
                <a:srgbClr val="0B61FF"/>
              </a:buClr>
              <a:buSzPct val="80000"/>
              <a:buFont typeface="Wingdings" panose="05000000000000000000" pitchFamily="2" charset="2"/>
              <a:buChar char="n"/>
            </a:pPr>
            <a:r>
              <a:rPr lang="en-US" altLang="zh-CN" sz="2400" dirty="0">
                <a:solidFill>
                  <a:schemeClr val="tx1"/>
                </a:solidFill>
                <a:latin typeface="Trebuchet MS" panose="020B0603020202020204" pitchFamily="34" charset="0"/>
              </a:rPr>
              <a:t>In a ring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&lt;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,+,·&gt;</a:t>
            </a:r>
          </a:p>
          <a:p>
            <a:pPr marL="342900" indent="-165100" eaLnBrk="1" hangingPunct="1">
              <a:lnSpc>
                <a:spcPct val="120000"/>
              </a:lnSpc>
              <a:spcBef>
                <a:spcPts val="300"/>
              </a:spcBef>
              <a:buClr>
                <a:srgbClr val="0B61FF"/>
              </a:buClr>
              <a:buSzPct val="120000"/>
              <a:buFont typeface="Arial" panose="020B0604020202020204" pitchFamily="34" charset="0"/>
              <a:buChar char="•"/>
            </a:pPr>
            <a:r>
              <a:rPr lang="zh-CN" altLang="zh-CN" sz="2400" dirty="0">
                <a:solidFill>
                  <a:schemeClr val="tx1"/>
                </a:solidFill>
                <a:latin typeface="Trebuchet MS" panose="020B0603020202020204" pitchFamily="34" charset="0"/>
              </a:rPr>
              <a:t>If multiplication (</a:t>
            </a:r>
            <a:r>
              <a:rPr lang="zh-CN" altLang="zh-CN" sz="2400" b="1" dirty="0">
                <a:solidFill>
                  <a:schemeClr val="tx1"/>
                </a:solidFill>
                <a:latin typeface="Trebuchet MS" panose="020B0603020202020204" pitchFamily="34" charset="0"/>
              </a:rPr>
              <a:t>⋅</a:t>
            </a:r>
            <a:r>
              <a:rPr lang="zh-CN" altLang="zh-CN" sz="2400" dirty="0">
                <a:solidFill>
                  <a:schemeClr val="tx1"/>
                </a:solidFill>
                <a:latin typeface="Trebuchet MS" panose="020B0603020202020204" pitchFamily="34" charset="0"/>
              </a:rPr>
              <a:t>) is commutative, then </a:t>
            </a:r>
            <a:r>
              <a:rPr lang="en-US" altLang="zh-CN" sz="2400" b="1" i="1" dirty="0">
                <a:solidFill>
                  <a:schemeClr val="tx1"/>
                </a:solidFill>
                <a:latin typeface="Trebuchet MS" panose="020B0603020202020204" pitchFamily="34" charset="0"/>
                <a:cs typeface="Times New Roman" panose="02020603050405020304" pitchFamily="18" charset="0"/>
              </a:rPr>
              <a:t>R</a:t>
            </a:r>
            <a:r>
              <a:rPr lang="en-US" altLang="zh-CN" sz="2400" dirty="0">
                <a:solidFill>
                  <a:schemeClr val="tx1"/>
                </a:solidFill>
                <a:latin typeface="Trebuchet MS" panose="020B0603020202020204" pitchFamily="34" charset="0"/>
              </a:rPr>
              <a:t> </a:t>
            </a:r>
            <a:r>
              <a:rPr lang="zh-CN" altLang="zh-CN" sz="2400" dirty="0">
                <a:solidFill>
                  <a:schemeClr val="tx1"/>
                </a:solidFill>
                <a:latin typeface="Trebuchet MS" panose="020B0603020202020204" pitchFamily="34" charset="0"/>
              </a:rPr>
              <a:t> is called a </a:t>
            </a:r>
            <a:r>
              <a:rPr lang="zh-CN" altLang="zh-CN" sz="2400" b="1" i="1" dirty="0">
                <a:solidFill>
                  <a:srgbClr val="0B61FF"/>
                </a:solidFill>
                <a:latin typeface="Trebuchet MS" panose="020B0603020202020204" pitchFamily="34" charset="0"/>
              </a:rPr>
              <a:t>commutative ring</a:t>
            </a:r>
            <a:r>
              <a:rPr lang="zh-CN" altLang="zh-CN" sz="2400" dirty="0">
                <a:solidFill>
                  <a:schemeClr val="tx1"/>
                </a:solidFill>
                <a:latin typeface="Trebuchet MS" panose="020B0603020202020204" pitchFamily="34" charset="0"/>
              </a:rPr>
              <a:t>.</a:t>
            </a:r>
            <a:endParaRPr lang="en-US" altLang="zh-CN" sz="2400" dirty="0">
              <a:solidFill>
                <a:schemeClr val="tx1"/>
              </a:solidFill>
              <a:latin typeface="Trebuchet MS" panose="020B0603020202020204" pitchFamily="34" charset="0"/>
            </a:endParaRPr>
          </a:p>
          <a:p>
            <a:pPr marL="342900" indent="-165100" eaLnBrk="1" hangingPunct="1">
              <a:lnSpc>
                <a:spcPct val="120000"/>
              </a:lnSpc>
              <a:spcBef>
                <a:spcPts val="300"/>
              </a:spcBef>
              <a:buClr>
                <a:srgbClr val="0B61FF"/>
              </a:buClr>
              <a:buSzPct val="120000"/>
              <a:buFont typeface="Arial" panose="020B0604020202020204" pitchFamily="34" charset="0"/>
              <a:buChar char="•"/>
            </a:pPr>
            <a:r>
              <a:rPr lang="zh-CN" altLang="zh-CN" sz="2400" dirty="0">
                <a:solidFill>
                  <a:schemeClr val="tx1"/>
                </a:solidFill>
                <a:latin typeface="Trebuchet MS" panose="020B0603020202020204" pitchFamily="34" charset="0"/>
              </a:rPr>
              <a:t>If there exists a multiplicative identity for ⋅</a:t>
            </a:r>
            <a:r>
              <a:rPr lang="en-US" altLang="zh-CN" sz="2400" dirty="0">
                <a:solidFill>
                  <a:schemeClr val="tx1"/>
                </a:solidFill>
                <a:latin typeface="Trebuchet MS" panose="020B0603020202020204" pitchFamily="34" charset="0"/>
              </a:rPr>
              <a:t> </a:t>
            </a:r>
            <a:r>
              <a:rPr lang="zh-CN" altLang="zh-CN" sz="2400" dirty="0">
                <a:solidFill>
                  <a:schemeClr val="tx1"/>
                </a:solidFill>
                <a:latin typeface="Trebuchet MS" panose="020B0603020202020204" pitchFamily="34" charset="0"/>
              </a:rPr>
              <a:t>, then </a:t>
            </a:r>
            <a:r>
              <a:rPr lang="en-US" altLang="zh-CN" sz="2400" b="1" i="1" dirty="0">
                <a:solidFill>
                  <a:schemeClr val="tx1"/>
                </a:solidFill>
                <a:latin typeface="Trebuchet MS" panose="020B0603020202020204" pitchFamily="34" charset="0"/>
                <a:cs typeface="Times New Roman" panose="02020603050405020304" pitchFamily="18" charset="0"/>
              </a:rPr>
              <a:t>R</a:t>
            </a:r>
            <a:r>
              <a:rPr lang="zh-CN" altLang="zh-CN" sz="2400" dirty="0">
                <a:solidFill>
                  <a:schemeClr val="tx1"/>
                </a:solidFill>
                <a:latin typeface="Trebuchet MS" panose="020B0603020202020204" pitchFamily="34" charset="0"/>
              </a:rPr>
              <a:t> is called a </a:t>
            </a:r>
            <a:r>
              <a:rPr lang="zh-CN" altLang="zh-CN" sz="2400" b="1" i="1" dirty="0">
                <a:solidFill>
                  <a:srgbClr val="0B61FF"/>
                </a:solidFill>
                <a:latin typeface="Trebuchet MS" panose="020B0603020202020204" pitchFamily="34" charset="0"/>
              </a:rPr>
              <a:t>ring with identity</a:t>
            </a:r>
            <a:r>
              <a:rPr lang="zh-CN" altLang="zh-CN" sz="2400" i="1" dirty="0">
                <a:solidFill>
                  <a:srgbClr val="0B61FF"/>
                </a:solidFill>
                <a:latin typeface="Trebuchet MS" panose="020B0603020202020204" pitchFamily="34" charset="0"/>
              </a:rPr>
              <a:t> </a:t>
            </a:r>
            <a:r>
              <a:rPr lang="zh-CN" altLang="zh-CN" sz="2400" dirty="0">
                <a:solidFill>
                  <a:schemeClr val="tx1"/>
                </a:solidFill>
                <a:latin typeface="Trebuchet MS" panose="020B0603020202020204" pitchFamily="34" charset="0"/>
              </a:rPr>
              <a:t>(or </a:t>
            </a:r>
            <a:r>
              <a:rPr lang="zh-CN" altLang="zh-CN" sz="2400" b="1" i="1" dirty="0">
                <a:solidFill>
                  <a:srgbClr val="0B61FF"/>
                </a:solidFill>
                <a:latin typeface="Trebuchet MS" panose="020B0603020202020204" pitchFamily="34" charset="0"/>
              </a:rPr>
              <a:t>unit ring</a:t>
            </a:r>
            <a:r>
              <a:rPr lang="zh-CN" altLang="zh-CN" sz="2400" dirty="0">
                <a:solidFill>
                  <a:schemeClr val="tx1"/>
                </a:solidFill>
                <a:latin typeface="Trebuchet MS" panose="020B0603020202020204" pitchFamily="34" charset="0"/>
              </a:rPr>
              <a:t>).</a:t>
            </a:r>
            <a:endParaRPr lang="en-US" altLang="zh-CN" sz="2400" dirty="0">
              <a:solidFill>
                <a:schemeClr val="tx1"/>
              </a:solidFill>
              <a:latin typeface="Trebuchet MS" panose="020B0603020202020204" pitchFamily="34" charset="0"/>
            </a:endParaRPr>
          </a:p>
          <a:p>
            <a:pPr marL="342900" indent="-165100" eaLnBrk="1" hangingPunct="1">
              <a:lnSpc>
                <a:spcPct val="120000"/>
              </a:lnSpc>
              <a:spcBef>
                <a:spcPts val="300"/>
              </a:spcBef>
              <a:buClr>
                <a:srgbClr val="0B61FF"/>
              </a:buClr>
              <a:buSzPct val="120000"/>
              <a:buFont typeface="Arial" panose="020B0604020202020204" pitchFamily="34" charset="0"/>
              <a:buChar char="•"/>
            </a:pPr>
            <a:r>
              <a:rPr lang="zh-CN" altLang="zh-CN" sz="2400" dirty="0">
                <a:solidFill>
                  <a:schemeClr val="tx1"/>
                </a:solidFill>
                <a:latin typeface="Trebuchet MS" panose="020B0603020202020204" pitchFamily="34" charset="0"/>
              </a:rPr>
              <a:t>If there exist elements </a:t>
            </a:r>
            <a:r>
              <a:rPr lang="en-US" altLang="zh-CN" sz="2400" b="1" i="1" dirty="0">
                <a:solidFill>
                  <a:schemeClr val="tx1"/>
                </a:solidFill>
                <a:latin typeface="Trebuchet MS" panose="020B0603020202020204" pitchFamily="34" charset="0"/>
              </a:rPr>
              <a:t>a</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b="1" i="1" dirty="0" err="1">
                <a:solidFill>
                  <a:schemeClr val="tx1"/>
                </a:solidFill>
                <a:latin typeface="Trebuchet MS" panose="020B0603020202020204" pitchFamily="34" charset="0"/>
                <a:sym typeface="Symbol" panose="05050102010706020507" pitchFamily="18" charset="2"/>
              </a:rPr>
              <a:t>b</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R</a:t>
            </a:r>
            <a:r>
              <a:rPr lang="en-US" altLang="zh-CN" sz="2400" b="1" i="1" dirty="0">
                <a:solidFill>
                  <a:schemeClr val="tx1"/>
                </a:solidFill>
                <a:latin typeface="Trebuchet MS" panose="020B0603020202020204" pitchFamily="34" charset="0"/>
                <a:sym typeface="Symbol" panose="05050102010706020507" pitchFamily="18" charset="2"/>
              </a:rPr>
              <a:t>  </a:t>
            </a:r>
            <a:r>
              <a:rPr lang="zh-CN" altLang="zh-CN" sz="2400" dirty="0">
                <a:solidFill>
                  <a:schemeClr val="tx1"/>
                </a:solidFill>
                <a:latin typeface="Trebuchet MS" panose="020B0603020202020204" pitchFamily="34" charset="0"/>
              </a:rPr>
              <a:t>such that </a:t>
            </a:r>
            <a:r>
              <a:rPr lang="zh-CN" altLang="zh-CN" sz="2400" b="1" i="1" dirty="0">
                <a:solidFill>
                  <a:schemeClr val="tx1"/>
                </a:solidFill>
                <a:latin typeface="Trebuchet MS" panose="020B0603020202020204" pitchFamily="34" charset="0"/>
              </a:rPr>
              <a:t>a</a:t>
            </a:r>
            <a:r>
              <a:rPr lang="zh-CN" altLang="zh-CN" sz="2400" b="1" dirty="0">
                <a:solidFill>
                  <a:schemeClr val="tx1"/>
                </a:solidFill>
                <a:latin typeface="Trebuchet MS" panose="020B0603020202020204" pitchFamily="34" charset="0"/>
              </a:rPr>
              <a:t>≠0</a:t>
            </a:r>
            <a:r>
              <a:rPr lang="en-US" altLang="zh-CN" sz="2400" dirty="0">
                <a:solidFill>
                  <a:schemeClr val="tx1"/>
                </a:solidFill>
                <a:latin typeface="Trebuchet MS" panose="020B0603020202020204" pitchFamily="34" charset="0"/>
              </a:rPr>
              <a:t>, </a:t>
            </a:r>
            <a:r>
              <a:rPr lang="zh-CN" altLang="zh-CN" sz="2400" b="1" i="1" dirty="0">
                <a:solidFill>
                  <a:schemeClr val="tx1"/>
                </a:solidFill>
                <a:latin typeface="Trebuchet MS" panose="020B0603020202020204" pitchFamily="34" charset="0"/>
              </a:rPr>
              <a:t>b≠</a:t>
            </a:r>
            <a:r>
              <a:rPr lang="zh-CN" altLang="zh-CN" sz="2400" b="1" dirty="0">
                <a:solidFill>
                  <a:schemeClr val="tx1"/>
                </a:solidFill>
                <a:latin typeface="Trebuchet MS" panose="020B0603020202020204" pitchFamily="34" charset="0"/>
              </a:rPr>
              <a:t>0</a:t>
            </a:r>
            <a:r>
              <a:rPr lang="en-US" altLang="zh-CN" sz="2400" dirty="0">
                <a:solidFill>
                  <a:schemeClr val="tx1"/>
                </a:solidFill>
                <a:latin typeface="Trebuchet MS" panose="020B0603020202020204" pitchFamily="34" charset="0"/>
              </a:rPr>
              <a:t>, </a:t>
            </a:r>
            <a:r>
              <a:rPr lang="zh-CN" altLang="zh-CN" sz="2400" dirty="0">
                <a:solidFill>
                  <a:schemeClr val="tx1"/>
                </a:solidFill>
                <a:latin typeface="Trebuchet MS" panose="020B0603020202020204" pitchFamily="34" charset="0"/>
              </a:rPr>
              <a:t>but </a:t>
            </a:r>
            <a:r>
              <a:rPr lang="zh-CN" altLang="zh-CN" sz="2400" b="1" i="1" dirty="0">
                <a:solidFill>
                  <a:schemeClr val="tx1"/>
                </a:solidFill>
                <a:latin typeface="Trebuchet MS" panose="020B0603020202020204" pitchFamily="34" charset="0"/>
              </a:rPr>
              <a:t>a</a:t>
            </a:r>
            <a:r>
              <a:rPr lang="zh-CN" altLang="zh-CN" sz="2400" b="1" dirty="0">
                <a:solidFill>
                  <a:schemeClr val="tx1"/>
                </a:solidFill>
                <a:latin typeface="Trebuchet MS" panose="020B0603020202020204" pitchFamily="34" charset="0"/>
              </a:rPr>
              <a:t>⋅</a:t>
            </a:r>
            <a:r>
              <a:rPr lang="zh-CN" altLang="zh-CN" sz="2400" b="1" i="1" dirty="0">
                <a:solidFill>
                  <a:schemeClr val="tx1"/>
                </a:solidFill>
                <a:latin typeface="Trebuchet MS" panose="020B0603020202020204" pitchFamily="34" charset="0"/>
              </a:rPr>
              <a:t>b</a:t>
            </a:r>
            <a:r>
              <a:rPr lang="zh-CN" altLang="zh-CN" sz="2400" b="1" dirty="0">
                <a:solidFill>
                  <a:schemeClr val="tx1"/>
                </a:solidFill>
                <a:latin typeface="Trebuchet MS" panose="020B0603020202020204" pitchFamily="34" charset="0"/>
              </a:rPr>
              <a:t>=0</a:t>
            </a:r>
            <a:r>
              <a:rPr lang="zh-CN" altLang="zh-CN" sz="2400" dirty="0">
                <a:solidFill>
                  <a:schemeClr val="tx1"/>
                </a:solidFill>
                <a:latin typeface="Trebuchet MS" panose="020B0603020202020204" pitchFamily="34" charset="0"/>
              </a:rPr>
              <a:t>, then </a:t>
            </a:r>
            <a:r>
              <a:rPr lang="en-US" altLang="zh-CN" sz="2400" b="1" i="1" dirty="0">
                <a:solidFill>
                  <a:schemeClr val="tx1"/>
                </a:solidFill>
                <a:latin typeface="Trebuchet MS" panose="020B0603020202020204" pitchFamily="34" charset="0"/>
              </a:rPr>
              <a:t>a</a:t>
            </a:r>
            <a:r>
              <a:rPr lang="zh-CN" altLang="zh-CN" sz="2400" dirty="0">
                <a:solidFill>
                  <a:schemeClr val="tx1"/>
                </a:solidFill>
                <a:latin typeface="Trebuchet MS" panose="020B0603020202020204" pitchFamily="34" charset="0"/>
              </a:rPr>
              <a:t> is called a </a:t>
            </a:r>
            <a:r>
              <a:rPr lang="zh-CN" altLang="zh-CN" sz="2400" b="1" i="1" dirty="0">
                <a:solidFill>
                  <a:srgbClr val="0B61FF"/>
                </a:solidFill>
                <a:latin typeface="Trebuchet MS" panose="020B0603020202020204" pitchFamily="34" charset="0"/>
              </a:rPr>
              <a:t>left zero divisor </a:t>
            </a:r>
            <a:r>
              <a:rPr lang="zh-CN" altLang="zh-CN" sz="2400" dirty="0">
                <a:solidFill>
                  <a:schemeClr val="tx1"/>
                </a:solidFill>
                <a:latin typeface="Trebuchet MS" panose="020B0603020202020204" pitchFamily="34" charset="0"/>
              </a:rPr>
              <a:t>and </a:t>
            </a:r>
            <a:r>
              <a:rPr lang="en-US" altLang="zh-CN" sz="2400" b="1" i="1" dirty="0">
                <a:solidFill>
                  <a:schemeClr val="tx1"/>
                </a:solidFill>
                <a:latin typeface="Trebuchet MS" panose="020B0603020202020204" pitchFamily="34" charset="0"/>
                <a:sym typeface="Symbol" panose="05050102010706020507" pitchFamily="18" charset="2"/>
              </a:rPr>
              <a:t>b</a:t>
            </a:r>
            <a:r>
              <a:rPr lang="zh-CN" altLang="zh-CN" sz="2400" dirty="0">
                <a:solidFill>
                  <a:schemeClr val="tx1"/>
                </a:solidFill>
                <a:latin typeface="Trebuchet MS" panose="020B0603020202020204" pitchFamily="34" charset="0"/>
              </a:rPr>
              <a:t> a </a:t>
            </a:r>
            <a:r>
              <a:rPr lang="zh-CN" altLang="zh-CN" sz="2400" b="1" i="1" dirty="0">
                <a:solidFill>
                  <a:srgbClr val="0B61FF"/>
                </a:solidFill>
                <a:latin typeface="Trebuchet MS" panose="020B0603020202020204" pitchFamily="34" charset="0"/>
              </a:rPr>
              <a:t>right zero divisor</a:t>
            </a:r>
            <a:r>
              <a:rPr lang="zh-CN" altLang="zh-CN" sz="2400" dirty="0">
                <a:solidFill>
                  <a:schemeClr val="tx1"/>
                </a:solidFill>
                <a:latin typeface="Trebuchet MS" panose="020B0603020202020204" pitchFamily="34" charset="0"/>
              </a:rPr>
              <a:t> in </a:t>
            </a:r>
            <a:r>
              <a:rPr lang="en-US" altLang="zh-CN" sz="2400" b="1" i="1" dirty="0">
                <a:solidFill>
                  <a:schemeClr val="tx1"/>
                </a:solidFill>
                <a:latin typeface="Trebuchet MS" panose="020B0603020202020204" pitchFamily="34" charset="0"/>
                <a:cs typeface="Times New Roman" panose="02020603050405020304" pitchFamily="18" charset="0"/>
              </a:rPr>
              <a:t>R</a:t>
            </a:r>
            <a:r>
              <a:rPr lang="zh-CN" altLang="zh-CN" sz="2400" dirty="0">
                <a:solidFill>
                  <a:schemeClr val="tx1"/>
                </a:solidFill>
                <a:latin typeface="Trebuchet MS" panose="020B0603020202020204" pitchFamily="34" charset="0"/>
              </a:rPr>
              <a:t>.</a:t>
            </a:r>
            <a:r>
              <a:rPr lang="en-US" altLang="zh-CN" sz="2400" dirty="0"/>
              <a:t> </a:t>
            </a:r>
          </a:p>
          <a:p>
            <a:pPr marL="342900" indent="-165100" eaLnBrk="1" hangingPunct="1">
              <a:lnSpc>
                <a:spcPct val="120000"/>
              </a:lnSpc>
              <a:spcBef>
                <a:spcPts val="300"/>
              </a:spcBef>
              <a:buClr>
                <a:srgbClr val="0B61FF"/>
              </a:buClr>
              <a:buSzPct val="120000"/>
              <a:buFont typeface="Arial" panose="020B0604020202020204" pitchFamily="34" charset="0"/>
              <a:buChar char="•"/>
            </a:pPr>
            <a:r>
              <a:rPr lang="zh-CN" altLang="zh-CN" sz="2400" dirty="0">
                <a:solidFill>
                  <a:schemeClr val="tx1"/>
                </a:solidFill>
                <a:latin typeface="Trebuchet MS" panose="020B0603020202020204" pitchFamily="34" charset="0"/>
              </a:rPr>
              <a:t>A ring that contains no (left or right) zero divisors is called a </a:t>
            </a:r>
            <a:r>
              <a:rPr lang="zh-CN" altLang="zh-CN" sz="2400" b="1" i="1" dirty="0">
                <a:solidFill>
                  <a:srgbClr val="0B61FF"/>
                </a:solidFill>
                <a:latin typeface="Trebuchet MS" panose="020B0603020202020204" pitchFamily="34" charset="0"/>
              </a:rPr>
              <a:t>domain without zero divisors</a:t>
            </a:r>
            <a:r>
              <a:rPr lang="zh-CN" altLang="zh-CN" sz="2400" dirty="0">
                <a:solidFill>
                  <a:schemeClr val="tx1"/>
                </a:solidFill>
                <a:latin typeface="Trebuchet MS" panose="020B0603020202020204" pitchFamily="34" charset="0"/>
              </a:rPr>
              <a:t>, or simply a </a:t>
            </a:r>
            <a:r>
              <a:rPr lang="zh-CN" altLang="zh-CN" sz="2400" b="1" i="1" dirty="0">
                <a:solidFill>
                  <a:srgbClr val="0B61FF"/>
                </a:solidFill>
                <a:latin typeface="Trebuchet MS" panose="020B0603020202020204" pitchFamily="34" charset="0"/>
              </a:rPr>
              <a:t>domain</a:t>
            </a:r>
            <a:r>
              <a:rPr lang="zh-CN" altLang="zh-CN" sz="2400" dirty="0">
                <a:solidFill>
                  <a:schemeClr val="tx1"/>
                </a:solidFill>
                <a:latin typeface="Trebuchet MS" panose="020B0603020202020204" pitchFamily="34" charset="0"/>
              </a:rPr>
              <a:t>.</a:t>
            </a:r>
          </a:p>
        </p:txBody>
      </p:sp>
    </p:spTree>
    <p:extLst>
      <p:ext uri="{BB962C8B-B14F-4D97-AF65-F5344CB8AC3E}">
        <p14:creationId xmlns:p14="http://schemas.microsoft.com/office/powerpoint/2010/main" val="3750536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1000"/>
                                        <p:tgtEl>
                                          <p:spTgt spid="10">
                                            <p:txEl>
                                              <p:pRg st="2" end="2"/>
                                            </p:txEl>
                                          </p:spTgt>
                                        </p:tgtEl>
                                      </p:cBhvr>
                                    </p:animEffect>
                                    <p:anim calcmode="lin" valueType="num">
                                      <p:cBhvr>
                                        <p:cTn id="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3" end="3"/>
                                            </p:txEl>
                                          </p:spTgt>
                                        </p:tgtEl>
                                        <p:attrNameLst>
                                          <p:attrName>style.visibility</p:attrName>
                                        </p:attrNameLst>
                                      </p:cBhvr>
                                      <p:to>
                                        <p:strVal val="visible"/>
                                      </p:to>
                                    </p:set>
                                    <p:animEffect transition="in" filter="fade">
                                      <p:cBhvr>
                                        <p:cTn id="14" dur="1000"/>
                                        <p:tgtEl>
                                          <p:spTgt spid="10">
                                            <p:txEl>
                                              <p:pRg st="3" end="3"/>
                                            </p:txEl>
                                          </p:spTgt>
                                        </p:tgtEl>
                                      </p:cBhvr>
                                    </p:animEffect>
                                    <p:anim calcmode="lin" valueType="num">
                                      <p:cBhvr>
                                        <p:cTn id="15"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fade">
                                      <p:cBhvr>
                                        <p:cTn id="21" dur="1000"/>
                                        <p:tgtEl>
                                          <p:spTgt spid="10">
                                            <p:txEl>
                                              <p:pRg st="4" end="4"/>
                                            </p:txEl>
                                          </p:spTgt>
                                        </p:tgtEl>
                                      </p:cBhvr>
                                    </p:animEffect>
                                    <p:anim calcmode="lin" valueType="num">
                                      <p:cBhvr>
                                        <p:cTn id="22"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9.3.3 Rings and Fields</a:t>
            </a:r>
          </a:p>
          <a:p>
            <a:r>
              <a:rPr lang="en-US" altLang="zh-CN" sz="20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Commutative, unital, and zero-divisor-free rings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9877336"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1023257" y="957942"/>
            <a:ext cx="8268620" cy="5059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endParaRPr lang="en-US" altLang="zh-CN" b="1" dirty="0"/>
          </a:p>
        </p:txBody>
      </p:sp>
      <p:graphicFrame>
        <p:nvGraphicFramePr>
          <p:cNvPr id="11" name="表格 3">
            <a:extLst>
              <a:ext uri="{FF2B5EF4-FFF2-40B4-BE49-F238E27FC236}">
                <a16:creationId xmlns:a16="http://schemas.microsoft.com/office/drawing/2014/main" id="{615E7446-C185-4EB6-B4DA-B601C04B50D4}"/>
              </a:ext>
            </a:extLst>
          </p:cNvPr>
          <p:cNvGraphicFramePr>
            <a:graphicFrameLocks noGrp="1"/>
          </p:cNvGraphicFramePr>
          <p:nvPr/>
        </p:nvGraphicFramePr>
        <p:xfrm>
          <a:off x="912403" y="925286"/>
          <a:ext cx="10256339" cy="3992880"/>
        </p:xfrm>
        <a:graphic>
          <a:graphicData uri="http://schemas.openxmlformats.org/drawingml/2006/table">
            <a:tbl>
              <a:tblPr firstRow="1" bandRow="1">
                <a:tableStyleId>{5C22544A-7EE6-4342-B048-85BDC9FD1C3A}</a:tableStyleId>
              </a:tblPr>
              <a:tblGrid>
                <a:gridCol w="2141348">
                  <a:extLst>
                    <a:ext uri="{9D8B030D-6E8A-4147-A177-3AD203B41FA5}">
                      <a16:colId xmlns:a16="http://schemas.microsoft.com/office/drawing/2014/main" val="3182249620"/>
                    </a:ext>
                  </a:extLst>
                </a:gridCol>
                <a:gridCol w="1823049">
                  <a:extLst>
                    <a:ext uri="{9D8B030D-6E8A-4147-A177-3AD203B41FA5}">
                      <a16:colId xmlns:a16="http://schemas.microsoft.com/office/drawing/2014/main" val="4117855741"/>
                    </a:ext>
                  </a:extLst>
                </a:gridCol>
                <a:gridCol w="3456317">
                  <a:extLst>
                    <a:ext uri="{9D8B030D-6E8A-4147-A177-3AD203B41FA5}">
                      <a16:colId xmlns:a16="http://schemas.microsoft.com/office/drawing/2014/main" val="4250211998"/>
                    </a:ext>
                  </a:extLst>
                </a:gridCol>
                <a:gridCol w="2835625">
                  <a:extLst>
                    <a:ext uri="{9D8B030D-6E8A-4147-A177-3AD203B41FA5}">
                      <a16:colId xmlns:a16="http://schemas.microsoft.com/office/drawing/2014/main" val="420357816"/>
                    </a:ext>
                  </a:extLst>
                </a:gridCol>
              </a:tblGrid>
              <a:tr h="347863">
                <a:tc>
                  <a:txBody>
                    <a:bodyPr/>
                    <a:lstStyle/>
                    <a:p>
                      <a:pPr algn="ctr"/>
                      <a:r>
                        <a:rPr lang="en-US" altLang="zh-CN" sz="2000" dirty="0">
                          <a:solidFill>
                            <a:schemeClr val="tx1"/>
                          </a:solidFill>
                          <a:latin typeface="Trebuchet MS" panose="020B0603020202020204" pitchFamily="34" charset="0"/>
                        </a:rPr>
                        <a:t>Ring</a:t>
                      </a:r>
                      <a:endParaRPr lang="zh-CN" altLang="en-US" sz="2000" dirty="0">
                        <a:solidFill>
                          <a:schemeClr val="tx1"/>
                        </a:solidFill>
                        <a:latin typeface="Trebuchet MS" panose="020B0603020202020204" pitchFamily="34" charset="0"/>
                      </a:endParaRPr>
                    </a:p>
                  </a:txBody>
                  <a:tcPr anchor="ctr">
                    <a:solidFill>
                      <a:schemeClr val="accent1">
                        <a:lumMod val="40000"/>
                        <a:lumOff val="60000"/>
                      </a:schemeClr>
                    </a:solidFill>
                  </a:tcPr>
                </a:tc>
                <a:tc>
                  <a:txBody>
                    <a:bodyPr/>
                    <a:lstStyle/>
                    <a:p>
                      <a:pPr algn="ctr"/>
                      <a:r>
                        <a:rPr lang="en-US" altLang="zh-CN" sz="2000" b="1" dirty="0">
                          <a:solidFill>
                            <a:schemeClr val="tx1"/>
                          </a:solidFill>
                          <a:latin typeface="Trebuchet MS" panose="020B0603020202020204" pitchFamily="34" charset="0"/>
                        </a:rPr>
                        <a:t>Commutative Ring</a:t>
                      </a:r>
                      <a:endParaRPr lang="en-US" altLang="zh-CN" sz="2000" dirty="0">
                        <a:solidFill>
                          <a:schemeClr val="tx1"/>
                        </a:solidFill>
                        <a:latin typeface="Trebuchet MS" panose="020B0603020202020204" pitchFamily="34" charset="0"/>
                      </a:endParaRPr>
                    </a:p>
                  </a:txBody>
                  <a:tcPr anchor="ctr">
                    <a:solidFill>
                      <a:schemeClr val="accent1">
                        <a:lumMod val="40000"/>
                        <a:lumOff val="60000"/>
                      </a:schemeClr>
                    </a:solidFill>
                  </a:tcPr>
                </a:tc>
                <a:tc>
                  <a:txBody>
                    <a:bodyPr/>
                    <a:lstStyle/>
                    <a:p>
                      <a:pPr algn="ctr"/>
                      <a:r>
                        <a:rPr lang="en-US" altLang="zh-CN" sz="2000" dirty="0">
                          <a:solidFill>
                            <a:schemeClr val="tx1"/>
                          </a:solidFill>
                          <a:latin typeface="Trebuchet MS" panose="020B0603020202020204" pitchFamily="34" charset="0"/>
                        </a:rPr>
                        <a:t>Ring with Identity</a:t>
                      </a:r>
                      <a:endParaRPr lang="zh-CN" altLang="en-US" sz="2000" dirty="0">
                        <a:solidFill>
                          <a:schemeClr val="tx1"/>
                        </a:solidFill>
                        <a:latin typeface="Trebuchet MS" panose="020B0603020202020204" pitchFamily="34" charset="0"/>
                      </a:endParaRPr>
                    </a:p>
                  </a:txBody>
                  <a:tcPr anchor="ctr">
                    <a:solidFill>
                      <a:schemeClr val="accent1">
                        <a:lumMod val="40000"/>
                        <a:lumOff val="60000"/>
                      </a:schemeClr>
                    </a:solidFill>
                  </a:tcPr>
                </a:tc>
                <a:tc>
                  <a:txBody>
                    <a:bodyPr/>
                    <a:lstStyle/>
                    <a:p>
                      <a:pPr algn="ctr"/>
                      <a:r>
                        <a:rPr lang="en-US" altLang="zh-CN" sz="2000" b="1" dirty="0">
                          <a:solidFill>
                            <a:schemeClr val="tx1"/>
                          </a:solidFill>
                          <a:latin typeface="Trebuchet MS" panose="020B0603020202020204" pitchFamily="34" charset="0"/>
                        </a:rPr>
                        <a:t>Integral Domain</a:t>
                      </a:r>
                      <a:endParaRPr lang="en-US" altLang="zh-CN" sz="2000" dirty="0">
                        <a:solidFill>
                          <a:schemeClr val="tx1"/>
                        </a:solidFill>
                        <a:latin typeface="Trebuchet MS" panose="020B0603020202020204" pitchFamily="34" charset="0"/>
                      </a:endParaRPr>
                    </a:p>
                  </a:txBody>
                  <a:tcPr anchor="ctr">
                    <a:solidFill>
                      <a:schemeClr val="accent1">
                        <a:lumMod val="40000"/>
                        <a:lumOff val="60000"/>
                      </a:schemeClr>
                    </a:solidFill>
                  </a:tcPr>
                </a:tc>
                <a:extLst>
                  <a:ext uri="{0D108BD9-81ED-4DB2-BD59-A6C34878D82A}">
                    <a16:rowId xmlns:a16="http://schemas.microsoft.com/office/drawing/2014/main" val="1291182988"/>
                  </a:ext>
                </a:extLst>
              </a:tr>
              <a:tr h="347863">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&lt;</a:t>
                      </a:r>
                      <a:r>
                        <a:rPr lang="en-US" altLang="zh-CN" sz="2000" b="1" i="1" dirty="0">
                          <a:solidFill>
                            <a:schemeClr val="tx1"/>
                          </a:solidFill>
                          <a:latin typeface="Trebuchet MS" panose="020B0603020202020204" pitchFamily="34" charset="0"/>
                          <a:cs typeface="Times New Roman" panose="02020603050405020304" pitchFamily="18" charset="0"/>
                        </a:rPr>
                        <a:t>Z</a:t>
                      </a:r>
                      <a:r>
                        <a:rPr lang="en-US" altLang="zh-CN" sz="2000" b="1" dirty="0">
                          <a:solidFill>
                            <a:schemeClr val="tx1"/>
                          </a:solidFill>
                          <a:latin typeface="Trebuchet MS" panose="020B0603020202020204" pitchFamily="34" charset="0"/>
                          <a:cs typeface="Times New Roman" panose="02020603050405020304" pitchFamily="18" charset="0"/>
                        </a:rPr>
                        <a:t>,</a:t>
                      </a:r>
                      <a:r>
                        <a:rPr lang="en-US" altLang="zh-CN" sz="20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000" b="1" dirty="0">
                          <a:solidFill>
                            <a:schemeClr val="tx1"/>
                          </a:solidFill>
                          <a:latin typeface="Trebuchet MS" panose="020B0603020202020204" pitchFamily="34" charset="0"/>
                          <a:cs typeface="Times New Roman" panose="02020603050405020304" pitchFamily="18" charset="0"/>
                        </a:rPr>
                        <a:t>,</a:t>
                      </a:r>
                      <a:r>
                        <a:rPr lang="en-US" altLang="zh-CN" sz="2000" b="1" dirty="0">
                          <a:solidFill>
                            <a:schemeClr val="tx1"/>
                          </a:solidFill>
                          <a:latin typeface="Trebuchet MS" panose="020B0603020202020204" pitchFamily="34" charset="0"/>
                          <a:ea typeface="+mn-ea"/>
                          <a:cs typeface="Times New Roman" panose="02020603050405020304" pitchFamily="18" charset="0"/>
                        </a:rPr>
                        <a:t> ·</a:t>
                      </a:r>
                      <a:r>
                        <a:rPr lang="en-US" altLang="zh-CN" sz="2000" b="1" dirty="0">
                          <a:solidFill>
                            <a:schemeClr val="tx1"/>
                          </a:solidFill>
                          <a:latin typeface="Trebuchet MS" panose="020B0603020202020204" pitchFamily="34" charset="0"/>
                          <a:cs typeface="Times New Roman" panose="02020603050405020304" pitchFamily="18" charset="0"/>
                        </a:rPr>
                        <a:t>&gt;</a:t>
                      </a:r>
                      <a:endParaRPr lang="zh-CN" altLang="en-US" sz="2000" b="1" dirty="0">
                        <a:solidFill>
                          <a:schemeClr val="tx1"/>
                        </a:solidFill>
                        <a:latin typeface="Trebuchet MS" panose="020B0603020202020204" pitchFamily="34" charset="0"/>
                      </a:endParaRPr>
                    </a:p>
                  </a:txBody>
                  <a:tcPr anchor="ctr"/>
                </a:tc>
                <a:tc>
                  <a:txBody>
                    <a:bodyPr/>
                    <a:lstStyle/>
                    <a:p>
                      <a:pPr algn="ctr"/>
                      <a:r>
                        <a:rPr lang="zh-CN" altLang="en-US" sz="2000" b="0" dirty="0">
                          <a:solidFill>
                            <a:schemeClr val="tx1"/>
                          </a:solidFill>
                          <a:latin typeface="+mn-lt"/>
                          <a:cs typeface="Calibri" panose="020F0502020204030204" pitchFamily="34" charset="0"/>
                        </a:rPr>
                        <a:t>√</a:t>
                      </a:r>
                      <a:endParaRPr lang="zh-CN" altLang="en-US" sz="2000" b="0" dirty="0">
                        <a:solidFill>
                          <a:schemeClr val="tx1"/>
                        </a:solidFill>
                        <a:latin typeface="+mn-lt"/>
                      </a:endParaRPr>
                    </a:p>
                  </a:txBody>
                  <a:tcPr anchor="ctr"/>
                </a:tc>
                <a:tc>
                  <a:txBody>
                    <a:bodyPr/>
                    <a:lstStyle/>
                    <a:p>
                      <a:pPr algn="l"/>
                      <a:r>
                        <a:rPr lang="en-US" altLang="zh-CN" sz="2000" b="0" dirty="0">
                          <a:solidFill>
                            <a:schemeClr val="tx1"/>
                          </a:solidFill>
                          <a:latin typeface="Trebuchet MS" panose="020B0603020202020204" pitchFamily="34" charset="0"/>
                        </a:rPr>
                        <a:t>multiplicative identity 1</a:t>
                      </a:r>
                      <a:endParaRPr lang="zh-CN" altLang="en-US" sz="2000" b="0" dirty="0">
                        <a:solidFill>
                          <a:schemeClr val="tx1"/>
                        </a:solidFill>
                        <a:latin typeface="Trebuchet MS" panose="020B0603020202020204" pitchFamily="34" charset="0"/>
                      </a:endParaRPr>
                    </a:p>
                  </a:txBody>
                  <a:tcPr anchor="ctr"/>
                </a:tc>
                <a:tc>
                  <a:txBody>
                    <a:bodyPr/>
                    <a:lstStyle/>
                    <a:p>
                      <a:pPr algn="ctr"/>
                      <a:r>
                        <a:rPr lang="zh-CN" altLang="en-US" sz="2000" b="0" dirty="0">
                          <a:solidFill>
                            <a:schemeClr val="tx1"/>
                          </a:solidFill>
                          <a:latin typeface="+mn-lt"/>
                          <a:cs typeface="Calibri" panose="020F0502020204030204" pitchFamily="34" charset="0"/>
                        </a:rPr>
                        <a:t>√</a:t>
                      </a:r>
                      <a:endParaRPr lang="zh-CN" altLang="en-US" sz="2000" b="0" dirty="0">
                        <a:solidFill>
                          <a:schemeClr val="tx1"/>
                        </a:solidFill>
                        <a:latin typeface="+mn-lt"/>
                      </a:endParaRPr>
                    </a:p>
                  </a:txBody>
                  <a:tcPr anchor="ctr"/>
                </a:tc>
                <a:extLst>
                  <a:ext uri="{0D108BD9-81ED-4DB2-BD59-A6C34878D82A}">
                    <a16:rowId xmlns:a16="http://schemas.microsoft.com/office/drawing/2014/main" val="3847121"/>
                  </a:ext>
                </a:extLst>
              </a:tr>
              <a:tr h="347863">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&lt;</a:t>
                      </a:r>
                      <a:r>
                        <a:rPr lang="en-US" altLang="zh-CN" sz="2000" b="1" i="1" dirty="0">
                          <a:solidFill>
                            <a:schemeClr val="tx1"/>
                          </a:solidFill>
                          <a:latin typeface="Trebuchet MS" panose="020B0603020202020204" pitchFamily="34" charset="0"/>
                          <a:cs typeface="Times New Roman" panose="02020603050405020304" pitchFamily="18" charset="0"/>
                        </a:rPr>
                        <a:t>Q</a:t>
                      </a:r>
                      <a:r>
                        <a:rPr lang="en-US" altLang="zh-CN" sz="2000" b="1" dirty="0">
                          <a:solidFill>
                            <a:schemeClr val="tx1"/>
                          </a:solidFill>
                          <a:latin typeface="Trebuchet MS" panose="020B0603020202020204" pitchFamily="34" charset="0"/>
                          <a:cs typeface="Times New Roman" panose="02020603050405020304" pitchFamily="18" charset="0"/>
                        </a:rPr>
                        <a:t>, </a:t>
                      </a:r>
                      <a:r>
                        <a:rPr lang="en-US" altLang="zh-CN" sz="20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000" b="1" dirty="0">
                          <a:solidFill>
                            <a:schemeClr val="tx1"/>
                          </a:solidFill>
                          <a:latin typeface="Trebuchet MS" panose="020B0603020202020204" pitchFamily="34" charset="0"/>
                          <a:cs typeface="Times New Roman" panose="02020603050405020304" pitchFamily="18" charset="0"/>
                        </a:rPr>
                        <a:t>,</a:t>
                      </a:r>
                      <a:r>
                        <a:rPr lang="en-US" altLang="zh-CN" sz="2000" b="1" dirty="0">
                          <a:solidFill>
                            <a:schemeClr val="tx1"/>
                          </a:solidFill>
                          <a:latin typeface="Trebuchet MS" panose="020B0603020202020204" pitchFamily="34" charset="0"/>
                          <a:ea typeface="+mn-ea"/>
                          <a:cs typeface="Times New Roman" panose="02020603050405020304" pitchFamily="18" charset="0"/>
                        </a:rPr>
                        <a:t> ·</a:t>
                      </a:r>
                      <a:r>
                        <a:rPr lang="en-US" altLang="zh-CN" sz="2000" b="1" dirty="0">
                          <a:solidFill>
                            <a:schemeClr val="tx1"/>
                          </a:solidFill>
                          <a:latin typeface="Trebuchet MS" panose="020B0603020202020204" pitchFamily="34" charset="0"/>
                          <a:cs typeface="Times New Roman" panose="02020603050405020304" pitchFamily="18" charset="0"/>
                        </a:rPr>
                        <a:t>&gt;</a:t>
                      </a:r>
                      <a:endParaRPr lang="zh-CN" altLang="en-US" sz="2000" b="1" dirty="0">
                        <a:solidFill>
                          <a:schemeClr val="tx1"/>
                        </a:solidFill>
                        <a:latin typeface="Trebuchet MS" panose="020B0603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0" dirty="0">
                          <a:solidFill>
                            <a:schemeClr val="tx1"/>
                          </a:solidFill>
                          <a:latin typeface="+mn-lt"/>
                          <a:cs typeface="Calibri" panose="020F0502020204030204" pitchFamily="34" charset="0"/>
                        </a:rPr>
                        <a:t>√</a:t>
                      </a:r>
                      <a:endParaRPr lang="zh-CN" altLang="en-US" sz="2000" b="0"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0" dirty="0">
                          <a:solidFill>
                            <a:schemeClr val="tx1"/>
                          </a:solidFill>
                          <a:latin typeface="Trebuchet MS" panose="020B0603020202020204" pitchFamily="34" charset="0"/>
                        </a:rPr>
                        <a:t>multiplicative identity 1</a:t>
                      </a:r>
                      <a:endParaRPr lang="zh-CN" altLang="en-US" sz="2000" b="0" dirty="0">
                        <a:solidFill>
                          <a:schemeClr val="tx1"/>
                        </a:solidFill>
                        <a:latin typeface="Trebuchet MS" panose="020B0603020202020204" pitchFamily="34" charset="0"/>
                      </a:endParaRPr>
                    </a:p>
                  </a:txBody>
                  <a:tcPr anchor="ctr"/>
                </a:tc>
                <a:tc>
                  <a:txBody>
                    <a:bodyPr/>
                    <a:lstStyle/>
                    <a:p>
                      <a:pPr algn="ctr"/>
                      <a:r>
                        <a:rPr lang="zh-CN" altLang="en-US" sz="2000" b="0" dirty="0">
                          <a:solidFill>
                            <a:schemeClr val="tx1"/>
                          </a:solidFill>
                          <a:latin typeface="+mn-lt"/>
                          <a:cs typeface="Calibri" panose="020F0502020204030204" pitchFamily="34" charset="0"/>
                        </a:rPr>
                        <a:t>√</a:t>
                      </a:r>
                      <a:endParaRPr lang="zh-CN" altLang="en-US" sz="2000" b="0" dirty="0">
                        <a:solidFill>
                          <a:schemeClr val="tx1"/>
                        </a:solidFill>
                        <a:latin typeface="+mn-lt"/>
                      </a:endParaRPr>
                    </a:p>
                  </a:txBody>
                  <a:tcPr anchor="ctr"/>
                </a:tc>
                <a:extLst>
                  <a:ext uri="{0D108BD9-81ED-4DB2-BD59-A6C34878D82A}">
                    <a16:rowId xmlns:a16="http://schemas.microsoft.com/office/drawing/2014/main" val="1089063259"/>
                  </a:ext>
                </a:extLst>
              </a:tr>
              <a:tr h="347863">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&lt;</a:t>
                      </a:r>
                      <a:r>
                        <a:rPr lang="en-US" altLang="zh-CN" sz="2000" b="1" i="1" dirty="0">
                          <a:solidFill>
                            <a:schemeClr val="tx1"/>
                          </a:solidFill>
                          <a:latin typeface="Trebuchet MS" panose="020B0603020202020204" pitchFamily="34" charset="0"/>
                          <a:cs typeface="Times New Roman" panose="02020603050405020304" pitchFamily="18" charset="0"/>
                        </a:rPr>
                        <a:t>R</a:t>
                      </a:r>
                      <a:r>
                        <a:rPr lang="en-US" altLang="zh-CN" sz="2000" b="1" dirty="0">
                          <a:solidFill>
                            <a:schemeClr val="tx1"/>
                          </a:solidFill>
                          <a:latin typeface="Trebuchet MS" panose="020B0603020202020204" pitchFamily="34" charset="0"/>
                          <a:cs typeface="Times New Roman" panose="02020603050405020304" pitchFamily="18" charset="0"/>
                        </a:rPr>
                        <a:t>,</a:t>
                      </a:r>
                      <a:r>
                        <a:rPr lang="en-US" altLang="zh-CN" sz="20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000" b="1" dirty="0">
                          <a:solidFill>
                            <a:schemeClr val="tx1"/>
                          </a:solidFill>
                          <a:latin typeface="Trebuchet MS" panose="020B0603020202020204" pitchFamily="34" charset="0"/>
                          <a:cs typeface="Times New Roman" panose="02020603050405020304" pitchFamily="18" charset="0"/>
                        </a:rPr>
                        <a:t>,</a:t>
                      </a:r>
                      <a:r>
                        <a:rPr lang="en-US" altLang="zh-CN" sz="2000" b="1" dirty="0">
                          <a:solidFill>
                            <a:schemeClr val="tx1"/>
                          </a:solidFill>
                          <a:latin typeface="Trebuchet MS" panose="020B0603020202020204" pitchFamily="34" charset="0"/>
                          <a:ea typeface="+mn-ea"/>
                          <a:cs typeface="Times New Roman" panose="02020603050405020304" pitchFamily="18" charset="0"/>
                        </a:rPr>
                        <a:t> ·</a:t>
                      </a:r>
                      <a:r>
                        <a:rPr lang="en-US" altLang="zh-CN" sz="2000" b="1" dirty="0">
                          <a:solidFill>
                            <a:schemeClr val="tx1"/>
                          </a:solidFill>
                          <a:latin typeface="Trebuchet MS" panose="020B0603020202020204" pitchFamily="34" charset="0"/>
                          <a:cs typeface="Times New Roman" panose="02020603050405020304" pitchFamily="18" charset="0"/>
                        </a:rPr>
                        <a:t>&gt;</a:t>
                      </a:r>
                      <a:endParaRPr lang="zh-CN" altLang="en-US" sz="2000" b="1" dirty="0">
                        <a:solidFill>
                          <a:schemeClr val="tx1"/>
                        </a:solidFill>
                        <a:latin typeface="Trebuchet MS" panose="020B0603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0" dirty="0">
                          <a:solidFill>
                            <a:schemeClr val="tx1"/>
                          </a:solidFill>
                          <a:latin typeface="+mn-lt"/>
                          <a:cs typeface="Calibri" panose="020F0502020204030204" pitchFamily="34" charset="0"/>
                        </a:rPr>
                        <a:t>√</a:t>
                      </a:r>
                      <a:endParaRPr lang="zh-CN" altLang="en-US" sz="2000" b="0"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0" dirty="0">
                          <a:solidFill>
                            <a:schemeClr val="tx1"/>
                          </a:solidFill>
                          <a:latin typeface="Trebuchet MS" panose="020B0603020202020204" pitchFamily="34" charset="0"/>
                        </a:rPr>
                        <a:t>multiplicative identity 1</a:t>
                      </a:r>
                      <a:endParaRPr lang="zh-CN" altLang="en-US" sz="2000" b="0" dirty="0">
                        <a:solidFill>
                          <a:schemeClr val="tx1"/>
                        </a:solidFill>
                        <a:latin typeface="Trebuchet MS" panose="020B0603020202020204" pitchFamily="34" charset="0"/>
                      </a:endParaRPr>
                    </a:p>
                  </a:txBody>
                  <a:tcPr anchor="ctr"/>
                </a:tc>
                <a:tc>
                  <a:txBody>
                    <a:bodyPr/>
                    <a:lstStyle/>
                    <a:p>
                      <a:pPr algn="ctr"/>
                      <a:r>
                        <a:rPr lang="zh-CN" altLang="en-US" sz="2000" b="0" dirty="0">
                          <a:solidFill>
                            <a:schemeClr val="tx1"/>
                          </a:solidFill>
                          <a:latin typeface="+mn-lt"/>
                          <a:cs typeface="Calibri" panose="020F0502020204030204" pitchFamily="34" charset="0"/>
                        </a:rPr>
                        <a:t>√</a:t>
                      </a:r>
                      <a:endParaRPr lang="zh-CN" altLang="en-US" sz="2000" b="0" dirty="0">
                        <a:solidFill>
                          <a:schemeClr val="tx1"/>
                        </a:solidFill>
                        <a:latin typeface="+mn-lt"/>
                      </a:endParaRPr>
                    </a:p>
                  </a:txBody>
                  <a:tcPr anchor="ctr"/>
                </a:tc>
                <a:extLst>
                  <a:ext uri="{0D108BD9-81ED-4DB2-BD59-A6C34878D82A}">
                    <a16:rowId xmlns:a16="http://schemas.microsoft.com/office/drawing/2014/main" val="604201943"/>
                  </a:ext>
                </a:extLst>
              </a:tr>
              <a:tr h="347863">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&lt;</a:t>
                      </a:r>
                      <a:r>
                        <a:rPr lang="en-US" altLang="zh-CN" sz="2000" b="1" i="1" dirty="0">
                          <a:solidFill>
                            <a:schemeClr val="tx1"/>
                          </a:solidFill>
                          <a:latin typeface="Trebuchet MS" panose="020B0603020202020204" pitchFamily="34" charset="0"/>
                          <a:cs typeface="Times New Roman" panose="02020603050405020304" pitchFamily="18" charset="0"/>
                        </a:rPr>
                        <a:t>C</a:t>
                      </a:r>
                      <a:r>
                        <a:rPr lang="en-US" altLang="zh-CN" sz="2000" b="1" dirty="0">
                          <a:solidFill>
                            <a:schemeClr val="tx1"/>
                          </a:solidFill>
                          <a:latin typeface="Trebuchet MS" panose="020B0603020202020204" pitchFamily="34" charset="0"/>
                          <a:cs typeface="Times New Roman" panose="02020603050405020304" pitchFamily="18" charset="0"/>
                        </a:rPr>
                        <a:t>,</a:t>
                      </a:r>
                      <a:r>
                        <a:rPr lang="en-US" altLang="zh-CN" sz="20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000" b="1" dirty="0">
                          <a:solidFill>
                            <a:schemeClr val="tx1"/>
                          </a:solidFill>
                          <a:latin typeface="Trebuchet MS" panose="020B0603020202020204" pitchFamily="34" charset="0"/>
                          <a:cs typeface="Times New Roman" panose="02020603050405020304" pitchFamily="18" charset="0"/>
                        </a:rPr>
                        <a:t>,</a:t>
                      </a:r>
                      <a:r>
                        <a:rPr lang="en-US" altLang="zh-CN" sz="2000" b="1" dirty="0">
                          <a:solidFill>
                            <a:schemeClr val="tx1"/>
                          </a:solidFill>
                          <a:latin typeface="Trebuchet MS" panose="020B0603020202020204" pitchFamily="34" charset="0"/>
                          <a:ea typeface="+mn-ea"/>
                          <a:cs typeface="Times New Roman" panose="02020603050405020304" pitchFamily="18" charset="0"/>
                        </a:rPr>
                        <a:t> ·</a:t>
                      </a:r>
                      <a:r>
                        <a:rPr lang="en-US" altLang="zh-CN" sz="2000" b="1" dirty="0">
                          <a:solidFill>
                            <a:schemeClr val="tx1"/>
                          </a:solidFill>
                          <a:latin typeface="Trebuchet MS" panose="020B0603020202020204" pitchFamily="34" charset="0"/>
                          <a:cs typeface="Times New Roman" panose="02020603050405020304" pitchFamily="18" charset="0"/>
                        </a:rPr>
                        <a:t>&gt;</a:t>
                      </a:r>
                      <a:endParaRPr lang="zh-CN" altLang="en-US" sz="2000" b="1" dirty="0">
                        <a:solidFill>
                          <a:schemeClr val="tx1"/>
                        </a:solidFill>
                        <a:latin typeface="Trebuchet MS" panose="020B0603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0" dirty="0">
                          <a:solidFill>
                            <a:schemeClr val="tx1"/>
                          </a:solidFill>
                          <a:latin typeface="+mn-lt"/>
                          <a:cs typeface="Calibri" panose="020F0502020204030204" pitchFamily="34" charset="0"/>
                        </a:rPr>
                        <a:t>√</a:t>
                      </a:r>
                      <a:endParaRPr lang="zh-CN" altLang="en-US" sz="2000" b="0"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0" dirty="0">
                          <a:solidFill>
                            <a:schemeClr val="tx1"/>
                          </a:solidFill>
                          <a:latin typeface="Trebuchet MS" panose="020B0603020202020204" pitchFamily="34" charset="0"/>
                        </a:rPr>
                        <a:t>multiplicative identity 1</a:t>
                      </a:r>
                      <a:endParaRPr lang="zh-CN" altLang="en-US" sz="2000" b="0" dirty="0">
                        <a:solidFill>
                          <a:schemeClr val="tx1"/>
                        </a:solidFill>
                        <a:latin typeface="Trebuchet MS" panose="020B0603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0" dirty="0">
                          <a:solidFill>
                            <a:schemeClr val="tx1"/>
                          </a:solidFill>
                          <a:latin typeface="+mn-lt"/>
                          <a:cs typeface="Calibri" panose="020F0502020204030204" pitchFamily="34" charset="0"/>
                        </a:rPr>
                        <a:t>√</a:t>
                      </a:r>
                      <a:endParaRPr lang="zh-CN" altLang="en-US" sz="2000" b="0" dirty="0">
                        <a:solidFill>
                          <a:schemeClr val="tx1"/>
                        </a:solidFill>
                        <a:latin typeface="+mn-lt"/>
                      </a:endParaRPr>
                    </a:p>
                  </a:txBody>
                  <a:tcPr anchor="ctr"/>
                </a:tc>
                <a:extLst>
                  <a:ext uri="{0D108BD9-81ED-4DB2-BD59-A6C34878D82A}">
                    <a16:rowId xmlns:a16="http://schemas.microsoft.com/office/drawing/2014/main" val="2867649216"/>
                  </a:ext>
                </a:extLst>
              </a:tr>
              <a:tr h="608760">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&lt;</a:t>
                      </a:r>
                      <a:r>
                        <a:rPr lang="en-US" altLang="zh-CN" sz="2000" b="1" i="1" dirty="0">
                          <a:solidFill>
                            <a:schemeClr val="tx1"/>
                          </a:solidFill>
                          <a:latin typeface="Trebuchet MS" panose="020B0603020202020204" pitchFamily="34" charset="0"/>
                          <a:cs typeface="Times New Roman" panose="02020603050405020304" pitchFamily="18" charset="0"/>
                        </a:rPr>
                        <a:t>M</a:t>
                      </a:r>
                      <a:r>
                        <a:rPr lang="en-US" altLang="zh-CN" sz="2000" b="1" i="1" baseline="-25000" dirty="0">
                          <a:solidFill>
                            <a:schemeClr val="tx1"/>
                          </a:solidFill>
                          <a:latin typeface="Trebuchet MS" panose="020B0603020202020204" pitchFamily="34" charset="0"/>
                          <a:cs typeface="Times New Roman" panose="02020603050405020304" pitchFamily="18" charset="0"/>
                        </a:rPr>
                        <a:t>n</a:t>
                      </a:r>
                      <a:r>
                        <a:rPr lang="en-US" altLang="zh-CN" sz="2000" b="1" dirty="0">
                          <a:solidFill>
                            <a:schemeClr val="tx1"/>
                          </a:solidFill>
                          <a:latin typeface="Trebuchet MS" panose="020B0603020202020204" pitchFamily="34" charset="0"/>
                          <a:cs typeface="Times New Roman" panose="02020603050405020304" pitchFamily="18" charset="0"/>
                        </a:rPr>
                        <a:t>(R) ,</a:t>
                      </a:r>
                      <a:r>
                        <a:rPr lang="en-US" altLang="zh-CN" sz="20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000" b="1" dirty="0">
                          <a:solidFill>
                            <a:schemeClr val="tx1"/>
                          </a:solidFill>
                          <a:latin typeface="Trebuchet MS" panose="020B0603020202020204" pitchFamily="34" charset="0"/>
                          <a:cs typeface="Times New Roman" panose="02020603050405020304" pitchFamily="18" charset="0"/>
                        </a:rPr>
                        <a:t>,</a:t>
                      </a:r>
                      <a:r>
                        <a:rPr lang="en-US" altLang="zh-CN" sz="2000" b="1" dirty="0">
                          <a:solidFill>
                            <a:schemeClr val="tx1"/>
                          </a:solidFill>
                          <a:latin typeface="Trebuchet MS" panose="020B0603020202020204" pitchFamily="34" charset="0"/>
                          <a:ea typeface="+mn-ea"/>
                          <a:cs typeface="Times New Roman" panose="02020603050405020304" pitchFamily="18" charset="0"/>
                        </a:rPr>
                        <a:t> ·</a:t>
                      </a:r>
                      <a:r>
                        <a:rPr lang="en-US" altLang="zh-CN" sz="2000" b="1" dirty="0">
                          <a:solidFill>
                            <a:schemeClr val="tx1"/>
                          </a:solidFill>
                          <a:latin typeface="Trebuchet MS" panose="020B0603020202020204" pitchFamily="34" charset="0"/>
                          <a:cs typeface="Times New Roman" panose="02020603050405020304" pitchFamily="18" charset="0"/>
                        </a:rPr>
                        <a:t>&gt;</a:t>
                      </a:r>
                      <a:endParaRPr lang="zh-CN" altLang="en-US" sz="2000" b="1" dirty="0">
                        <a:solidFill>
                          <a:schemeClr val="tx1"/>
                        </a:solidFill>
                        <a:latin typeface="Trebuchet MS" panose="020B0603020202020204" pitchFamily="34" charset="0"/>
                      </a:endParaRPr>
                    </a:p>
                  </a:txBody>
                  <a:tcPr anchor="ctr"/>
                </a:tc>
                <a:tc>
                  <a:txBody>
                    <a:bodyPr/>
                    <a:lstStyle/>
                    <a:p>
                      <a:pPr algn="ctr"/>
                      <a:r>
                        <a:rPr lang="en-US" altLang="zh-CN" sz="2000" b="0" dirty="0">
                          <a:solidFill>
                            <a:schemeClr val="tx1"/>
                          </a:solidFill>
                          <a:latin typeface="+mn-lt"/>
                        </a:rPr>
                        <a:t>No</a:t>
                      </a:r>
                      <a:endParaRPr lang="zh-CN" altLang="en-US" sz="2000" b="0" dirty="0">
                        <a:solidFill>
                          <a:schemeClr val="tx1"/>
                        </a:solidFill>
                        <a:latin typeface="+mn-lt"/>
                      </a:endParaRPr>
                    </a:p>
                  </a:txBody>
                  <a:tcPr anchor="ctr"/>
                </a:tc>
                <a:tc>
                  <a:txBody>
                    <a:bodyPr/>
                    <a:lstStyle/>
                    <a:p>
                      <a:pPr algn="l"/>
                      <a:r>
                        <a:rPr lang="en-US" altLang="zh-CN" sz="2000" b="0" dirty="0">
                          <a:solidFill>
                            <a:schemeClr val="tx1"/>
                          </a:solidFill>
                          <a:latin typeface="Trebuchet MS" panose="020B0603020202020204" pitchFamily="34" charset="0"/>
                        </a:rPr>
                        <a:t>With multiplicative identity: the identity matrix</a:t>
                      </a:r>
                    </a:p>
                  </a:txBody>
                  <a:tcPr anchor="ctr"/>
                </a:tc>
                <a:tc>
                  <a:txBody>
                    <a:bodyPr/>
                    <a:lstStyle/>
                    <a:p>
                      <a:pPr algn="ctr"/>
                      <a:r>
                        <a:rPr lang="en-US" altLang="zh-CN" sz="2000" b="0" dirty="0">
                          <a:solidFill>
                            <a:schemeClr val="tx1"/>
                          </a:solidFill>
                          <a:latin typeface="Trebuchet MS" panose="020B0603020202020204" pitchFamily="34" charset="0"/>
                        </a:rPr>
                        <a:t>There exist nonzero matrices </a:t>
                      </a:r>
                      <a:r>
                        <a:rPr lang="en-US" altLang="zh-CN" sz="2000" b="1" i="1" dirty="0">
                          <a:solidFill>
                            <a:schemeClr val="tx1"/>
                          </a:solidFill>
                          <a:latin typeface="Trebuchet MS" panose="020B0603020202020204" pitchFamily="34" charset="0"/>
                        </a:rPr>
                        <a:t>A</a:t>
                      </a:r>
                      <a:r>
                        <a:rPr lang="en-US" altLang="zh-CN" sz="2000" b="0" dirty="0">
                          <a:solidFill>
                            <a:schemeClr val="tx1"/>
                          </a:solidFill>
                          <a:latin typeface="Trebuchet MS" panose="020B0603020202020204" pitchFamily="34" charset="0"/>
                        </a:rPr>
                        <a:t> and </a:t>
                      </a:r>
                      <a:r>
                        <a:rPr lang="en-US" altLang="zh-CN" sz="2000" b="1" i="1" dirty="0">
                          <a:solidFill>
                            <a:schemeClr val="tx1"/>
                          </a:solidFill>
                          <a:latin typeface="Trebuchet MS" panose="020B0603020202020204" pitchFamily="34" charset="0"/>
                        </a:rPr>
                        <a:t>B</a:t>
                      </a:r>
                      <a:r>
                        <a:rPr lang="en-US" altLang="zh-CN" sz="2000" b="0" dirty="0">
                          <a:solidFill>
                            <a:schemeClr val="tx1"/>
                          </a:solidFill>
                          <a:latin typeface="Trebuchet MS" panose="020B0603020202020204" pitchFamily="34" charset="0"/>
                        </a:rPr>
                        <a:t> such that </a:t>
                      </a:r>
                      <a:r>
                        <a:rPr lang="en-US" altLang="zh-CN" sz="2000" b="1" i="1" dirty="0">
                          <a:solidFill>
                            <a:schemeClr val="tx1"/>
                          </a:solidFill>
                          <a:latin typeface="Trebuchet MS" panose="020B0603020202020204" pitchFamily="34" charset="0"/>
                        </a:rPr>
                        <a:t>A</a:t>
                      </a:r>
                      <a:r>
                        <a:rPr lang="en-US" altLang="zh-CN" sz="2000" b="1" dirty="0">
                          <a:solidFill>
                            <a:schemeClr val="tx1"/>
                          </a:solidFill>
                          <a:latin typeface="Trebuchet MS" panose="020B0603020202020204" pitchFamily="34" charset="0"/>
                        </a:rPr>
                        <a:t>·</a:t>
                      </a:r>
                      <a:r>
                        <a:rPr lang="en-US" altLang="zh-CN" sz="2000" b="1" i="1" dirty="0">
                          <a:solidFill>
                            <a:schemeClr val="tx1"/>
                          </a:solidFill>
                          <a:latin typeface="Trebuchet MS" panose="020B0603020202020204" pitchFamily="34" charset="0"/>
                        </a:rPr>
                        <a:t>B</a:t>
                      </a:r>
                      <a:r>
                        <a:rPr lang="en-US" altLang="zh-CN" sz="2000" b="1" dirty="0">
                          <a:solidFill>
                            <a:schemeClr val="tx1"/>
                          </a:solidFill>
                          <a:latin typeface="Trebuchet MS" panose="020B0603020202020204" pitchFamily="34" charset="0"/>
                        </a:rPr>
                        <a:t> = 0</a:t>
                      </a:r>
                      <a:r>
                        <a:rPr lang="en-US" altLang="zh-CN" sz="2000" b="0" dirty="0">
                          <a:solidFill>
                            <a:schemeClr val="tx1"/>
                          </a:solidFill>
                          <a:latin typeface="Trebuchet MS" panose="020B0603020202020204" pitchFamily="34" charset="0"/>
                        </a:rPr>
                        <a:t>.</a:t>
                      </a:r>
                    </a:p>
                  </a:txBody>
                  <a:tcPr anchor="ctr"/>
                </a:tc>
                <a:extLst>
                  <a:ext uri="{0D108BD9-81ED-4DB2-BD59-A6C34878D82A}">
                    <a16:rowId xmlns:a16="http://schemas.microsoft.com/office/drawing/2014/main" val="3755857468"/>
                  </a:ext>
                </a:extLst>
              </a:tr>
              <a:tr h="627849">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&lt;</a:t>
                      </a:r>
                      <a:r>
                        <a:rPr lang="en-US" altLang="zh-CN" sz="2000" b="1" i="1" dirty="0">
                          <a:solidFill>
                            <a:schemeClr val="tx1"/>
                          </a:solidFill>
                          <a:latin typeface="Trebuchet MS" panose="020B0603020202020204" pitchFamily="34" charset="0"/>
                          <a:cs typeface="Times New Roman" panose="02020603050405020304" pitchFamily="18" charset="0"/>
                        </a:rPr>
                        <a:t>Z</a:t>
                      </a:r>
                      <a:r>
                        <a:rPr lang="en-US" altLang="zh-CN" sz="2000" b="1" i="1" baseline="-25000" dirty="0">
                          <a:solidFill>
                            <a:schemeClr val="tx1"/>
                          </a:solidFill>
                          <a:latin typeface="Trebuchet MS" panose="020B0603020202020204" pitchFamily="34" charset="0"/>
                          <a:cs typeface="Times New Roman" panose="02020603050405020304" pitchFamily="18" charset="0"/>
                        </a:rPr>
                        <a:t>n</a:t>
                      </a:r>
                      <a:r>
                        <a:rPr lang="en-US" altLang="zh-CN" sz="2000" b="1" dirty="0">
                          <a:solidFill>
                            <a:schemeClr val="tx1"/>
                          </a:solidFill>
                          <a:latin typeface="Trebuchet MS" panose="020B0603020202020204" pitchFamily="34" charset="0"/>
                          <a:cs typeface="Times New Roman" panose="02020603050405020304" pitchFamily="18" charset="0"/>
                        </a:rPr>
                        <a:t>,</a:t>
                      </a:r>
                      <a:r>
                        <a:rPr lang="en-US" altLang="zh-CN" sz="20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000" b="1" dirty="0">
                          <a:solidFill>
                            <a:schemeClr val="tx1"/>
                          </a:solidFill>
                          <a:latin typeface="Trebuchet MS" panose="020B0603020202020204" pitchFamily="34" charset="0"/>
                          <a:cs typeface="Times New Roman" panose="02020603050405020304" pitchFamily="18" charset="0"/>
                        </a:rPr>
                        <a:t>,</a:t>
                      </a:r>
                      <a:r>
                        <a:rPr lang="en-US" altLang="zh-CN" sz="20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000" b="1" dirty="0">
                          <a:solidFill>
                            <a:schemeClr val="tx1"/>
                          </a:solidFill>
                          <a:latin typeface="Trebuchet MS" panose="020B0603020202020204" pitchFamily="34" charset="0"/>
                          <a:cs typeface="Times New Roman" panose="02020603050405020304" pitchFamily="18" charset="0"/>
                        </a:rPr>
                        <a:t>&gt;</a:t>
                      </a:r>
                      <a:endParaRPr lang="zh-CN" altLang="en-US" sz="2000" b="1" dirty="0">
                        <a:solidFill>
                          <a:schemeClr val="tx1"/>
                        </a:solidFill>
                        <a:latin typeface="Trebuchet MS" panose="020B0603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0" dirty="0">
                          <a:solidFill>
                            <a:schemeClr val="tx1"/>
                          </a:solidFill>
                          <a:latin typeface="+mn-lt"/>
                          <a:cs typeface="Calibri" panose="020F0502020204030204" pitchFamily="34" charset="0"/>
                        </a:rPr>
                        <a:t>√</a:t>
                      </a:r>
                      <a:endParaRPr lang="zh-CN" altLang="en-US" sz="2000" b="0"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0" dirty="0">
                          <a:solidFill>
                            <a:schemeClr val="tx1"/>
                          </a:solidFill>
                          <a:latin typeface="Trebuchet MS" panose="020B0603020202020204" pitchFamily="34" charset="0"/>
                        </a:rPr>
                        <a:t>multiplicative identity 1</a:t>
                      </a:r>
                      <a:endParaRPr lang="zh-CN" altLang="en-US" sz="2000" b="0" dirty="0">
                        <a:solidFill>
                          <a:schemeClr val="tx1"/>
                        </a:solidFill>
                        <a:latin typeface="Trebuchet MS" panose="020B0603020202020204" pitchFamily="34" charset="0"/>
                      </a:endParaRPr>
                    </a:p>
                  </a:txBody>
                  <a:tcPr anchor="ctr"/>
                </a:tc>
                <a:tc>
                  <a:txBody>
                    <a:bodyPr/>
                    <a:lstStyle/>
                    <a:p>
                      <a:pPr algn="ctr"/>
                      <a:r>
                        <a:rPr lang="en-US" altLang="zh-CN" sz="2000" b="1" dirty="0">
                          <a:solidFill>
                            <a:schemeClr val="tx1"/>
                          </a:solidFill>
                          <a:latin typeface="Trebuchet MS" panose="020B0603020202020204" pitchFamily="34" charset="0"/>
                        </a:rPr>
                        <a:t>ℤ₆ </a:t>
                      </a:r>
                      <a:r>
                        <a:rPr lang="en-US" altLang="zh-CN" sz="2000" b="0" dirty="0">
                          <a:solidFill>
                            <a:schemeClr val="tx1"/>
                          </a:solidFill>
                          <a:latin typeface="Trebuchet MS" panose="020B0603020202020204" pitchFamily="34" charset="0"/>
                        </a:rPr>
                        <a:t>has zero divisors, since </a:t>
                      </a:r>
                      <a:r>
                        <a:rPr lang="en-US" altLang="zh-CN" sz="2000" b="1" dirty="0">
                          <a:solidFill>
                            <a:schemeClr val="tx1"/>
                          </a:solidFill>
                          <a:latin typeface="Trebuchet MS" panose="020B0603020202020204" pitchFamily="34" charset="0"/>
                        </a:rPr>
                        <a:t>2 ⊗ 3 = 0</a:t>
                      </a:r>
                      <a:r>
                        <a:rPr lang="en-US" altLang="zh-CN" sz="2000" b="0" dirty="0">
                          <a:solidFill>
                            <a:schemeClr val="tx1"/>
                          </a:solidFill>
                          <a:latin typeface="Trebuchet MS" panose="020B0603020202020204" pitchFamily="34" charset="0"/>
                        </a:rPr>
                        <a:t>.</a:t>
                      </a:r>
                    </a:p>
                  </a:txBody>
                  <a:tcPr anchor="ctr"/>
                </a:tc>
                <a:extLst>
                  <a:ext uri="{0D108BD9-81ED-4DB2-BD59-A6C34878D82A}">
                    <a16:rowId xmlns:a16="http://schemas.microsoft.com/office/drawing/2014/main" val="2427035396"/>
                  </a:ext>
                </a:extLst>
              </a:tr>
            </a:tbl>
          </a:graphicData>
        </a:graphic>
      </p:graphicFrame>
    </p:spTree>
    <p:extLst>
      <p:ext uri="{BB962C8B-B14F-4D97-AF65-F5344CB8AC3E}">
        <p14:creationId xmlns:p14="http://schemas.microsoft.com/office/powerpoint/2010/main" val="12764457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9.3.3 Rings and Fields</a:t>
            </a:r>
          </a:p>
          <a:p>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Commutative, unital, and zero-divisor-free rings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4">
            <a:extLst>
              <a:ext uri="{FF2B5EF4-FFF2-40B4-BE49-F238E27FC236}">
                <a16:creationId xmlns:a16="http://schemas.microsoft.com/office/drawing/2014/main" id="{CBC70BF7-4A22-4415-B418-34D716284815}"/>
              </a:ext>
            </a:extLst>
          </p:cNvPr>
          <p:cNvSpPr>
            <a:spLocks noChangeArrowheads="1"/>
          </p:cNvSpPr>
          <p:nvPr/>
        </p:nvSpPr>
        <p:spPr bwMode="auto">
          <a:xfrm>
            <a:off x="632146" y="723736"/>
            <a:ext cx="10829346" cy="3311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ctr">
            <a:spAutoFit/>
          </a:bodyPr>
          <a:lstStyle>
            <a:lvl1pPr indent="247650"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eaLnBrk="1" hangingPunct="1">
              <a:lnSpc>
                <a:spcPct val="11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Definition </a:t>
            </a:r>
            <a:r>
              <a:rPr lang="en-US" altLang="zh-CN" sz="2400" b="1" dirty="0">
                <a:solidFill>
                  <a:schemeClr val="tx1"/>
                </a:solidFill>
                <a:latin typeface="Trebuchet MS" panose="020B0603020202020204" pitchFamily="34" charset="0"/>
                <a:ea typeface="宋体" panose="02010600030101010101" pitchFamily="2" charset="-122"/>
              </a:rPr>
              <a:t>9.22:  </a:t>
            </a:r>
          </a:p>
          <a:p>
            <a:pPr marL="449263" indent="-449263" eaLnBrk="1" hangingPunct="1">
              <a:lnSpc>
                <a:spcPct val="110000"/>
              </a:lnSpc>
            </a:pPr>
            <a:r>
              <a:rPr lang="en-US" altLang="zh-CN" sz="2400" b="1" dirty="0">
                <a:solidFill>
                  <a:srgbClr val="0B61FF"/>
                </a:solidFill>
                <a:latin typeface="Trebuchet MS" panose="020B0603020202020204" pitchFamily="34" charset="0"/>
                <a:ea typeface="+mn-ea"/>
                <a:cs typeface="Times New Roman" panose="02020603050405020304" pitchFamily="18" charset="0"/>
              </a:rPr>
              <a:t>(1)</a:t>
            </a:r>
            <a:r>
              <a:rPr lang="en-US" altLang="zh-CN" sz="2400" dirty="0">
                <a:solidFill>
                  <a:srgbClr val="0B61FF"/>
                </a:solidFill>
                <a:latin typeface="Trebuchet MS" panose="020B0603020202020204" pitchFamily="34" charset="0"/>
              </a:rPr>
              <a:t> </a:t>
            </a:r>
            <a:r>
              <a:rPr lang="en-US" altLang="zh-CN" sz="2400" dirty="0">
                <a:solidFill>
                  <a:schemeClr val="tx1"/>
                </a:solidFill>
                <a:latin typeface="Trebuchet MS" panose="020B0603020202020204" pitchFamily="34" charset="0"/>
              </a:rPr>
              <a:t>If the ring </a:t>
            </a:r>
            <a:r>
              <a:rPr lang="en-US" altLang="zh-CN" sz="2400" b="1" dirty="0">
                <a:solidFill>
                  <a:schemeClr val="tx1"/>
                </a:solidFill>
                <a:latin typeface="Trebuchet MS" panose="020B0603020202020204" pitchFamily="34" charset="0"/>
                <a:ea typeface="+mn-ea"/>
                <a:cs typeface="Times New Roman" panose="02020603050405020304" pitchFamily="18" charset="0"/>
              </a:rPr>
              <a:t>&lt;</a:t>
            </a:r>
            <a:r>
              <a:rPr lang="en-US" altLang="zh-CN" sz="2400" b="1" i="1" dirty="0">
                <a:solidFill>
                  <a:schemeClr val="tx1"/>
                </a:solidFill>
                <a:latin typeface="Trebuchet MS" panose="020B0603020202020204" pitchFamily="34" charset="0"/>
                <a:ea typeface="+mn-ea"/>
                <a:cs typeface="Times New Roman" panose="02020603050405020304" pitchFamily="18" charset="0"/>
              </a:rPr>
              <a:t>R</a:t>
            </a:r>
            <a:r>
              <a:rPr lang="en-US" altLang="zh-CN" sz="2400" b="1" dirty="0">
                <a:solidFill>
                  <a:schemeClr val="tx1"/>
                </a:solidFill>
                <a:latin typeface="Trebuchet MS" panose="020B0603020202020204" pitchFamily="34" charset="0"/>
                <a:ea typeface="+mn-ea"/>
                <a:cs typeface="Times New Roman" panose="02020603050405020304" pitchFamily="18" charset="0"/>
              </a:rPr>
              <a:t>,+,·&gt;</a:t>
            </a:r>
            <a:r>
              <a:rPr lang="en-US" altLang="zh-CN" sz="2400" dirty="0">
                <a:solidFill>
                  <a:schemeClr val="tx1"/>
                </a:solidFill>
                <a:latin typeface="Trebuchet MS" panose="020B0603020202020204" pitchFamily="34" charset="0"/>
              </a:rPr>
              <a:t> is a </a:t>
            </a:r>
            <a:r>
              <a:rPr lang="en-US" altLang="zh-CN" sz="2400" b="1" dirty="0">
                <a:solidFill>
                  <a:schemeClr val="tx1"/>
                </a:solidFill>
                <a:latin typeface="Trebuchet MS" panose="020B0603020202020204" pitchFamily="34" charset="0"/>
              </a:rPr>
              <a:t>commutative ring</a:t>
            </a:r>
            <a:r>
              <a:rPr lang="en-US" altLang="zh-CN" sz="2400" dirty="0">
                <a:solidFill>
                  <a:schemeClr val="tx1"/>
                </a:solidFill>
                <a:latin typeface="Trebuchet MS" panose="020B0603020202020204" pitchFamily="34" charset="0"/>
              </a:rPr>
              <a:t>, has a </a:t>
            </a:r>
            <a:r>
              <a:rPr lang="en-US" altLang="zh-CN" sz="2400" b="1" dirty="0">
                <a:solidFill>
                  <a:schemeClr val="tx1"/>
                </a:solidFill>
                <a:latin typeface="Trebuchet MS" panose="020B0603020202020204" pitchFamily="34" charset="0"/>
              </a:rPr>
              <a:t>multiplicative identity</a:t>
            </a:r>
            <a:r>
              <a:rPr lang="en-US" altLang="zh-CN" sz="2400" dirty="0">
                <a:solidFill>
                  <a:schemeClr val="tx1"/>
                </a:solidFill>
                <a:latin typeface="Trebuchet MS" panose="020B0603020202020204" pitchFamily="34" charset="0"/>
              </a:rPr>
              <a:t>, and contains </a:t>
            </a:r>
            <a:r>
              <a:rPr lang="en-US" altLang="zh-CN" sz="2400" b="1" dirty="0">
                <a:solidFill>
                  <a:schemeClr val="tx1"/>
                </a:solidFill>
                <a:latin typeface="Trebuchet MS" panose="020B0603020202020204" pitchFamily="34" charset="0"/>
              </a:rPr>
              <a:t>no zero divisors</a:t>
            </a:r>
            <a:r>
              <a:rPr lang="en-US" altLang="zh-CN" sz="2400" dirty="0">
                <a:solidFill>
                  <a:schemeClr val="tx1"/>
                </a:solidFill>
                <a:latin typeface="Trebuchet MS" panose="020B0603020202020204" pitchFamily="34" charset="0"/>
              </a:rPr>
              <a:t>, then </a:t>
            </a:r>
            <a:r>
              <a:rPr lang="en-US" altLang="zh-CN" sz="2400" b="1" i="1" dirty="0">
                <a:solidFill>
                  <a:schemeClr val="tx1"/>
                </a:solidFill>
                <a:latin typeface="Trebuchet MS" panose="020B0603020202020204" pitchFamily="34" charset="0"/>
              </a:rPr>
              <a:t>R</a:t>
            </a:r>
            <a:r>
              <a:rPr lang="en-US" altLang="zh-CN" sz="2400" dirty="0">
                <a:solidFill>
                  <a:schemeClr val="tx1"/>
                </a:solidFill>
                <a:latin typeface="Trebuchet MS" panose="020B0603020202020204" pitchFamily="34" charset="0"/>
              </a:rPr>
              <a:t> is called an </a:t>
            </a:r>
            <a:r>
              <a:rPr lang="en-US" altLang="zh-CN" sz="2400" b="1" i="1" dirty="0">
                <a:solidFill>
                  <a:srgbClr val="0B61FF"/>
                </a:solidFill>
                <a:latin typeface="Trebuchet MS" panose="020B0603020202020204" pitchFamily="34" charset="0"/>
              </a:rPr>
              <a:t>integral domain</a:t>
            </a:r>
            <a:r>
              <a:rPr lang="en-US" altLang="zh-CN" sz="2400" b="1" dirty="0">
                <a:solidFill>
                  <a:schemeClr val="tx1"/>
                </a:solidFill>
                <a:latin typeface="Trebuchet MS" panose="020B0603020202020204" pitchFamily="34" charset="0"/>
                <a:ea typeface="+mn-ea"/>
                <a:cs typeface="Times New Roman" panose="02020603050405020304" pitchFamily="18" charset="0"/>
              </a:rPr>
              <a:t>.</a:t>
            </a:r>
          </a:p>
          <a:p>
            <a:pPr marL="449263" indent="-449263" eaLnBrk="1" hangingPunct="1">
              <a:lnSpc>
                <a:spcPct val="110000"/>
              </a:lnSpc>
            </a:pPr>
            <a:r>
              <a:rPr lang="en-US" altLang="zh-CN" sz="2400" b="1" dirty="0">
                <a:solidFill>
                  <a:srgbClr val="0B61FF"/>
                </a:solidFill>
                <a:latin typeface="Trebuchet MS" panose="020B0603020202020204" pitchFamily="34" charset="0"/>
                <a:ea typeface="+mn-ea"/>
                <a:cs typeface="Times New Roman" panose="02020603050405020304" pitchFamily="18" charset="0"/>
              </a:rPr>
              <a:t>(2) </a:t>
            </a:r>
            <a:r>
              <a:rPr lang="en-US" altLang="zh-CN" sz="2400" dirty="0">
                <a:solidFill>
                  <a:schemeClr val="tx1"/>
                </a:solidFill>
                <a:latin typeface="Trebuchet MS" panose="020B0603020202020204" pitchFamily="34" charset="0"/>
              </a:rPr>
              <a:t>If the ring </a:t>
            </a:r>
            <a:r>
              <a:rPr lang="en-US" altLang="zh-CN" sz="2400" b="1" dirty="0">
                <a:solidFill>
                  <a:schemeClr val="tx1"/>
                </a:solidFill>
                <a:latin typeface="Trebuchet MS" panose="020B0603020202020204" pitchFamily="34" charset="0"/>
                <a:ea typeface="+mn-ea"/>
                <a:cs typeface="Times New Roman" panose="02020603050405020304" pitchFamily="18" charset="0"/>
              </a:rPr>
              <a:t>&lt;</a:t>
            </a:r>
            <a:r>
              <a:rPr lang="en-US" altLang="zh-CN" sz="2400" b="1" i="1" dirty="0">
                <a:solidFill>
                  <a:schemeClr val="tx1"/>
                </a:solidFill>
                <a:latin typeface="Trebuchet MS" panose="020B0603020202020204" pitchFamily="34" charset="0"/>
                <a:ea typeface="+mn-ea"/>
                <a:cs typeface="Times New Roman" panose="02020603050405020304" pitchFamily="18" charset="0"/>
              </a:rPr>
              <a:t>R</a:t>
            </a:r>
            <a:r>
              <a:rPr lang="en-US" altLang="zh-CN" sz="2400" b="1" dirty="0">
                <a:solidFill>
                  <a:schemeClr val="tx1"/>
                </a:solidFill>
                <a:latin typeface="Trebuchet MS" panose="020B0603020202020204" pitchFamily="34" charset="0"/>
                <a:ea typeface="+mn-ea"/>
                <a:cs typeface="Times New Roman" panose="02020603050405020304" pitchFamily="18" charset="0"/>
              </a:rPr>
              <a:t>,+,·&gt;</a:t>
            </a:r>
            <a:r>
              <a:rPr lang="en-US" altLang="zh-CN" sz="2400" dirty="0">
                <a:solidFill>
                  <a:schemeClr val="tx1"/>
                </a:solidFill>
                <a:latin typeface="Trebuchet MS" panose="020B0603020202020204" pitchFamily="34" charset="0"/>
              </a:rPr>
              <a:t> has </a:t>
            </a:r>
            <a:r>
              <a:rPr lang="en-US" altLang="zh-CN" sz="2400" b="1" dirty="0">
                <a:solidFill>
                  <a:schemeClr val="tx1"/>
                </a:solidFill>
                <a:latin typeface="Trebuchet MS" panose="020B0603020202020204" pitchFamily="34" charset="0"/>
              </a:rPr>
              <a:t>at least two elements</a:t>
            </a:r>
            <a:r>
              <a:rPr lang="en-US" altLang="zh-CN" sz="2400" dirty="0">
                <a:solidFill>
                  <a:schemeClr val="tx1"/>
                </a:solidFill>
                <a:latin typeface="Trebuchet MS" panose="020B0603020202020204" pitchFamily="34" charset="0"/>
              </a:rPr>
              <a:t>, is a </a:t>
            </a:r>
            <a:r>
              <a:rPr lang="en-US" altLang="zh-CN" sz="2400" b="1" dirty="0">
                <a:solidFill>
                  <a:schemeClr val="tx1"/>
                </a:solidFill>
                <a:latin typeface="Trebuchet MS" panose="020B0603020202020204" pitchFamily="34" charset="0"/>
              </a:rPr>
              <a:t>ring with identity</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has no zero divisors</a:t>
            </a:r>
            <a:r>
              <a:rPr lang="en-US" altLang="zh-CN" sz="2400" dirty="0">
                <a:solidFill>
                  <a:schemeClr val="tx1"/>
                </a:solidFill>
                <a:latin typeface="Trebuchet MS" panose="020B0603020202020204" pitchFamily="34" charset="0"/>
              </a:rPr>
              <a:t>, and for every </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rebuchet MS" panose="020B0603020202020204" pitchFamily="34" charset="0"/>
                <a:cs typeface="Times New Roman" panose="02020603050405020304" pitchFamily="18" charset="0"/>
              </a:rPr>
              <a:t>R</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with </a:t>
            </a:r>
            <a:r>
              <a:rPr lang="en-US" altLang="zh-CN" sz="2400" b="1" i="1" dirty="0">
                <a:solidFill>
                  <a:schemeClr val="tx1"/>
                </a:solidFill>
                <a:latin typeface="Trebuchet MS" panose="020B0603020202020204" pitchFamily="34" charset="0"/>
                <a:cs typeface="Times New Roman" panose="02020603050405020304" pitchFamily="18" charset="0"/>
              </a:rPr>
              <a:t>a</a:t>
            </a:r>
            <a:r>
              <a:rPr lang="zh-CN" altLang="en-US" sz="2400" b="1" dirty="0">
                <a:solidFill>
                  <a:schemeClr val="tx1"/>
                </a:solidFill>
                <a:latin typeface="Trebuchet MS" panose="020B0603020202020204" pitchFamily="34" charset="0"/>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rPr>
              <a:t>0</a:t>
            </a:r>
            <a:r>
              <a:rPr lang="en-US" altLang="zh-CN" sz="2400" dirty="0">
                <a:solidFill>
                  <a:schemeClr val="tx1"/>
                </a:solidFill>
                <a:latin typeface="Trebuchet MS" panose="020B0603020202020204" pitchFamily="34" charset="0"/>
              </a:rPr>
              <a:t>, there exists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b="1" baseline="30000" dirty="0">
                <a:solidFill>
                  <a:schemeClr val="tx1"/>
                </a:solidFill>
                <a:latin typeface="Trebuchet MS" panose="020B0603020202020204" pitchFamily="34" charset="0"/>
                <a:cs typeface="Times New Roman" panose="02020603050405020304" pitchFamily="18" charset="0"/>
              </a:rPr>
              <a:t>-1</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rPr>
              <a:t>R</a:t>
            </a:r>
            <a:r>
              <a:rPr lang="en-US" altLang="zh-CN" sz="2400" dirty="0">
                <a:solidFill>
                  <a:schemeClr val="tx1"/>
                </a:solidFill>
                <a:latin typeface="Trebuchet MS" panose="020B0603020202020204" pitchFamily="34" charset="0"/>
              </a:rPr>
              <a:t>, then </a:t>
            </a:r>
            <a:r>
              <a:rPr lang="en-US" altLang="zh-CN" sz="2400" b="1" i="1" dirty="0">
                <a:solidFill>
                  <a:schemeClr val="tx1"/>
                </a:solidFill>
                <a:latin typeface="Trebuchet MS" panose="020B0603020202020204" pitchFamily="34" charset="0"/>
                <a:cs typeface="Times New Roman" panose="02020603050405020304" pitchFamily="18" charset="0"/>
              </a:rPr>
              <a:t>R</a:t>
            </a:r>
            <a:r>
              <a:rPr lang="en-US" altLang="zh-CN" sz="2400" dirty="0">
                <a:solidFill>
                  <a:schemeClr val="tx1"/>
                </a:solidFill>
                <a:latin typeface="Trebuchet MS" panose="020B0603020202020204" pitchFamily="34" charset="0"/>
              </a:rPr>
              <a:t> is called a </a:t>
            </a:r>
            <a:r>
              <a:rPr lang="en-US" altLang="zh-CN" sz="2400" b="1" i="1" dirty="0">
                <a:solidFill>
                  <a:srgbClr val="0B61FF"/>
                </a:solidFill>
                <a:latin typeface="Trebuchet MS" panose="020B0603020202020204" pitchFamily="34" charset="0"/>
              </a:rPr>
              <a:t>division ring</a:t>
            </a:r>
            <a:r>
              <a:rPr lang="en-US" altLang="zh-CN" sz="2400" dirty="0">
                <a:solidFill>
                  <a:schemeClr val="tx1"/>
                </a:solidFill>
                <a:latin typeface="Trebuchet MS" panose="020B0603020202020204" pitchFamily="34" charset="0"/>
              </a:rPr>
              <a:t>.</a:t>
            </a:r>
          </a:p>
          <a:p>
            <a:pPr marL="449263" indent="-449263" eaLnBrk="1" hangingPunct="1">
              <a:lnSpc>
                <a:spcPct val="110000"/>
              </a:lnSpc>
            </a:pPr>
            <a:r>
              <a:rPr lang="en-US" altLang="zh-CN" sz="2400" b="1" dirty="0">
                <a:solidFill>
                  <a:srgbClr val="0B61FF"/>
                </a:solidFill>
                <a:latin typeface="Trebuchet MS" panose="020B0603020202020204" pitchFamily="34" charset="0"/>
                <a:ea typeface="+mn-ea"/>
                <a:cs typeface="Times New Roman" panose="02020603050405020304" pitchFamily="18" charset="0"/>
              </a:rPr>
              <a:t>(3)</a:t>
            </a:r>
            <a:r>
              <a:rPr lang="en-US" altLang="zh-CN" sz="2400" dirty="0">
                <a:solidFill>
                  <a:srgbClr val="0B61FF"/>
                </a:solidFill>
                <a:latin typeface="Trebuchet MS" panose="020B0603020202020204" pitchFamily="34" charset="0"/>
              </a:rPr>
              <a:t> </a:t>
            </a:r>
            <a:r>
              <a:rPr lang="en-US" altLang="zh-CN" sz="2400" dirty="0">
                <a:solidFill>
                  <a:schemeClr val="tx1"/>
                </a:solidFill>
                <a:latin typeface="Trebuchet MS" panose="020B0603020202020204" pitchFamily="34" charset="0"/>
              </a:rPr>
              <a:t>If the ring </a:t>
            </a:r>
            <a:r>
              <a:rPr lang="en-US" altLang="zh-CN" sz="2400" b="1" dirty="0">
                <a:solidFill>
                  <a:schemeClr val="tx1"/>
                </a:solidFill>
                <a:latin typeface="Trebuchet MS" panose="020B0603020202020204" pitchFamily="34" charset="0"/>
                <a:ea typeface="+mn-ea"/>
                <a:cs typeface="Times New Roman" panose="02020603050405020304" pitchFamily="18" charset="0"/>
              </a:rPr>
              <a:t>&lt;</a:t>
            </a:r>
            <a:r>
              <a:rPr lang="en-US" altLang="zh-CN" sz="2400" b="1" i="1" dirty="0">
                <a:solidFill>
                  <a:schemeClr val="tx1"/>
                </a:solidFill>
                <a:latin typeface="Trebuchet MS" panose="020B0603020202020204" pitchFamily="34" charset="0"/>
                <a:ea typeface="+mn-ea"/>
                <a:cs typeface="Times New Roman" panose="02020603050405020304" pitchFamily="18" charset="0"/>
              </a:rPr>
              <a:t>R</a:t>
            </a:r>
            <a:r>
              <a:rPr lang="en-US" altLang="zh-CN" sz="2400" b="1" dirty="0">
                <a:solidFill>
                  <a:schemeClr val="tx1"/>
                </a:solidFill>
                <a:latin typeface="Trebuchet MS" panose="020B0603020202020204" pitchFamily="34" charset="0"/>
                <a:ea typeface="+mn-ea"/>
                <a:cs typeface="Times New Roman" panose="02020603050405020304" pitchFamily="18" charset="0"/>
              </a:rPr>
              <a:t>,+,·&gt;</a:t>
            </a:r>
            <a:r>
              <a:rPr lang="en-US" altLang="zh-CN" sz="2400" dirty="0">
                <a:solidFill>
                  <a:schemeClr val="tx1"/>
                </a:solidFill>
                <a:latin typeface="Trebuchet MS" panose="020B0603020202020204" pitchFamily="34" charset="0"/>
              </a:rPr>
              <a:t> is both an </a:t>
            </a:r>
            <a:r>
              <a:rPr lang="en-US" altLang="zh-CN" sz="2400" b="1" dirty="0">
                <a:solidFill>
                  <a:schemeClr val="tx1"/>
                </a:solidFill>
                <a:latin typeface="Trebuchet MS" panose="020B0603020202020204" pitchFamily="34" charset="0"/>
              </a:rPr>
              <a:t>integral domain</a:t>
            </a:r>
            <a:r>
              <a:rPr lang="en-US" altLang="zh-CN" sz="2400" dirty="0">
                <a:solidFill>
                  <a:schemeClr val="tx1"/>
                </a:solidFill>
                <a:latin typeface="Trebuchet MS" panose="020B0603020202020204" pitchFamily="34" charset="0"/>
              </a:rPr>
              <a:t> and a </a:t>
            </a:r>
            <a:r>
              <a:rPr lang="en-US" altLang="zh-CN" sz="2400" b="1" dirty="0">
                <a:solidFill>
                  <a:schemeClr val="tx1"/>
                </a:solidFill>
                <a:latin typeface="Trebuchet MS" panose="020B0603020202020204" pitchFamily="34" charset="0"/>
              </a:rPr>
              <a:t>division ring</a:t>
            </a:r>
            <a:r>
              <a:rPr lang="en-US" altLang="zh-CN" sz="2400" dirty="0">
                <a:solidFill>
                  <a:schemeClr val="tx1"/>
                </a:solidFill>
                <a:latin typeface="Trebuchet MS" panose="020B0603020202020204" pitchFamily="34" charset="0"/>
              </a:rPr>
              <a:t>, then </a:t>
            </a:r>
            <a:r>
              <a:rPr lang="en-US" altLang="zh-CN" sz="2400" b="1" i="1" dirty="0">
                <a:solidFill>
                  <a:srgbClr val="0B61FF"/>
                </a:solidFill>
                <a:latin typeface="Trebuchet MS" panose="020B0603020202020204" pitchFamily="34" charset="0"/>
              </a:rPr>
              <a:t>R</a:t>
            </a:r>
            <a:r>
              <a:rPr lang="en-US" altLang="zh-CN" sz="2400" dirty="0">
                <a:solidFill>
                  <a:schemeClr val="tx1"/>
                </a:solidFill>
                <a:latin typeface="Trebuchet MS" panose="020B0603020202020204" pitchFamily="34" charset="0"/>
              </a:rPr>
              <a:t> is called a </a:t>
            </a:r>
            <a:r>
              <a:rPr lang="en-US" altLang="zh-CN" sz="2400" b="1" i="1" dirty="0">
                <a:solidFill>
                  <a:srgbClr val="0B61FF"/>
                </a:solidFill>
                <a:latin typeface="Trebuchet MS" panose="020B0603020202020204" pitchFamily="34" charset="0"/>
              </a:rPr>
              <a:t>field</a:t>
            </a:r>
            <a:r>
              <a:rPr lang="en-US" altLang="zh-CN" sz="2400" dirty="0">
                <a:solidFill>
                  <a:schemeClr val="tx1"/>
                </a:solidFill>
                <a:latin typeface="Trebuchet MS" panose="020B0603020202020204" pitchFamily="34" charset="0"/>
              </a:rPr>
              <a:t>.</a:t>
            </a:r>
            <a:endParaRPr lang="en-US" altLang="zh-CN" sz="2400" b="1" dirty="0">
              <a:solidFill>
                <a:schemeClr val="tx1"/>
              </a:solidFill>
              <a:latin typeface="Trebuchet MS" panose="020B0603020202020204" pitchFamily="34" charset="0"/>
              <a:ea typeface="+mn-ea"/>
              <a:cs typeface="Times New Roman" panose="02020603050405020304" pitchFamily="18" charset="0"/>
            </a:endParaRPr>
          </a:p>
        </p:txBody>
      </p:sp>
      <p:pic>
        <p:nvPicPr>
          <p:cNvPr id="11" name="图片 10">
            <a:extLst>
              <a:ext uri="{FF2B5EF4-FFF2-40B4-BE49-F238E27FC236}">
                <a16:creationId xmlns:a16="http://schemas.microsoft.com/office/drawing/2014/main" id="{48520865-623C-4744-AC27-2DE7A52F50C7}"/>
              </a:ext>
            </a:extLst>
          </p:cNvPr>
          <p:cNvPicPr>
            <a:picLocks noChangeAspect="1"/>
          </p:cNvPicPr>
          <p:nvPr/>
        </p:nvPicPr>
        <p:blipFill>
          <a:blip r:embed="rId5"/>
          <a:stretch>
            <a:fillRect/>
          </a:stretch>
        </p:blipFill>
        <p:spPr>
          <a:xfrm>
            <a:off x="3738274" y="3828010"/>
            <a:ext cx="7727237" cy="2287019"/>
          </a:xfrm>
          <a:prstGeom prst="rect">
            <a:avLst/>
          </a:prstGeom>
        </p:spPr>
      </p:pic>
    </p:spTree>
    <p:extLst>
      <p:ext uri="{BB962C8B-B14F-4D97-AF65-F5344CB8AC3E}">
        <p14:creationId xmlns:p14="http://schemas.microsoft.com/office/powerpoint/2010/main" val="3255425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3" end="3"/>
                                            </p:txEl>
                                          </p:spTgt>
                                        </p:tgtEl>
                                        <p:attrNameLst>
                                          <p:attrName>style.visibility</p:attrName>
                                        </p:attrNameLst>
                                      </p:cBhvr>
                                      <p:to>
                                        <p:strVal val="visible"/>
                                      </p:to>
                                    </p:set>
                                    <p:animEffect transition="in" filter="fade">
                                      <p:cBhvr>
                                        <p:cTn id="14" dur="1000"/>
                                        <p:tgtEl>
                                          <p:spTgt spid="9">
                                            <p:txEl>
                                              <p:pRg st="3" end="3"/>
                                            </p:txEl>
                                          </p:spTgt>
                                        </p:tgtEl>
                                      </p:cBhvr>
                                    </p:animEffect>
                                    <p:anim calcmode="lin" valueType="num">
                                      <p:cBhvr>
                                        <p:cTn id="1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cs typeface="Times New Roman" panose="02020603050405020304" pitchFamily="18" charset="0"/>
              </a:rPr>
              <a:t>9.3.3 Rings and Fields</a:t>
            </a:r>
          </a:p>
          <a:p>
            <a:r>
              <a:rPr lang="en-US" altLang="zh-CN" sz="20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Examples: Domains, Division Rings, and Fields</a:t>
            </a:r>
            <a:endParaRPr lang="zh-CN" altLang="en-US" sz="2400" b="1" dirty="0">
              <a:solidFill>
                <a:srgbClr val="3D557A"/>
              </a:solidFill>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graphicFrame>
        <p:nvGraphicFramePr>
          <p:cNvPr id="3" name="表格 2">
            <a:extLst>
              <a:ext uri="{FF2B5EF4-FFF2-40B4-BE49-F238E27FC236}">
                <a16:creationId xmlns:a16="http://schemas.microsoft.com/office/drawing/2014/main" id="{C7DB155C-6FC1-411C-97E9-1F52C70D254C}"/>
              </a:ext>
            </a:extLst>
          </p:cNvPr>
          <p:cNvGraphicFramePr>
            <a:graphicFrameLocks noGrp="1"/>
          </p:cNvGraphicFramePr>
          <p:nvPr/>
        </p:nvGraphicFramePr>
        <p:xfrm>
          <a:off x="655398" y="868745"/>
          <a:ext cx="10292002" cy="5560094"/>
        </p:xfrm>
        <a:graphic>
          <a:graphicData uri="http://schemas.openxmlformats.org/drawingml/2006/table">
            <a:tbl>
              <a:tblPr>
                <a:tableStyleId>{073A0DAA-6AF3-43AB-8588-CEC1D06C72B9}</a:tableStyleId>
              </a:tblPr>
              <a:tblGrid>
                <a:gridCol w="1470286">
                  <a:extLst>
                    <a:ext uri="{9D8B030D-6E8A-4147-A177-3AD203B41FA5}">
                      <a16:colId xmlns:a16="http://schemas.microsoft.com/office/drawing/2014/main" val="1274324375"/>
                    </a:ext>
                  </a:extLst>
                </a:gridCol>
                <a:gridCol w="1470286">
                  <a:extLst>
                    <a:ext uri="{9D8B030D-6E8A-4147-A177-3AD203B41FA5}">
                      <a16:colId xmlns:a16="http://schemas.microsoft.com/office/drawing/2014/main" val="258852723"/>
                    </a:ext>
                  </a:extLst>
                </a:gridCol>
                <a:gridCol w="1470286">
                  <a:extLst>
                    <a:ext uri="{9D8B030D-6E8A-4147-A177-3AD203B41FA5}">
                      <a16:colId xmlns:a16="http://schemas.microsoft.com/office/drawing/2014/main" val="249474807"/>
                    </a:ext>
                  </a:extLst>
                </a:gridCol>
                <a:gridCol w="1470286">
                  <a:extLst>
                    <a:ext uri="{9D8B030D-6E8A-4147-A177-3AD203B41FA5}">
                      <a16:colId xmlns:a16="http://schemas.microsoft.com/office/drawing/2014/main" val="3394520806"/>
                    </a:ext>
                  </a:extLst>
                </a:gridCol>
                <a:gridCol w="1470286">
                  <a:extLst>
                    <a:ext uri="{9D8B030D-6E8A-4147-A177-3AD203B41FA5}">
                      <a16:colId xmlns:a16="http://schemas.microsoft.com/office/drawing/2014/main" val="1433366400"/>
                    </a:ext>
                  </a:extLst>
                </a:gridCol>
                <a:gridCol w="1470286">
                  <a:extLst>
                    <a:ext uri="{9D8B030D-6E8A-4147-A177-3AD203B41FA5}">
                      <a16:colId xmlns:a16="http://schemas.microsoft.com/office/drawing/2014/main" val="1632089439"/>
                    </a:ext>
                  </a:extLst>
                </a:gridCol>
                <a:gridCol w="1470286">
                  <a:extLst>
                    <a:ext uri="{9D8B030D-6E8A-4147-A177-3AD203B41FA5}">
                      <a16:colId xmlns:a16="http://schemas.microsoft.com/office/drawing/2014/main" val="1709402360"/>
                    </a:ext>
                  </a:extLst>
                </a:gridCol>
              </a:tblGrid>
              <a:tr h="552672">
                <a:tc>
                  <a:txBody>
                    <a:bodyPr/>
                    <a:lstStyle/>
                    <a:p>
                      <a:pPr algn="ctr"/>
                      <a:r>
                        <a:rPr lang="en-US" sz="1800" b="1" dirty="0">
                          <a:latin typeface="Times New Roman" panose="02020603050405020304" pitchFamily="18" charset="0"/>
                          <a:cs typeface="Times New Roman" panose="02020603050405020304" pitchFamily="18" charset="0"/>
                        </a:rPr>
                        <a:t>Ring</a:t>
                      </a:r>
                    </a:p>
                  </a:txBody>
                  <a:tcPr marL="67990" marR="67990" marT="33995" marB="33995" anchor="ctr"/>
                </a:tc>
                <a:tc>
                  <a:txBody>
                    <a:bodyPr/>
                    <a:lstStyle/>
                    <a:p>
                      <a:pPr algn="ctr"/>
                      <a:r>
                        <a:rPr lang="en-US" sz="1800" b="1" dirty="0">
                          <a:latin typeface="Times New Roman" panose="02020603050405020304" pitchFamily="18" charset="0"/>
                          <a:cs typeface="Times New Roman" panose="02020603050405020304" pitchFamily="18" charset="0"/>
                        </a:rPr>
                        <a:t>Commutative</a:t>
                      </a:r>
                    </a:p>
                  </a:txBody>
                  <a:tcPr marL="67990" marR="67990" marT="33995" marB="33995" anchor="ctr"/>
                </a:tc>
                <a:tc>
                  <a:txBody>
                    <a:bodyPr/>
                    <a:lstStyle/>
                    <a:p>
                      <a:pPr algn="ctr"/>
                      <a:r>
                        <a:rPr lang="en-US" sz="1800" b="1" dirty="0">
                          <a:latin typeface="Times New Roman" panose="02020603050405020304" pitchFamily="18" charset="0"/>
                          <a:cs typeface="Times New Roman" panose="02020603050405020304" pitchFamily="18" charset="0"/>
                        </a:rPr>
                        <a:t>Has Unity</a:t>
                      </a:r>
                    </a:p>
                  </a:txBody>
                  <a:tcPr marL="67990" marR="67990" marT="33995" marB="33995" anchor="ctr"/>
                </a:tc>
                <a:tc>
                  <a:txBody>
                    <a:bodyPr/>
                    <a:lstStyle/>
                    <a:p>
                      <a:pPr algn="ctr"/>
                      <a:r>
                        <a:rPr lang="en-US" sz="1800" b="1" dirty="0">
                          <a:latin typeface="Times New Roman" panose="02020603050405020304" pitchFamily="18" charset="0"/>
                          <a:cs typeface="Times New Roman" panose="02020603050405020304" pitchFamily="18" charset="0"/>
                        </a:rPr>
                        <a:t>No Zero Divisors</a:t>
                      </a:r>
                    </a:p>
                  </a:txBody>
                  <a:tcPr marL="67990" marR="67990" marT="33995" marB="33995" anchor="ctr"/>
                </a:tc>
                <a:tc>
                  <a:txBody>
                    <a:bodyPr/>
                    <a:lstStyle/>
                    <a:p>
                      <a:pPr algn="ctr"/>
                      <a:r>
                        <a:rPr lang="en-US" sz="1800" b="1" dirty="0">
                          <a:solidFill>
                            <a:srgbClr val="0B61FF"/>
                          </a:solidFill>
                          <a:latin typeface="Times New Roman" panose="02020603050405020304" pitchFamily="18" charset="0"/>
                          <a:cs typeface="Times New Roman" panose="02020603050405020304" pitchFamily="18" charset="0"/>
                        </a:rPr>
                        <a:t>Integral Domain</a:t>
                      </a:r>
                    </a:p>
                  </a:txBody>
                  <a:tcPr marL="67990" marR="67990" marT="33995" marB="33995" anchor="ctr"/>
                </a:tc>
                <a:tc>
                  <a:txBody>
                    <a:bodyPr/>
                    <a:lstStyle/>
                    <a:p>
                      <a:pPr algn="ctr"/>
                      <a:r>
                        <a:rPr lang="en-US" sz="1800" b="1" dirty="0">
                          <a:solidFill>
                            <a:srgbClr val="0B61FF"/>
                          </a:solidFill>
                          <a:latin typeface="Times New Roman" panose="02020603050405020304" pitchFamily="18" charset="0"/>
                          <a:cs typeface="Times New Roman" panose="02020603050405020304" pitchFamily="18" charset="0"/>
                        </a:rPr>
                        <a:t>Division Ring</a:t>
                      </a:r>
                    </a:p>
                  </a:txBody>
                  <a:tcPr marL="67990" marR="67990" marT="33995" marB="33995" anchor="ctr"/>
                </a:tc>
                <a:tc>
                  <a:txBody>
                    <a:bodyPr/>
                    <a:lstStyle/>
                    <a:p>
                      <a:pPr algn="ctr"/>
                      <a:r>
                        <a:rPr lang="en-US" sz="1800" b="1" dirty="0">
                          <a:solidFill>
                            <a:srgbClr val="0B61FF"/>
                          </a:solidFill>
                          <a:latin typeface="Times New Roman" panose="02020603050405020304" pitchFamily="18" charset="0"/>
                          <a:cs typeface="Times New Roman" panose="02020603050405020304" pitchFamily="18" charset="0"/>
                        </a:rPr>
                        <a:t>Field</a:t>
                      </a:r>
                    </a:p>
                  </a:txBody>
                  <a:tcPr marL="67990" marR="67990" marT="33995" marB="33995" anchor="ctr"/>
                </a:tc>
                <a:extLst>
                  <a:ext uri="{0D108BD9-81ED-4DB2-BD59-A6C34878D82A}">
                    <a16:rowId xmlns:a16="http://schemas.microsoft.com/office/drawing/2014/main" val="2776765609"/>
                  </a:ext>
                </a:extLst>
              </a:tr>
              <a:tr h="552672">
                <a:tc>
                  <a:txBody>
                    <a:bodyPr/>
                    <a:lstStyle/>
                    <a:p>
                      <a:pPr algn="ctr"/>
                      <a:r>
                        <a:rPr lang="en-US" altLang="zh-CN" sz="1800" b="1" dirty="0">
                          <a:latin typeface="Times New Roman" panose="02020603050405020304" pitchFamily="18" charset="0"/>
                          <a:cs typeface="Times New Roman" panose="02020603050405020304" pitchFamily="18" charset="0"/>
                        </a:rPr>
                        <a:t>&lt;</a:t>
                      </a:r>
                      <a:r>
                        <a:rPr lang="en-US" altLang="zh-CN" sz="1800" b="1" i="1" dirty="0">
                          <a:latin typeface="Times New Roman" panose="02020603050405020304" pitchFamily="18" charset="0"/>
                          <a:cs typeface="Times New Roman" panose="02020603050405020304" pitchFamily="18" charset="0"/>
                        </a:rPr>
                        <a:t>Z</a:t>
                      </a:r>
                      <a:r>
                        <a:rPr lang="en-US" altLang="zh-CN"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cs typeface="Times New Roman" panose="02020603050405020304" pitchFamily="18" charset="0"/>
                        </a:rPr>
                        <a:t>,</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&gt;</a:t>
                      </a:r>
                      <a:endParaRPr lang="en-US" sz="1800" dirty="0">
                        <a:latin typeface="Times New Roman" panose="02020603050405020304" pitchFamily="18" charset="0"/>
                        <a:cs typeface="Times New Roman" panose="02020603050405020304" pitchFamily="18" charset="0"/>
                      </a:endParaRPr>
                    </a:p>
                  </a:txBody>
                  <a:tcPr marL="67990" marR="67990" marT="33995" marB="33995" anchor="ctr">
                    <a:solidFill>
                      <a:srgbClr val="DEDAF8"/>
                    </a:solid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en-US" sz="1800">
                          <a:latin typeface="Times New Roman" panose="02020603050405020304" pitchFamily="18" charset="0"/>
                          <a:cs typeface="Times New Roman" panose="02020603050405020304" pitchFamily="18" charset="0"/>
                        </a:rPr>
                        <a:t>Unity = 1</a:t>
                      </a:r>
                    </a:p>
                  </a:txBody>
                  <a:tcPr marL="67990" marR="67990" marT="33995" marB="33995" anchor="ctr">
                    <a:no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en-US" sz="1800">
                          <a:latin typeface="Times New Roman" panose="02020603050405020304" pitchFamily="18" charset="0"/>
                          <a:cs typeface="Times New Roman" panose="02020603050405020304" pitchFamily="18" charset="0"/>
                        </a:rPr>
                        <a:t>✗ Only ±1 invertible</a:t>
                      </a:r>
                    </a:p>
                  </a:txBody>
                  <a:tcPr marL="67990" marR="67990" marT="33995" marB="33995" anchor="ctr">
                    <a:noFill/>
                  </a:tcPr>
                </a:tc>
                <a:tc>
                  <a:txBody>
                    <a:bodyPr/>
                    <a:lstStyle/>
                    <a:p>
                      <a:pPr algn="ctr"/>
                      <a:r>
                        <a:rPr lang="zh-CN" altLang="en-US" sz="1800">
                          <a:latin typeface="Times New Roman" panose="02020603050405020304" pitchFamily="18" charset="0"/>
                          <a:cs typeface="Times New Roman" panose="02020603050405020304" pitchFamily="18" charset="0"/>
                        </a:rPr>
                        <a:t>✗</a:t>
                      </a:r>
                    </a:p>
                  </a:txBody>
                  <a:tcPr marL="67990" marR="67990" marT="33995" marB="33995" anchor="ctr">
                    <a:noFill/>
                  </a:tcPr>
                </a:tc>
                <a:extLst>
                  <a:ext uri="{0D108BD9-81ED-4DB2-BD59-A6C34878D82A}">
                    <a16:rowId xmlns:a16="http://schemas.microsoft.com/office/drawing/2014/main" val="2365543225"/>
                  </a:ext>
                </a:extLst>
              </a:tr>
              <a:tr h="789532">
                <a:tc>
                  <a:txBody>
                    <a:bodyPr/>
                    <a:lstStyle/>
                    <a:p>
                      <a:pPr algn="ctr"/>
                      <a:r>
                        <a:rPr lang="en-US" altLang="zh-CN" sz="1800" b="1" dirty="0">
                          <a:latin typeface="Times New Roman" panose="02020603050405020304" pitchFamily="18" charset="0"/>
                          <a:cs typeface="Times New Roman" panose="02020603050405020304" pitchFamily="18" charset="0"/>
                        </a:rPr>
                        <a:t>&lt;</a:t>
                      </a:r>
                      <a:r>
                        <a:rPr lang="en-US" altLang="zh-CN" sz="1800" b="1" i="1" dirty="0">
                          <a:latin typeface="Times New Roman" panose="02020603050405020304" pitchFamily="18" charset="0"/>
                          <a:cs typeface="Times New Roman" panose="02020603050405020304" pitchFamily="18" charset="0"/>
                        </a:rPr>
                        <a:t>Q</a:t>
                      </a:r>
                      <a:r>
                        <a:rPr lang="en-US" altLang="zh-CN"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cs typeface="Times New Roman" panose="02020603050405020304" pitchFamily="18" charset="0"/>
                        </a:rPr>
                        <a:t>,</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&gt;</a:t>
                      </a:r>
                      <a:endParaRPr lang="en-US" sz="1800" dirty="0">
                        <a:latin typeface="Times New Roman" panose="02020603050405020304" pitchFamily="18" charset="0"/>
                        <a:cs typeface="Times New Roman" panose="02020603050405020304" pitchFamily="18" charset="0"/>
                      </a:endParaRPr>
                    </a:p>
                  </a:txBody>
                  <a:tcPr marL="67990" marR="67990" marT="33995" marB="33995" anchor="ctr">
                    <a:solidFill>
                      <a:srgbClr val="DEDAF8"/>
                    </a:solid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en-US" sz="1800" dirty="0">
                          <a:latin typeface="Times New Roman" panose="02020603050405020304" pitchFamily="18" charset="0"/>
                          <a:cs typeface="Times New Roman" panose="02020603050405020304" pitchFamily="18" charset="0"/>
                        </a:rPr>
                        <a:t>Unity = 1</a:t>
                      </a:r>
                    </a:p>
                  </a:txBody>
                  <a:tcPr marL="67990" marR="67990" marT="33995" marB="33995" anchor="ctr">
                    <a:no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en-US" sz="1800">
                          <a:latin typeface="Times New Roman" panose="02020603050405020304" pitchFamily="18" charset="0"/>
                          <a:cs typeface="Times New Roman" panose="02020603050405020304" pitchFamily="18" charset="0"/>
                        </a:rPr>
                        <a:t>✓ All nonzero elements invertible</a:t>
                      </a:r>
                    </a:p>
                  </a:txBody>
                  <a:tcPr marL="67990" marR="67990" marT="33995" marB="33995" anchor="ctr">
                    <a:noFill/>
                  </a:tcPr>
                </a:tc>
                <a:tc>
                  <a:txBody>
                    <a:bodyPr/>
                    <a:lstStyle/>
                    <a:p>
                      <a:pPr algn="ctr"/>
                      <a:r>
                        <a:rPr lang="zh-CN" altLang="en-US" sz="1800">
                          <a:latin typeface="Times New Roman" panose="02020603050405020304" pitchFamily="18" charset="0"/>
                          <a:cs typeface="Times New Roman" panose="02020603050405020304" pitchFamily="18" charset="0"/>
                        </a:rPr>
                        <a:t>✓</a:t>
                      </a:r>
                    </a:p>
                  </a:txBody>
                  <a:tcPr marL="67990" marR="67990" marT="33995" marB="33995" anchor="ctr">
                    <a:noFill/>
                  </a:tcPr>
                </a:tc>
                <a:extLst>
                  <a:ext uri="{0D108BD9-81ED-4DB2-BD59-A6C34878D82A}">
                    <a16:rowId xmlns:a16="http://schemas.microsoft.com/office/drawing/2014/main" val="743139837"/>
                  </a:ext>
                </a:extLst>
              </a:tr>
              <a:tr h="552672">
                <a:tc>
                  <a:txBody>
                    <a:bodyPr/>
                    <a:lstStyle/>
                    <a:p>
                      <a:pPr algn="ctr"/>
                      <a:r>
                        <a:rPr lang="en-US" altLang="zh-CN" sz="1800" b="1" dirty="0">
                          <a:latin typeface="Times New Roman" panose="02020603050405020304" pitchFamily="18" charset="0"/>
                          <a:cs typeface="Times New Roman" panose="02020603050405020304" pitchFamily="18" charset="0"/>
                        </a:rPr>
                        <a:t>&lt;</a:t>
                      </a:r>
                      <a:r>
                        <a:rPr lang="en-US" altLang="zh-CN" sz="1800" b="1" i="1" dirty="0">
                          <a:latin typeface="Times New Roman" panose="02020603050405020304" pitchFamily="18" charset="0"/>
                          <a:cs typeface="Times New Roman" panose="02020603050405020304" pitchFamily="18" charset="0"/>
                        </a:rPr>
                        <a:t>R</a:t>
                      </a:r>
                      <a:r>
                        <a:rPr lang="en-US" altLang="zh-CN"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cs typeface="Times New Roman" panose="02020603050405020304" pitchFamily="18" charset="0"/>
                        </a:rPr>
                        <a:t>,</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&gt;</a:t>
                      </a:r>
                      <a:endParaRPr lang="en-US" sz="1800" dirty="0">
                        <a:latin typeface="Times New Roman" panose="02020603050405020304" pitchFamily="18" charset="0"/>
                        <a:cs typeface="Times New Roman" panose="02020603050405020304" pitchFamily="18" charset="0"/>
                      </a:endParaRPr>
                    </a:p>
                  </a:txBody>
                  <a:tcPr marL="67990" marR="67990" marT="33995" marB="33995" anchor="ctr">
                    <a:solidFill>
                      <a:srgbClr val="DEDAF8"/>
                    </a:solid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en-US" sz="1800">
                          <a:latin typeface="Times New Roman" panose="02020603050405020304" pitchFamily="18" charset="0"/>
                          <a:cs typeface="Times New Roman" panose="02020603050405020304" pitchFamily="18" charset="0"/>
                        </a:rPr>
                        <a:t>Unity = 1</a:t>
                      </a:r>
                    </a:p>
                  </a:txBody>
                  <a:tcPr marL="67990" marR="67990" marT="33995" marB="33995" anchor="ctr">
                    <a:no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zh-CN" altLang="en-US" sz="180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zh-CN" altLang="en-US" sz="1800">
                          <a:latin typeface="Times New Roman" panose="02020603050405020304" pitchFamily="18" charset="0"/>
                          <a:cs typeface="Times New Roman" panose="02020603050405020304" pitchFamily="18" charset="0"/>
                        </a:rPr>
                        <a:t>✓</a:t>
                      </a:r>
                    </a:p>
                  </a:txBody>
                  <a:tcPr marL="67990" marR="67990" marT="33995" marB="33995" anchor="ctr">
                    <a:noFill/>
                  </a:tcPr>
                </a:tc>
                <a:extLst>
                  <a:ext uri="{0D108BD9-81ED-4DB2-BD59-A6C34878D82A}">
                    <a16:rowId xmlns:a16="http://schemas.microsoft.com/office/drawing/2014/main" val="1234132252"/>
                  </a:ext>
                </a:extLst>
              </a:tr>
              <a:tr h="552672">
                <a:tc>
                  <a:txBody>
                    <a:bodyPr/>
                    <a:lstStyle/>
                    <a:p>
                      <a:pPr algn="ctr"/>
                      <a:r>
                        <a:rPr lang="en-US" altLang="zh-CN" sz="1800" b="1" dirty="0">
                          <a:latin typeface="Times New Roman" panose="02020603050405020304" pitchFamily="18" charset="0"/>
                          <a:cs typeface="Times New Roman" panose="02020603050405020304" pitchFamily="18" charset="0"/>
                        </a:rPr>
                        <a:t>&lt;</a:t>
                      </a:r>
                      <a:r>
                        <a:rPr lang="en-US" altLang="zh-CN" sz="1800" b="1" i="1" dirty="0">
                          <a:latin typeface="Times New Roman" panose="02020603050405020304" pitchFamily="18" charset="0"/>
                          <a:cs typeface="Times New Roman" panose="02020603050405020304" pitchFamily="18" charset="0"/>
                        </a:rPr>
                        <a:t>C</a:t>
                      </a:r>
                      <a:r>
                        <a:rPr lang="en-US" altLang="zh-CN"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cs typeface="Times New Roman" panose="02020603050405020304" pitchFamily="18" charset="0"/>
                        </a:rPr>
                        <a:t>,</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&gt;</a:t>
                      </a:r>
                      <a:endParaRPr lang="en-US" sz="1800" dirty="0">
                        <a:latin typeface="Times New Roman" panose="02020603050405020304" pitchFamily="18" charset="0"/>
                        <a:cs typeface="Times New Roman" panose="02020603050405020304" pitchFamily="18" charset="0"/>
                      </a:endParaRPr>
                    </a:p>
                  </a:txBody>
                  <a:tcPr marL="67990" marR="67990" marT="33995" marB="33995" anchor="ctr">
                    <a:solidFill>
                      <a:srgbClr val="DEDAF8"/>
                    </a:solidFill>
                  </a:tcPr>
                </a:tc>
                <a:tc>
                  <a:txBody>
                    <a:bodyPr/>
                    <a:lstStyle/>
                    <a:p>
                      <a:pPr algn="ctr"/>
                      <a:r>
                        <a:rPr lang="zh-CN" altLang="en-US" sz="180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en-US" sz="1800">
                          <a:latin typeface="Times New Roman" panose="02020603050405020304" pitchFamily="18" charset="0"/>
                          <a:cs typeface="Times New Roman" panose="02020603050405020304" pitchFamily="18" charset="0"/>
                        </a:rPr>
                        <a:t>Unity = 1</a:t>
                      </a:r>
                    </a:p>
                  </a:txBody>
                  <a:tcPr marL="67990" marR="67990" marT="33995" marB="33995" anchor="ctr">
                    <a:noFill/>
                  </a:tcPr>
                </a:tc>
                <a:tc>
                  <a:txBody>
                    <a:bodyPr/>
                    <a:lstStyle/>
                    <a:p>
                      <a:pPr algn="ctr"/>
                      <a:r>
                        <a:rPr lang="zh-CN" altLang="en-US" sz="180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zh-CN" altLang="en-US" sz="1800">
                          <a:latin typeface="Times New Roman" panose="02020603050405020304" pitchFamily="18" charset="0"/>
                          <a:cs typeface="Times New Roman" panose="02020603050405020304" pitchFamily="18" charset="0"/>
                        </a:rPr>
                        <a:t>✓</a:t>
                      </a:r>
                    </a:p>
                  </a:txBody>
                  <a:tcPr marL="67990" marR="67990" marT="33995" marB="33995" anchor="ctr">
                    <a:noFill/>
                  </a:tcPr>
                </a:tc>
                <a:extLst>
                  <a:ext uri="{0D108BD9-81ED-4DB2-BD59-A6C34878D82A}">
                    <a16:rowId xmlns:a16="http://schemas.microsoft.com/office/drawing/2014/main" val="3631564260"/>
                  </a:ext>
                </a:extLst>
              </a:tr>
              <a:tr h="1026390">
                <a:tc>
                  <a:txBody>
                    <a:bodyPr/>
                    <a:lstStyle/>
                    <a:p>
                      <a:pPr algn="ctr"/>
                      <a:r>
                        <a:rPr lang="en-US" altLang="zh-CN" sz="1800" b="1" dirty="0">
                          <a:solidFill>
                            <a:schemeClr val="tx1"/>
                          </a:solidFill>
                          <a:latin typeface="Times New Roman" panose="02020603050405020304" pitchFamily="18" charset="0"/>
                          <a:cs typeface="Times New Roman" panose="02020603050405020304" pitchFamily="18" charset="0"/>
                        </a:rPr>
                        <a:t>&lt;</a:t>
                      </a:r>
                      <a:r>
                        <a:rPr lang="en-US" altLang="zh-CN" sz="1800" b="1" i="1" dirty="0">
                          <a:solidFill>
                            <a:schemeClr val="tx1"/>
                          </a:solidFill>
                          <a:latin typeface="Times New Roman" panose="02020603050405020304" pitchFamily="18" charset="0"/>
                          <a:cs typeface="Times New Roman" panose="02020603050405020304" pitchFamily="18" charset="0"/>
                        </a:rPr>
                        <a:t>M</a:t>
                      </a:r>
                      <a:r>
                        <a:rPr lang="en-US" altLang="zh-CN" sz="1800" b="1" i="1" baseline="-25000" dirty="0">
                          <a:solidFill>
                            <a:schemeClr val="tx1"/>
                          </a:solidFill>
                          <a:latin typeface="Times New Roman" panose="02020603050405020304" pitchFamily="18" charset="0"/>
                          <a:cs typeface="Times New Roman" panose="02020603050405020304" pitchFamily="18" charset="0"/>
                        </a:rPr>
                        <a:t>n</a:t>
                      </a:r>
                      <a:r>
                        <a:rPr lang="en-US" altLang="zh-CN" sz="1800" b="1" dirty="0">
                          <a:solidFill>
                            <a:schemeClr val="tx1"/>
                          </a:solidFill>
                          <a:latin typeface="Times New Roman" panose="02020603050405020304" pitchFamily="18" charset="0"/>
                          <a:cs typeface="Times New Roman" panose="02020603050405020304" pitchFamily="18" charset="0"/>
                        </a:rPr>
                        <a:t>(R) ,</a:t>
                      </a:r>
                      <a:r>
                        <a:rPr lang="en-US" altLang="zh-CN"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800" b="1" dirty="0">
                          <a:solidFill>
                            <a:schemeClr val="tx1"/>
                          </a:solidFill>
                          <a:latin typeface="Times New Roman" panose="02020603050405020304" pitchFamily="18" charset="0"/>
                          <a:cs typeface="Times New Roman" panose="02020603050405020304" pitchFamily="18" charset="0"/>
                        </a:rPr>
                        <a:t>,</a:t>
                      </a:r>
                      <a:r>
                        <a:rPr lang="en-US" altLang="zh-CN" sz="1800" b="1" dirty="0">
                          <a:solidFill>
                            <a:schemeClr val="tx1"/>
                          </a:solidFill>
                          <a:latin typeface="Times New Roman" panose="02020603050405020304" pitchFamily="18" charset="0"/>
                          <a:ea typeface="+mn-ea"/>
                          <a:cs typeface="Times New Roman" panose="02020603050405020304" pitchFamily="18" charset="0"/>
                        </a:rPr>
                        <a:t> ·</a:t>
                      </a:r>
                      <a:r>
                        <a:rPr lang="en-US" altLang="zh-CN" sz="1800" b="1" dirty="0">
                          <a:solidFill>
                            <a:schemeClr val="tx1"/>
                          </a:solidFill>
                          <a:latin typeface="Times New Roman" panose="02020603050405020304" pitchFamily="18" charset="0"/>
                          <a:cs typeface="Times New Roman" panose="02020603050405020304" pitchFamily="18" charset="0"/>
                        </a:rPr>
                        <a:t>&gt;</a:t>
                      </a:r>
                      <a:endParaRPr lang="pt-BR" sz="1800" dirty="0">
                        <a:latin typeface="Times New Roman" panose="02020603050405020304" pitchFamily="18" charset="0"/>
                        <a:cs typeface="Times New Roman" panose="02020603050405020304" pitchFamily="18" charset="0"/>
                      </a:endParaRPr>
                    </a:p>
                  </a:txBody>
                  <a:tcPr marL="67990" marR="67990" marT="33995" marB="33995" anchor="ctr">
                    <a:solidFill>
                      <a:srgbClr val="DEDAF8"/>
                    </a:solidFill>
                  </a:tcPr>
                </a:tc>
                <a:tc>
                  <a:txBody>
                    <a:bodyPr/>
                    <a:lstStyle/>
                    <a:p>
                      <a:pPr algn="ctr"/>
                      <a:r>
                        <a:rPr lang="en-US" altLang="zh-CN" sz="1800" b="1" dirty="0">
                          <a:solidFill>
                            <a:schemeClr val="tx1"/>
                          </a:solidFill>
                          <a:latin typeface="+mn-ea"/>
                          <a:ea typeface="+mn-ea"/>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Noncommutative</a:t>
                      </a:r>
                    </a:p>
                  </a:txBody>
                  <a:tcPr marL="67990" marR="67990" marT="33995" marB="33995" anchor="ctr">
                    <a:noFill/>
                  </a:tcPr>
                </a:tc>
                <a:tc>
                  <a:txBody>
                    <a:bodyPr/>
                    <a:lstStyle/>
                    <a:p>
                      <a:pPr algn="ctr"/>
                      <a:r>
                        <a:rPr lang="en-US" sz="1800" dirty="0">
                          <a:latin typeface="Times New Roman" panose="02020603050405020304" pitchFamily="18" charset="0"/>
                          <a:cs typeface="Times New Roman" panose="02020603050405020304" pitchFamily="18" charset="0"/>
                        </a:rPr>
                        <a:t>Unity = Identity Matrix</a:t>
                      </a:r>
                    </a:p>
                  </a:txBody>
                  <a:tcPr marL="67990" marR="67990" marT="33995" marB="33995" anchor="ctr">
                    <a:noFill/>
                  </a:tcPr>
                </a:tc>
                <a:tc>
                  <a:txBody>
                    <a:bodyPr/>
                    <a:lstStyle/>
                    <a:p>
                      <a:pPr algn="ctr"/>
                      <a:r>
                        <a:rPr lang="de-DE" sz="1800" dirty="0">
                          <a:latin typeface="Times New Roman" panose="02020603050405020304" pitchFamily="18" charset="0"/>
                          <a:cs typeface="Times New Roman" panose="02020603050405020304" pitchFamily="18" charset="0"/>
                        </a:rPr>
                        <a:t>✗ ∃</a:t>
                      </a:r>
                      <a:r>
                        <a:rPr lang="de-DE" sz="1800" b="1" i="1" dirty="0">
                          <a:latin typeface="Times New Roman" panose="02020603050405020304" pitchFamily="18" charset="0"/>
                          <a:cs typeface="Times New Roman" panose="02020603050405020304" pitchFamily="18" charset="0"/>
                        </a:rPr>
                        <a:t>A</a:t>
                      </a:r>
                      <a:r>
                        <a:rPr lang="de-DE" sz="1800" dirty="0">
                          <a:latin typeface="Times New Roman" panose="02020603050405020304" pitchFamily="18" charset="0"/>
                          <a:cs typeface="Times New Roman" panose="02020603050405020304" pitchFamily="18" charset="0"/>
                        </a:rPr>
                        <a:t>,</a:t>
                      </a:r>
                      <a:r>
                        <a:rPr lang="de-DE" sz="1800" b="1" i="1" dirty="0">
                          <a:latin typeface="Times New Roman" panose="02020603050405020304" pitchFamily="18" charset="0"/>
                          <a:cs typeface="Times New Roman" panose="02020603050405020304" pitchFamily="18" charset="0"/>
                        </a:rPr>
                        <a:t>B</a:t>
                      </a:r>
                      <a:r>
                        <a:rPr lang="de-DE" sz="1800" dirty="0">
                          <a:latin typeface="Times New Roman" panose="02020603050405020304" pitchFamily="18" charset="0"/>
                          <a:cs typeface="Times New Roman" panose="02020603050405020304" pitchFamily="18" charset="0"/>
                        </a:rPr>
                        <a:t>≠0,</a:t>
                      </a:r>
                      <a:r>
                        <a:rPr lang="de-DE" sz="1800" b="1" i="1" dirty="0">
                          <a:latin typeface="Times New Roman" panose="02020603050405020304" pitchFamily="18" charset="0"/>
                          <a:cs typeface="Times New Roman" panose="02020603050405020304" pitchFamily="18" charset="0"/>
                        </a:rPr>
                        <a:t>A</a:t>
                      </a:r>
                      <a:r>
                        <a:rPr lang="en-US" altLang="zh-CN" sz="1800" b="1" dirty="0">
                          <a:solidFill>
                            <a:schemeClr val="tx1"/>
                          </a:solidFill>
                          <a:latin typeface="+mn-ea"/>
                          <a:ea typeface="+mn-ea"/>
                          <a:cs typeface="Times New Roman" panose="02020603050405020304" pitchFamily="18" charset="0"/>
                        </a:rPr>
                        <a:t>·</a:t>
                      </a:r>
                      <a:r>
                        <a:rPr lang="de-DE" sz="1800" b="1" i="1" dirty="0">
                          <a:latin typeface="Times New Roman" panose="02020603050405020304" pitchFamily="18" charset="0"/>
                          <a:cs typeface="Times New Roman" panose="02020603050405020304" pitchFamily="18" charset="0"/>
                        </a:rPr>
                        <a:t>B</a:t>
                      </a:r>
                      <a:r>
                        <a:rPr lang="de-DE" sz="1800" dirty="0">
                          <a:latin typeface="Times New Roman" panose="02020603050405020304" pitchFamily="18" charset="0"/>
                          <a:cs typeface="Times New Roman" panose="02020603050405020304" pitchFamily="18" charset="0"/>
                        </a:rPr>
                        <a:t>=0</a:t>
                      </a:r>
                    </a:p>
                  </a:txBody>
                  <a:tcPr marL="67990" marR="67990" marT="33995" marB="33995" anchor="ctr">
                    <a:no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en-US" sz="1800" dirty="0">
                          <a:latin typeface="Times New Roman" panose="02020603050405020304" pitchFamily="18" charset="0"/>
                          <a:cs typeface="Times New Roman" panose="02020603050405020304" pitchFamily="18" charset="0"/>
                        </a:rPr>
                        <a:t>✗ </a:t>
                      </a:r>
                      <a:r>
                        <a:rPr lang="en-US" altLang="zh-CN" dirty="0"/>
                        <a:t>nonzero matrix has no multiplicative inverse</a:t>
                      </a:r>
                      <a:endParaRPr lang="en-US" sz="1800" dirty="0">
                        <a:latin typeface="Times New Roman" panose="02020603050405020304" pitchFamily="18" charset="0"/>
                        <a:cs typeface="Times New Roman" panose="02020603050405020304" pitchFamily="18" charset="0"/>
                      </a:endParaRPr>
                    </a:p>
                  </a:txBody>
                  <a:tcPr marL="67990" marR="67990" marT="33995" marB="33995" anchor="ctr">
                    <a:noFill/>
                  </a:tcP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marL="67990" marR="67990" marT="33995" marB="33995" anchor="ctr">
                    <a:noFill/>
                  </a:tcPr>
                </a:tc>
                <a:extLst>
                  <a:ext uri="{0D108BD9-81ED-4DB2-BD59-A6C34878D82A}">
                    <a16:rowId xmlns:a16="http://schemas.microsoft.com/office/drawing/2014/main" val="1141781972"/>
                  </a:ext>
                </a:extLst>
              </a:tr>
              <a:tr h="1026390">
                <a:tc>
                  <a:txBody>
                    <a:bodyPr/>
                    <a:lstStyle/>
                    <a:p>
                      <a:pPr algn="ctr"/>
                      <a:r>
                        <a:rPr lang="en-US" altLang="zh-CN" sz="1800" b="1" dirty="0">
                          <a:latin typeface="Times New Roman" panose="02020603050405020304" pitchFamily="18" charset="0"/>
                          <a:cs typeface="Times New Roman" panose="02020603050405020304" pitchFamily="18" charset="0"/>
                        </a:rPr>
                        <a:t>&lt;</a:t>
                      </a:r>
                      <a:r>
                        <a:rPr lang="en-US" altLang="zh-CN" sz="1800" b="1" i="1" dirty="0">
                          <a:latin typeface="Times New Roman" panose="02020603050405020304" pitchFamily="18" charset="0"/>
                          <a:cs typeface="Times New Roman" panose="02020603050405020304" pitchFamily="18" charset="0"/>
                        </a:rPr>
                        <a:t>Z</a:t>
                      </a:r>
                      <a:r>
                        <a:rPr lang="en-US" altLang="zh-CN" sz="1800" b="1" i="1" baseline="-25000" dirty="0">
                          <a:latin typeface="Times New Roman" panose="02020603050405020304" pitchFamily="18" charset="0"/>
                          <a:cs typeface="Times New Roman" panose="02020603050405020304" pitchFamily="18" charset="0"/>
                        </a:rPr>
                        <a:t>n</a:t>
                      </a:r>
                      <a:r>
                        <a:rPr lang="en-US" altLang="zh-CN"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800" b="1" dirty="0">
                          <a:latin typeface="Times New Roman" panose="02020603050405020304" pitchFamily="18" charset="0"/>
                          <a:cs typeface="Times New Roman" panose="02020603050405020304" pitchFamily="18" charset="0"/>
                        </a:rPr>
                        <a:t>&gt;</a:t>
                      </a:r>
                      <a:endParaRPr lang="en-US" sz="1800" dirty="0">
                        <a:latin typeface="Times New Roman" panose="02020603050405020304" pitchFamily="18" charset="0"/>
                        <a:cs typeface="Times New Roman" panose="02020603050405020304" pitchFamily="18" charset="0"/>
                      </a:endParaRPr>
                    </a:p>
                  </a:txBody>
                  <a:tcPr marL="67990" marR="67990" marT="33995" marB="33995" anchor="ctr">
                    <a:solidFill>
                      <a:srgbClr val="DEDAF8"/>
                    </a:solidFill>
                  </a:tcPr>
                </a:tc>
                <a:tc>
                  <a:txBody>
                    <a:bodyPr/>
                    <a:lstStyle/>
                    <a:p>
                      <a:pPr algn="ctr"/>
                      <a:r>
                        <a:rPr lang="zh-CN" altLang="en-US" sz="1800">
                          <a:latin typeface="Times New Roman" panose="02020603050405020304" pitchFamily="18" charset="0"/>
                          <a:cs typeface="Times New Roman" panose="02020603050405020304" pitchFamily="18" charset="0"/>
                        </a:rPr>
                        <a:t>✓</a:t>
                      </a:r>
                    </a:p>
                  </a:txBody>
                  <a:tcPr marL="67990" marR="67990" marT="33995" marB="33995" anchor="ctr">
                    <a:noFill/>
                  </a:tcPr>
                </a:tc>
                <a:tc>
                  <a:txBody>
                    <a:bodyPr/>
                    <a:lstStyle/>
                    <a:p>
                      <a:pPr algn="ctr"/>
                      <a:r>
                        <a:rPr lang="en-US" sz="1800">
                          <a:latin typeface="Times New Roman" panose="02020603050405020304" pitchFamily="18" charset="0"/>
                          <a:cs typeface="Times New Roman" panose="02020603050405020304" pitchFamily="18" charset="0"/>
                        </a:rPr>
                        <a:t>Unity = 1</a:t>
                      </a:r>
                    </a:p>
                  </a:txBody>
                  <a:tcPr marL="67990" marR="67990" marT="33995" marB="33995" anchor="ctr">
                    <a:noFill/>
                  </a:tcPr>
                </a:tc>
                <a:tc>
                  <a:txBody>
                    <a:bodyPr/>
                    <a:lstStyle/>
                    <a:p>
                      <a:pPr algn="ctr"/>
                      <a:r>
                        <a:rPr lang="en-US" altLang="zh-CN" sz="1800" b="1" dirty="0">
                          <a:solidFill>
                            <a:schemeClr val="tx1"/>
                          </a:solidFill>
                          <a:latin typeface="Trebuchet MS" panose="020B0603020202020204" pitchFamily="34" charset="0"/>
                        </a:rPr>
                        <a:t>ℤ₆ </a:t>
                      </a:r>
                      <a:r>
                        <a:rPr lang="en-US" altLang="zh-CN" sz="1800" b="0" dirty="0">
                          <a:solidFill>
                            <a:schemeClr val="tx1"/>
                          </a:solidFill>
                          <a:latin typeface="Trebuchet MS" panose="020B0603020202020204" pitchFamily="34" charset="0"/>
                        </a:rPr>
                        <a:t>has zero divisors, since </a:t>
                      </a:r>
                      <a:r>
                        <a:rPr lang="en-US" altLang="zh-CN" sz="1800" b="1" dirty="0">
                          <a:solidFill>
                            <a:schemeClr val="tx1"/>
                          </a:solidFill>
                          <a:latin typeface="Trebuchet MS" panose="020B0603020202020204" pitchFamily="34" charset="0"/>
                        </a:rPr>
                        <a:t>2 ⊗ 3 = 0</a:t>
                      </a:r>
                      <a:endParaRPr lang="en-US" sz="1800" dirty="0">
                        <a:latin typeface="Times New Roman" panose="02020603050405020304" pitchFamily="18" charset="0"/>
                        <a:cs typeface="Times New Roman" panose="02020603050405020304" pitchFamily="18" charset="0"/>
                      </a:endParaRPr>
                    </a:p>
                  </a:txBody>
                  <a:tcPr marL="67990" marR="67990" marT="33995" marB="33995" anchor="ctr">
                    <a:noFill/>
                  </a:tcPr>
                </a:tc>
                <a:tc>
                  <a:txBody>
                    <a:bodyPr/>
                    <a:lstStyle/>
                    <a:p>
                      <a:pPr algn="ctr"/>
                      <a:r>
                        <a:rPr lang="en-US" sz="1800" dirty="0">
                          <a:latin typeface="Times New Roman" panose="02020603050405020304" pitchFamily="18" charset="0"/>
                          <a:cs typeface="Times New Roman" panose="02020603050405020304" pitchFamily="18" charset="0"/>
                        </a:rPr>
                        <a:t>If</a:t>
                      </a:r>
                      <a:r>
                        <a:rPr lang="en-US" sz="1800" b="1" i="1" dirty="0">
                          <a:latin typeface="Times New Roman" panose="02020603050405020304" pitchFamily="18" charset="0"/>
                          <a:cs typeface="Times New Roman" panose="02020603050405020304" pitchFamily="18" charset="0"/>
                        </a:rPr>
                        <a:t> n </a:t>
                      </a:r>
                      <a:r>
                        <a:rPr lang="en-US" sz="1800" dirty="0">
                          <a:latin typeface="Times New Roman" panose="02020603050405020304" pitchFamily="18" charset="0"/>
                          <a:cs typeface="Times New Roman" panose="02020603050405020304" pitchFamily="18" charset="0"/>
                        </a:rPr>
                        <a:t>prime → ✓</a:t>
                      </a:r>
                    </a:p>
                  </a:txBody>
                  <a:tcPr marL="67990" marR="67990" marT="33995" marB="33995" anchor="ctr">
                    <a:noFill/>
                  </a:tcPr>
                </a:tc>
                <a:tc>
                  <a:txBody>
                    <a:bodyPr/>
                    <a:lstStyle/>
                    <a:p>
                      <a:pPr algn="ctr"/>
                      <a:r>
                        <a:rPr lang="en-US" sz="1800" dirty="0">
                          <a:latin typeface="Times New Roman" panose="02020603050405020304" pitchFamily="18" charset="0"/>
                          <a:cs typeface="Times New Roman" panose="02020603050405020304" pitchFamily="18" charset="0"/>
                        </a:rPr>
                        <a:t>If </a:t>
                      </a:r>
                      <a:r>
                        <a:rPr lang="en-US" sz="1800" b="1" i="1"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 prime → ✓</a:t>
                      </a:r>
                    </a:p>
                  </a:txBody>
                  <a:tcPr marL="67990" marR="67990" marT="33995" marB="33995" anchor="ctr">
                    <a:noFill/>
                  </a:tcPr>
                </a:tc>
                <a:tc>
                  <a:txBody>
                    <a:bodyPr/>
                    <a:lstStyle/>
                    <a:p>
                      <a:pPr algn="ctr"/>
                      <a:r>
                        <a:rPr lang="en-US" sz="1800" dirty="0">
                          <a:latin typeface="Times New Roman" panose="02020603050405020304" pitchFamily="18" charset="0"/>
                          <a:cs typeface="Times New Roman" panose="02020603050405020304" pitchFamily="18" charset="0"/>
                        </a:rPr>
                        <a:t>If </a:t>
                      </a:r>
                      <a:r>
                        <a:rPr lang="en-US" sz="1800" b="1" i="1"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 prime → ✓</a:t>
                      </a:r>
                    </a:p>
                  </a:txBody>
                  <a:tcPr marL="67990" marR="67990" marT="33995" marB="33995" anchor="ctr">
                    <a:noFill/>
                  </a:tcPr>
                </a:tc>
                <a:extLst>
                  <a:ext uri="{0D108BD9-81ED-4DB2-BD59-A6C34878D82A}">
                    <a16:rowId xmlns:a16="http://schemas.microsoft.com/office/drawing/2014/main" val="2329065517"/>
                  </a:ext>
                </a:extLst>
              </a:tr>
            </a:tbl>
          </a:graphicData>
        </a:graphic>
      </p:graphicFrame>
    </p:spTree>
    <p:extLst>
      <p:ext uri="{BB962C8B-B14F-4D97-AF65-F5344CB8AC3E}">
        <p14:creationId xmlns:p14="http://schemas.microsoft.com/office/powerpoint/2010/main" val="654555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9.3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几个典型的代数系统</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9.3.3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环与域</a:t>
            </a: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highlight>
                  <a:srgbClr val="FF0000"/>
                </a:highlight>
                <a:latin typeface="Cambria Math" panose="02040503050406030204" pitchFamily="18" charset="0"/>
                <a:cs typeface="Times New Roman" panose="02020603050405020304" pitchFamily="18" charset="0"/>
              </a:rPr>
              <a:t>整环、除环、域（例）</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graphicFrame>
        <p:nvGraphicFramePr>
          <p:cNvPr id="10" name="表格 3">
            <a:extLst>
              <a:ext uri="{FF2B5EF4-FFF2-40B4-BE49-F238E27FC236}">
                <a16:creationId xmlns:a16="http://schemas.microsoft.com/office/drawing/2014/main" id="{2AAFB369-4E26-4703-A78A-8A9B245A6052}"/>
              </a:ext>
            </a:extLst>
          </p:cNvPr>
          <p:cNvGraphicFramePr>
            <a:graphicFrameLocks noGrp="1"/>
          </p:cNvGraphicFramePr>
          <p:nvPr/>
        </p:nvGraphicFramePr>
        <p:xfrm>
          <a:off x="587826" y="903514"/>
          <a:ext cx="10951029" cy="5212080"/>
        </p:xfrm>
        <a:graphic>
          <a:graphicData uri="http://schemas.openxmlformats.org/drawingml/2006/table">
            <a:tbl>
              <a:tblPr firstRow="1" bandRow="1">
                <a:tableStyleId>{5C22544A-7EE6-4342-B048-85BDC9FD1C3A}</a:tableStyleId>
              </a:tblPr>
              <a:tblGrid>
                <a:gridCol w="1894114">
                  <a:extLst>
                    <a:ext uri="{9D8B030D-6E8A-4147-A177-3AD203B41FA5}">
                      <a16:colId xmlns:a16="http://schemas.microsoft.com/office/drawing/2014/main" val="3182249620"/>
                    </a:ext>
                  </a:extLst>
                </a:gridCol>
                <a:gridCol w="1153886">
                  <a:extLst>
                    <a:ext uri="{9D8B030D-6E8A-4147-A177-3AD203B41FA5}">
                      <a16:colId xmlns:a16="http://schemas.microsoft.com/office/drawing/2014/main" val="4117855741"/>
                    </a:ext>
                  </a:extLst>
                </a:gridCol>
                <a:gridCol w="1197429">
                  <a:extLst>
                    <a:ext uri="{9D8B030D-6E8A-4147-A177-3AD203B41FA5}">
                      <a16:colId xmlns:a16="http://schemas.microsoft.com/office/drawing/2014/main" val="4250211998"/>
                    </a:ext>
                  </a:extLst>
                </a:gridCol>
                <a:gridCol w="1959428">
                  <a:extLst>
                    <a:ext uri="{9D8B030D-6E8A-4147-A177-3AD203B41FA5}">
                      <a16:colId xmlns:a16="http://schemas.microsoft.com/office/drawing/2014/main" val="420357816"/>
                    </a:ext>
                  </a:extLst>
                </a:gridCol>
                <a:gridCol w="968829">
                  <a:extLst>
                    <a:ext uri="{9D8B030D-6E8A-4147-A177-3AD203B41FA5}">
                      <a16:colId xmlns:a16="http://schemas.microsoft.com/office/drawing/2014/main" val="3410586182"/>
                    </a:ext>
                  </a:extLst>
                </a:gridCol>
                <a:gridCol w="2449286">
                  <a:extLst>
                    <a:ext uri="{9D8B030D-6E8A-4147-A177-3AD203B41FA5}">
                      <a16:colId xmlns:a16="http://schemas.microsoft.com/office/drawing/2014/main" val="2506617906"/>
                    </a:ext>
                  </a:extLst>
                </a:gridCol>
                <a:gridCol w="1328057">
                  <a:extLst>
                    <a:ext uri="{9D8B030D-6E8A-4147-A177-3AD203B41FA5}">
                      <a16:colId xmlns:a16="http://schemas.microsoft.com/office/drawing/2014/main" val="1347283075"/>
                    </a:ext>
                  </a:extLst>
                </a:gridCol>
              </a:tblGrid>
              <a:tr h="347863">
                <a:tc>
                  <a:txBody>
                    <a:bodyPr/>
                    <a:lstStyle/>
                    <a:p>
                      <a:pPr algn="ctr"/>
                      <a:r>
                        <a:rPr lang="zh-CN" altLang="en-US" sz="2000" dirty="0">
                          <a:solidFill>
                            <a:schemeClr val="tx1"/>
                          </a:solidFill>
                        </a:rPr>
                        <a:t>环</a:t>
                      </a:r>
                    </a:p>
                  </a:txBody>
                  <a:tcPr anchor="ctr">
                    <a:solidFill>
                      <a:schemeClr val="accent1">
                        <a:lumMod val="40000"/>
                        <a:lumOff val="60000"/>
                      </a:schemeClr>
                    </a:solidFill>
                  </a:tcPr>
                </a:tc>
                <a:tc>
                  <a:txBody>
                    <a:bodyPr/>
                    <a:lstStyle/>
                    <a:p>
                      <a:pPr algn="ctr"/>
                      <a:r>
                        <a:rPr lang="zh-CN" altLang="en-US" sz="2000" dirty="0">
                          <a:solidFill>
                            <a:schemeClr val="tx1"/>
                          </a:solidFill>
                        </a:rPr>
                        <a:t>交换环</a:t>
                      </a:r>
                    </a:p>
                  </a:txBody>
                  <a:tcPr anchor="ctr">
                    <a:solidFill>
                      <a:schemeClr val="accent1">
                        <a:lumMod val="40000"/>
                        <a:lumOff val="60000"/>
                      </a:schemeClr>
                    </a:solidFill>
                  </a:tcPr>
                </a:tc>
                <a:tc>
                  <a:txBody>
                    <a:bodyPr/>
                    <a:lstStyle/>
                    <a:p>
                      <a:pPr algn="ctr"/>
                      <a:r>
                        <a:rPr lang="zh-CN" altLang="en-US" sz="2000" dirty="0">
                          <a:solidFill>
                            <a:schemeClr val="tx1"/>
                          </a:solidFill>
                        </a:rPr>
                        <a:t>含乘法幺环</a:t>
                      </a:r>
                    </a:p>
                  </a:txBody>
                  <a:tcPr>
                    <a:solidFill>
                      <a:schemeClr val="accent1">
                        <a:lumMod val="40000"/>
                        <a:lumOff val="60000"/>
                      </a:schemeClr>
                    </a:solidFill>
                  </a:tcPr>
                </a:tc>
                <a:tc>
                  <a:txBody>
                    <a:bodyPr/>
                    <a:lstStyle/>
                    <a:p>
                      <a:pPr algn="ctr"/>
                      <a:r>
                        <a:rPr lang="zh-CN" altLang="en-US" sz="2000" dirty="0">
                          <a:solidFill>
                            <a:schemeClr val="tx1"/>
                          </a:solidFill>
                        </a:rPr>
                        <a:t>无零因子环</a:t>
                      </a:r>
                    </a:p>
                  </a:txBody>
                  <a:tcPr anchor="ctr">
                    <a:solidFill>
                      <a:schemeClr val="accent1">
                        <a:lumMod val="40000"/>
                        <a:lumOff val="60000"/>
                      </a:schemeClr>
                    </a:solidFill>
                  </a:tcPr>
                </a:tc>
                <a:tc>
                  <a:txBody>
                    <a:bodyPr/>
                    <a:lstStyle/>
                    <a:p>
                      <a:pPr algn="ctr"/>
                      <a:r>
                        <a:rPr lang="zh-CN" altLang="en-US" sz="2000" b="1" dirty="0">
                          <a:solidFill>
                            <a:srgbClr val="FF0000"/>
                          </a:solidFill>
                          <a:latin typeface="Times New Roman" panose="02020603050405020304" pitchFamily="18" charset="0"/>
                          <a:ea typeface="+mn-ea"/>
                          <a:cs typeface="Times New Roman" panose="02020603050405020304" pitchFamily="18" charset="0"/>
                        </a:rPr>
                        <a:t>整环</a:t>
                      </a:r>
                      <a:endParaRPr lang="zh-CN" altLang="en-US" sz="2000" dirty="0">
                        <a:solidFill>
                          <a:schemeClr val="tx1"/>
                        </a:solidFill>
                      </a:endParaRPr>
                    </a:p>
                  </a:txBody>
                  <a:tcPr anchor="ctr">
                    <a:solidFill>
                      <a:schemeClr val="accent1">
                        <a:lumMod val="40000"/>
                        <a:lumOff val="60000"/>
                      </a:schemeClr>
                    </a:solidFill>
                  </a:tcPr>
                </a:tc>
                <a:tc>
                  <a:txBody>
                    <a:bodyPr/>
                    <a:lstStyle/>
                    <a:p>
                      <a:pPr algn="ctr"/>
                      <a:r>
                        <a:rPr lang="zh-CN" altLang="en-US" sz="2000" b="1" dirty="0">
                          <a:solidFill>
                            <a:srgbClr val="FF0000"/>
                          </a:solidFill>
                          <a:latin typeface="Times New Roman" panose="02020603050405020304" pitchFamily="18" charset="0"/>
                          <a:ea typeface="+mn-ea"/>
                          <a:cs typeface="Times New Roman" panose="02020603050405020304" pitchFamily="18" charset="0"/>
                        </a:rPr>
                        <a:t>除环</a:t>
                      </a:r>
                      <a:endParaRPr lang="zh-CN" altLang="en-US" sz="2000" dirty="0">
                        <a:solidFill>
                          <a:schemeClr val="tx1"/>
                        </a:solidFill>
                      </a:endParaRPr>
                    </a:p>
                  </a:txBody>
                  <a:tcPr anchor="ctr">
                    <a:solidFill>
                      <a:schemeClr val="accent1">
                        <a:lumMod val="40000"/>
                        <a:lumOff val="60000"/>
                      </a:schemeClr>
                    </a:solidFill>
                  </a:tcPr>
                </a:tc>
                <a:tc>
                  <a:txBody>
                    <a:bodyPr/>
                    <a:lstStyle/>
                    <a:p>
                      <a:pPr algn="ctr"/>
                      <a:r>
                        <a:rPr lang="zh-CN" altLang="en-US" sz="2000" b="1" dirty="0">
                          <a:solidFill>
                            <a:srgbClr val="FF0000"/>
                          </a:solidFill>
                          <a:latin typeface="Times New Roman" panose="02020603050405020304" pitchFamily="18" charset="0"/>
                          <a:ea typeface="+mn-ea"/>
                          <a:cs typeface="Times New Roman" panose="02020603050405020304" pitchFamily="18" charset="0"/>
                          <a:sym typeface="Symbol" panose="05050102010706020507" pitchFamily="18" charset="2"/>
                        </a:rPr>
                        <a:t>域</a:t>
                      </a:r>
                      <a:endParaRPr lang="zh-CN" altLang="en-US" sz="2000" dirty="0">
                        <a:solidFill>
                          <a:schemeClr val="tx1"/>
                        </a:solidFill>
                      </a:endParaRPr>
                    </a:p>
                  </a:txBody>
                  <a:tcPr anchor="ctr">
                    <a:solidFill>
                      <a:schemeClr val="accent1">
                        <a:lumMod val="40000"/>
                        <a:lumOff val="60000"/>
                      </a:schemeClr>
                    </a:solidFill>
                  </a:tcPr>
                </a:tc>
                <a:extLst>
                  <a:ext uri="{0D108BD9-81ED-4DB2-BD59-A6C34878D82A}">
                    <a16:rowId xmlns:a16="http://schemas.microsoft.com/office/drawing/2014/main" val="1291182988"/>
                  </a:ext>
                </a:extLst>
              </a:tr>
              <a:tr h="347863">
                <a:tc>
                  <a:txBody>
                    <a:bodyPr/>
                    <a:lstStyle/>
                    <a:p>
                      <a:pPr algn="ctr"/>
                      <a:r>
                        <a:rPr lang="zh-CN" altLang="en-US" sz="2000" b="1" dirty="0">
                          <a:latin typeface="Times New Roman" panose="02020603050405020304" pitchFamily="18" charset="0"/>
                          <a:cs typeface="Times New Roman" panose="02020603050405020304" pitchFamily="18" charset="0"/>
                        </a:rPr>
                        <a:t>整数环</a:t>
                      </a:r>
                      <a:r>
                        <a:rPr lang="en-US" altLang="zh-CN" sz="2000" b="1" dirty="0">
                          <a:latin typeface="Times New Roman" panose="02020603050405020304" pitchFamily="18" charset="0"/>
                          <a:cs typeface="Times New Roman" panose="02020603050405020304" pitchFamily="18" charset="0"/>
                        </a:rPr>
                        <a:t>&lt;</a:t>
                      </a:r>
                      <a:r>
                        <a:rPr lang="en-US" altLang="zh-CN" sz="2000" b="1" i="1" dirty="0">
                          <a:latin typeface="Times New Roman" panose="02020603050405020304" pitchFamily="18" charset="0"/>
                          <a:cs typeface="Times New Roman" panose="02020603050405020304" pitchFamily="18" charset="0"/>
                        </a:rPr>
                        <a:t>Z</a:t>
                      </a:r>
                      <a:r>
                        <a:rPr lang="en-US" altLang="zh-CN"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ea typeface="+mn-ea"/>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&gt;</a:t>
                      </a:r>
                      <a:endParaRPr lang="zh-CN" altLang="en-US" sz="2000" dirty="0"/>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r>
                        <a:rPr lang="zh-CN" altLang="en-US" sz="1800" dirty="0">
                          <a:latin typeface="Times New Roman" panose="02020603050405020304" pitchFamily="18" charset="0"/>
                          <a:cs typeface="Times New Roman" panose="02020603050405020304" pitchFamily="18" charset="0"/>
                        </a:rPr>
                        <a:t>幺元</a:t>
                      </a: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对于整数</a:t>
                      </a:r>
                      <a:r>
                        <a:rPr lang="en-US" altLang="zh-CN" sz="1800" i="1" kern="1200" dirty="0">
                          <a:solidFill>
                            <a:schemeClr val="dk1"/>
                          </a:solidFill>
                          <a:effectLst/>
                          <a:latin typeface="Times New Roman" panose="02020603050405020304" pitchFamily="18" charset="0"/>
                          <a:ea typeface="+mn-ea"/>
                          <a:cs typeface="Times New Roman" panose="02020603050405020304" pitchFamily="18" charset="0"/>
                        </a:rPr>
                        <a:t>a</a:t>
                      </a:r>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a:t>
                      </a: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只有当 </a:t>
                      </a:r>
                      <a:r>
                        <a:rPr lang="en-US" altLang="zh-CN" sz="1800" i="1" kern="1200" dirty="0">
                          <a:solidFill>
                            <a:schemeClr val="dk1"/>
                          </a:solidFill>
                          <a:effectLst/>
                          <a:latin typeface="Times New Roman" panose="02020603050405020304" pitchFamily="18" charset="0"/>
                          <a:ea typeface="+mn-ea"/>
                          <a:cs typeface="Times New Roman" panose="02020603050405020304" pitchFamily="18" charset="0"/>
                        </a:rPr>
                        <a:t>a</a:t>
                      </a:r>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=±1</a:t>
                      </a: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时</a:t>
                      </a:r>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a:t>
                      </a: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才有乘法逆元</a:t>
                      </a:r>
                      <a:r>
                        <a:rPr lang="en-US" altLang="zh-CN" sz="1800" i="1" kern="1200" dirty="0">
                          <a:solidFill>
                            <a:schemeClr val="dk1"/>
                          </a:solidFill>
                          <a:effectLst/>
                          <a:latin typeface="Times New Roman" panose="02020603050405020304" pitchFamily="18" charset="0"/>
                          <a:ea typeface="+mn-ea"/>
                          <a:cs typeface="Times New Roman" panose="02020603050405020304" pitchFamily="18" charset="0"/>
                        </a:rPr>
                        <a:t>b</a:t>
                      </a:r>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=±1,</a:t>
                      </a: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其它元素没有</a:t>
                      </a:r>
                      <a:r>
                        <a:rPr lang="en-US" altLang="zh-CN" sz="1800" kern="1200" dirty="0">
                          <a:solidFill>
                            <a:schemeClr val="dk1"/>
                          </a:solidFill>
                          <a:effectLst/>
                          <a:latin typeface="Times New Roman" panose="02020603050405020304" pitchFamily="18" charset="0"/>
                          <a:ea typeface="+mn-ea"/>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不是</a:t>
                      </a:r>
                    </a:p>
                  </a:txBody>
                  <a:tcPr anchor="ctr"/>
                </a:tc>
                <a:extLst>
                  <a:ext uri="{0D108BD9-81ED-4DB2-BD59-A6C34878D82A}">
                    <a16:rowId xmlns:a16="http://schemas.microsoft.com/office/drawing/2014/main" val="3847121"/>
                  </a:ext>
                </a:extLst>
              </a:tr>
              <a:tr h="347863">
                <a:tc>
                  <a:txBody>
                    <a:bodyPr/>
                    <a:lstStyle/>
                    <a:p>
                      <a:pPr algn="ctr"/>
                      <a:r>
                        <a:rPr lang="zh-CN" altLang="en-US" sz="2000" b="1" dirty="0">
                          <a:latin typeface="Times New Roman" panose="02020603050405020304" pitchFamily="18" charset="0"/>
                          <a:cs typeface="Times New Roman" panose="02020603050405020304" pitchFamily="18" charset="0"/>
                        </a:rPr>
                        <a:t>有理数环</a:t>
                      </a:r>
                      <a:r>
                        <a:rPr lang="en-US" altLang="zh-CN" sz="2000" b="1" dirty="0">
                          <a:latin typeface="Times New Roman" panose="02020603050405020304" pitchFamily="18" charset="0"/>
                          <a:cs typeface="Times New Roman" panose="02020603050405020304" pitchFamily="18" charset="0"/>
                        </a:rPr>
                        <a:t>&lt;</a:t>
                      </a:r>
                      <a:r>
                        <a:rPr lang="en-US" altLang="zh-CN" sz="2000" b="1" i="1" dirty="0">
                          <a:latin typeface="Times New Roman" panose="02020603050405020304" pitchFamily="18" charset="0"/>
                          <a:cs typeface="Times New Roman" panose="02020603050405020304" pitchFamily="18" charset="0"/>
                        </a:rPr>
                        <a:t>Q</a:t>
                      </a:r>
                      <a:r>
                        <a:rPr lang="en-US" altLang="zh-CN" sz="2000" b="1"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ea typeface="+mn-ea"/>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&gt;</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幺元</a:t>
                      </a: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algn="l"/>
                      <a:r>
                        <a:rPr lang="zh-CN" altLang="en-US" sz="1800" b="0" i="0" kern="1200" dirty="0">
                          <a:solidFill>
                            <a:schemeClr val="dk1"/>
                          </a:solidFill>
                          <a:effectLst/>
                          <a:latin typeface="Times New Roman" panose="02020603050405020304" pitchFamily="18" charset="0"/>
                          <a:ea typeface="+mn-ea"/>
                          <a:cs typeface="Times New Roman" panose="02020603050405020304" pitchFamily="18" charset="0"/>
                        </a:rPr>
                        <a:t>每个非零有理数都有乘法逆元</a:t>
                      </a:r>
                      <a:r>
                        <a:rPr lang="en-US" altLang="zh-CN" sz="1800" b="0" i="0" kern="1200" dirty="0">
                          <a:solidFill>
                            <a:schemeClr val="dk1"/>
                          </a:solidFill>
                          <a:effectLst/>
                          <a:latin typeface="Times New Roman" panose="02020603050405020304" pitchFamily="18" charset="0"/>
                          <a:ea typeface="+mn-ea"/>
                          <a:cs typeface="Times New Roman" panose="02020603050405020304" pitchFamily="18" charset="0"/>
                        </a:rPr>
                        <a:t>,</a:t>
                      </a:r>
                      <a:r>
                        <a:rPr lang="zh-CN" altLang="en-US" sz="1800" b="0" i="0" kern="1200" dirty="0">
                          <a:solidFill>
                            <a:schemeClr val="dk1"/>
                          </a:solidFill>
                          <a:effectLst/>
                          <a:latin typeface="Times New Roman" panose="02020603050405020304" pitchFamily="18" charset="0"/>
                          <a:ea typeface="+mn-ea"/>
                          <a:cs typeface="Times New Roman" panose="02020603050405020304" pitchFamily="18" charset="0"/>
                        </a:rPr>
                        <a:t>是除环</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是</a:t>
                      </a:r>
                    </a:p>
                  </a:txBody>
                  <a:tcPr anchor="ctr"/>
                </a:tc>
                <a:extLst>
                  <a:ext uri="{0D108BD9-81ED-4DB2-BD59-A6C34878D82A}">
                    <a16:rowId xmlns:a16="http://schemas.microsoft.com/office/drawing/2014/main" val="1089063259"/>
                  </a:ext>
                </a:extLst>
              </a:tr>
              <a:tr h="347863">
                <a:tc>
                  <a:txBody>
                    <a:bodyPr/>
                    <a:lstStyle/>
                    <a:p>
                      <a:pPr algn="ctr"/>
                      <a:r>
                        <a:rPr lang="zh-CN" altLang="en-US" sz="2000" b="1" dirty="0">
                          <a:latin typeface="Times New Roman" panose="02020603050405020304" pitchFamily="18" charset="0"/>
                          <a:cs typeface="Times New Roman" panose="02020603050405020304" pitchFamily="18" charset="0"/>
                        </a:rPr>
                        <a:t>实数环</a:t>
                      </a:r>
                      <a:r>
                        <a:rPr lang="en-US" altLang="zh-CN" sz="2000" b="1" dirty="0">
                          <a:latin typeface="Times New Roman" panose="02020603050405020304" pitchFamily="18" charset="0"/>
                          <a:cs typeface="Times New Roman" panose="02020603050405020304" pitchFamily="18" charset="0"/>
                        </a:rPr>
                        <a:t>&lt;</a:t>
                      </a:r>
                      <a:r>
                        <a:rPr lang="en-US" altLang="zh-CN" sz="2000" b="1" i="1" dirty="0">
                          <a:latin typeface="Times New Roman" panose="02020603050405020304" pitchFamily="18" charset="0"/>
                          <a:cs typeface="Times New Roman" panose="02020603050405020304" pitchFamily="18" charset="0"/>
                        </a:rPr>
                        <a:t>R</a:t>
                      </a:r>
                      <a:r>
                        <a:rPr lang="en-US" altLang="zh-CN"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ea typeface="+mn-ea"/>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&gt;</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幺元</a:t>
                      </a: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algn="l"/>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每个非零</a:t>
                      </a:r>
                      <a:r>
                        <a:rPr lang="zh-CN" altLang="en-US" sz="1800" kern="1200" dirty="0">
                          <a:solidFill>
                            <a:schemeClr val="dk1"/>
                          </a:solidFill>
                          <a:effectLst/>
                          <a:latin typeface="Times New Roman" panose="02020603050405020304" pitchFamily="18" charset="0"/>
                          <a:ea typeface="+mn-ea"/>
                          <a:cs typeface="Times New Roman" panose="02020603050405020304" pitchFamily="18" charset="0"/>
                        </a:rPr>
                        <a:t>实数</a:t>
                      </a: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都存在乘法逆元</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是</a:t>
                      </a:r>
                    </a:p>
                  </a:txBody>
                  <a:tcPr anchor="ctr"/>
                </a:tc>
                <a:extLst>
                  <a:ext uri="{0D108BD9-81ED-4DB2-BD59-A6C34878D82A}">
                    <a16:rowId xmlns:a16="http://schemas.microsoft.com/office/drawing/2014/main" val="604201943"/>
                  </a:ext>
                </a:extLst>
              </a:tr>
              <a:tr h="347863">
                <a:tc>
                  <a:txBody>
                    <a:bodyPr/>
                    <a:lstStyle/>
                    <a:p>
                      <a:pPr algn="ctr"/>
                      <a:r>
                        <a:rPr lang="zh-CN" altLang="en-US" sz="2000" b="1" dirty="0">
                          <a:latin typeface="Times New Roman" panose="02020603050405020304" pitchFamily="18" charset="0"/>
                          <a:cs typeface="Times New Roman" panose="02020603050405020304" pitchFamily="18" charset="0"/>
                        </a:rPr>
                        <a:t>复数环</a:t>
                      </a:r>
                      <a:r>
                        <a:rPr lang="en-US" altLang="zh-CN" sz="2000" b="1" dirty="0">
                          <a:latin typeface="Times New Roman" panose="02020603050405020304" pitchFamily="18" charset="0"/>
                          <a:cs typeface="Times New Roman" panose="02020603050405020304" pitchFamily="18" charset="0"/>
                        </a:rPr>
                        <a:t>&lt;</a:t>
                      </a:r>
                      <a:r>
                        <a:rPr lang="en-US" altLang="zh-CN" sz="2000" b="1" i="1" dirty="0">
                          <a:latin typeface="Times New Roman" panose="02020603050405020304" pitchFamily="18" charset="0"/>
                          <a:cs typeface="Times New Roman" panose="02020603050405020304" pitchFamily="18" charset="0"/>
                        </a:rPr>
                        <a:t>C</a:t>
                      </a:r>
                      <a:r>
                        <a:rPr lang="en-US" altLang="zh-CN"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ea typeface="+mn-ea"/>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&gt;</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幺元</a:t>
                      </a: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每个非零</a:t>
                      </a:r>
                      <a:r>
                        <a:rPr lang="zh-CN" altLang="en-US" sz="1800" kern="1200" dirty="0">
                          <a:solidFill>
                            <a:schemeClr val="dk1"/>
                          </a:solidFill>
                          <a:effectLst/>
                          <a:latin typeface="Times New Roman" panose="02020603050405020304" pitchFamily="18" charset="0"/>
                          <a:ea typeface="+mn-ea"/>
                          <a:cs typeface="Times New Roman" panose="02020603050405020304" pitchFamily="18" charset="0"/>
                        </a:rPr>
                        <a:t>元素</a:t>
                      </a: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都存在乘法逆元</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是</a:t>
                      </a:r>
                    </a:p>
                  </a:txBody>
                  <a:tcPr anchor="ctr"/>
                </a:tc>
                <a:extLst>
                  <a:ext uri="{0D108BD9-81ED-4DB2-BD59-A6C34878D82A}">
                    <a16:rowId xmlns:a16="http://schemas.microsoft.com/office/drawing/2014/main" val="2867649216"/>
                  </a:ext>
                </a:extLst>
              </a:tr>
              <a:tr h="608760">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n</a:t>
                      </a:r>
                      <a:r>
                        <a:rPr lang="zh-CN" altLang="en-US" sz="2000" b="1" dirty="0">
                          <a:solidFill>
                            <a:schemeClr val="tx1"/>
                          </a:solidFill>
                          <a:latin typeface="Times New Roman" panose="02020603050405020304" pitchFamily="18" charset="0"/>
                          <a:cs typeface="Times New Roman" panose="02020603050405020304" pitchFamily="18" charset="0"/>
                        </a:rPr>
                        <a:t>阶实矩阵环</a:t>
                      </a:r>
                      <a:r>
                        <a:rPr lang="en-US" altLang="zh-CN" sz="2000" b="1" dirty="0">
                          <a:solidFill>
                            <a:schemeClr val="tx1"/>
                          </a:solidFill>
                          <a:latin typeface="Times New Roman" panose="02020603050405020304" pitchFamily="18" charset="0"/>
                          <a:cs typeface="Times New Roman" panose="02020603050405020304" pitchFamily="18" charset="0"/>
                        </a:rPr>
                        <a:t>&lt;</a:t>
                      </a:r>
                      <a:r>
                        <a:rPr lang="en-US" altLang="zh-CN" sz="2000" b="1" i="1" dirty="0">
                          <a:solidFill>
                            <a:schemeClr val="tx1"/>
                          </a:solidFill>
                          <a:latin typeface="Times New Roman" panose="02020603050405020304" pitchFamily="18" charset="0"/>
                          <a:cs typeface="Times New Roman" panose="02020603050405020304" pitchFamily="18" charset="0"/>
                        </a:rPr>
                        <a:t>M</a:t>
                      </a:r>
                      <a:r>
                        <a:rPr lang="en-US" altLang="zh-CN" sz="2000" b="1" i="1" baseline="-25000" dirty="0">
                          <a:solidFill>
                            <a:schemeClr val="tx1"/>
                          </a:solidFill>
                          <a:latin typeface="Times New Roman" panose="02020603050405020304" pitchFamily="18" charset="0"/>
                          <a:cs typeface="Times New Roman" panose="02020603050405020304" pitchFamily="18" charset="0"/>
                        </a:rPr>
                        <a:t>n</a:t>
                      </a:r>
                      <a:r>
                        <a:rPr lang="en-US" altLang="zh-CN" sz="2000" b="1" dirty="0">
                          <a:solidFill>
                            <a:schemeClr val="tx1"/>
                          </a:solidFill>
                          <a:latin typeface="Times New Roman" panose="02020603050405020304" pitchFamily="18" charset="0"/>
                          <a:cs typeface="Times New Roman" panose="02020603050405020304" pitchFamily="18" charset="0"/>
                        </a:rPr>
                        <a:t>(R) ,</a:t>
                      </a:r>
                      <a:r>
                        <a:rPr lang="en-US" altLang="zh-CN" sz="20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ea typeface="+mn-ea"/>
                          <a:cs typeface="Times New Roman" panose="02020603050405020304" pitchFamily="18" charset="0"/>
                        </a:rPr>
                        <a:t> ·</a:t>
                      </a:r>
                      <a:r>
                        <a:rPr lang="en-US" altLang="zh-CN" sz="2000" b="1" dirty="0">
                          <a:solidFill>
                            <a:schemeClr val="tx1"/>
                          </a:solidFill>
                          <a:latin typeface="Times New Roman" panose="02020603050405020304" pitchFamily="18" charset="0"/>
                          <a:cs typeface="Times New Roman" panose="02020603050405020304" pitchFamily="18" charset="0"/>
                        </a:rPr>
                        <a:t>&gt;</a:t>
                      </a:r>
                      <a:endParaRPr lang="zh-CN" altLang="en-US" sz="2000" dirty="0">
                        <a:solidFill>
                          <a:schemeClr val="tx1"/>
                        </a:solidFill>
                      </a:endParaRPr>
                    </a:p>
                  </a:txBody>
                  <a:tcPr anchor="ctr"/>
                </a:tc>
                <a:tc>
                  <a:txBody>
                    <a:bodyPr/>
                    <a:lstStyle/>
                    <a:p>
                      <a:pPr algn="ctr"/>
                      <a:r>
                        <a:rPr lang="en-US" altLang="zh-CN" sz="1800" b="1" dirty="0">
                          <a:solidFill>
                            <a:schemeClr val="tx1"/>
                          </a:solidFill>
                          <a:latin typeface="+mn-ea"/>
                          <a:ea typeface="+mn-ea"/>
                          <a:cs typeface="Times New Roman" panose="02020603050405020304" pitchFamily="18" charset="0"/>
                        </a:rPr>
                        <a:t>·</a:t>
                      </a:r>
                      <a:r>
                        <a:rPr lang="zh-CN" altLang="en-US" sz="1800" dirty="0">
                          <a:solidFill>
                            <a:srgbClr val="FF0000"/>
                          </a:solidFill>
                          <a:latin typeface="Times New Roman" panose="02020603050405020304" pitchFamily="18" charset="0"/>
                          <a:cs typeface="Times New Roman" panose="02020603050405020304" pitchFamily="18" charset="0"/>
                        </a:rPr>
                        <a:t>不可交换</a:t>
                      </a:r>
                    </a:p>
                  </a:txBody>
                  <a:tcPr anchor="ctr"/>
                </a:tc>
                <a:tc>
                  <a:txBody>
                    <a:bodyPr/>
                    <a:lstStyle/>
                    <a:p>
                      <a:r>
                        <a:rPr lang="zh-CN" altLang="en-US" sz="1800" dirty="0">
                          <a:latin typeface="Times New Roman" panose="02020603050405020304" pitchFamily="18" charset="0"/>
                          <a:cs typeface="Times New Roman" panose="02020603050405020304" pitchFamily="18" charset="0"/>
                        </a:rPr>
                        <a:t>幺元</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单位矩阵</a:t>
                      </a:r>
                    </a:p>
                  </a:txBody>
                  <a:tcPr anchor="ctr"/>
                </a:tc>
                <a:tc>
                  <a:txBody>
                    <a:bodyPr/>
                    <a:lstStyle/>
                    <a:p>
                      <a:pPr algn="ctr"/>
                      <a:r>
                        <a:rPr lang="zh-CN" altLang="en-US" sz="1800" b="0" i="0" kern="1200" dirty="0">
                          <a:solidFill>
                            <a:srgbClr val="FF0000"/>
                          </a:solidFill>
                          <a:effectLst/>
                          <a:latin typeface="Times New Roman" panose="02020603050405020304" pitchFamily="18" charset="0"/>
                          <a:ea typeface="+mn-ea"/>
                          <a:cs typeface="Times New Roman" panose="02020603050405020304" pitchFamily="18" charset="0"/>
                        </a:rPr>
                        <a:t>有非零矩阵</a:t>
                      </a:r>
                      <a:r>
                        <a:rPr lang="en-US" altLang="zh-CN" sz="1800" b="0" i="1" kern="1200" dirty="0">
                          <a:solidFill>
                            <a:srgbClr val="FF0000"/>
                          </a:solidFill>
                          <a:effectLst/>
                          <a:latin typeface="Times New Roman" panose="02020603050405020304" pitchFamily="18" charset="0"/>
                          <a:ea typeface="+mn-ea"/>
                          <a:cs typeface="Times New Roman" panose="02020603050405020304" pitchFamily="18" charset="0"/>
                        </a:rPr>
                        <a:t>A</a:t>
                      </a:r>
                      <a:r>
                        <a:rPr lang="zh-CN" altLang="en-US" sz="1800" b="0" i="0" kern="1200" dirty="0">
                          <a:solidFill>
                            <a:srgbClr val="FF0000"/>
                          </a:solidFill>
                          <a:effectLst/>
                          <a:latin typeface="Times New Roman" panose="02020603050405020304" pitchFamily="18" charset="0"/>
                          <a:ea typeface="+mn-ea"/>
                          <a:cs typeface="Times New Roman" panose="02020603050405020304" pitchFamily="18" charset="0"/>
                        </a:rPr>
                        <a:t>和 </a:t>
                      </a:r>
                      <a:r>
                        <a:rPr lang="en-US" altLang="zh-CN" sz="1800" b="0" i="1" kern="1200" dirty="0">
                          <a:solidFill>
                            <a:srgbClr val="FF0000"/>
                          </a:solidFill>
                          <a:effectLst/>
                          <a:latin typeface="Times New Roman" panose="02020603050405020304" pitchFamily="18" charset="0"/>
                          <a:ea typeface="+mn-ea"/>
                          <a:cs typeface="Times New Roman" panose="02020603050405020304" pitchFamily="18" charset="0"/>
                        </a:rPr>
                        <a:t>B</a:t>
                      </a:r>
                      <a:r>
                        <a:rPr lang="zh-CN" altLang="en-US" sz="1800" b="0" i="0" kern="1200" dirty="0">
                          <a:solidFill>
                            <a:srgbClr val="FF0000"/>
                          </a:solidFill>
                          <a:effectLst/>
                          <a:latin typeface="Times New Roman" panose="02020603050405020304" pitchFamily="18" charset="0"/>
                          <a:ea typeface="+mn-ea"/>
                          <a:cs typeface="Times New Roman" panose="02020603050405020304" pitchFamily="18" charset="0"/>
                        </a:rPr>
                        <a:t>使得</a:t>
                      </a:r>
                      <a:r>
                        <a:rPr lang="en-US" altLang="zh-CN" sz="1800" b="0" i="1" kern="1200" dirty="0">
                          <a:solidFill>
                            <a:srgbClr val="FF0000"/>
                          </a:solidFill>
                          <a:effectLst/>
                          <a:latin typeface="Times New Roman" panose="02020603050405020304" pitchFamily="18" charset="0"/>
                          <a:ea typeface="+mn-ea"/>
                          <a:cs typeface="Times New Roman" panose="02020603050405020304" pitchFamily="18" charset="0"/>
                        </a:rPr>
                        <a:t>A</a:t>
                      </a:r>
                      <a:r>
                        <a:rPr lang="zh-CN" altLang="en-US" sz="1800" b="0" i="0" kern="1200" dirty="0">
                          <a:solidFill>
                            <a:srgbClr val="FF0000"/>
                          </a:solidFill>
                          <a:effectLst/>
                          <a:latin typeface="Times New Roman" panose="02020603050405020304" pitchFamily="18" charset="0"/>
                          <a:ea typeface="+mn-ea"/>
                          <a:cs typeface="Times New Roman" panose="02020603050405020304" pitchFamily="18" charset="0"/>
                        </a:rPr>
                        <a:t>⋅</a:t>
                      </a:r>
                      <a:r>
                        <a:rPr lang="en-US" altLang="zh-CN" sz="1800" b="0" i="1" kern="1200" dirty="0">
                          <a:solidFill>
                            <a:srgbClr val="FF0000"/>
                          </a:solidFill>
                          <a:effectLst/>
                          <a:latin typeface="Times New Roman" panose="02020603050405020304" pitchFamily="18" charset="0"/>
                          <a:ea typeface="+mn-ea"/>
                          <a:cs typeface="Times New Roman" panose="02020603050405020304" pitchFamily="18" charset="0"/>
                        </a:rPr>
                        <a:t>B</a:t>
                      </a:r>
                      <a:r>
                        <a:rPr lang="en-US" altLang="zh-CN" sz="1800" b="0" i="0" kern="1200" dirty="0">
                          <a:solidFill>
                            <a:srgbClr val="FF0000"/>
                          </a:solidFill>
                          <a:effectLst/>
                          <a:latin typeface="Times New Roman" panose="02020603050405020304" pitchFamily="18" charset="0"/>
                          <a:ea typeface="+mn-ea"/>
                          <a:cs typeface="Times New Roman" panose="02020603050405020304" pitchFamily="18" charset="0"/>
                        </a:rPr>
                        <a:t>=0</a:t>
                      </a:r>
                      <a:endParaRPr lang="zh-CN" altLang="en-US" sz="18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不是</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algn="l"/>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非零矩阵没有乘法逆元</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不是</a:t>
                      </a:r>
                    </a:p>
                  </a:txBody>
                  <a:tcPr anchor="ctr"/>
                </a:tc>
                <a:extLst>
                  <a:ext uri="{0D108BD9-81ED-4DB2-BD59-A6C34878D82A}">
                    <a16:rowId xmlns:a16="http://schemas.microsoft.com/office/drawing/2014/main" val="3755857468"/>
                  </a:ext>
                </a:extLst>
              </a:tr>
              <a:tr h="627849">
                <a:tc>
                  <a:txBody>
                    <a:bodyPr/>
                    <a:lstStyle/>
                    <a:p>
                      <a:pPr algn="ctr"/>
                      <a:r>
                        <a:rPr lang="zh-CN" altLang="en-US" sz="2000" b="1" dirty="0">
                          <a:latin typeface="Times New Roman" panose="02020603050405020304" pitchFamily="18" charset="0"/>
                          <a:cs typeface="Times New Roman" panose="02020603050405020304" pitchFamily="18" charset="0"/>
                        </a:rPr>
                        <a:t>模</a:t>
                      </a:r>
                      <a:r>
                        <a:rPr lang="en-US" altLang="zh-CN" sz="2000" b="1" dirty="0">
                          <a:latin typeface="Times New Roman" panose="02020603050405020304" pitchFamily="18" charset="0"/>
                          <a:cs typeface="Times New Roman" panose="02020603050405020304" pitchFamily="18" charset="0"/>
                        </a:rPr>
                        <a:t>n</a:t>
                      </a:r>
                      <a:r>
                        <a:rPr lang="zh-CN" altLang="en-US" sz="2000" b="1" dirty="0">
                          <a:latin typeface="Times New Roman" panose="02020603050405020304" pitchFamily="18" charset="0"/>
                          <a:cs typeface="Times New Roman" panose="02020603050405020304" pitchFamily="18" charset="0"/>
                        </a:rPr>
                        <a:t>整数环</a:t>
                      </a:r>
                      <a:r>
                        <a:rPr lang="en-US" altLang="zh-CN" sz="2000" b="1" dirty="0">
                          <a:latin typeface="Times New Roman" panose="02020603050405020304" pitchFamily="18" charset="0"/>
                          <a:cs typeface="Times New Roman" panose="02020603050405020304" pitchFamily="18" charset="0"/>
                        </a:rPr>
                        <a:t>&lt;</a:t>
                      </a:r>
                      <a:r>
                        <a:rPr lang="en-US" altLang="zh-CN" sz="2000" b="1" i="1" dirty="0">
                          <a:latin typeface="Times New Roman" panose="02020603050405020304" pitchFamily="18" charset="0"/>
                          <a:cs typeface="Times New Roman" panose="02020603050405020304" pitchFamily="18" charset="0"/>
                        </a:rPr>
                        <a:t>Z</a:t>
                      </a:r>
                      <a:r>
                        <a:rPr lang="en-US" altLang="zh-CN" sz="2000" b="1" i="1" baseline="-25000" dirty="0">
                          <a:latin typeface="Times New Roman" panose="02020603050405020304" pitchFamily="18" charset="0"/>
                          <a:cs typeface="Times New Roman" panose="02020603050405020304" pitchFamily="18" charset="0"/>
                        </a:rPr>
                        <a:t>n</a:t>
                      </a:r>
                      <a:r>
                        <a:rPr lang="en-US" altLang="zh-CN"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a:latin typeface="Times New Roman" panose="02020603050405020304" pitchFamily="18" charset="0"/>
                          <a:cs typeface="Times New Roman" panose="02020603050405020304" pitchFamily="18" charset="0"/>
                        </a:rPr>
                        <a:t>&gt;</a:t>
                      </a:r>
                      <a:endParaRPr lang="zh-CN" alt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cs typeface="Times New Roman" panose="02020603050405020304" pitchFamily="18" charset="0"/>
                        </a:rPr>
                        <a:t>幺元</a:t>
                      </a: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i="1" dirty="0">
                          <a:latin typeface="Times New Roman" panose="02020603050405020304" pitchFamily="18" charset="0"/>
                          <a:cs typeface="Times New Roman" panose="02020603050405020304" pitchFamily="18" charset="0"/>
                        </a:rPr>
                        <a:t>Z</a:t>
                      </a:r>
                      <a:r>
                        <a:rPr lang="en-US" altLang="zh-CN" sz="1800" b="1" i="1" baseline="-25000" dirty="0">
                          <a:latin typeface="Times New Roman" panose="02020603050405020304" pitchFamily="18" charset="0"/>
                          <a:cs typeface="Times New Roman" panose="02020603050405020304" pitchFamily="18" charset="0"/>
                        </a:rPr>
                        <a:t>6</a:t>
                      </a:r>
                      <a:r>
                        <a:rPr lang="zh-CN" altLang="en-US" sz="1800" dirty="0">
                          <a:solidFill>
                            <a:schemeClr val="tx1"/>
                          </a:solidFill>
                          <a:latin typeface="Times New Roman" panose="02020603050405020304" pitchFamily="18" charset="0"/>
                          <a:cs typeface="Times New Roman" panose="02020603050405020304" pitchFamily="18" charset="0"/>
                        </a:rPr>
                        <a:t>有零因子</a:t>
                      </a:r>
                      <a:r>
                        <a:rPr lang="en-US" altLang="zh-CN" sz="1800" dirty="0">
                          <a:solidFill>
                            <a:schemeClr val="tx1"/>
                          </a:solidFill>
                          <a:latin typeface="Times New Roman" panose="02020603050405020304" pitchFamily="18" charset="0"/>
                          <a:cs typeface="Times New Roman" panose="02020603050405020304" pitchFamily="18" charset="0"/>
                        </a:rPr>
                        <a:t>,2</a:t>
                      </a:r>
                      <a:r>
                        <a:rPr lang="en-US" altLang="zh-CN" sz="1800" b="1" dirty="0">
                          <a:latin typeface="Times New Roman" panose="02020603050405020304" pitchFamily="18" charset="0"/>
                          <a:cs typeface="Times New Roman" panose="02020603050405020304" pitchFamily="18" charset="0"/>
                          <a:sym typeface="Symbol" panose="05050102010706020507" pitchFamily="18" charset="2"/>
                        </a:rPr>
                        <a:t>3=0</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i="1" kern="1200" dirty="0">
                          <a:solidFill>
                            <a:schemeClr val="dk1"/>
                          </a:solidFill>
                          <a:effectLst/>
                          <a:latin typeface="Times New Roman" panose="02020603050405020304" pitchFamily="18" charset="0"/>
                          <a:ea typeface="+mn-ea"/>
                          <a:cs typeface="Times New Roman" panose="02020603050405020304" pitchFamily="18" charset="0"/>
                        </a:rPr>
                        <a:t>n</a:t>
                      </a:r>
                      <a:r>
                        <a:rPr lang="zh-CN" altLang="zh-CN" sz="1800" dirty="0">
                          <a:effectLst/>
                          <a:latin typeface="Times New Roman" panose="02020603050405020304" pitchFamily="18" charset="0"/>
                          <a:cs typeface="Times New Roman" panose="02020603050405020304" pitchFamily="18" charset="0"/>
                        </a:rPr>
                        <a:t> </a:t>
                      </a: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是素数</a:t>
                      </a:r>
                      <a:r>
                        <a:rPr lang="zh-CN" altLang="en-US" sz="1800" kern="1200" dirty="0">
                          <a:solidFill>
                            <a:schemeClr val="dk1"/>
                          </a:solidFill>
                          <a:effectLst/>
                          <a:latin typeface="Times New Roman" panose="02020603050405020304" pitchFamily="18" charset="0"/>
                          <a:ea typeface="+mn-ea"/>
                          <a:cs typeface="Times New Roman" panose="02020603050405020304" pitchFamily="18" charset="0"/>
                        </a:rPr>
                        <a:t>时是整环</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i="1" kern="1200" dirty="0">
                          <a:solidFill>
                            <a:schemeClr val="dk1"/>
                          </a:solidFill>
                          <a:effectLst/>
                          <a:latin typeface="Times New Roman" panose="02020603050405020304" pitchFamily="18" charset="0"/>
                          <a:ea typeface="+mn-ea"/>
                          <a:cs typeface="Times New Roman" panose="02020603050405020304" pitchFamily="18" charset="0"/>
                        </a:rPr>
                        <a:t>n</a:t>
                      </a:r>
                      <a:r>
                        <a:rPr lang="zh-CN" altLang="zh-CN" sz="1800" dirty="0">
                          <a:effectLst/>
                          <a:latin typeface="Times New Roman" panose="02020603050405020304" pitchFamily="18" charset="0"/>
                          <a:cs typeface="Times New Roman" panose="02020603050405020304" pitchFamily="18" charset="0"/>
                        </a:rPr>
                        <a:t> </a:t>
                      </a: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是素数</a:t>
                      </a:r>
                      <a:r>
                        <a:rPr lang="zh-CN" altLang="en-US" sz="1800" kern="1200" dirty="0">
                          <a:solidFill>
                            <a:schemeClr val="dk1"/>
                          </a:solidFill>
                          <a:effectLst/>
                          <a:latin typeface="Times New Roman" panose="02020603050405020304" pitchFamily="18" charset="0"/>
                          <a:ea typeface="+mn-ea"/>
                          <a:cs typeface="Times New Roman" panose="02020603050405020304" pitchFamily="18" charset="0"/>
                        </a:rPr>
                        <a:t>时是除环</a:t>
                      </a:r>
                      <a:endParaRPr lang="zh-CN" alt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i="1" kern="1200" dirty="0">
                          <a:solidFill>
                            <a:schemeClr val="dk1"/>
                          </a:solidFill>
                          <a:effectLst/>
                          <a:latin typeface="Times New Roman" panose="02020603050405020304" pitchFamily="18" charset="0"/>
                          <a:ea typeface="+mn-ea"/>
                          <a:cs typeface="Times New Roman" panose="02020603050405020304" pitchFamily="18" charset="0"/>
                        </a:rPr>
                        <a:t>n</a:t>
                      </a:r>
                      <a:r>
                        <a:rPr lang="zh-CN" altLang="zh-CN" sz="1800" dirty="0">
                          <a:effectLst/>
                          <a:latin typeface="Times New Roman" panose="02020603050405020304" pitchFamily="18" charset="0"/>
                          <a:cs typeface="Times New Roman" panose="02020603050405020304" pitchFamily="18" charset="0"/>
                        </a:rPr>
                        <a:t> </a:t>
                      </a:r>
                      <a:r>
                        <a:rPr lang="zh-CN" altLang="zh-CN" sz="1800" kern="1200" dirty="0">
                          <a:solidFill>
                            <a:schemeClr val="dk1"/>
                          </a:solidFill>
                          <a:effectLst/>
                          <a:latin typeface="Times New Roman" panose="02020603050405020304" pitchFamily="18" charset="0"/>
                          <a:ea typeface="+mn-ea"/>
                          <a:cs typeface="Times New Roman" panose="02020603050405020304" pitchFamily="18" charset="0"/>
                        </a:rPr>
                        <a:t>是素数</a:t>
                      </a:r>
                      <a:r>
                        <a:rPr lang="zh-CN" altLang="en-US" sz="1800" kern="1200" dirty="0">
                          <a:solidFill>
                            <a:schemeClr val="dk1"/>
                          </a:solidFill>
                          <a:effectLst/>
                          <a:latin typeface="Times New Roman" panose="02020603050405020304" pitchFamily="18" charset="0"/>
                          <a:ea typeface="+mn-ea"/>
                          <a:cs typeface="Times New Roman" panose="02020603050405020304" pitchFamily="18" charset="0"/>
                        </a:rPr>
                        <a:t>时是域</a:t>
                      </a:r>
                      <a:endParaRPr lang="zh-CN" altLang="en-US"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27035396"/>
                  </a:ext>
                </a:extLst>
              </a:tr>
            </a:tbl>
          </a:graphicData>
        </a:graphic>
      </p:graphicFrame>
    </p:spTree>
    <p:extLst>
      <p:ext uri="{BB962C8B-B14F-4D97-AF65-F5344CB8AC3E}">
        <p14:creationId xmlns:p14="http://schemas.microsoft.com/office/powerpoint/2010/main" val="39728441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4755" y="27208"/>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cs typeface="Times New Roman" panose="02020603050405020304" pitchFamily="18" charset="0"/>
              </a:rPr>
              <a:t>9.3.3 Rings and Fields</a:t>
            </a:r>
          </a:p>
          <a:p>
            <a:r>
              <a:rPr lang="en-US" altLang="zh-CN"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solidFill>
                  <a:srgbClr val="C00000"/>
                </a:solidFill>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Basic Identities in a Ring</a:t>
            </a:r>
            <a:r>
              <a:rPr lang="en-US" altLang="zh-CN" sz="2400" dirty="0"/>
              <a:t> </a:t>
            </a:r>
            <a:r>
              <a:rPr lang="en-US" altLang="zh-CN" sz="2400" b="1" dirty="0">
                <a:latin typeface="Trebuchet MS" panose="020B0603020202020204" pitchFamily="34" charset="0"/>
              </a:rPr>
              <a:t>(Basic Properties of Rings)</a:t>
            </a:r>
            <a:endParaRPr lang="zh-CN" altLang="en-US" sz="2400" b="1" dirty="0">
              <a:solidFill>
                <a:srgbClr val="3D557A"/>
              </a:solidFill>
              <a:highlight>
                <a:srgbClr val="FF0000"/>
              </a:highlight>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3">
            <a:extLst>
              <a:ext uri="{FF2B5EF4-FFF2-40B4-BE49-F238E27FC236}">
                <a16:creationId xmlns:a16="http://schemas.microsoft.com/office/drawing/2014/main" id="{CF248D9B-146C-4BC1-986C-9BC5BE826DA9}"/>
              </a:ext>
            </a:extLst>
          </p:cNvPr>
          <p:cNvSpPr txBox="1">
            <a:spLocks noChangeArrowheads="1"/>
          </p:cNvSpPr>
          <p:nvPr/>
        </p:nvSpPr>
        <p:spPr>
          <a:xfrm>
            <a:off x="824682" y="827310"/>
            <a:ext cx="10783270" cy="555171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a:t>
            </a:r>
            <a:r>
              <a:rPr lang="en-US" altLang="zh-CN" sz="2400" b="1" dirty="0">
                <a:latin typeface="Trebuchet MS" panose="020B0603020202020204" pitchFamily="34" charset="0"/>
                <a:ea typeface="宋体" panose="02010600030101010101" pitchFamily="2" charset="-122"/>
              </a:rPr>
              <a:t>9.10: </a:t>
            </a:r>
            <a:r>
              <a:rPr lang="en-US" altLang="zh-CN" sz="2400" dirty="0">
                <a:latin typeface="Trebuchet MS" panose="020B0603020202020204" pitchFamily="34" charset="0"/>
                <a:ea typeface="宋体" panose="02010600030101010101" pitchFamily="2" charset="-122"/>
              </a:rPr>
              <a:t>Let</a:t>
            </a:r>
            <a:r>
              <a:rPr lang="zh-CN" altLang="en-US" sz="2400" b="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ea typeface="宋体" panose="02010600030101010101" pitchFamily="2" charset="-122"/>
              </a:rPr>
              <a:t>&lt;</a:t>
            </a:r>
            <a:r>
              <a:rPr lang="en-US" altLang="zh-CN" sz="2400" b="1" i="1" dirty="0">
                <a:latin typeface="Trebuchet MS" panose="020B0603020202020204" pitchFamily="34" charset="0"/>
                <a:ea typeface="宋体" panose="02010600030101010101" pitchFamily="2" charset="-122"/>
              </a:rPr>
              <a:t>R</a:t>
            </a:r>
            <a:r>
              <a:rPr lang="en-US" altLang="zh-CN" sz="2400" b="1" dirty="0">
                <a:latin typeface="Trebuchet MS" panose="020B0603020202020204" pitchFamily="34" charset="0"/>
                <a:ea typeface="宋体" panose="02010600030101010101" pitchFamily="2" charset="-122"/>
              </a:rPr>
              <a:t>,+,·&gt;</a:t>
            </a:r>
            <a:r>
              <a:rPr lang="en-US" altLang="zh-CN" sz="2400" dirty="0">
                <a:latin typeface="Trebuchet MS" panose="020B0603020202020204" pitchFamily="34" charset="0"/>
              </a:rPr>
              <a:t> be a ring, then</a:t>
            </a:r>
          </a:p>
          <a:p>
            <a:pPr marL="0" indent="180975">
              <a:lnSpc>
                <a:spcPct val="120000"/>
              </a:lnSpc>
              <a:spcBef>
                <a:spcPts val="0"/>
              </a:spcBef>
              <a:buClr>
                <a:srgbClr val="0B61FF"/>
              </a:buClr>
              <a:buSzPct val="80000"/>
              <a:buNone/>
            </a:pPr>
            <a:r>
              <a:rPr lang="zh-CN" altLang="en-US" sz="2400" b="1" dirty="0">
                <a:latin typeface="Trebuchet MS" panose="020B0603020202020204" pitchFamily="34" charset="0"/>
                <a:ea typeface="宋体" panose="02010600030101010101" pitchFamily="2" charset="-122"/>
              </a:rPr>
              <a:t> </a:t>
            </a:r>
            <a:r>
              <a:rPr lang="en-US" altLang="zh-CN" sz="2400" b="1" dirty="0">
                <a:solidFill>
                  <a:srgbClr val="0B61FF"/>
                </a:solidFill>
                <a:latin typeface="Trebuchet MS" panose="020B0603020202020204" pitchFamily="34" charset="0"/>
                <a:ea typeface="宋体" panose="02010600030101010101" pitchFamily="2" charset="-122"/>
              </a:rPr>
              <a:t>(1) </a:t>
            </a:r>
            <a:r>
              <a:rPr lang="zh-CN" altLang="en-US"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rPr>
              <a:t>a</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R</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0 = 0</a:t>
            </a:r>
            <a:r>
              <a:rPr lang="en-US" altLang="zh-CN" sz="2400" b="1" dirty="0">
                <a:latin typeface="Trebuchet MS" panose="020B0603020202020204" pitchFamily="34" charset="0"/>
                <a:ea typeface="宋体" panose="02010600030101010101" pitchFamily="2" charset="-122"/>
              </a:rPr>
              <a:t>·</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sym typeface="Symbol" panose="05050102010706020507" pitchFamily="18" charset="2"/>
              </a:rPr>
              <a:t> = 0 .</a:t>
            </a:r>
          </a:p>
          <a:p>
            <a:pPr marL="0" indent="180975">
              <a:lnSpc>
                <a:spcPct val="120000"/>
              </a:lnSpc>
              <a:spcBef>
                <a:spcPts val="0"/>
              </a:spcBef>
              <a:buClr>
                <a:srgbClr val="0B61FF"/>
              </a:buClr>
              <a:buSzPct val="80000"/>
              <a:buNone/>
            </a:pP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(2) </a:t>
            </a:r>
            <a:r>
              <a:rPr lang="zh-CN" altLang="en-US"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R</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sym typeface="Symbol" panose="05050102010706020507" pitchFamily="18" charset="2"/>
              </a:rPr>
              <a:t> =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rPr>
              <a:t>b</a:t>
            </a:r>
            <a:r>
              <a:rPr lang="en-US" altLang="zh-CN" sz="2400" b="1" dirty="0">
                <a:latin typeface="Trebuchet MS" panose="020B0603020202020204" pitchFamily="34" charset="0"/>
                <a:ea typeface="宋体" panose="02010600030101010101" pitchFamily="2" charset="-122"/>
                <a:sym typeface="Symbol" panose="05050102010706020507" pitchFamily="18" charset="2"/>
              </a:rPr>
              <a:t>) =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a</a:t>
            </a:r>
            <a:r>
              <a:rPr lang="en-US" altLang="zh-CN" sz="2400" b="1" i="1" dirty="0">
                <a:latin typeface="Trebuchet MS" panose="020B0603020202020204" pitchFamily="34" charset="0"/>
                <a:ea typeface="宋体" panose="02010600030101010101" pitchFamily="2" charset="-122"/>
              </a:rPr>
              <a:t>b</a:t>
            </a:r>
            <a:r>
              <a:rPr lang="en-US" altLang="zh-CN" sz="2400" b="1" dirty="0">
                <a:latin typeface="Trebuchet MS" panose="020B0603020202020204" pitchFamily="34" charset="0"/>
                <a:sym typeface="Symbol" panose="05050102010706020507" pitchFamily="18" charset="2"/>
              </a:rPr>
              <a:t>) .</a:t>
            </a:r>
            <a:endParaRPr lang="en-US" altLang="zh-CN" sz="2400" b="1" dirty="0">
              <a:latin typeface="Trebuchet MS" panose="020B0603020202020204" pitchFamily="34" charset="0"/>
              <a:ea typeface="宋体" panose="02010600030101010101" pitchFamily="2" charset="-122"/>
              <a:sym typeface="Symbol" panose="05050102010706020507" pitchFamily="18" charset="2"/>
            </a:endParaRPr>
          </a:p>
          <a:p>
            <a:pPr marL="0" indent="180975">
              <a:lnSpc>
                <a:spcPct val="120000"/>
              </a:lnSpc>
              <a:spcBef>
                <a:spcPts val="0"/>
              </a:spcBef>
              <a:buClr>
                <a:srgbClr val="0B61FF"/>
              </a:buClr>
              <a:buSzPct val="80000"/>
              <a:buNone/>
            </a:pP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(3) </a:t>
            </a:r>
            <a:r>
              <a:rPr lang="zh-CN" altLang="en-US"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R</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sym typeface="Symbol" panose="05050102010706020507" pitchFamily="18" charset="2"/>
              </a:rPr>
              <a:t> ) =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a</a:t>
            </a:r>
            <a:r>
              <a:rPr lang="en-US" altLang="zh-CN" sz="2400" b="1" i="1" dirty="0">
                <a:latin typeface="Trebuchet MS" panose="020B0603020202020204" pitchFamily="34" charset="0"/>
                <a:ea typeface="宋体" panose="02010600030101010101" pitchFamily="2" charset="-122"/>
              </a:rPr>
              <a:t>b </a:t>
            </a:r>
            <a:r>
              <a:rPr lang="en-US" altLang="zh-CN" sz="2400" b="1" dirty="0">
                <a:latin typeface="Trebuchet MS" panose="020B0603020202020204" pitchFamily="34" charset="0"/>
                <a:sym typeface="Symbol" panose="05050102010706020507" pitchFamily="18" charset="2"/>
              </a:rPr>
              <a:t>.</a:t>
            </a:r>
            <a:endParaRPr lang="en-US" altLang="zh-CN" sz="2400" b="1" i="1" dirty="0">
              <a:latin typeface="Trebuchet MS" panose="020B0603020202020204" pitchFamily="34" charset="0"/>
              <a:ea typeface="宋体" panose="02010600030101010101" pitchFamily="2" charset="-122"/>
            </a:endParaRPr>
          </a:p>
          <a:p>
            <a:pPr marL="0" indent="180975">
              <a:lnSpc>
                <a:spcPct val="120000"/>
              </a:lnSpc>
              <a:spcBef>
                <a:spcPts val="0"/>
              </a:spcBef>
              <a:buClr>
                <a:srgbClr val="0B61FF"/>
              </a:buClr>
              <a:buSzPct val="80000"/>
              <a:buNone/>
            </a:pP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(4) </a:t>
            </a:r>
            <a:r>
              <a:rPr lang="zh-CN" altLang="en-US"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rPr>
              <a:t>a</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c</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R</a:t>
            </a:r>
            <a:r>
              <a:rPr lang="en-US" altLang="zh-CN" sz="2400" b="1" dirty="0">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rPr>
              <a:t>c</a:t>
            </a:r>
            <a:r>
              <a:rPr lang="en-US" altLang="zh-CN" sz="2400" b="1" dirty="0">
                <a:latin typeface="Trebuchet MS" panose="020B0603020202020204" pitchFamily="34" charset="0"/>
                <a:ea typeface="宋体" panose="02010600030101010101" pitchFamily="2" charset="-122"/>
                <a:sym typeface="Symbol" panose="05050102010706020507" pitchFamily="18" charset="2"/>
              </a:rPr>
              <a:t>) = </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ab</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rPr>
              <a:t>ac</a:t>
            </a:r>
            <a:r>
              <a:rPr lang="zh-CN" altLang="en-US"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rPr>
              <a:t>c</a:t>
            </a:r>
            <a:r>
              <a:rPr lang="en-US" altLang="zh-CN" sz="2400" b="1" dirty="0">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latin typeface="Trebuchet MS" panose="020B0603020202020204" pitchFamily="34" charset="0"/>
                <a:ea typeface="宋体" panose="02010600030101010101" pitchFamily="2" charset="-122"/>
                <a:sym typeface="Symbol" panose="05050102010706020507" pitchFamily="18" charset="2"/>
              </a:rPr>
              <a:t> = </a:t>
            </a:r>
            <a:r>
              <a:rPr lang="en-US" altLang="zh-CN" sz="2400" b="1" i="1" dirty="0" err="1">
                <a:latin typeface="Trebuchet MS" panose="020B0603020202020204" pitchFamily="34" charset="0"/>
                <a:ea typeface="宋体" panose="02010600030101010101" pitchFamily="2" charset="-122"/>
                <a:sym typeface="Symbol" panose="05050102010706020507" pitchFamily="18" charset="2"/>
              </a:rPr>
              <a:t>ba</a:t>
            </a:r>
            <a:r>
              <a:rPr lang="en-US" altLang="zh-CN" sz="2400" b="1" dirty="0" err="1">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latin typeface="Trebuchet MS" panose="020B0603020202020204" pitchFamily="34" charset="0"/>
                <a:ea typeface="宋体" panose="02010600030101010101" pitchFamily="2" charset="-122"/>
              </a:rPr>
              <a:t>ca</a:t>
            </a:r>
            <a:r>
              <a:rPr lang="en-US" altLang="zh-CN" sz="2400" b="1" i="1" dirty="0">
                <a:latin typeface="Trebuchet MS" panose="020B0603020202020204" pitchFamily="34" charset="0"/>
                <a:ea typeface="宋体" panose="02010600030101010101" pitchFamily="2" charset="-122"/>
              </a:rPr>
              <a:t> </a:t>
            </a:r>
            <a:r>
              <a:rPr lang="en-US" altLang="zh-CN" sz="2400" b="1" dirty="0">
                <a:latin typeface="Trebuchet MS" panose="020B0603020202020204" pitchFamily="34" charset="0"/>
                <a:sym typeface="Symbol" panose="05050102010706020507" pitchFamily="18" charset="2"/>
              </a:rPr>
              <a:t>.</a:t>
            </a:r>
          </a:p>
          <a:p>
            <a:pPr>
              <a:lnSpc>
                <a:spcPct val="12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en-US" altLang="zh-CN" sz="2400" dirty="0">
                <a:latin typeface="Trebuchet MS" panose="020B0603020202020204" pitchFamily="34" charset="0"/>
              </a:rPr>
              <a:t>Let </a:t>
            </a:r>
            <a:r>
              <a:rPr lang="en-US" altLang="zh-CN" sz="2400" b="1" dirty="0">
                <a:latin typeface="Trebuchet MS" panose="020B0603020202020204" pitchFamily="34" charset="0"/>
              </a:rPr>
              <a:t>&lt;</a:t>
            </a:r>
            <a:r>
              <a:rPr lang="en-US" altLang="zh-CN" sz="2400" b="1" i="1" dirty="0">
                <a:latin typeface="Trebuchet MS" panose="020B0603020202020204" pitchFamily="34" charset="0"/>
              </a:rPr>
              <a:t>R</a:t>
            </a:r>
            <a:r>
              <a:rPr lang="en-US" altLang="zh-CN" sz="2400" b="1" dirty="0">
                <a:latin typeface="Trebuchet MS" panose="020B0603020202020204" pitchFamily="34" charset="0"/>
              </a:rPr>
              <a:t>,+,·&gt; </a:t>
            </a:r>
            <a:r>
              <a:rPr lang="en-US" altLang="zh-CN" sz="2400" dirty="0">
                <a:latin typeface="Trebuchet MS" panose="020B0603020202020204" pitchFamily="34" charset="0"/>
              </a:rPr>
              <a:t>be a ring</a:t>
            </a:r>
            <a:r>
              <a:rPr lang="en-US" altLang="zh-CN" sz="2400" b="1" dirty="0">
                <a:latin typeface="Trebuchet MS" panose="020B0603020202020204" pitchFamily="34" charset="0"/>
              </a:rPr>
              <a:t>,</a:t>
            </a:r>
            <a:r>
              <a:rPr lang="zh-CN" altLang="en-US"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a</a:t>
            </a:r>
            <a:r>
              <a:rPr lang="en-US" altLang="zh-CN" sz="2400" b="1" dirty="0">
                <a:latin typeface="Trebuchet MS" panose="020B0603020202020204" pitchFamily="34" charset="0"/>
                <a:sym typeface="Symbol" panose="05050102010706020507" pitchFamily="18" charset="2"/>
              </a:rPr>
              <a:t>, </a:t>
            </a:r>
            <a:r>
              <a:rPr lang="en-US" altLang="zh-CN" sz="2400" b="1" i="1" dirty="0" err="1">
                <a:latin typeface="Trebuchet MS" panose="020B0603020202020204" pitchFamily="34" charset="0"/>
                <a:sym typeface="Symbol" panose="05050102010706020507" pitchFamily="18" charset="2"/>
              </a:rPr>
              <a:t>b</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R</a:t>
            </a:r>
            <a:r>
              <a:rPr lang="en-US" altLang="zh-CN" sz="2400" b="1" dirty="0">
                <a:latin typeface="Trebuchet MS" panose="020B0603020202020204" pitchFamily="34" charset="0"/>
                <a:sym typeface="Symbol" panose="05050102010706020507" pitchFamily="18" charset="2"/>
              </a:rPr>
              <a:t>,</a:t>
            </a:r>
            <a:r>
              <a:rPr lang="en-US" altLang="zh-CN" sz="2400" dirty="0">
                <a:latin typeface="Trebuchet MS" panose="020B0603020202020204" pitchFamily="34" charset="0"/>
              </a:rPr>
              <a:t> compute </a:t>
            </a:r>
            <a:r>
              <a:rPr lang="en-US" altLang="zh-CN" sz="2400" b="1" dirty="0">
                <a:latin typeface="Trebuchet MS" panose="020B0603020202020204" pitchFamily="34" charset="0"/>
              </a:rPr>
              <a:t>(</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rPr>
              <a:t>)</a:t>
            </a:r>
            <a:r>
              <a:rPr lang="en-US" altLang="zh-CN" sz="2400" b="1" baseline="30000" dirty="0">
                <a:latin typeface="Trebuchet MS" panose="020B0603020202020204" pitchFamily="34" charset="0"/>
              </a:rPr>
              <a:t>3 </a:t>
            </a:r>
            <a:r>
              <a:rPr lang="en-US" altLang="zh-CN" sz="2400" dirty="0">
                <a:latin typeface="Trebuchet MS" panose="020B0603020202020204" pitchFamily="34" charset="0"/>
              </a:rPr>
              <a:t>and </a:t>
            </a:r>
            <a:r>
              <a:rPr lang="en-US" altLang="zh-CN" sz="2400" b="1" dirty="0">
                <a:latin typeface="Trebuchet MS" panose="020B0603020202020204" pitchFamily="34" charset="0"/>
              </a:rPr>
              <a:t> (</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 .</a:t>
            </a:r>
          </a:p>
          <a:p>
            <a:pPr marL="361950" indent="-180975">
              <a:lnSpc>
                <a:spcPct val="120000"/>
              </a:lnSpc>
              <a:spcBef>
                <a:spcPts val="0"/>
              </a:spcBef>
              <a:buClr>
                <a:srgbClr val="0B61FF"/>
              </a:buClr>
              <a:buSzPct val="120000"/>
            </a:pPr>
            <a:r>
              <a:rPr lang="en-US" altLang="zh-CN" sz="2400" b="1" dirty="0">
                <a:latin typeface="Trebuchet MS" panose="020B0603020202020204" pitchFamily="34" charset="0"/>
              </a:rPr>
              <a:t>Solve: </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b</a:t>
            </a:r>
            <a:r>
              <a:rPr lang="en-US" altLang="zh-CN" sz="2400" b="1"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sym typeface="Symbol" panose="05050102010706020507" pitchFamily="18" charset="2"/>
              </a:rPr>
              <a:t>3</a:t>
            </a:r>
            <a:r>
              <a:rPr lang="en-US" altLang="zh-CN" sz="2400" b="1" dirty="0">
                <a:latin typeface="Trebuchet MS" panose="020B0603020202020204" pitchFamily="34" charset="0"/>
                <a:sym typeface="Symbol" panose="05050102010706020507" pitchFamily="18" charset="2"/>
              </a:rPr>
              <a:t> = (</a:t>
            </a:r>
            <a:r>
              <a:rPr lang="en-US" altLang="zh-CN" sz="2400" b="1" i="1" dirty="0" err="1">
                <a:latin typeface="Trebuchet MS" panose="020B0603020202020204" pitchFamily="34" charset="0"/>
                <a:sym typeface="Symbol" panose="05050102010706020507" pitchFamily="18" charset="2"/>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b</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b</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b</a:t>
            </a:r>
            <a:r>
              <a:rPr lang="en-US" altLang="zh-CN" sz="2400" b="1" dirty="0">
                <a:latin typeface="Trebuchet MS" panose="020B0603020202020204" pitchFamily="34" charset="0"/>
                <a:sym typeface="Symbol" panose="05050102010706020507" pitchFamily="18" charset="2"/>
              </a:rPr>
              <a:t>) = (</a:t>
            </a:r>
            <a:r>
              <a:rPr lang="en-US" altLang="zh-CN" sz="2400" b="1" i="1" dirty="0">
                <a:latin typeface="Trebuchet MS" panose="020B0603020202020204" pitchFamily="34" charset="0"/>
                <a:sym typeface="Symbol" panose="05050102010706020507" pitchFamily="18" charset="2"/>
              </a:rPr>
              <a:t>a</a:t>
            </a:r>
            <a:r>
              <a:rPr lang="en-US" altLang="zh-CN" sz="2400" b="1" baseline="30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ab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a:t>
            </a:r>
            <a:r>
              <a:rPr lang="en-US" altLang="zh-CN" sz="2400" b="1" baseline="30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b</a:t>
            </a:r>
            <a:r>
              <a:rPr lang="en-US" altLang="zh-CN" sz="2400" b="1" dirty="0">
                <a:latin typeface="Trebuchet MS" panose="020B0603020202020204" pitchFamily="34" charset="0"/>
                <a:sym typeface="Symbol" panose="05050102010706020507" pitchFamily="18" charset="2"/>
              </a:rPr>
              <a:t>)</a:t>
            </a:r>
            <a:br>
              <a:rPr lang="zh-CN" altLang="en-US" sz="2400" b="1" dirty="0">
                <a:latin typeface="Trebuchet MS" panose="020B0603020202020204" pitchFamily="34" charset="0"/>
              </a:rPr>
            </a:br>
            <a:r>
              <a:rPr lang="zh-CN" altLang="en-US" sz="2400" b="1" dirty="0">
                <a:latin typeface="Trebuchet MS" panose="020B0603020202020204" pitchFamily="34" charset="0"/>
              </a:rPr>
              <a:t>                     </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a</a:t>
            </a:r>
            <a:r>
              <a:rPr lang="en-US" altLang="zh-CN" sz="2400" b="1" baseline="30000" dirty="0">
                <a:latin typeface="Trebuchet MS" panose="020B0603020202020204" pitchFamily="34" charset="0"/>
                <a:sym typeface="Symbol" panose="05050102010706020507" pitchFamily="18" charset="2"/>
              </a:rPr>
              <a:t>3</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ba</a:t>
            </a:r>
            <a:r>
              <a:rPr lang="en-US" altLang="zh-CN" sz="2400" b="1" baseline="30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aba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a:t>
            </a:r>
            <a:r>
              <a:rPr lang="en-US" altLang="zh-CN" sz="2400" b="1" baseline="30000" dirty="0">
                <a:latin typeface="Trebuchet MS" panose="020B0603020202020204" pitchFamily="34" charset="0"/>
                <a:sym typeface="Symbol" panose="05050102010706020507" pitchFamily="18" charset="2"/>
              </a:rPr>
              <a:t>2</a:t>
            </a:r>
            <a:r>
              <a:rPr lang="en-US" altLang="zh-CN" sz="2400" b="1" i="1" dirty="0">
                <a:latin typeface="Trebuchet MS" panose="020B0603020202020204" pitchFamily="34" charset="0"/>
                <a:sym typeface="Symbol" panose="05050102010706020507" pitchFamily="18" charset="2"/>
              </a:rPr>
              <a:t>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a</a:t>
            </a:r>
            <a:r>
              <a:rPr lang="en-US" altLang="zh-CN" sz="2400" b="1" baseline="30000" dirty="0">
                <a:latin typeface="Trebuchet MS" panose="020B0603020202020204" pitchFamily="34" charset="0"/>
                <a:sym typeface="Symbol" panose="05050102010706020507" pitchFamily="18" charset="2"/>
              </a:rPr>
              <a:t>2</a:t>
            </a:r>
            <a:r>
              <a:rPr lang="en-US" altLang="zh-CN" sz="2400" b="1" i="1" dirty="0">
                <a:latin typeface="Trebuchet MS" panose="020B0603020202020204" pitchFamily="34" charset="0"/>
                <a:sym typeface="Symbol" panose="05050102010706020507" pitchFamily="18" charset="2"/>
              </a:rPr>
              <a:t>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bab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ab</a:t>
            </a:r>
            <a:r>
              <a:rPr lang="en-US" altLang="zh-CN" sz="2400" b="1" baseline="30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a:t>
            </a:r>
            <a:r>
              <a:rPr lang="en-US" altLang="zh-CN" sz="2400" b="1" baseline="30000" dirty="0">
                <a:latin typeface="Trebuchet MS" panose="020B0603020202020204" pitchFamily="34" charset="0"/>
                <a:sym typeface="Symbol" panose="05050102010706020507" pitchFamily="18" charset="2"/>
              </a:rPr>
              <a:t>3</a:t>
            </a:r>
          </a:p>
          <a:p>
            <a:pPr marL="0" indent="0">
              <a:lnSpc>
                <a:spcPct val="120000"/>
              </a:lnSpc>
              <a:spcBef>
                <a:spcPts val="0"/>
              </a:spcBef>
              <a:buNone/>
            </a:pPr>
            <a:r>
              <a:rPr lang="en-US" altLang="zh-CN" sz="2400" b="1" dirty="0">
                <a:latin typeface="Trebuchet MS" panose="020B0603020202020204" pitchFamily="34" charset="0"/>
                <a:sym typeface="Symbol" panose="05050102010706020507" pitchFamily="18" charset="2"/>
              </a:rPr>
              <a:t>               (</a:t>
            </a:r>
            <a:r>
              <a:rPr lang="en-US" altLang="zh-CN" sz="2400" b="1" i="1" dirty="0" err="1">
                <a:latin typeface="Trebuchet MS" panose="020B0603020202020204" pitchFamily="34" charset="0"/>
                <a:sym typeface="Symbol" panose="05050102010706020507" pitchFamily="18" charset="2"/>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 = (</a:t>
            </a:r>
            <a:r>
              <a:rPr lang="en-US" altLang="zh-CN" sz="2400" b="1" i="1" dirty="0" err="1">
                <a:latin typeface="Trebuchet MS" panose="020B0603020202020204" pitchFamily="34" charset="0"/>
                <a:sym typeface="Symbol" panose="05050102010706020507" pitchFamily="18" charset="2"/>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sym typeface="Symbol" panose="05050102010706020507" pitchFamily="18" charset="2"/>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a</a:t>
            </a:r>
            <a:r>
              <a:rPr lang="en-US" altLang="zh-CN" sz="2400" b="1" baseline="30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a</a:t>
            </a:r>
            <a:r>
              <a:rPr lang="en-US" altLang="zh-CN" sz="2400" b="1" baseline="30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ba</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rPr>
              <a:t>ab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a:t>
            </a:r>
            <a:r>
              <a:rPr lang="en-US" altLang="zh-CN" sz="2400" b="1" baseline="30000" dirty="0">
                <a:latin typeface="Trebuchet MS" panose="020B0603020202020204" pitchFamily="34" charset="0"/>
                <a:sym typeface="Symbol" panose="05050102010706020507" pitchFamily="18" charset="2"/>
              </a:rPr>
              <a:t>2</a:t>
            </a:r>
          </a:p>
          <a:p>
            <a:pPr marL="361950" indent="-180975">
              <a:lnSpc>
                <a:spcPct val="120000"/>
              </a:lnSpc>
              <a:spcBef>
                <a:spcPts val="0"/>
              </a:spcBef>
              <a:buClr>
                <a:srgbClr val="0B61FF"/>
              </a:buClr>
              <a:buSzPct val="120000"/>
            </a:pPr>
            <a:r>
              <a:rPr lang="en-US" altLang="zh-CN" sz="2400" dirty="0">
                <a:latin typeface="Trebuchet MS" panose="020B0603020202020204" pitchFamily="34" charset="0"/>
              </a:rPr>
              <a:t>When </a:t>
            </a:r>
            <a:r>
              <a:rPr lang="en-US" altLang="zh-CN" sz="2400" b="1" i="1" dirty="0">
                <a:latin typeface="Trebuchet MS" panose="020B0603020202020204" pitchFamily="34" charset="0"/>
              </a:rPr>
              <a:t>R</a:t>
            </a:r>
            <a:r>
              <a:rPr lang="en-US" altLang="zh-CN" sz="2400" dirty="0">
                <a:latin typeface="Trebuchet MS" panose="020B0603020202020204" pitchFamily="34" charset="0"/>
              </a:rPr>
              <a:t> is a commutative ring (i.e., </a:t>
            </a:r>
            <a:r>
              <a:rPr lang="en-US" altLang="zh-CN" sz="2400" b="1" i="1" dirty="0">
                <a:solidFill>
                  <a:srgbClr val="0D0D0D"/>
                </a:solidFill>
                <a:latin typeface="Times New Roman" panose="02020603050405020304" pitchFamily="18" charset="0"/>
                <a:cs typeface="Times New Roman" panose="02020603050405020304" pitchFamily="18" charset="0"/>
              </a:rPr>
              <a:t>ab=</a:t>
            </a:r>
            <a:r>
              <a:rPr lang="en-US" altLang="zh-CN" sz="2400" b="1" i="1" dirty="0" err="1">
                <a:solidFill>
                  <a:srgbClr val="0D0D0D"/>
                </a:solidFill>
                <a:latin typeface="Times New Roman" panose="02020603050405020304" pitchFamily="18" charset="0"/>
                <a:cs typeface="Times New Roman" panose="02020603050405020304" pitchFamily="18" charset="0"/>
              </a:rPr>
              <a:t>ba</a:t>
            </a:r>
            <a:r>
              <a:rPr lang="en-US" altLang="zh-CN" sz="2400" dirty="0">
                <a:latin typeface="Trebuchet MS" panose="020B0603020202020204" pitchFamily="34" charset="0"/>
              </a:rPr>
              <a:t>), it can be further simplified to:</a:t>
            </a:r>
            <a:r>
              <a:rPr lang="en-US" altLang="zh-CN" sz="2400" b="1" dirty="0">
                <a:latin typeface="Trebuchet MS" panose="020B0603020202020204" pitchFamily="34" charset="0"/>
              </a:rPr>
              <a:t>  </a:t>
            </a:r>
          </a:p>
          <a:p>
            <a:pPr marL="0" indent="0">
              <a:lnSpc>
                <a:spcPct val="120000"/>
              </a:lnSpc>
              <a:spcBef>
                <a:spcPts val="0"/>
              </a:spcBef>
              <a:buNone/>
            </a:pPr>
            <a:r>
              <a:rPr lang="en-US" altLang="zh-CN" sz="2400" b="1" dirty="0">
                <a:latin typeface="Trebuchet MS" panose="020B0603020202020204" pitchFamily="34" charset="0"/>
              </a:rPr>
              <a:t>               (</a:t>
            </a:r>
            <a:r>
              <a:rPr lang="en-US" altLang="zh-CN" sz="2400" b="1" i="1" dirty="0" err="1">
                <a:latin typeface="Trebuchet MS" panose="020B0603020202020204" pitchFamily="34" charset="0"/>
              </a:rPr>
              <a:t>a</a:t>
            </a:r>
            <a:r>
              <a:rPr lang="en-US" altLang="zh-CN" sz="2400" b="1" dirty="0" err="1">
                <a:latin typeface="Trebuchet MS" panose="020B0603020202020204" pitchFamily="34" charset="0"/>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rPr>
              <a:t>)</a:t>
            </a:r>
            <a:r>
              <a:rPr lang="en-US" altLang="zh-CN" sz="2400" b="1" baseline="30000" dirty="0">
                <a:latin typeface="Trebuchet MS" panose="020B0603020202020204" pitchFamily="34" charset="0"/>
              </a:rPr>
              <a:t>3</a:t>
            </a:r>
            <a:r>
              <a:rPr lang="en-US" altLang="zh-CN" sz="2400" b="1" dirty="0">
                <a:latin typeface="Trebuchet MS" panose="020B0603020202020204" pitchFamily="34" charset="0"/>
                <a:sym typeface="Symbol" panose="05050102010706020507" pitchFamily="18" charset="2"/>
              </a:rPr>
              <a:t> = </a:t>
            </a:r>
            <a:r>
              <a:rPr lang="en-US" altLang="zh-CN" sz="2400" b="1" i="1" dirty="0">
                <a:latin typeface="Trebuchet MS" panose="020B0603020202020204" pitchFamily="34" charset="0"/>
                <a:sym typeface="Symbol" panose="05050102010706020507" pitchFamily="18" charset="2"/>
              </a:rPr>
              <a:t>a</a:t>
            </a:r>
            <a:r>
              <a:rPr lang="en-US" altLang="zh-CN" sz="2400" b="1" baseline="30000" dirty="0">
                <a:latin typeface="Trebuchet MS" panose="020B0603020202020204" pitchFamily="34" charset="0"/>
                <a:sym typeface="Symbol" panose="05050102010706020507" pitchFamily="18" charset="2"/>
              </a:rPr>
              <a:t>3</a:t>
            </a:r>
            <a:r>
              <a:rPr lang="en-US" altLang="zh-CN" sz="2400" b="1" dirty="0">
                <a:latin typeface="Trebuchet MS" panose="020B0603020202020204" pitchFamily="34" charset="0"/>
                <a:sym typeface="Symbol" panose="05050102010706020507" pitchFamily="18" charset="2"/>
              </a:rPr>
              <a:t>+3</a:t>
            </a:r>
            <a:r>
              <a:rPr lang="en-US" altLang="zh-CN" sz="2400" b="1" i="1" dirty="0">
                <a:latin typeface="Trebuchet MS" panose="020B0603020202020204" pitchFamily="34" charset="0"/>
                <a:sym typeface="Symbol" panose="05050102010706020507" pitchFamily="18" charset="2"/>
              </a:rPr>
              <a:t>a</a:t>
            </a:r>
            <a:r>
              <a:rPr lang="en-US" altLang="zh-CN" sz="2400" b="1" baseline="30000" dirty="0">
                <a:latin typeface="Trebuchet MS" panose="020B0603020202020204" pitchFamily="34" charset="0"/>
                <a:sym typeface="Symbol" panose="05050102010706020507" pitchFamily="18" charset="2"/>
              </a:rPr>
              <a:t>2</a:t>
            </a:r>
            <a:r>
              <a:rPr lang="en-US" altLang="zh-CN" sz="2400" b="1" i="1" dirty="0">
                <a:latin typeface="Trebuchet MS" panose="020B0603020202020204" pitchFamily="34" charset="0"/>
                <a:sym typeface="Symbol" panose="05050102010706020507" pitchFamily="18" charset="2"/>
              </a:rPr>
              <a:t>b+</a:t>
            </a:r>
            <a:r>
              <a:rPr lang="en-US" altLang="zh-CN" sz="2400" b="1" dirty="0">
                <a:latin typeface="Trebuchet MS" panose="020B0603020202020204" pitchFamily="34" charset="0"/>
                <a:sym typeface="Symbol" panose="05050102010706020507" pitchFamily="18" charset="2"/>
              </a:rPr>
              <a:t>3</a:t>
            </a:r>
            <a:r>
              <a:rPr lang="en-US" altLang="zh-CN" sz="2400" b="1" i="1" dirty="0">
                <a:latin typeface="Trebuchet MS" panose="020B0603020202020204" pitchFamily="34" charset="0"/>
                <a:sym typeface="Symbol" panose="05050102010706020507" pitchFamily="18" charset="2"/>
              </a:rPr>
              <a:t>ab</a:t>
            </a:r>
            <a:r>
              <a:rPr lang="en-US" altLang="zh-CN" sz="2400" b="1" baseline="30000" dirty="0">
                <a:latin typeface="Trebuchet MS" panose="020B0603020202020204" pitchFamily="34" charset="0"/>
                <a:sym typeface="Symbol" panose="05050102010706020507" pitchFamily="18" charset="2"/>
              </a:rPr>
              <a:t>2</a:t>
            </a:r>
            <a:r>
              <a:rPr lang="en-US" altLang="zh-CN" sz="2400" b="1" i="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a:t>
            </a:r>
            <a:r>
              <a:rPr lang="en-US" altLang="zh-CN" sz="2400" b="1" baseline="30000" dirty="0">
                <a:latin typeface="Trebuchet MS" panose="020B0603020202020204" pitchFamily="34" charset="0"/>
                <a:sym typeface="Symbol" panose="05050102010706020507" pitchFamily="18" charset="2"/>
              </a:rPr>
              <a:t>3</a:t>
            </a:r>
            <a:br>
              <a:rPr lang="en-US" altLang="zh-CN" sz="2400" b="1" dirty="0">
                <a:latin typeface="Trebuchet MS" panose="020B0603020202020204" pitchFamily="34" charset="0"/>
                <a:sym typeface="Symbol" panose="05050102010706020507" pitchFamily="18" charset="2"/>
              </a:rPr>
            </a:br>
            <a:r>
              <a:rPr lang="en-US" altLang="zh-CN" sz="2400" b="1" dirty="0">
                <a:latin typeface="Trebuchet MS" panose="020B0603020202020204" pitchFamily="34" charset="0"/>
                <a:sym typeface="Symbol" panose="05050102010706020507" pitchFamily="18" charset="2"/>
              </a:rPr>
              <a:t>               (</a:t>
            </a:r>
            <a:r>
              <a:rPr lang="en-US" altLang="zh-CN" sz="2400" b="1" i="1" dirty="0" err="1">
                <a:latin typeface="Trebuchet MS" panose="020B0603020202020204" pitchFamily="34" charset="0"/>
                <a:sym typeface="Symbol" panose="05050102010706020507" pitchFamily="18" charset="2"/>
              </a:rPr>
              <a:t>a</a:t>
            </a:r>
            <a:r>
              <a:rPr lang="en-US" altLang="zh-CN" sz="2400" b="1" dirty="0" err="1">
                <a:latin typeface="Trebuchet MS" panose="020B0603020202020204" pitchFamily="34" charset="0"/>
                <a:sym typeface="Symbol" panose="05050102010706020507" pitchFamily="18" charset="2"/>
              </a:rPr>
              <a:t></a:t>
            </a:r>
            <a:r>
              <a:rPr lang="en-US" altLang="zh-CN" sz="2400" b="1" i="1" dirty="0" err="1">
                <a:latin typeface="Trebuchet MS" panose="020B0603020202020204" pitchFamily="34" charset="0"/>
              </a:rPr>
              <a:t>b</a:t>
            </a:r>
            <a:r>
              <a:rPr lang="en-US" altLang="zh-CN" sz="2400" b="1" dirty="0">
                <a:latin typeface="Trebuchet MS" panose="020B0603020202020204" pitchFamily="34" charset="0"/>
                <a:sym typeface="Symbol" panose="05050102010706020507" pitchFamily="18" charset="2"/>
              </a:rPr>
              <a:t>)</a:t>
            </a:r>
            <a:r>
              <a:rPr lang="en-US" altLang="zh-CN" sz="2400" b="1" baseline="30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 =</a:t>
            </a:r>
            <a:r>
              <a:rPr lang="en-US" altLang="zh-CN" sz="2400" b="1" i="1" dirty="0">
                <a:latin typeface="Trebuchet MS" panose="020B0603020202020204" pitchFamily="34" charset="0"/>
                <a:sym typeface="Symbol" panose="05050102010706020507" pitchFamily="18" charset="2"/>
              </a:rPr>
              <a:t> a</a:t>
            </a:r>
            <a:r>
              <a:rPr lang="en-US" altLang="zh-CN" sz="2400" b="1" baseline="30000" dirty="0">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2</a:t>
            </a:r>
            <a:r>
              <a:rPr lang="en-US" altLang="zh-CN" sz="2400" b="1" i="1" dirty="0">
                <a:latin typeface="Trebuchet MS" panose="020B0603020202020204" pitchFamily="34" charset="0"/>
              </a:rPr>
              <a:t>ab</a:t>
            </a:r>
            <a:r>
              <a:rPr lang="en-US" altLang="zh-CN" sz="2400" b="1" dirty="0">
                <a:latin typeface="Trebuchet MS" panose="020B0603020202020204" pitchFamily="34" charset="0"/>
                <a:sym typeface="Symbol" panose="05050102010706020507" pitchFamily="18" charset="2"/>
              </a:rPr>
              <a:t>+</a:t>
            </a:r>
            <a:r>
              <a:rPr lang="en-US" altLang="zh-CN" sz="2400" b="1" i="1" dirty="0">
                <a:latin typeface="Trebuchet MS" panose="020B0603020202020204" pitchFamily="34" charset="0"/>
                <a:sym typeface="Symbol" panose="05050102010706020507" pitchFamily="18" charset="2"/>
              </a:rPr>
              <a:t>b</a:t>
            </a:r>
            <a:r>
              <a:rPr lang="en-US" altLang="zh-CN" sz="2400" b="1" baseline="30000" dirty="0">
                <a:latin typeface="Trebuchet MS" panose="020B0603020202020204" pitchFamily="34" charset="0"/>
                <a:sym typeface="Symbol" panose="05050102010706020507" pitchFamily="18" charset="2"/>
              </a:rPr>
              <a:t>2</a:t>
            </a:r>
            <a:endParaRPr lang="zh-CN" altLang="en-US" sz="2400" b="1" dirty="0">
              <a:latin typeface="Trebuchet MS" panose="020B0603020202020204" pitchFamily="34" charset="0"/>
              <a:sym typeface="Symbol" panose="05050102010706020507" pitchFamily="18" charset="2"/>
            </a:endParaRPr>
          </a:p>
          <a:p>
            <a:pPr marL="0" indent="180975">
              <a:lnSpc>
                <a:spcPct val="110000"/>
              </a:lnSpc>
              <a:spcBef>
                <a:spcPts val="0"/>
              </a:spcBef>
              <a:buClr>
                <a:srgbClr val="0B61FF"/>
              </a:buClr>
              <a:buSzPct val="80000"/>
              <a:buNone/>
            </a:pPr>
            <a:br>
              <a:rPr lang="en-US" altLang="zh-CN" sz="2400" b="1" dirty="0">
                <a:solidFill>
                  <a:srgbClr val="000000"/>
                </a:solidFill>
                <a:latin typeface="Trebuchet MS" panose="020B0603020202020204" pitchFamily="34" charset="0"/>
                <a:ea typeface="宋体" panose="02010600030101010101" pitchFamily="2" charset="-122"/>
                <a:sym typeface="Symbol" panose="05050102010706020507" pitchFamily="18" charset="2"/>
              </a:rPr>
            </a:br>
            <a:endParaRPr lang="zh-CN" altLang="en-US" sz="2400" b="1" dirty="0">
              <a:solidFill>
                <a:srgbClr val="000000"/>
              </a:solidFill>
              <a:latin typeface="Trebuchet MS" panose="020B0603020202020204" pitchFamily="34" charset="0"/>
              <a:ea typeface="宋体" panose="02010600030101010101" pitchFamily="2" charset="-122"/>
              <a:sym typeface="Symbol" panose="05050102010706020507" pitchFamily="18" charset="2"/>
            </a:endParaRPr>
          </a:p>
        </p:txBody>
      </p:sp>
    </p:spTree>
    <p:extLst>
      <p:ext uri="{BB962C8B-B14F-4D97-AF65-F5344CB8AC3E}">
        <p14:creationId xmlns:p14="http://schemas.microsoft.com/office/powerpoint/2010/main" val="25592066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fade">
                                      <p:cBhvr>
                                        <p:cTn id="7" dur="1000"/>
                                        <p:tgtEl>
                                          <p:spTgt spid="9">
                                            <p:txEl>
                                              <p:pRg st="3" end="3"/>
                                            </p:txEl>
                                          </p:spTgt>
                                        </p:tgtEl>
                                      </p:cBhvr>
                                    </p:animEffect>
                                    <p:anim calcmode="lin" valueType="num">
                                      <p:cBhvr>
                                        <p:cTn id="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4" end="4"/>
                                            </p:txEl>
                                          </p:spTgt>
                                        </p:tgtEl>
                                        <p:attrNameLst>
                                          <p:attrName>style.visibility</p:attrName>
                                        </p:attrNameLst>
                                      </p:cBhvr>
                                      <p:to>
                                        <p:strVal val="visible"/>
                                      </p:to>
                                    </p:set>
                                    <p:animEffect transition="in" filter="fade">
                                      <p:cBhvr>
                                        <p:cTn id="12" dur="1000"/>
                                        <p:tgtEl>
                                          <p:spTgt spid="9">
                                            <p:txEl>
                                              <p:pRg st="4" end="4"/>
                                            </p:txEl>
                                          </p:spTgt>
                                        </p:tgtEl>
                                      </p:cBhvr>
                                    </p:animEffect>
                                    <p:anim calcmode="lin" valueType="num">
                                      <p:cBhvr>
                                        <p:cTn id="13"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animEffect transition="in" filter="fade">
                                      <p:cBhvr>
                                        <p:cTn id="19" dur="1000"/>
                                        <p:tgtEl>
                                          <p:spTgt spid="9">
                                            <p:txEl>
                                              <p:pRg st="5" end="5"/>
                                            </p:txEl>
                                          </p:spTgt>
                                        </p:tgtEl>
                                      </p:cBhvr>
                                    </p:animEffect>
                                    <p:anim calcmode="lin" valueType="num">
                                      <p:cBhvr>
                                        <p:cTn id="20"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6" end="6"/>
                                            </p:txEl>
                                          </p:spTgt>
                                        </p:tgtEl>
                                        <p:attrNameLst>
                                          <p:attrName>style.visibility</p:attrName>
                                        </p:attrNameLst>
                                      </p:cBhvr>
                                      <p:to>
                                        <p:strVal val="visible"/>
                                      </p:to>
                                    </p:set>
                                    <p:animEffect transition="in" filter="fade">
                                      <p:cBhvr>
                                        <p:cTn id="24" dur="1000"/>
                                        <p:tgtEl>
                                          <p:spTgt spid="9">
                                            <p:txEl>
                                              <p:pRg st="6" end="6"/>
                                            </p:txEl>
                                          </p:spTgt>
                                        </p:tgtEl>
                                      </p:cBhvr>
                                    </p:animEffect>
                                    <p:anim calcmode="lin" valueType="num">
                                      <p:cBhvr>
                                        <p:cTn id="25"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animEffect transition="in" filter="fade">
                                      <p:cBhvr>
                                        <p:cTn id="31" dur="1000"/>
                                        <p:tgtEl>
                                          <p:spTgt spid="9">
                                            <p:txEl>
                                              <p:pRg st="7" end="7"/>
                                            </p:txEl>
                                          </p:spTgt>
                                        </p:tgtEl>
                                      </p:cBhvr>
                                    </p:animEffect>
                                    <p:anim calcmode="lin" valueType="num">
                                      <p:cBhvr>
                                        <p:cTn id="32"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9">
                                            <p:txEl>
                                              <p:pRg st="8" end="8"/>
                                            </p:txEl>
                                          </p:spTgt>
                                        </p:tgtEl>
                                        <p:attrNameLst>
                                          <p:attrName>style.visibility</p:attrName>
                                        </p:attrNameLst>
                                      </p:cBhvr>
                                      <p:to>
                                        <p:strVal val="visible"/>
                                      </p:to>
                                    </p:set>
                                    <p:animEffect transition="in" filter="fade">
                                      <p:cBhvr>
                                        <p:cTn id="38" dur="1000"/>
                                        <p:tgtEl>
                                          <p:spTgt spid="9">
                                            <p:txEl>
                                              <p:pRg st="8" end="8"/>
                                            </p:txEl>
                                          </p:spTgt>
                                        </p:tgtEl>
                                      </p:cBhvr>
                                    </p:animEffect>
                                    <p:anim calcmode="lin" valueType="num">
                                      <p:cBhvr>
                                        <p:cTn id="39"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40" dur="1000" fill="hold"/>
                                        <p:tgtEl>
                                          <p:spTgt spid="9">
                                            <p:txEl>
                                              <p:pRg st="8" end="8"/>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animEffect transition="in" filter="fade">
                                      <p:cBhvr>
                                        <p:cTn id="43" dur="1000"/>
                                        <p:tgtEl>
                                          <p:spTgt spid="9">
                                            <p:txEl>
                                              <p:pRg st="9" end="9"/>
                                            </p:txEl>
                                          </p:spTgt>
                                        </p:tgtEl>
                                      </p:cBhvr>
                                    </p:animEffect>
                                    <p:anim calcmode="lin" valueType="num">
                                      <p:cBhvr>
                                        <p:cTn id="44"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45" dur="1000" fill="hold"/>
                                        <p:tgtEl>
                                          <p:spTgt spid="9">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9.3 Several Typical Algebraic Systems</a:t>
            </a:r>
            <a:endParaRPr lang="zh-CN" altLang="en-US" sz="2400" b="1" dirty="0">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p:txBody>
      </p:sp>
      <p:sp>
        <p:nvSpPr>
          <p:cNvPr id="9" name="Rectangle 3">
            <a:extLst>
              <a:ext uri="{FF2B5EF4-FFF2-40B4-BE49-F238E27FC236}">
                <a16:creationId xmlns:a16="http://schemas.microsoft.com/office/drawing/2014/main" id="{DFB26965-CE5B-4DE7-9E7F-C771435C74C9}"/>
              </a:ext>
            </a:extLst>
          </p:cNvPr>
          <p:cNvSpPr txBox="1">
            <a:spLocks noChangeArrowheads="1"/>
          </p:cNvSpPr>
          <p:nvPr/>
        </p:nvSpPr>
        <p:spPr>
          <a:xfrm>
            <a:off x="2133599" y="1079864"/>
            <a:ext cx="7772400"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Clr>
                <a:srgbClr val="0B61FF"/>
              </a:buClr>
              <a:buSzPct val="80000"/>
              <a:buFont typeface="Wingdings" panose="05000000000000000000" pitchFamily="2" charset="2"/>
              <a:buChar char="n"/>
            </a:pPr>
            <a:r>
              <a:rPr lang="en-US" altLang="zh-CN" sz="2400" b="1" dirty="0">
                <a:solidFill>
                  <a:schemeClr val="bg2">
                    <a:lumMod val="75000"/>
                  </a:schemeClr>
                </a:solidFill>
                <a:latin typeface="Trebuchet MS" panose="020B0603020202020204" pitchFamily="34" charset="0"/>
              </a:rPr>
              <a:t>9.3.1 Semigroups and Idempotent Elements</a:t>
            </a:r>
          </a:p>
          <a:p>
            <a:pPr>
              <a:lnSpc>
                <a:spcPct val="130000"/>
              </a:lnSpc>
              <a:buClr>
                <a:srgbClr val="0B61FF"/>
              </a:buClr>
              <a:buSzPct val="80000"/>
              <a:buFont typeface="Wingdings" panose="05000000000000000000" pitchFamily="2" charset="2"/>
              <a:buChar char="n"/>
            </a:pPr>
            <a:r>
              <a:rPr lang="en-US" altLang="zh-CN" sz="2400" b="1" dirty="0">
                <a:solidFill>
                  <a:schemeClr val="bg2">
                    <a:lumMod val="75000"/>
                  </a:schemeClr>
                </a:solidFill>
                <a:latin typeface="Trebuchet MS" panose="020B0603020202020204" pitchFamily="34" charset="0"/>
              </a:rPr>
              <a:t>9.3.2 Groups</a:t>
            </a:r>
          </a:p>
          <a:p>
            <a:pPr>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9.3.3 Rings and Fields</a:t>
            </a:r>
          </a:p>
          <a:p>
            <a:pPr>
              <a:lnSpc>
                <a:spcPct val="130000"/>
              </a:lnSpc>
              <a:buClr>
                <a:srgbClr val="0B61FF"/>
              </a:buClr>
              <a:buSzPct val="80000"/>
              <a:buFont typeface="Wingdings" panose="05000000000000000000" pitchFamily="2" charset="2"/>
              <a:buChar char="n"/>
            </a:pPr>
            <a:r>
              <a:rPr lang="en-US" altLang="zh-CN" sz="2400" b="1" dirty="0">
                <a:solidFill>
                  <a:srgbClr val="0070C0"/>
                </a:solidFill>
                <a:latin typeface="Trebuchet MS" panose="020B0603020202020204" pitchFamily="34" charset="0"/>
              </a:rPr>
              <a:t>9.3.4 Lattices and Boolean Algebras</a:t>
            </a:r>
          </a:p>
        </p:txBody>
      </p:sp>
    </p:spTree>
    <p:extLst>
      <p:ext uri="{BB962C8B-B14F-4D97-AF65-F5344CB8AC3E}">
        <p14:creationId xmlns:p14="http://schemas.microsoft.com/office/powerpoint/2010/main" val="569249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30000"/>
              </a:lnSpc>
              <a:buClr>
                <a:srgbClr val="0B61FF"/>
              </a:buClr>
              <a:buSzPct val="80000"/>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9.3.4 Lattices and Boolean Algebras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21" name="Rectangle 4">
            <a:extLst>
              <a:ext uri="{FF2B5EF4-FFF2-40B4-BE49-F238E27FC236}">
                <a16:creationId xmlns:a16="http://schemas.microsoft.com/office/drawing/2014/main" id="{E0E66EC5-DAAE-4522-9636-DBD946FA9BCB}"/>
              </a:ext>
            </a:extLst>
          </p:cNvPr>
          <p:cNvSpPr>
            <a:spLocks noGrp="1" noChangeArrowheads="1"/>
          </p:cNvSpPr>
          <p:nvPr>
            <p:ph idx="1"/>
          </p:nvPr>
        </p:nvSpPr>
        <p:spPr>
          <a:xfrm>
            <a:off x="1654629" y="989466"/>
            <a:ext cx="7772400" cy="4114800"/>
          </a:xfrm>
        </p:spPr>
        <p:txBody>
          <a:bodyPr>
            <a:normAutofit/>
          </a:bodyPr>
          <a:lstStyle/>
          <a:p>
            <a:pPr marL="974725" indent="-342900">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Definition and Construction of Lattices</a:t>
            </a:r>
          </a:p>
          <a:p>
            <a:pPr marL="974725" indent="-342900">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Properties of Lattices – Principle of Duality</a:t>
            </a:r>
          </a:p>
          <a:p>
            <a:pPr marL="974725" indent="-342900">
              <a:lnSpc>
                <a:spcPct val="13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Distributive Lattices, Bounded Lattices, Complemented Lattices</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646581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9291"/>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t>Set and </a:t>
            </a:r>
            <a:r>
              <a:rPr lang="en-US" altLang="zh-CN" sz="2400" b="1" dirty="0" err="1"/>
              <a:t>Poset</a:t>
            </a:r>
            <a:r>
              <a:rPr lang="en-US" altLang="zh-CN" sz="2400" b="1" dirty="0"/>
              <a:t> (Partially Ordered Set)</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graphicFrame>
        <p:nvGraphicFramePr>
          <p:cNvPr id="4" name="表格 3">
            <a:extLst>
              <a:ext uri="{FF2B5EF4-FFF2-40B4-BE49-F238E27FC236}">
                <a16:creationId xmlns:a16="http://schemas.microsoft.com/office/drawing/2014/main" id="{86855E6E-B2D3-4B15-8E33-D6AEEA47A8C6}"/>
              </a:ext>
            </a:extLst>
          </p:cNvPr>
          <p:cNvGraphicFramePr>
            <a:graphicFrameLocks noGrp="1"/>
          </p:cNvGraphicFramePr>
          <p:nvPr/>
        </p:nvGraphicFramePr>
        <p:xfrm>
          <a:off x="714249" y="834346"/>
          <a:ext cx="10939779" cy="3962400"/>
        </p:xfrm>
        <a:graphic>
          <a:graphicData uri="http://schemas.openxmlformats.org/drawingml/2006/table">
            <a:tbl>
              <a:tblPr firstRow="1" firstCol="1" bandRow="1">
                <a:tableStyleId>{5C22544A-7EE6-4342-B048-85BDC9FD1C3A}</a:tableStyleId>
              </a:tblPr>
              <a:tblGrid>
                <a:gridCol w="2091622">
                  <a:extLst>
                    <a:ext uri="{9D8B030D-6E8A-4147-A177-3AD203B41FA5}">
                      <a16:colId xmlns:a16="http://schemas.microsoft.com/office/drawing/2014/main" val="1343079057"/>
                    </a:ext>
                  </a:extLst>
                </a:gridCol>
                <a:gridCol w="3827338">
                  <a:extLst>
                    <a:ext uri="{9D8B030D-6E8A-4147-A177-3AD203B41FA5}">
                      <a16:colId xmlns:a16="http://schemas.microsoft.com/office/drawing/2014/main" val="2399839967"/>
                    </a:ext>
                  </a:extLst>
                </a:gridCol>
                <a:gridCol w="5020819">
                  <a:extLst>
                    <a:ext uri="{9D8B030D-6E8A-4147-A177-3AD203B41FA5}">
                      <a16:colId xmlns:a16="http://schemas.microsoft.com/office/drawing/2014/main" val="1919140200"/>
                    </a:ext>
                  </a:extLst>
                </a:gridCol>
              </a:tblGrid>
              <a:tr h="0">
                <a:tc>
                  <a:txBody>
                    <a:bodyPr/>
                    <a:lstStyle/>
                    <a:p>
                      <a:pPr marL="0" indent="0" algn="ctr"/>
                      <a:r>
                        <a:rPr lang="en-US" altLang="zh-CN" sz="2000" b="1" dirty="0">
                          <a:solidFill>
                            <a:schemeClr val="tx1"/>
                          </a:solidFill>
                          <a:latin typeface="Trebuchet MS" panose="020B0603020202020204" pitchFamily="34" charset="0"/>
                        </a:rPr>
                        <a:t>Characteristics</a:t>
                      </a:r>
                      <a:endParaRPr lang="zh-CN" sz="2000" b="1"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5D6"/>
                    </a:solidFill>
                  </a:tcPr>
                </a:tc>
                <a:tc>
                  <a:txBody>
                    <a:bodyPr/>
                    <a:lstStyle/>
                    <a:p>
                      <a:pPr indent="127000" algn="ctr"/>
                      <a:r>
                        <a:rPr lang="en-US" altLang="zh-CN" sz="2000" b="1" kern="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Set </a:t>
                      </a:r>
                      <a:r>
                        <a:rPr lang="en-US" sz="2000" b="1" i="1" kern="0" dirty="0">
                          <a:solidFill>
                            <a:srgbClr val="FF0000"/>
                          </a:solidFill>
                          <a:effectLst/>
                          <a:latin typeface="Trebuchet MS" panose="020B0603020202020204" pitchFamily="34" charset="0"/>
                          <a:ea typeface="楷体" panose="02010609060101010101" pitchFamily="49" charset="-122"/>
                          <a:cs typeface="Times New Roman" panose="02020603050405020304" pitchFamily="18" charset="0"/>
                        </a:rPr>
                        <a:t>S</a:t>
                      </a:r>
                      <a:endParaRPr lang="zh-CN" sz="2000" b="1" i="1" kern="100" dirty="0">
                        <a:solidFill>
                          <a:srgbClr val="FF0000"/>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tc>
                  <a:txBody>
                    <a:bodyPr/>
                    <a:lstStyle/>
                    <a:p>
                      <a:pPr indent="127000" algn="ctr"/>
                      <a:r>
                        <a:rPr lang="en-US" altLang="zh-CN" sz="2000" b="1" dirty="0">
                          <a:solidFill>
                            <a:schemeClr val="tx1"/>
                          </a:solidFill>
                          <a:latin typeface="Trebuchet MS" panose="020B0603020202020204" pitchFamily="34" charset="0"/>
                        </a:rPr>
                        <a:t>Partially Ordered Set </a:t>
                      </a:r>
                      <a:r>
                        <a:rPr lang="en-US" sz="2000" b="1" kern="100" dirty="0">
                          <a:solidFill>
                            <a:srgbClr val="FF0000"/>
                          </a:solidFill>
                          <a:effectLst/>
                          <a:latin typeface="Trebuchet MS" panose="020B0603020202020204" pitchFamily="34" charset="0"/>
                          <a:ea typeface="楷体" panose="02010609060101010101" pitchFamily="49" charset="-122"/>
                          <a:cs typeface="Times New Roman" panose="02020603050405020304" pitchFamily="18" charset="0"/>
                        </a:rPr>
                        <a:t>&lt;</a:t>
                      </a:r>
                      <a:r>
                        <a:rPr lang="en-US" sz="2000" b="1" i="1" kern="100" dirty="0">
                          <a:solidFill>
                            <a:srgbClr val="FF0000"/>
                          </a:solidFill>
                          <a:effectLst/>
                          <a:latin typeface="Trebuchet MS" panose="020B0603020202020204" pitchFamily="34" charset="0"/>
                          <a:ea typeface="楷体" panose="02010609060101010101" pitchFamily="49" charset="-122"/>
                          <a:cs typeface="Times New Roman" panose="02020603050405020304" pitchFamily="18" charset="0"/>
                        </a:rPr>
                        <a:t>S</a:t>
                      </a:r>
                      <a:r>
                        <a:rPr lang="en-US" sz="2000" b="1" kern="100" dirty="0">
                          <a:solidFill>
                            <a:srgbClr val="FF0000"/>
                          </a:solidFill>
                          <a:effectLst/>
                          <a:latin typeface="Trebuchet MS" panose="020B0603020202020204" pitchFamily="34" charset="0"/>
                          <a:ea typeface="楷体" panose="02010609060101010101" pitchFamily="49" charset="-122"/>
                          <a:cs typeface="Times New Roman" panose="02020603050405020304" pitchFamily="18" charset="0"/>
                        </a:rPr>
                        <a:t>, </a:t>
                      </a:r>
                      <a:r>
                        <a:rPr lang="zh-CN" sz="2000" b="1" kern="100" dirty="0">
                          <a:solidFill>
                            <a:srgbClr val="FF0000"/>
                          </a:solidFill>
                          <a:effectLst/>
                          <a:latin typeface="Trebuchet MS" panose="020B0603020202020204" pitchFamily="34" charset="0"/>
                          <a:ea typeface="楷体" panose="02010609060101010101" pitchFamily="49" charset="-122"/>
                          <a:cs typeface="Times New Roman" panose="02020603050405020304" pitchFamily="18" charset="0"/>
                        </a:rPr>
                        <a:t>≼ </a:t>
                      </a:r>
                      <a:r>
                        <a:rPr lang="en-US" sz="2000" b="1" kern="100" dirty="0">
                          <a:solidFill>
                            <a:srgbClr val="FF0000"/>
                          </a:solidFill>
                          <a:effectLst/>
                          <a:latin typeface="Trebuchet MS" panose="020B0603020202020204" pitchFamily="34" charset="0"/>
                          <a:ea typeface="楷体" panose="02010609060101010101" pitchFamily="49" charset="-122"/>
                          <a:cs typeface="Times New Roman" panose="02020603050405020304" pitchFamily="18" charset="0"/>
                        </a:rPr>
                        <a:t>&gt;</a:t>
                      </a:r>
                      <a:endParaRPr lang="zh-CN" sz="2000" b="1" kern="100" dirty="0">
                        <a:solidFill>
                          <a:srgbClr val="FF0000"/>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DAF8"/>
                    </a:solidFill>
                  </a:tcPr>
                </a:tc>
                <a:extLst>
                  <a:ext uri="{0D108BD9-81ED-4DB2-BD59-A6C34878D82A}">
                    <a16:rowId xmlns:a16="http://schemas.microsoft.com/office/drawing/2014/main" val="3912086691"/>
                  </a:ext>
                </a:extLst>
              </a:tr>
              <a:tr h="0">
                <a:tc>
                  <a:txBody>
                    <a:bodyPr/>
                    <a:lstStyle/>
                    <a:p>
                      <a:pPr marL="0" indent="0" algn="ctr"/>
                      <a:r>
                        <a:rPr lang="en-US" altLang="zh-CN" sz="2000" b="1" kern="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Definition</a:t>
                      </a:r>
                      <a:endParaRPr lang="zh-CN" sz="2000" b="1"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BDD7EE"/>
                    </a:solidFill>
                  </a:tcPr>
                </a:tc>
                <a:tc>
                  <a:txBody>
                    <a:bodyPr/>
                    <a:lstStyle/>
                    <a:p>
                      <a:r>
                        <a:rPr lang="en-US" altLang="zh-CN" sz="2000" dirty="0">
                          <a:latin typeface="Trebuchet MS" panose="020B0603020202020204" pitchFamily="34" charset="0"/>
                        </a:rPr>
                        <a:t>An </a:t>
                      </a:r>
                      <a:r>
                        <a:rPr lang="en-US" altLang="zh-CN" sz="2000" b="1" i="1" dirty="0">
                          <a:solidFill>
                            <a:srgbClr val="0B61FF"/>
                          </a:solidFill>
                          <a:latin typeface="Trebuchet MS" panose="020B0603020202020204" pitchFamily="34" charset="0"/>
                        </a:rPr>
                        <a:t>unordered </a:t>
                      </a:r>
                      <a:r>
                        <a:rPr lang="en-US" altLang="zh-CN" sz="2000" dirty="0">
                          <a:latin typeface="Trebuchet MS" panose="020B0603020202020204" pitchFamily="34" charset="0"/>
                        </a:rPr>
                        <a:t>set of distinct elements</a:t>
                      </a:r>
                      <a:r>
                        <a:rPr lang="en-US" altLang="zh-CN" sz="2000" b="0" dirty="0">
                          <a:solidFill>
                            <a:schemeClr val="tx1"/>
                          </a:solidFill>
                          <a:latin typeface="Trebuchet MS" panose="020B0603020202020204" pitchFamily="34" charset="0"/>
                        </a:rPr>
                        <a:t>.</a:t>
                      </a: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indent="0" algn="l"/>
                      <a:r>
                        <a:rPr lang="en-US" altLang="zh-CN" sz="2000" b="0" dirty="0">
                          <a:solidFill>
                            <a:schemeClr val="tx1"/>
                          </a:solidFill>
                          <a:latin typeface="Trebuchet MS" panose="020B0603020202020204" pitchFamily="34" charset="0"/>
                        </a:rPr>
                        <a:t>A set </a:t>
                      </a:r>
                      <a:r>
                        <a:rPr lang="en-US" altLang="zh-CN" sz="2000" b="1" dirty="0">
                          <a:solidFill>
                            <a:schemeClr val="tx1"/>
                          </a:solidFill>
                          <a:latin typeface="Trebuchet MS" panose="020B0603020202020204" pitchFamily="34" charset="0"/>
                        </a:rPr>
                        <a:t>S</a:t>
                      </a:r>
                      <a:r>
                        <a:rPr lang="en-US" altLang="zh-CN" sz="2000" b="0" dirty="0">
                          <a:solidFill>
                            <a:schemeClr val="tx1"/>
                          </a:solidFill>
                          <a:latin typeface="Trebuchet MS" panose="020B0603020202020204" pitchFamily="34" charset="0"/>
                        </a:rPr>
                        <a:t> equipped with a binary relation that is </a:t>
                      </a:r>
                      <a:r>
                        <a:rPr lang="en-US" altLang="zh-CN" sz="2000" b="1" i="1" dirty="0">
                          <a:solidFill>
                            <a:srgbClr val="0B61FF"/>
                          </a:solidFill>
                          <a:latin typeface="Trebuchet MS" panose="020B0603020202020204" pitchFamily="34" charset="0"/>
                        </a:rPr>
                        <a:t>reflexive</a:t>
                      </a:r>
                      <a:r>
                        <a:rPr lang="en-US" altLang="zh-CN" sz="2000" b="0" dirty="0">
                          <a:solidFill>
                            <a:schemeClr val="tx1"/>
                          </a:solidFill>
                          <a:latin typeface="Trebuchet MS" panose="020B0603020202020204" pitchFamily="34" charset="0"/>
                        </a:rPr>
                        <a:t>, </a:t>
                      </a:r>
                      <a:r>
                        <a:rPr lang="en-US" altLang="zh-CN" sz="2000" b="1" i="1" dirty="0">
                          <a:solidFill>
                            <a:srgbClr val="0B61FF"/>
                          </a:solidFill>
                          <a:latin typeface="Trebuchet MS" panose="020B0603020202020204" pitchFamily="34" charset="0"/>
                        </a:rPr>
                        <a:t>antisymmetric</a:t>
                      </a:r>
                      <a:r>
                        <a:rPr lang="en-US" altLang="zh-CN" sz="2000" b="0" dirty="0">
                          <a:solidFill>
                            <a:schemeClr val="tx1"/>
                          </a:solidFill>
                          <a:latin typeface="Trebuchet MS" panose="020B0603020202020204" pitchFamily="34" charset="0"/>
                        </a:rPr>
                        <a:t>, and </a:t>
                      </a:r>
                      <a:r>
                        <a:rPr lang="en-US" altLang="zh-CN" sz="2000" b="1" i="1" dirty="0">
                          <a:solidFill>
                            <a:srgbClr val="0B61FF"/>
                          </a:solidFill>
                          <a:latin typeface="Trebuchet MS" panose="020B0603020202020204" pitchFamily="34" charset="0"/>
                        </a:rPr>
                        <a:t>transitive</a:t>
                      </a:r>
                      <a:r>
                        <a:rPr lang="en-US" altLang="zh-CN" sz="2000" b="0" dirty="0">
                          <a:solidFill>
                            <a:schemeClr val="tx1"/>
                          </a:solidFill>
                          <a:latin typeface="Trebuchet MS" panose="020B0603020202020204" pitchFamily="34" charset="0"/>
                        </a:rPr>
                        <a:t>.</a:t>
                      </a:r>
                      <a:endParaRPr lang="zh-CN" sz="2000" b="0"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29026372"/>
                  </a:ext>
                </a:extLst>
              </a:tr>
              <a:tr h="0">
                <a:tc>
                  <a:txBody>
                    <a:bodyPr/>
                    <a:lstStyle/>
                    <a:p>
                      <a:pPr marL="0" indent="0" algn="ctr"/>
                      <a:r>
                        <a:rPr lang="en-US" altLang="zh-CN" sz="2000" b="1" dirty="0">
                          <a:solidFill>
                            <a:schemeClr val="tx1"/>
                          </a:solidFill>
                          <a:latin typeface="Trebuchet MS" panose="020B0603020202020204" pitchFamily="34" charset="0"/>
                        </a:rPr>
                        <a:t>Relations between elements</a:t>
                      </a:r>
                      <a:endParaRPr lang="zh-CN" altLang="zh-CN" sz="2000" b="1"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BDD7EE"/>
                    </a:solidFill>
                  </a:tcPr>
                </a:tc>
                <a:tc>
                  <a:txBody>
                    <a:bodyPr/>
                    <a:lstStyle/>
                    <a:p>
                      <a:r>
                        <a:rPr lang="en-US" altLang="zh-CN" sz="2000" b="0" dirty="0">
                          <a:solidFill>
                            <a:schemeClr val="tx1"/>
                          </a:solidFill>
                          <a:latin typeface="Trebuchet MS" panose="020B0603020202020204" pitchFamily="34" charset="0"/>
                        </a:rPr>
                        <a:t>There is </a:t>
                      </a:r>
                      <a:r>
                        <a:rPr lang="en-US" altLang="zh-CN" sz="2000" b="1" i="1" dirty="0">
                          <a:solidFill>
                            <a:srgbClr val="0B61FF"/>
                          </a:solidFill>
                          <a:latin typeface="Trebuchet MS" panose="020B0603020202020204" pitchFamily="34" charset="0"/>
                        </a:rPr>
                        <a:t>no specific order </a:t>
                      </a:r>
                      <a:r>
                        <a:rPr lang="en-US" altLang="zh-CN" sz="2000" b="0" dirty="0">
                          <a:solidFill>
                            <a:schemeClr val="tx1"/>
                          </a:solidFill>
                          <a:latin typeface="Trebuchet MS" panose="020B0603020202020204" pitchFamily="34" charset="0"/>
                        </a:rPr>
                        <a:t>relationship among the elements.</a:t>
                      </a:r>
                    </a:p>
                  </a:txBody>
                  <a:tcPr marL="68580" marR="68580" marT="0" marB="0" anchor="ctr">
                    <a:lnL w="12700" cap="flat" cmpd="sng" algn="ctr">
                      <a:solidFill>
                        <a:schemeClr val="tx1"/>
                      </a:solidFill>
                      <a:prstDash val="solid"/>
                      <a:round/>
                      <a:headEnd type="none" w="med" len="med"/>
                      <a:tailEnd type="none" w="med" len="med"/>
                    </a:lnL>
                  </a:tcPr>
                </a:tc>
                <a:tc>
                  <a:txBody>
                    <a:bodyPr/>
                    <a:lstStyle/>
                    <a:p>
                      <a:r>
                        <a:rPr lang="en-US" altLang="zh-CN" sz="2000" b="0" dirty="0">
                          <a:solidFill>
                            <a:schemeClr val="tx1"/>
                          </a:solidFill>
                          <a:latin typeface="Trebuchet MS" panose="020B0603020202020204" pitchFamily="34" charset="0"/>
                        </a:rPr>
                        <a:t>There is a </a:t>
                      </a:r>
                      <a:r>
                        <a:rPr lang="en-US" altLang="zh-CN" sz="2000" b="1" i="1" dirty="0">
                          <a:solidFill>
                            <a:srgbClr val="0B61FF"/>
                          </a:solidFill>
                          <a:latin typeface="Trebuchet MS" panose="020B0603020202020204" pitchFamily="34" charset="0"/>
                        </a:rPr>
                        <a:t>partial order </a:t>
                      </a:r>
                      <a:r>
                        <a:rPr lang="en-US" altLang="zh-CN" sz="2000" b="0" dirty="0">
                          <a:solidFill>
                            <a:schemeClr val="tx1"/>
                          </a:solidFill>
                          <a:latin typeface="Trebuchet MS" panose="020B0603020202020204" pitchFamily="34" charset="0"/>
                        </a:rPr>
                        <a:t>among the elements, not all elements are comparable.</a:t>
                      </a:r>
                    </a:p>
                  </a:txBody>
                  <a:tcPr marL="68580" marR="6858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13363318"/>
                  </a:ext>
                </a:extLst>
              </a:tr>
              <a:tr h="0">
                <a:tc>
                  <a:txBody>
                    <a:bodyPr/>
                    <a:lstStyle/>
                    <a:p>
                      <a:pPr marL="0" indent="0" algn="ctr"/>
                      <a:r>
                        <a:rPr lang="en-US" altLang="zh-CN" sz="2000" b="1" dirty="0">
                          <a:solidFill>
                            <a:schemeClr val="tx1"/>
                          </a:solidFill>
                          <a:latin typeface="Trebuchet MS" panose="020B0603020202020204" pitchFamily="34" charset="0"/>
                        </a:rPr>
                        <a:t>Method of Representation</a:t>
                      </a:r>
                      <a:endParaRPr lang="zh-CN" sz="2000" b="1"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BDD7EE"/>
                    </a:solidFill>
                  </a:tcPr>
                </a:tc>
                <a:tc>
                  <a:txBody>
                    <a:bodyPr/>
                    <a:lstStyle/>
                    <a:p>
                      <a:pPr marL="0" indent="0" algn="l"/>
                      <a:r>
                        <a:rPr lang="en-US" altLang="zh-CN" sz="2000" b="0" dirty="0">
                          <a:solidFill>
                            <a:schemeClr val="tx1"/>
                          </a:solidFill>
                          <a:latin typeface="Trebuchet MS" panose="020B0603020202020204" pitchFamily="34" charset="0"/>
                        </a:rPr>
                        <a:t>Represented using </a:t>
                      </a:r>
                      <a:r>
                        <a:rPr lang="en-US" altLang="zh-CN" sz="2000" b="1" dirty="0">
                          <a:solidFill>
                            <a:srgbClr val="0B61FF"/>
                          </a:solidFill>
                          <a:latin typeface="Trebuchet MS" panose="020B0603020202020204" pitchFamily="34" charset="0"/>
                        </a:rPr>
                        <a:t>{ }</a:t>
                      </a:r>
                      <a:endParaRPr lang="zh-CN" sz="2000" b="1" kern="100" dirty="0">
                        <a:solidFill>
                          <a:srgbClr val="0B61FF"/>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tc>
                  <a:txBody>
                    <a:bodyPr/>
                    <a:lstStyle/>
                    <a:p>
                      <a:r>
                        <a:rPr lang="en-US" altLang="zh-CN" sz="2000" b="0" dirty="0">
                          <a:solidFill>
                            <a:schemeClr val="tx1"/>
                          </a:solidFill>
                          <a:latin typeface="Trebuchet MS" panose="020B0603020202020204" pitchFamily="34" charset="0"/>
                        </a:rPr>
                        <a:t>Represented by a </a:t>
                      </a:r>
                      <a:r>
                        <a:rPr lang="en-US" altLang="zh-CN" sz="2000" b="1" i="1" dirty="0">
                          <a:solidFill>
                            <a:srgbClr val="0B61FF"/>
                          </a:solidFill>
                          <a:latin typeface="Trebuchet MS" panose="020B0603020202020204" pitchFamily="34" charset="0"/>
                        </a:rPr>
                        <a:t>Hasse diagram </a:t>
                      </a:r>
                      <a:r>
                        <a:rPr lang="en-US" altLang="zh-CN" sz="2000" b="0" dirty="0">
                          <a:solidFill>
                            <a:schemeClr val="tx1"/>
                          </a:solidFill>
                          <a:latin typeface="Trebuchet MS" panose="020B0603020202020204" pitchFamily="34" charset="0"/>
                        </a:rPr>
                        <a:t>or a directed graph.</a:t>
                      </a:r>
                    </a:p>
                  </a:txBody>
                  <a:tcPr marL="68580" marR="6858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21435489"/>
                  </a:ext>
                </a:extLst>
              </a:tr>
              <a:tr h="0">
                <a:tc>
                  <a:txBody>
                    <a:bodyPr/>
                    <a:lstStyle/>
                    <a:p>
                      <a:pPr marL="0" indent="0" algn="ctr"/>
                      <a:r>
                        <a:rPr lang="en-US" altLang="zh-CN" sz="2000" b="1" kern="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Operations</a:t>
                      </a:r>
                      <a:endParaRPr lang="zh-CN" sz="2000" b="1"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BDD7EE"/>
                    </a:solidFill>
                  </a:tcPr>
                </a:tc>
                <a:tc>
                  <a:txBody>
                    <a:bodyPr/>
                    <a:lstStyle/>
                    <a:p>
                      <a:r>
                        <a:rPr lang="en-US" altLang="zh-CN" sz="2000" dirty="0">
                          <a:latin typeface="Trebuchet MS" panose="020B0603020202020204" pitchFamily="34" charset="0"/>
                        </a:rPr>
                        <a:t>Union (∪), intersection (∩), difference (∖), </a:t>
                      </a:r>
                      <a:r>
                        <a:rPr lang="en-US" altLang="zh-CN" sz="2000" dirty="0" err="1">
                          <a:latin typeface="Trebuchet MS" panose="020B0603020202020204" pitchFamily="34" charset="0"/>
                        </a:rPr>
                        <a:t>etc</a:t>
                      </a:r>
                      <a:endParaRPr lang="en-US" altLang="zh-CN" sz="2000" b="0" dirty="0">
                        <a:solidFill>
                          <a:schemeClr val="tx1"/>
                        </a:solidFill>
                        <a:latin typeface="Trebuchet MS" panose="020B0603020202020204" pitchFamily="34" charset="0"/>
                      </a:endParaRPr>
                    </a:p>
                  </a:txBody>
                  <a:tcPr marL="68580" marR="68580" marT="0" marB="0" anchor="ctr">
                    <a:lnL w="12700" cap="flat" cmpd="sng" algn="ctr">
                      <a:solidFill>
                        <a:schemeClr val="tx1"/>
                      </a:solidFill>
                      <a:prstDash val="solid"/>
                      <a:round/>
                      <a:headEnd type="none" w="med" len="med"/>
                      <a:tailEnd type="none" w="med" len="med"/>
                    </a:lnL>
                  </a:tcPr>
                </a:tc>
                <a:tc>
                  <a:txBody>
                    <a:bodyPr/>
                    <a:lstStyle/>
                    <a:p>
                      <a:r>
                        <a:rPr lang="en-US" altLang="zh-CN" sz="2000" b="0" dirty="0">
                          <a:solidFill>
                            <a:schemeClr val="tx1"/>
                          </a:solidFill>
                          <a:latin typeface="Trebuchet MS" panose="020B0603020202020204" pitchFamily="34" charset="0"/>
                        </a:rPr>
                        <a:t>Least upper bound, greatest lower bound, chain, antichain.</a:t>
                      </a:r>
                    </a:p>
                  </a:txBody>
                  <a:tcPr marL="68580" marR="6858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60344452"/>
                  </a:ext>
                </a:extLst>
              </a:tr>
              <a:tr h="0">
                <a:tc>
                  <a:txBody>
                    <a:bodyPr/>
                    <a:lstStyle/>
                    <a:p>
                      <a:pPr marL="0" indent="0" algn="ctr"/>
                      <a:r>
                        <a:rPr lang="en-US" altLang="zh-CN" sz="2000" b="1" kern="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Example</a:t>
                      </a:r>
                      <a:endParaRPr lang="zh-CN" sz="2000" b="1"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BDD7EE"/>
                    </a:solidFill>
                  </a:tcPr>
                </a:tc>
                <a:tc>
                  <a:txBody>
                    <a:bodyPr/>
                    <a:lstStyle/>
                    <a:p>
                      <a:pPr marL="0" indent="0" algn="l"/>
                      <a:r>
                        <a:rPr lang="en-US" sz="2000" b="0" kern="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{1,2,3}</a:t>
                      </a:r>
                      <a:endParaRPr lang="zh-CN" sz="2000" b="0"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indent="0" algn="l"/>
                      <a:r>
                        <a:rPr lang="en-US" sz="2000" b="1" kern="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a:t>
                      </a:r>
                      <a:r>
                        <a:rPr lang="en-US" sz="2000" b="1" i="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a</a:t>
                      </a:r>
                      <a:r>
                        <a:rPr lang="en-US" sz="2000" b="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a:t>
                      </a:r>
                      <a:r>
                        <a:rPr lang="en-US" sz="2000" b="1" i="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b</a:t>
                      </a:r>
                      <a:r>
                        <a:rPr lang="en-US" sz="2000" b="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a:t>
                      </a:r>
                      <a:r>
                        <a:rPr lang="en-US" sz="2000" b="1" i="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c</a:t>
                      </a:r>
                      <a:r>
                        <a:rPr lang="en-US" sz="2000" b="1" kern="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a:t>
                      </a:r>
                      <a:r>
                        <a:rPr lang="en-US" altLang="zh-CN" sz="2000" b="1" dirty="0">
                          <a:solidFill>
                            <a:schemeClr val="tx1"/>
                          </a:solidFill>
                          <a:latin typeface="Trebuchet MS" panose="020B0603020202020204" pitchFamily="34" charset="0"/>
                        </a:rPr>
                        <a:t> </a:t>
                      </a:r>
                      <a:r>
                        <a:rPr lang="en-US" altLang="zh-CN" sz="2000" b="0" dirty="0">
                          <a:solidFill>
                            <a:schemeClr val="tx1"/>
                          </a:solidFill>
                          <a:latin typeface="Trebuchet MS" panose="020B0603020202020204" pitchFamily="34" charset="0"/>
                        </a:rPr>
                        <a:t>equipped with the relations </a:t>
                      </a:r>
                      <a:r>
                        <a:rPr lang="en-US" sz="2000" b="1" i="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a</a:t>
                      </a:r>
                      <a:r>
                        <a:rPr lang="en-US" sz="2000" b="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a:t>
                      </a:r>
                      <a:r>
                        <a:rPr lang="en-US" sz="2000" b="1" i="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b</a:t>
                      </a:r>
                      <a:r>
                        <a:rPr lang="en-US" sz="2000" b="0" kern="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 </a:t>
                      </a:r>
                      <a:r>
                        <a:rPr lang="en-US" sz="2000" b="1" i="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b</a:t>
                      </a:r>
                      <a:r>
                        <a:rPr lang="en-US" sz="2000" b="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a:t>
                      </a:r>
                      <a:r>
                        <a:rPr lang="en-US" sz="2000" b="1" i="1" kern="0" dirty="0" err="1">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rPr>
                        <a:t>c</a:t>
                      </a:r>
                      <a:endParaRPr lang="zh-CN" sz="2000" b="1" i="1" kern="10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1115610"/>
                  </a:ext>
                </a:extLst>
              </a:tr>
            </a:tbl>
          </a:graphicData>
        </a:graphic>
      </p:graphicFrame>
      <p:sp>
        <p:nvSpPr>
          <p:cNvPr id="3" name="Rectangle 4">
            <a:extLst>
              <a:ext uri="{FF2B5EF4-FFF2-40B4-BE49-F238E27FC236}">
                <a16:creationId xmlns:a16="http://schemas.microsoft.com/office/drawing/2014/main" id="{ADD6449B-56C6-513A-4822-2304E220682E}"/>
              </a:ext>
            </a:extLst>
          </p:cNvPr>
          <p:cNvSpPr txBox="1">
            <a:spLocks noChangeArrowheads="1"/>
          </p:cNvSpPr>
          <p:nvPr/>
        </p:nvSpPr>
        <p:spPr>
          <a:xfrm>
            <a:off x="714249" y="4925760"/>
            <a:ext cx="8611986" cy="13242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r>
              <a:rPr lang="en-US" altLang="zh-CN" sz="2400" b="1" dirty="0">
                <a:latin typeface="Trebuchet MS" panose="020B0603020202020204" pitchFamily="34" charset="0"/>
              </a:rPr>
              <a:t>Reflexivity</a:t>
            </a:r>
            <a:r>
              <a:rPr lang="en-US" altLang="zh-CN" sz="2400" b="1" kern="1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For all  </a:t>
            </a:r>
            <a:r>
              <a:rPr lang="en-US" altLang="zh-CN" sz="2400" b="1" i="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i="1" kern="1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latin typeface="Trebuchet MS" panose="020B0603020202020204" pitchFamily="34" charset="0"/>
                <a:ea typeface="宋体" panose="02010600030101010101" pitchFamily="2" charset="-122"/>
                <a:cs typeface="Times New Roman" panose="02020603050405020304" pitchFamily="18" charset="0"/>
              </a:rPr>
              <a:t>a. </a:t>
            </a:r>
            <a:endParaRPr lang="en-US" altLang="zh-CN" sz="2400" b="1" i="1" kern="100" dirty="0">
              <a:latin typeface="Trebuchet MS" panose="020B0603020202020204" pitchFamily="34" charset="0"/>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400" b="1" dirty="0" err="1">
                <a:latin typeface="Trebuchet MS" panose="020B0603020202020204" pitchFamily="34" charset="0"/>
              </a:rPr>
              <a:t>Antisymmetry</a:t>
            </a:r>
            <a:r>
              <a:rPr lang="en-US" altLang="zh-CN" sz="2400" kern="100"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latin typeface="Trebuchet MS" panose="020B0603020202020204" pitchFamily="34" charset="0"/>
              </a:rPr>
              <a:t> For all</a:t>
            </a:r>
            <a:r>
              <a:rPr lang="en-US" altLang="zh-CN" sz="2400" b="1" kern="1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err="1">
                <a:solidFill>
                  <a:srgbClr val="0D0D0D"/>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kern="100" dirty="0" err="1">
                <a:solidFill>
                  <a:srgbClr val="0D0D0D"/>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err="1">
                <a:solidFill>
                  <a:srgbClr val="0D0D0D"/>
                </a:solidFill>
                <a:latin typeface="Trebuchet MS" panose="020B0603020202020204" pitchFamily="34" charset="0"/>
                <a:ea typeface="宋体" panose="02010600030101010101" pitchFamily="2" charset="-122"/>
                <a:cs typeface="Times New Roman" panose="02020603050405020304" pitchFamily="18" charset="0"/>
              </a:rPr>
              <a:t>b</a:t>
            </a:r>
            <a:r>
              <a:rPr lang="zh-CN" altLang="zh-CN" sz="2400" b="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i="1" kern="100"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latin typeface="Trebuchet MS" panose="020B0603020202020204" pitchFamily="34" charset="0"/>
              </a:rPr>
              <a:t> if </a:t>
            </a:r>
            <a:r>
              <a:rPr lang="en-US" altLang="zh-CN" sz="2400" b="1" i="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i="1" kern="100" dirty="0">
                <a:latin typeface="Trebuchet MS" panose="020B0603020202020204" pitchFamily="34" charset="0"/>
                <a:ea typeface="宋体" panose="02010600030101010101" pitchFamily="2" charset="-122"/>
                <a:cs typeface="Times New Roman" panose="02020603050405020304" pitchFamily="18" charset="0"/>
              </a:rPr>
              <a:t> and </a:t>
            </a:r>
            <a:r>
              <a:rPr lang="en-US" altLang="zh-CN" sz="2400" b="1" i="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b</a:t>
            </a:r>
            <a:r>
              <a:rPr lang="zh-CN" altLang="zh-CN" sz="2400" b="1" kern="100" dirty="0">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kern="100" dirty="0">
                <a:latin typeface="Trebuchet MS" panose="020B0603020202020204" pitchFamily="34" charset="0"/>
                <a:ea typeface="宋体" panose="02010600030101010101" pitchFamily="2" charset="-122"/>
                <a:cs typeface="Times New Roman" panose="02020603050405020304" pitchFamily="18" charset="0"/>
              </a:rPr>
              <a:t> then </a:t>
            </a:r>
            <a:r>
              <a:rPr lang="en-US" altLang="zh-CN" sz="2400" b="1" i="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i="1" kern="100" dirty="0">
                <a:latin typeface="Trebuchet MS" panose="020B0603020202020204" pitchFamily="34" charset="0"/>
                <a:ea typeface="宋体" panose="02010600030101010101" pitchFamily="2" charset="-122"/>
                <a:cs typeface="Times New Roman" panose="02020603050405020304" pitchFamily="18" charset="0"/>
              </a:rPr>
              <a:t>b. </a:t>
            </a:r>
            <a:endParaRPr lang="en-US" altLang="zh-CN" sz="2400" b="1" i="1" kern="100" dirty="0">
              <a:latin typeface="Trebuchet MS" panose="020B0603020202020204" pitchFamily="34" charset="0"/>
              <a:ea typeface="宋体" panose="02010600030101010101" pitchFamily="2" charset="-122"/>
              <a:cs typeface="Times New Roman" panose="02020603050405020304" pitchFamily="18" charset="0"/>
            </a:endParaRPr>
          </a:p>
          <a:p>
            <a:pPr marL="0" indent="0">
              <a:lnSpc>
                <a:spcPct val="120000"/>
              </a:lnSpc>
              <a:spcBef>
                <a:spcPts val="0"/>
              </a:spcBef>
              <a:buNone/>
            </a:pPr>
            <a:r>
              <a:rPr lang="en-US" altLang="zh-CN" sz="2400" b="1" dirty="0">
                <a:latin typeface="Trebuchet MS" panose="020B0603020202020204" pitchFamily="34" charset="0"/>
              </a:rPr>
              <a:t>Transitivity</a:t>
            </a:r>
            <a:r>
              <a:rPr lang="en-US" altLang="zh-CN" sz="2400" dirty="0">
                <a:latin typeface="Trebuchet MS" panose="020B0603020202020204" pitchFamily="34" charset="0"/>
              </a:rPr>
              <a:t> </a:t>
            </a:r>
            <a:r>
              <a:rPr lang="en-US" altLang="zh-CN" sz="2400" kern="100"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latin typeface="Trebuchet MS" panose="020B0603020202020204" pitchFamily="34" charset="0"/>
              </a:rPr>
              <a:t> For all</a:t>
            </a:r>
            <a:r>
              <a:rPr lang="zh-CN" altLang="zh-CN" sz="2400" b="1" kern="100"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err="1">
                <a:solidFill>
                  <a:srgbClr val="0D0D0D"/>
                </a:solidFill>
                <a:latin typeface="Trebuchet MS" panose="020B0603020202020204" pitchFamily="34" charset="0"/>
                <a:ea typeface="宋体" panose="02010600030101010101" pitchFamily="2" charset="-122"/>
                <a:cs typeface="Times New Roman" panose="02020603050405020304" pitchFamily="18" charset="0"/>
              </a:rPr>
              <a:t>a,b,c∈S</a:t>
            </a:r>
            <a:r>
              <a:rPr lang="en-US" altLang="zh-CN" sz="2400" b="1" i="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latin typeface="Trebuchet MS" panose="020B0603020202020204" pitchFamily="34" charset="0"/>
              </a:rPr>
              <a:t>if </a:t>
            </a:r>
            <a:r>
              <a:rPr lang="en-US" altLang="zh-CN" sz="2400" b="1" i="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b and b</a:t>
            </a:r>
            <a:r>
              <a:rPr lang="zh-CN" altLang="zh-CN" sz="2400" b="1" kern="100" dirty="0">
                <a:latin typeface="Trebuchet MS" panose="020B0603020202020204" pitchFamily="34" charset="0"/>
                <a:ea typeface="宋体" panose="02010600030101010101" pitchFamily="2" charset="-122"/>
                <a:cs typeface="Times New Roman" panose="02020603050405020304" pitchFamily="18" charset="0"/>
              </a:rPr>
              <a:t> ≼ </a:t>
            </a:r>
            <a:r>
              <a:rPr lang="en-US" altLang="zh-CN" sz="2400" b="1" i="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c, then a</a:t>
            </a:r>
            <a:r>
              <a:rPr lang="zh-CN" altLang="zh-CN" sz="2400" b="1" kern="100" dirty="0">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rgbClr val="0D0D0D"/>
                </a:solidFill>
                <a:latin typeface="Trebuchet MS" panose="020B0603020202020204" pitchFamily="34" charset="0"/>
                <a:ea typeface="宋体" panose="02010600030101010101" pitchFamily="2" charset="-122"/>
                <a:cs typeface="Times New Roman" panose="02020603050405020304" pitchFamily="18" charset="0"/>
              </a:rPr>
              <a:t>c.</a:t>
            </a:r>
            <a:endParaRPr lang="zh-CN" altLang="zh-CN" sz="2400" b="1" kern="100" dirty="0">
              <a:latin typeface="Trebuchet MS" panose="020B0603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15128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rebuchet MS" panose="020B0603020202020204" pitchFamily="34" charset="0"/>
              </a:rPr>
              <a:t>Partially Ordered Sets (</a:t>
            </a:r>
            <a:r>
              <a:rPr lang="en-US" altLang="zh-CN" sz="2400" b="1" dirty="0" err="1">
                <a:latin typeface="Trebuchet MS" panose="020B0603020202020204" pitchFamily="34" charset="0"/>
              </a:rPr>
              <a:t>Poset</a:t>
            </a:r>
            <a:r>
              <a:rPr lang="en-US" altLang="zh-CN" sz="2400" b="1" dirty="0">
                <a:latin typeface="Trebuchet MS" panose="020B0603020202020204" pitchFamily="34" charset="0"/>
              </a:rPr>
              <a:t>) and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1" name="Rectangle 4">
            <a:extLst>
              <a:ext uri="{FF2B5EF4-FFF2-40B4-BE49-F238E27FC236}">
                <a16:creationId xmlns:a16="http://schemas.microsoft.com/office/drawing/2014/main" id="{B10C5568-5D72-4956-B3A7-D96AA3B689E4}"/>
              </a:ext>
            </a:extLst>
          </p:cNvPr>
          <p:cNvSpPr>
            <a:spLocks noChangeArrowheads="1"/>
          </p:cNvSpPr>
          <p:nvPr/>
        </p:nvSpPr>
        <p:spPr bwMode="auto">
          <a:xfrm>
            <a:off x="1000125" y="794338"/>
            <a:ext cx="9786510" cy="3674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ctr">
            <a:spAutoFit/>
          </a:bodyPr>
          <a:lstStyle>
            <a:lvl1pPr indent="266700"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8288" indent="-268288" eaLnBrk="1" hangingPunct="1">
              <a:lnSpc>
                <a:spcPct val="120000"/>
              </a:lnSpc>
              <a:spcBef>
                <a:spcPts val="600"/>
              </a:spcBef>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Definition </a:t>
            </a:r>
            <a:r>
              <a:rPr lang="en-US" altLang="zh-CN" sz="2400" b="1" dirty="0">
                <a:solidFill>
                  <a:schemeClr val="tx1"/>
                </a:solidFill>
                <a:latin typeface="Trebuchet MS" panose="020B0603020202020204" pitchFamily="34" charset="0"/>
                <a:ea typeface="宋体" panose="02010600030101010101" pitchFamily="2" charset="-122"/>
              </a:rPr>
              <a:t>9.23:  </a:t>
            </a:r>
            <a:r>
              <a:rPr lang="en-US" altLang="zh-CN" sz="2400" dirty="0">
                <a:solidFill>
                  <a:schemeClr val="tx1"/>
                </a:solidFill>
                <a:latin typeface="Trebuchet MS" panose="020B0603020202020204" pitchFamily="34" charset="0"/>
                <a:ea typeface="宋体" panose="02010600030101010101" pitchFamily="2" charset="-122"/>
              </a:rPr>
              <a:t>Let</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dirty="0">
                <a:solidFill>
                  <a:srgbClr val="FF0000"/>
                </a:solidFill>
                <a:latin typeface="Trebuchet MS" panose="020B0603020202020204" pitchFamily="34" charset="0"/>
                <a:ea typeface="宋体" panose="02010600030101010101" pitchFamily="2" charset="-122"/>
              </a:rPr>
              <a:t>&lt;</a:t>
            </a:r>
            <a:r>
              <a:rPr lang="en-US" altLang="zh-CN" sz="2400" b="1" i="1" dirty="0">
                <a:solidFill>
                  <a:srgbClr val="FF0000"/>
                </a:solidFill>
                <a:latin typeface="Trebuchet MS" panose="020B0603020202020204" pitchFamily="34" charset="0"/>
                <a:ea typeface="宋体" panose="02010600030101010101" pitchFamily="2" charset="-122"/>
              </a:rPr>
              <a:t>S</a:t>
            </a:r>
            <a:r>
              <a:rPr lang="en-US" altLang="zh-CN" sz="2400" b="1" dirty="0">
                <a:solidFill>
                  <a:srgbClr val="FF0000"/>
                </a:solidFill>
                <a:latin typeface="Trebuchet MS" panose="020B0603020202020204" pitchFamily="34" charset="0"/>
                <a:ea typeface="宋体" panose="02010600030101010101" pitchFamily="2" charset="-122"/>
              </a:rPr>
              <a:t>,≼&gt;</a:t>
            </a:r>
            <a:r>
              <a:rPr lang="en-US" altLang="zh-CN" sz="2400" b="1" dirty="0">
                <a:solidFill>
                  <a:schemeClr val="tx1"/>
                </a:solidFill>
                <a:latin typeface="Trebuchet MS" panose="020B0603020202020204" pitchFamily="34" charset="0"/>
                <a:ea typeface="宋体" panose="02010600030101010101" pitchFamily="2" charset="-122"/>
              </a:rPr>
              <a:t> </a:t>
            </a:r>
            <a:r>
              <a:rPr lang="en-US" altLang="zh-CN" sz="2400" dirty="0">
                <a:solidFill>
                  <a:schemeClr val="tx1"/>
                </a:solidFill>
                <a:latin typeface="Trebuchet MS" panose="020B0603020202020204" pitchFamily="34" charset="0"/>
              </a:rPr>
              <a:t>be a partially ordered set. If </a:t>
            </a: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b="1" i="1" dirty="0" err="1">
                <a:solidFill>
                  <a:schemeClr val="tx1"/>
                </a:solidFill>
                <a:latin typeface="Trebuchet MS" panose="020B0603020202020204" pitchFamily="34" charset="0"/>
                <a:sym typeface="Symbol" panose="05050102010706020507" pitchFamily="18" charset="2"/>
              </a:rPr>
              <a:t>y</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S</a:t>
            </a:r>
            <a:r>
              <a:rPr lang="en-US" altLang="zh-CN" sz="2400" b="1" i="1"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rPr>
              <a:t>the set </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x</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y</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has both a least upper bound and a greatest lower bound, then </a:t>
            </a:r>
            <a:r>
              <a:rPr lang="en-US" altLang="zh-CN" sz="2400" b="1" i="1" dirty="0">
                <a:solidFill>
                  <a:schemeClr val="tx1"/>
                </a:solidFill>
                <a:latin typeface="Trebuchet MS" panose="020B0603020202020204" pitchFamily="34" charset="0"/>
                <a:sym typeface="Symbol" panose="05050102010706020507" pitchFamily="18" charset="2"/>
              </a:rPr>
              <a:t>S</a:t>
            </a:r>
            <a:r>
              <a:rPr lang="en-US" altLang="zh-CN" sz="2400" dirty="0">
                <a:solidFill>
                  <a:schemeClr val="tx1"/>
                </a:solidFill>
                <a:latin typeface="Trebuchet MS" panose="020B0603020202020204" pitchFamily="34" charset="0"/>
              </a:rPr>
              <a:t> is said to form a </a:t>
            </a:r>
            <a:r>
              <a:rPr lang="en-US" altLang="zh-CN" sz="2400" b="1" i="1" dirty="0">
                <a:solidFill>
                  <a:srgbClr val="0B61FF"/>
                </a:solidFill>
                <a:latin typeface="Trebuchet MS" panose="020B0603020202020204" pitchFamily="34" charset="0"/>
              </a:rPr>
              <a:t>lattice</a:t>
            </a:r>
            <a:r>
              <a:rPr lang="en-US" altLang="zh-CN" sz="2400" dirty="0">
                <a:solidFill>
                  <a:schemeClr val="tx1"/>
                </a:solidFill>
                <a:latin typeface="Trebuchet MS" panose="020B0603020202020204" pitchFamily="34" charset="0"/>
              </a:rPr>
              <a:t> under the partial order </a:t>
            </a: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dirty="0">
                <a:solidFill>
                  <a:schemeClr val="tx1"/>
                </a:solidFill>
                <a:latin typeface="Trebuchet MS" panose="020B0603020202020204" pitchFamily="34" charset="0"/>
              </a:rPr>
              <a:t>.</a:t>
            </a:r>
          </a:p>
          <a:p>
            <a:pPr marL="342900" indent="-161925" eaLnBrk="1" hangingPunct="1">
              <a:lnSpc>
                <a:spcPct val="120000"/>
              </a:lnSpc>
              <a:spcBef>
                <a:spcPts val="600"/>
              </a:spcBef>
              <a:buClr>
                <a:srgbClr val="0B61FF"/>
              </a:buClr>
              <a:buSzPct val="120000"/>
              <a:buFont typeface="Arial" panose="020B0604020202020204" pitchFamily="34" charset="0"/>
              <a:buChar char="•"/>
              <a:tabLst>
                <a:tab pos="180975" algn="l"/>
              </a:tabLst>
            </a:pPr>
            <a:r>
              <a:rPr lang="en-US" altLang="zh-CN" sz="2400" dirty="0">
                <a:solidFill>
                  <a:schemeClr val="tx1"/>
                </a:solidFill>
                <a:latin typeface="Trebuchet MS" panose="020B0603020202020204" pitchFamily="34" charset="0"/>
              </a:rPr>
              <a:t>Due to the uniqueness of the least upper bound and greatest lower bound, finding the least upper bound and greatest lower bound of </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x</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y</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can be treated as </a:t>
            </a:r>
            <a:r>
              <a:rPr lang="en-US" altLang="zh-CN" sz="2400" b="1" i="1" dirty="0">
                <a:solidFill>
                  <a:srgbClr val="0B61FF"/>
                </a:solidFill>
                <a:latin typeface="Trebuchet MS" panose="020B0603020202020204" pitchFamily="34" charset="0"/>
              </a:rPr>
              <a:t>binary operations </a:t>
            </a:r>
            <a:r>
              <a:rPr lang="en-US" altLang="zh-CN" sz="2400" b="1" dirty="0">
                <a:solidFill>
                  <a:srgbClr val="FF0000"/>
                </a:solidFill>
                <a:latin typeface="Trebuchet MS" panose="020B0603020202020204" pitchFamily="34" charset="0"/>
              </a:rPr>
              <a:t>∨</a:t>
            </a:r>
            <a:r>
              <a:rPr lang="en-US" altLang="zh-CN" sz="2400" dirty="0">
                <a:solidFill>
                  <a:schemeClr val="tx1"/>
                </a:solidFill>
                <a:latin typeface="Trebuchet MS" panose="020B0603020202020204" pitchFamily="34" charset="0"/>
              </a:rPr>
              <a:t> and </a:t>
            </a:r>
            <a:r>
              <a:rPr lang="en-US" altLang="zh-CN" sz="2400" b="1" dirty="0">
                <a:solidFill>
                  <a:srgbClr val="FF0000"/>
                </a:solidFill>
                <a:latin typeface="Trebuchet MS" panose="020B0603020202020204" pitchFamily="34" charset="0"/>
              </a:rPr>
              <a:t>∧</a:t>
            </a:r>
            <a:r>
              <a:rPr lang="en-US" altLang="zh-CN" sz="2400" dirty="0">
                <a:solidFill>
                  <a:schemeClr val="tx1"/>
                </a:solidFill>
                <a:latin typeface="Trebuchet MS" panose="020B0603020202020204" pitchFamily="34" charset="0"/>
              </a:rPr>
              <a:t> on </a:t>
            </a:r>
            <a:r>
              <a:rPr lang="en-US" altLang="zh-CN" sz="2400" b="1" i="1" dirty="0">
                <a:solidFill>
                  <a:schemeClr val="tx1"/>
                </a:solidFill>
                <a:latin typeface="Trebuchet MS" panose="020B0603020202020204" pitchFamily="34" charset="0"/>
                <a:sym typeface="Symbol" panose="05050102010706020507" pitchFamily="18" charset="2"/>
              </a:rPr>
              <a:t>x</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sym typeface="Symbol" panose="05050102010706020507" pitchFamily="18" charset="2"/>
              </a:rPr>
              <a:t>y </a:t>
            </a:r>
            <a:r>
              <a:rPr lang="en-US" altLang="zh-CN" sz="2400" dirty="0">
                <a:solidFill>
                  <a:schemeClr val="tx1"/>
                </a:solidFill>
                <a:latin typeface="Trebuchet MS" panose="020B0603020202020204" pitchFamily="34" charset="0"/>
              </a:rPr>
              <a:t>, where </a:t>
            </a:r>
            <a:r>
              <a:rPr lang="en-US" altLang="zh-CN" sz="2400" b="1" i="1" dirty="0" err="1">
                <a:solidFill>
                  <a:schemeClr val="tx1"/>
                </a:solidFill>
                <a:latin typeface="Trebuchet MS" panose="020B0603020202020204" pitchFamily="34" charset="0"/>
                <a:sym typeface="Symbol" panose="05050102010706020507" pitchFamily="18" charset="2"/>
              </a:rPr>
              <a:t>x</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y</a:t>
            </a:r>
            <a:r>
              <a:rPr lang="en-US" altLang="zh-CN" sz="2400" b="1" i="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denotes the least upper bound of </a:t>
            </a:r>
            <a:r>
              <a:rPr lang="en-US" altLang="zh-CN" sz="2400" b="1" dirty="0">
                <a:solidFill>
                  <a:schemeClr val="tx1"/>
                </a:solidFill>
                <a:latin typeface="Trebuchet MS" panose="020B0603020202020204" pitchFamily="34" charset="0"/>
              </a:rPr>
              <a:t>x</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y</a:t>
            </a:r>
            <a:r>
              <a:rPr lang="en-US" altLang="zh-CN" sz="2400" dirty="0">
                <a:solidFill>
                  <a:schemeClr val="tx1"/>
                </a:solidFill>
                <a:latin typeface="Trebuchet MS" panose="020B0603020202020204" pitchFamily="34" charset="0"/>
              </a:rPr>
              <a:t>, and </a:t>
            </a:r>
            <a:r>
              <a:rPr lang="en-US" altLang="zh-CN" sz="2400" b="1" i="1" dirty="0" err="1">
                <a:solidFill>
                  <a:schemeClr val="tx1"/>
                </a:solidFill>
                <a:latin typeface="Trebuchet MS" panose="020B0603020202020204" pitchFamily="34" charset="0"/>
                <a:sym typeface="Symbol" panose="05050102010706020507" pitchFamily="18" charset="2"/>
              </a:rPr>
              <a:t>x</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y</a:t>
            </a:r>
            <a:r>
              <a:rPr lang="en-US" altLang="zh-CN" sz="2400" b="1" i="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denotes the greatest lower bound of </a:t>
            </a:r>
            <a:r>
              <a:rPr lang="en-US" altLang="zh-CN" sz="2400" b="1" i="1" dirty="0">
                <a:solidFill>
                  <a:schemeClr val="tx1"/>
                </a:solidFill>
                <a:latin typeface="Trebuchet MS" panose="020B0603020202020204" pitchFamily="34" charset="0"/>
              </a:rPr>
              <a:t>x</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y</a:t>
            </a:r>
            <a:r>
              <a:rPr lang="en-US" altLang="zh-CN" sz="2400" dirty="0">
                <a:solidFill>
                  <a:schemeClr val="tx1"/>
                </a:solidFill>
                <a:latin typeface="Trebuchet MS" panose="020B0603020202020204" pitchFamily="34" charset="0"/>
              </a:rPr>
              <a:t>.</a:t>
            </a:r>
            <a:endPar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endParaRPr>
          </a:p>
        </p:txBody>
      </p:sp>
    </p:spTree>
    <p:extLst>
      <p:ext uri="{BB962C8B-B14F-4D97-AF65-F5344CB8AC3E}">
        <p14:creationId xmlns:p14="http://schemas.microsoft.com/office/powerpoint/2010/main" val="900089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rebuchet MS" panose="020B0603020202020204" pitchFamily="34" charset="0"/>
              </a:rPr>
              <a:t>Partially Ordered Sets (</a:t>
            </a:r>
            <a:r>
              <a:rPr lang="en-US" altLang="zh-CN" sz="2400" b="1" dirty="0" err="1">
                <a:latin typeface="Trebuchet MS" panose="020B0603020202020204" pitchFamily="34" charset="0"/>
              </a:rPr>
              <a:t>Poset</a:t>
            </a:r>
            <a:r>
              <a:rPr lang="en-US" altLang="zh-CN" sz="2400" b="1" dirty="0">
                <a:latin typeface="Trebuchet MS" panose="020B0603020202020204" pitchFamily="34" charset="0"/>
              </a:rPr>
              <a:t>) and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10" name="Rectangle 4">
            <a:extLst>
              <a:ext uri="{FF2B5EF4-FFF2-40B4-BE49-F238E27FC236}">
                <a16:creationId xmlns:a16="http://schemas.microsoft.com/office/drawing/2014/main" id="{231F6698-F16E-495F-A214-D5ED5CAC36C6}"/>
              </a:ext>
            </a:extLst>
          </p:cNvPr>
          <p:cNvSpPr>
            <a:spLocks noChangeArrowheads="1"/>
          </p:cNvSpPr>
          <p:nvPr/>
        </p:nvSpPr>
        <p:spPr bwMode="auto">
          <a:xfrm>
            <a:off x="824682" y="903514"/>
            <a:ext cx="10427680" cy="5613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indent="266700"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eaLnBrk="1" hangingPunct="1">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Note: </a:t>
            </a:r>
          </a:p>
          <a:p>
            <a:pPr marL="536575" indent="-355600" eaLnBrk="1" hangingPunct="1">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① </a:t>
            </a:r>
            <a:r>
              <a:rPr lang="en-US" altLang="zh-CN" sz="2400" dirty="0">
                <a:solidFill>
                  <a:schemeClr val="tx1"/>
                </a:solidFill>
                <a:latin typeface="Trebuchet MS" panose="020B0603020202020204" pitchFamily="34" charset="0"/>
              </a:rPr>
              <a:t>The </a:t>
            </a:r>
            <a:r>
              <a:rPr lang="en-US" altLang="zh-CN" sz="2400" b="1" i="1" dirty="0">
                <a:solidFill>
                  <a:srgbClr val="0B61FF"/>
                </a:solidFill>
                <a:latin typeface="Trebuchet MS" panose="020B0603020202020204" pitchFamily="34" charset="0"/>
              </a:rPr>
              <a:t>binary operations </a:t>
            </a:r>
            <a:r>
              <a:rPr lang="en-US" altLang="zh-CN" sz="2400" dirty="0">
                <a:solidFill>
                  <a:schemeClr val="tx1"/>
                </a:solidFill>
                <a:latin typeface="Trebuchet MS" panose="020B0603020202020204" pitchFamily="34" charset="0"/>
              </a:rPr>
              <a:t>for least upper bound and greatest lower bound </a:t>
            </a:r>
            <a:r>
              <a:rPr lang="en-US" altLang="zh-CN" sz="2400" b="1" dirty="0">
                <a:solidFill>
                  <a:srgbClr val="FF0000"/>
                </a:solidFill>
                <a:latin typeface="Trebuchet MS" panose="020B0603020202020204" pitchFamily="34" charset="0"/>
              </a:rPr>
              <a:t>(∨, ∧) </a:t>
            </a:r>
            <a:r>
              <a:rPr lang="en-US" altLang="zh-CN" sz="2400" dirty="0">
                <a:solidFill>
                  <a:schemeClr val="tx1"/>
                </a:solidFill>
                <a:latin typeface="Trebuchet MS" panose="020B0603020202020204" pitchFamily="34" charset="0"/>
              </a:rPr>
              <a:t>represent operations within the lattice only and have no other meanings.</a:t>
            </a:r>
          </a:p>
          <a:p>
            <a:pPr marL="536575" indent="-355600" eaLnBrk="1" hangingPunct="1">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②</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dirty="0">
                <a:solidFill>
                  <a:schemeClr val="tx1"/>
                </a:solidFill>
                <a:latin typeface="Trebuchet MS" panose="020B0603020202020204" pitchFamily="34" charset="0"/>
              </a:rPr>
              <a:t>The lattice </a:t>
            </a:r>
            <a:r>
              <a:rPr lang="en-US" altLang="zh-CN" sz="2400" b="1" dirty="0">
                <a:solidFill>
                  <a:srgbClr val="FF0000"/>
                </a:solidFill>
                <a:latin typeface="Trebuchet MS" panose="020B0603020202020204" pitchFamily="34" charset="0"/>
                <a:cs typeface="Times New Roman" panose="02020603050405020304" pitchFamily="18" charset="0"/>
              </a:rPr>
              <a:t>&lt;</a:t>
            </a:r>
            <a:r>
              <a:rPr lang="zh-CN" altLang="zh-CN" sz="2400" b="1" i="1" dirty="0">
                <a:solidFill>
                  <a:srgbClr val="FF0000"/>
                </a:solidFill>
                <a:latin typeface="Trebuchet MS" panose="020B0603020202020204" pitchFamily="34" charset="0"/>
                <a:cs typeface="Times New Roman" panose="02020603050405020304" pitchFamily="18" charset="0"/>
              </a:rPr>
              <a:t>L</a:t>
            </a:r>
            <a:r>
              <a:rPr lang="en-US" altLang="zh-CN" sz="2400" b="1" i="1" dirty="0">
                <a:solidFill>
                  <a:srgbClr val="FF0000"/>
                </a:solidFill>
                <a:latin typeface="Trebuchet MS" panose="020B0603020202020204" pitchFamily="34" charset="0"/>
                <a:cs typeface="Times New Roman" panose="02020603050405020304" pitchFamily="18" charset="0"/>
              </a:rPr>
              <a:t>,</a:t>
            </a:r>
            <a:r>
              <a:rPr lang="zh-CN" altLang="zh-CN" sz="2400" b="1"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rPr>
              <a:t>,</a:t>
            </a:r>
            <a:r>
              <a:rPr lang="zh-CN" altLang="zh-CN" sz="2400" b="1"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rPr>
              <a:t>&gt;</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constructed from a partially ordered set </a:t>
            </a:r>
            <a:r>
              <a:rPr lang="en-US" altLang="zh-CN" sz="2400" b="1" dirty="0">
                <a:solidFill>
                  <a:schemeClr val="tx1"/>
                </a:solidFill>
                <a:latin typeface="Trebuchet MS" panose="020B0603020202020204" pitchFamily="34" charset="0"/>
              </a:rPr>
              <a:t>&lt;S,≼&gt;  </a:t>
            </a:r>
            <a:r>
              <a:rPr lang="en-US" altLang="zh-CN" sz="2400" dirty="0">
                <a:solidFill>
                  <a:schemeClr val="tx1"/>
                </a:solidFill>
                <a:latin typeface="Trebuchet MS" panose="020B0603020202020204" pitchFamily="34" charset="0"/>
              </a:rPr>
              <a:t>contains not only all elements of </a:t>
            </a:r>
            <a:r>
              <a:rPr lang="en-US" altLang="zh-CN" sz="2400" b="1" i="1" dirty="0">
                <a:solidFill>
                  <a:schemeClr val="tx1"/>
                </a:solidFill>
                <a:latin typeface="Trebuchet MS" panose="020B0603020202020204" pitchFamily="34" charset="0"/>
              </a:rPr>
              <a:t>S</a:t>
            </a:r>
            <a:r>
              <a:rPr lang="en-US" altLang="zh-CN" sz="2400" dirty="0">
                <a:solidFill>
                  <a:schemeClr val="tx1"/>
                </a:solidFill>
                <a:latin typeface="Trebuchet MS" panose="020B0603020202020204" pitchFamily="34" charset="0"/>
              </a:rPr>
              <a:t> but also </a:t>
            </a:r>
            <a:r>
              <a:rPr lang="en-US" altLang="zh-CN" sz="2400" b="1" i="1" dirty="0">
                <a:solidFill>
                  <a:srgbClr val="0B61FF"/>
                </a:solidFill>
                <a:latin typeface="Trebuchet MS" panose="020B0603020202020204" pitchFamily="34" charset="0"/>
              </a:rPr>
              <a:t>additional elements </a:t>
            </a:r>
            <a:r>
              <a:rPr lang="en-US" altLang="zh-CN" sz="2400" dirty="0">
                <a:solidFill>
                  <a:schemeClr val="tx1"/>
                </a:solidFill>
                <a:latin typeface="Trebuchet MS" panose="020B0603020202020204" pitchFamily="34" charset="0"/>
              </a:rPr>
              <a:t>needed to ensure that every pair </a:t>
            </a:r>
            <a:r>
              <a:rPr lang="en-US" altLang="zh-CN" sz="2400" b="1" i="1" dirty="0">
                <a:solidFill>
                  <a:schemeClr val="tx1"/>
                </a:solidFill>
                <a:latin typeface="Trebuchet MS" panose="020B0603020202020204" pitchFamily="34" charset="0"/>
              </a:rPr>
              <a:t>x</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b="1" i="1" dirty="0">
                <a:solidFill>
                  <a:schemeClr val="tx1"/>
                </a:solidFill>
                <a:latin typeface="Trebuchet MS" panose="020B0603020202020204" pitchFamily="34" charset="0"/>
                <a:sym typeface="Symbol" panose="05050102010706020507" pitchFamily="18" charset="2"/>
              </a:rPr>
              <a:t>y </a:t>
            </a:r>
            <a:r>
              <a:rPr lang="en-US" altLang="zh-CN" sz="2400" dirty="0">
                <a:solidFill>
                  <a:schemeClr val="tx1"/>
                </a:solidFill>
                <a:latin typeface="Trebuchet MS" panose="020B0603020202020204" pitchFamily="34" charset="0"/>
              </a:rPr>
              <a:t>has both a least upper bound and a greatest lower bound.</a:t>
            </a:r>
          </a:p>
          <a:p>
            <a:pPr marL="536575" indent="-355600" eaLnBrk="1" hangingPunct="1">
              <a:lnSpc>
                <a:spcPct val="120000"/>
              </a:lnSpc>
              <a:buClr>
                <a:srgbClr val="0B61FF"/>
              </a:buClr>
              <a:buSzPct val="80000"/>
            </a:pPr>
            <a:r>
              <a:rPr lang="zh-CN" altLang="en-US" sz="2400" b="1" dirty="0">
                <a:solidFill>
                  <a:srgbClr val="0B61FF"/>
                </a:solidFill>
                <a:latin typeface="Trebuchet MS" panose="020B0603020202020204" pitchFamily="34" charset="0"/>
                <a:ea typeface="宋体" panose="02010600030101010101" pitchFamily="2" charset="-122"/>
                <a:cs typeface="Calibri" panose="020F0502020204030204" pitchFamily="34" charset="0"/>
              </a:rPr>
              <a:t>③</a:t>
            </a:r>
            <a:r>
              <a:rPr lang="zh-CN" altLang="en-US" sz="2400" b="1" dirty="0">
                <a:solidFill>
                  <a:schemeClr val="tx1"/>
                </a:solidFill>
                <a:latin typeface="Trebuchet MS" panose="020B0603020202020204" pitchFamily="34" charset="0"/>
                <a:ea typeface="宋体" panose="02010600030101010101" pitchFamily="2" charset="-122"/>
                <a:cs typeface="Calibri" panose="020F0502020204030204" pitchFamily="34" charset="0"/>
              </a:rPr>
              <a:t> </a:t>
            </a:r>
            <a:r>
              <a:rPr lang="en-US" altLang="zh-CN" sz="2400" dirty="0">
                <a:solidFill>
                  <a:schemeClr val="tx1"/>
                </a:solidFill>
                <a:latin typeface="Trebuchet MS" panose="020B0603020202020204" pitchFamily="34" charset="0"/>
              </a:rPr>
              <a:t>For any two elements </a:t>
            </a:r>
            <a:r>
              <a:rPr lang="en-US" altLang="zh-CN" sz="2400" b="1" i="1" dirty="0">
                <a:solidFill>
                  <a:schemeClr val="tx1"/>
                </a:solidFill>
                <a:latin typeface="Trebuchet MS" panose="020B0603020202020204" pitchFamily="34" charset="0"/>
              </a:rPr>
              <a:t>x</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y</a:t>
            </a:r>
            <a:r>
              <a:rPr lang="en-US" altLang="zh-CN" sz="2400" dirty="0">
                <a:solidFill>
                  <a:schemeClr val="tx1"/>
                </a:solidFill>
                <a:latin typeface="Trebuchet MS" panose="020B0603020202020204" pitchFamily="34" charset="0"/>
              </a:rPr>
              <a:t>, the least upper bound (</a:t>
            </a:r>
            <a:r>
              <a:rPr lang="en-US" altLang="zh-CN" sz="2400" b="1" i="1" dirty="0">
                <a:solidFill>
                  <a:srgbClr val="0B61FF"/>
                </a:solidFill>
                <a:latin typeface="Trebuchet MS" panose="020B0603020202020204" pitchFamily="34" charset="0"/>
              </a:rPr>
              <a:t>supremum</a:t>
            </a:r>
            <a:r>
              <a:rPr lang="en-US" altLang="zh-CN" sz="2400" dirty="0">
                <a:solidFill>
                  <a:schemeClr val="tx1"/>
                </a:solidFill>
                <a:latin typeface="Trebuchet MS" panose="020B0603020202020204" pitchFamily="34" charset="0"/>
              </a:rPr>
              <a:t> </a:t>
            </a:r>
            <a:r>
              <a:rPr lang="en-US" altLang="zh-CN" sz="2400" b="1" i="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x</a:t>
            </a:r>
            <a:r>
              <a:rPr lang="zh-CN" altLang="zh-CN" sz="2400" b="1" kern="100"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y</a:t>
            </a:r>
            <a:r>
              <a:rPr lang="en-US" altLang="zh-CN" sz="2400" dirty="0">
                <a:solidFill>
                  <a:schemeClr val="tx1"/>
                </a:solidFill>
                <a:latin typeface="Trebuchet MS" panose="020B0603020202020204" pitchFamily="34" charset="0"/>
              </a:rPr>
              <a:t>) is the smallest element among all upper bounds of </a:t>
            </a:r>
            <a:r>
              <a:rPr lang="en-US" altLang="zh-CN" sz="2400" b="1" dirty="0">
                <a:solidFill>
                  <a:schemeClr val="tx1"/>
                </a:solidFill>
                <a:latin typeface="Trebuchet MS" panose="020B0603020202020204" pitchFamily="34" charset="0"/>
              </a:rPr>
              <a:t>x</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y</a:t>
            </a:r>
            <a:r>
              <a:rPr lang="en-US" altLang="zh-CN" sz="2400" dirty="0">
                <a:solidFill>
                  <a:schemeClr val="tx1"/>
                </a:solidFill>
                <a:latin typeface="Trebuchet MS" panose="020B0603020202020204" pitchFamily="34" charset="0"/>
              </a:rPr>
              <a:t>.</a:t>
            </a:r>
          </a:p>
          <a:p>
            <a:pPr marL="536575" indent="-355600" eaLnBrk="1" hangingPunct="1">
              <a:lnSpc>
                <a:spcPct val="120000"/>
              </a:lnSpc>
              <a:buClr>
                <a:srgbClr val="0B61FF"/>
              </a:buClr>
              <a:buSzPct val="80000"/>
            </a:pPr>
            <a:r>
              <a:rPr lang="en-US" altLang="zh-CN" sz="2400" b="1" kern="100"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④</a:t>
            </a:r>
            <a:r>
              <a:rPr lang="en-US" altLang="zh-CN" sz="2400" dirty="0">
                <a:solidFill>
                  <a:schemeClr val="tx1"/>
                </a:solidFill>
                <a:latin typeface="Trebuchet MS" panose="020B0603020202020204" pitchFamily="34" charset="0"/>
              </a:rPr>
              <a:t> For any two elements </a:t>
            </a:r>
            <a:r>
              <a:rPr lang="en-US" altLang="zh-CN" sz="2400" b="1" dirty="0">
                <a:solidFill>
                  <a:schemeClr val="tx1"/>
                </a:solidFill>
                <a:latin typeface="Trebuchet MS" panose="020B0603020202020204" pitchFamily="34" charset="0"/>
              </a:rPr>
              <a:t>x</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y</a:t>
            </a:r>
            <a:r>
              <a:rPr lang="en-US" altLang="zh-CN" sz="2400" dirty="0">
                <a:solidFill>
                  <a:schemeClr val="tx1"/>
                </a:solidFill>
                <a:latin typeface="Trebuchet MS" panose="020B0603020202020204" pitchFamily="34" charset="0"/>
              </a:rPr>
              <a:t>, the greatest lower bound (</a:t>
            </a:r>
            <a:r>
              <a:rPr lang="en-US" altLang="zh-CN" sz="2400" b="1" i="1" dirty="0">
                <a:solidFill>
                  <a:srgbClr val="0B61FF"/>
                </a:solidFill>
                <a:latin typeface="Trebuchet MS" panose="020B0603020202020204" pitchFamily="34" charset="0"/>
              </a:rPr>
              <a:t>infimum </a:t>
            </a:r>
            <a:r>
              <a:rPr lang="en-US" altLang="zh-CN" sz="2400" b="1" i="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x</a:t>
            </a:r>
            <a:r>
              <a:rPr lang="zh-CN" altLang="zh-CN" sz="2400" b="1"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y</a:t>
            </a:r>
            <a:r>
              <a:rPr lang="en-US" altLang="zh-CN" sz="2400" dirty="0">
                <a:solidFill>
                  <a:schemeClr val="tx1"/>
                </a:solidFill>
                <a:latin typeface="Trebuchet MS" panose="020B0603020202020204" pitchFamily="34" charset="0"/>
              </a:rPr>
              <a:t>) is the largest element among all lower bounds of </a:t>
            </a:r>
            <a:r>
              <a:rPr lang="en-US" altLang="zh-CN" sz="2400" b="1" i="1" dirty="0">
                <a:solidFill>
                  <a:schemeClr val="tx1"/>
                </a:solidFill>
                <a:latin typeface="Trebuchet MS" panose="020B0603020202020204" pitchFamily="34" charset="0"/>
              </a:rPr>
              <a:t>x</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y</a:t>
            </a:r>
            <a:r>
              <a:rPr lang="en-US" altLang="zh-CN" sz="2400" dirty="0">
                <a:solidFill>
                  <a:schemeClr val="tx1"/>
                </a:solidFill>
                <a:latin typeface="Trebuchet MS" panose="020B0603020202020204" pitchFamily="34" charset="0"/>
              </a:rPr>
              <a:t>.</a:t>
            </a:r>
            <a:endPar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598723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1000"/>
                                        <p:tgtEl>
                                          <p:spTgt spid="10">
                                            <p:txEl>
                                              <p:pRg st="2" end="2"/>
                                            </p:txEl>
                                          </p:spTgt>
                                        </p:tgtEl>
                                      </p:cBhvr>
                                    </p:animEffect>
                                    <p:anim calcmode="lin" valueType="num">
                                      <p:cBhvr>
                                        <p:cTn id="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3" end="3"/>
                                            </p:txEl>
                                          </p:spTgt>
                                        </p:tgtEl>
                                        <p:attrNameLst>
                                          <p:attrName>style.visibility</p:attrName>
                                        </p:attrNameLst>
                                      </p:cBhvr>
                                      <p:to>
                                        <p:strVal val="visible"/>
                                      </p:to>
                                    </p:set>
                                    <p:animEffect transition="in" filter="fade">
                                      <p:cBhvr>
                                        <p:cTn id="14" dur="1000"/>
                                        <p:tgtEl>
                                          <p:spTgt spid="10">
                                            <p:txEl>
                                              <p:pRg st="3" end="3"/>
                                            </p:txEl>
                                          </p:spTgt>
                                        </p:tgtEl>
                                      </p:cBhvr>
                                    </p:animEffect>
                                    <p:anim calcmode="lin" valueType="num">
                                      <p:cBhvr>
                                        <p:cTn id="15"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fade">
                                      <p:cBhvr>
                                        <p:cTn id="21" dur="1000"/>
                                        <p:tgtEl>
                                          <p:spTgt spid="10">
                                            <p:txEl>
                                              <p:pRg st="4" end="4"/>
                                            </p:txEl>
                                          </p:spTgt>
                                        </p:tgtEl>
                                      </p:cBhvr>
                                    </p:animEffect>
                                    <p:anim calcmode="lin" valueType="num">
                                      <p:cBhvr>
                                        <p:cTn id="22"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rebuchet MS" panose="020B0603020202020204" pitchFamily="34" charset="0"/>
              </a:rPr>
              <a:t>Partially Ordered Sets (</a:t>
            </a:r>
            <a:r>
              <a:rPr lang="en-US" altLang="zh-CN" sz="2400" b="1" dirty="0" err="1">
                <a:latin typeface="Trebuchet MS" panose="020B0603020202020204" pitchFamily="34" charset="0"/>
              </a:rPr>
              <a:t>Poset</a:t>
            </a:r>
            <a:r>
              <a:rPr lang="en-US" altLang="zh-CN" sz="2400" b="1" dirty="0">
                <a:latin typeface="Trebuchet MS" panose="020B0603020202020204" pitchFamily="34" charset="0"/>
              </a:rPr>
              <a:t>) and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797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4">
            <a:extLst>
              <a:ext uri="{FF2B5EF4-FFF2-40B4-BE49-F238E27FC236}">
                <a16:creationId xmlns:a16="http://schemas.microsoft.com/office/drawing/2014/main" id="{09E00AD1-26AA-4666-A1A0-A64C41889A07}"/>
              </a:ext>
            </a:extLst>
          </p:cNvPr>
          <p:cNvSpPr>
            <a:spLocks noChangeArrowheads="1"/>
          </p:cNvSpPr>
          <p:nvPr/>
        </p:nvSpPr>
        <p:spPr bwMode="auto">
          <a:xfrm>
            <a:off x="1008377" y="808385"/>
            <a:ext cx="10983325" cy="2499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a:lnSpc>
                <a:spcPct val="11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 </a:t>
            </a:r>
            <a:r>
              <a:rPr lang="en-US" altLang="zh-CN" sz="2400" dirty="0">
                <a:solidFill>
                  <a:schemeClr val="tx1"/>
                </a:solidFill>
                <a:latin typeface="Trebuchet MS" panose="020B0603020202020204" pitchFamily="34" charset="0"/>
              </a:rPr>
              <a:t>Let </a:t>
            </a:r>
            <a:r>
              <a:rPr lang="en-US" altLang="zh-CN" sz="2400" b="1" i="1" dirty="0">
                <a:solidFill>
                  <a:schemeClr val="tx1"/>
                </a:solidFill>
                <a:latin typeface="Trebuchet MS" panose="020B0603020202020204" pitchFamily="34" charset="0"/>
                <a:sym typeface="Symbol" panose="05050102010706020507" pitchFamily="18" charset="2"/>
              </a:rPr>
              <a:t>n</a:t>
            </a:r>
            <a:r>
              <a:rPr lang="en-US" altLang="zh-CN" sz="2400" dirty="0">
                <a:solidFill>
                  <a:schemeClr val="tx1"/>
                </a:solidFill>
                <a:latin typeface="Trebuchet MS" panose="020B0603020202020204" pitchFamily="34" charset="0"/>
              </a:rPr>
              <a:t> be a positive integer, and let </a:t>
            </a:r>
            <a:r>
              <a:rPr lang="en-US" altLang="zh-CN" sz="2400" b="1" i="1" dirty="0">
                <a:solidFill>
                  <a:schemeClr val="tx1"/>
                </a:solidFill>
                <a:latin typeface="Trebuchet MS" panose="020B0603020202020204" pitchFamily="34" charset="0"/>
                <a:sym typeface="Symbol" panose="05050102010706020507" pitchFamily="18" charset="2"/>
              </a:rPr>
              <a:t>S</a:t>
            </a:r>
            <a:r>
              <a:rPr lang="en-US" altLang="zh-CN" sz="2400" b="1" i="1" baseline="-25000" dirty="0">
                <a:solidFill>
                  <a:schemeClr val="tx1"/>
                </a:solidFill>
                <a:latin typeface="Trebuchet MS" panose="020B0603020202020204" pitchFamily="34" charset="0"/>
                <a:sym typeface="Symbol" panose="05050102010706020507" pitchFamily="18" charset="2"/>
              </a:rPr>
              <a:t>n  </a:t>
            </a:r>
            <a:r>
              <a:rPr lang="en-US" altLang="zh-CN" sz="2400" dirty="0">
                <a:solidFill>
                  <a:schemeClr val="tx1"/>
                </a:solidFill>
                <a:latin typeface="Trebuchet MS" panose="020B0603020202020204" pitchFamily="34" charset="0"/>
              </a:rPr>
              <a:t>be the set of positive divisors of </a:t>
            </a:r>
            <a:r>
              <a:rPr lang="en-US" altLang="zh-CN" sz="2400" b="1" i="1" dirty="0">
                <a:solidFill>
                  <a:schemeClr val="tx1"/>
                </a:solidFill>
                <a:latin typeface="Trebuchet MS" panose="020B0603020202020204" pitchFamily="34" charset="0"/>
                <a:sym typeface="Symbol" panose="05050102010706020507" pitchFamily="18" charset="2"/>
              </a:rPr>
              <a:t>n</a:t>
            </a:r>
            <a:r>
              <a:rPr lang="en-US" altLang="zh-CN" sz="2400" dirty="0">
                <a:solidFill>
                  <a:schemeClr val="tx1"/>
                </a:solidFill>
                <a:latin typeface="Trebuchet MS" panose="020B0603020202020204" pitchFamily="34" charset="0"/>
              </a:rPr>
              <a:t>. Let </a:t>
            </a:r>
            <a:r>
              <a:rPr lang="en-US" altLang="zh-CN" sz="2400" b="1" i="1" dirty="0">
                <a:solidFill>
                  <a:schemeClr val="tx1"/>
                </a:solidFill>
                <a:latin typeface="Trebuchet MS" panose="020B0603020202020204" pitchFamily="34" charset="0"/>
                <a:sym typeface="Symbol" panose="05050102010706020507" pitchFamily="18" charset="2"/>
              </a:rPr>
              <a:t>D</a:t>
            </a:r>
            <a:r>
              <a:rPr lang="en-US" altLang="zh-CN" sz="2400" dirty="0">
                <a:solidFill>
                  <a:schemeClr val="tx1"/>
                </a:solidFill>
                <a:latin typeface="Trebuchet MS" panose="020B0603020202020204" pitchFamily="34" charset="0"/>
              </a:rPr>
              <a:t> denote the divisibility relation. Then the partially ordered set </a:t>
            </a:r>
            <a:r>
              <a:rPr lang="en-US" altLang="zh-CN" sz="2400" b="1" dirty="0">
                <a:solidFill>
                  <a:srgbClr val="FF0000"/>
                </a:solidFill>
                <a:latin typeface="Trebuchet MS" panose="020B0603020202020204" pitchFamily="34" charset="0"/>
                <a:sym typeface="Symbol" panose="05050102010706020507" pitchFamily="18" charset="2"/>
              </a:rPr>
              <a:t>&lt;</a:t>
            </a:r>
            <a:r>
              <a:rPr lang="en-US" altLang="zh-CN" sz="2400" b="1" i="1" dirty="0" err="1">
                <a:solidFill>
                  <a:srgbClr val="FF0000"/>
                </a:solidFill>
                <a:latin typeface="Trebuchet MS" panose="020B0603020202020204" pitchFamily="34" charset="0"/>
                <a:sym typeface="Symbol" panose="05050102010706020507" pitchFamily="18" charset="2"/>
              </a:rPr>
              <a:t>S</a:t>
            </a:r>
            <a:r>
              <a:rPr lang="en-US" altLang="zh-CN" sz="2400" b="1" i="1" baseline="-25000" dirty="0" err="1">
                <a:solidFill>
                  <a:srgbClr val="FF0000"/>
                </a:solidFill>
                <a:latin typeface="Trebuchet MS" panose="020B0603020202020204" pitchFamily="34" charset="0"/>
                <a:sym typeface="Symbol" panose="05050102010706020507" pitchFamily="18" charset="2"/>
              </a:rPr>
              <a:t>n</a:t>
            </a:r>
            <a:r>
              <a:rPr lang="en-US" altLang="zh-CN" sz="2400" b="1" dirty="0" err="1">
                <a:solidFill>
                  <a:srgbClr val="FF0000"/>
                </a:solidFill>
                <a:latin typeface="Trebuchet MS" panose="020B0603020202020204" pitchFamily="34" charset="0"/>
                <a:sym typeface="Symbol" panose="05050102010706020507" pitchFamily="18" charset="2"/>
              </a:rPr>
              <a:t>,</a:t>
            </a:r>
            <a:r>
              <a:rPr lang="en-US" altLang="zh-CN" sz="2400" b="1" i="1" dirty="0" err="1">
                <a:solidFill>
                  <a:srgbClr val="FF0000"/>
                </a:solidFill>
                <a:latin typeface="Trebuchet MS" panose="020B0603020202020204" pitchFamily="34" charset="0"/>
                <a:sym typeface="Symbol" panose="05050102010706020507" pitchFamily="18" charset="2"/>
              </a:rPr>
              <a:t>D</a:t>
            </a:r>
            <a:r>
              <a:rPr lang="en-US" altLang="zh-CN" sz="2400" b="1" dirty="0">
                <a:solidFill>
                  <a:srgbClr val="FF0000"/>
                </a:solidFill>
                <a:latin typeface="Trebuchet MS" panose="020B0603020202020204" pitchFamily="34" charset="0"/>
                <a:sym typeface="Symbol" panose="05050102010706020507" pitchFamily="18" charset="2"/>
              </a:rPr>
              <a:t>&gt; </a:t>
            </a:r>
            <a:r>
              <a:rPr lang="en-US" altLang="zh-CN" sz="2400" dirty="0">
                <a:solidFill>
                  <a:schemeClr val="tx1"/>
                </a:solidFill>
                <a:latin typeface="Trebuchet MS" panose="020B0603020202020204" pitchFamily="34" charset="0"/>
              </a:rPr>
              <a:t>forms a </a:t>
            </a:r>
            <a:r>
              <a:rPr lang="en-US" altLang="zh-CN" sz="2400" b="1" i="1" dirty="0">
                <a:solidFill>
                  <a:srgbClr val="0B61FF"/>
                </a:solidFill>
                <a:latin typeface="Trebuchet MS" panose="020B0603020202020204" pitchFamily="34" charset="0"/>
              </a:rPr>
              <a:t>lattice</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x</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y</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S</a:t>
            </a:r>
            <a:r>
              <a:rPr lang="en-US" altLang="zh-CN" sz="2400" b="1" i="1" baseline="-25000" dirty="0" err="1">
                <a:solidFill>
                  <a:schemeClr val="tx1"/>
                </a:solidFill>
                <a:latin typeface="Trebuchet MS" panose="020B0603020202020204" pitchFamily="34" charset="0"/>
                <a:sym typeface="Symbol" panose="05050102010706020507" pitchFamily="18" charset="2"/>
              </a:rPr>
              <a:t>n</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b="1" i="1" dirty="0" err="1">
                <a:solidFill>
                  <a:schemeClr val="tx1"/>
                </a:solidFill>
                <a:latin typeface="Trebuchet MS" panose="020B0603020202020204" pitchFamily="34" charset="0"/>
                <a:sym typeface="Symbol" panose="05050102010706020507" pitchFamily="18" charset="2"/>
              </a:rPr>
              <a:t>x</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y</a:t>
            </a:r>
            <a:r>
              <a:rPr lang="en-US" altLang="zh-CN" sz="2400" b="1" i="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is </a:t>
            </a:r>
            <a:r>
              <a:rPr lang="en-US" altLang="zh-CN" sz="2400" b="1" dirty="0">
                <a:solidFill>
                  <a:schemeClr val="tx1"/>
                </a:solidFill>
                <a:latin typeface="Trebuchet MS" panose="020B0603020202020204" pitchFamily="34" charset="0"/>
                <a:sym typeface="Symbol" panose="05050102010706020507" pitchFamily="18" charset="2"/>
              </a:rPr>
              <a:t>lcm(</a:t>
            </a:r>
            <a:r>
              <a:rPr lang="en-US" altLang="zh-CN" sz="2400" b="1" i="1" dirty="0" err="1">
                <a:solidFill>
                  <a:schemeClr val="tx1"/>
                </a:solidFill>
                <a:latin typeface="Trebuchet MS" panose="020B0603020202020204" pitchFamily="34" charset="0"/>
                <a:sym typeface="Symbol" panose="05050102010706020507" pitchFamily="18" charset="2"/>
              </a:rPr>
              <a:t>x</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y</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the least common multiple of </a:t>
            </a:r>
            <a:r>
              <a:rPr lang="en-US" altLang="zh-CN" sz="2400" b="1" i="1" dirty="0">
                <a:solidFill>
                  <a:schemeClr val="tx1"/>
                </a:solidFill>
                <a:latin typeface="Trebuchet MS" panose="020B0603020202020204" pitchFamily="34" charset="0"/>
                <a:sym typeface="Symbol" panose="05050102010706020507" pitchFamily="18" charset="2"/>
              </a:rPr>
              <a:t>x</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sym typeface="Symbol" panose="05050102010706020507" pitchFamily="18" charset="2"/>
              </a:rPr>
              <a:t>y</a:t>
            </a:r>
            <a:r>
              <a:rPr lang="en-US" altLang="zh-CN" sz="2400" dirty="0">
                <a:solidFill>
                  <a:schemeClr val="tx1"/>
                </a:solidFill>
                <a:latin typeface="Trebuchet MS" panose="020B0603020202020204" pitchFamily="34" charset="0"/>
              </a:rPr>
              <a:t>, and the meet </a:t>
            </a:r>
            <a:r>
              <a:rPr lang="en-US" altLang="zh-CN" sz="2400" b="1" i="1" dirty="0" err="1">
                <a:solidFill>
                  <a:schemeClr val="tx1"/>
                </a:solidFill>
                <a:latin typeface="Trebuchet MS" panose="020B0603020202020204" pitchFamily="34" charset="0"/>
                <a:sym typeface="Symbol" panose="05050102010706020507" pitchFamily="18" charset="2"/>
              </a:rPr>
              <a:t>x</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y</a:t>
            </a:r>
            <a:r>
              <a:rPr lang="en-US" altLang="zh-CN" sz="2400" b="1" i="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is </a:t>
            </a:r>
            <a:r>
              <a:rPr lang="en-US" altLang="zh-CN" sz="2400" b="1" dirty="0" err="1">
                <a:solidFill>
                  <a:schemeClr val="tx1"/>
                </a:solidFill>
                <a:latin typeface="Trebuchet MS" panose="020B0603020202020204" pitchFamily="34" charset="0"/>
                <a:sym typeface="Symbol" panose="05050102010706020507" pitchFamily="18" charset="2"/>
              </a:rPr>
              <a:t>gcd</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x</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y</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the greatest common divisor of </a:t>
            </a:r>
            <a:r>
              <a:rPr lang="en-US" altLang="zh-CN" sz="2400" b="1" i="1" dirty="0">
                <a:solidFill>
                  <a:schemeClr val="tx1"/>
                </a:solidFill>
                <a:latin typeface="Trebuchet MS" panose="020B0603020202020204" pitchFamily="34" charset="0"/>
                <a:sym typeface="Symbol" panose="05050102010706020507" pitchFamily="18" charset="2"/>
              </a:rPr>
              <a:t>x</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sym typeface="Symbol" panose="05050102010706020507" pitchFamily="18" charset="2"/>
              </a:rPr>
              <a:t>y</a:t>
            </a:r>
            <a:r>
              <a:rPr lang="en-US" altLang="zh-CN" sz="2400" dirty="0">
                <a:solidFill>
                  <a:schemeClr val="tx1"/>
                </a:solidFill>
                <a:latin typeface="Trebuchet MS" panose="020B0603020202020204" pitchFamily="34" charset="0"/>
              </a:rPr>
              <a:t>.</a:t>
            </a:r>
          </a:p>
          <a:p>
            <a:pPr marL="342900" indent="-161925">
              <a:lnSpc>
                <a:spcPct val="11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Below are the </a:t>
            </a:r>
            <a:r>
              <a:rPr lang="en-US" altLang="zh-CN" sz="2400" b="1" i="1" dirty="0">
                <a:solidFill>
                  <a:srgbClr val="0B61FF"/>
                </a:solidFill>
                <a:latin typeface="Trebuchet MS" panose="020B0603020202020204" pitchFamily="34" charset="0"/>
              </a:rPr>
              <a:t>Hasse diagrams </a:t>
            </a:r>
            <a:r>
              <a:rPr lang="en-US" altLang="zh-CN" sz="2400" dirty="0">
                <a:solidFill>
                  <a:schemeClr val="tx1"/>
                </a:solidFill>
                <a:latin typeface="Trebuchet MS" panose="020B0603020202020204" pitchFamily="34" charset="0"/>
              </a:rPr>
              <a:t>of the lattices </a:t>
            </a:r>
            <a:r>
              <a:rPr lang="en-US" altLang="zh-CN" sz="2400" b="1" dirty="0">
                <a:solidFill>
                  <a:schemeClr val="tx1"/>
                </a:solidFill>
                <a:latin typeface="Trebuchet MS" panose="020B0603020202020204" pitchFamily="34" charset="0"/>
                <a:ea typeface="+mn-ea"/>
                <a:cs typeface="Times New Roman" panose="02020603050405020304" pitchFamily="18" charset="0"/>
              </a:rPr>
              <a:t>&lt;</a:t>
            </a:r>
            <a:r>
              <a:rPr lang="en-US" altLang="zh-CN" sz="2400" b="1" i="1" dirty="0">
                <a:solidFill>
                  <a:schemeClr val="tx1"/>
                </a:solidFill>
                <a:latin typeface="Trebuchet MS" panose="020B0603020202020204" pitchFamily="34" charset="0"/>
                <a:ea typeface="+mn-ea"/>
                <a:cs typeface="Times New Roman" panose="02020603050405020304" pitchFamily="18" charset="0"/>
              </a:rPr>
              <a:t>S</a:t>
            </a:r>
            <a:r>
              <a:rPr lang="en-US" altLang="zh-CN" sz="2400" b="1" baseline="-25000" dirty="0">
                <a:solidFill>
                  <a:schemeClr val="tx1"/>
                </a:solidFill>
                <a:latin typeface="Trebuchet MS" panose="020B0603020202020204" pitchFamily="34" charset="0"/>
                <a:ea typeface="+mn-ea"/>
                <a:cs typeface="Times New Roman" panose="02020603050405020304" pitchFamily="18" charset="0"/>
              </a:rPr>
              <a:t>8</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D</a:t>
            </a:r>
            <a:r>
              <a:rPr lang="en-US" altLang="zh-CN" sz="2400" b="1" dirty="0">
                <a:solidFill>
                  <a:schemeClr val="tx1"/>
                </a:solidFill>
                <a:latin typeface="Trebuchet MS" panose="020B0603020202020204" pitchFamily="34" charset="0"/>
                <a:ea typeface="+mn-ea"/>
                <a:cs typeface="Times New Roman" panose="02020603050405020304" pitchFamily="18" charset="0"/>
              </a:rPr>
              <a:t>&gt;,&lt;</a:t>
            </a:r>
            <a:r>
              <a:rPr lang="en-US" altLang="zh-CN" sz="2400" b="1" i="1" dirty="0">
                <a:solidFill>
                  <a:schemeClr val="tx1"/>
                </a:solidFill>
                <a:latin typeface="Trebuchet MS" panose="020B0603020202020204" pitchFamily="34" charset="0"/>
                <a:ea typeface="+mn-ea"/>
                <a:cs typeface="Times New Roman" panose="02020603050405020304" pitchFamily="18" charset="0"/>
              </a:rPr>
              <a:t>S</a:t>
            </a:r>
            <a:r>
              <a:rPr lang="en-US" altLang="zh-CN" sz="2400" b="1" baseline="-25000" dirty="0">
                <a:solidFill>
                  <a:schemeClr val="tx1"/>
                </a:solidFill>
                <a:latin typeface="Trebuchet MS" panose="020B0603020202020204" pitchFamily="34" charset="0"/>
                <a:ea typeface="+mn-ea"/>
                <a:cs typeface="Times New Roman" panose="02020603050405020304" pitchFamily="18" charset="0"/>
              </a:rPr>
              <a:t>6</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D</a:t>
            </a:r>
            <a:r>
              <a:rPr lang="en-US" altLang="zh-CN" sz="2400" b="1" dirty="0">
                <a:solidFill>
                  <a:schemeClr val="tx1"/>
                </a:solidFill>
                <a:latin typeface="Trebuchet MS" panose="020B0603020202020204" pitchFamily="34" charset="0"/>
                <a:ea typeface="+mn-ea"/>
                <a:cs typeface="Times New Roman" panose="02020603050405020304" pitchFamily="18" charset="0"/>
              </a:rPr>
              <a:t>&gt;</a:t>
            </a:r>
            <a:r>
              <a:rPr lang="zh-CN" altLang="en-US"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ea typeface="+mn-ea"/>
                <a:cs typeface="Times New Roman" panose="02020603050405020304" pitchFamily="18" charset="0"/>
              </a:rPr>
              <a:t>and </a:t>
            </a:r>
            <a:r>
              <a:rPr lang="en-US" altLang="zh-CN" sz="2400" b="1" dirty="0">
                <a:solidFill>
                  <a:schemeClr val="tx1"/>
                </a:solidFill>
                <a:latin typeface="Trebuchet MS" panose="020B0603020202020204" pitchFamily="34" charset="0"/>
                <a:ea typeface="+mn-ea"/>
                <a:cs typeface="Times New Roman" panose="02020603050405020304" pitchFamily="18" charset="0"/>
              </a:rPr>
              <a:t>&lt;</a:t>
            </a:r>
            <a:r>
              <a:rPr lang="en-US" altLang="zh-CN" sz="2400" b="1" i="1" dirty="0">
                <a:solidFill>
                  <a:schemeClr val="tx1"/>
                </a:solidFill>
                <a:latin typeface="Trebuchet MS" panose="020B0603020202020204" pitchFamily="34" charset="0"/>
                <a:ea typeface="+mn-ea"/>
                <a:cs typeface="Times New Roman" panose="02020603050405020304" pitchFamily="18" charset="0"/>
              </a:rPr>
              <a:t>S</a:t>
            </a:r>
            <a:r>
              <a:rPr lang="en-US" altLang="zh-CN" sz="2400" b="1" baseline="-25000" dirty="0">
                <a:solidFill>
                  <a:schemeClr val="tx1"/>
                </a:solidFill>
                <a:latin typeface="Trebuchet MS" panose="020B0603020202020204" pitchFamily="34" charset="0"/>
                <a:ea typeface="+mn-ea"/>
                <a:cs typeface="Times New Roman" panose="02020603050405020304" pitchFamily="18" charset="0"/>
              </a:rPr>
              <a:t>30</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D</a:t>
            </a:r>
            <a:r>
              <a:rPr lang="en-US" altLang="zh-CN" sz="2400" b="1" dirty="0">
                <a:solidFill>
                  <a:schemeClr val="tx1"/>
                </a:solidFill>
                <a:latin typeface="Trebuchet MS" panose="020B0603020202020204" pitchFamily="34" charset="0"/>
                <a:ea typeface="+mn-ea"/>
                <a:cs typeface="Times New Roman" panose="02020603050405020304" pitchFamily="18" charset="0"/>
              </a:rPr>
              <a:t>&gt; .</a:t>
            </a:r>
            <a:endParaRPr lang="en-US" altLang="zh-CN" sz="2400" b="1" dirty="0">
              <a:solidFill>
                <a:schemeClr val="tx1"/>
              </a:solidFill>
              <a:latin typeface="Trebuchet MS" panose="020B0603020202020204" pitchFamily="34" charset="0"/>
              <a:ea typeface="+mn-ea"/>
              <a:cs typeface="Times New Roman" panose="02020603050405020304" pitchFamily="18" charset="0"/>
              <a:sym typeface="Symbol" panose="05050102010706020507" pitchFamily="18" charset="2"/>
            </a:endParaRPr>
          </a:p>
        </p:txBody>
      </p:sp>
      <p:pic>
        <p:nvPicPr>
          <p:cNvPr id="10" name="Picture 7" descr="13-1">
            <a:extLst>
              <a:ext uri="{FF2B5EF4-FFF2-40B4-BE49-F238E27FC236}">
                <a16:creationId xmlns:a16="http://schemas.microsoft.com/office/drawing/2014/main" id="{A7DA2E6A-CA84-4E05-A67C-6EC89DA155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1122" b="4448"/>
          <a:stretch>
            <a:fillRect/>
          </a:stretch>
        </p:blipFill>
        <p:spPr bwMode="auto">
          <a:xfrm>
            <a:off x="3026296" y="3446109"/>
            <a:ext cx="5761038" cy="277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1027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rebuchet MS" panose="020B0603020202020204" pitchFamily="34" charset="0"/>
              </a:rPr>
              <a:t>Partially Ordered Sets (</a:t>
            </a:r>
            <a:r>
              <a:rPr lang="en-US" altLang="zh-CN" sz="2400" b="1" dirty="0" err="1">
                <a:latin typeface="Trebuchet MS" panose="020B0603020202020204" pitchFamily="34" charset="0"/>
              </a:rPr>
              <a:t>Poset</a:t>
            </a:r>
            <a:r>
              <a:rPr lang="en-US" altLang="zh-CN" sz="2400" b="1" dirty="0">
                <a:latin typeface="Trebuchet MS" panose="020B0603020202020204" pitchFamily="34" charset="0"/>
              </a:rPr>
              <a:t>) and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797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sp>
        <p:nvSpPr>
          <p:cNvPr id="9" name="Rectangle 4">
            <a:extLst>
              <a:ext uri="{FF2B5EF4-FFF2-40B4-BE49-F238E27FC236}">
                <a16:creationId xmlns:a16="http://schemas.microsoft.com/office/drawing/2014/main" id="{09E00AD1-26AA-4666-A1A0-A64C41889A07}"/>
              </a:ext>
            </a:extLst>
          </p:cNvPr>
          <p:cNvSpPr>
            <a:spLocks noChangeArrowheads="1"/>
          </p:cNvSpPr>
          <p:nvPr/>
        </p:nvSpPr>
        <p:spPr bwMode="auto">
          <a:xfrm>
            <a:off x="678768" y="792998"/>
            <a:ext cx="8942717" cy="5188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9875" indent="-269875">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Note:</a:t>
            </a:r>
          </a:p>
          <a:p>
            <a:pPr marL="541338" indent="-541338">
              <a:lnSpc>
                <a:spcPct val="120000"/>
              </a:lnSpc>
              <a:buClr>
                <a:srgbClr val="0B61FF"/>
              </a:buClr>
              <a:buSzPct val="80000"/>
            </a:pPr>
            <a:r>
              <a:rPr lang="en-US" altLang="zh-CN" sz="2400" b="1" dirty="0">
                <a:solidFill>
                  <a:srgbClr val="0B61FF"/>
                </a:solidFill>
                <a:latin typeface="Trebuchet MS" panose="020B0603020202020204" pitchFamily="34" charset="0"/>
              </a:rPr>
              <a:t>(1) </a:t>
            </a:r>
            <a:r>
              <a:rPr lang="en-US" altLang="zh-CN" sz="2400" dirty="0">
                <a:solidFill>
                  <a:schemeClr val="tx1"/>
                </a:solidFill>
                <a:latin typeface="Trebuchet MS" panose="020B0603020202020204" pitchFamily="34" charset="0"/>
              </a:rPr>
              <a:t>For the lattice </a:t>
            </a: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&lt;</a:t>
            </a:r>
            <a:r>
              <a:rPr lang="en-US" altLang="zh-CN" sz="2400" b="1" i="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S</a:t>
            </a:r>
            <a:r>
              <a:rPr lang="en-US" altLang="zh-CN" sz="2400" b="1" baseline="-25000"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8</a:t>
            </a: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D</a:t>
            </a: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&gt;</a:t>
            </a:r>
            <a:r>
              <a:rPr lang="en-US" altLang="zh-CN" sz="2400" b="1"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solidFill>
                  <a:schemeClr val="tx1"/>
                </a:solidFill>
                <a:latin typeface="Trebuchet MS" panose="020B0603020202020204" pitchFamily="34" charset="0"/>
              </a:rPr>
              <a:t>the set </a:t>
            </a:r>
            <a:r>
              <a:rPr lang="en-US" altLang="zh-CN" sz="2400" b="1" i="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S</a:t>
            </a:r>
            <a:r>
              <a:rPr lang="en-US" altLang="zh-CN" sz="2400" b="1" kern="100" baseline="-250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8</a:t>
            </a:r>
            <a:r>
              <a:rPr lang="en-US" altLang="zh-CN" sz="2400" b="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1,2,4,8} </a:t>
            </a:r>
            <a:r>
              <a:rPr lang="en-US" altLang="zh-CN" sz="2400" dirty="0">
                <a:solidFill>
                  <a:schemeClr val="tx1"/>
                </a:solidFill>
                <a:latin typeface="Trebuchet MS" panose="020B0603020202020204" pitchFamily="34" charset="0"/>
              </a:rPr>
              <a:t>forms a </a:t>
            </a:r>
            <a:r>
              <a:rPr lang="en-US" altLang="zh-CN" sz="2400" b="1" dirty="0">
                <a:solidFill>
                  <a:schemeClr val="tx1"/>
                </a:solidFill>
                <a:latin typeface="Trebuchet MS" panose="020B0603020202020204" pitchFamily="34" charset="0"/>
              </a:rPr>
              <a:t>chain</a:t>
            </a:r>
            <a:r>
              <a:rPr lang="en-US" altLang="zh-CN" sz="2400" dirty="0">
                <a:solidFill>
                  <a:schemeClr val="tx1"/>
                </a:solidFill>
                <a:latin typeface="Trebuchet MS" panose="020B0603020202020204" pitchFamily="34" charset="0"/>
              </a:rPr>
              <a:t> under the divisibility relation </a:t>
            </a:r>
            <a:r>
              <a:rPr lang="en-US" altLang="zh-CN" sz="2400" b="1" i="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D</a:t>
            </a:r>
            <a:r>
              <a:rPr lang="en-US" altLang="zh-CN" sz="2400" dirty="0">
                <a:solidFill>
                  <a:schemeClr val="tx1"/>
                </a:solidFill>
                <a:latin typeface="Trebuchet MS" panose="020B0603020202020204" pitchFamily="34" charset="0"/>
              </a:rPr>
              <a:t>, each element divides the element above it, i.e., </a:t>
            </a:r>
            <a:r>
              <a:rPr lang="en-US" altLang="zh-CN" sz="2400" b="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1≤2≤4≤8.</a:t>
            </a:r>
          </a:p>
          <a:p>
            <a:pPr marL="541338" indent="-541338">
              <a:lnSpc>
                <a:spcPct val="120000"/>
              </a:lnSpc>
              <a:buClr>
                <a:srgbClr val="0B61FF"/>
              </a:buClr>
              <a:buSzPct val="80000"/>
            </a:pPr>
            <a:r>
              <a:rPr lang="en-US" altLang="zh-CN" sz="2400" b="1" dirty="0">
                <a:solidFill>
                  <a:srgbClr val="0B61FF"/>
                </a:solidFill>
                <a:latin typeface="Trebuchet MS" panose="020B0603020202020204" pitchFamily="34" charset="0"/>
              </a:rPr>
              <a:t>(2) </a:t>
            </a:r>
            <a:r>
              <a:rPr lang="en-US" altLang="zh-CN" sz="2400" dirty="0">
                <a:solidFill>
                  <a:schemeClr val="tx1"/>
                </a:solidFill>
                <a:latin typeface="Trebuchet MS" panose="020B0603020202020204" pitchFamily="34" charset="0"/>
              </a:rPr>
              <a:t>For the lattice </a:t>
            </a: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&lt;</a:t>
            </a:r>
            <a:r>
              <a:rPr lang="en-US" altLang="zh-CN" sz="2400" b="1" i="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S</a:t>
            </a:r>
            <a:r>
              <a:rPr lang="en-US" altLang="zh-CN" sz="2400" b="1" baseline="-25000"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6</a:t>
            </a: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D</a:t>
            </a: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&gt;, </a:t>
            </a:r>
            <a:r>
              <a:rPr lang="en-US" altLang="zh-CN" sz="2400" dirty="0">
                <a:solidFill>
                  <a:schemeClr val="tx1"/>
                </a:solidFill>
                <a:latin typeface="Trebuchet MS" panose="020B0603020202020204" pitchFamily="34" charset="0"/>
              </a:rPr>
              <a:t>the set </a:t>
            </a:r>
            <a:r>
              <a:rPr lang="en-US" altLang="zh-CN" sz="2400" b="1" i="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S</a:t>
            </a:r>
            <a:r>
              <a:rPr lang="en-US" altLang="zh-CN" sz="2400" b="1" kern="100" baseline="-250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6</a:t>
            </a:r>
            <a:r>
              <a:rPr lang="en-US" altLang="zh-CN" sz="2400" b="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1,2,3,6} </a:t>
            </a:r>
            <a:r>
              <a:rPr lang="en-US" altLang="zh-CN" sz="2400" dirty="0">
                <a:solidFill>
                  <a:schemeClr val="tx1"/>
                </a:solidFill>
                <a:latin typeface="Trebuchet MS" panose="020B0603020202020204" pitchFamily="34" charset="0"/>
              </a:rPr>
              <a:t>forms a </a:t>
            </a:r>
            <a:r>
              <a:rPr lang="en-US" altLang="zh-CN" sz="2400" b="1" dirty="0">
                <a:solidFill>
                  <a:schemeClr val="tx1"/>
                </a:solidFill>
                <a:latin typeface="Trebuchet MS" panose="020B0603020202020204" pitchFamily="34" charset="0"/>
              </a:rPr>
              <a:t>diamond structure</a:t>
            </a:r>
            <a:r>
              <a:rPr lang="en-US" altLang="zh-CN" sz="2400" dirty="0">
                <a:solidFill>
                  <a:schemeClr val="tx1"/>
                </a:solidFill>
                <a:latin typeface="Trebuchet MS" panose="020B0603020202020204" pitchFamily="34" charset="0"/>
              </a:rPr>
              <a:t> under </a:t>
            </a:r>
            <a:r>
              <a:rPr lang="en-US" altLang="zh-CN" sz="2400" b="1" i="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D</a:t>
            </a:r>
            <a:r>
              <a:rPr lang="en-US" altLang="zh-CN" sz="2400" dirty="0">
                <a:solidFill>
                  <a:schemeClr val="tx1"/>
                </a:solidFill>
                <a:latin typeface="Trebuchet MS" panose="020B0603020202020204" pitchFamily="34" charset="0"/>
              </a:rPr>
              <a:t>, both </a:t>
            </a:r>
            <a:r>
              <a:rPr lang="en-US" altLang="zh-CN" sz="2400" b="1" dirty="0">
                <a:solidFill>
                  <a:schemeClr val="tx1"/>
                </a:solidFill>
                <a:latin typeface="Trebuchet MS" panose="020B0603020202020204" pitchFamily="34" charset="0"/>
              </a:rPr>
              <a:t>2</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3</a:t>
            </a:r>
            <a:r>
              <a:rPr lang="en-US" altLang="zh-CN" sz="2400" dirty="0">
                <a:solidFill>
                  <a:schemeClr val="tx1"/>
                </a:solidFill>
                <a:latin typeface="Trebuchet MS" panose="020B0603020202020204" pitchFamily="34" charset="0"/>
              </a:rPr>
              <a:t> are direct multiples of </a:t>
            </a:r>
            <a:r>
              <a:rPr lang="en-US" altLang="zh-CN" sz="2400" b="1" dirty="0">
                <a:solidFill>
                  <a:schemeClr val="tx1"/>
                </a:solidFill>
                <a:latin typeface="Trebuchet MS" panose="020B0603020202020204" pitchFamily="34" charset="0"/>
              </a:rPr>
              <a:t>1</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6</a:t>
            </a:r>
            <a:r>
              <a:rPr lang="en-US" altLang="zh-CN" sz="2400" dirty="0">
                <a:solidFill>
                  <a:schemeClr val="tx1"/>
                </a:solidFill>
                <a:latin typeface="Trebuchet MS" panose="020B0603020202020204" pitchFamily="34" charset="0"/>
              </a:rPr>
              <a:t> is the common multiple of 2 and </a:t>
            </a:r>
            <a:r>
              <a:rPr lang="en-US" altLang="zh-CN" sz="2400" b="1" dirty="0">
                <a:solidFill>
                  <a:schemeClr val="tx1"/>
                </a:solidFill>
                <a:latin typeface="Trebuchet MS" panose="020B0603020202020204" pitchFamily="34" charset="0"/>
              </a:rPr>
              <a:t>3</a:t>
            </a:r>
            <a:r>
              <a:rPr lang="en-US" altLang="zh-CN" sz="2400" dirty="0">
                <a:solidFill>
                  <a:schemeClr val="tx1"/>
                </a:solidFill>
                <a:latin typeface="Trebuchet MS" panose="020B0603020202020204" pitchFamily="34" charset="0"/>
              </a:rPr>
              <a:t>.</a:t>
            </a:r>
          </a:p>
          <a:p>
            <a:pPr marL="541338" indent="-541338">
              <a:lnSpc>
                <a:spcPct val="120000"/>
              </a:lnSpc>
              <a:buClr>
                <a:srgbClr val="0B61FF"/>
              </a:buClr>
              <a:buSzPct val="80000"/>
            </a:pPr>
            <a:r>
              <a:rPr lang="en-US" altLang="zh-CN" sz="2400" b="1" dirty="0">
                <a:solidFill>
                  <a:srgbClr val="0B61FF"/>
                </a:solidFill>
                <a:latin typeface="Trebuchet MS" panose="020B0603020202020204" pitchFamily="34" charset="0"/>
              </a:rPr>
              <a:t>(3) </a:t>
            </a:r>
            <a:r>
              <a:rPr lang="en-US" altLang="zh-CN" sz="2400" dirty="0">
                <a:solidFill>
                  <a:schemeClr val="tx1"/>
                </a:solidFill>
                <a:latin typeface="Trebuchet MS" panose="020B0603020202020204" pitchFamily="34" charset="0"/>
              </a:rPr>
              <a:t>For the lattice </a:t>
            </a: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&lt;</a:t>
            </a:r>
            <a:r>
              <a:rPr lang="en-US" altLang="zh-CN" sz="2400" b="1" i="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S</a:t>
            </a:r>
            <a:r>
              <a:rPr lang="en-US" altLang="zh-CN" sz="2400" b="1" baseline="-25000"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30</a:t>
            </a: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i="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D</a:t>
            </a:r>
            <a:r>
              <a:rPr lang="en-US" altLang="zh-CN" sz="2400" b="1" dirty="0">
                <a:solidFill>
                  <a:srgbClr val="0B61FF"/>
                </a:solidFill>
                <a:latin typeface="Trebuchet MS" panose="020B0603020202020204" pitchFamily="34" charset="0"/>
                <a:ea typeface="楷体" panose="02010609060101010101" pitchFamily="49" charset="-122"/>
                <a:cs typeface="Times New Roman" panose="02020603050405020304" pitchFamily="18" charset="0"/>
              </a:rPr>
              <a:t>&gt;, </a:t>
            </a:r>
            <a:r>
              <a:rPr lang="en-US" altLang="zh-CN" sz="2400" dirty="0">
                <a:solidFill>
                  <a:schemeClr val="tx1"/>
                </a:solidFill>
                <a:latin typeface="Trebuchet MS" panose="020B0603020202020204" pitchFamily="34" charset="0"/>
              </a:rPr>
              <a:t>the set </a:t>
            </a:r>
            <a:r>
              <a:rPr lang="en-US" altLang="zh-CN" sz="2400" b="1" i="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S</a:t>
            </a:r>
            <a:r>
              <a:rPr lang="en-US" altLang="zh-CN" sz="2400" b="1" kern="100" baseline="-250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30</a:t>
            </a:r>
            <a:r>
              <a:rPr lang="en-US" altLang="zh-CN" sz="2400" b="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a:t>
            </a:r>
            <a:r>
              <a:rPr lang="zh-CN" altLang="zh-CN" sz="2400" b="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rPr>
              <a:t>1,2,3,5,6,10,15,30</a:t>
            </a:r>
            <a:r>
              <a:rPr lang="en-US" altLang="zh-CN" sz="2400" b="1" kern="100" dirty="0">
                <a:solidFill>
                  <a:schemeClr val="tx1"/>
                </a:solidFill>
                <a:latin typeface="Trebuchet MS" panose="020B0603020202020204" pitchFamily="34" charset="0"/>
                <a:ea typeface="楷体" panose="02010609060101010101" pitchFamily="49" charset="-122"/>
                <a:cs typeface="Times New Roman" panose="02020603050405020304" pitchFamily="18" charset="0"/>
              </a:rPr>
              <a:t>} </a:t>
            </a:r>
            <a:r>
              <a:rPr lang="en-US" altLang="zh-CN" sz="2400" dirty="0">
                <a:solidFill>
                  <a:schemeClr val="tx1"/>
                </a:solidFill>
                <a:latin typeface="Trebuchet MS" panose="020B0603020202020204" pitchFamily="34" charset="0"/>
              </a:rPr>
              <a:t>forms a </a:t>
            </a:r>
            <a:r>
              <a:rPr lang="en-US" altLang="zh-CN" sz="2400" b="1" dirty="0">
                <a:solidFill>
                  <a:schemeClr val="tx1"/>
                </a:solidFill>
                <a:latin typeface="Trebuchet MS" panose="020B0603020202020204" pitchFamily="34" charset="0"/>
              </a:rPr>
              <a:t>cubic structure</a:t>
            </a:r>
            <a:r>
              <a:rPr lang="en-US" altLang="zh-CN" sz="2400" dirty="0">
                <a:solidFill>
                  <a:schemeClr val="tx1"/>
                </a:solidFill>
                <a:latin typeface="Trebuchet MS" panose="020B0603020202020204" pitchFamily="34" charset="0"/>
              </a:rPr>
              <a:t> under the divisibility relation </a:t>
            </a:r>
            <a:r>
              <a:rPr lang="en-US" altLang="zh-CN" sz="2400" b="1" i="1" dirty="0">
                <a:solidFill>
                  <a:schemeClr val="tx1"/>
                </a:solidFill>
                <a:latin typeface="Trebuchet MS" panose="020B0603020202020204" pitchFamily="34" charset="0"/>
              </a:rPr>
              <a:t>D</a:t>
            </a:r>
            <a:r>
              <a:rPr lang="en-US" altLang="zh-CN" sz="2400" dirty="0">
                <a:solidFill>
                  <a:schemeClr val="tx1"/>
                </a:solidFill>
                <a:latin typeface="Trebuchet MS" panose="020B0603020202020204" pitchFamily="34" charset="0"/>
              </a:rPr>
              <a:t>, edges between vertices represent divisibility, e.g., both </a:t>
            </a:r>
            <a:r>
              <a:rPr lang="en-US" altLang="zh-CN" sz="2400" b="1" dirty="0">
                <a:solidFill>
                  <a:schemeClr val="tx1"/>
                </a:solidFill>
                <a:latin typeface="Trebuchet MS" panose="020B0603020202020204" pitchFamily="34" charset="0"/>
              </a:rPr>
              <a:t>2</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3</a:t>
            </a:r>
            <a:r>
              <a:rPr lang="en-US" altLang="zh-CN" sz="2400" dirty="0">
                <a:solidFill>
                  <a:schemeClr val="tx1"/>
                </a:solidFill>
                <a:latin typeface="Trebuchet MS" panose="020B0603020202020204" pitchFamily="34" charset="0"/>
              </a:rPr>
              <a:t> divide </a:t>
            </a:r>
            <a:r>
              <a:rPr lang="en-US" altLang="zh-CN" sz="2400" b="1" dirty="0">
                <a:solidFill>
                  <a:schemeClr val="tx1"/>
                </a:solidFill>
                <a:latin typeface="Trebuchet MS" panose="020B0603020202020204" pitchFamily="34" charset="0"/>
              </a:rPr>
              <a:t>6</a:t>
            </a:r>
            <a:r>
              <a:rPr lang="en-US" altLang="zh-CN" sz="2400" dirty="0">
                <a:solidFill>
                  <a:schemeClr val="tx1"/>
                </a:solidFill>
                <a:latin typeface="Trebuchet MS" panose="020B0603020202020204" pitchFamily="34" charset="0"/>
              </a:rPr>
              <a:t>, and both </a:t>
            </a:r>
            <a:r>
              <a:rPr lang="en-US" altLang="zh-CN" sz="2400" b="1" dirty="0">
                <a:solidFill>
                  <a:schemeClr val="tx1"/>
                </a:solidFill>
                <a:latin typeface="Trebuchet MS" panose="020B0603020202020204" pitchFamily="34" charset="0"/>
              </a:rPr>
              <a:t>2</a:t>
            </a:r>
            <a:r>
              <a:rPr lang="en-US" altLang="zh-CN" sz="2400" dirty="0">
                <a:solidFill>
                  <a:schemeClr val="tx1"/>
                </a:solidFill>
                <a:latin typeface="Trebuchet MS" panose="020B0603020202020204" pitchFamily="34" charset="0"/>
              </a:rPr>
              <a:t> and 5 divide </a:t>
            </a:r>
            <a:r>
              <a:rPr lang="en-US" altLang="zh-CN" sz="2400" b="1" dirty="0">
                <a:solidFill>
                  <a:schemeClr val="tx1"/>
                </a:solidFill>
                <a:latin typeface="Trebuchet MS" panose="020B0603020202020204" pitchFamily="34" charset="0"/>
              </a:rPr>
              <a:t>10</a:t>
            </a:r>
            <a:r>
              <a:rPr lang="en-US" altLang="zh-CN" sz="2400" dirty="0">
                <a:solidFill>
                  <a:schemeClr val="tx1"/>
                </a:solidFill>
                <a:latin typeface="Trebuchet MS" panose="020B0603020202020204" pitchFamily="34" charset="0"/>
              </a:rPr>
              <a:t>.</a:t>
            </a:r>
            <a:endParaRPr lang="en-US" altLang="zh-CN" sz="2400" b="1" i="0" dirty="0">
              <a:solidFill>
                <a:schemeClr val="tx1"/>
              </a:solidFill>
              <a:effectLst/>
              <a:latin typeface="Trebuchet MS" panose="020B0603020202020204" pitchFamily="34" charset="0"/>
              <a:ea typeface="楷体" panose="020106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76BBE8BA-7550-4591-A90E-BEFBB40521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02989" y="1403470"/>
            <a:ext cx="564600" cy="1158914"/>
          </a:xfrm>
          <a:prstGeom prst="rect">
            <a:avLst/>
          </a:prstGeom>
        </p:spPr>
      </p:pic>
      <p:pic>
        <p:nvPicPr>
          <p:cNvPr id="11" name="图片 10">
            <a:extLst>
              <a:ext uri="{FF2B5EF4-FFF2-40B4-BE49-F238E27FC236}">
                <a16:creationId xmlns:a16="http://schemas.microsoft.com/office/drawing/2014/main" id="{7ED6DB08-DDDC-4590-821C-DED84D74E7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02989" y="2848893"/>
            <a:ext cx="843293" cy="1076907"/>
          </a:xfrm>
          <a:prstGeom prst="rect">
            <a:avLst/>
          </a:prstGeom>
        </p:spPr>
      </p:pic>
      <p:pic>
        <p:nvPicPr>
          <p:cNvPr id="14" name="图片 13">
            <a:extLst>
              <a:ext uri="{FF2B5EF4-FFF2-40B4-BE49-F238E27FC236}">
                <a16:creationId xmlns:a16="http://schemas.microsoft.com/office/drawing/2014/main" id="{5981FD28-5FF7-4BB7-9BA2-B5B7A9B680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02989" y="4212309"/>
            <a:ext cx="1228447" cy="1133522"/>
          </a:xfrm>
          <a:prstGeom prst="rect">
            <a:avLst/>
          </a:prstGeom>
        </p:spPr>
      </p:pic>
    </p:spTree>
    <p:extLst>
      <p:ext uri="{BB962C8B-B14F-4D97-AF65-F5344CB8AC3E}">
        <p14:creationId xmlns:p14="http://schemas.microsoft.com/office/powerpoint/2010/main" val="1186243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0" presetID="2" presetClass="entr" presetSubtype="2"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1+#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fade">
                                      <p:cBhvr>
                                        <p:cTn id="18" dur="1000"/>
                                        <p:tgtEl>
                                          <p:spTgt spid="9">
                                            <p:txEl>
                                              <p:pRg st="3" end="3"/>
                                            </p:txEl>
                                          </p:spTgt>
                                        </p:tgtEl>
                                      </p:cBhvr>
                                    </p:animEffect>
                                    <p:anim calcmode="lin" valueType="num">
                                      <p:cBhvr>
                                        <p:cTn id="19"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0"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1+#ppt_w/2"/>
                                          </p:val>
                                        </p:tav>
                                        <p:tav tm="100000">
                                          <p:val>
                                            <p:strVal val="#ppt_x"/>
                                          </p:val>
                                        </p:tav>
                                      </p:tavLst>
                                    </p:anim>
                                    <p:anim calcmode="lin" valueType="num">
                                      <p:cBhvr additive="base">
                                        <p:cTn id="24"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Constructing Examples of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0">
            <a:extLst>
              <a:ext uri="{FF2B5EF4-FFF2-40B4-BE49-F238E27FC236}">
                <a16:creationId xmlns:a16="http://schemas.microsoft.com/office/drawing/2014/main" id="{99350BBC-DD45-4D6C-8747-C2F64D288543}"/>
              </a:ext>
            </a:extLst>
          </p:cNvPr>
          <p:cNvSpPr>
            <a:spLocks noChangeArrowheads="1"/>
          </p:cNvSpPr>
          <p:nvPr/>
        </p:nvSpPr>
        <p:spPr bwMode="auto">
          <a:xfrm>
            <a:off x="824682" y="868731"/>
            <a:ext cx="10984141" cy="5748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eaLnBrk="1" hangingPunct="1">
              <a:lnSpc>
                <a:spcPct val="106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 1:</a:t>
            </a:r>
            <a:r>
              <a:rPr lang="en-US" altLang="zh-CN" sz="2400" dirty="0">
                <a:solidFill>
                  <a:schemeClr val="tx1"/>
                </a:solidFill>
                <a:latin typeface="Trebuchet MS" panose="020B0603020202020204" pitchFamily="34" charset="0"/>
              </a:rPr>
              <a:t> Determine whether the partially ordered set </a:t>
            </a:r>
            <a:r>
              <a:rPr lang="en-US" altLang="zh-CN" sz="2400" b="1" dirty="0">
                <a:solidFill>
                  <a:schemeClr val="tx1"/>
                </a:solidFill>
                <a:latin typeface="Trebuchet MS" panose="020B0603020202020204" pitchFamily="34" charset="0"/>
              </a:rPr>
              <a:t>&lt;</a:t>
            </a:r>
            <a:r>
              <a:rPr lang="en-US" altLang="zh-CN" sz="2400" b="1" i="1" dirty="0">
                <a:solidFill>
                  <a:schemeClr val="tx1"/>
                </a:solidFill>
                <a:latin typeface="Trebuchet MS" panose="020B0603020202020204" pitchFamily="34" charset="0"/>
              </a:rPr>
              <a:t>P</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B</a:t>
            </a:r>
            <a:r>
              <a:rPr lang="en-US" altLang="zh-CN" sz="2400" b="1" dirty="0">
                <a:solidFill>
                  <a:schemeClr val="tx1"/>
                </a:solidFill>
                <a:latin typeface="Trebuchet MS" panose="020B0603020202020204" pitchFamily="34" charset="0"/>
              </a:rPr>
              <a:t>),</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dirty="0">
                <a:solidFill>
                  <a:schemeClr val="tx1"/>
                </a:solidFill>
                <a:latin typeface="Trebuchet MS" panose="020B0603020202020204" pitchFamily="34" charset="0"/>
              </a:rPr>
              <a:t> &gt; </a:t>
            </a:r>
            <a:r>
              <a:rPr lang="en-US" altLang="zh-CN" sz="2400" dirty="0">
                <a:solidFill>
                  <a:schemeClr val="tx1"/>
                </a:solidFill>
                <a:latin typeface="Trebuchet MS" panose="020B0603020202020204" pitchFamily="34" charset="0"/>
              </a:rPr>
              <a:t>forms a lattice, where </a:t>
            </a:r>
            <a:r>
              <a:rPr lang="en-US" altLang="zh-CN" sz="2400" b="1" i="1" dirty="0">
                <a:solidFill>
                  <a:schemeClr val="tx1"/>
                </a:solidFill>
                <a:latin typeface="Trebuchet MS" panose="020B0603020202020204" pitchFamily="34" charset="0"/>
                <a:sym typeface="Symbol" panose="05050102010706020507" pitchFamily="18" charset="2"/>
              </a:rPr>
              <a:t>P</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B</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is the power set of a set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a:t>
            </a:r>
          </a:p>
          <a:p>
            <a:pPr marL="342900" indent="-165100" eaLnBrk="1" hangingPunct="1">
              <a:lnSpc>
                <a:spcPct val="106000"/>
              </a:lnSpc>
              <a:buClr>
                <a:srgbClr val="0B61FF"/>
              </a:buClr>
              <a:buSzPct val="120000"/>
              <a:buFont typeface="Arial" panose="020B0604020202020204" pitchFamily="34" charset="0"/>
              <a:buChar char="•"/>
            </a:pPr>
            <a:r>
              <a:rPr lang="en-US" altLang="zh-CN" sz="2400" b="1" dirty="0">
                <a:solidFill>
                  <a:schemeClr val="tx1"/>
                </a:solidFill>
                <a:latin typeface="Trebuchet MS" panose="020B0603020202020204" pitchFamily="34" charset="0"/>
              </a:rPr>
              <a:t>Solution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p>
          <a:p>
            <a:pPr marL="627063" indent="-449263" eaLnBrk="1" hangingPunct="1">
              <a:lnSpc>
                <a:spcPct val="106000"/>
              </a:lnSpc>
              <a:buClr>
                <a:srgbClr val="0B61FF"/>
              </a:buClr>
              <a:buSzPct val="120000"/>
            </a:pPr>
            <a:r>
              <a:rPr lang="en-US" altLang="zh-CN" sz="2400" b="1" dirty="0">
                <a:solidFill>
                  <a:srgbClr val="0B61FF"/>
                </a:solidFill>
                <a:latin typeface="Trebuchet MS" panose="020B0603020202020204" pitchFamily="34" charset="0"/>
                <a:ea typeface="宋体" panose="02010600030101010101" pitchFamily="2" charset="-122"/>
              </a:rPr>
              <a:t>(1)</a:t>
            </a:r>
            <a:r>
              <a:rPr lang="en-US" altLang="zh-CN" sz="2400" b="1" dirty="0">
                <a:solidFill>
                  <a:srgbClr val="0B61FF"/>
                </a:solidFill>
                <a:latin typeface="Trebuchet MS" panose="020B0603020202020204" pitchFamily="34" charset="0"/>
              </a:rPr>
              <a:t> </a:t>
            </a:r>
            <a:r>
              <a:rPr lang="en-US" altLang="zh-CN" sz="2400" b="1" i="1" dirty="0">
                <a:solidFill>
                  <a:srgbClr val="0B61FF"/>
                </a:solidFill>
                <a:latin typeface="Trebuchet MS" panose="020B0603020202020204" pitchFamily="34" charset="0"/>
              </a:rPr>
              <a:t>Check the least upper bound</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For any two subsets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C</a:t>
            </a:r>
            <a:r>
              <a:rPr lang="zh-CN"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a:t>
            </a:r>
            <a:r>
              <a:rPr lang="zh-CN"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define their least upper bound as </a:t>
            </a:r>
            <a:r>
              <a:rPr lang="en-US" altLang="zh-CN" sz="2400" b="1" i="1" dirty="0">
                <a:solidFill>
                  <a:schemeClr val="tx1"/>
                </a:solidFill>
                <a:latin typeface="Trebuchet MS" panose="020B0603020202020204" pitchFamily="34" charset="0"/>
                <a:cs typeface="Times New Roman" panose="02020603050405020304" pitchFamily="18" charset="0"/>
              </a:rPr>
              <a:t>A</a:t>
            </a:r>
            <a:r>
              <a:rPr lang="zh-CN"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a:t>
            </a:r>
            <a:r>
              <a:rPr lang="en-US" altLang="zh-CN" sz="2400" dirty="0">
                <a:solidFill>
                  <a:schemeClr val="tx1"/>
                </a:solidFill>
                <a:latin typeface="Trebuchet MS" panose="020B0603020202020204" pitchFamily="34" charset="0"/>
              </a:rPr>
              <a:t>. Under the subset relation, any subset </a:t>
            </a:r>
            <a:r>
              <a:rPr lang="en-US" altLang="zh-CN" sz="2400" b="1" i="1" dirty="0">
                <a:solidFill>
                  <a:schemeClr val="tx1"/>
                </a:solidFill>
                <a:latin typeface="Trebuchet MS" panose="020B0603020202020204" pitchFamily="34" charset="0"/>
                <a:cs typeface="Times New Roman" panose="02020603050405020304" pitchFamily="18" charset="0"/>
              </a:rPr>
              <a:t>D</a:t>
            </a:r>
            <a:r>
              <a:rPr lang="en-US" altLang="zh-CN" sz="2400" dirty="0">
                <a:solidFill>
                  <a:schemeClr val="tx1"/>
                </a:solidFill>
                <a:latin typeface="Trebuchet MS" panose="020B0603020202020204" pitchFamily="34" charset="0"/>
              </a:rPr>
              <a:t> that contains both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cs typeface="Times New Roman" panose="02020603050405020304" pitchFamily="18" charset="0"/>
              </a:rPr>
              <a:t>C</a:t>
            </a:r>
            <a:r>
              <a:rPr lang="en-US" altLang="zh-CN" sz="2400" dirty="0">
                <a:solidFill>
                  <a:schemeClr val="tx1"/>
                </a:solidFill>
                <a:latin typeface="Trebuchet MS" panose="020B0603020202020204" pitchFamily="34" charset="0"/>
              </a:rPr>
              <a:t> must satisfy </a:t>
            </a:r>
            <a:r>
              <a:rPr lang="en-US" altLang="zh-CN" sz="2400" b="1" i="1" dirty="0">
                <a:solidFill>
                  <a:schemeClr val="tx1"/>
                </a:solidFill>
                <a:latin typeface="Trebuchet MS" panose="020B0603020202020204" pitchFamily="34" charset="0"/>
                <a:cs typeface="Times New Roman" panose="02020603050405020304" pitchFamily="18" charset="0"/>
              </a:rPr>
              <a:t>A</a:t>
            </a:r>
            <a:r>
              <a:rPr lang="zh-CN"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a:t>
            </a:r>
            <a:r>
              <a:rPr lang="en-US"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D</a:t>
            </a:r>
            <a:r>
              <a:rPr lang="en-US" altLang="zh-CN" sz="2400" dirty="0">
                <a:solidFill>
                  <a:schemeClr val="tx1"/>
                </a:solidFill>
                <a:latin typeface="Trebuchet MS" panose="020B0603020202020204" pitchFamily="34" charset="0"/>
              </a:rPr>
              <a:t>. Hence, </a:t>
            </a:r>
            <a:r>
              <a:rPr lang="en-US" altLang="zh-CN" sz="2400" b="1" i="1" dirty="0">
                <a:solidFill>
                  <a:schemeClr val="tx1"/>
                </a:solidFill>
                <a:latin typeface="Trebuchet MS" panose="020B0603020202020204" pitchFamily="34" charset="0"/>
                <a:cs typeface="Times New Roman" panose="02020603050405020304" pitchFamily="18" charset="0"/>
              </a:rPr>
              <a:t>A</a:t>
            </a:r>
            <a:r>
              <a:rPr lang="zh-CN"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 </a:t>
            </a:r>
            <a:r>
              <a:rPr lang="en-US" altLang="zh-CN" sz="2400" dirty="0">
                <a:solidFill>
                  <a:schemeClr val="tx1"/>
                </a:solidFill>
                <a:latin typeface="Trebuchet MS" panose="020B0603020202020204" pitchFamily="34" charset="0"/>
              </a:rPr>
              <a:t>is the least upper bound of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a:t>
            </a:r>
          </a:p>
          <a:p>
            <a:pPr marL="627063" indent="-449263" eaLnBrk="1" hangingPunct="1">
              <a:lnSpc>
                <a:spcPct val="106000"/>
              </a:lnSpc>
              <a:buClr>
                <a:srgbClr val="0B61FF"/>
              </a:buClr>
              <a:buSzPct val="120000"/>
            </a:pPr>
            <a:r>
              <a:rPr lang="en-US" altLang="zh-CN" sz="2400" b="1" dirty="0">
                <a:solidFill>
                  <a:srgbClr val="0B61FF"/>
                </a:solidFill>
                <a:latin typeface="Trebuchet MS" panose="020B0603020202020204" pitchFamily="34" charset="0"/>
                <a:ea typeface="宋体" panose="02010600030101010101" pitchFamily="2" charset="-122"/>
              </a:rPr>
              <a:t>(2)</a:t>
            </a:r>
            <a:r>
              <a:rPr lang="en-US" altLang="zh-CN" sz="2400" b="1" dirty="0">
                <a:solidFill>
                  <a:srgbClr val="0B61FF"/>
                </a:solidFill>
                <a:latin typeface="Trebuchet MS" panose="020B0603020202020204" pitchFamily="34" charset="0"/>
              </a:rPr>
              <a:t> </a:t>
            </a:r>
            <a:r>
              <a:rPr lang="en-US" altLang="zh-CN" sz="2400" b="1" i="1" dirty="0">
                <a:solidFill>
                  <a:srgbClr val="0B61FF"/>
                </a:solidFill>
                <a:latin typeface="Trebuchet MS" panose="020B0603020202020204" pitchFamily="34" charset="0"/>
              </a:rPr>
              <a:t>Check the greatest lower bound</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For any two subsets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C</a:t>
            </a:r>
            <a:r>
              <a:rPr lang="zh-CN"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define their greatest lower bound as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a:t>
            </a:r>
            <a:r>
              <a:rPr lang="en-US" altLang="zh-CN" sz="2400" dirty="0">
                <a:solidFill>
                  <a:schemeClr val="tx1"/>
                </a:solidFill>
                <a:latin typeface="Trebuchet MS" panose="020B0603020202020204" pitchFamily="34" charset="0"/>
              </a:rPr>
              <a:t>. Under the subset relation, any subset </a:t>
            </a:r>
            <a:r>
              <a:rPr lang="en-US" altLang="zh-CN" sz="2400" b="1" i="1" dirty="0">
                <a:solidFill>
                  <a:schemeClr val="tx1"/>
                </a:solidFill>
                <a:latin typeface="Trebuchet MS" panose="020B0603020202020204" pitchFamily="34" charset="0"/>
              </a:rPr>
              <a:t>E</a:t>
            </a:r>
            <a:r>
              <a:rPr lang="en-US" altLang="zh-CN" sz="2400" dirty="0">
                <a:solidFill>
                  <a:schemeClr val="tx1"/>
                </a:solidFill>
                <a:latin typeface="Trebuchet MS" panose="020B0603020202020204" pitchFamily="34" charset="0"/>
              </a:rPr>
              <a:t> that is contained in both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must satisfy </a:t>
            </a:r>
            <a:r>
              <a:rPr lang="en-US" altLang="zh-CN" sz="2400" b="1" i="1" dirty="0">
                <a:solidFill>
                  <a:schemeClr val="tx1"/>
                </a:solidFill>
                <a:latin typeface="Trebuchet MS" panose="020B0603020202020204" pitchFamily="34" charset="0"/>
                <a:cs typeface="Times New Roman" panose="02020603050405020304" pitchFamily="18" charset="0"/>
              </a:rPr>
              <a:t>E</a:t>
            </a:r>
            <a:r>
              <a:rPr lang="en-US"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A</a:t>
            </a:r>
            <a:r>
              <a:rPr lang="en-US" altLang="zh-CN" sz="2400" b="1" i="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a:t>
            </a:r>
            <a:r>
              <a:rPr lang="en-US" altLang="zh-CN" sz="2400" dirty="0">
                <a:solidFill>
                  <a:schemeClr val="tx1"/>
                </a:solidFill>
                <a:latin typeface="Trebuchet MS" panose="020B0603020202020204" pitchFamily="34" charset="0"/>
              </a:rPr>
              <a:t>. Thus,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 </a:t>
            </a:r>
            <a:r>
              <a:rPr lang="en-US" altLang="zh-CN" sz="2400" dirty="0">
                <a:solidFill>
                  <a:schemeClr val="tx1"/>
                </a:solidFill>
                <a:latin typeface="Trebuchet MS" panose="020B0603020202020204" pitchFamily="34" charset="0"/>
              </a:rPr>
              <a:t>is the greatest lower bound of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a:t>
            </a:r>
          </a:p>
          <a:p>
            <a:pPr marL="627063" indent="-449263" eaLnBrk="1" hangingPunct="1">
              <a:lnSpc>
                <a:spcPct val="106000"/>
              </a:lnSpc>
              <a:buClr>
                <a:srgbClr val="0B61FF"/>
              </a:buClr>
              <a:buSzPct val="120000"/>
            </a:pPr>
            <a:r>
              <a:rPr lang="en-US" altLang="zh-CN"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rPr>
              <a:t>(3)</a:t>
            </a:r>
            <a:r>
              <a:rPr lang="zh-CN" altLang="en-US" sz="2400" b="1" dirty="0">
                <a:solidFill>
                  <a:srgbClr val="0B61FF"/>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rPr>
              <a:t> </a:t>
            </a:r>
            <a:r>
              <a:rPr lang="en-US" altLang="zh-CN" sz="2400" dirty="0">
                <a:solidFill>
                  <a:schemeClr val="tx1"/>
                </a:solidFill>
                <a:latin typeface="Trebuchet MS" panose="020B0603020202020204" pitchFamily="34" charset="0"/>
              </a:rPr>
              <a:t>Since for any elements in </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B</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 </a:t>
            </a:r>
            <a:r>
              <a:rPr lang="en-US" altLang="zh-CN" sz="2400" dirty="0">
                <a:solidFill>
                  <a:schemeClr val="tx1"/>
                </a:solidFill>
                <a:latin typeface="Trebuchet MS" panose="020B0603020202020204" pitchFamily="34" charset="0"/>
              </a:rPr>
              <a:t>both the least upper bound </a:t>
            </a:r>
            <a:r>
              <a:rPr lang="en-US" altLang="zh-CN" sz="2400" b="1" i="1" dirty="0">
                <a:solidFill>
                  <a:schemeClr val="tx1"/>
                </a:solidFill>
                <a:latin typeface="Trebuchet MS" panose="020B0603020202020204" pitchFamily="34" charset="0"/>
                <a:cs typeface="Times New Roman" panose="02020603050405020304" pitchFamily="18" charset="0"/>
              </a:rPr>
              <a:t>A</a:t>
            </a:r>
            <a:r>
              <a:rPr lang="zh-CN"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a:t>
            </a:r>
            <a:r>
              <a:rPr lang="zh-CN"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and the greatest lower bound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a:t>
            </a:r>
            <a:r>
              <a:rPr lang="zh-CN"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exist, the partially ordered set </a:t>
            </a:r>
            <a:r>
              <a:rPr lang="en-US" altLang="zh-CN" sz="2400" b="1" dirty="0">
                <a:solidFill>
                  <a:srgbClr val="FF0000"/>
                </a:solidFill>
                <a:latin typeface="Trebuchet MS" panose="020B0603020202020204" pitchFamily="34" charset="0"/>
                <a:cs typeface="Times New Roman" panose="02020603050405020304" pitchFamily="18" charset="0"/>
              </a:rPr>
              <a:t>&lt;</a:t>
            </a:r>
            <a:r>
              <a:rPr lang="en-US" altLang="zh-CN" sz="2400" b="1" i="1" dirty="0">
                <a:solidFill>
                  <a:srgbClr val="FF0000"/>
                </a:solidFill>
                <a:latin typeface="Trebuchet MS" panose="020B0603020202020204" pitchFamily="34" charset="0"/>
                <a:cs typeface="Times New Roman" panose="02020603050405020304" pitchFamily="18" charset="0"/>
              </a:rPr>
              <a:t>P</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i="1" dirty="0">
                <a:solidFill>
                  <a:srgbClr val="FF0000"/>
                </a:solidFill>
                <a:latin typeface="Trebuchet MS" panose="020B0603020202020204" pitchFamily="34" charset="0"/>
                <a:cs typeface="Times New Roman" panose="02020603050405020304" pitchFamily="18" charset="0"/>
              </a:rPr>
              <a:t>B</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solidFill>
                  <a:srgbClr val="FF0000"/>
                </a:solidFill>
                <a:latin typeface="Trebuchet MS" panose="020B0603020202020204" pitchFamily="34" charset="0"/>
                <a:cs typeface="Times New Roman" panose="02020603050405020304" pitchFamily="18" charset="0"/>
              </a:rPr>
              <a:t> &gt; </a:t>
            </a:r>
            <a:r>
              <a:rPr lang="en-US" altLang="zh-CN" sz="2400" b="1" i="1" dirty="0">
                <a:solidFill>
                  <a:srgbClr val="0B61FF"/>
                </a:solidFill>
                <a:latin typeface="Trebuchet MS" panose="020B0603020202020204" pitchFamily="34" charset="0"/>
              </a:rPr>
              <a:t>forms a lattice</a:t>
            </a:r>
            <a:r>
              <a:rPr lang="en-US" altLang="zh-CN" sz="2400" dirty="0">
                <a:solidFill>
                  <a:schemeClr val="tx1"/>
                </a:solidFill>
                <a:latin typeface="Trebuchet MS" panose="020B0603020202020204" pitchFamily="34" charset="0"/>
              </a:rPr>
              <a:t>.</a:t>
            </a:r>
            <a:endParaRPr lang="en-US" altLang="zh-CN" sz="2400" b="1" dirty="0">
              <a:solidFill>
                <a:schemeClr val="tx1"/>
              </a:solidFill>
              <a:latin typeface="Trebuchet MS" panose="020B0603020202020204" pitchFamily="34" charset="0"/>
              <a:ea typeface="+mn-ea"/>
              <a:cs typeface="Times New Roman" panose="02020603050405020304" pitchFamily="18" charset="0"/>
            </a:endParaRPr>
          </a:p>
        </p:txBody>
      </p:sp>
    </p:spTree>
    <p:extLst>
      <p:ext uri="{BB962C8B-B14F-4D97-AF65-F5344CB8AC3E}">
        <p14:creationId xmlns:p14="http://schemas.microsoft.com/office/powerpoint/2010/main" val="2852242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Constructing Examples of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0">
            <a:extLst>
              <a:ext uri="{FF2B5EF4-FFF2-40B4-BE49-F238E27FC236}">
                <a16:creationId xmlns:a16="http://schemas.microsoft.com/office/drawing/2014/main" id="{99350BBC-DD45-4D6C-8747-C2F64D288543}"/>
              </a:ext>
            </a:extLst>
          </p:cNvPr>
          <p:cNvSpPr>
            <a:spLocks noChangeArrowheads="1"/>
          </p:cNvSpPr>
          <p:nvPr/>
        </p:nvSpPr>
        <p:spPr bwMode="auto">
          <a:xfrm>
            <a:off x="824682" y="914374"/>
            <a:ext cx="10786473" cy="449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9875" indent="-269875">
              <a:lnSpc>
                <a:spcPct val="11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 2:</a:t>
            </a:r>
            <a:r>
              <a:rPr lang="en-US" altLang="zh-CN" sz="2400" dirty="0">
                <a:solidFill>
                  <a:schemeClr val="tx1"/>
                </a:solidFill>
                <a:latin typeface="Trebuchet MS" panose="020B0603020202020204" pitchFamily="34" charset="0"/>
              </a:rPr>
              <a:t> Determine whether the partially ordered set </a:t>
            </a:r>
            <a:r>
              <a:rPr lang="en-US" altLang="zh-CN" sz="2400" b="1" dirty="0">
                <a:solidFill>
                  <a:schemeClr val="tx1"/>
                </a:solidFill>
                <a:latin typeface="Trebuchet MS" panose="020B0603020202020204" pitchFamily="34" charset="0"/>
                <a:sym typeface="Symbol" panose="05050102010706020507" pitchFamily="18" charset="2"/>
              </a:rPr>
              <a:t>&lt;Z, ≤ &gt; </a:t>
            </a:r>
            <a:r>
              <a:rPr lang="en-US" altLang="zh-CN" sz="2400" dirty="0">
                <a:solidFill>
                  <a:schemeClr val="tx1"/>
                </a:solidFill>
                <a:latin typeface="Trebuchet MS" panose="020B0603020202020204" pitchFamily="34" charset="0"/>
              </a:rPr>
              <a:t>forms a lattice, where </a:t>
            </a:r>
            <a:r>
              <a:rPr lang="en-US" altLang="zh-CN" sz="2400" b="1" dirty="0">
                <a:solidFill>
                  <a:schemeClr val="tx1"/>
                </a:solidFill>
                <a:latin typeface="Trebuchet MS" panose="020B0603020202020204" pitchFamily="34" charset="0"/>
                <a:sym typeface="Symbol" panose="05050102010706020507" pitchFamily="18" charset="2"/>
              </a:rPr>
              <a:t>Z  </a:t>
            </a:r>
            <a:r>
              <a:rPr lang="en-US" altLang="zh-CN" sz="2400" dirty="0">
                <a:solidFill>
                  <a:schemeClr val="tx1"/>
                </a:solidFill>
                <a:latin typeface="Trebuchet MS" panose="020B0603020202020204" pitchFamily="34" charset="0"/>
              </a:rPr>
              <a:t>is the set of integers and </a:t>
            </a:r>
            <a:r>
              <a:rPr lang="zh-CN" altLang="en-US"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is the less-than-or-equal-to relation.</a:t>
            </a:r>
          </a:p>
          <a:p>
            <a:pPr marL="342900" indent="-165100">
              <a:lnSpc>
                <a:spcPct val="110000"/>
              </a:lnSpc>
              <a:buClr>
                <a:srgbClr val="0B61FF"/>
              </a:buClr>
              <a:buSzPct val="120000"/>
              <a:buFont typeface="Arial" panose="020B0604020202020204" pitchFamily="34" charset="0"/>
              <a:buChar char="•"/>
              <a:tabLst>
                <a:tab pos="177800" algn="l"/>
              </a:tabLst>
            </a:pPr>
            <a:r>
              <a:rPr lang="en-US" altLang="zh-CN" sz="2400" b="1" dirty="0">
                <a:solidFill>
                  <a:schemeClr val="tx1"/>
                </a:solidFill>
                <a:latin typeface="Trebuchet MS" panose="020B0603020202020204" pitchFamily="34" charset="0"/>
              </a:rPr>
              <a:t>Solution:</a:t>
            </a:r>
          </a:p>
          <a:p>
            <a:pPr marL="627063" indent="-449263">
              <a:lnSpc>
                <a:spcPct val="110000"/>
              </a:lnSpc>
              <a:buClr>
                <a:srgbClr val="0B61FF"/>
              </a:buClr>
              <a:buSzPct val="120000"/>
              <a:tabLst>
                <a:tab pos="177800" algn="l"/>
              </a:tabLst>
            </a:pPr>
            <a:r>
              <a:rPr lang="en-US" altLang="zh-CN" sz="2400" b="1" dirty="0">
                <a:solidFill>
                  <a:srgbClr val="0B61FF"/>
                </a:solidFill>
                <a:latin typeface="Trebuchet MS" panose="020B0603020202020204" pitchFamily="34" charset="0"/>
              </a:rPr>
              <a:t>(1) </a:t>
            </a:r>
            <a:r>
              <a:rPr lang="en-US" altLang="zh-CN" sz="2400" dirty="0">
                <a:solidFill>
                  <a:schemeClr val="tx1"/>
                </a:solidFill>
                <a:latin typeface="Trebuchet MS" panose="020B0603020202020204" pitchFamily="34" charset="0"/>
              </a:rPr>
              <a:t>For any two elements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dirty="0">
                <a:solidFill>
                  <a:schemeClr val="tx1"/>
                </a:solidFill>
                <a:latin typeface="Trebuchet MS" panose="020B0603020202020204" pitchFamily="34" charset="0"/>
              </a:rPr>
              <a:t> in </a:t>
            </a:r>
            <a:r>
              <a:rPr lang="en-US" altLang="zh-CN" sz="2400" b="1" dirty="0">
                <a:solidFill>
                  <a:schemeClr val="tx1"/>
                </a:solidFill>
                <a:latin typeface="Trebuchet MS" panose="020B0603020202020204" pitchFamily="34" charset="0"/>
                <a:sym typeface="Symbol" panose="05050102010706020507" pitchFamily="18" charset="2"/>
              </a:rPr>
              <a:t>Z</a:t>
            </a:r>
            <a:r>
              <a:rPr lang="en-US" altLang="zh-CN" sz="2400" dirty="0">
                <a:solidFill>
                  <a:schemeClr val="tx1"/>
                </a:solidFill>
                <a:latin typeface="Trebuchet MS" panose="020B0603020202020204" pitchFamily="34" charset="0"/>
              </a:rPr>
              <a:t>, the </a:t>
            </a:r>
            <a:r>
              <a:rPr lang="en-US" altLang="zh-CN" sz="2400" b="1" dirty="0">
                <a:solidFill>
                  <a:schemeClr val="tx1"/>
                </a:solidFill>
                <a:latin typeface="Trebuchet MS" panose="020B0603020202020204" pitchFamily="34" charset="0"/>
              </a:rPr>
              <a:t>least upper bound</a:t>
            </a:r>
            <a:r>
              <a:rPr lang="en-US" altLang="zh-CN" sz="2400" dirty="0">
                <a:solidFill>
                  <a:schemeClr val="tx1"/>
                </a:solidFill>
                <a:latin typeface="Trebuchet MS" panose="020B0603020202020204" pitchFamily="34" charset="0"/>
              </a:rPr>
              <a:t> is the greater of the two: </a:t>
            </a:r>
            <a:r>
              <a:rPr lang="en-US" altLang="zh-CN" sz="2400" b="1" i="1" kern="100" dirty="0">
                <a:solidFill>
                  <a:schemeClr val="tx1"/>
                </a:solidFill>
                <a:latin typeface="Trebuchet MS" panose="020B0603020202020204" pitchFamily="34" charset="0"/>
                <a:cs typeface="Times New Roman" panose="02020603050405020304" pitchFamily="18" charset="0"/>
              </a:rPr>
              <a:t>a</a:t>
            </a:r>
            <a:r>
              <a:rPr lang="zh-CN" altLang="zh-CN" sz="2400" b="1" kern="100" dirty="0">
                <a:solidFill>
                  <a:schemeClr val="tx1"/>
                </a:solidFill>
                <a:latin typeface="Trebuchet MS" panose="020B0603020202020204" pitchFamily="34" charset="0"/>
                <a:cs typeface="Times New Roman" panose="02020603050405020304" pitchFamily="18" charset="0"/>
              </a:rPr>
              <a:t>∨</a:t>
            </a:r>
            <a:r>
              <a:rPr lang="en-US" altLang="zh-CN" sz="2400" b="1" i="1" kern="100" dirty="0">
                <a:solidFill>
                  <a:schemeClr val="tx1"/>
                </a:solidFill>
                <a:latin typeface="Trebuchet MS" panose="020B0603020202020204" pitchFamily="34" charset="0"/>
                <a:cs typeface="Times New Roman" panose="02020603050405020304" pitchFamily="18" charset="0"/>
              </a:rPr>
              <a:t>b</a:t>
            </a:r>
            <a:r>
              <a:rPr lang="en-US" altLang="zh-CN" sz="2400" b="1" kern="100" dirty="0">
                <a:solidFill>
                  <a:schemeClr val="tx1"/>
                </a:solidFill>
                <a:latin typeface="Trebuchet MS" panose="020B0603020202020204" pitchFamily="34" charset="0"/>
                <a:cs typeface="Times New Roman" panose="02020603050405020304" pitchFamily="18" charset="0"/>
              </a:rPr>
              <a:t>=max(</a:t>
            </a:r>
            <a:r>
              <a:rPr lang="en-US" altLang="zh-CN" sz="2400" b="1" i="1" kern="100" dirty="0" err="1">
                <a:solidFill>
                  <a:schemeClr val="tx1"/>
                </a:solidFill>
                <a:latin typeface="Trebuchet MS" panose="020B0603020202020204" pitchFamily="34" charset="0"/>
                <a:cs typeface="Times New Roman" panose="02020603050405020304" pitchFamily="18" charset="0"/>
              </a:rPr>
              <a:t>a</a:t>
            </a:r>
            <a:r>
              <a:rPr lang="en-US" altLang="zh-CN" sz="2400" b="1" kern="100" dirty="0" err="1">
                <a:solidFill>
                  <a:schemeClr val="tx1"/>
                </a:solidFill>
                <a:latin typeface="Trebuchet MS" panose="020B0603020202020204" pitchFamily="34" charset="0"/>
                <a:cs typeface="Times New Roman" panose="02020603050405020304" pitchFamily="18" charset="0"/>
              </a:rPr>
              <a:t>,</a:t>
            </a:r>
            <a:r>
              <a:rPr lang="en-US" altLang="zh-CN" sz="2400" b="1" i="1" kern="100" dirty="0" err="1">
                <a:solidFill>
                  <a:schemeClr val="tx1"/>
                </a:solidFill>
                <a:latin typeface="Trebuchet MS" panose="020B0603020202020204" pitchFamily="34" charset="0"/>
                <a:cs typeface="Times New Roman" panose="02020603050405020304" pitchFamily="18" charset="0"/>
              </a:rPr>
              <a:t>b</a:t>
            </a:r>
            <a:r>
              <a:rPr lang="en-US" altLang="zh-CN" sz="2400" b="1" kern="100" dirty="0">
                <a:solidFill>
                  <a:schemeClr val="tx1"/>
                </a:solidFill>
                <a:latin typeface="Trebuchet MS" panose="020B0603020202020204" pitchFamily="34" charset="0"/>
                <a:cs typeface="Times New Roman" panose="02020603050405020304" pitchFamily="18" charset="0"/>
              </a:rPr>
              <a:t>).</a:t>
            </a:r>
          </a:p>
          <a:p>
            <a:pPr marL="627063" indent="-449263">
              <a:lnSpc>
                <a:spcPct val="110000"/>
              </a:lnSpc>
              <a:buClr>
                <a:srgbClr val="0B61FF"/>
              </a:buClr>
              <a:buSzPct val="120000"/>
              <a:tabLst>
                <a:tab pos="177800" algn="l"/>
              </a:tabLst>
            </a:pPr>
            <a:r>
              <a:rPr lang="en-US" altLang="zh-CN" sz="2400" b="1" dirty="0">
                <a:solidFill>
                  <a:srgbClr val="0B61FF"/>
                </a:solidFill>
                <a:latin typeface="Trebuchet MS" panose="020B0603020202020204" pitchFamily="34" charset="0"/>
              </a:rPr>
              <a:t>(2) </a:t>
            </a:r>
            <a:r>
              <a:rPr lang="en-US" altLang="zh-CN" sz="2400" dirty="0">
                <a:solidFill>
                  <a:schemeClr val="tx1"/>
                </a:solidFill>
                <a:latin typeface="Trebuchet MS" panose="020B0603020202020204" pitchFamily="34" charset="0"/>
              </a:rPr>
              <a:t>For any two elements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dirty="0">
                <a:solidFill>
                  <a:schemeClr val="tx1"/>
                </a:solidFill>
                <a:latin typeface="Trebuchet MS" panose="020B0603020202020204" pitchFamily="34" charset="0"/>
              </a:rPr>
              <a:t> in </a:t>
            </a:r>
            <a:r>
              <a:rPr lang="en-US" altLang="zh-CN" sz="2400" b="1" dirty="0">
                <a:solidFill>
                  <a:schemeClr val="tx1"/>
                </a:solidFill>
                <a:latin typeface="Trebuchet MS" panose="020B0603020202020204" pitchFamily="34" charset="0"/>
                <a:cs typeface="Times New Roman" panose="02020603050405020304" pitchFamily="18" charset="0"/>
              </a:rPr>
              <a:t>Z</a:t>
            </a:r>
            <a:r>
              <a:rPr lang="en-US" altLang="zh-CN" sz="2400" dirty="0">
                <a:solidFill>
                  <a:schemeClr val="tx1"/>
                </a:solidFill>
                <a:latin typeface="Trebuchet MS" panose="020B0603020202020204" pitchFamily="34" charset="0"/>
              </a:rPr>
              <a:t>, the </a:t>
            </a:r>
            <a:r>
              <a:rPr lang="en-US" altLang="zh-CN" sz="2400" b="1" dirty="0">
                <a:solidFill>
                  <a:schemeClr val="tx1"/>
                </a:solidFill>
                <a:latin typeface="Trebuchet MS" panose="020B0603020202020204" pitchFamily="34" charset="0"/>
              </a:rPr>
              <a:t>greatest lower bound</a:t>
            </a:r>
            <a:r>
              <a:rPr lang="en-US" altLang="zh-CN" sz="2400" dirty="0">
                <a:solidFill>
                  <a:schemeClr val="tx1"/>
                </a:solidFill>
                <a:latin typeface="Trebuchet MS" panose="020B0603020202020204" pitchFamily="34" charset="0"/>
              </a:rPr>
              <a:t> is the smaller of the two: </a:t>
            </a:r>
            <a:r>
              <a:rPr lang="en-US" altLang="zh-CN" sz="2400" b="1" i="1" dirty="0">
                <a:solidFill>
                  <a:schemeClr val="tx1"/>
                </a:solidFill>
                <a:latin typeface="Trebuchet MS" panose="020B0603020202020204" pitchFamily="34" charset="0"/>
                <a:cs typeface="Times New Roman" panose="02020603050405020304" pitchFamily="18" charset="0"/>
              </a:rPr>
              <a:t>a</a:t>
            </a:r>
            <a:r>
              <a:rPr lang="zh-CN"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b</a:t>
            </a:r>
            <a:r>
              <a:rPr lang="en-US" altLang="zh-CN" sz="2400" b="1" i="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min</a:t>
            </a:r>
            <a:r>
              <a:rPr lang="en-US" altLang="zh-CN" sz="2400" b="1" i="1" dirty="0">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a,b</a:t>
            </a:r>
            <a:r>
              <a:rPr lang="en-US" altLang="zh-CN" sz="2400" b="1" i="1" dirty="0">
                <a:solidFill>
                  <a:schemeClr val="tx1"/>
                </a:solidFill>
                <a:latin typeface="Trebuchet MS" panose="020B0603020202020204" pitchFamily="34" charset="0"/>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rPr>
              <a:t>.</a:t>
            </a:r>
          </a:p>
          <a:p>
            <a:pPr marL="627063" indent="-449263">
              <a:lnSpc>
                <a:spcPct val="110000"/>
              </a:lnSpc>
              <a:buClr>
                <a:srgbClr val="0B61FF"/>
              </a:buClr>
              <a:buSzPct val="120000"/>
              <a:tabLst>
                <a:tab pos="177800" algn="l"/>
              </a:tabLst>
            </a:pPr>
            <a:r>
              <a:rPr lang="en-US" altLang="zh-CN" sz="2400" b="1" dirty="0">
                <a:solidFill>
                  <a:srgbClr val="0B61FF"/>
                </a:solidFill>
                <a:latin typeface="Trebuchet MS" panose="020B0603020202020204" pitchFamily="34" charset="0"/>
                <a:cs typeface="Times New Roman" panose="02020603050405020304" pitchFamily="18" charset="0"/>
              </a:rPr>
              <a:t>(3) </a:t>
            </a:r>
            <a:r>
              <a:rPr lang="en-US" altLang="zh-CN" sz="2400" dirty="0">
                <a:solidFill>
                  <a:schemeClr val="tx1"/>
                </a:solidFill>
                <a:latin typeface="Trebuchet MS" panose="020B0603020202020204" pitchFamily="34" charset="0"/>
              </a:rPr>
              <a:t>Since these conditions hold for all pairs of integers </a:t>
            </a:r>
            <a:r>
              <a:rPr lang="en-US" altLang="zh-CN" sz="2400" b="1" i="1" kern="100" dirty="0">
                <a:solidFill>
                  <a:schemeClr val="tx1"/>
                </a:solidFill>
                <a:latin typeface="Trebuchet MS" panose="020B0603020202020204" pitchFamily="34" charset="0"/>
                <a:cs typeface="Times New Roman" panose="02020603050405020304" pitchFamily="18" charset="0"/>
              </a:rPr>
              <a:t>a</a:t>
            </a:r>
            <a:r>
              <a:rPr lang="en-US" altLang="zh-CN" sz="2400" dirty="0">
                <a:solidFill>
                  <a:schemeClr val="tx1"/>
                </a:solidFill>
                <a:latin typeface="Trebuchet MS" panose="020B0603020202020204" pitchFamily="34" charset="0"/>
              </a:rPr>
              <a:t> and </a:t>
            </a:r>
            <a:r>
              <a:rPr lang="en-US" altLang="zh-CN" sz="2400" b="1" i="1" kern="100" dirty="0">
                <a:solidFill>
                  <a:schemeClr val="tx1"/>
                </a:solidFill>
                <a:latin typeface="Trebuchet MS" panose="020B0603020202020204" pitchFamily="34" charset="0"/>
                <a:cs typeface="Times New Roman" panose="02020603050405020304" pitchFamily="18" charset="0"/>
              </a:rPr>
              <a:t>b</a:t>
            </a:r>
            <a:r>
              <a:rPr lang="en-US" altLang="zh-CN" sz="2400" dirty="0">
                <a:solidFill>
                  <a:schemeClr val="tx1"/>
                </a:solidFill>
                <a:latin typeface="Trebuchet MS" panose="020B0603020202020204" pitchFamily="34" charset="0"/>
              </a:rPr>
              <a:t>, the partially ordered set </a:t>
            </a:r>
            <a:r>
              <a:rPr lang="en-US" altLang="zh-CN" sz="2400" b="1" dirty="0">
                <a:solidFill>
                  <a:srgbClr val="FF0000"/>
                </a:solidFill>
                <a:latin typeface="Trebuchet MS" panose="020B0603020202020204" pitchFamily="34" charset="0"/>
                <a:cs typeface="Times New Roman" panose="02020603050405020304" pitchFamily="18" charset="0"/>
              </a:rPr>
              <a:t>⟨Z,≤⟩</a:t>
            </a:r>
            <a:r>
              <a:rPr lang="en-US" altLang="zh-CN" sz="2400" dirty="0">
                <a:solidFill>
                  <a:schemeClr val="tx1"/>
                </a:solidFill>
                <a:latin typeface="Trebuchet MS" panose="020B0603020202020204" pitchFamily="34" charset="0"/>
              </a:rPr>
              <a:t> </a:t>
            </a:r>
            <a:r>
              <a:rPr lang="en-US" altLang="zh-CN" sz="2400" b="1" i="1" dirty="0">
                <a:solidFill>
                  <a:srgbClr val="0B61FF"/>
                </a:solidFill>
                <a:latin typeface="Trebuchet MS" panose="020B0603020202020204" pitchFamily="34" charset="0"/>
              </a:rPr>
              <a:t>satisfies the definition of a lattice</a:t>
            </a:r>
            <a:r>
              <a:rPr lang="en-US" altLang="zh-CN" sz="2400" dirty="0">
                <a:solidFill>
                  <a:schemeClr val="tx1"/>
                </a:solidFill>
                <a:latin typeface="Trebuchet MS" panose="020B0603020202020204" pitchFamily="34" charset="0"/>
              </a:rPr>
              <a:t>.</a:t>
            </a:r>
          </a:p>
        </p:txBody>
      </p:sp>
    </p:spTree>
    <p:extLst>
      <p:ext uri="{BB962C8B-B14F-4D97-AF65-F5344CB8AC3E}">
        <p14:creationId xmlns:p14="http://schemas.microsoft.com/office/powerpoint/2010/main" val="2842904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1000"/>
                                        <p:tgtEl>
                                          <p:spTgt spid="12">
                                            <p:txEl>
                                              <p:pRg st="2" end="2"/>
                                            </p:txEl>
                                          </p:spTgt>
                                        </p:tgtEl>
                                      </p:cBhvr>
                                    </p:animEffect>
                                    <p:anim calcmode="lin" valueType="num">
                                      <p:cBhvr>
                                        <p:cTn id="13"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fade">
                                      <p:cBhvr>
                                        <p:cTn id="19" dur="1000"/>
                                        <p:tgtEl>
                                          <p:spTgt spid="12">
                                            <p:txEl>
                                              <p:pRg st="3" end="3"/>
                                            </p:txEl>
                                          </p:spTgt>
                                        </p:tgtEl>
                                      </p:cBhvr>
                                    </p:animEffect>
                                    <p:anim calcmode="lin" valueType="num">
                                      <p:cBhvr>
                                        <p:cTn id="20"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2">
                                            <p:txEl>
                                              <p:pRg st="4" end="4"/>
                                            </p:txEl>
                                          </p:spTgt>
                                        </p:tgtEl>
                                        <p:attrNameLst>
                                          <p:attrName>style.visibility</p:attrName>
                                        </p:attrNameLst>
                                      </p:cBhvr>
                                      <p:to>
                                        <p:strVal val="visible"/>
                                      </p:to>
                                    </p:set>
                                    <p:animEffect transition="in" filter="fade">
                                      <p:cBhvr>
                                        <p:cTn id="26" dur="1000"/>
                                        <p:tgtEl>
                                          <p:spTgt spid="12">
                                            <p:txEl>
                                              <p:pRg st="4" end="4"/>
                                            </p:txEl>
                                          </p:spTgt>
                                        </p:tgtEl>
                                      </p:cBhvr>
                                    </p:animEffect>
                                    <p:anim calcmode="lin" valueType="num">
                                      <p:cBhvr>
                                        <p:cTn id="27"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CE883-0A2B-A0AD-A993-58033556F1A7}"/>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82DD81E3-2F24-5476-788B-CEF3A4C0A0E6}"/>
              </a:ext>
            </a:extLst>
          </p:cNvPr>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Constructing Examples of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a:extLst>
              <a:ext uri="{FF2B5EF4-FFF2-40B4-BE49-F238E27FC236}">
                <a16:creationId xmlns:a16="http://schemas.microsoft.com/office/drawing/2014/main" id="{E98B09B8-C4E0-941D-0C00-BA4DBC249ADC}"/>
              </a:ext>
            </a:extLst>
          </p:cNvPr>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a:extLst>
              <a:ext uri="{FF2B5EF4-FFF2-40B4-BE49-F238E27FC236}">
                <a16:creationId xmlns:a16="http://schemas.microsoft.com/office/drawing/2014/main" id="{4156ECB2-12DE-4338-E377-70E72F3D8B07}"/>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a:extLst>
              <a:ext uri="{FF2B5EF4-FFF2-40B4-BE49-F238E27FC236}">
                <a16:creationId xmlns:a16="http://schemas.microsoft.com/office/drawing/2014/main" id="{9FB796BC-CD0D-4886-5A18-E21C3C20EC84}"/>
              </a:ext>
            </a:extLst>
          </p:cNvPr>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DC5ADC92-C1F7-0D55-77BF-91FCE6B0C042}"/>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0">
            <a:extLst>
              <a:ext uri="{FF2B5EF4-FFF2-40B4-BE49-F238E27FC236}">
                <a16:creationId xmlns:a16="http://schemas.microsoft.com/office/drawing/2014/main" id="{D11D2954-1984-5954-6BD6-77B09D3E6850}"/>
              </a:ext>
            </a:extLst>
          </p:cNvPr>
          <p:cNvSpPr>
            <a:spLocks noChangeArrowheads="1"/>
          </p:cNvSpPr>
          <p:nvPr/>
        </p:nvSpPr>
        <p:spPr bwMode="auto">
          <a:xfrm>
            <a:off x="824682" y="868731"/>
            <a:ext cx="7997265" cy="42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9875" indent="-269875">
              <a:lnSpc>
                <a:spcPct val="105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 3:</a:t>
            </a:r>
            <a:r>
              <a:rPr lang="en-US" altLang="zh-CN" sz="2400" dirty="0">
                <a:solidFill>
                  <a:schemeClr val="tx1"/>
                </a:solidFill>
                <a:latin typeface="Trebuchet MS" panose="020B0603020202020204" pitchFamily="34" charset="0"/>
              </a:rPr>
              <a:t> Determine whether the structure forms a lattice based on the </a:t>
            </a:r>
            <a:r>
              <a:rPr lang="en-US" altLang="zh-CN" sz="2400" dirty="0" err="1">
                <a:solidFill>
                  <a:schemeClr val="tx1"/>
                </a:solidFill>
                <a:latin typeface="Trebuchet MS" panose="020B0603020202020204" pitchFamily="34" charset="0"/>
              </a:rPr>
              <a:t>Hasse</a:t>
            </a:r>
            <a:r>
              <a:rPr lang="en-US" altLang="zh-CN" sz="2400" dirty="0">
                <a:solidFill>
                  <a:schemeClr val="tx1"/>
                </a:solidFill>
                <a:latin typeface="Trebuchet MS" panose="020B0603020202020204" pitchFamily="34" charset="0"/>
              </a:rPr>
              <a:t> diagram of the partially ordered set.</a:t>
            </a:r>
            <a:endParaRPr lang="en-US" altLang="zh-CN" sz="2400" b="1" dirty="0">
              <a:solidFill>
                <a:schemeClr val="tx1"/>
              </a:solidFill>
              <a:latin typeface="Trebuchet MS" panose="020B0603020202020204" pitchFamily="34" charset="0"/>
            </a:endParaRPr>
          </a:p>
          <a:p>
            <a:pPr marL="342900" indent="-342900">
              <a:lnSpc>
                <a:spcPct val="105000"/>
              </a:lnSpc>
              <a:buClr>
                <a:srgbClr val="0B61FF"/>
              </a:buClr>
              <a:buSzPct val="120000"/>
              <a:buFont typeface="Arial" panose="020B0604020202020204" pitchFamily="34" charset="0"/>
              <a:buChar char="•"/>
            </a:pPr>
            <a:r>
              <a:rPr lang="en-US" altLang="zh-CN" sz="2400" b="1" dirty="0">
                <a:solidFill>
                  <a:schemeClr val="tx1"/>
                </a:solidFill>
                <a:latin typeface="Trebuchet MS" panose="020B0603020202020204" pitchFamily="34" charset="0"/>
              </a:rPr>
              <a:t>Solution</a:t>
            </a:r>
            <a:r>
              <a:rPr lang="en-US" altLang="zh-CN" sz="2400" b="1" dirty="0">
                <a:solidFill>
                  <a:schemeClr val="tx1"/>
                </a:solidFill>
                <a:latin typeface="Trebuchet MS" panose="020B0603020202020204" pitchFamily="34" charset="0"/>
                <a:sym typeface="Wingdings" panose="05000000000000000000" pitchFamily="2" charset="2"/>
              </a:rPr>
              <a:t>:</a:t>
            </a:r>
            <a:r>
              <a:rPr lang="zh-CN" altLang="en-US" sz="2400" b="1" dirty="0">
                <a:solidFill>
                  <a:schemeClr val="tx1"/>
                </a:solidFill>
                <a:latin typeface="Trebuchet MS" panose="020B0603020202020204" pitchFamily="34" charset="0"/>
                <a:sym typeface="Wingdings" panose="05000000000000000000" pitchFamily="2" charset="2"/>
              </a:rPr>
              <a:t> </a:t>
            </a:r>
            <a:endParaRPr lang="en-US" altLang="zh-CN" sz="2400" b="1" dirty="0">
              <a:solidFill>
                <a:schemeClr val="tx1"/>
              </a:solidFill>
              <a:latin typeface="Trebuchet MS" panose="020B0603020202020204" pitchFamily="34" charset="0"/>
              <a:sym typeface="Wingdings" panose="05000000000000000000" pitchFamily="2" charset="2"/>
            </a:endParaRPr>
          </a:p>
          <a:p>
            <a:pPr marL="719138" indent="-449263">
              <a:lnSpc>
                <a:spcPct val="105000"/>
              </a:lnSpc>
              <a:buClr>
                <a:srgbClr val="0B61FF"/>
              </a:buClr>
              <a:buSzPct val="80000"/>
            </a:pPr>
            <a:r>
              <a:rPr lang="en-US" altLang="zh-CN" sz="2400" b="1" dirty="0">
                <a:solidFill>
                  <a:srgbClr val="0B61FF"/>
                </a:solidFill>
                <a:latin typeface="Trebuchet MS" panose="020B0603020202020204" pitchFamily="34" charset="0"/>
                <a:sym typeface="Wingdings" panose="05000000000000000000" pitchFamily="2" charset="2"/>
              </a:rPr>
              <a:t>(1) </a:t>
            </a:r>
            <a:r>
              <a:rPr lang="en-US" altLang="zh-CN" sz="2400" dirty="0">
                <a:solidFill>
                  <a:schemeClr val="tx1"/>
                </a:solidFill>
                <a:latin typeface="Trebuchet MS" panose="020B0603020202020204" pitchFamily="34" charset="0"/>
              </a:rPr>
              <a:t>In diagram (</a:t>
            </a:r>
            <a:r>
              <a:rPr lang="en-US" altLang="zh-CN" sz="2400" b="1" dirty="0">
                <a:solidFill>
                  <a:schemeClr val="tx1"/>
                </a:solidFill>
                <a:latin typeface="Trebuchet MS" panose="020B0603020202020204" pitchFamily="34" charset="0"/>
              </a:rPr>
              <a:t>F1</a:t>
            </a:r>
            <a:r>
              <a:rPr lang="en-US" altLang="zh-CN" sz="2400" dirty="0">
                <a:solidFill>
                  <a:schemeClr val="tx1"/>
                </a:solidFill>
                <a:latin typeface="Trebuchet MS" panose="020B0603020202020204" pitchFamily="34" charset="0"/>
              </a:rPr>
              <a:t>), elements </a:t>
            </a:r>
            <a:r>
              <a:rPr lang="en-US" altLang="zh-CN" sz="2400" b="1" i="1" dirty="0">
                <a:solidFill>
                  <a:schemeClr val="tx1"/>
                </a:solidFill>
                <a:latin typeface="Trebuchet MS" panose="020B0603020202020204" pitchFamily="34" charset="0"/>
              </a:rPr>
              <a:t>e</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f</a:t>
            </a:r>
            <a:r>
              <a:rPr lang="en-US" altLang="zh-CN" sz="2400" dirty="0">
                <a:solidFill>
                  <a:schemeClr val="tx1"/>
                </a:solidFill>
                <a:latin typeface="Trebuchet MS" panose="020B0603020202020204" pitchFamily="34" charset="0"/>
              </a:rPr>
              <a:t> have no common upper bound, so a least upper bound cannot be determined. Similarly,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have no common lower bound, so a </a:t>
            </a:r>
            <a:r>
              <a:rPr lang="en-US" altLang="zh-CN" sz="2400" b="1" dirty="0">
                <a:solidFill>
                  <a:schemeClr val="tx1"/>
                </a:solidFill>
                <a:latin typeface="Trebuchet MS" panose="020B0603020202020204" pitchFamily="34" charset="0"/>
              </a:rPr>
              <a:t>greatest lower bound cannot be determined</a:t>
            </a:r>
            <a:r>
              <a:rPr lang="en-US" altLang="zh-CN" sz="2400" dirty="0">
                <a:solidFill>
                  <a:schemeClr val="tx1"/>
                </a:solidFill>
                <a:latin typeface="Trebuchet MS" panose="020B0603020202020204" pitchFamily="34" charset="0"/>
              </a:rPr>
              <a:t>. Therefore, the structure </a:t>
            </a:r>
            <a:r>
              <a:rPr lang="en-US" altLang="zh-CN" sz="2400" b="1" i="1" dirty="0">
                <a:solidFill>
                  <a:srgbClr val="0B61FF"/>
                </a:solidFill>
                <a:latin typeface="Trebuchet MS" panose="020B0603020202020204" pitchFamily="34" charset="0"/>
              </a:rPr>
              <a:t>does not form a lattice</a:t>
            </a:r>
            <a:r>
              <a:rPr lang="en-US" altLang="zh-CN" sz="2400" dirty="0">
                <a:solidFill>
                  <a:schemeClr val="tx1"/>
                </a:solidFill>
                <a:latin typeface="Trebuchet MS" panose="020B0603020202020204" pitchFamily="34" charset="0"/>
              </a:rPr>
              <a:t>.</a:t>
            </a:r>
          </a:p>
          <a:p>
            <a:pPr>
              <a:lnSpc>
                <a:spcPct val="105000"/>
              </a:lnSpc>
            </a:pPr>
            <a:endParaRPr lang="en-US" altLang="zh-CN" sz="2400" dirty="0">
              <a:solidFill>
                <a:schemeClr val="tx1"/>
              </a:solidFill>
              <a:latin typeface="Trebuchet MS" panose="020B0603020202020204" pitchFamily="34" charset="0"/>
            </a:endParaRPr>
          </a:p>
        </p:txBody>
      </p:sp>
      <p:pic>
        <p:nvPicPr>
          <p:cNvPr id="4" name="图片 3">
            <a:extLst>
              <a:ext uri="{FF2B5EF4-FFF2-40B4-BE49-F238E27FC236}">
                <a16:creationId xmlns:a16="http://schemas.microsoft.com/office/drawing/2014/main" id="{A4598910-D19C-46CC-B55C-AE313625BA9F}"/>
              </a:ext>
            </a:extLst>
          </p:cNvPr>
          <p:cNvPicPr>
            <a:picLocks noChangeAspect="1"/>
          </p:cNvPicPr>
          <p:nvPr/>
        </p:nvPicPr>
        <p:blipFill>
          <a:blip r:embed="rId5"/>
          <a:stretch>
            <a:fillRect/>
          </a:stretch>
        </p:blipFill>
        <p:spPr>
          <a:xfrm>
            <a:off x="9094017" y="2441941"/>
            <a:ext cx="1742081" cy="2916301"/>
          </a:xfrm>
          <a:prstGeom prst="rect">
            <a:avLst/>
          </a:prstGeom>
        </p:spPr>
      </p:pic>
    </p:spTree>
    <p:extLst>
      <p:ext uri="{BB962C8B-B14F-4D97-AF65-F5344CB8AC3E}">
        <p14:creationId xmlns:p14="http://schemas.microsoft.com/office/powerpoint/2010/main" val="29868713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1000"/>
                                        <p:tgtEl>
                                          <p:spTgt spid="12">
                                            <p:txEl>
                                              <p:pRg st="2" end="2"/>
                                            </p:txEl>
                                          </p:spTgt>
                                        </p:tgtEl>
                                      </p:cBhvr>
                                    </p:animEffect>
                                    <p:anim calcmode="lin" valueType="num">
                                      <p:cBhvr>
                                        <p:cTn id="13"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CE883-0A2B-A0AD-A993-58033556F1A7}"/>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82DD81E3-2F24-5476-788B-CEF3A4C0A0E6}"/>
              </a:ext>
            </a:extLst>
          </p:cNvPr>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Constructing Examples of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a:extLst>
              <a:ext uri="{FF2B5EF4-FFF2-40B4-BE49-F238E27FC236}">
                <a16:creationId xmlns:a16="http://schemas.microsoft.com/office/drawing/2014/main" id="{E98B09B8-C4E0-941D-0C00-BA4DBC249ADC}"/>
              </a:ext>
            </a:extLst>
          </p:cNvPr>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a:extLst>
              <a:ext uri="{FF2B5EF4-FFF2-40B4-BE49-F238E27FC236}">
                <a16:creationId xmlns:a16="http://schemas.microsoft.com/office/drawing/2014/main" id="{4156ECB2-12DE-4338-E377-70E72F3D8B07}"/>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a:extLst>
              <a:ext uri="{FF2B5EF4-FFF2-40B4-BE49-F238E27FC236}">
                <a16:creationId xmlns:a16="http://schemas.microsoft.com/office/drawing/2014/main" id="{9FB796BC-CD0D-4886-5A18-E21C3C20EC84}"/>
              </a:ext>
            </a:extLst>
          </p:cNvPr>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DC5ADC92-C1F7-0D55-77BF-91FCE6B0C042}"/>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10">
            <a:extLst>
              <a:ext uri="{FF2B5EF4-FFF2-40B4-BE49-F238E27FC236}">
                <a16:creationId xmlns:a16="http://schemas.microsoft.com/office/drawing/2014/main" id="{D11D2954-1984-5954-6BD6-77B09D3E6850}"/>
              </a:ext>
            </a:extLst>
          </p:cNvPr>
          <p:cNvSpPr>
            <a:spLocks noChangeArrowheads="1"/>
          </p:cNvSpPr>
          <p:nvPr/>
        </p:nvSpPr>
        <p:spPr bwMode="auto">
          <a:xfrm>
            <a:off x="429904" y="698225"/>
            <a:ext cx="9048466" cy="5696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9875" indent="-269875">
              <a:lnSpc>
                <a:spcPct val="102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Solution</a:t>
            </a:r>
            <a:r>
              <a:rPr lang="en-US" altLang="zh-CN" sz="2400" b="1" dirty="0">
                <a:solidFill>
                  <a:schemeClr val="tx1"/>
                </a:solidFill>
                <a:latin typeface="Trebuchet MS" panose="020B0603020202020204" pitchFamily="34" charset="0"/>
                <a:sym typeface="Wingdings" panose="05000000000000000000" pitchFamily="2" charset="2"/>
              </a:rPr>
              <a:t>:</a:t>
            </a:r>
            <a:r>
              <a:rPr lang="zh-CN" altLang="en-US" sz="2400" b="1" dirty="0">
                <a:solidFill>
                  <a:schemeClr val="tx1"/>
                </a:solidFill>
                <a:latin typeface="Trebuchet MS" panose="020B0603020202020204" pitchFamily="34" charset="0"/>
                <a:sym typeface="Wingdings" panose="05000000000000000000" pitchFamily="2" charset="2"/>
              </a:rPr>
              <a:t> </a:t>
            </a:r>
            <a:endParaRPr lang="en-US" altLang="zh-CN" sz="2400" b="1" dirty="0">
              <a:solidFill>
                <a:schemeClr val="tx1"/>
              </a:solidFill>
              <a:latin typeface="Trebuchet MS" panose="020B0603020202020204" pitchFamily="34" charset="0"/>
              <a:sym typeface="Wingdings" panose="05000000000000000000" pitchFamily="2" charset="2"/>
            </a:endParaRPr>
          </a:p>
          <a:p>
            <a:pPr marL="627063" indent="-449263">
              <a:lnSpc>
                <a:spcPct val="102000"/>
              </a:lnSpc>
              <a:buClr>
                <a:srgbClr val="0B61FF"/>
              </a:buClr>
              <a:buSzPct val="80000"/>
            </a:pPr>
            <a:r>
              <a:rPr lang="en-US" altLang="zh-CN" sz="2400" b="1" dirty="0">
                <a:solidFill>
                  <a:srgbClr val="0B61FF"/>
                </a:solidFill>
                <a:latin typeface="Trebuchet MS" panose="020B0603020202020204" pitchFamily="34" charset="0"/>
              </a:rPr>
              <a:t>(2) </a:t>
            </a:r>
            <a:r>
              <a:rPr lang="en-US" altLang="zh-CN" sz="2400" dirty="0">
                <a:solidFill>
                  <a:schemeClr val="tx1"/>
                </a:solidFill>
                <a:latin typeface="Trebuchet MS" panose="020B0603020202020204" pitchFamily="34" charset="0"/>
              </a:rPr>
              <a:t>In diagram (</a:t>
            </a:r>
            <a:r>
              <a:rPr lang="en-US" altLang="zh-CN" sz="2400" b="1" dirty="0">
                <a:solidFill>
                  <a:schemeClr val="tx1"/>
                </a:solidFill>
                <a:latin typeface="Trebuchet MS" panose="020B0603020202020204" pitchFamily="34" charset="0"/>
              </a:rPr>
              <a:t>F2</a:t>
            </a:r>
            <a:r>
              <a:rPr lang="en-US" altLang="zh-CN" sz="2400"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 c </a:t>
            </a:r>
            <a:r>
              <a:rPr lang="en-US" altLang="zh-CN" sz="2400" dirty="0">
                <a:solidFill>
                  <a:schemeClr val="tx1"/>
                </a:solidFill>
                <a:latin typeface="Trebuchet MS" panose="020B0603020202020204" pitchFamily="34" charset="0"/>
              </a:rPr>
              <a:t>and </a:t>
            </a:r>
            <a:r>
              <a:rPr lang="en-US" altLang="zh-CN" sz="2400" b="1" i="1" dirty="0">
                <a:solidFill>
                  <a:schemeClr val="tx1"/>
                </a:solidFill>
                <a:latin typeface="Trebuchet MS" panose="020B0603020202020204" pitchFamily="34" charset="0"/>
              </a:rPr>
              <a:t>e</a:t>
            </a:r>
            <a:r>
              <a:rPr lang="en-US" altLang="zh-CN" sz="2400" dirty="0">
                <a:solidFill>
                  <a:schemeClr val="tx1"/>
                </a:solidFill>
                <a:latin typeface="Trebuchet MS" panose="020B0603020202020204" pitchFamily="34" charset="0"/>
              </a:rPr>
              <a:t> have no upper bounds, and there is no direct relationship between them. Therefore, a least (common) upper bound greater than both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e</a:t>
            </a:r>
            <a:r>
              <a:rPr lang="en-US" altLang="zh-CN" sz="2400" dirty="0">
                <a:solidFill>
                  <a:schemeClr val="tx1"/>
                </a:solidFill>
                <a:latin typeface="Trebuchet MS" panose="020B0603020202020204" pitchFamily="34" charset="0"/>
              </a:rPr>
              <a:t> cannot be </a:t>
            </a:r>
            <a:r>
              <a:rPr lang="en-US" altLang="zh-CN" sz="2400" dirty="0" err="1">
                <a:solidFill>
                  <a:schemeClr val="tx1"/>
                </a:solidFill>
                <a:latin typeface="Trebuchet MS" panose="020B0603020202020204" pitchFamily="34" charset="0"/>
              </a:rPr>
              <a:t>found.The</a:t>
            </a:r>
            <a:r>
              <a:rPr lang="en-US" altLang="zh-CN" sz="2400" dirty="0">
                <a:solidFill>
                  <a:schemeClr val="tx1"/>
                </a:solidFill>
                <a:latin typeface="Trebuchet MS" panose="020B0603020202020204" pitchFamily="34" charset="0"/>
              </a:rPr>
              <a:t> common lower bounds of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e</a:t>
            </a:r>
            <a:r>
              <a:rPr lang="en-US" altLang="zh-CN" sz="2400" dirty="0">
                <a:solidFill>
                  <a:schemeClr val="tx1"/>
                </a:solidFill>
                <a:latin typeface="Trebuchet MS" panose="020B0603020202020204" pitchFamily="34" charset="0"/>
              </a:rPr>
              <a:t> are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d</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Both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d</a:t>
            </a:r>
            <a:r>
              <a:rPr lang="en-US" altLang="zh-CN" sz="2400" dirty="0">
                <a:solidFill>
                  <a:schemeClr val="tx1"/>
                </a:solidFill>
                <a:latin typeface="Trebuchet MS" panose="020B0603020202020204" pitchFamily="34" charset="0"/>
              </a:rPr>
              <a:t> are greater than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and there is no direct partial order between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d</a:t>
            </a:r>
            <a:r>
              <a:rPr lang="en-US" altLang="zh-CN" sz="2400" dirty="0">
                <a:solidFill>
                  <a:schemeClr val="tx1"/>
                </a:solidFill>
                <a:latin typeface="Trebuchet MS" panose="020B0603020202020204" pitchFamily="34" charset="0"/>
              </a:rPr>
              <a:t>. Thus, there is </a:t>
            </a:r>
            <a:r>
              <a:rPr lang="en-US" altLang="zh-CN" sz="2400" b="1" dirty="0">
                <a:solidFill>
                  <a:schemeClr val="tx1"/>
                </a:solidFill>
                <a:latin typeface="Trebuchet MS" panose="020B0603020202020204" pitchFamily="34" charset="0"/>
              </a:rPr>
              <a:t>no unique greatest common lower bound</a:t>
            </a:r>
            <a:r>
              <a:rPr lang="en-US" altLang="zh-CN" sz="2400" dirty="0">
                <a:solidFill>
                  <a:schemeClr val="tx1"/>
                </a:solidFill>
                <a:latin typeface="Trebuchet MS" panose="020B0603020202020204" pitchFamily="34" charset="0"/>
              </a:rPr>
              <a:t>. Hence, the structure </a:t>
            </a:r>
            <a:r>
              <a:rPr lang="en-US" altLang="zh-CN" sz="2400" b="1" i="1" dirty="0">
                <a:solidFill>
                  <a:srgbClr val="0B61FF"/>
                </a:solidFill>
                <a:latin typeface="Trebuchet MS" panose="020B0603020202020204" pitchFamily="34" charset="0"/>
              </a:rPr>
              <a:t>does not form a lattice</a:t>
            </a:r>
            <a:r>
              <a:rPr lang="en-US" altLang="zh-CN" sz="2400" dirty="0">
                <a:solidFill>
                  <a:schemeClr val="tx1"/>
                </a:solidFill>
                <a:latin typeface="Trebuchet MS" panose="020B0603020202020204" pitchFamily="34" charset="0"/>
              </a:rPr>
              <a:t>.</a:t>
            </a:r>
          </a:p>
          <a:p>
            <a:pPr marL="627063" indent="-449263">
              <a:lnSpc>
                <a:spcPct val="102000"/>
              </a:lnSpc>
              <a:buClr>
                <a:srgbClr val="0B61FF"/>
              </a:buClr>
              <a:buSzPct val="80000"/>
            </a:pPr>
            <a:r>
              <a:rPr lang="en-US" altLang="zh-CN" sz="2400" b="1" dirty="0">
                <a:solidFill>
                  <a:srgbClr val="0B61FF"/>
                </a:solidFill>
                <a:latin typeface="Trebuchet MS" panose="020B0603020202020204" pitchFamily="34" charset="0"/>
              </a:rPr>
              <a:t>(3) </a:t>
            </a:r>
            <a:r>
              <a:rPr lang="en-US" altLang="zh-CN" sz="2400" dirty="0">
                <a:solidFill>
                  <a:schemeClr val="tx1"/>
                </a:solidFill>
                <a:latin typeface="Trebuchet MS" panose="020B0603020202020204" pitchFamily="34" charset="0"/>
              </a:rPr>
              <a:t>In diagram (</a:t>
            </a:r>
            <a:r>
              <a:rPr lang="en-US" altLang="zh-CN" sz="2400" b="1" dirty="0">
                <a:solidFill>
                  <a:schemeClr val="tx1"/>
                </a:solidFill>
                <a:latin typeface="Trebuchet MS" panose="020B0603020202020204" pitchFamily="34" charset="0"/>
              </a:rPr>
              <a:t>F3</a:t>
            </a:r>
            <a:r>
              <a:rPr lang="en-US" altLang="zh-CN" sz="2400" dirty="0">
                <a:solidFill>
                  <a:schemeClr val="tx1"/>
                </a:solidFill>
                <a:latin typeface="Trebuchet MS" panose="020B0603020202020204" pitchFamily="34" charset="0"/>
              </a:rPr>
              <a:t>), the common lower bounds of </a:t>
            </a:r>
            <a:r>
              <a:rPr lang="en-US" altLang="zh-CN" sz="2400" b="1" i="1" dirty="0">
                <a:solidFill>
                  <a:schemeClr val="tx1"/>
                </a:solidFill>
                <a:latin typeface="Trebuchet MS" panose="020B0603020202020204" pitchFamily="34" charset="0"/>
              </a:rPr>
              <a:t>d</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e</a:t>
            </a:r>
            <a:r>
              <a:rPr lang="en-US" altLang="zh-CN" sz="2400" dirty="0">
                <a:solidFill>
                  <a:schemeClr val="tx1"/>
                </a:solidFill>
                <a:latin typeface="Trebuchet MS" panose="020B0603020202020204" pitchFamily="34" charset="0"/>
              </a:rPr>
              <a:t> are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Both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are greater than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and there is no partial order between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Therefore, a </a:t>
            </a:r>
            <a:r>
              <a:rPr lang="en-US" altLang="zh-CN" sz="2400" b="1" dirty="0">
                <a:solidFill>
                  <a:schemeClr val="tx1"/>
                </a:solidFill>
                <a:latin typeface="Trebuchet MS" panose="020B0603020202020204" pitchFamily="34" charset="0"/>
              </a:rPr>
              <a:t>unique greatest lower bound cannot be determined</a:t>
            </a:r>
            <a:r>
              <a:rPr lang="en-US" altLang="zh-CN" sz="2400" dirty="0">
                <a:solidFill>
                  <a:schemeClr val="tx1"/>
                </a:solidFill>
                <a:latin typeface="Trebuchet MS" panose="020B0603020202020204" pitchFamily="34" charset="0"/>
              </a:rPr>
              <a:t>. As a result, the structure </a:t>
            </a:r>
            <a:r>
              <a:rPr lang="en-US" altLang="zh-CN" sz="2400" b="1" i="1" dirty="0">
                <a:solidFill>
                  <a:srgbClr val="0B61FF"/>
                </a:solidFill>
                <a:latin typeface="Trebuchet MS" panose="020B0603020202020204" pitchFamily="34" charset="0"/>
              </a:rPr>
              <a:t>does not form a lattice</a:t>
            </a:r>
            <a:r>
              <a:rPr lang="en-US" altLang="zh-CN" sz="2400" dirty="0">
                <a:solidFill>
                  <a:schemeClr val="tx1"/>
                </a:solidFill>
                <a:latin typeface="Trebuchet MS" panose="020B0603020202020204" pitchFamily="34" charset="0"/>
              </a:rPr>
              <a:t>.</a:t>
            </a:r>
          </a:p>
          <a:p>
            <a:pPr>
              <a:lnSpc>
                <a:spcPct val="105000"/>
              </a:lnSpc>
            </a:pPr>
            <a:endParaRPr lang="en-US" altLang="zh-CN" sz="2400" dirty="0">
              <a:solidFill>
                <a:schemeClr val="tx1"/>
              </a:solidFill>
              <a:latin typeface="Trebuchet MS" panose="020B0603020202020204" pitchFamily="34" charset="0"/>
            </a:endParaRPr>
          </a:p>
        </p:txBody>
      </p:sp>
      <p:pic>
        <p:nvPicPr>
          <p:cNvPr id="6" name="图片 5">
            <a:extLst>
              <a:ext uri="{FF2B5EF4-FFF2-40B4-BE49-F238E27FC236}">
                <a16:creationId xmlns:a16="http://schemas.microsoft.com/office/drawing/2014/main" id="{109D5486-CFC3-4852-9ADD-9A56D53B0BCD}"/>
              </a:ext>
            </a:extLst>
          </p:cNvPr>
          <p:cNvPicPr>
            <a:picLocks noChangeAspect="1"/>
          </p:cNvPicPr>
          <p:nvPr/>
        </p:nvPicPr>
        <p:blipFill>
          <a:blip r:embed="rId5"/>
          <a:stretch>
            <a:fillRect/>
          </a:stretch>
        </p:blipFill>
        <p:spPr>
          <a:xfrm>
            <a:off x="9583573" y="839866"/>
            <a:ext cx="1882950" cy="2833655"/>
          </a:xfrm>
          <a:prstGeom prst="rect">
            <a:avLst/>
          </a:prstGeom>
        </p:spPr>
      </p:pic>
      <p:pic>
        <p:nvPicPr>
          <p:cNvPr id="8" name="图片 7">
            <a:extLst>
              <a:ext uri="{FF2B5EF4-FFF2-40B4-BE49-F238E27FC236}">
                <a16:creationId xmlns:a16="http://schemas.microsoft.com/office/drawing/2014/main" id="{E3D0D04D-A9CF-4729-B7DB-58E82401797D}"/>
              </a:ext>
            </a:extLst>
          </p:cNvPr>
          <p:cNvPicPr>
            <a:picLocks noChangeAspect="1"/>
          </p:cNvPicPr>
          <p:nvPr/>
        </p:nvPicPr>
        <p:blipFill>
          <a:blip r:embed="rId6"/>
          <a:stretch>
            <a:fillRect/>
          </a:stretch>
        </p:blipFill>
        <p:spPr>
          <a:xfrm>
            <a:off x="9872711" y="3715302"/>
            <a:ext cx="1542912" cy="2487552"/>
          </a:xfrm>
          <a:prstGeom prst="rect">
            <a:avLst/>
          </a:prstGeom>
        </p:spPr>
      </p:pic>
    </p:spTree>
    <p:extLst>
      <p:ext uri="{BB962C8B-B14F-4D97-AF65-F5344CB8AC3E}">
        <p14:creationId xmlns:p14="http://schemas.microsoft.com/office/powerpoint/2010/main" val="3637775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Dual statement </a:t>
            </a:r>
            <a:r>
              <a:rPr lang="en-US" altLang="zh-CN" sz="2400" b="1" dirty="0"/>
              <a:t>&amp;</a:t>
            </a:r>
            <a:r>
              <a:rPr lang="en-US" altLang="zh-CN" sz="2400" b="1" dirty="0">
                <a:latin typeface="Trebuchet MS" panose="020B0603020202020204" pitchFamily="34" charset="0"/>
              </a:rPr>
              <a:t> Principle of Duality in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a:extLst>
              <a:ext uri="{FF2B5EF4-FFF2-40B4-BE49-F238E27FC236}">
                <a16:creationId xmlns:a16="http://schemas.microsoft.com/office/drawing/2014/main" id="{E796AA0E-181C-482B-B262-A1893BAA2196}"/>
              </a:ext>
            </a:extLst>
          </p:cNvPr>
          <p:cNvSpPr>
            <a:spLocks noChangeArrowheads="1"/>
          </p:cNvSpPr>
          <p:nvPr/>
        </p:nvSpPr>
        <p:spPr bwMode="auto">
          <a:xfrm>
            <a:off x="732666" y="872651"/>
            <a:ext cx="9135952" cy="44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ctr">
            <a:noAutofit/>
          </a:bodyPr>
          <a:lstStyle>
            <a:lvl1pPr indent="276225"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a:lnSpc>
                <a:spcPct val="120000"/>
              </a:lnSpc>
              <a:spcBef>
                <a:spcPts val="1200"/>
              </a:spcBef>
              <a:buClr>
                <a:srgbClr val="0B61FF"/>
              </a:buClr>
              <a:buSzPct val="80000"/>
              <a:buFont typeface="Wingdings" panose="05000000000000000000" pitchFamily="2" charset="2"/>
              <a:buChar char="n"/>
            </a:pPr>
            <a:r>
              <a:rPr lang="en-US" altLang="zh-CN" sz="2400" dirty="0">
                <a:solidFill>
                  <a:schemeClr val="tx1"/>
                </a:solidFill>
                <a:latin typeface="Trebuchet MS" panose="020B0603020202020204" pitchFamily="34" charset="0"/>
              </a:rPr>
              <a:t>Let </a:t>
            </a:r>
            <a:r>
              <a:rPr lang="en-US" altLang="zh-CN" sz="2400" b="1" i="1" dirty="0">
                <a:solidFill>
                  <a:schemeClr val="tx1"/>
                </a:solidFill>
                <a:latin typeface="Trebuchet MS" panose="020B0603020202020204" pitchFamily="34" charset="0"/>
              </a:rPr>
              <a:t>f</a:t>
            </a:r>
            <a:r>
              <a:rPr lang="en-US" altLang="zh-CN" sz="2400" dirty="0">
                <a:solidFill>
                  <a:schemeClr val="tx1"/>
                </a:solidFill>
                <a:latin typeface="Trebuchet MS" panose="020B0603020202020204" pitchFamily="34" charset="0"/>
              </a:rPr>
              <a:t> be a statement involving elements of a lattice and the symbols </a:t>
            </a:r>
            <a:r>
              <a:rPr lang="en-US" altLang="zh-CN" sz="2400" b="1" dirty="0">
                <a:solidFill>
                  <a:schemeClr val="tx1"/>
                </a:solidFill>
                <a:latin typeface="Trebuchet MS" panose="020B0603020202020204" pitchFamily="34" charset="0"/>
                <a:cs typeface="Times New Roman" panose="02020603050405020304" pitchFamily="18" charset="0"/>
              </a:rPr>
              <a:t>=,≼ ,≽ </a:t>
            </a:r>
            <a:r>
              <a:rPr lang="en-US" altLang="zh-CN" sz="2400" dirty="0">
                <a:solidFill>
                  <a:schemeClr val="tx1"/>
                </a:solidFill>
                <a:latin typeface="Trebuchet MS" panose="020B0603020202020204" pitchFamily="34" charset="0"/>
              </a:rPr>
              <a:t>. Define </a:t>
            </a:r>
            <a:r>
              <a:rPr lang="en-US" altLang="zh-CN" sz="2400" b="1" i="1" dirty="0">
                <a:solidFill>
                  <a:schemeClr val="tx1"/>
                </a:solidFill>
                <a:latin typeface="Trebuchet MS" panose="020B0603020202020204" pitchFamily="34" charset="0"/>
                <a:cs typeface="Times New Roman" panose="02020603050405020304" pitchFamily="18" charset="0"/>
              </a:rPr>
              <a:t>f</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as the statement obtained by replacing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with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with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with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with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in </a:t>
            </a:r>
            <a:r>
              <a:rPr lang="en-US" altLang="zh-CN" sz="2400" b="1" i="1" dirty="0">
                <a:solidFill>
                  <a:schemeClr val="tx1"/>
                </a:solidFill>
                <a:latin typeface="Trebuchet MS" panose="020B0603020202020204" pitchFamily="34" charset="0"/>
                <a:cs typeface="Times New Roman" panose="02020603050405020304" pitchFamily="18" charset="0"/>
              </a:rPr>
              <a:t>f </a:t>
            </a:r>
            <a:r>
              <a:rPr lang="en-US" altLang="zh-CN" sz="2400" dirty="0">
                <a:solidFill>
                  <a:schemeClr val="tx1"/>
                </a:solidFill>
                <a:latin typeface="Trebuchet MS" panose="020B0603020202020204" pitchFamily="34" charset="0"/>
              </a:rPr>
              <a:t>. The statement </a:t>
            </a:r>
            <a:r>
              <a:rPr lang="en-US" altLang="zh-CN" sz="2400" b="1" i="1" dirty="0">
                <a:solidFill>
                  <a:schemeClr val="tx1"/>
                </a:solidFill>
                <a:latin typeface="Trebuchet MS" panose="020B0603020202020204" pitchFamily="34" charset="0"/>
                <a:cs typeface="Times New Roman" panose="02020603050405020304" pitchFamily="18" charset="0"/>
              </a:rPr>
              <a:t>f</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is called the </a:t>
            </a:r>
            <a:r>
              <a:rPr lang="en-US" altLang="zh-CN" sz="2400" b="1" i="1" dirty="0">
                <a:solidFill>
                  <a:srgbClr val="0B61FF"/>
                </a:solidFill>
                <a:latin typeface="Trebuchet MS" panose="020B0603020202020204" pitchFamily="34" charset="0"/>
              </a:rPr>
              <a:t>dual</a:t>
            </a:r>
            <a:r>
              <a:rPr lang="en-US" altLang="zh-CN" sz="2400" dirty="0">
                <a:solidFill>
                  <a:schemeClr val="tx1"/>
                </a:solidFill>
                <a:latin typeface="Trebuchet MS" panose="020B0603020202020204" pitchFamily="34" charset="0"/>
              </a:rPr>
              <a:t> of </a:t>
            </a:r>
            <a:r>
              <a:rPr lang="en-US" altLang="zh-CN" sz="2400" b="1" i="1" dirty="0">
                <a:solidFill>
                  <a:schemeClr val="tx1"/>
                </a:solidFill>
                <a:latin typeface="Trebuchet MS" panose="020B0603020202020204" pitchFamily="34" charset="0"/>
                <a:cs typeface="Times New Roman" panose="02020603050405020304" pitchFamily="18" charset="0"/>
              </a:rPr>
              <a:t>f </a:t>
            </a:r>
            <a:r>
              <a:rPr lang="en-US" altLang="zh-CN" sz="2400" dirty="0">
                <a:solidFill>
                  <a:schemeClr val="tx1"/>
                </a:solidFill>
                <a:latin typeface="Trebuchet MS" panose="020B0603020202020204" pitchFamily="34" charset="0"/>
              </a:rPr>
              <a:t>.</a:t>
            </a:r>
          </a:p>
          <a:p>
            <a:pPr marL="342900" indent="-342900">
              <a:lnSpc>
                <a:spcPct val="120000"/>
              </a:lnSpc>
              <a:spcBef>
                <a:spcPts val="1200"/>
              </a:spcBef>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Principle of Duality for Lattices:</a:t>
            </a:r>
            <a:br>
              <a:rPr lang="en-US" altLang="zh-CN" sz="2400" dirty="0">
                <a:solidFill>
                  <a:schemeClr val="tx1"/>
                </a:solidFill>
                <a:latin typeface="Trebuchet MS" panose="020B0603020202020204" pitchFamily="34" charset="0"/>
              </a:rPr>
            </a:br>
            <a:r>
              <a:rPr lang="en-US" altLang="zh-CN" sz="2400" dirty="0">
                <a:solidFill>
                  <a:schemeClr val="tx1"/>
                </a:solidFill>
                <a:latin typeface="Trebuchet MS" panose="020B0603020202020204" pitchFamily="34" charset="0"/>
              </a:rPr>
              <a:t>If a statement </a:t>
            </a:r>
            <a:r>
              <a:rPr lang="en-US" altLang="zh-CN" sz="2400" b="1" i="1" dirty="0">
                <a:solidFill>
                  <a:schemeClr val="tx1"/>
                </a:solidFill>
                <a:latin typeface="Trebuchet MS" panose="020B0603020202020204" pitchFamily="34" charset="0"/>
              </a:rPr>
              <a:t>f</a:t>
            </a:r>
            <a:r>
              <a:rPr lang="en-US" altLang="zh-CN" sz="2400" dirty="0">
                <a:solidFill>
                  <a:schemeClr val="tx1"/>
                </a:solidFill>
                <a:latin typeface="Trebuchet MS" panose="020B0603020202020204" pitchFamily="34" charset="0"/>
              </a:rPr>
              <a:t> is true for all lattices, then its dual statement </a:t>
            </a:r>
            <a:r>
              <a:rPr lang="en-US" altLang="zh-CN" sz="2400" b="1" i="1" dirty="0">
                <a:solidFill>
                  <a:schemeClr val="tx1"/>
                </a:solidFill>
                <a:latin typeface="Trebuchet MS" panose="020B0603020202020204" pitchFamily="34" charset="0"/>
                <a:cs typeface="Times New Roman" panose="02020603050405020304" pitchFamily="18" charset="0"/>
              </a:rPr>
              <a:t>f</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is also true for all lattices.</a:t>
            </a:r>
          </a:p>
          <a:p>
            <a:pPr marL="342900" indent="-342900">
              <a:lnSpc>
                <a:spcPct val="120000"/>
              </a:lnSpc>
              <a:spcBef>
                <a:spcPts val="1200"/>
              </a:spcBef>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 : </a:t>
            </a:r>
            <a:r>
              <a:rPr lang="en-US" altLang="zh-CN" sz="2400" dirty="0">
                <a:solidFill>
                  <a:schemeClr val="tx1"/>
                </a:solidFill>
                <a:latin typeface="Trebuchet MS" panose="020B0603020202020204" pitchFamily="34" charset="0"/>
              </a:rPr>
              <a:t>In a lattice, if the statement </a:t>
            </a:r>
            <a:r>
              <a:rPr lang="en-US" altLang="zh-CN" sz="2400" b="1" i="1" dirty="0">
                <a:solidFill>
                  <a:srgbClr val="FF0000"/>
                </a:solidFill>
                <a:latin typeface="Trebuchet MS" panose="020B0603020202020204" pitchFamily="34" charset="0"/>
                <a:cs typeface="Times New Roman" panose="02020603050405020304" pitchFamily="18" charset="0"/>
              </a:rPr>
              <a:t>f</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c</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c</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holds, then its dual statement </a:t>
            </a:r>
            <a:r>
              <a:rPr lang="en-US" altLang="zh-CN" sz="2400" b="1" i="1" dirty="0">
                <a:solidFill>
                  <a:srgbClr val="FF0000"/>
                </a:solidFill>
                <a:latin typeface="Trebuchet MS" panose="020B0603020202020204" pitchFamily="34" charset="0"/>
                <a:cs typeface="Times New Roman" panose="02020603050405020304" pitchFamily="18" charset="0"/>
              </a:rPr>
              <a:t>f</a:t>
            </a:r>
            <a:r>
              <a:rPr lang="en-US" altLang="zh-CN" sz="2400" b="1" dirty="0">
                <a:solidFill>
                  <a:srgbClr val="FF0000"/>
                </a:solidFill>
                <a:latin typeface="Trebuchet MS" panose="020B0603020202020204" pitchFamily="34" charset="0"/>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c</a:t>
            </a:r>
            <a:r>
              <a:rPr lang="en-US" altLang="zh-CN" sz="2400" b="1" dirty="0">
                <a:solidFill>
                  <a:schemeClr val="tx1"/>
                </a:solidFill>
                <a:latin typeface="Trebuchet MS" panose="020B0603020202020204" pitchFamily="34" charset="0"/>
              </a:rPr>
              <a:t> ⪰ </a:t>
            </a:r>
            <a:r>
              <a:rPr lang="en-US" altLang="zh-CN" sz="2400" b="1" i="1" dirty="0">
                <a:solidFill>
                  <a:schemeClr val="tx1"/>
                </a:solidFill>
                <a:latin typeface="Trebuchet MS" panose="020B0603020202020204" pitchFamily="34" charset="0"/>
                <a:cs typeface="Times New Roman" panose="02020603050405020304" pitchFamily="18" charset="0"/>
              </a:rPr>
              <a:t>c </a:t>
            </a:r>
            <a:r>
              <a:rPr lang="en-US" altLang="zh-CN" sz="2400" dirty="0">
                <a:solidFill>
                  <a:schemeClr val="tx1"/>
                </a:solidFill>
                <a:latin typeface="Trebuchet MS" panose="020B0603020202020204" pitchFamily="34" charset="0"/>
              </a:rPr>
              <a:t>also holds.</a:t>
            </a:r>
            <a:endParaRPr lang="zh-CN" altLang="en-US" sz="2400" b="1" dirty="0">
              <a:solidFill>
                <a:schemeClr val="tx1"/>
              </a:solidFill>
              <a:latin typeface="Trebuchet MS" panose="020B0603020202020204" pitchFamily="34" charset="0"/>
              <a:ea typeface="宋体" panose="02010600030101010101" pitchFamily="2" charset="-122"/>
            </a:endParaRPr>
          </a:p>
          <a:p>
            <a:pPr marL="342900" indent="-342900">
              <a:lnSpc>
                <a:spcPct val="120000"/>
              </a:lnSpc>
              <a:buClr>
                <a:srgbClr val="0B61FF"/>
              </a:buClr>
              <a:buSzPct val="80000"/>
              <a:buFont typeface="Wingdings" panose="05000000000000000000" pitchFamily="2" charset="2"/>
              <a:buChar char="n"/>
            </a:pPr>
            <a:endParaRPr lang="en-US" altLang="zh-CN" sz="24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3443764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219018"/>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Fundamental Properties of Lattice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id="{3D9DF759-14B7-4B95-920D-54803E27DC27}"/>
              </a:ext>
            </a:extLst>
          </p:cNvPr>
          <p:cNvSpPr>
            <a:spLocks noChangeArrowheads="1"/>
          </p:cNvSpPr>
          <p:nvPr/>
        </p:nvSpPr>
        <p:spPr bwMode="auto">
          <a:xfrm>
            <a:off x="1093956" y="770759"/>
            <a:ext cx="8197921" cy="4040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ctr">
            <a:spAutoFit/>
          </a:bodyPr>
          <a:lstStyle>
            <a:lvl1pPr indent="266700"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eaLnBrk="1" hangingPunct="1">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Theorem 9.11</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rPr>
              <a:t>Let </a:t>
            </a:r>
            <a:r>
              <a:rPr lang="en-US" altLang="zh-CN" sz="2400" b="1" i="1" dirty="0">
                <a:solidFill>
                  <a:schemeClr val="tx1"/>
                </a:solidFill>
                <a:latin typeface="Trebuchet MS" panose="020B0603020202020204" pitchFamily="34" charset="0"/>
              </a:rPr>
              <a:t>v</a:t>
            </a:r>
            <a:r>
              <a:rPr lang="en-US" altLang="zh-CN" sz="2400" dirty="0">
                <a:solidFill>
                  <a:schemeClr val="tx1"/>
                </a:solidFill>
                <a:latin typeface="Trebuchet MS" panose="020B0603020202020204" pitchFamily="34" charset="0"/>
              </a:rPr>
              <a:t> be a lattice. Then the operations </a:t>
            </a:r>
            <a:r>
              <a:rPr lang="zh-CN" altLang="en-US" sz="2400" b="1"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rPr>
              <a:t>and </a:t>
            </a:r>
            <a:r>
              <a:rPr lang="zh-CN" altLang="en-US" sz="2400" b="1"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rPr>
              <a:t>satisfy the </a:t>
            </a:r>
            <a:r>
              <a:rPr lang="en-US" altLang="zh-CN" sz="2400" b="1" i="1" dirty="0">
                <a:solidFill>
                  <a:srgbClr val="0B61FF"/>
                </a:solidFill>
                <a:latin typeface="Trebuchet MS" panose="020B0603020202020204" pitchFamily="34" charset="0"/>
              </a:rPr>
              <a:t>commutative</a:t>
            </a:r>
            <a:r>
              <a:rPr lang="en-US" altLang="zh-CN" sz="2400" dirty="0">
                <a:solidFill>
                  <a:schemeClr val="tx1"/>
                </a:solidFill>
                <a:latin typeface="Trebuchet MS" panose="020B0603020202020204" pitchFamily="34" charset="0"/>
              </a:rPr>
              <a:t>, </a:t>
            </a:r>
            <a:r>
              <a:rPr lang="en-US" altLang="zh-CN" sz="2400" b="1" i="1" dirty="0">
                <a:solidFill>
                  <a:srgbClr val="0B61FF"/>
                </a:solidFill>
                <a:latin typeface="Trebuchet MS" panose="020B0603020202020204" pitchFamily="34" charset="0"/>
              </a:rPr>
              <a:t>associative</a:t>
            </a:r>
            <a:r>
              <a:rPr lang="en-US" altLang="zh-CN" sz="2400" dirty="0">
                <a:solidFill>
                  <a:schemeClr val="tx1"/>
                </a:solidFill>
                <a:latin typeface="Trebuchet MS" panose="020B0603020202020204" pitchFamily="34" charset="0"/>
              </a:rPr>
              <a:t>, </a:t>
            </a:r>
            <a:r>
              <a:rPr lang="en-US" altLang="zh-CN" sz="2400" b="1" i="1" dirty="0">
                <a:solidFill>
                  <a:srgbClr val="0B61FF"/>
                </a:solidFill>
                <a:latin typeface="Trebuchet MS" panose="020B0603020202020204" pitchFamily="34" charset="0"/>
              </a:rPr>
              <a:t>idempotent</a:t>
            </a:r>
            <a:r>
              <a:rPr lang="en-US" altLang="zh-CN" sz="2400" dirty="0">
                <a:solidFill>
                  <a:schemeClr val="tx1"/>
                </a:solidFill>
                <a:latin typeface="Trebuchet MS" panose="020B0603020202020204" pitchFamily="34" charset="0"/>
              </a:rPr>
              <a:t>, and </a:t>
            </a:r>
            <a:r>
              <a:rPr lang="en-US" altLang="zh-CN" sz="2400" b="1" i="1" dirty="0">
                <a:solidFill>
                  <a:srgbClr val="0B61FF"/>
                </a:solidFill>
                <a:latin typeface="Trebuchet MS" panose="020B0603020202020204" pitchFamily="34" charset="0"/>
              </a:rPr>
              <a:t>absorption</a:t>
            </a:r>
            <a:r>
              <a:rPr lang="en-US" altLang="zh-CN" sz="2400" dirty="0">
                <a:solidFill>
                  <a:schemeClr val="tx1"/>
                </a:solidFill>
                <a:latin typeface="Trebuchet MS" panose="020B0603020202020204" pitchFamily="34" charset="0"/>
              </a:rPr>
              <a:t> laws, namely:</a:t>
            </a:r>
          </a:p>
          <a:p>
            <a:pPr indent="0" eaLnBrk="1" hangingPunct="1">
              <a:lnSpc>
                <a:spcPct val="120000"/>
              </a:lnSpc>
              <a:buClr>
                <a:srgbClr val="0B61FF"/>
              </a:buClr>
              <a:buSzPct val="80000"/>
            </a:pP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dirty="0">
                <a:solidFill>
                  <a:srgbClr val="0B61FF"/>
                </a:solidFill>
                <a:latin typeface="Trebuchet MS" panose="020B0603020202020204" pitchFamily="34" charset="0"/>
                <a:ea typeface="宋体" panose="02010600030101010101" pitchFamily="2" charset="-122"/>
              </a:rPr>
              <a:t>(1)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L</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 and</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endPar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endParaRPr>
          </a:p>
          <a:p>
            <a:pPr indent="0" eaLnBrk="1" hangingPunct="1">
              <a:lnSpc>
                <a:spcPct val="120000"/>
              </a:lnSpc>
              <a:buClr>
                <a:srgbClr val="0B61FF"/>
              </a:buClr>
              <a:buSzPct val="80000"/>
            </a:pP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(2)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L</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and</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eaLnBrk="1" hangingPunct="1">
              <a:lnSpc>
                <a:spcPct val="120000"/>
              </a:lnSpc>
            </a:pP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p>
          <a:p>
            <a:pPr eaLnBrk="1" hangingPunct="1">
              <a:lnSpc>
                <a:spcPct val="120000"/>
              </a:lnSpc>
            </a:pP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(3)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L</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and</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  </a:t>
            </a:r>
          </a:p>
          <a:p>
            <a:pPr eaLnBrk="1" hangingPunct="1">
              <a:lnSpc>
                <a:spcPct val="120000"/>
              </a:lnSpc>
            </a:pP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(4)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L</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 and</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eaLnBrk="1" hangingPunct="1">
              <a:lnSpc>
                <a:spcPct val="120000"/>
              </a:lnSpc>
            </a:pPr>
            <a:endPar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endParaRPr>
          </a:p>
        </p:txBody>
      </p:sp>
    </p:spTree>
    <p:extLst>
      <p:ext uri="{BB962C8B-B14F-4D97-AF65-F5344CB8AC3E}">
        <p14:creationId xmlns:p14="http://schemas.microsoft.com/office/powerpoint/2010/main" val="34600144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Fundamental Properties of Lattice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4">
            <a:extLst>
              <a:ext uri="{FF2B5EF4-FFF2-40B4-BE49-F238E27FC236}">
                <a16:creationId xmlns:a16="http://schemas.microsoft.com/office/drawing/2014/main" id="{B08172DE-A314-4963-8B88-0566BD332C1C}"/>
              </a:ext>
            </a:extLst>
          </p:cNvPr>
          <p:cNvSpPr>
            <a:spLocks noChangeArrowheads="1"/>
          </p:cNvSpPr>
          <p:nvPr/>
        </p:nvSpPr>
        <p:spPr bwMode="auto">
          <a:xfrm>
            <a:off x="892498" y="911023"/>
            <a:ext cx="9806530" cy="322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marL="457200" indent="-457200"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8288" indent="-268288" eaLnBrk="1" hangingPunct="1">
              <a:lnSpc>
                <a:spcPct val="120000"/>
              </a:lnSpc>
              <a:spcBef>
                <a:spcPts val="1000"/>
              </a:spcBef>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Proof</a:t>
            </a:r>
            <a:r>
              <a:rPr lang="en-US" altLang="zh-CN" sz="2400" b="1" dirty="0">
                <a:solidFill>
                  <a:srgbClr val="0B61FF"/>
                </a:solidFill>
                <a:latin typeface="Trebuchet MS" panose="020B0603020202020204" pitchFamily="34" charset="0"/>
              </a:rPr>
              <a:t>(1)</a:t>
            </a:r>
            <a:r>
              <a:rPr lang="en-US" altLang="zh-CN" sz="2400" b="1"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Commutative Law</a:t>
            </a:r>
          </a:p>
          <a:p>
            <a:pPr marL="523875" indent="-342900" eaLnBrk="1" hangingPunct="1">
              <a:lnSpc>
                <a:spcPct val="120000"/>
              </a:lnSpc>
              <a:spcBef>
                <a:spcPts val="1000"/>
              </a:spcBef>
              <a:buClr>
                <a:srgbClr val="0B61FF"/>
              </a:buClr>
              <a:buSzPct val="120000"/>
              <a:buFont typeface="Arial" panose="020B0604020202020204" pitchFamily="34" charset="0"/>
              <a:buChar char="•"/>
            </a:pP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is the least upper bound of the set </a:t>
            </a:r>
            <a:r>
              <a:rPr lang="en-US" altLang="zh-CN" sz="2400" b="1" dirty="0">
                <a:solidFill>
                  <a:schemeClr val="tx1"/>
                </a:solidFill>
                <a:latin typeface="Trebuchet MS" panose="020B0603020202020204" pitchFamily="34" charset="0"/>
                <a:cs typeface="Times New Roman" panose="02020603050405020304" pitchFamily="18" charset="0"/>
              </a:rPr>
              <a:t>,</a:t>
            </a:r>
            <a:r>
              <a:rPr lang="zh-CN" altLang="en-US" sz="2400" b="1" dirty="0">
                <a:solidFill>
                  <a:schemeClr val="tx1"/>
                </a:solidFill>
                <a:latin typeface="Trebuchet MS" panose="020B0603020202020204" pitchFamily="34" charset="0"/>
                <a:cs typeface="Times New Roman" panose="02020603050405020304" pitchFamily="18" charset="0"/>
              </a:rPr>
              <a:t> </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is the least upper bound of the set </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a:solidFill>
                  <a:schemeClr val="tx1"/>
                </a:solidFill>
                <a:latin typeface="Trebuchet MS" panose="020B0603020202020204" pitchFamily="34" charset="0"/>
                <a:cs typeface="Times New Roman" panose="02020603050405020304" pitchFamily="18" charset="0"/>
              </a:rPr>
              <a:t>}. </a:t>
            </a:r>
          </a:p>
          <a:p>
            <a:pPr marL="523875" indent="-342900" eaLnBrk="1" hangingPunct="1">
              <a:lnSpc>
                <a:spcPct val="120000"/>
              </a:lnSpc>
              <a:spcBef>
                <a:spcPts val="1000"/>
              </a:spcBef>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Since </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 = {</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we have </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dirty="0">
                <a:solidFill>
                  <a:schemeClr val="tx1"/>
                </a:solidFill>
                <a:latin typeface="Trebuchet MS" panose="020B0603020202020204" pitchFamily="34" charset="0"/>
              </a:rPr>
              <a:t>.</a:t>
            </a:r>
          </a:p>
          <a:p>
            <a:pPr marL="523875" indent="-342900" eaLnBrk="1" hangingPunct="1">
              <a:lnSpc>
                <a:spcPct val="120000"/>
              </a:lnSpc>
              <a:spcBef>
                <a:spcPts val="1000"/>
              </a:spcBef>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By the </a:t>
            </a:r>
            <a:r>
              <a:rPr lang="en-US" altLang="zh-CN" sz="2400" b="1" dirty="0">
                <a:solidFill>
                  <a:schemeClr val="tx1"/>
                </a:solidFill>
                <a:latin typeface="Trebuchet MS" panose="020B0603020202020204" pitchFamily="34" charset="0"/>
              </a:rPr>
              <a:t>principle of duality</a:t>
            </a:r>
            <a:r>
              <a:rPr lang="en-US" altLang="zh-CN" sz="2400" dirty="0">
                <a:solidFill>
                  <a:schemeClr val="tx1"/>
                </a:solidFill>
                <a:latin typeface="Trebuchet MS" panose="020B0603020202020204" pitchFamily="34" charset="0"/>
              </a:rPr>
              <a:t>, it follows that </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a:t>
            </a:r>
          </a:p>
          <a:p>
            <a:pPr marL="523875" indent="-342900" eaLnBrk="1" hangingPunct="1">
              <a:lnSpc>
                <a:spcPct val="120000"/>
              </a:lnSpc>
              <a:spcBef>
                <a:spcPts val="1000"/>
              </a:spcBef>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Thus, the </a:t>
            </a:r>
            <a:r>
              <a:rPr lang="en-US" altLang="zh-CN" sz="2400" b="1" dirty="0">
                <a:solidFill>
                  <a:schemeClr val="tx1"/>
                </a:solidFill>
                <a:latin typeface="Trebuchet MS" panose="020B0603020202020204" pitchFamily="34" charset="0"/>
              </a:rPr>
              <a:t>commutative law</a:t>
            </a:r>
            <a:r>
              <a:rPr lang="en-US" altLang="zh-CN" sz="2400" dirty="0">
                <a:solidFill>
                  <a:schemeClr val="tx1"/>
                </a:solidFill>
                <a:latin typeface="Trebuchet MS" panose="020B0603020202020204" pitchFamily="34" charset="0"/>
              </a:rPr>
              <a:t> holds.</a:t>
            </a:r>
            <a:endParaRPr lang="en-US" altLang="zh-CN" sz="2400" b="1" dirty="0">
              <a:solidFill>
                <a:schemeClr val="tx1"/>
              </a:solidFill>
              <a:latin typeface="Trebuchet MS" panose="020B0603020202020204" pitchFamily="34" charset="0"/>
              <a:ea typeface="+mn-ea"/>
              <a:cs typeface="Times New Roman" panose="02020603050405020304" pitchFamily="18" charset="0"/>
            </a:endParaRPr>
          </a:p>
        </p:txBody>
      </p:sp>
    </p:spTree>
    <p:extLst>
      <p:ext uri="{BB962C8B-B14F-4D97-AF65-F5344CB8AC3E}">
        <p14:creationId xmlns:p14="http://schemas.microsoft.com/office/powerpoint/2010/main" val="2107060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Fundamental Properties of Lattice Operations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id="{578C9512-FCE9-426A-87D5-7971DB79E97C}"/>
              </a:ext>
            </a:extLst>
          </p:cNvPr>
          <p:cNvSpPr>
            <a:spLocks noChangeArrowheads="1"/>
          </p:cNvSpPr>
          <p:nvPr/>
        </p:nvSpPr>
        <p:spPr bwMode="auto">
          <a:xfrm>
            <a:off x="732235" y="701382"/>
            <a:ext cx="10256991" cy="574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marL="457200" indent="-457200"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8288" indent="-268288" eaLnBrk="1" hangingPunct="1">
              <a:lnSpc>
                <a:spcPct val="11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Proof</a:t>
            </a:r>
            <a:r>
              <a:rPr lang="en-US" altLang="zh-CN" sz="2400" dirty="0">
                <a:solidFill>
                  <a:srgbClr val="0B61FF"/>
                </a:solidFill>
                <a:latin typeface="Trebuchet MS" panose="020B0603020202020204" pitchFamily="34" charset="0"/>
              </a:rPr>
              <a:t>(2)</a:t>
            </a:r>
            <a:r>
              <a:rPr lang="en-US" altLang="zh-CN" sz="2400" b="1" dirty="0">
                <a:solidFill>
                  <a:srgbClr val="0B61FF"/>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Associative Law</a:t>
            </a:r>
          </a:p>
          <a:p>
            <a:pPr marL="342900" indent="-161925" eaLnBrk="1" hangingPunct="1">
              <a:lnSpc>
                <a:spcPct val="11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From the definition of the least upper bound, we have the following inequalities:</a:t>
            </a:r>
          </a:p>
          <a:p>
            <a:pPr marL="180975" indent="0" eaLnBrk="1" hangingPunct="1">
              <a:lnSpc>
                <a:spcPct val="110000"/>
              </a:lnSpc>
              <a:buClr>
                <a:srgbClr val="0B61FF"/>
              </a:buClr>
              <a:buSzPct val="120000"/>
            </a:pP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①</a:t>
            </a:r>
          </a:p>
          <a:p>
            <a:pPr marL="180975" indent="0" eaLnBrk="1" hangingPunct="1">
              <a:lnSpc>
                <a:spcPct val="110000"/>
              </a:lnSpc>
              <a:buClr>
                <a:srgbClr val="0B61FF"/>
              </a:buClr>
              <a:buSzPct val="120000"/>
            </a:pP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②</a:t>
            </a:r>
          </a:p>
          <a:p>
            <a:pPr marL="180975" indent="0" eaLnBrk="1" hangingPunct="1">
              <a:lnSpc>
                <a:spcPct val="110000"/>
              </a:lnSpc>
              <a:buClr>
                <a:srgbClr val="0B61FF"/>
              </a:buClr>
              <a:buSzPct val="120000"/>
            </a:pP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③</a:t>
            </a:r>
          </a:p>
          <a:p>
            <a:pPr marL="361950" indent="-180975" eaLnBrk="1" hangingPunct="1">
              <a:lnSpc>
                <a:spcPct val="11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From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②</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③</a:t>
            </a:r>
          </a:p>
          <a:p>
            <a:pPr eaLnBrk="1" hangingPunct="1">
              <a:lnSpc>
                <a:spcPct val="110000"/>
              </a:lnSpc>
            </a:pP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④</a:t>
            </a:r>
          </a:p>
          <a:p>
            <a:pPr marL="361950" indent="-180975" eaLnBrk="1" hangingPunct="1">
              <a:lnSpc>
                <a:spcPct val="11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Combining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①</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④</a:t>
            </a:r>
            <a:r>
              <a:rPr lang="en-US" altLang="zh-CN" sz="2400" dirty="0">
                <a:solidFill>
                  <a:schemeClr val="tx1"/>
                </a:solidFill>
                <a:latin typeface="Trebuchet MS" panose="020B0603020202020204" pitchFamily="34" charset="0"/>
              </a:rPr>
              <a:t> we obtain</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marL="361950" indent="-180975" eaLnBrk="1" hangingPunct="1">
              <a:lnSpc>
                <a:spcPct val="11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Similarly, we can prove:</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marL="361950" indent="-180975" eaLnBrk="1" hangingPunct="1">
              <a:lnSpc>
                <a:spcPct val="11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By the </a:t>
            </a:r>
            <a:r>
              <a:rPr lang="en-US" altLang="zh-CN" sz="2400" b="1" dirty="0" err="1">
                <a:solidFill>
                  <a:schemeClr val="tx1"/>
                </a:solidFill>
                <a:latin typeface="Trebuchet MS" panose="020B0603020202020204" pitchFamily="34" charset="0"/>
              </a:rPr>
              <a:t>antisymmetry</a:t>
            </a:r>
            <a:r>
              <a:rPr lang="en-US" altLang="zh-CN" sz="2400" dirty="0">
                <a:solidFill>
                  <a:schemeClr val="tx1"/>
                </a:solidFill>
                <a:latin typeface="Trebuchet MS" panose="020B0603020202020204" pitchFamily="34" charset="0"/>
              </a:rPr>
              <a:t> of the partial order, it follows that: </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sym typeface="Symbol" panose="05050102010706020507" pitchFamily="18" charset="2"/>
              </a:rPr>
              <a:t>c</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a:p>
            <a:pPr marL="361950" indent="-180975" eaLnBrk="1" hangingPunct="1">
              <a:lnSpc>
                <a:spcPct val="11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By the </a:t>
            </a:r>
            <a:r>
              <a:rPr lang="en-US" altLang="zh-CN" sz="2400" b="1" dirty="0">
                <a:solidFill>
                  <a:schemeClr val="tx1"/>
                </a:solidFill>
                <a:latin typeface="Trebuchet MS" panose="020B0603020202020204" pitchFamily="34" charset="0"/>
              </a:rPr>
              <a:t>principle of duality</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c </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a:solidFill>
                  <a:schemeClr val="tx1"/>
                </a:solidFill>
                <a:latin typeface="Trebuchet MS" panose="020B0603020202020204" pitchFamily="34" charset="0"/>
                <a:ea typeface="+mn-ea"/>
                <a:cs typeface="Times New Roman" panose="02020603050405020304" pitchFamily="18" charset="0"/>
              </a:rPr>
              <a:t>a</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rPr>
              <a:t>can also be proved, that is, the </a:t>
            </a:r>
            <a:r>
              <a:rPr lang="en-US" altLang="zh-CN" sz="2400" b="1" i="1" dirty="0">
                <a:solidFill>
                  <a:srgbClr val="0B61FF"/>
                </a:solidFill>
                <a:latin typeface="Trebuchet MS" panose="020B0603020202020204" pitchFamily="34" charset="0"/>
              </a:rPr>
              <a:t>associative law holds</a:t>
            </a:r>
            <a:r>
              <a:rPr lang="en-US" altLang="zh-CN" sz="2400" dirty="0">
                <a:solidFill>
                  <a:schemeClr val="tx1"/>
                </a:solidFill>
                <a:latin typeface="Trebuchet MS" panose="020B0603020202020204" pitchFamily="34" charset="0"/>
              </a:rPr>
              <a:t>.</a:t>
            </a:r>
            <a:endParaRPr lang="en-US" altLang="zh-CN" sz="2400" b="1" dirty="0">
              <a:solidFill>
                <a:schemeClr val="tx1"/>
              </a:solidFill>
              <a:latin typeface="Trebuchet MS" panose="020B0603020202020204" pitchFamily="34" charset="0"/>
              <a:ea typeface="+mn-ea"/>
              <a:cs typeface="Times New Roman" panose="02020603050405020304" pitchFamily="18" charset="0"/>
            </a:endParaRPr>
          </a:p>
        </p:txBody>
      </p:sp>
    </p:spTree>
    <p:extLst>
      <p:ext uri="{BB962C8B-B14F-4D97-AF65-F5344CB8AC3E}">
        <p14:creationId xmlns:p14="http://schemas.microsoft.com/office/powerpoint/2010/main" val="455185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animEffect transition="in" filter="fade">
                                      <p:cBhvr>
                                        <p:cTn id="7" dur="1000"/>
                                        <p:tgtEl>
                                          <p:spTgt spid="8">
                                            <p:txEl>
                                              <p:pRg st="5" end="5"/>
                                            </p:txEl>
                                          </p:spTgt>
                                        </p:tgtEl>
                                      </p:cBhvr>
                                    </p:animEffect>
                                    <p:anim calcmode="lin" valueType="num">
                                      <p:cBhvr>
                                        <p:cTn id="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6" end="6"/>
                                            </p:txEl>
                                          </p:spTgt>
                                        </p:tgtEl>
                                        <p:attrNameLst>
                                          <p:attrName>style.visibility</p:attrName>
                                        </p:attrNameLst>
                                      </p:cBhvr>
                                      <p:to>
                                        <p:strVal val="visible"/>
                                      </p:to>
                                    </p:set>
                                    <p:animEffect transition="in" filter="fade">
                                      <p:cBhvr>
                                        <p:cTn id="12" dur="1000"/>
                                        <p:tgtEl>
                                          <p:spTgt spid="8">
                                            <p:txEl>
                                              <p:pRg st="6" end="6"/>
                                            </p:txEl>
                                          </p:spTgt>
                                        </p:tgtEl>
                                      </p:cBhvr>
                                    </p:animEffect>
                                    <p:anim calcmode="lin" valueType="num">
                                      <p:cBhvr>
                                        <p:cTn id="1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animEffect transition="in" filter="fade">
                                      <p:cBhvr>
                                        <p:cTn id="19" dur="1000"/>
                                        <p:tgtEl>
                                          <p:spTgt spid="8">
                                            <p:txEl>
                                              <p:pRg st="7" end="7"/>
                                            </p:txEl>
                                          </p:spTgt>
                                        </p:tgtEl>
                                      </p:cBhvr>
                                    </p:animEffect>
                                    <p:anim calcmode="lin" valueType="num">
                                      <p:cBhvr>
                                        <p:cTn id="2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8" end="8"/>
                                            </p:txEl>
                                          </p:spTgt>
                                        </p:tgtEl>
                                        <p:attrNameLst>
                                          <p:attrName>style.visibility</p:attrName>
                                        </p:attrNameLst>
                                      </p:cBhvr>
                                      <p:to>
                                        <p:strVal val="visible"/>
                                      </p:to>
                                    </p:set>
                                    <p:animEffect transition="in" filter="fade">
                                      <p:cBhvr>
                                        <p:cTn id="26" dur="1000"/>
                                        <p:tgtEl>
                                          <p:spTgt spid="8">
                                            <p:txEl>
                                              <p:pRg st="8" end="8"/>
                                            </p:txEl>
                                          </p:spTgt>
                                        </p:tgtEl>
                                      </p:cBhvr>
                                    </p:animEffect>
                                    <p:anim calcmode="lin" valueType="num">
                                      <p:cBhvr>
                                        <p:cTn id="27"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9" end="9"/>
                                            </p:txEl>
                                          </p:spTgt>
                                        </p:tgtEl>
                                        <p:attrNameLst>
                                          <p:attrName>style.visibility</p:attrName>
                                        </p:attrNameLst>
                                      </p:cBhvr>
                                      <p:to>
                                        <p:strVal val="visible"/>
                                      </p:to>
                                    </p:set>
                                    <p:animEffect transition="in" filter="fade">
                                      <p:cBhvr>
                                        <p:cTn id="33" dur="1000"/>
                                        <p:tgtEl>
                                          <p:spTgt spid="8">
                                            <p:txEl>
                                              <p:pRg st="9" end="9"/>
                                            </p:txEl>
                                          </p:spTgt>
                                        </p:tgtEl>
                                      </p:cBhvr>
                                    </p:animEffect>
                                    <p:anim calcmode="lin" valueType="num">
                                      <p:cBhvr>
                                        <p:cTn id="34"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xEl>
                                              <p:pRg st="10" end="10"/>
                                            </p:txEl>
                                          </p:spTgt>
                                        </p:tgtEl>
                                        <p:attrNameLst>
                                          <p:attrName>style.visibility</p:attrName>
                                        </p:attrNameLst>
                                      </p:cBhvr>
                                      <p:to>
                                        <p:strVal val="visible"/>
                                      </p:to>
                                    </p:set>
                                    <p:animEffect transition="in" filter="fade">
                                      <p:cBhvr>
                                        <p:cTn id="40" dur="1000"/>
                                        <p:tgtEl>
                                          <p:spTgt spid="8">
                                            <p:txEl>
                                              <p:pRg st="10" end="10"/>
                                            </p:txEl>
                                          </p:spTgt>
                                        </p:tgtEl>
                                      </p:cBhvr>
                                    </p:animEffect>
                                    <p:anim calcmode="lin" valueType="num">
                                      <p:cBhvr>
                                        <p:cTn id="41"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Definition of a Lattice – Algebraic Perspective</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id="{8D494CFF-72C5-49B9-BC21-8FDB15EF2DC9}"/>
              </a:ext>
            </a:extLst>
          </p:cNvPr>
          <p:cNvSpPr>
            <a:spLocks noChangeArrowheads="1"/>
          </p:cNvSpPr>
          <p:nvPr/>
        </p:nvSpPr>
        <p:spPr bwMode="auto">
          <a:xfrm>
            <a:off x="1000124" y="815365"/>
            <a:ext cx="10022125" cy="534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eaLnBrk="0" hangingPunct="0">
              <a:tabLst>
                <a:tab pos="571500" algn="l"/>
              </a:tabLst>
              <a:defRPr>
                <a:solidFill>
                  <a:schemeClr val="accent2"/>
                </a:solidFill>
                <a:latin typeface="Arial" panose="020B0604020202020204" pitchFamily="34" charset="0"/>
                <a:ea typeface="华文行楷" panose="02010800040101010101" pitchFamily="2" charset="-122"/>
              </a:defRPr>
            </a:lvl1pPr>
            <a:lvl2pPr marL="742950" indent="-285750" eaLnBrk="0" hangingPunct="0">
              <a:tabLst>
                <a:tab pos="571500" algn="l"/>
              </a:tabLst>
              <a:defRPr>
                <a:solidFill>
                  <a:schemeClr val="accent2"/>
                </a:solidFill>
                <a:latin typeface="Arial" panose="020B0604020202020204" pitchFamily="34" charset="0"/>
                <a:ea typeface="华文行楷" panose="02010800040101010101" pitchFamily="2" charset="-122"/>
              </a:defRPr>
            </a:lvl2pPr>
            <a:lvl3pPr marL="1143000" indent="-228600" eaLnBrk="0" hangingPunct="0">
              <a:tabLst>
                <a:tab pos="571500" algn="l"/>
              </a:tabLst>
              <a:defRPr>
                <a:solidFill>
                  <a:schemeClr val="accent2"/>
                </a:solidFill>
                <a:latin typeface="Arial" panose="020B0604020202020204" pitchFamily="34" charset="0"/>
                <a:ea typeface="华文行楷" panose="02010800040101010101" pitchFamily="2" charset="-122"/>
              </a:defRPr>
            </a:lvl3pPr>
            <a:lvl4pPr marL="1600200" indent="-228600" eaLnBrk="0" hangingPunct="0">
              <a:tabLst>
                <a:tab pos="571500" algn="l"/>
              </a:tabLst>
              <a:defRPr>
                <a:solidFill>
                  <a:schemeClr val="accent2"/>
                </a:solidFill>
                <a:latin typeface="Arial" panose="020B0604020202020204" pitchFamily="34" charset="0"/>
                <a:ea typeface="华文行楷" panose="02010800040101010101" pitchFamily="2" charset="-122"/>
              </a:defRPr>
            </a:lvl4pPr>
            <a:lvl5pPr marL="2057400" indent="-228600" eaLnBrk="0" hangingPunct="0">
              <a:tabLst>
                <a:tab pos="571500" algn="l"/>
              </a:tabLst>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tabLst>
                <a:tab pos="571500" algn="l"/>
              </a:tabLs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tabLst>
                <a:tab pos="571500" algn="l"/>
              </a:tabLs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tabLst>
                <a:tab pos="571500" algn="l"/>
              </a:tabLs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tabLst>
                <a:tab pos="571500" algn="l"/>
              </a:tabLst>
              <a:defRPr>
                <a:solidFill>
                  <a:schemeClr val="accent2"/>
                </a:solidFill>
                <a:latin typeface="Arial" panose="020B0604020202020204" pitchFamily="34" charset="0"/>
                <a:ea typeface="华文行楷" panose="02010800040101010101" pitchFamily="2" charset="-122"/>
              </a:defRPr>
            </a:lvl9pPr>
          </a:lstStyle>
          <a:p>
            <a:pPr marL="342900" indent="-342900" eaLnBrk="1" hangingPunct="1">
              <a:lnSpc>
                <a:spcPct val="120000"/>
              </a:lnSpc>
              <a:buClr>
                <a:srgbClr val="0B61FF"/>
              </a:buClr>
              <a:buSzPct val="80000"/>
              <a:buFont typeface="Wingdings" panose="05000000000000000000" pitchFamily="2" charset="2"/>
              <a:buChar char="n"/>
            </a:pPr>
            <a:r>
              <a:rPr lang="en-US" altLang="zh-CN" sz="2400" dirty="0">
                <a:solidFill>
                  <a:schemeClr val="tx1"/>
                </a:solidFill>
                <a:latin typeface="Trebuchet MS" panose="020B0603020202020204" pitchFamily="34" charset="0"/>
              </a:rPr>
              <a:t>A </a:t>
            </a:r>
            <a:r>
              <a:rPr lang="en-US" altLang="zh-CN" sz="2400" b="1" dirty="0">
                <a:solidFill>
                  <a:srgbClr val="FF0000"/>
                </a:solidFill>
                <a:latin typeface="Trebuchet MS" panose="020B0603020202020204" pitchFamily="34" charset="0"/>
              </a:rPr>
              <a:t>lattice</a:t>
            </a:r>
            <a:r>
              <a:rPr lang="en-US" altLang="zh-CN" sz="2400" dirty="0">
                <a:solidFill>
                  <a:schemeClr val="tx1"/>
                </a:solidFill>
                <a:latin typeface="Trebuchet MS" panose="020B0603020202020204" pitchFamily="34" charset="0"/>
              </a:rPr>
              <a:t> can be </a:t>
            </a:r>
            <a:r>
              <a:rPr lang="en-US" altLang="zh-CN" sz="2400" b="1" i="1" dirty="0">
                <a:solidFill>
                  <a:srgbClr val="0B61FF"/>
                </a:solidFill>
                <a:latin typeface="Trebuchet MS" panose="020B0603020202020204" pitchFamily="34" charset="0"/>
              </a:rPr>
              <a:t>characterized as an algebraic structure </a:t>
            </a:r>
            <a:r>
              <a:rPr lang="en-US" altLang="zh-CN" sz="2400" dirty="0">
                <a:solidFill>
                  <a:schemeClr val="tx1"/>
                </a:solidFill>
                <a:latin typeface="Trebuchet MS" panose="020B0603020202020204" pitchFamily="34" charset="0"/>
              </a:rPr>
              <a:t>with join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and meet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operations satisfying commutativity, associativity, and absorption laws, </a:t>
            </a:r>
            <a:r>
              <a:rPr lang="en-US" altLang="zh-CN" sz="2400" b="1" i="1" dirty="0">
                <a:solidFill>
                  <a:srgbClr val="0B61FF"/>
                </a:solidFill>
                <a:latin typeface="Trebuchet MS" panose="020B0603020202020204" pitchFamily="34" charset="0"/>
              </a:rPr>
              <a:t>or</a:t>
            </a:r>
            <a:r>
              <a:rPr lang="en-US" altLang="zh-CN" sz="2400" dirty="0">
                <a:solidFill>
                  <a:schemeClr val="tx1"/>
                </a:solidFill>
                <a:latin typeface="Trebuchet MS" panose="020B0603020202020204" pitchFamily="34" charset="0"/>
              </a:rPr>
              <a:t> </a:t>
            </a:r>
            <a:r>
              <a:rPr lang="en-US" altLang="zh-CN" sz="2400" b="1" i="1" dirty="0">
                <a:solidFill>
                  <a:srgbClr val="0B61FF"/>
                </a:solidFill>
                <a:latin typeface="Trebuchet MS" panose="020B0603020202020204" pitchFamily="34" charset="0"/>
              </a:rPr>
              <a:t>as a </a:t>
            </a:r>
            <a:r>
              <a:rPr lang="en-US" altLang="zh-CN" sz="2400" b="1" i="1" dirty="0" err="1">
                <a:solidFill>
                  <a:srgbClr val="0B61FF"/>
                </a:solidFill>
                <a:latin typeface="Trebuchet MS" panose="020B0603020202020204" pitchFamily="34" charset="0"/>
              </a:rPr>
              <a:t>poset</a:t>
            </a:r>
            <a:r>
              <a:rPr lang="en-US" altLang="zh-CN" sz="2400" b="1" i="1" dirty="0">
                <a:solidFill>
                  <a:srgbClr val="0B61FF"/>
                </a:solidFill>
                <a:latin typeface="Trebuchet MS" panose="020B0603020202020204" pitchFamily="34" charset="0"/>
              </a:rPr>
              <a:t> </a:t>
            </a:r>
            <a:r>
              <a:rPr lang="en-US" altLang="zh-CN" sz="2400" dirty="0">
                <a:solidFill>
                  <a:schemeClr val="tx1"/>
                </a:solidFill>
                <a:latin typeface="Trebuchet MS" panose="020B0603020202020204" pitchFamily="34" charset="0"/>
              </a:rPr>
              <a:t>in which every pair of elements has a least upper bound and a greatest lower bound.</a:t>
            </a:r>
            <a:endParaRPr lang="en-US" altLang="zh-CN" sz="2400" b="1" dirty="0">
              <a:solidFill>
                <a:schemeClr val="tx1"/>
              </a:solidFill>
              <a:latin typeface="Trebuchet MS" panose="020B0603020202020204" pitchFamily="34" charset="0"/>
            </a:endParaRPr>
          </a:p>
          <a:p>
            <a:pPr marL="342900" indent="-342900" eaLnBrk="1" hangingPunct="1">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Definition 9.24</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rPr>
              <a:t>Let </a:t>
            </a:r>
            <a:r>
              <a:rPr lang="en-US" altLang="zh-CN" sz="2400" b="1" kern="22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22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kern="22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zh-CN" sz="2400" b="1" kern="2200" dirty="0">
                <a:solidFill>
                  <a:schemeClr val="tx1"/>
                </a:solidFill>
                <a:latin typeface="Trebuchet MS" panose="020B0603020202020204" pitchFamily="34" charset="0"/>
                <a:ea typeface="MS Gothic" panose="020B0609070205080204" pitchFamily="49" charset="-128"/>
                <a:cs typeface="MS Gothic" panose="020B0609070205080204" pitchFamily="49" charset="-128"/>
              </a:rPr>
              <a:t>∗</a:t>
            </a:r>
            <a:r>
              <a:rPr lang="en-US" altLang="zh-CN" sz="2400" b="1" kern="22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zh-CN" sz="2400" b="1" kern="2200" dirty="0">
                <a:solidFill>
                  <a:schemeClr val="tx1"/>
                </a:solidFill>
                <a:latin typeface="Trebuchet MS" panose="020B0603020202020204" pitchFamily="34" charset="0"/>
                <a:ea typeface="MS Gothic" panose="020B0609070205080204" pitchFamily="49" charset="-128"/>
                <a:cs typeface="MS Gothic" panose="020B0609070205080204" pitchFamily="49" charset="-128"/>
              </a:rPr>
              <a:t>∘</a:t>
            </a:r>
            <a:r>
              <a:rPr lang="en-US" altLang="zh-CN" sz="2400" b="1" kern="22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zh-CN" sz="2400" b="1" kern="22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rPr>
              <a:t>be an </a:t>
            </a:r>
            <a:r>
              <a:rPr lang="en-US" altLang="zh-CN" sz="2400" b="1" dirty="0">
                <a:solidFill>
                  <a:schemeClr val="tx1"/>
                </a:solidFill>
                <a:latin typeface="Trebuchet MS" panose="020B0603020202020204" pitchFamily="34" charset="0"/>
              </a:rPr>
              <a:t>algebraic system</a:t>
            </a:r>
            <a:r>
              <a:rPr lang="en-US" altLang="zh-CN" sz="2400" dirty="0">
                <a:solidFill>
                  <a:schemeClr val="tx1"/>
                </a:solidFill>
                <a:latin typeface="Trebuchet MS" panose="020B0603020202020204" pitchFamily="34" charset="0"/>
              </a:rPr>
              <a:t> with two binary operations. If the operations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satisfy the </a:t>
            </a:r>
            <a:r>
              <a:rPr lang="en-US" altLang="zh-CN" sz="2400" b="1" dirty="0">
                <a:solidFill>
                  <a:schemeClr val="tx1"/>
                </a:solidFill>
                <a:latin typeface="Trebuchet MS" panose="020B0603020202020204" pitchFamily="34" charset="0"/>
              </a:rPr>
              <a:t>commutative law</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associative law</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absorption law</a:t>
            </a:r>
            <a:r>
              <a:rPr lang="en-US" altLang="zh-CN" sz="2400" dirty="0">
                <a:solidFill>
                  <a:schemeClr val="tx1"/>
                </a:solidFill>
                <a:latin typeface="Trebuchet MS" panose="020B0603020202020204" pitchFamily="34" charset="0"/>
              </a:rPr>
              <a:t>, then a partial order </a:t>
            </a:r>
            <a:r>
              <a:rPr lang="zh-CN" altLang="en-US" sz="2400" b="1" dirty="0">
                <a:solidFill>
                  <a:schemeClr val="tx1"/>
                </a:solidFill>
                <a:latin typeface="Trebuchet MS" panose="020B0603020202020204" pitchFamily="34" charset="0"/>
              </a:rPr>
              <a:t>≼</a:t>
            </a:r>
            <a:r>
              <a:rPr lang="zh-CN" altLang="en-US" sz="2400"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rPr>
              <a:t>can be suitably defined on </a:t>
            </a:r>
            <a:r>
              <a:rPr lang="en-US" altLang="zh-CN" sz="2400" b="1" i="1" dirty="0">
                <a:solidFill>
                  <a:schemeClr val="tx1"/>
                </a:solidFill>
                <a:latin typeface="Trebuchet MS" panose="020B0603020202020204" pitchFamily="34" charset="0"/>
              </a:rPr>
              <a:t>S </a:t>
            </a:r>
            <a:r>
              <a:rPr lang="en-US" altLang="zh-CN" sz="2400" dirty="0">
                <a:solidFill>
                  <a:schemeClr val="tx1"/>
                </a:solidFill>
                <a:latin typeface="Trebuchet MS" panose="020B0603020202020204" pitchFamily="34" charset="0"/>
              </a:rPr>
              <a:t>such that </a:t>
            </a:r>
            <a:r>
              <a:rPr lang="en-US" altLang="zh-CN" sz="2400" b="1" dirty="0">
                <a:solidFill>
                  <a:srgbClr val="FF0000"/>
                </a:solidFill>
                <a:latin typeface="Trebuchet MS" panose="020B0603020202020204" pitchFamily="34" charset="0"/>
              </a:rPr>
              <a:t>&lt;</a:t>
            </a:r>
            <a:r>
              <a:rPr lang="en-US" altLang="zh-CN" sz="2400" b="1" i="1" dirty="0">
                <a:solidFill>
                  <a:srgbClr val="FF0000"/>
                </a:solidFill>
                <a:latin typeface="Trebuchet MS" panose="020B0603020202020204" pitchFamily="34" charset="0"/>
              </a:rPr>
              <a:t>S</a:t>
            </a:r>
            <a:r>
              <a:rPr lang="en-US" altLang="zh-CN" sz="2400" b="1" dirty="0">
                <a:solidFill>
                  <a:srgbClr val="FF0000"/>
                </a:solidFill>
                <a:latin typeface="Trebuchet MS" panose="020B0603020202020204" pitchFamily="34" charset="0"/>
              </a:rPr>
              <a:t>, ≼&gt;</a:t>
            </a:r>
            <a:r>
              <a:rPr lang="en-US" altLang="zh-CN" sz="2400" dirty="0">
                <a:solidFill>
                  <a:srgbClr val="FF0000"/>
                </a:solidFill>
                <a:latin typeface="Trebuchet MS" panose="020B0603020202020204" pitchFamily="34" charset="0"/>
              </a:rPr>
              <a:t> </a:t>
            </a:r>
            <a:r>
              <a:rPr lang="en-US" altLang="zh-CN" sz="2400" dirty="0">
                <a:solidFill>
                  <a:schemeClr val="tx1"/>
                </a:solidFill>
                <a:latin typeface="Trebuchet MS" panose="020B0603020202020204" pitchFamily="34" charset="0"/>
              </a:rPr>
              <a:t>forms a </a:t>
            </a:r>
            <a:r>
              <a:rPr lang="en-US" altLang="zh-CN" sz="2400" b="1" i="1" dirty="0">
                <a:solidFill>
                  <a:srgbClr val="0B61FF"/>
                </a:solidFill>
                <a:latin typeface="Trebuchet MS" panose="020B0603020202020204" pitchFamily="34" charset="0"/>
              </a:rPr>
              <a:t>lattice</a:t>
            </a:r>
            <a:r>
              <a:rPr lang="en-US" altLang="zh-CN" sz="2400" dirty="0">
                <a:solidFill>
                  <a:schemeClr val="tx1"/>
                </a:solidFill>
                <a:latin typeface="Trebuchet MS" panose="020B0603020202020204" pitchFamily="34" charset="0"/>
              </a:rPr>
              <a:t>, and for all </a:t>
            </a:r>
            <a:r>
              <a:rPr lang="en-US" altLang="zh-CN" sz="2400" b="1" i="1" dirty="0" err="1">
                <a:solidFill>
                  <a:schemeClr val="tx1"/>
                </a:solidFill>
                <a:latin typeface="Trebuchet MS" panose="020B0603020202020204" pitchFamily="34" charset="0"/>
              </a:rPr>
              <a:t>a</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b</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S</a:t>
            </a:r>
            <a:r>
              <a:rPr lang="en-US" altLang="zh-CN" sz="2400" dirty="0">
                <a:solidFill>
                  <a:schemeClr val="tx1"/>
                </a:solidFill>
                <a:latin typeface="Trebuchet MS" panose="020B0603020202020204" pitchFamily="34" charset="0"/>
              </a:rPr>
              <a:t>, we have: </a:t>
            </a:r>
            <a:r>
              <a:rPr lang="zh-CN" altLang="en-US" sz="2400" b="1" dirty="0">
                <a:solidFill>
                  <a:schemeClr val="tx1"/>
                </a:solidFill>
                <a:latin typeface="Trebuchet MS" panose="020B0603020202020204" pitchFamily="34" charset="0"/>
                <a:ea typeface="+mn-ea"/>
                <a:cs typeface="Times New Roman" panose="02020603050405020304" pitchFamily="18" charset="0"/>
                <a:sym typeface="Symbol" panose="05050102010706020507" pitchFamily="18" charset="2"/>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S</a:t>
            </a:r>
            <a:r>
              <a:rPr lang="zh-CN" altLang="en-US"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i="1" dirty="0">
                <a:solidFill>
                  <a:schemeClr val="tx1"/>
                </a:solidFill>
                <a:latin typeface="Trebuchet MS" panose="020B0603020202020204" pitchFamily="34" charset="0"/>
                <a:ea typeface="+mn-ea"/>
                <a:cs typeface="Times New Roman" panose="02020603050405020304" pitchFamily="18" charset="0"/>
              </a:rPr>
              <a:t> </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i="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ea typeface="+mn-ea"/>
                <a:cs typeface="Times New Roman" panose="02020603050405020304" pitchFamily="18" charset="0"/>
              </a:rPr>
              <a:t>and</a:t>
            </a:r>
            <a:r>
              <a:rPr lang="zh-CN" altLang="en-US" sz="2400" b="1" i="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i="1" dirty="0">
                <a:solidFill>
                  <a:schemeClr val="tx1"/>
                </a:solidFill>
                <a:latin typeface="Trebuchet MS" panose="020B0603020202020204" pitchFamily="34" charset="0"/>
                <a:ea typeface="+mn-ea"/>
                <a:cs typeface="Times New Roman" panose="02020603050405020304" pitchFamily="18" charset="0"/>
              </a:rPr>
              <a:t> </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a:solidFill>
                  <a:schemeClr val="tx1"/>
                </a:solidFill>
                <a:latin typeface="Trebuchet MS" panose="020B0603020202020204" pitchFamily="34" charset="0"/>
                <a:ea typeface="+mn-ea"/>
                <a:cs typeface="Times New Roman" panose="02020603050405020304" pitchFamily="18" charset="0"/>
              </a:rPr>
              <a:t>a</a:t>
            </a:r>
            <a:r>
              <a:rPr lang="zh-CN" altLang="zh-CN" sz="2400" b="1" kern="2200" dirty="0">
                <a:solidFill>
                  <a:schemeClr val="tx1"/>
                </a:solidFill>
                <a:latin typeface="Trebuchet MS" panose="020B0603020202020204" pitchFamily="34" charset="0"/>
                <a:ea typeface="MS Gothic" panose="020B0609070205080204" pitchFamily="49" charset="-128"/>
                <a:cs typeface="MS Gothic" panose="020B0609070205080204" pitchFamily="49" charset="-128"/>
              </a:rPr>
              <a:t> ∘ </a:t>
            </a:r>
            <a:r>
              <a:rPr lang="en-US" altLang="zh-CN" sz="2400" b="1" i="1" dirty="0">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a:t>
            </a:r>
          </a:p>
          <a:p>
            <a:pPr marL="342900" indent="-342900" eaLnBrk="1" hangingPunct="1">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rPr>
              <a:t>Verify that the algebraic definition of a lattice and the order-theoretic definition are equivalent in characterizing the same lattice structure.</a:t>
            </a: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a:p>
            <a:pPr marL="342900" indent="-342900" eaLnBrk="1" hangingPunct="1">
              <a:lnSpc>
                <a:spcPct val="120000"/>
              </a:lnSpc>
              <a:buClr>
                <a:srgbClr val="0B61FF"/>
              </a:buClr>
              <a:buSzPct val="80000"/>
              <a:buFont typeface="Wingdings" panose="05000000000000000000" pitchFamily="2" charset="2"/>
              <a:buChar char="n"/>
            </a:pPr>
            <a:endParaRPr lang="en-US" altLang="zh-CN" sz="2400" b="1" dirty="0">
              <a:solidFill>
                <a:schemeClr val="tx1"/>
              </a:solidFill>
              <a:latin typeface="Trebuchet MS" panose="020B0603020202020204" pitchFamily="34" charset="0"/>
              <a:ea typeface="宋体" panose="02010600030101010101" pitchFamily="2" charset="-122"/>
            </a:endParaRPr>
          </a:p>
        </p:txBody>
      </p:sp>
    </p:spTree>
    <p:extLst>
      <p:ext uri="{BB962C8B-B14F-4D97-AF65-F5344CB8AC3E}">
        <p14:creationId xmlns:p14="http://schemas.microsoft.com/office/powerpoint/2010/main" val="25974973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Definition of a Lattice – Algebraic Perspective(</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4">
            <a:extLst>
              <a:ext uri="{FF2B5EF4-FFF2-40B4-BE49-F238E27FC236}">
                <a16:creationId xmlns:a16="http://schemas.microsoft.com/office/drawing/2014/main" id="{9DD8AA43-85DC-4F65-97B9-AAB9632B8EB1}"/>
              </a:ext>
            </a:extLst>
          </p:cNvPr>
          <p:cNvSpPr>
            <a:spLocks noChangeArrowheads="1"/>
          </p:cNvSpPr>
          <p:nvPr/>
        </p:nvSpPr>
        <p:spPr bwMode="auto">
          <a:xfrm>
            <a:off x="420914" y="794339"/>
            <a:ext cx="11444384" cy="581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eaLnBrk="0" hangingPunct="0">
              <a:tabLst>
                <a:tab pos="571500" algn="l"/>
              </a:tabLst>
              <a:defRPr>
                <a:solidFill>
                  <a:schemeClr val="accent2"/>
                </a:solidFill>
                <a:latin typeface="Arial" panose="020B0604020202020204" pitchFamily="34" charset="0"/>
                <a:ea typeface="华文行楷" panose="02010800040101010101" pitchFamily="2" charset="-122"/>
              </a:defRPr>
            </a:lvl1pPr>
            <a:lvl2pPr marL="742950" indent="-285750" eaLnBrk="0" hangingPunct="0">
              <a:tabLst>
                <a:tab pos="571500" algn="l"/>
              </a:tabLst>
              <a:defRPr>
                <a:solidFill>
                  <a:schemeClr val="accent2"/>
                </a:solidFill>
                <a:latin typeface="Arial" panose="020B0604020202020204" pitchFamily="34" charset="0"/>
                <a:ea typeface="华文行楷" panose="02010800040101010101" pitchFamily="2" charset="-122"/>
              </a:defRPr>
            </a:lvl2pPr>
            <a:lvl3pPr marL="1143000" indent="-228600" eaLnBrk="0" hangingPunct="0">
              <a:tabLst>
                <a:tab pos="571500" algn="l"/>
              </a:tabLst>
              <a:defRPr>
                <a:solidFill>
                  <a:schemeClr val="accent2"/>
                </a:solidFill>
                <a:latin typeface="Arial" panose="020B0604020202020204" pitchFamily="34" charset="0"/>
                <a:ea typeface="华文行楷" panose="02010800040101010101" pitchFamily="2" charset="-122"/>
              </a:defRPr>
            </a:lvl3pPr>
            <a:lvl4pPr marL="1600200" indent="-228600" eaLnBrk="0" hangingPunct="0">
              <a:tabLst>
                <a:tab pos="571500" algn="l"/>
              </a:tabLst>
              <a:defRPr>
                <a:solidFill>
                  <a:schemeClr val="accent2"/>
                </a:solidFill>
                <a:latin typeface="Arial" panose="020B0604020202020204" pitchFamily="34" charset="0"/>
                <a:ea typeface="华文行楷" panose="02010800040101010101" pitchFamily="2" charset="-122"/>
              </a:defRPr>
            </a:lvl4pPr>
            <a:lvl5pPr marL="2057400" indent="-228600" eaLnBrk="0" hangingPunct="0">
              <a:tabLst>
                <a:tab pos="571500" algn="l"/>
              </a:tabLst>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tabLst>
                <a:tab pos="571500" algn="l"/>
              </a:tabLs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tabLst>
                <a:tab pos="571500" algn="l"/>
              </a:tabLs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tabLst>
                <a:tab pos="571500" algn="l"/>
              </a:tabLs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tabLst>
                <a:tab pos="571500" algn="l"/>
              </a:tabLst>
              <a:defRPr>
                <a:solidFill>
                  <a:schemeClr val="accent2"/>
                </a:solidFill>
                <a:latin typeface="Arial" panose="020B0604020202020204" pitchFamily="34" charset="0"/>
                <a:ea typeface="华文行楷" panose="02010800040101010101" pitchFamily="2" charset="-122"/>
              </a:defRPr>
            </a:lvl9pPr>
          </a:lstStyle>
          <a:p>
            <a:pPr marL="628650" indent="-450850" eaLnBrk="1" hangingPunct="1">
              <a:lnSpc>
                <a:spcPct val="110000"/>
              </a:lnSpc>
              <a:buClr>
                <a:srgbClr val="0B61FF"/>
              </a:buClr>
              <a:buSzPct val="80000"/>
              <a:tabLst>
                <a:tab pos="539750" algn="l"/>
              </a:tabLst>
            </a:pP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①</a:t>
            </a:r>
            <a:r>
              <a:rPr lang="en-US" altLang="zh-CN" sz="2400" dirty="0">
                <a:solidFill>
                  <a:schemeClr val="tx1"/>
                </a:solidFill>
                <a:latin typeface="Trebuchet MS" panose="020B0603020202020204" pitchFamily="34" charset="0"/>
              </a:rPr>
              <a:t> Let </a:t>
            </a:r>
            <a:r>
              <a:rPr lang="en-US" altLang="zh-CN" sz="2400" b="1" i="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dirty="0">
                <a:solidFill>
                  <a:schemeClr val="tx1"/>
                </a:solidFill>
                <a:effectLst/>
                <a:latin typeface="Trebuchet MS" panose="020B0603020202020204" pitchFamily="34" charset="0"/>
                <a:cs typeface="Times New Roman" panose="02020603050405020304" pitchFamily="18" charset="0"/>
              </a:rPr>
              <a:t>{</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0,1,2,3}, </a:t>
            </a:r>
            <a:r>
              <a:rPr lang="en-US" altLang="zh-CN" sz="24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for any </a:t>
            </a:r>
            <a:r>
              <a:rPr lang="en-US" altLang="zh-CN" sz="2400" b="1" i="1" kern="100" dirty="0" err="1">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a,b</a:t>
            </a:r>
            <a:r>
              <a:rPr lang="zh-CN" altLang="en-US"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S</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rgbClr val="0B61FF"/>
                </a:solidFill>
                <a:latin typeface="Trebuchet MS" panose="020B0603020202020204" pitchFamily="34" charset="0"/>
              </a:rPr>
              <a:t>define</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effectLst/>
                <a:latin typeface="Trebuchet MS" panose="020B0603020202020204" pitchFamily="34" charset="0"/>
                <a:ea typeface="KaTeX_Math"/>
                <a:cs typeface="Times New Roman" panose="02020603050405020304" pitchFamily="18" charset="0"/>
              </a:rPr>
              <a:t>a</a:t>
            </a:r>
            <a:r>
              <a:rPr lang="zh-CN" altLang="zh-CN" sz="2400" b="1" dirty="0">
                <a:solidFill>
                  <a:srgbClr val="FF0000"/>
                </a:solidFill>
                <a:effectLst/>
                <a:latin typeface="Trebuchet MS" panose="020B0603020202020204" pitchFamily="34" charset="0"/>
                <a:ea typeface="MS Gothic" panose="020B0609070205080204" pitchFamily="49" charset="-128"/>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b</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min</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a,b</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solidFill>
                  <a:schemeClr val="tx1"/>
                </a:solidFill>
                <a:effectLst/>
                <a:latin typeface="Trebuchet MS" panose="020B0603020202020204" pitchFamily="34" charset="0"/>
                <a:ea typeface="KaTeX_Math"/>
                <a:cs typeface="Times New Roman" panose="02020603050405020304" pitchFamily="18" charset="0"/>
              </a:rPr>
              <a:t> </a:t>
            </a:r>
            <a:r>
              <a:rPr lang="en-US" altLang="zh-CN" sz="2400" b="1" i="1" dirty="0">
                <a:solidFill>
                  <a:schemeClr val="tx1"/>
                </a:solidFill>
                <a:effectLst/>
                <a:latin typeface="Trebuchet MS" panose="020B0603020202020204" pitchFamily="34" charset="0"/>
                <a:ea typeface="KaTeX_Math"/>
                <a:cs typeface="Times New Roman" panose="02020603050405020304" pitchFamily="18" charset="0"/>
              </a:rPr>
              <a:t>a</a:t>
            </a:r>
            <a:r>
              <a:rPr lang="zh-CN" altLang="zh-CN" sz="2400" b="1" dirty="0">
                <a:solidFill>
                  <a:srgbClr val="FF0000"/>
                </a:solidFill>
                <a:effectLst/>
                <a:latin typeface="Trebuchet MS" panose="020B0603020202020204" pitchFamily="34" charset="0"/>
                <a:ea typeface="MS Gothic" panose="020B0609070205080204" pitchFamily="49" charset="-128"/>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b</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max</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a,b</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p>
          <a:p>
            <a:pPr marL="628650" indent="-450850" eaLnBrk="1" hangingPunct="1">
              <a:lnSpc>
                <a:spcPct val="110000"/>
              </a:lnSpc>
              <a:buClr>
                <a:srgbClr val="0B61FF"/>
              </a:buClr>
              <a:buSzPct val="80000"/>
              <a:tabLst>
                <a:tab pos="539750" algn="l"/>
              </a:tabLst>
            </a:pPr>
            <a:r>
              <a:rPr lang="zh-CN" altLang="en-US"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②</a:t>
            </a:r>
            <a:r>
              <a:rPr lang="en-US" altLang="zh-CN" sz="2400" dirty="0">
                <a:solidFill>
                  <a:schemeClr val="tx1"/>
                </a:solidFill>
                <a:latin typeface="Trebuchet MS" panose="020B0603020202020204" pitchFamily="34" charset="0"/>
              </a:rPr>
              <a:t> Define the </a:t>
            </a:r>
            <a:r>
              <a:rPr lang="en-US" altLang="zh-CN" sz="2400" b="1" i="1" dirty="0">
                <a:solidFill>
                  <a:srgbClr val="0B61FF"/>
                </a:solidFill>
                <a:latin typeface="Trebuchet MS" panose="020B0603020202020204" pitchFamily="34" charset="0"/>
              </a:rPr>
              <a:t>partial order </a:t>
            </a:r>
            <a:r>
              <a:rPr lang="en-US" altLang="zh-CN" sz="2400" b="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by </a:t>
            </a:r>
            <a:r>
              <a:rPr lang="en-US" altLang="zh-CN" sz="2400" b="1" i="1" kern="100" dirty="0" err="1">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kern="100" dirty="0" err="1">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err="1">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solidFill>
                  <a:schemeClr val="tx1"/>
                </a:solidFill>
                <a:latin typeface="Trebuchet MS" panose="020B0603020202020204" pitchFamily="34" charset="0"/>
              </a:rPr>
              <a:t> if and only if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 b</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min</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a,b</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 </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or</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 b</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max</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a,b</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p>
          <a:p>
            <a:pPr marL="628650" indent="-450850" eaLnBrk="1" hangingPunct="1">
              <a:lnSpc>
                <a:spcPct val="110000"/>
              </a:lnSpc>
              <a:buClr>
                <a:srgbClr val="0B61FF"/>
              </a:buClr>
              <a:buSzPct val="80000"/>
              <a:tabLst>
                <a:tab pos="539750" algn="l"/>
              </a:tabLst>
            </a:pP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③</a:t>
            </a:r>
            <a:r>
              <a:rPr lang="en-US" altLang="zh-CN" sz="2400" dirty="0">
                <a:solidFill>
                  <a:schemeClr val="tx1"/>
                </a:solidFill>
                <a:latin typeface="Trebuchet MS" panose="020B0603020202020204" pitchFamily="34" charset="0"/>
              </a:rPr>
              <a:t> </a:t>
            </a:r>
            <a:r>
              <a:rPr lang="en-US" altLang="zh-CN" sz="2400" b="1" i="1" dirty="0">
                <a:solidFill>
                  <a:srgbClr val="0B61FF"/>
                </a:solidFill>
                <a:latin typeface="Trebuchet MS" panose="020B0603020202020204" pitchFamily="34" charset="0"/>
              </a:rPr>
              <a:t>Reflexivity</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min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max</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solidFill>
                  <a:schemeClr val="tx1"/>
                </a:solidFill>
                <a:latin typeface="Trebuchet MS" panose="020B0603020202020204" pitchFamily="34" charset="0"/>
              </a:rPr>
              <a:t> so reflexivity holds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p>
          <a:p>
            <a:pPr marL="628650" indent="-450850" eaLnBrk="1" hangingPunct="1">
              <a:lnSpc>
                <a:spcPct val="110000"/>
              </a:lnSpc>
              <a:buClr>
                <a:srgbClr val="0B61FF"/>
              </a:buClr>
              <a:buSzPct val="80000"/>
              <a:tabLst>
                <a:tab pos="539750" algn="l"/>
              </a:tabLst>
            </a:pP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④</a:t>
            </a:r>
            <a:r>
              <a:rPr lang="en-US" altLang="zh-CN" sz="2400" dirty="0">
                <a:solidFill>
                  <a:schemeClr val="tx1"/>
                </a:solidFill>
                <a:latin typeface="Trebuchet MS" panose="020B0603020202020204" pitchFamily="34" charset="0"/>
              </a:rPr>
              <a:t> </a:t>
            </a:r>
            <a:r>
              <a:rPr lang="en-US" altLang="zh-CN" sz="2400" b="1" i="1" dirty="0" err="1">
                <a:solidFill>
                  <a:srgbClr val="0B61FF"/>
                </a:solidFill>
                <a:latin typeface="Trebuchet MS" panose="020B0603020202020204" pitchFamily="34" charset="0"/>
              </a:rPr>
              <a:t>Antisymmetry</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means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=b),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satisfy </a:t>
            </a:r>
            <a:r>
              <a:rPr lang="en-US" altLang="zh-CN" sz="2400" dirty="0">
                <a:solidFill>
                  <a:schemeClr val="tx1"/>
                </a:solidFill>
                <a:latin typeface="Trebuchet MS" panose="020B0603020202020204" pitchFamily="34" charset="0"/>
              </a:rPr>
              <a:t>commutative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obtain</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solidFill>
                  <a:schemeClr val="tx1"/>
                </a:solidFill>
                <a:latin typeface="Trebuchet MS" panose="020B0603020202020204" pitchFamily="34" charset="0"/>
              </a:rPr>
              <a:t> thus, </a:t>
            </a:r>
            <a:r>
              <a:rPr lang="en-US" altLang="zh-CN" sz="2400" dirty="0" err="1">
                <a:solidFill>
                  <a:schemeClr val="tx1"/>
                </a:solidFill>
                <a:latin typeface="Trebuchet MS" panose="020B0603020202020204" pitchFamily="34" charset="0"/>
              </a:rPr>
              <a:t>antisymmetry</a:t>
            </a:r>
            <a:r>
              <a:rPr lang="en-US" altLang="zh-CN" sz="2400" dirty="0">
                <a:solidFill>
                  <a:schemeClr val="tx1"/>
                </a:solidFill>
                <a:latin typeface="Trebuchet MS" panose="020B0603020202020204" pitchFamily="34" charset="0"/>
              </a:rPr>
              <a:t> holds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p>
          <a:p>
            <a:pPr marL="628650" indent="-450850" eaLnBrk="1" hangingPunct="1">
              <a:lnSpc>
                <a:spcPct val="110000"/>
              </a:lnSpc>
              <a:buClr>
                <a:srgbClr val="0B61FF"/>
              </a:buClr>
              <a:buSzPct val="80000"/>
              <a:tabLst>
                <a:tab pos="539750" algn="l"/>
              </a:tabLst>
            </a:pP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⑤</a:t>
            </a:r>
            <a:r>
              <a:rPr lang="en-US" altLang="zh-CN" sz="2400" dirty="0">
                <a:solidFill>
                  <a:schemeClr val="tx1"/>
                </a:solidFill>
                <a:latin typeface="Trebuchet MS" panose="020B0603020202020204" pitchFamily="34" charset="0"/>
              </a:rPr>
              <a:t> </a:t>
            </a:r>
            <a:r>
              <a:rPr lang="en-US" altLang="zh-CN" sz="2400" b="1" i="1" dirty="0">
                <a:solidFill>
                  <a:srgbClr val="0B61FF"/>
                </a:solidFill>
                <a:latin typeface="Trebuchet MS" panose="020B0603020202020204" pitchFamily="34" charset="0"/>
              </a:rPr>
              <a:t>Transitivity</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rPr>
              <a:t>then using the associativity of </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rPr>
              <a:t>transitivity holds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p>
          <a:p>
            <a:pPr marL="628650" indent="-450850" eaLnBrk="1" hangingPunct="1">
              <a:lnSpc>
                <a:spcPct val="110000"/>
              </a:lnSpc>
              <a:buClr>
                <a:srgbClr val="0B61FF"/>
              </a:buClr>
              <a:buSzPct val="80000"/>
              <a:tabLst>
                <a:tab pos="539750" algn="l"/>
              </a:tabLst>
            </a:pP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⑥</a:t>
            </a:r>
            <a:r>
              <a:rPr lang="en-US" altLang="zh-CN" sz="2400" dirty="0">
                <a:solidFill>
                  <a:schemeClr val="tx1"/>
                </a:solidFill>
                <a:latin typeface="Trebuchet MS" panose="020B0603020202020204" pitchFamily="34" charset="0"/>
              </a:rPr>
              <a:t> Define the </a:t>
            </a:r>
            <a:r>
              <a:rPr lang="en-US" altLang="zh-CN" sz="2400" b="1" i="1" dirty="0">
                <a:solidFill>
                  <a:srgbClr val="0B61FF"/>
                </a:solidFill>
                <a:latin typeface="Trebuchet MS" panose="020B0603020202020204" pitchFamily="34" charset="0"/>
              </a:rPr>
              <a:t>greatest lower bound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min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for any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if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and</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and</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then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solidFill>
                  <a:schemeClr val="tx1"/>
                </a:solidFill>
                <a:latin typeface="Trebuchet MS" panose="020B0603020202020204" pitchFamily="34" charset="0"/>
              </a:rPr>
              <a:t> Hence, a greatest lower bound exists for any pair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p>
          <a:p>
            <a:pPr marL="628650" indent="-450850" eaLnBrk="1" hangingPunct="1">
              <a:lnSpc>
                <a:spcPct val="110000"/>
              </a:lnSpc>
              <a:buClr>
                <a:srgbClr val="0B61FF"/>
              </a:buClr>
              <a:buSzPct val="80000"/>
              <a:tabLst>
                <a:tab pos="539750" algn="l"/>
              </a:tabLst>
            </a:pP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⑦</a:t>
            </a:r>
            <a:r>
              <a:rPr lang="en-US" altLang="zh-CN" sz="2400" dirty="0">
                <a:solidFill>
                  <a:schemeClr val="tx1"/>
                </a:solidFill>
                <a:latin typeface="Trebuchet MS" panose="020B0603020202020204" pitchFamily="34" charset="0"/>
              </a:rPr>
              <a:t> Define the </a:t>
            </a:r>
            <a:r>
              <a:rPr lang="en-US" altLang="zh-CN" sz="2400" b="1" i="1" dirty="0">
                <a:solidFill>
                  <a:srgbClr val="0B61FF"/>
                </a:solidFill>
                <a:latin typeface="Trebuchet MS" panose="020B0603020202020204" pitchFamily="34" charset="0"/>
              </a:rPr>
              <a:t>least upper bound </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max</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for any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S</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if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and</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and</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zh-CN" altLang="en-US"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then</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err="1">
                <a:solidFill>
                  <a:schemeClr val="tx1"/>
                </a:solidFill>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solidFill>
                  <a:schemeClr val="tx1"/>
                </a:solidFill>
                <a:latin typeface="Trebuchet MS" panose="020B0603020202020204" pitchFamily="34" charset="0"/>
              </a:rPr>
              <a:t> Hence, a least upper bound exists for any pair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b</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endParaRPr lang="en-US" altLang="zh-CN" sz="2400" b="1" i="1" dirty="0">
              <a:solidFill>
                <a:schemeClr val="tx1"/>
              </a:solidFill>
              <a:latin typeface="Trebuchet MS" panose="020B0603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11210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animEffect transition="in" filter="fade">
                                      <p:cBhvr>
                                        <p:cTn id="14" dur="1000"/>
                                        <p:tgtEl>
                                          <p:spTgt spid="9">
                                            <p:txEl>
                                              <p:pRg st="2" end="2"/>
                                            </p:txEl>
                                          </p:spTgt>
                                        </p:tgtEl>
                                      </p:cBhvr>
                                    </p:animEffect>
                                    <p:anim calcmode="lin" valueType="num">
                                      <p:cBhvr>
                                        <p:cTn id="15"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1000"/>
                                        <p:tgtEl>
                                          <p:spTgt spid="9">
                                            <p:txEl>
                                              <p:pRg st="3" end="3"/>
                                            </p:txEl>
                                          </p:spTgt>
                                        </p:tgtEl>
                                      </p:cBhvr>
                                    </p:animEffect>
                                    <p:anim calcmode="lin" valueType="num">
                                      <p:cBhvr>
                                        <p:cTn id="22"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1000"/>
                                        <p:tgtEl>
                                          <p:spTgt spid="9">
                                            <p:txEl>
                                              <p:pRg st="4" end="4"/>
                                            </p:txEl>
                                          </p:spTgt>
                                        </p:tgtEl>
                                      </p:cBhvr>
                                    </p:animEffect>
                                    <p:anim calcmode="lin" valueType="num">
                                      <p:cBhvr>
                                        <p:cTn id="29"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animEffect transition="in" filter="fade">
                                      <p:cBhvr>
                                        <p:cTn id="35" dur="1000"/>
                                        <p:tgtEl>
                                          <p:spTgt spid="9">
                                            <p:txEl>
                                              <p:pRg st="5" end="5"/>
                                            </p:txEl>
                                          </p:spTgt>
                                        </p:tgtEl>
                                      </p:cBhvr>
                                    </p:animEffect>
                                    <p:anim calcmode="lin" valueType="num">
                                      <p:cBhvr>
                                        <p:cTn id="36"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9">
                                            <p:txEl>
                                              <p:pRg st="6" end="6"/>
                                            </p:txEl>
                                          </p:spTgt>
                                        </p:tgtEl>
                                        <p:attrNameLst>
                                          <p:attrName>style.visibility</p:attrName>
                                        </p:attrNameLst>
                                      </p:cBhvr>
                                      <p:to>
                                        <p:strVal val="visible"/>
                                      </p:to>
                                    </p:set>
                                    <p:animEffect transition="in" filter="fade">
                                      <p:cBhvr>
                                        <p:cTn id="42" dur="1000"/>
                                        <p:tgtEl>
                                          <p:spTgt spid="9">
                                            <p:txEl>
                                              <p:pRg st="6" end="6"/>
                                            </p:txEl>
                                          </p:spTgt>
                                        </p:tgtEl>
                                      </p:cBhvr>
                                    </p:animEffect>
                                    <p:anim calcmode="lin" valueType="num">
                                      <p:cBhvr>
                                        <p:cTn id="43"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it-IT" altLang="zh-CN" sz="2400" b="1" dirty="0">
                <a:latin typeface="Trebuchet MS" panose="020B0603020202020204" pitchFamily="34" charset="0"/>
              </a:rPr>
              <a:t>Distributive lattice = lattice + distributive law</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a:extLst>
              <a:ext uri="{FF2B5EF4-FFF2-40B4-BE49-F238E27FC236}">
                <a16:creationId xmlns:a16="http://schemas.microsoft.com/office/drawing/2014/main" id="{F9E02A9C-1D25-4AFC-877B-5BBA4424507B}"/>
              </a:ext>
            </a:extLst>
          </p:cNvPr>
          <p:cNvSpPr>
            <a:spLocks noChangeArrowheads="1"/>
          </p:cNvSpPr>
          <p:nvPr/>
        </p:nvSpPr>
        <p:spPr bwMode="auto">
          <a:xfrm>
            <a:off x="843517" y="834416"/>
            <a:ext cx="10554518" cy="194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indent="266700"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6700" indent="-266700" eaLnBrk="1" hangingPunct="1">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Definition </a:t>
            </a:r>
            <a:r>
              <a:rPr lang="en-US" altLang="zh-CN" sz="2400" b="1" dirty="0">
                <a:solidFill>
                  <a:schemeClr val="tx1"/>
                </a:solidFill>
                <a:latin typeface="Trebuchet MS" panose="020B0603020202020204" pitchFamily="34" charset="0"/>
                <a:ea typeface="宋体" panose="02010600030101010101" pitchFamily="2" charset="-122"/>
              </a:rPr>
              <a:t>9.25:  </a:t>
            </a:r>
            <a:r>
              <a:rPr lang="en-US" altLang="zh-CN" sz="2400" dirty="0">
                <a:solidFill>
                  <a:schemeClr val="tx1"/>
                </a:solidFill>
                <a:latin typeface="Trebuchet MS" panose="020B0603020202020204" pitchFamily="34" charset="0"/>
                <a:ea typeface="宋体" panose="02010600030101010101" pitchFamily="2" charset="-122"/>
              </a:rPr>
              <a:t>Let</a:t>
            </a:r>
            <a:r>
              <a:rPr lang="zh-CN" altLang="en-US" sz="2400" b="1" dirty="0">
                <a:solidFill>
                  <a:schemeClr val="tx1"/>
                </a:solidFill>
                <a:latin typeface="Trebuchet MS" panose="020B0603020202020204" pitchFamily="34" charset="0"/>
                <a:ea typeface="宋体" panose="02010600030101010101" pitchFamily="2" charset="-122"/>
              </a:rPr>
              <a:t> </a:t>
            </a:r>
            <a:r>
              <a:rPr lang="en-US" altLang="zh-CN" sz="2400" b="1" dirty="0">
                <a:solidFill>
                  <a:schemeClr val="tx1"/>
                </a:solidFill>
                <a:latin typeface="Trebuchet MS" panose="020B0603020202020204" pitchFamily="34" charset="0"/>
              </a:rPr>
              <a:t>&lt;</a:t>
            </a:r>
            <a:r>
              <a:rPr lang="en-US" altLang="zh-CN" sz="2400" b="1" i="1" dirty="0">
                <a:solidFill>
                  <a:schemeClr val="tx1"/>
                </a:solidFill>
                <a:latin typeface="Trebuchet MS" panose="020B0603020202020204" pitchFamily="34" charset="0"/>
              </a:rPr>
              <a:t>L</a:t>
            </a:r>
            <a:r>
              <a:rPr lang="en-US" altLang="zh-CN" sz="2400" b="1" dirty="0">
                <a:solidFill>
                  <a:schemeClr val="tx1"/>
                </a:solidFill>
                <a:latin typeface="Trebuchet MS" panose="020B0603020202020204" pitchFamily="34" charset="0"/>
              </a:rPr>
              <a:t>,∧,∨&gt;</a:t>
            </a:r>
            <a:r>
              <a:rPr lang="en-US" altLang="zh-CN" sz="2400" dirty="0">
                <a:solidFill>
                  <a:schemeClr val="tx1"/>
                </a:solidFill>
                <a:latin typeface="Trebuchet MS" panose="020B0603020202020204" pitchFamily="34" charset="0"/>
              </a:rPr>
              <a:t> be a lattice. If for all </a:t>
            </a: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rPr>
              <a:t>a, b, </a:t>
            </a:r>
            <a:r>
              <a:rPr lang="en-US" altLang="zh-CN" sz="2400" b="1" i="1" dirty="0" err="1">
                <a:solidFill>
                  <a:schemeClr val="tx1"/>
                </a:solidFill>
                <a:latin typeface="Trebuchet MS" panose="020B0603020202020204" pitchFamily="34" charset="0"/>
              </a:rPr>
              <a:t>c</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L</a:t>
            </a:r>
            <a:r>
              <a:rPr lang="en-US" altLang="zh-CN" sz="2400" b="1" i="1"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ea typeface="宋体" panose="02010600030101010101" pitchFamily="2" charset="-122"/>
                <a:sym typeface="Symbol" panose="05050102010706020507" pitchFamily="18" charset="2"/>
              </a:rPr>
              <a:t>we</a:t>
            </a:r>
            <a:r>
              <a:rPr lang="zh-CN" altLang="en-US" sz="2400"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dirty="0">
                <a:solidFill>
                  <a:schemeClr val="tx1"/>
                </a:solidFill>
                <a:latin typeface="Trebuchet MS" panose="020B0603020202020204" pitchFamily="34" charset="0"/>
                <a:ea typeface="宋体" panose="02010600030101010101" pitchFamily="2" charset="-122"/>
                <a:sym typeface="Symbol" panose="05050102010706020507" pitchFamily="18" charset="2"/>
              </a:rPr>
              <a:t>have</a:t>
            </a:r>
            <a:r>
              <a:rPr lang="zh-CN" altLang="en-US" sz="2400"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 = (</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 ,</a:t>
            </a:r>
            <a:r>
              <a:rPr lang="zh-CN" altLang="en-US"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r>
              <a:rPr lang="en-US" altLang="zh-CN" sz="2400" b="1" i="1" dirty="0">
                <a:solidFill>
                  <a:schemeClr val="tx1"/>
                </a:solidFill>
                <a:latin typeface="Trebuchet MS" panose="020B0603020202020204" pitchFamily="34" charset="0"/>
                <a:ea typeface="宋体" panose="02010600030101010101" pitchFamily="2" charset="-122"/>
                <a:sym typeface="Symbol" panose="05050102010706020507" pitchFamily="18" charset="2"/>
              </a:rPr>
              <a:t>a</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 = (</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b</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chemeClr val="tx1"/>
                </a:solidFill>
                <a:latin typeface="Trebuchet MS" panose="020B0603020202020204" pitchFamily="34" charset="0"/>
                <a:ea typeface="宋体" panose="02010600030101010101" pitchFamily="2" charset="-122"/>
              </a:rPr>
              <a:t>(</a:t>
            </a:r>
            <a:r>
              <a:rPr lang="en-US" altLang="zh-CN" sz="2400" b="1" i="1" dirty="0" err="1">
                <a:solidFill>
                  <a:schemeClr val="tx1"/>
                </a:solidFill>
                <a:latin typeface="Trebuchet MS" panose="020B0603020202020204" pitchFamily="34" charset="0"/>
                <a:ea typeface="宋体" panose="02010600030101010101" pitchFamily="2" charset="-122"/>
              </a:rPr>
              <a:t>a</a:t>
            </a:r>
            <a:r>
              <a:rPr lang="en-US" altLang="zh-CN" sz="2400" b="1" dirty="0" err="1">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i="1" dirty="0" err="1">
                <a:solidFill>
                  <a:schemeClr val="tx1"/>
                </a:solidFill>
                <a:latin typeface="Trebuchet MS" panose="020B0603020202020204" pitchFamily="34" charset="0"/>
                <a:ea typeface="宋体" panose="02010600030101010101" pitchFamily="2" charset="-122"/>
              </a:rPr>
              <a:t>c</a:t>
            </a:r>
            <a:r>
              <a:rPr lang="en-US" altLang="zh-CN" sz="2400" b="1" dirty="0">
                <a:solidFill>
                  <a:schemeClr val="tx1"/>
                </a:solidFill>
                <a:latin typeface="Trebuchet MS" panose="020B0603020202020204" pitchFamily="34" charset="0"/>
                <a:ea typeface="宋体" panose="02010600030101010101" pitchFamily="2" charset="-122"/>
              </a:rPr>
              <a:t>) , </a:t>
            </a:r>
            <a:r>
              <a:rPr lang="zh-CN" altLang="zh-CN" sz="2400" dirty="0">
                <a:solidFill>
                  <a:schemeClr val="tx1"/>
                </a:solidFill>
                <a:latin typeface="Trebuchet MS" panose="020B0603020202020204" pitchFamily="34" charset="0"/>
              </a:rPr>
              <a:t>then </a:t>
            </a:r>
            <a:r>
              <a:rPr lang="zh-CN" altLang="zh-CN" sz="2400" b="1" i="1" dirty="0">
                <a:solidFill>
                  <a:schemeClr val="tx1"/>
                </a:solidFill>
                <a:latin typeface="Trebuchet MS" panose="020B0603020202020204" pitchFamily="34" charset="0"/>
              </a:rPr>
              <a:t>L</a:t>
            </a:r>
            <a:r>
              <a:rPr lang="zh-CN" altLang="zh-CN" sz="2400" dirty="0">
                <a:solidFill>
                  <a:schemeClr val="tx1"/>
                </a:solidFill>
                <a:latin typeface="Trebuchet MS" panose="020B0603020202020204" pitchFamily="34" charset="0"/>
              </a:rPr>
              <a:t> is called a </a:t>
            </a:r>
            <a:r>
              <a:rPr lang="zh-CN" altLang="zh-CN" sz="2400" b="1" i="1" dirty="0">
                <a:solidFill>
                  <a:srgbClr val="0B61FF"/>
                </a:solidFill>
                <a:latin typeface="Trebuchet MS" panose="020B0603020202020204" pitchFamily="34" charset="0"/>
              </a:rPr>
              <a:t>distributive lattice</a:t>
            </a:r>
            <a:r>
              <a:rPr lang="zh-CN" altLang="zh-CN" sz="2400" dirty="0">
                <a:solidFill>
                  <a:schemeClr val="tx1"/>
                </a:solidFill>
                <a:latin typeface="Trebuchet MS" panose="020B0603020202020204" pitchFamily="34" charset="0"/>
              </a:rPr>
              <a:t>.</a:t>
            </a:r>
            <a:endParaRPr lang="en-US" altLang="zh-CN" sz="2400" dirty="0">
              <a:solidFill>
                <a:schemeClr val="tx1"/>
              </a:solidFill>
              <a:latin typeface="Trebuchet MS" panose="020B0603020202020204" pitchFamily="34" charset="0"/>
            </a:endParaRPr>
          </a:p>
          <a:p>
            <a:pPr marL="266700" indent="-266700" eaLnBrk="1" hangingPunct="1">
              <a:lnSpc>
                <a:spcPct val="120000"/>
              </a:lnSpc>
              <a:buClr>
                <a:srgbClr val="0B61FF"/>
              </a:buClr>
              <a:buSzPct val="80000"/>
              <a:buFont typeface="Wingdings" panose="05000000000000000000" pitchFamily="2" charset="2"/>
              <a:buChar char="n"/>
            </a:pPr>
            <a:r>
              <a:rPr lang="zh-CN" altLang="zh-CN" sz="2400" b="1" dirty="0">
                <a:solidFill>
                  <a:schemeClr val="tx1"/>
                </a:solidFill>
                <a:latin typeface="Trebuchet MS" panose="020B0603020202020204" pitchFamily="34" charset="0"/>
              </a:rPr>
              <a:t>Example:</a:t>
            </a:r>
            <a:r>
              <a:rPr lang="zh-CN" altLang="zh-CN" sz="2400" dirty="0">
                <a:solidFill>
                  <a:schemeClr val="tx1"/>
                </a:solidFill>
                <a:latin typeface="Trebuchet MS" panose="020B0603020202020204" pitchFamily="34" charset="0"/>
              </a:rPr>
              <a:t> Identify which lattices in the diagram are </a:t>
            </a:r>
            <a:r>
              <a:rPr lang="zh-CN" altLang="zh-CN" sz="2400" b="1" dirty="0">
                <a:solidFill>
                  <a:schemeClr val="tx1"/>
                </a:solidFill>
                <a:latin typeface="Trebuchet MS" panose="020B0603020202020204" pitchFamily="34" charset="0"/>
              </a:rPr>
              <a:t>distributive lattices</a:t>
            </a:r>
            <a:r>
              <a:rPr lang="zh-CN" altLang="zh-CN" sz="2400" dirty="0">
                <a:solidFill>
                  <a:schemeClr val="tx1"/>
                </a:solidFill>
                <a:latin typeface="Trebuchet MS" panose="020B0603020202020204" pitchFamily="34" charset="0"/>
              </a:rPr>
              <a:t>.</a:t>
            </a:r>
          </a:p>
          <a:p>
            <a:pPr marL="266700" indent="-266700" eaLnBrk="1" hangingPunct="1">
              <a:lnSpc>
                <a:spcPct val="120000"/>
              </a:lnSpc>
              <a:buClr>
                <a:srgbClr val="0B61FF"/>
              </a:buClr>
              <a:buSzPct val="80000"/>
              <a:buFont typeface="Wingdings" panose="05000000000000000000" pitchFamily="2" charset="2"/>
              <a:buChar char="n"/>
            </a:pPr>
            <a:endParaRPr lang="zh-CN" altLang="zh-CN" sz="2400" dirty="0">
              <a:solidFill>
                <a:schemeClr val="tx1"/>
              </a:solidFill>
              <a:latin typeface="Trebuchet MS" panose="020B0603020202020204" pitchFamily="34" charset="0"/>
            </a:endParaRPr>
          </a:p>
        </p:txBody>
      </p:sp>
      <p:pic>
        <p:nvPicPr>
          <p:cNvPr id="14" name="Picture 2" descr="6T3">
            <a:extLst>
              <a:ext uri="{FF2B5EF4-FFF2-40B4-BE49-F238E27FC236}">
                <a16:creationId xmlns:a16="http://schemas.microsoft.com/office/drawing/2014/main" id="{132EC39D-B9C4-4464-A688-7FC83B9487B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5556" b="5556"/>
          <a:stretch>
            <a:fillRect/>
          </a:stretch>
        </p:blipFill>
        <p:spPr bwMode="auto">
          <a:xfrm>
            <a:off x="1216025" y="2851019"/>
            <a:ext cx="67691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7">
            <a:extLst>
              <a:ext uri="{FF2B5EF4-FFF2-40B4-BE49-F238E27FC236}">
                <a16:creationId xmlns:a16="http://schemas.microsoft.com/office/drawing/2014/main" id="{3CED512E-1C67-443D-9269-0A7F63191657}"/>
              </a:ext>
            </a:extLst>
          </p:cNvPr>
          <p:cNvSpPr>
            <a:spLocks noChangeArrowheads="1"/>
          </p:cNvSpPr>
          <p:nvPr/>
        </p:nvSpPr>
        <p:spPr bwMode="auto">
          <a:xfrm>
            <a:off x="1155270" y="5580970"/>
            <a:ext cx="94111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ct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r>
              <a:rPr lang="en-US" altLang="zh-CN" sz="2400" b="1" dirty="0">
                <a:solidFill>
                  <a:schemeClr val="tx1"/>
                </a:solidFill>
                <a:latin typeface="Trebuchet MS" panose="020B0603020202020204" pitchFamily="34" charset="0"/>
              </a:rPr>
              <a:t>Solution: </a:t>
            </a:r>
            <a:r>
              <a:rPr lang="en-US" altLang="zh-CN" sz="2400" dirty="0">
                <a:solidFill>
                  <a:schemeClr val="tx1"/>
                </a:solidFill>
                <a:latin typeface="Trebuchet MS" panose="020B0603020202020204" pitchFamily="34" charset="0"/>
              </a:rPr>
              <a:t>(a) and (b) are distributive lattices, (c) and (d) are not.</a:t>
            </a:r>
            <a:endParaRPr lang="en-US" altLang="zh-CN" sz="2400" b="1" dirty="0">
              <a:solidFill>
                <a:schemeClr val="tx1"/>
              </a:solidFill>
              <a:latin typeface="Trebuchet MS" panose="020B0603020202020204" pitchFamily="34" charset="0"/>
              <a:ea typeface="+mn-ea"/>
              <a:cs typeface="Times New Roman" panose="02020603050405020304" pitchFamily="18" charset="0"/>
            </a:endParaRPr>
          </a:p>
        </p:txBody>
      </p:sp>
    </p:spTree>
    <p:extLst>
      <p:ext uri="{BB962C8B-B14F-4D97-AF65-F5344CB8AC3E}">
        <p14:creationId xmlns:p14="http://schemas.microsoft.com/office/powerpoint/2010/main" val="26480987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Determining Distributive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7">
            <a:extLst>
              <a:ext uri="{FF2B5EF4-FFF2-40B4-BE49-F238E27FC236}">
                <a16:creationId xmlns:a16="http://schemas.microsoft.com/office/drawing/2014/main" id="{3CED512E-1C67-443D-9269-0A7F63191657}"/>
              </a:ext>
            </a:extLst>
          </p:cNvPr>
          <p:cNvSpPr>
            <a:spLocks noChangeArrowheads="1"/>
          </p:cNvSpPr>
          <p:nvPr/>
        </p:nvSpPr>
        <p:spPr bwMode="auto">
          <a:xfrm>
            <a:off x="552450" y="808544"/>
            <a:ext cx="9956800" cy="53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t" anchorCtr="0">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a:lnSpc>
                <a:spcPct val="11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Solution:</a:t>
            </a:r>
            <a:r>
              <a:rPr lang="en-US" altLang="zh-CN" sz="2400" dirty="0">
                <a:solidFill>
                  <a:schemeClr val="tx1"/>
                </a:solidFill>
                <a:latin typeface="Trebuchet MS" panose="020B0603020202020204" pitchFamily="34" charset="0"/>
              </a:rPr>
              <a:t> Determine whether lattice </a:t>
            </a:r>
            <a:r>
              <a:rPr lang="en-US" altLang="zh-CN" sz="2400" b="1" dirty="0">
                <a:solidFill>
                  <a:schemeClr val="tx1"/>
                </a:solidFill>
                <a:latin typeface="Trebuchet MS" panose="020B0603020202020204" pitchFamily="34" charset="0"/>
              </a:rPr>
              <a:t>(a) </a:t>
            </a:r>
            <a:r>
              <a:rPr lang="en-US" altLang="zh-CN" sz="2400" dirty="0">
                <a:solidFill>
                  <a:schemeClr val="tx1"/>
                </a:solidFill>
                <a:latin typeface="Trebuchet MS" panose="020B0603020202020204" pitchFamily="34" charset="0"/>
              </a:rPr>
              <a:t>is a </a:t>
            </a:r>
            <a:r>
              <a:rPr lang="en-US" altLang="zh-CN" sz="2400" b="1" dirty="0">
                <a:solidFill>
                  <a:schemeClr val="tx1"/>
                </a:solidFill>
                <a:latin typeface="Trebuchet MS" panose="020B0603020202020204" pitchFamily="34" charset="0"/>
              </a:rPr>
              <a:t>distributive lattice</a:t>
            </a:r>
            <a:r>
              <a:rPr lang="en-US" altLang="zh-CN" sz="2400" dirty="0">
                <a:solidFill>
                  <a:schemeClr val="tx1"/>
                </a:solidFill>
                <a:latin typeface="Trebuchet MS" panose="020B0603020202020204" pitchFamily="34" charset="0"/>
              </a:rPr>
              <a:t>.</a:t>
            </a:r>
          </a:p>
          <a:p>
            <a:pPr marL="628650" indent="-450850">
              <a:lnSpc>
                <a:spcPct val="11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rPr>
              <a:t>① </a:t>
            </a:r>
            <a:r>
              <a:rPr lang="en-US" altLang="zh-CN" sz="2400" dirty="0">
                <a:solidFill>
                  <a:schemeClr val="tx1"/>
                </a:solidFill>
                <a:latin typeface="Trebuchet MS" panose="020B0603020202020204" pitchFamily="34" charset="0"/>
              </a:rPr>
              <a:t>The three elements </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c</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in the diagram form a simple chain </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c</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where every pair of elements has a well-defined least upper bound and greatest lower bound.</a:t>
            </a:r>
          </a:p>
          <a:p>
            <a:pPr marL="628650" indent="-450850">
              <a:lnSpc>
                <a:spcPct val="11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rPr>
              <a:t>② </a:t>
            </a:r>
            <a:r>
              <a:rPr lang="en-US" altLang="zh-CN" sz="2400" b="1" dirty="0">
                <a:solidFill>
                  <a:schemeClr val="tx1"/>
                </a:solidFill>
                <a:latin typeface="Trebuchet MS" panose="020B0603020202020204" pitchFamily="34" charset="0"/>
              </a:rPr>
              <a:t>Verify Distributive Law 1</a:t>
            </a:r>
            <a:r>
              <a:rPr lang="en-US" altLang="zh-CN" sz="2400" dirty="0">
                <a:solidFill>
                  <a:schemeClr val="tx1"/>
                </a:solidFill>
                <a:latin typeface="Trebuchet MS" panose="020B0603020202020204" pitchFamily="34" charset="0"/>
              </a:rPr>
              <a:t>: Since </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c</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we have </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c</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c</a:t>
            </a:r>
            <a:r>
              <a:rPr lang="en-US" altLang="zh-CN" sz="2400" dirty="0">
                <a:solidFill>
                  <a:schemeClr val="tx1"/>
                </a:solidFill>
                <a:latin typeface="Trebuchet MS" panose="020B0603020202020204" pitchFamily="34" charset="0"/>
              </a:rPr>
              <a:t>, so: </a:t>
            </a:r>
            <a:r>
              <a:rPr lang="en-US" altLang="zh-CN" sz="2400" b="1" i="1" dirty="0">
                <a:solidFill>
                  <a:schemeClr val="tx1"/>
                </a:solidFill>
                <a:latin typeface="Trebuchet MS" panose="020B0603020202020204" pitchFamily="34" charset="0"/>
                <a:ea typeface="+mn-ea"/>
                <a:cs typeface="Times New Roman" panose="02020603050405020304" pitchFamily="18" charset="0"/>
              </a:rPr>
              <a:t>a</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a</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rPr>
              <a:t>Since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dirty="0" err="1">
                <a:solidFill>
                  <a:schemeClr val="tx1"/>
                </a:solidFill>
                <a:latin typeface="Trebuchet MS" panose="020B0603020202020204" pitchFamily="34" charset="0"/>
                <a:ea typeface="+mn-ea"/>
                <a:cs typeface="Times New Roman" panose="02020603050405020304" pitchFamily="18" charset="0"/>
              </a:rPr>
              <a:t>we</a:t>
            </a:r>
            <a:r>
              <a:rPr lang="zh-CN" altLang="en-US" sz="2400"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ea typeface="+mn-ea"/>
                <a:cs typeface="Times New Roman" panose="02020603050405020304" pitchFamily="18" charset="0"/>
              </a:rPr>
              <a:t>have</a:t>
            </a:r>
            <a:r>
              <a:rPr lang="zh-CN" altLang="en-US" sz="2400"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a</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a</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ea typeface="+mn-ea"/>
                <a:cs typeface="Times New Roman" panose="02020603050405020304" pitchFamily="18" charset="0"/>
              </a:rPr>
              <a:t>so</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a</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ea typeface="+mn-ea"/>
                <a:cs typeface="Times New Roman" panose="02020603050405020304" pitchFamily="18" charset="0"/>
              </a:rPr>
              <a:t>The </a:t>
            </a:r>
            <a:r>
              <a:rPr lang="en-US" altLang="zh-CN" sz="2400" dirty="0" err="1">
                <a:solidFill>
                  <a:schemeClr val="tx1"/>
                </a:solidFill>
                <a:latin typeface="Trebuchet MS" panose="020B0603020202020204" pitchFamily="34" charset="0"/>
                <a:ea typeface="+mn-ea"/>
                <a:cs typeface="Times New Roman" panose="02020603050405020304" pitchFamily="18" charset="0"/>
              </a:rPr>
              <a:t>identy</a:t>
            </a:r>
            <a:r>
              <a:rPr lang="en-US" altLang="zh-CN" sz="2400"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a:solidFill>
                  <a:schemeClr val="tx1"/>
                </a:solidFill>
                <a:latin typeface="Trebuchet MS" panose="020B0603020202020204" pitchFamily="34" charset="0"/>
                <a:ea typeface="+mn-ea"/>
                <a:cs typeface="Times New Roman" panose="02020603050405020304" pitchFamily="18" charset="0"/>
              </a:rPr>
              <a:t>a</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ea typeface="+mn-ea"/>
                <a:cs typeface="Times New Roman" panose="02020603050405020304" pitchFamily="18" charset="0"/>
              </a:rPr>
              <a:t>holds</a:t>
            </a:r>
            <a:r>
              <a:rPr lang="en-US" altLang="zh-CN" sz="2400" b="1" dirty="0">
                <a:solidFill>
                  <a:schemeClr val="tx1"/>
                </a:solidFill>
                <a:latin typeface="Trebuchet MS" panose="020B0603020202020204" pitchFamily="34" charset="0"/>
                <a:ea typeface="+mn-ea"/>
                <a:cs typeface="Times New Roman" panose="02020603050405020304" pitchFamily="18" charset="0"/>
              </a:rPr>
              <a:t>.</a:t>
            </a:r>
          </a:p>
          <a:p>
            <a:pPr marL="628650" indent="-450850">
              <a:lnSpc>
                <a:spcPct val="110000"/>
              </a:lnSpc>
              <a:buClr>
                <a:srgbClr val="0B61FF"/>
              </a:buClr>
              <a:buSzPct val="80000"/>
            </a:pPr>
            <a:r>
              <a:rPr lang="zh-CN" altLang="en-US" sz="2400" dirty="0">
                <a:solidFill>
                  <a:srgbClr val="0B61FF"/>
                </a:solidFill>
                <a:latin typeface="Trebuchet MS" panose="020B0603020202020204" pitchFamily="34" charset="0"/>
                <a:ea typeface="+mn-ea"/>
                <a:cs typeface="Calibri" panose="020F0502020204030204" pitchFamily="34" charset="0"/>
              </a:rPr>
              <a:t>③</a:t>
            </a:r>
            <a:r>
              <a:rPr lang="en-US" altLang="zh-CN" sz="2400" dirty="0">
                <a:solidFill>
                  <a:srgbClr val="0B61FF"/>
                </a:solidFill>
                <a:latin typeface="Trebuchet MS" panose="020B0603020202020204" pitchFamily="34" charset="0"/>
              </a:rPr>
              <a:t> </a:t>
            </a:r>
            <a:r>
              <a:rPr lang="en-US" altLang="zh-CN" sz="2400" b="1" dirty="0">
                <a:solidFill>
                  <a:schemeClr val="tx1"/>
                </a:solidFill>
                <a:latin typeface="Trebuchet MS" panose="020B0603020202020204" pitchFamily="34" charset="0"/>
              </a:rPr>
              <a:t>Verify Distributive Law </a:t>
            </a:r>
            <a:r>
              <a:rPr lang="en-US" altLang="zh-CN" sz="2400" b="1" dirty="0">
                <a:solidFill>
                  <a:schemeClr val="tx1"/>
                </a:solidFill>
                <a:latin typeface="Trebuchet MS" panose="020B0603020202020204" pitchFamily="34" charset="0"/>
                <a:ea typeface="+mn-ea"/>
                <a:cs typeface="Times New Roman" panose="02020603050405020304" pitchFamily="18" charset="0"/>
              </a:rPr>
              <a:t>2</a:t>
            </a:r>
            <a:r>
              <a:rPr lang="zh-CN" altLang="en-US"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dirty="0">
                <a:solidFill>
                  <a:schemeClr val="tx1"/>
                </a:solidFill>
                <a:latin typeface="Trebuchet MS" panose="020B0603020202020204" pitchFamily="34" charset="0"/>
              </a:rPr>
              <a:t>Since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dirty="0">
                <a:solidFill>
                  <a:schemeClr val="tx1"/>
                </a:solidFill>
                <a:latin typeface="Trebuchet MS" panose="020B0603020202020204" pitchFamily="34" charset="0"/>
              </a:rPr>
              <a:t> we have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dirty="0">
                <a:solidFill>
                  <a:schemeClr val="tx1"/>
                </a:solidFill>
                <a:latin typeface="Trebuchet MS" panose="020B0603020202020204" pitchFamily="34" charset="0"/>
              </a:rPr>
              <a:t> so </a:t>
            </a:r>
            <a:r>
              <a:rPr lang="en-US" altLang="zh-CN" sz="2400" b="1" i="1" dirty="0">
                <a:solidFill>
                  <a:schemeClr val="tx1"/>
                </a:solidFill>
                <a:latin typeface="Trebuchet MS" panose="020B0603020202020204" pitchFamily="34" charset="0"/>
                <a:ea typeface="+mn-ea"/>
                <a:cs typeface="Times New Roman" panose="02020603050405020304" pitchFamily="18" charset="0"/>
              </a:rPr>
              <a:t>a</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i="1" dirty="0">
                <a:solidFill>
                  <a:schemeClr val="tx1"/>
                </a:solidFill>
                <a:latin typeface="Trebuchet MS" panose="020B0603020202020204" pitchFamily="34" charset="0"/>
                <a:ea typeface="+mn-ea"/>
                <a:cs typeface="Times New Roman" panose="02020603050405020304" pitchFamily="18" charset="0"/>
              </a:rPr>
              <a:t>Since</a:t>
            </a:r>
            <a:r>
              <a:rPr lang="en-US" altLang="zh-CN" sz="2400" b="1" i="1"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dirty="0" err="1">
                <a:solidFill>
                  <a:schemeClr val="tx1"/>
                </a:solidFill>
                <a:latin typeface="Trebuchet MS" panose="020B0603020202020204" pitchFamily="34" charset="0"/>
                <a:ea typeface="+mn-ea"/>
                <a:cs typeface="Times New Roman" panose="02020603050405020304" pitchFamily="18" charset="0"/>
              </a:rPr>
              <a:t>we</a:t>
            </a:r>
            <a:r>
              <a:rPr lang="zh-CN" altLang="en-US" sz="2400"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ea typeface="+mn-ea"/>
                <a:cs typeface="Times New Roman" panose="02020603050405020304" pitchFamily="18" charset="0"/>
              </a:rPr>
              <a:t>have</a:t>
            </a:r>
            <a:r>
              <a:rPr lang="zh-CN" altLang="en-US" sz="2400" dirty="0">
                <a:solidFill>
                  <a:schemeClr val="tx1"/>
                </a:solidFill>
                <a:latin typeface="Trebuchet MS" panose="020B0603020202020204" pitchFamily="34" charset="0"/>
                <a:ea typeface="+mn-ea"/>
                <a:cs typeface="Times New Roman" panose="02020603050405020304" pitchFamily="18" charset="0"/>
              </a:rPr>
              <a:t> </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dirty="0">
                <a:solidFill>
                  <a:schemeClr val="tx1"/>
                </a:solidFill>
                <a:latin typeface="Trebuchet MS" panose="020B0603020202020204" pitchFamily="34" charset="0"/>
              </a:rPr>
              <a:t> so </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rPr>
              <a:t>Thus, the identity </a:t>
            </a:r>
            <a:r>
              <a:rPr lang="en-US" altLang="zh-CN" sz="2400" b="1" i="1" dirty="0">
                <a:solidFill>
                  <a:schemeClr val="tx1"/>
                </a:solidFill>
                <a:latin typeface="Trebuchet MS" panose="020B0603020202020204" pitchFamily="34" charset="0"/>
                <a:ea typeface="+mn-ea"/>
                <a:cs typeface="Times New Roman" panose="02020603050405020304" pitchFamily="18" charset="0"/>
              </a:rPr>
              <a:t>a</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b</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a</a:t>
            </a:r>
            <a:r>
              <a:rPr lang="en-US" altLang="zh-CN" sz="2400" b="1" dirty="0" err="1">
                <a:solidFill>
                  <a:schemeClr val="tx1"/>
                </a:solidFill>
                <a:latin typeface="Trebuchet MS" panose="020B0603020202020204" pitchFamily="34" charset="0"/>
                <a:ea typeface="+mn-ea"/>
                <a:cs typeface="Times New Roman" panose="02020603050405020304" pitchFamily="18" charset="0"/>
              </a:rPr>
              <a:t>∨</a:t>
            </a:r>
            <a:r>
              <a:rPr lang="en-US" altLang="zh-CN" sz="2400" b="1" i="1" dirty="0" err="1">
                <a:solidFill>
                  <a:schemeClr val="tx1"/>
                </a:solidFill>
                <a:latin typeface="Trebuchet MS" panose="020B0603020202020204" pitchFamily="34" charset="0"/>
                <a:ea typeface="+mn-ea"/>
                <a:cs typeface="Times New Roman" panose="02020603050405020304" pitchFamily="18" charset="0"/>
              </a:rPr>
              <a:t>c</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dirty="0">
                <a:solidFill>
                  <a:schemeClr val="tx1"/>
                </a:solidFill>
                <a:latin typeface="Trebuchet MS" panose="020B0603020202020204" pitchFamily="34" charset="0"/>
                <a:ea typeface="+mn-ea"/>
                <a:cs typeface="Times New Roman" panose="02020603050405020304" pitchFamily="18" charset="0"/>
              </a:rPr>
              <a:t>holds</a:t>
            </a:r>
            <a:r>
              <a:rPr lang="en-US" altLang="zh-CN" sz="2400" b="1" dirty="0">
                <a:solidFill>
                  <a:schemeClr val="tx1"/>
                </a:solidFill>
                <a:latin typeface="Trebuchet MS" panose="020B0603020202020204" pitchFamily="34" charset="0"/>
                <a:ea typeface="+mn-ea"/>
                <a:cs typeface="Times New Roman" panose="02020603050405020304" pitchFamily="18" charset="0"/>
              </a:rPr>
              <a:t>.</a:t>
            </a:r>
          </a:p>
          <a:p>
            <a:pPr marL="628650" indent="-450850">
              <a:lnSpc>
                <a:spcPct val="110000"/>
              </a:lnSpc>
              <a:buClr>
                <a:srgbClr val="0B61FF"/>
              </a:buClr>
              <a:buSzPct val="80000"/>
            </a:pPr>
            <a:r>
              <a:rPr lang="zh-CN" altLang="zh-CN" sz="2400" dirty="0">
                <a:solidFill>
                  <a:schemeClr val="tx1"/>
                </a:solidFill>
                <a:latin typeface="Trebuchet MS" panose="020B0603020202020204" pitchFamily="34" charset="0"/>
              </a:rPr>
              <a:t>Therefore, lattice </a:t>
            </a:r>
            <a:r>
              <a:rPr lang="zh-CN" altLang="zh-CN" sz="2400" b="1" dirty="0">
                <a:solidFill>
                  <a:schemeClr val="tx1"/>
                </a:solidFill>
                <a:latin typeface="Trebuchet MS" panose="020B0603020202020204" pitchFamily="34" charset="0"/>
              </a:rPr>
              <a:t>(a) </a:t>
            </a:r>
            <a:r>
              <a:rPr lang="zh-CN" altLang="zh-CN" sz="2400" b="1" i="1" dirty="0">
                <a:solidFill>
                  <a:srgbClr val="0B61FF"/>
                </a:solidFill>
                <a:latin typeface="Trebuchet MS" panose="020B0603020202020204" pitchFamily="34" charset="0"/>
              </a:rPr>
              <a:t>satisfies both distributive laws</a:t>
            </a:r>
            <a:r>
              <a:rPr lang="zh-CN" altLang="zh-CN" sz="2400" dirty="0">
                <a:solidFill>
                  <a:schemeClr val="tx1"/>
                </a:solidFill>
                <a:latin typeface="Trebuchet MS" panose="020B0603020202020204" pitchFamily="34" charset="0"/>
              </a:rPr>
              <a:t> and is a </a:t>
            </a:r>
            <a:r>
              <a:rPr lang="zh-CN" altLang="zh-CN" sz="2400" b="1" dirty="0">
                <a:solidFill>
                  <a:schemeClr val="tx1"/>
                </a:solidFill>
                <a:latin typeface="Trebuchet MS" panose="020B0603020202020204" pitchFamily="34" charset="0"/>
              </a:rPr>
              <a:t>distributive lattice</a:t>
            </a:r>
            <a:r>
              <a:rPr lang="zh-CN" altLang="zh-CN" sz="2400" dirty="0">
                <a:solidFill>
                  <a:schemeClr val="tx1"/>
                </a:solidFill>
                <a:latin typeface="Trebuchet MS" panose="020B0603020202020204" pitchFamily="34" charset="0"/>
              </a:rPr>
              <a:t>.</a:t>
            </a:r>
            <a:endParaRPr lang="en-US" altLang="zh-CN" sz="2400" b="1" dirty="0">
              <a:solidFill>
                <a:schemeClr val="tx1"/>
              </a:solidFill>
              <a:latin typeface="Trebuchet MS" panose="020B0603020202020204" pitchFamily="34" charset="0"/>
              <a:ea typeface="+mn-ea"/>
              <a:cs typeface="Times New Roman" panose="02020603050405020304" pitchFamily="18" charset="0"/>
            </a:endParaRPr>
          </a:p>
        </p:txBody>
      </p:sp>
      <p:pic>
        <p:nvPicPr>
          <p:cNvPr id="11" name="图片 10">
            <a:extLst>
              <a:ext uri="{FF2B5EF4-FFF2-40B4-BE49-F238E27FC236}">
                <a16:creationId xmlns:a16="http://schemas.microsoft.com/office/drawing/2014/main" id="{A42660F4-EF38-485A-B4AB-8A95A3A50308}"/>
              </a:ext>
            </a:extLst>
          </p:cNvPr>
          <p:cNvPicPr/>
          <p:nvPr/>
        </p:nvPicPr>
        <p:blipFill>
          <a:blip r:embed="rId5"/>
          <a:stretch>
            <a:fillRect/>
          </a:stretch>
        </p:blipFill>
        <p:spPr>
          <a:xfrm>
            <a:off x="10267423" y="1233791"/>
            <a:ext cx="1084172" cy="3073625"/>
          </a:xfrm>
          <a:prstGeom prst="rect">
            <a:avLst/>
          </a:prstGeom>
        </p:spPr>
      </p:pic>
    </p:spTree>
    <p:extLst>
      <p:ext uri="{BB962C8B-B14F-4D97-AF65-F5344CB8AC3E}">
        <p14:creationId xmlns:p14="http://schemas.microsoft.com/office/powerpoint/2010/main" val="29932580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animEffect transition="in" filter="fade">
                                      <p:cBhvr>
                                        <p:cTn id="7" dur="1000"/>
                                        <p:tgtEl>
                                          <p:spTgt spid="15">
                                            <p:txEl>
                                              <p:pRg st="1" end="1"/>
                                            </p:txEl>
                                          </p:spTgt>
                                        </p:tgtEl>
                                      </p:cBhvr>
                                    </p:animEffect>
                                    <p:anim calcmode="lin" valueType="num">
                                      <p:cBhvr>
                                        <p:cTn id="8"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2" end="2"/>
                                            </p:txEl>
                                          </p:spTgt>
                                        </p:tgtEl>
                                        <p:attrNameLst>
                                          <p:attrName>style.visibility</p:attrName>
                                        </p:attrNameLst>
                                      </p:cBhvr>
                                      <p:to>
                                        <p:strVal val="visible"/>
                                      </p:to>
                                    </p:set>
                                    <p:animEffect transition="in" filter="fade">
                                      <p:cBhvr>
                                        <p:cTn id="14" dur="1000"/>
                                        <p:tgtEl>
                                          <p:spTgt spid="15">
                                            <p:txEl>
                                              <p:pRg st="2" end="2"/>
                                            </p:txEl>
                                          </p:spTgt>
                                        </p:tgtEl>
                                      </p:cBhvr>
                                    </p:animEffect>
                                    <p:anim calcmode="lin" valueType="num">
                                      <p:cBhvr>
                                        <p:cTn id="15"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3" end="3"/>
                                            </p:txEl>
                                          </p:spTgt>
                                        </p:tgtEl>
                                        <p:attrNameLst>
                                          <p:attrName>style.visibility</p:attrName>
                                        </p:attrNameLst>
                                      </p:cBhvr>
                                      <p:to>
                                        <p:strVal val="visible"/>
                                      </p:to>
                                    </p:set>
                                    <p:animEffect transition="in" filter="fade">
                                      <p:cBhvr>
                                        <p:cTn id="21" dur="1000"/>
                                        <p:tgtEl>
                                          <p:spTgt spid="15">
                                            <p:txEl>
                                              <p:pRg st="3" end="3"/>
                                            </p:txEl>
                                          </p:spTgt>
                                        </p:tgtEl>
                                      </p:cBhvr>
                                    </p:animEffect>
                                    <p:anim calcmode="lin" valueType="num">
                                      <p:cBhvr>
                                        <p:cTn id="22"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
                                            <p:txEl>
                                              <p:pRg st="4" end="4"/>
                                            </p:txEl>
                                          </p:spTgt>
                                        </p:tgtEl>
                                        <p:attrNameLst>
                                          <p:attrName>style.visibility</p:attrName>
                                        </p:attrNameLst>
                                      </p:cBhvr>
                                      <p:to>
                                        <p:strVal val="visible"/>
                                      </p:to>
                                    </p:set>
                                    <p:animEffect transition="in" filter="fade">
                                      <p:cBhvr>
                                        <p:cTn id="28" dur="1000"/>
                                        <p:tgtEl>
                                          <p:spTgt spid="15">
                                            <p:txEl>
                                              <p:pRg st="4" end="4"/>
                                            </p:txEl>
                                          </p:spTgt>
                                        </p:tgtEl>
                                      </p:cBhvr>
                                    </p:animEffect>
                                    <p:anim calcmode="lin" valueType="num">
                                      <p:cBhvr>
                                        <p:cTn id="29"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Determining Distributive Lattices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7">
            <a:extLst>
              <a:ext uri="{FF2B5EF4-FFF2-40B4-BE49-F238E27FC236}">
                <a16:creationId xmlns:a16="http://schemas.microsoft.com/office/drawing/2014/main" id="{3CED512E-1C67-443D-9269-0A7F63191657}"/>
              </a:ext>
            </a:extLst>
          </p:cNvPr>
          <p:cNvSpPr>
            <a:spLocks noChangeArrowheads="1"/>
          </p:cNvSpPr>
          <p:nvPr/>
        </p:nvSpPr>
        <p:spPr bwMode="auto">
          <a:xfrm>
            <a:off x="417101" y="756607"/>
            <a:ext cx="9677585" cy="5491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t" anchorCtr="0">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66700" indent="-266700">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Solution:</a:t>
            </a:r>
            <a:r>
              <a:rPr lang="en-US" altLang="zh-CN" sz="2400" dirty="0">
                <a:solidFill>
                  <a:schemeClr val="tx1"/>
                </a:solidFill>
                <a:latin typeface="Trebuchet MS" panose="020B0603020202020204" pitchFamily="34" charset="0"/>
              </a:rPr>
              <a:t> Determine whether lattice </a:t>
            </a:r>
            <a:r>
              <a:rPr lang="en-US" altLang="zh-CN" sz="2400" b="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is a </a:t>
            </a:r>
            <a:r>
              <a:rPr lang="en-US" altLang="zh-CN" sz="2400" b="1" dirty="0">
                <a:solidFill>
                  <a:schemeClr val="tx1"/>
                </a:solidFill>
                <a:latin typeface="Trebuchet MS" panose="020B0603020202020204" pitchFamily="34" charset="0"/>
              </a:rPr>
              <a:t>distributive lattice</a:t>
            </a:r>
            <a:r>
              <a:rPr lang="en-US" altLang="zh-CN" sz="2400" dirty="0">
                <a:solidFill>
                  <a:schemeClr val="tx1"/>
                </a:solidFill>
                <a:latin typeface="Trebuchet MS" panose="020B0603020202020204" pitchFamily="34" charset="0"/>
              </a:rPr>
              <a:t>.</a:t>
            </a:r>
          </a:p>
          <a:p>
            <a:pPr marL="539750" indent="-361950">
              <a:buClr>
                <a:srgbClr val="0B61FF"/>
              </a:buClr>
              <a:buSzPct val="80000"/>
            </a:pPr>
            <a:r>
              <a:rPr lang="en-US" altLang="zh-CN" sz="2400" b="1" dirty="0">
                <a:solidFill>
                  <a:srgbClr val="0B61FF"/>
                </a:solidFill>
                <a:latin typeface="宋体" panose="02010600030101010101" pitchFamily="2" charset="-122"/>
                <a:ea typeface="宋体" panose="02010600030101010101" pitchFamily="2" charset="-122"/>
              </a:rPr>
              <a:t>①</a:t>
            </a:r>
            <a:r>
              <a:rPr lang="en-US" altLang="zh-CN" sz="2400" dirty="0">
                <a:solidFill>
                  <a:schemeClr val="tx1"/>
                </a:solidFill>
                <a:latin typeface="Trebuchet MS" panose="020B0603020202020204" pitchFamily="34" charset="0"/>
              </a:rPr>
              <a:t>The elements </a:t>
            </a:r>
            <a:r>
              <a:rPr lang="en-US" altLang="zh-CN" sz="2400" b="1" i="1" dirty="0" err="1">
                <a:solidFill>
                  <a:schemeClr val="tx1"/>
                </a:solidFill>
                <a:latin typeface="Trebuchet MS" panose="020B0603020202020204" pitchFamily="34" charset="0"/>
                <a:cs typeface="Times New Roman" panose="02020603050405020304" pitchFamily="18" charset="0"/>
              </a:rPr>
              <a:t>a</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b</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c</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d</a:t>
            </a:r>
            <a:r>
              <a:rPr lang="en-US" altLang="zh-CN" sz="2400" b="1" dirty="0" err="1">
                <a:solidFill>
                  <a:schemeClr val="tx1"/>
                </a:solidFill>
                <a:latin typeface="Trebuchet MS" panose="020B0603020202020204" pitchFamily="34" charset="0"/>
                <a:cs typeface="Times New Roman" panose="02020603050405020304" pitchFamily="18" charset="0"/>
              </a:rPr>
              <a:t>,</a:t>
            </a:r>
            <a:r>
              <a:rPr lang="en-US" altLang="zh-CN" sz="2400" b="1" i="1" dirty="0" err="1">
                <a:solidFill>
                  <a:schemeClr val="tx1"/>
                </a:solidFill>
                <a:latin typeface="Trebuchet MS" panose="020B0603020202020204" pitchFamily="34" charset="0"/>
                <a:cs typeface="Times New Roman" panose="02020603050405020304" pitchFamily="18" charset="0"/>
              </a:rPr>
              <a:t>e</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satisfy the relations: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e</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e</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dirty="0">
                <a:solidFill>
                  <a:schemeClr val="tx1"/>
                </a:solidFill>
                <a:latin typeface="Trebuchet MS" panose="020B0603020202020204" pitchFamily="34" charset="0"/>
                <a:ea typeface="+mn-ea"/>
                <a:cs typeface="Times New Roman" panose="02020603050405020304" pitchFamily="18" charset="0"/>
              </a:rPr>
              <a:t> </a:t>
            </a:r>
            <a:r>
              <a:rPr lang="zh-CN" altLang="zh-CN" sz="2400" dirty="0">
                <a:solidFill>
                  <a:schemeClr val="tx1"/>
                </a:solidFill>
                <a:latin typeface="Trebuchet MS" panose="020B0603020202020204" pitchFamily="34" charset="0"/>
              </a:rPr>
              <a:t>Each pair of elements has a well-defined least upper bound and greatest lower bound.</a:t>
            </a:r>
            <a:endParaRPr lang="en-US" altLang="zh-CN" sz="2400" dirty="0">
              <a:solidFill>
                <a:schemeClr val="tx1"/>
              </a:solidFill>
              <a:latin typeface="Trebuchet MS" panose="020B0603020202020204" pitchFamily="34" charset="0"/>
            </a:endParaRPr>
          </a:p>
          <a:p>
            <a:pPr marL="539750" indent="-361950">
              <a:buClr>
                <a:srgbClr val="0B61FF"/>
              </a:buClr>
              <a:buSzPct val="80000"/>
            </a:pPr>
            <a:r>
              <a:rPr lang="zh-CN" altLang="en-US" sz="2400" b="1" dirty="0">
                <a:solidFill>
                  <a:srgbClr val="0B61FF"/>
                </a:solidFill>
                <a:latin typeface="Trebuchet MS" panose="020B0603020202020204" pitchFamily="34" charset="0"/>
                <a:ea typeface="+mn-ea"/>
                <a:cs typeface="Calibri" panose="020F0502020204030204" pitchFamily="34" charset="0"/>
              </a:rPr>
              <a:t>②</a:t>
            </a:r>
            <a:r>
              <a:rPr lang="en-US" altLang="zh-CN" sz="2400" b="1" dirty="0">
                <a:solidFill>
                  <a:schemeClr val="tx1"/>
                </a:solidFill>
                <a:latin typeface="Trebuchet MS" panose="020B0603020202020204" pitchFamily="34" charset="0"/>
              </a:rPr>
              <a:t>Verify Distributive Law 1: </a:t>
            </a:r>
            <a:r>
              <a:rPr lang="en-US" altLang="zh-CN" sz="2400" dirty="0">
                <a:solidFill>
                  <a:schemeClr val="tx1"/>
                </a:solidFill>
                <a:latin typeface="Trebuchet MS" panose="020B0603020202020204" pitchFamily="34" charset="0"/>
                <a:ea typeface="+mn-ea"/>
                <a:cs typeface="Times New Roman" panose="02020603050405020304" pitchFamily="18" charset="0"/>
              </a:rPr>
              <a:t>Since</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dirty="0">
                <a:solidFill>
                  <a:schemeClr val="tx1"/>
                </a:solidFill>
                <a:latin typeface="Trebuchet MS" panose="020B0603020202020204" pitchFamily="34" charset="0"/>
                <a:ea typeface="+mn-ea"/>
                <a:cs typeface="Times New Roman" panose="02020603050405020304" pitchFamily="18" charset="0"/>
              </a:rPr>
              <a:t>,</a:t>
            </a:r>
            <a:r>
              <a:rPr lang="en-US" altLang="zh-CN" sz="2400"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宋体" panose="02010600030101010101" pitchFamily="2" charset="-122"/>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we</a:t>
            </a:r>
            <a:r>
              <a:rPr lang="zh-CN" altLang="en-US"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get </a:t>
            </a:r>
            <a:r>
              <a:rPr lang="en-US" altLang="zh-CN" sz="2400" b="1" i="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dirty="0">
                <a:solidFill>
                  <a:schemeClr val="tx1"/>
                </a:solidFill>
                <a:effectLst/>
                <a:latin typeface="Trebuchet MS" panose="020B0603020202020204" pitchFamily="34" charset="0"/>
                <a:cs typeface="Times New Roman" panose="02020603050405020304" pitchFamily="18" charset="0"/>
              </a:rPr>
              <a:t>(</a:t>
            </a:r>
            <a:r>
              <a:rPr lang="en-US" altLang="zh-CN" sz="2400" b="1" i="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zh-CN"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c</a:t>
            </a:r>
            <a:r>
              <a:rPr lang="en-US" altLang="zh-CN" sz="2400" b="1" i="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a</a:t>
            </a:r>
            <a:r>
              <a:rPr lang="zh-CN"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e</a:t>
            </a:r>
            <a:r>
              <a:rPr lang="en-US" altLang="zh-CN" sz="2400" b="1" i="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a</a:t>
            </a:r>
            <a:r>
              <a:rPr lang="en-US" altLang="zh-CN" sz="2400" b="1" i="1" dirty="0">
                <a:solidFill>
                  <a:schemeClr val="tx1"/>
                </a:solidFill>
                <a:effectLst/>
                <a:latin typeface="Trebuchet MS" panose="020B0603020202020204" pitchFamily="34" charset="0"/>
                <a:cs typeface="Times New Roman" panose="02020603050405020304" pitchFamily="18" charset="0"/>
              </a:rPr>
              <a:t>. </a:t>
            </a:r>
            <a:r>
              <a:rPr lang="en-US" altLang="zh-CN" sz="2400" kern="100" dirty="0">
                <a:solidFill>
                  <a:schemeClr val="tx1"/>
                </a:solidFill>
                <a:effectLst/>
                <a:latin typeface="Trebuchet MS" panose="020B0603020202020204" pitchFamily="34" charset="0"/>
                <a:ea typeface="+mn-ea"/>
                <a:cs typeface="Times New Roman" panose="02020603050405020304" pitchFamily="18" charset="0"/>
              </a:rPr>
              <a:t>Since</a:t>
            </a:r>
            <a:r>
              <a:rPr lang="zh-CN" altLang="en-US" sz="2400" b="1" i="1" kern="100" dirty="0">
                <a:solidFill>
                  <a:schemeClr val="tx1"/>
                </a:solidFill>
                <a:effectLst/>
                <a:latin typeface="Trebuchet MS" panose="020B0603020202020204" pitchFamily="34" charset="0"/>
                <a:ea typeface="+mn-ea"/>
                <a:cs typeface="Times New Roman" panose="02020603050405020304" pitchFamily="18" charset="0"/>
              </a:rPr>
              <a:t>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a:t>
            </a:r>
            <a:r>
              <a:rPr lang="en-US" altLang="zh-CN" sz="2400" b="1" dirty="0">
                <a:solidFill>
                  <a:schemeClr val="tx1"/>
                </a:solidFill>
                <a:latin typeface="Trebuchet MS" panose="020B0603020202020204" pitchFamily="34" charset="0"/>
                <a:ea typeface="+mn-ea"/>
                <a:cs typeface="Times New Roman" panose="02020603050405020304" pitchFamily="18" charset="0"/>
              </a:rPr>
              <a:t>,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 </a:t>
            </a:r>
            <a:r>
              <a:rPr lang="en-US" altLang="zh-CN"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we</a:t>
            </a:r>
            <a:r>
              <a:rPr lang="zh-CN" altLang="en-US"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have </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Results</a:t>
            </a:r>
            <a:r>
              <a:rPr lang="en-US" altLang="zh-CN" sz="2400"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dirty="0">
                <a:solidFill>
                  <a:schemeClr val="tx1"/>
                </a:solidFill>
                <a:effectLst/>
                <a:latin typeface="Trebuchet MS" panose="020B0603020202020204" pitchFamily="34" charset="0"/>
                <a:cs typeface="Times New Roman" panose="02020603050405020304" pitchFamily="18" charset="0"/>
              </a:rPr>
              <a:t>(</a:t>
            </a:r>
            <a:r>
              <a:rPr lang="en-US" altLang="zh-CN" sz="2400" b="1" i="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zh-CN"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dirty="0">
                <a:solidFill>
                  <a:schemeClr val="tx1"/>
                </a:solidFill>
                <a:effectLst/>
                <a:latin typeface="Trebuchet MS" panose="020B0603020202020204" pitchFamily="34" charset="0"/>
                <a:cs typeface="Times New Roman" panose="02020603050405020304" pitchFamily="18" charset="0"/>
              </a:rPr>
              <a:t>c</a:t>
            </a:r>
            <a:r>
              <a:rPr lang="en-US" altLang="zh-CN" sz="2400" b="1"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zh-CN" altLang="en-US" sz="2400" b="1"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a:t>
            </a:r>
            <a:r>
              <a:rPr lang="en-US" altLang="zh-CN" sz="2400" dirty="0">
                <a:solidFill>
                  <a:schemeClr val="tx1"/>
                </a:solidFill>
                <a:latin typeface="Trebuchet MS" panose="020B0603020202020204" pitchFamily="34" charset="0"/>
              </a:rPr>
              <a:t> so </a:t>
            </a:r>
            <a:r>
              <a:rPr lang="en-US" altLang="zh-CN" sz="2400" b="1" i="1" dirty="0">
                <a:solidFill>
                  <a:srgbClr val="0B61FF"/>
                </a:solidFill>
                <a:latin typeface="Trebuchet MS" panose="020B0603020202020204" pitchFamily="34" charset="0"/>
              </a:rPr>
              <a:t>Distributive Law 1 does not hold</a:t>
            </a:r>
            <a:r>
              <a:rPr lang="en-US" altLang="zh-CN" sz="2400" dirty="0">
                <a:solidFill>
                  <a:schemeClr val="tx1"/>
                </a:solidFill>
                <a:latin typeface="Trebuchet MS" panose="020B0603020202020204" pitchFamily="34" charset="0"/>
              </a:rPr>
              <a:t>.</a:t>
            </a:r>
          </a:p>
          <a:p>
            <a:pPr marL="539750" indent="-361950">
              <a:buClr>
                <a:srgbClr val="0B61FF"/>
              </a:buClr>
              <a:buSzPct val="80000"/>
            </a:pPr>
            <a:r>
              <a:rPr lang="zh-CN" altLang="en-US" sz="2400" b="1" dirty="0">
                <a:solidFill>
                  <a:srgbClr val="0B61FF"/>
                </a:solidFill>
                <a:latin typeface="Trebuchet MS" panose="020B0603020202020204" pitchFamily="34" charset="0"/>
                <a:ea typeface="+mn-ea"/>
                <a:cs typeface="Calibri" panose="020F0502020204030204" pitchFamily="34" charset="0"/>
              </a:rPr>
              <a:t>③</a:t>
            </a:r>
            <a:r>
              <a:rPr lang="en-US" altLang="zh-CN" sz="2400" b="1" dirty="0">
                <a:solidFill>
                  <a:schemeClr val="tx1"/>
                </a:solidFill>
                <a:latin typeface="Trebuchet MS" panose="020B0603020202020204" pitchFamily="34" charset="0"/>
              </a:rPr>
              <a:t>Verify Distributive Law 2: </a:t>
            </a:r>
            <a:r>
              <a:rPr lang="en-US" altLang="zh-CN"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Since</a:t>
            </a:r>
            <a:r>
              <a:rPr lang="en-US" altLang="zh-CN" sz="2400" b="1"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 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we have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d</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Since</a:t>
            </a:r>
            <a:r>
              <a:rPr lang="en-US" altLang="zh-CN" sz="2400" b="1"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e, 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kern="100"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we have  </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e</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e</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e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Results:</a:t>
            </a:r>
            <a:r>
              <a:rPr lang="en-US"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kern="100" dirty="0">
                <a:solidFill>
                  <a:srgbClr val="FF0000"/>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b</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c</a:t>
            </a:r>
            <a:r>
              <a:rPr lang="en-US" altLang="zh-CN" sz="2400" b="1" i="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a:t>
            </a:r>
            <a:r>
              <a:rPr lang="zh-CN" altLang="zh-CN" sz="2400" b="1" kern="100" dirty="0">
                <a:solidFill>
                  <a:schemeClr val="tx1"/>
                </a:solidFill>
                <a:effectLst/>
                <a:latin typeface="Trebuchet MS" panose="020B0603020202020204" pitchFamily="34" charset="0"/>
                <a:ea typeface="宋体" panose="02010600030101010101" pitchFamily="2" charset="-122"/>
                <a:cs typeface="Times New Roman" panose="02020603050405020304" pitchFamily="18" charset="0"/>
              </a:rPr>
              <a:t>, </a:t>
            </a:r>
            <a:r>
              <a:rPr lang="en-US" altLang="zh-CN" sz="2400" dirty="0">
                <a:solidFill>
                  <a:schemeClr val="tx1"/>
                </a:solidFill>
                <a:latin typeface="Trebuchet MS" panose="020B0603020202020204" pitchFamily="34" charset="0"/>
              </a:rPr>
              <a:t>so </a:t>
            </a:r>
            <a:r>
              <a:rPr lang="en-US" altLang="zh-CN" sz="2400" b="1" i="1" dirty="0">
                <a:solidFill>
                  <a:srgbClr val="0B61FF"/>
                </a:solidFill>
                <a:latin typeface="Trebuchet MS" panose="020B0603020202020204" pitchFamily="34" charset="0"/>
              </a:rPr>
              <a:t>Distributive Law 2 also does not hold</a:t>
            </a:r>
            <a:r>
              <a:rPr lang="en-US" altLang="zh-CN" sz="2400" dirty="0">
                <a:solidFill>
                  <a:schemeClr val="tx1"/>
                </a:solidFill>
                <a:latin typeface="Trebuchet MS" panose="020B0603020202020204" pitchFamily="34" charset="0"/>
              </a:rPr>
              <a:t>.</a:t>
            </a:r>
          </a:p>
          <a:p>
            <a:pPr marL="539750" indent="-361950">
              <a:buClr>
                <a:srgbClr val="0B61FF"/>
              </a:buClr>
              <a:buSzPct val="80000"/>
            </a:pPr>
            <a:r>
              <a:rPr lang="zh-CN" altLang="zh-CN" sz="2400" dirty="0">
                <a:solidFill>
                  <a:schemeClr val="tx1"/>
                </a:solidFill>
                <a:latin typeface="Trebuchet MS" panose="020B0603020202020204" pitchFamily="34" charset="0"/>
              </a:rPr>
              <a:t>Since neithe</a:t>
            </a:r>
            <a:r>
              <a:rPr lang="zh-CN" altLang="zh-CN" sz="2400" b="1" dirty="0">
                <a:solidFill>
                  <a:schemeClr val="tx1"/>
                </a:solidFill>
                <a:latin typeface="Trebuchet MS" panose="020B0603020202020204" pitchFamily="34" charset="0"/>
              </a:rPr>
              <a:t>r</a:t>
            </a:r>
            <a:r>
              <a:rPr lang="zh-CN" altLang="zh-CN" sz="2400" dirty="0">
                <a:solidFill>
                  <a:schemeClr val="tx1"/>
                </a:solidFill>
                <a:latin typeface="Trebuchet MS" panose="020B0603020202020204" pitchFamily="34" charset="0"/>
              </a:rPr>
              <a:t> distributive law holds, </a:t>
            </a:r>
            <a:r>
              <a:rPr lang="zh-CN" altLang="zh-CN" sz="2400" b="1" i="1" dirty="0">
                <a:solidFill>
                  <a:srgbClr val="0B61FF"/>
                </a:solidFill>
                <a:latin typeface="Trebuchet MS" panose="020B0603020202020204" pitchFamily="34" charset="0"/>
              </a:rPr>
              <a:t>lattice </a:t>
            </a:r>
            <a:r>
              <a:rPr lang="zh-CN" altLang="zh-CN" sz="2400" b="1" dirty="0">
                <a:solidFill>
                  <a:srgbClr val="0B61FF"/>
                </a:solidFill>
                <a:latin typeface="Trebuchet MS" panose="020B0603020202020204" pitchFamily="34" charset="0"/>
              </a:rPr>
              <a:t>(</a:t>
            </a:r>
            <a:r>
              <a:rPr lang="zh-CN" altLang="zh-CN" sz="2400" b="1" i="1" dirty="0">
                <a:solidFill>
                  <a:srgbClr val="0B61FF"/>
                </a:solidFill>
                <a:latin typeface="Trebuchet MS" panose="020B0603020202020204" pitchFamily="34" charset="0"/>
              </a:rPr>
              <a:t>c</a:t>
            </a:r>
            <a:r>
              <a:rPr lang="zh-CN" altLang="zh-CN" sz="2400" b="1" dirty="0">
                <a:solidFill>
                  <a:srgbClr val="0B61FF"/>
                </a:solidFill>
                <a:latin typeface="Trebuchet MS" panose="020B0603020202020204" pitchFamily="34" charset="0"/>
              </a:rPr>
              <a:t>)</a:t>
            </a:r>
            <a:r>
              <a:rPr lang="zh-CN" altLang="zh-CN" sz="2400" b="1" i="1" dirty="0">
                <a:solidFill>
                  <a:srgbClr val="0B61FF"/>
                </a:solidFill>
                <a:latin typeface="Trebuchet MS" panose="020B0603020202020204" pitchFamily="34" charset="0"/>
              </a:rPr>
              <a:t> is not a distributive lattice</a:t>
            </a:r>
            <a:r>
              <a:rPr lang="zh-CN" altLang="zh-CN" sz="2400" dirty="0">
                <a:solidFill>
                  <a:schemeClr val="tx1"/>
                </a:solidFill>
                <a:latin typeface="Trebuchet MS" panose="020B0603020202020204" pitchFamily="34" charset="0"/>
              </a:rPr>
              <a:t>.</a:t>
            </a:r>
          </a:p>
          <a:p>
            <a:pPr>
              <a:lnSpc>
                <a:spcPct val="110000"/>
              </a:lnSpc>
            </a:pPr>
            <a:endParaRPr lang="en-US" altLang="zh-CN" sz="2400" b="1" dirty="0">
              <a:solidFill>
                <a:schemeClr val="tx1"/>
              </a:solidFill>
              <a:latin typeface="Trebuchet MS" panose="020B0603020202020204" pitchFamily="34" charset="0"/>
              <a:ea typeface="+mn-ea"/>
              <a:cs typeface="Times New Roman" panose="02020603050405020304" pitchFamily="18" charset="0"/>
            </a:endParaRPr>
          </a:p>
          <a:p>
            <a:endParaRPr lang="en-US" altLang="zh-CN" sz="2400" b="1" dirty="0">
              <a:solidFill>
                <a:schemeClr val="tx1"/>
              </a:solidFill>
              <a:latin typeface="Trebuchet MS" panose="020B0603020202020204" pitchFamily="34" charset="0"/>
              <a:ea typeface="+mn-ea"/>
              <a:cs typeface="Times New Roman" panose="02020603050405020304" pitchFamily="18" charset="0"/>
            </a:endParaRPr>
          </a:p>
        </p:txBody>
      </p:sp>
      <p:pic>
        <p:nvPicPr>
          <p:cNvPr id="9" name="图片 8">
            <a:extLst>
              <a:ext uri="{FF2B5EF4-FFF2-40B4-BE49-F238E27FC236}">
                <a16:creationId xmlns:a16="http://schemas.microsoft.com/office/drawing/2014/main" id="{BD6833A0-38CE-4B70-AE3F-778F9497F960}"/>
              </a:ext>
            </a:extLst>
          </p:cNvPr>
          <p:cNvPicPr/>
          <p:nvPr/>
        </p:nvPicPr>
        <p:blipFill>
          <a:blip r:embed="rId5"/>
          <a:stretch>
            <a:fillRect/>
          </a:stretch>
        </p:blipFill>
        <p:spPr>
          <a:xfrm>
            <a:off x="9895226" y="1115530"/>
            <a:ext cx="1758802" cy="2534785"/>
          </a:xfrm>
          <a:prstGeom prst="rect">
            <a:avLst/>
          </a:prstGeom>
        </p:spPr>
      </p:pic>
    </p:spTree>
    <p:extLst>
      <p:ext uri="{BB962C8B-B14F-4D97-AF65-F5344CB8AC3E}">
        <p14:creationId xmlns:p14="http://schemas.microsoft.com/office/powerpoint/2010/main" val="26137145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animEffect transition="in" filter="fade">
                                      <p:cBhvr>
                                        <p:cTn id="7" dur="1000"/>
                                        <p:tgtEl>
                                          <p:spTgt spid="15">
                                            <p:txEl>
                                              <p:pRg st="1" end="1"/>
                                            </p:txEl>
                                          </p:spTgt>
                                        </p:tgtEl>
                                      </p:cBhvr>
                                    </p:animEffect>
                                    <p:anim calcmode="lin" valueType="num">
                                      <p:cBhvr>
                                        <p:cTn id="8"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2" end="2"/>
                                            </p:txEl>
                                          </p:spTgt>
                                        </p:tgtEl>
                                        <p:attrNameLst>
                                          <p:attrName>style.visibility</p:attrName>
                                        </p:attrNameLst>
                                      </p:cBhvr>
                                      <p:to>
                                        <p:strVal val="visible"/>
                                      </p:to>
                                    </p:set>
                                    <p:animEffect transition="in" filter="fade">
                                      <p:cBhvr>
                                        <p:cTn id="14" dur="1000"/>
                                        <p:tgtEl>
                                          <p:spTgt spid="15">
                                            <p:txEl>
                                              <p:pRg st="2" end="2"/>
                                            </p:txEl>
                                          </p:spTgt>
                                        </p:tgtEl>
                                      </p:cBhvr>
                                    </p:animEffect>
                                    <p:anim calcmode="lin" valueType="num">
                                      <p:cBhvr>
                                        <p:cTn id="15"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3" end="3"/>
                                            </p:txEl>
                                          </p:spTgt>
                                        </p:tgtEl>
                                        <p:attrNameLst>
                                          <p:attrName>style.visibility</p:attrName>
                                        </p:attrNameLst>
                                      </p:cBhvr>
                                      <p:to>
                                        <p:strVal val="visible"/>
                                      </p:to>
                                    </p:set>
                                    <p:animEffect transition="in" filter="fade">
                                      <p:cBhvr>
                                        <p:cTn id="21" dur="1000"/>
                                        <p:tgtEl>
                                          <p:spTgt spid="15">
                                            <p:txEl>
                                              <p:pRg st="3" end="3"/>
                                            </p:txEl>
                                          </p:spTgt>
                                        </p:tgtEl>
                                      </p:cBhvr>
                                    </p:animEffect>
                                    <p:anim calcmode="lin" valueType="num">
                                      <p:cBhvr>
                                        <p:cTn id="22"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
                                            <p:txEl>
                                              <p:pRg st="4" end="4"/>
                                            </p:txEl>
                                          </p:spTgt>
                                        </p:tgtEl>
                                        <p:attrNameLst>
                                          <p:attrName>style.visibility</p:attrName>
                                        </p:attrNameLst>
                                      </p:cBhvr>
                                      <p:to>
                                        <p:strVal val="visible"/>
                                      </p:to>
                                    </p:set>
                                    <p:animEffect transition="in" filter="fade">
                                      <p:cBhvr>
                                        <p:cTn id="28" dur="1000"/>
                                        <p:tgtEl>
                                          <p:spTgt spid="15">
                                            <p:txEl>
                                              <p:pRg st="4" end="4"/>
                                            </p:txEl>
                                          </p:spTgt>
                                        </p:tgtEl>
                                      </p:cBhvr>
                                    </p:animEffect>
                                    <p:anim calcmode="lin" valueType="num">
                                      <p:cBhvr>
                                        <p:cTn id="29"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Bounded lattice=</a:t>
            </a:r>
            <a:r>
              <a:rPr lang="en-US" altLang="zh-CN" sz="2400" b="1" dirty="0" err="1">
                <a:latin typeface="Trebuchet MS" panose="020B0603020202020204" pitchFamily="34" charset="0"/>
              </a:rPr>
              <a:t>lattice+greatest</a:t>
            </a:r>
            <a:r>
              <a:rPr lang="en-US" altLang="zh-CN" sz="2400" b="1" dirty="0">
                <a:latin typeface="Trebuchet MS" panose="020B0603020202020204" pitchFamily="34" charset="0"/>
              </a:rPr>
              <a:t> lower bound </a:t>
            </a:r>
            <a:r>
              <a:rPr lang="en-US" altLang="zh-CN" sz="2400" b="1" dirty="0">
                <a:solidFill>
                  <a:srgbClr val="FF0000"/>
                </a:solidFill>
                <a:latin typeface="Trebuchet MS" panose="020B0603020202020204" pitchFamily="34" charset="0"/>
              </a:rPr>
              <a:t>0 </a:t>
            </a:r>
            <a:r>
              <a:rPr lang="en-US" altLang="zh-CN" sz="2400" b="1" dirty="0">
                <a:latin typeface="Trebuchet MS" panose="020B0603020202020204" pitchFamily="34" charset="0"/>
              </a:rPr>
              <a:t>+least upper bound </a:t>
            </a:r>
            <a:r>
              <a:rPr lang="en-US" altLang="zh-CN" sz="2400" dirty="0">
                <a:solidFill>
                  <a:srgbClr val="FF0000"/>
                </a:solidFill>
              </a:rPr>
              <a:t>1</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微信图片_20220318113523"/>
          <p:cNvPicPr>
            <a:picLocks noChangeAspect="1"/>
          </p:cNvPicPr>
          <p:nvPr userDrawn="1"/>
        </p:nvPicPr>
        <p:blipFill>
          <a:blip r:embed="rId3"/>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5">
            <a:extLst>
              <a:ext uri="{FF2B5EF4-FFF2-40B4-BE49-F238E27FC236}">
                <a16:creationId xmlns:a16="http://schemas.microsoft.com/office/drawing/2014/main" id="{1373CCCC-6658-4F62-9644-D068E5FFB8CC}"/>
              </a:ext>
            </a:extLst>
          </p:cNvPr>
          <p:cNvSpPr>
            <a:spLocks noChangeArrowheads="1"/>
          </p:cNvSpPr>
          <p:nvPr/>
        </p:nvSpPr>
        <p:spPr bwMode="auto">
          <a:xfrm>
            <a:off x="1172654" y="868731"/>
            <a:ext cx="8586698" cy="5353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t" anchorCtr="0">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a:lnSpc>
                <a:spcPct val="120000"/>
              </a:lnSpc>
              <a:spcBef>
                <a:spcPts val="300"/>
              </a:spcBef>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Definition 9.26</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rPr>
              <a:t>If there exists an element </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dirty="0">
                <a:solidFill>
                  <a:schemeClr val="tx1"/>
                </a:solidFill>
                <a:latin typeface="Trebuchet MS" panose="020B0603020202020204" pitchFamily="34" charset="0"/>
              </a:rPr>
              <a:t> in a lattice </a:t>
            </a:r>
            <a:r>
              <a:rPr lang="en-US" altLang="zh-CN" sz="2400" b="1" dirty="0">
                <a:solidFill>
                  <a:srgbClr val="0B61FF"/>
                </a:solidFill>
                <a:latin typeface="Trebuchet MS" panose="020B0603020202020204" pitchFamily="34" charset="0"/>
                <a:sym typeface="Symbol" panose="05050102010706020507" pitchFamily="18" charset="2"/>
              </a:rPr>
              <a:t>&lt;</a:t>
            </a:r>
            <a:r>
              <a:rPr lang="en-US" altLang="zh-CN" sz="2400" b="1" i="1" dirty="0">
                <a:solidFill>
                  <a:srgbClr val="0B61FF"/>
                </a:solidFill>
                <a:latin typeface="Trebuchet MS" panose="020B0603020202020204" pitchFamily="34" charset="0"/>
                <a:sym typeface="Symbol" panose="05050102010706020507" pitchFamily="18" charset="2"/>
              </a:rPr>
              <a:t>L</a:t>
            </a:r>
            <a:r>
              <a:rPr lang="en-US" altLang="zh-CN" sz="2400" b="1" dirty="0">
                <a:solidFill>
                  <a:srgbClr val="0B61FF"/>
                </a:solidFill>
                <a:latin typeface="Trebuchet MS" panose="020B0603020202020204" pitchFamily="34" charset="0"/>
                <a:sym typeface="Symbol" panose="05050102010706020507" pitchFamily="18" charset="2"/>
              </a:rPr>
              <a:t>, ∧, ∨, &gt;</a:t>
            </a:r>
            <a:r>
              <a:rPr lang="en-US" altLang="zh-CN" sz="2400" b="1" dirty="0">
                <a:solidFill>
                  <a:srgbClr val="0B61FF"/>
                </a:solidFill>
                <a:latin typeface="Trebuchet MS" panose="020B0603020202020204" pitchFamily="34" charset="0"/>
              </a:rPr>
              <a:t> </a:t>
            </a:r>
            <a:r>
              <a:rPr lang="en-US" altLang="zh-CN" sz="2400" dirty="0">
                <a:solidFill>
                  <a:schemeClr val="tx1"/>
                </a:solidFill>
                <a:latin typeface="Trebuchet MS" panose="020B0603020202020204" pitchFamily="34" charset="0"/>
              </a:rPr>
              <a:t>such that for </a:t>
            </a:r>
            <a:r>
              <a:rPr lang="zh-CN" altLang="en-US" sz="2400" b="1" dirty="0">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rPr>
              <a:t>b</a:t>
            </a:r>
            <a:r>
              <a:rPr lang="en-US" altLang="zh-CN" sz="2400" b="1" dirty="0" err="1">
                <a:solidFill>
                  <a:schemeClr val="tx1"/>
                </a:solidFill>
                <a:latin typeface="Trebuchet MS" panose="020B0603020202020204" pitchFamily="34" charset="0"/>
                <a:sym typeface="Symbol" panose="05050102010706020507" pitchFamily="18" charset="2"/>
              </a:rPr>
              <a:t>∈</a:t>
            </a:r>
            <a:r>
              <a:rPr lang="en-US" altLang="zh-CN" sz="2400" b="1" i="1" dirty="0" err="1">
                <a:solidFill>
                  <a:schemeClr val="tx1"/>
                </a:solidFill>
                <a:latin typeface="Trebuchet MS" panose="020B0603020202020204" pitchFamily="34" charset="0"/>
                <a:sym typeface="Symbol" panose="05050102010706020507" pitchFamily="18" charset="2"/>
              </a:rPr>
              <a:t>L</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 a</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rPr>
              <a:t> b</a:t>
            </a:r>
            <a:r>
              <a:rPr lang="en-US" altLang="zh-CN" sz="2400" dirty="0">
                <a:solidFill>
                  <a:schemeClr val="tx1"/>
                </a:solidFill>
                <a:latin typeface="Trebuchet MS" panose="020B0603020202020204" pitchFamily="34" charset="0"/>
              </a:rPr>
              <a:t>(or </a:t>
            </a:r>
            <a:r>
              <a:rPr lang="en-US" altLang="zh-CN" sz="2400" b="1" i="1" dirty="0">
                <a:solidFill>
                  <a:schemeClr val="tx1"/>
                </a:solidFill>
                <a:latin typeface="Trebuchet MS" panose="020B0603020202020204" pitchFamily="34" charset="0"/>
                <a:sym typeface="Symbol" panose="05050102010706020507" pitchFamily="18" charset="2"/>
              </a:rPr>
              <a:t>b</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rPr>
              <a:t> a</a:t>
            </a:r>
            <a:r>
              <a:rPr lang="en-US" altLang="zh-CN" sz="2400" dirty="0">
                <a:solidFill>
                  <a:schemeClr val="tx1"/>
                </a:solidFill>
                <a:latin typeface="Trebuchet MS" panose="020B0603020202020204" pitchFamily="34" charset="0"/>
              </a:rPr>
              <a:t>), then </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dirty="0">
                <a:solidFill>
                  <a:schemeClr val="tx1"/>
                </a:solidFill>
                <a:latin typeface="Trebuchet MS" panose="020B0603020202020204" pitchFamily="34" charset="0"/>
              </a:rPr>
              <a:t> is called the </a:t>
            </a:r>
            <a:r>
              <a:rPr lang="en-US" altLang="zh-CN" sz="2400" b="1" dirty="0">
                <a:solidFill>
                  <a:schemeClr val="tx1"/>
                </a:solidFill>
                <a:latin typeface="Trebuchet MS" panose="020B0603020202020204" pitchFamily="34" charset="0"/>
              </a:rPr>
              <a:t>greatest lower bound</a:t>
            </a:r>
            <a:r>
              <a:rPr lang="en-US" altLang="zh-CN" sz="2400" dirty="0">
                <a:solidFill>
                  <a:schemeClr val="tx1"/>
                </a:solidFill>
                <a:latin typeface="Trebuchet MS" panose="020B0603020202020204" pitchFamily="34" charset="0"/>
              </a:rPr>
              <a:t> (or </a:t>
            </a:r>
            <a:r>
              <a:rPr lang="en-US" altLang="zh-CN" sz="2400" b="1" dirty="0">
                <a:solidFill>
                  <a:schemeClr val="tx1"/>
                </a:solidFill>
                <a:latin typeface="Trebuchet MS" panose="020B0603020202020204" pitchFamily="34" charset="0"/>
              </a:rPr>
              <a:t>least upper bound</a:t>
            </a:r>
            <a:r>
              <a:rPr lang="en-US" altLang="zh-CN" sz="2400" dirty="0">
                <a:solidFill>
                  <a:schemeClr val="tx1"/>
                </a:solidFill>
                <a:latin typeface="Trebuchet MS" panose="020B0603020202020204" pitchFamily="34" charset="0"/>
              </a:rPr>
              <a:t>) of </a:t>
            </a:r>
            <a:r>
              <a:rPr lang="en-US" altLang="zh-CN" sz="2400" b="1" i="1" dirty="0">
                <a:solidFill>
                  <a:schemeClr val="tx1"/>
                </a:solidFill>
                <a:latin typeface="Trebuchet MS" panose="020B0603020202020204" pitchFamily="34" charset="0"/>
                <a:sym typeface="Symbol" panose="05050102010706020507" pitchFamily="18" charset="2"/>
              </a:rPr>
              <a:t>L</a:t>
            </a:r>
            <a:r>
              <a:rPr lang="en-US" altLang="zh-CN" sz="2400" dirty="0">
                <a:solidFill>
                  <a:schemeClr val="tx1"/>
                </a:solidFill>
                <a:latin typeface="Trebuchet MS" panose="020B0603020202020204" pitchFamily="34" charset="0"/>
              </a:rPr>
              <a:t>.</a:t>
            </a:r>
          </a:p>
          <a:p>
            <a:pPr marL="449263" indent="-271463">
              <a:lnSpc>
                <a:spcPct val="120000"/>
              </a:lnSpc>
              <a:spcBef>
                <a:spcPts val="300"/>
              </a:spcBef>
              <a:buClr>
                <a:srgbClr val="0B61FF"/>
              </a:buClr>
              <a:buSzPct val="120000"/>
              <a:buFont typeface="Arial" panose="020B0604020202020204" pitchFamily="34" charset="0"/>
              <a:buChar char="•"/>
              <a:tabLst>
                <a:tab pos="177800" algn="l"/>
              </a:tabLst>
            </a:pPr>
            <a:r>
              <a:rPr lang="en-US" altLang="zh-CN" sz="2400" dirty="0">
                <a:solidFill>
                  <a:schemeClr val="tx1"/>
                </a:solidFill>
                <a:latin typeface="Trebuchet MS" panose="020B0603020202020204" pitchFamily="34" charset="0"/>
              </a:rPr>
              <a:t>If the </a:t>
            </a:r>
            <a:r>
              <a:rPr lang="en-US" altLang="zh-CN" sz="2400" b="1" i="1" dirty="0">
                <a:solidFill>
                  <a:srgbClr val="0B61FF"/>
                </a:solidFill>
                <a:latin typeface="Trebuchet MS" panose="020B0603020202020204" pitchFamily="34" charset="0"/>
              </a:rPr>
              <a:t>greatest lower bound </a:t>
            </a:r>
            <a:r>
              <a:rPr lang="en-US" altLang="zh-CN" sz="2400" dirty="0">
                <a:solidFill>
                  <a:schemeClr val="tx1"/>
                </a:solidFill>
                <a:latin typeface="Trebuchet MS" panose="020B0603020202020204" pitchFamily="34" charset="0"/>
              </a:rPr>
              <a:t>of </a:t>
            </a:r>
            <a:r>
              <a:rPr lang="en-US" altLang="zh-CN" sz="2400" b="1" i="1" dirty="0">
                <a:solidFill>
                  <a:schemeClr val="tx1"/>
                </a:solidFill>
                <a:latin typeface="Trebuchet MS" panose="020B0603020202020204" pitchFamily="34" charset="0"/>
                <a:sym typeface="Symbol" panose="05050102010706020507" pitchFamily="18" charset="2"/>
              </a:rPr>
              <a:t>L</a:t>
            </a:r>
            <a:r>
              <a:rPr lang="en-US" altLang="zh-CN" sz="2400" dirty="0">
                <a:solidFill>
                  <a:schemeClr val="tx1"/>
                </a:solidFill>
                <a:latin typeface="Trebuchet MS" panose="020B0603020202020204" pitchFamily="34" charset="0"/>
              </a:rPr>
              <a:t> exists, it is unique and denoted by </a:t>
            </a:r>
            <a:r>
              <a:rPr lang="en-US" altLang="zh-CN" sz="2400" b="1" dirty="0">
                <a:solidFill>
                  <a:srgbClr val="FF0000"/>
                </a:solidFill>
                <a:latin typeface="Trebuchet MS" panose="020B0603020202020204" pitchFamily="34" charset="0"/>
              </a:rPr>
              <a:t>0</a:t>
            </a:r>
            <a:r>
              <a:rPr lang="en-US" altLang="zh-CN" sz="2400" dirty="0">
                <a:solidFill>
                  <a:schemeClr val="tx1"/>
                </a:solidFill>
                <a:latin typeface="Trebuchet MS" panose="020B0603020202020204" pitchFamily="34" charset="0"/>
              </a:rPr>
              <a:t>. </a:t>
            </a:r>
          </a:p>
          <a:p>
            <a:pPr marL="449263" indent="-271463">
              <a:lnSpc>
                <a:spcPct val="120000"/>
              </a:lnSpc>
              <a:spcBef>
                <a:spcPts val="300"/>
              </a:spcBef>
              <a:buClr>
                <a:srgbClr val="0B61FF"/>
              </a:buClr>
              <a:buSzPct val="120000"/>
              <a:buFont typeface="Arial" panose="020B0604020202020204" pitchFamily="34" charset="0"/>
              <a:buChar char="•"/>
              <a:tabLst>
                <a:tab pos="177800" algn="l"/>
              </a:tabLst>
            </a:pPr>
            <a:r>
              <a:rPr lang="en-US" altLang="zh-CN" sz="2400" dirty="0">
                <a:solidFill>
                  <a:schemeClr val="tx1"/>
                </a:solidFill>
                <a:latin typeface="Trebuchet MS" panose="020B0603020202020204" pitchFamily="34" charset="0"/>
              </a:rPr>
              <a:t>If the </a:t>
            </a:r>
            <a:r>
              <a:rPr lang="en-US" altLang="zh-CN" sz="2400" b="1" i="1" dirty="0">
                <a:solidFill>
                  <a:srgbClr val="0B61FF"/>
                </a:solidFill>
                <a:latin typeface="Trebuchet MS" panose="020B0603020202020204" pitchFamily="34" charset="0"/>
              </a:rPr>
              <a:t>least upper bound </a:t>
            </a:r>
            <a:r>
              <a:rPr lang="en-US" altLang="zh-CN" sz="2400" dirty="0">
                <a:solidFill>
                  <a:schemeClr val="tx1"/>
                </a:solidFill>
                <a:latin typeface="Trebuchet MS" panose="020B0603020202020204" pitchFamily="34" charset="0"/>
              </a:rPr>
              <a:t>of </a:t>
            </a:r>
            <a:r>
              <a:rPr lang="en-US" altLang="zh-CN" sz="2400" b="1" i="1" dirty="0">
                <a:solidFill>
                  <a:schemeClr val="tx1"/>
                </a:solidFill>
                <a:latin typeface="Trebuchet MS" panose="020B0603020202020204" pitchFamily="34" charset="0"/>
                <a:sym typeface="Symbol" panose="05050102010706020507" pitchFamily="18" charset="2"/>
              </a:rPr>
              <a:t>L</a:t>
            </a:r>
            <a:r>
              <a:rPr lang="en-US" altLang="zh-CN" sz="2400" dirty="0">
                <a:solidFill>
                  <a:schemeClr val="tx1"/>
                </a:solidFill>
                <a:latin typeface="Trebuchet MS" panose="020B0603020202020204" pitchFamily="34" charset="0"/>
              </a:rPr>
              <a:t> exists, it is also unique and denoted by </a:t>
            </a:r>
            <a:r>
              <a:rPr lang="en-US" altLang="zh-CN" sz="2400" b="1" dirty="0">
                <a:solidFill>
                  <a:srgbClr val="FF0000"/>
                </a:solidFill>
                <a:latin typeface="Trebuchet MS" panose="020B0603020202020204" pitchFamily="34" charset="0"/>
              </a:rPr>
              <a:t>1</a:t>
            </a:r>
            <a:r>
              <a:rPr lang="en-US" altLang="zh-CN" sz="2400" dirty="0">
                <a:solidFill>
                  <a:schemeClr val="tx1"/>
                </a:solidFill>
                <a:latin typeface="Trebuchet MS" panose="020B0603020202020204" pitchFamily="34" charset="0"/>
              </a:rPr>
              <a:t>.</a:t>
            </a:r>
          </a:p>
          <a:p>
            <a:pPr marL="449263" indent="-271463">
              <a:lnSpc>
                <a:spcPct val="120000"/>
              </a:lnSpc>
              <a:spcBef>
                <a:spcPts val="300"/>
              </a:spcBef>
              <a:buClr>
                <a:srgbClr val="0B61FF"/>
              </a:buClr>
              <a:buSzPct val="120000"/>
              <a:buFont typeface="Arial" panose="020B0604020202020204" pitchFamily="34" charset="0"/>
              <a:buChar char="•"/>
              <a:tabLst>
                <a:tab pos="177800" algn="l"/>
              </a:tabLst>
            </a:pPr>
            <a:r>
              <a:rPr lang="en-US" altLang="zh-CN" sz="2400" dirty="0">
                <a:solidFill>
                  <a:schemeClr val="tx1"/>
                </a:solidFill>
                <a:latin typeface="Trebuchet MS" panose="020B0603020202020204" pitchFamily="34" charset="0"/>
              </a:rPr>
              <a:t>If both the greatest lower bound and the least upper bound exist in </a:t>
            </a:r>
            <a:r>
              <a:rPr lang="en-US" altLang="zh-CN" sz="2400" b="1" i="1" dirty="0">
                <a:solidFill>
                  <a:schemeClr val="tx1"/>
                </a:solidFill>
                <a:latin typeface="Trebuchet MS" panose="020B0603020202020204" pitchFamily="34" charset="0"/>
                <a:sym typeface="Symbol" panose="05050102010706020507" pitchFamily="18" charset="2"/>
              </a:rPr>
              <a:t>L</a:t>
            </a:r>
            <a:r>
              <a:rPr lang="en-US" altLang="zh-CN" sz="2400" dirty="0">
                <a:solidFill>
                  <a:schemeClr val="tx1"/>
                </a:solidFill>
                <a:latin typeface="Trebuchet MS" panose="020B0603020202020204" pitchFamily="34" charset="0"/>
              </a:rPr>
              <a:t>, then v is called a </a:t>
            </a:r>
            <a:r>
              <a:rPr lang="en-US" altLang="zh-CN" sz="2400" b="1" i="1" dirty="0">
                <a:solidFill>
                  <a:srgbClr val="0B61FF"/>
                </a:solidFill>
                <a:latin typeface="Trebuchet MS" panose="020B0603020202020204" pitchFamily="34" charset="0"/>
              </a:rPr>
              <a:t>bounded lattice</a:t>
            </a:r>
            <a:r>
              <a:rPr lang="en-US" altLang="zh-CN" sz="2400" dirty="0">
                <a:solidFill>
                  <a:schemeClr val="tx1"/>
                </a:solidFill>
                <a:latin typeface="Trebuchet MS" panose="020B0603020202020204" pitchFamily="34" charset="0"/>
              </a:rPr>
              <a:t>, denoted as </a:t>
            </a:r>
            <a:r>
              <a:rPr lang="en-US" altLang="zh-CN" sz="2400" b="1" dirty="0">
                <a:solidFill>
                  <a:srgbClr val="FF0000"/>
                </a:solidFill>
                <a:latin typeface="Trebuchet MS" panose="020B0603020202020204" pitchFamily="34" charset="0"/>
                <a:ea typeface="宋体" panose="02010600030101010101" pitchFamily="2" charset="-122"/>
                <a:sym typeface="Symbol" panose="05050102010706020507" pitchFamily="18" charset="2"/>
              </a:rPr>
              <a:t>&lt;</a:t>
            </a:r>
            <a:r>
              <a:rPr lang="en-US" altLang="zh-CN" sz="2400" b="1" i="1" dirty="0">
                <a:solidFill>
                  <a:srgbClr val="FF0000"/>
                </a:solidFill>
                <a:latin typeface="Trebuchet MS" panose="020B0603020202020204" pitchFamily="34" charset="0"/>
                <a:ea typeface="宋体" panose="02010600030101010101" pitchFamily="2" charset="-122"/>
                <a:sym typeface="Symbol" panose="05050102010706020507" pitchFamily="18" charset="2"/>
              </a:rPr>
              <a:t>L</a:t>
            </a:r>
            <a:r>
              <a:rPr lang="en-US" altLang="zh-CN" sz="2400" b="1" dirty="0">
                <a:solidFill>
                  <a:srgbClr val="FF0000"/>
                </a:solidFill>
                <a:latin typeface="Trebuchet MS" panose="020B0603020202020204" pitchFamily="34" charset="0"/>
                <a:ea typeface="宋体" panose="02010600030101010101" pitchFamily="2" charset="-122"/>
                <a:sym typeface="Symbol" panose="05050102010706020507" pitchFamily="18" charset="2"/>
              </a:rPr>
              <a:t>, ∧, ∨, 0, 1&gt;</a:t>
            </a: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a:t>
            </a:r>
            <a:r>
              <a:rPr lang="en-US" altLang="zh-CN" sz="2400" b="1" dirty="0">
                <a:solidFill>
                  <a:srgbClr val="FF0000"/>
                </a:solidFill>
                <a:latin typeface="Trebuchet MS" panose="020B0603020202020204" pitchFamily="34" charset="0"/>
                <a:ea typeface="宋体" panose="02010600030101010101" pitchFamily="2" charset="-122"/>
                <a:sym typeface="Symbol" panose="05050102010706020507" pitchFamily="18" charset="2"/>
              </a:rPr>
              <a:t> </a:t>
            </a:r>
          </a:p>
        </p:txBody>
      </p:sp>
    </p:spTree>
    <p:extLst>
      <p:ext uri="{BB962C8B-B14F-4D97-AF65-F5344CB8AC3E}">
        <p14:creationId xmlns:p14="http://schemas.microsoft.com/office/powerpoint/2010/main" val="3924723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fade">
                                      <p:cBhvr>
                                        <p:cTn id="7" dur="1000"/>
                                        <p:tgtEl>
                                          <p:spTgt spid="16">
                                            <p:txEl>
                                              <p:pRg st="1" end="1"/>
                                            </p:txEl>
                                          </p:spTgt>
                                        </p:tgtEl>
                                      </p:cBhvr>
                                    </p:animEffect>
                                    <p:anim calcmode="lin" valueType="num">
                                      <p:cBhvr>
                                        <p:cTn id="8"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xEl>
                                              <p:pRg st="2" end="2"/>
                                            </p:txEl>
                                          </p:spTgt>
                                        </p:tgtEl>
                                        <p:attrNameLst>
                                          <p:attrName>style.visibility</p:attrName>
                                        </p:attrNameLst>
                                      </p:cBhvr>
                                      <p:to>
                                        <p:strVal val="visible"/>
                                      </p:to>
                                    </p:set>
                                    <p:animEffect transition="in" filter="fade">
                                      <p:cBhvr>
                                        <p:cTn id="12" dur="1000"/>
                                        <p:tgtEl>
                                          <p:spTgt spid="16">
                                            <p:txEl>
                                              <p:pRg st="2" end="2"/>
                                            </p:txEl>
                                          </p:spTgt>
                                        </p:tgtEl>
                                      </p:cBhvr>
                                    </p:animEffect>
                                    <p:anim calcmode="lin" valueType="num">
                                      <p:cBhvr>
                                        <p:cTn id="13"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fade">
                                      <p:cBhvr>
                                        <p:cTn id="19" dur="1000"/>
                                        <p:tgtEl>
                                          <p:spTgt spid="16">
                                            <p:txEl>
                                              <p:pRg st="3" end="3"/>
                                            </p:txEl>
                                          </p:spTgt>
                                        </p:tgtEl>
                                      </p:cBhvr>
                                    </p:animEffect>
                                    <p:anim calcmode="lin" valueType="num">
                                      <p:cBhvr>
                                        <p:cTn id="20" dur="1000" fill="hold"/>
                                        <p:tgtEl>
                                          <p:spTgt spid="16">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b="1" dirty="0">
                <a:latin typeface="Trebuchet MS" panose="020B0603020202020204" pitchFamily="34"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Determining Bounded Lattices</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Rectangle 5">
            <a:extLst>
              <a:ext uri="{FF2B5EF4-FFF2-40B4-BE49-F238E27FC236}">
                <a16:creationId xmlns:a16="http://schemas.microsoft.com/office/drawing/2014/main" id="{1373CCCC-6658-4F62-9644-D068E5FFB8CC}"/>
              </a:ext>
            </a:extLst>
          </p:cNvPr>
          <p:cNvSpPr>
            <a:spLocks noChangeArrowheads="1"/>
          </p:cNvSpPr>
          <p:nvPr/>
        </p:nvSpPr>
        <p:spPr bwMode="auto">
          <a:xfrm>
            <a:off x="721749" y="824035"/>
            <a:ext cx="10093395" cy="503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71463" indent="-271463">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 </a:t>
            </a:r>
            <a:r>
              <a:rPr lang="en-US" altLang="zh-CN" sz="2400" b="1" dirty="0">
                <a:solidFill>
                  <a:srgbClr val="0B61FF"/>
                </a:solidFill>
                <a:latin typeface="Trebuchet MS" panose="020B0603020202020204" pitchFamily="34" charset="0"/>
              </a:rPr>
              <a:t>(1) </a:t>
            </a:r>
            <a:r>
              <a:rPr lang="en-US" altLang="zh-CN" sz="2400" b="1"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rPr>
              <a:t>A finite lattice </a:t>
            </a:r>
            <a:r>
              <a:rPr lang="en-US" altLang="zh-CN" sz="2400" b="1" i="1" dirty="0">
                <a:solidFill>
                  <a:schemeClr val="tx1"/>
                </a:solidFill>
                <a:latin typeface="Trebuchet MS" panose="020B0603020202020204" pitchFamily="34" charset="0"/>
                <a:sym typeface="Symbol" panose="05050102010706020507" pitchFamily="18" charset="2"/>
              </a:rPr>
              <a:t>L</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b="1" baseline="-25000" dirty="0">
                <a:solidFill>
                  <a:schemeClr val="tx1"/>
                </a:solidFill>
                <a:latin typeface="Trebuchet MS" panose="020B0603020202020204" pitchFamily="34" charset="0"/>
                <a:sym typeface="Symbol" panose="05050102010706020507" pitchFamily="18" charset="2"/>
              </a:rPr>
              <a:t>1</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b="1" baseline="-25000" dirty="0">
                <a:solidFill>
                  <a:schemeClr val="tx1"/>
                </a:solidFill>
                <a:latin typeface="Trebuchet MS" panose="020B0603020202020204" pitchFamily="34" charset="0"/>
                <a:sym typeface="Symbol" panose="05050102010706020507" pitchFamily="18" charset="2"/>
              </a:rPr>
              <a:t>2</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b="1" i="1" baseline="-25000" dirty="0">
                <a:solidFill>
                  <a:schemeClr val="tx1"/>
                </a:solidFill>
                <a:latin typeface="Trebuchet MS" panose="020B0603020202020204" pitchFamily="34" charset="0"/>
                <a:sym typeface="Symbol" panose="05050102010706020507" pitchFamily="18" charset="2"/>
              </a:rPr>
              <a:t>n</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dirty="0">
                <a:solidFill>
                  <a:schemeClr val="tx1"/>
                </a:solidFill>
                <a:latin typeface="Trebuchet MS" panose="020B0603020202020204" pitchFamily="34" charset="0"/>
              </a:rPr>
              <a:t> is a </a:t>
            </a:r>
            <a:r>
              <a:rPr lang="en-US" altLang="zh-CN" sz="2400" b="1" dirty="0">
                <a:solidFill>
                  <a:schemeClr val="tx1"/>
                </a:solidFill>
                <a:latin typeface="Trebuchet MS" panose="020B0603020202020204" pitchFamily="34" charset="0"/>
              </a:rPr>
              <a:t>bounded lattice</a:t>
            </a:r>
            <a:r>
              <a:rPr lang="en-US" altLang="zh-CN" sz="2400" dirty="0">
                <a:solidFill>
                  <a:schemeClr val="tx1"/>
                </a:solidFill>
                <a:latin typeface="Trebuchet MS" panose="020B0603020202020204" pitchFamily="34" charset="0"/>
              </a:rPr>
              <a:t>, where </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b="1" baseline="-25000" dirty="0">
                <a:solidFill>
                  <a:schemeClr val="tx1"/>
                </a:solidFill>
                <a:latin typeface="Trebuchet MS" panose="020B0603020202020204" pitchFamily="34" charset="0"/>
                <a:sym typeface="Symbol" panose="05050102010706020507" pitchFamily="18" charset="2"/>
              </a:rPr>
              <a:t>1</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b="1" baseline="-25000" dirty="0">
                <a:solidFill>
                  <a:schemeClr val="tx1"/>
                </a:solidFill>
                <a:latin typeface="Trebuchet MS" panose="020B0603020202020204" pitchFamily="34" charset="0"/>
                <a:sym typeface="Symbol" panose="05050102010706020507" pitchFamily="18" charset="2"/>
              </a:rPr>
              <a:t>2</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b="1" i="1" baseline="-25000" dirty="0">
                <a:solidFill>
                  <a:schemeClr val="tx1"/>
                </a:solidFill>
                <a:latin typeface="Trebuchet MS" panose="020B0603020202020204" pitchFamily="34" charset="0"/>
                <a:sym typeface="Symbol" panose="05050102010706020507" pitchFamily="18" charset="2"/>
              </a:rPr>
              <a:t>n </a:t>
            </a:r>
            <a:r>
              <a:rPr lang="en-US" altLang="zh-CN" sz="2400" dirty="0">
                <a:solidFill>
                  <a:schemeClr val="tx1"/>
                </a:solidFill>
                <a:latin typeface="Trebuchet MS" panose="020B0603020202020204" pitchFamily="34" charset="0"/>
              </a:rPr>
              <a:t>​ is the </a:t>
            </a:r>
            <a:r>
              <a:rPr lang="en-US" altLang="zh-CN" sz="2400" b="1" dirty="0">
                <a:solidFill>
                  <a:schemeClr val="tx1"/>
                </a:solidFill>
                <a:latin typeface="Trebuchet MS" panose="020B0603020202020204" pitchFamily="34" charset="0"/>
              </a:rPr>
              <a:t>greatest lower bound</a:t>
            </a:r>
            <a:r>
              <a:rPr lang="en-US" altLang="zh-CN" sz="2400" dirty="0">
                <a:solidFill>
                  <a:schemeClr val="tx1"/>
                </a:solidFill>
                <a:latin typeface="Trebuchet MS" panose="020B0603020202020204" pitchFamily="34" charset="0"/>
              </a:rPr>
              <a:t> (bottom element), and </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b="1" baseline="-25000" dirty="0">
                <a:solidFill>
                  <a:schemeClr val="tx1"/>
                </a:solidFill>
                <a:latin typeface="Trebuchet MS" panose="020B0603020202020204" pitchFamily="34" charset="0"/>
                <a:sym typeface="Symbol" panose="05050102010706020507" pitchFamily="18" charset="2"/>
              </a:rPr>
              <a:t>1</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b="1" baseline="-25000" dirty="0">
                <a:solidFill>
                  <a:schemeClr val="tx1"/>
                </a:solidFill>
                <a:latin typeface="Trebuchet MS" panose="020B0603020202020204" pitchFamily="34" charset="0"/>
                <a:sym typeface="Symbol" panose="05050102010706020507" pitchFamily="18" charset="2"/>
              </a:rPr>
              <a:t>2</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a</a:t>
            </a:r>
            <a:r>
              <a:rPr lang="en-US" altLang="zh-CN" sz="2400" b="1" i="1" baseline="-25000" dirty="0">
                <a:solidFill>
                  <a:schemeClr val="tx1"/>
                </a:solidFill>
                <a:latin typeface="Trebuchet MS" panose="020B0603020202020204" pitchFamily="34" charset="0"/>
                <a:sym typeface="Symbol" panose="05050102010706020507" pitchFamily="18" charset="2"/>
              </a:rPr>
              <a:t>n </a:t>
            </a:r>
            <a:r>
              <a:rPr lang="en-US" altLang="zh-CN" sz="2400" dirty="0">
                <a:solidFill>
                  <a:schemeClr val="tx1"/>
                </a:solidFill>
                <a:latin typeface="Trebuchet MS" panose="020B0603020202020204" pitchFamily="34" charset="0"/>
              </a:rPr>
              <a:t>is the </a:t>
            </a:r>
            <a:r>
              <a:rPr lang="en-US" altLang="zh-CN" sz="2400" b="1" dirty="0">
                <a:solidFill>
                  <a:schemeClr val="tx1"/>
                </a:solidFill>
                <a:latin typeface="Trebuchet MS" panose="020B0603020202020204" pitchFamily="34" charset="0"/>
              </a:rPr>
              <a:t>least upper bound</a:t>
            </a:r>
            <a:r>
              <a:rPr lang="en-US" altLang="zh-CN" sz="2400" dirty="0">
                <a:solidFill>
                  <a:schemeClr val="tx1"/>
                </a:solidFill>
                <a:latin typeface="Trebuchet MS" panose="020B0603020202020204" pitchFamily="34" charset="0"/>
              </a:rPr>
              <a:t> (top element) of </a:t>
            </a:r>
            <a:r>
              <a:rPr lang="en-US" altLang="zh-CN" sz="2400" b="1" i="1" dirty="0">
                <a:solidFill>
                  <a:schemeClr val="tx1"/>
                </a:solidFill>
                <a:latin typeface="Trebuchet MS" panose="020B0603020202020204" pitchFamily="34" charset="0"/>
                <a:sym typeface="Symbol" panose="05050102010706020507" pitchFamily="18" charset="2"/>
              </a:rPr>
              <a:t>L</a:t>
            </a:r>
            <a:r>
              <a:rPr lang="en-US" altLang="zh-CN" sz="2400" dirty="0">
                <a:solidFill>
                  <a:schemeClr val="tx1"/>
                </a:solidFill>
                <a:latin typeface="Trebuchet MS" panose="020B0603020202020204" pitchFamily="34" charset="0"/>
              </a:rPr>
              <a:t>.</a:t>
            </a:r>
          </a:p>
          <a:p>
            <a:pPr marL="536575" indent="-360363">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rPr>
              <a:t>① </a:t>
            </a:r>
            <a:r>
              <a:rPr lang="en-US" altLang="zh-CN" sz="2400" dirty="0">
                <a:solidFill>
                  <a:schemeClr val="tx1"/>
                </a:solidFill>
                <a:latin typeface="Trebuchet MS" panose="020B0603020202020204" pitchFamily="34" charset="0"/>
              </a:rPr>
              <a:t>Consider the finite lattice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b="1" dirty="0">
                <a:solidFill>
                  <a:schemeClr val="tx1"/>
                </a:solidFill>
                <a:latin typeface="Trebuchet MS" panose="020B0603020202020204" pitchFamily="34" charset="0"/>
                <a:cs typeface="Times New Roman" panose="02020603050405020304" pitchFamily="18" charset="0"/>
              </a:rPr>
              <a:t>=</a:t>
            </a:r>
            <a:r>
              <a:rPr lang="zh-CN" altLang="zh-CN" sz="2400" b="1" dirty="0">
                <a:solidFill>
                  <a:schemeClr val="tx1"/>
                </a:solidFill>
                <a:latin typeface="Trebuchet MS" panose="020B0603020202020204" pitchFamily="34" charset="0"/>
                <a:cs typeface="Times New Roman" panose="02020603050405020304" pitchFamily="18" charset="0"/>
              </a:rPr>
              <a:t>{</a:t>
            </a:r>
            <a:r>
              <a:rPr lang="en-US" altLang="zh-CN" sz="2400" b="1" dirty="0">
                <a:solidFill>
                  <a:schemeClr val="tx1"/>
                </a:solidFill>
                <a:latin typeface="Trebuchet MS" panose="020B0603020202020204" pitchFamily="34" charset="0"/>
                <a:cs typeface="Times New Roman" panose="02020603050405020304" pitchFamily="18" charset="0"/>
              </a:rPr>
              <a:t>1,2,3,6}, </a:t>
            </a:r>
            <a:r>
              <a:rPr lang="en-US" altLang="zh-CN" sz="2400" dirty="0">
                <a:solidFill>
                  <a:schemeClr val="tx1"/>
                </a:solidFill>
                <a:latin typeface="Trebuchet MS" panose="020B0603020202020204" pitchFamily="34" charset="0"/>
              </a:rPr>
              <a:t>with the </a:t>
            </a:r>
            <a:r>
              <a:rPr lang="en-US" altLang="zh-CN" sz="2400" b="1" dirty="0">
                <a:solidFill>
                  <a:schemeClr val="tx1"/>
                </a:solidFill>
                <a:latin typeface="Trebuchet MS" panose="020B0603020202020204" pitchFamily="34" charset="0"/>
              </a:rPr>
              <a:t>divisibility relation</a:t>
            </a:r>
            <a:r>
              <a:rPr lang="en-US" altLang="zh-CN" sz="2400" dirty="0">
                <a:solidFill>
                  <a:schemeClr val="tx1"/>
                </a:solidFill>
                <a:latin typeface="Trebuchet MS" panose="020B0603020202020204" pitchFamily="34" charset="0"/>
              </a:rPr>
              <a:t> as the partial order. The </a:t>
            </a:r>
            <a:r>
              <a:rPr lang="en-US" altLang="zh-CN" sz="2400" b="1" i="1" dirty="0">
                <a:solidFill>
                  <a:srgbClr val="0B61FF"/>
                </a:solidFill>
                <a:latin typeface="Trebuchet MS" panose="020B0603020202020204" pitchFamily="34" charset="0"/>
              </a:rPr>
              <a:t>meet operation </a:t>
            </a:r>
            <a:r>
              <a:rPr lang="zh-CN" altLang="zh-CN" sz="2400" b="1" kern="100" dirty="0">
                <a:solidFill>
                  <a:srgbClr val="FF0000"/>
                </a:solidFill>
                <a:latin typeface="Trebuchet MS" panose="020B0603020202020204" pitchFamily="34" charset="0"/>
                <a:cs typeface="Times New Roman" panose="02020603050405020304" pitchFamily="18" charset="0"/>
              </a:rPr>
              <a:t>∧</a:t>
            </a:r>
            <a:r>
              <a:rPr lang="en-US" altLang="zh-CN" sz="2400" b="1" i="1" kern="100"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represents the </a:t>
            </a:r>
            <a:r>
              <a:rPr lang="en-US" altLang="zh-CN" sz="2400" b="1" dirty="0">
                <a:solidFill>
                  <a:schemeClr val="tx1"/>
                </a:solidFill>
                <a:latin typeface="Trebuchet MS" panose="020B0603020202020204" pitchFamily="34" charset="0"/>
              </a:rPr>
              <a:t>greatest common divisor</a:t>
            </a:r>
            <a:r>
              <a:rPr lang="en-US" altLang="zh-CN" sz="2400" dirty="0">
                <a:solidFill>
                  <a:schemeClr val="tx1"/>
                </a:solidFill>
                <a:latin typeface="Trebuchet MS" panose="020B0603020202020204" pitchFamily="34" charset="0"/>
              </a:rPr>
              <a:t> (GCD) of two elements, and the </a:t>
            </a:r>
            <a:r>
              <a:rPr lang="en-US" altLang="zh-CN" sz="2400" b="1" i="1" dirty="0">
                <a:solidFill>
                  <a:srgbClr val="0B61FF"/>
                </a:solidFill>
                <a:latin typeface="Trebuchet MS" panose="020B0603020202020204" pitchFamily="34" charset="0"/>
              </a:rPr>
              <a:t>join operation </a:t>
            </a:r>
            <a:r>
              <a:rPr lang="zh-CN" altLang="zh-CN" sz="2400" b="1" kern="100" dirty="0">
                <a:solidFill>
                  <a:srgbClr val="FF0000"/>
                </a:solidFill>
                <a:latin typeface="Trebuchet MS" panose="020B0603020202020204" pitchFamily="34" charset="0"/>
                <a:cs typeface="Times New Roman" panose="02020603050405020304" pitchFamily="18" charset="0"/>
              </a:rPr>
              <a:t>∨</a:t>
            </a:r>
            <a:r>
              <a:rPr lang="zh-CN" altLang="zh-CN" sz="2400" b="1" kern="100"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represents the </a:t>
            </a:r>
            <a:r>
              <a:rPr lang="en-US" altLang="zh-CN" sz="2400" b="1" dirty="0">
                <a:solidFill>
                  <a:schemeClr val="tx1"/>
                </a:solidFill>
                <a:latin typeface="Trebuchet MS" panose="020B0603020202020204" pitchFamily="34" charset="0"/>
              </a:rPr>
              <a:t>least common multiple</a:t>
            </a:r>
            <a:r>
              <a:rPr lang="en-US" altLang="zh-CN" sz="2400" dirty="0">
                <a:solidFill>
                  <a:schemeClr val="tx1"/>
                </a:solidFill>
                <a:latin typeface="Trebuchet MS" panose="020B0603020202020204" pitchFamily="34" charset="0"/>
              </a:rPr>
              <a:t> (LCM).</a:t>
            </a:r>
          </a:p>
          <a:p>
            <a:pPr marL="536575" indent="-360363">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rPr>
              <a:t>②</a:t>
            </a:r>
            <a:r>
              <a:rPr lang="en-US" altLang="zh-CN" sz="2400" dirty="0">
                <a:solidFill>
                  <a:schemeClr val="tx1"/>
                </a:solidFill>
                <a:latin typeface="Trebuchet MS" panose="020B0603020202020204" pitchFamily="34" charset="0"/>
                <a:ea typeface="宋体" panose="02010600030101010101" pitchFamily="2" charset="-122"/>
              </a:rPr>
              <a:t> </a:t>
            </a:r>
            <a:r>
              <a:rPr lang="en-US" altLang="zh-CN" sz="2400" dirty="0">
                <a:solidFill>
                  <a:schemeClr val="tx1"/>
                </a:solidFill>
                <a:latin typeface="Trebuchet MS" panose="020B0603020202020204" pitchFamily="34" charset="0"/>
              </a:rPr>
              <a:t>The </a:t>
            </a:r>
            <a:r>
              <a:rPr lang="en-US" altLang="zh-CN" sz="2400" b="1" dirty="0">
                <a:solidFill>
                  <a:schemeClr val="tx1"/>
                </a:solidFill>
                <a:latin typeface="Trebuchet MS" panose="020B0603020202020204" pitchFamily="34" charset="0"/>
              </a:rPr>
              <a:t>greatest lower bound</a:t>
            </a:r>
            <a:r>
              <a:rPr lang="en-US" altLang="zh-CN" sz="2400" dirty="0">
                <a:solidFill>
                  <a:schemeClr val="tx1"/>
                </a:solidFill>
                <a:latin typeface="Trebuchet MS" panose="020B0603020202020204" pitchFamily="34" charset="0"/>
              </a:rPr>
              <a:t> (GCD of all elements): </a:t>
            </a:r>
          </a:p>
          <a:p>
            <a:pPr marL="536575" indent="-360363">
              <a:lnSpc>
                <a:spcPct val="120000"/>
              </a:lnSpc>
              <a:buClr>
                <a:srgbClr val="0B61FF"/>
              </a:buClr>
              <a:buSzPct val="80000"/>
            </a:pPr>
            <a:r>
              <a:rPr lang="en-US" altLang="zh-CN" sz="2400" b="1" kern="100" dirty="0">
                <a:solidFill>
                  <a:schemeClr val="tx1"/>
                </a:solidFill>
                <a:latin typeface="Trebuchet MS" panose="020B0603020202020204" pitchFamily="34" charset="0"/>
                <a:cs typeface="Times New Roman" panose="02020603050405020304" pitchFamily="18" charset="0"/>
              </a:rPr>
              <a:t>	</a:t>
            </a:r>
            <a:r>
              <a:rPr lang="en-US" altLang="zh-CN" sz="2400" b="1" kern="100" dirty="0">
                <a:solidFill>
                  <a:srgbClr val="FF0000"/>
                </a:solidFill>
                <a:latin typeface="Trebuchet MS" panose="020B0603020202020204" pitchFamily="34" charset="0"/>
                <a:cs typeface="Times New Roman" panose="02020603050405020304" pitchFamily="18" charset="0"/>
              </a:rPr>
              <a:t>1</a:t>
            </a:r>
            <a:r>
              <a:rPr lang="zh-CN" altLang="zh-CN" sz="2400" b="1" kern="100" dirty="0">
                <a:solidFill>
                  <a:srgbClr val="FF0000"/>
                </a:solidFill>
                <a:latin typeface="Trebuchet MS" panose="020B0603020202020204" pitchFamily="34" charset="0"/>
                <a:cs typeface="Times New Roman" panose="02020603050405020304" pitchFamily="18" charset="0"/>
              </a:rPr>
              <a:t>∧</a:t>
            </a:r>
            <a:r>
              <a:rPr lang="en-US" altLang="zh-CN" sz="2400" b="1" kern="100" dirty="0">
                <a:solidFill>
                  <a:srgbClr val="FF0000"/>
                </a:solidFill>
                <a:latin typeface="Trebuchet MS" panose="020B0603020202020204" pitchFamily="34" charset="0"/>
                <a:cs typeface="Times New Roman" panose="02020603050405020304" pitchFamily="18" charset="0"/>
              </a:rPr>
              <a:t>2</a:t>
            </a:r>
            <a:r>
              <a:rPr lang="zh-CN" altLang="zh-CN" sz="2400" b="1" kern="100" dirty="0">
                <a:solidFill>
                  <a:srgbClr val="FF0000"/>
                </a:solidFill>
                <a:latin typeface="Trebuchet MS" panose="020B0603020202020204" pitchFamily="34" charset="0"/>
                <a:cs typeface="Times New Roman" panose="02020603050405020304" pitchFamily="18" charset="0"/>
              </a:rPr>
              <a:t>∧</a:t>
            </a:r>
            <a:r>
              <a:rPr lang="en-US" altLang="zh-CN" sz="2400" b="1" kern="100" dirty="0">
                <a:solidFill>
                  <a:srgbClr val="FF0000"/>
                </a:solidFill>
                <a:latin typeface="Trebuchet MS" panose="020B0603020202020204" pitchFamily="34" charset="0"/>
                <a:cs typeface="Times New Roman" panose="02020603050405020304" pitchFamily="18" charset="0"/>
              </a:rPr>
              <a:t>3</a:t>
            </a:r>
            <a:r>
              <a:rPr lang="zh-CN" altLang="zh-CN" sz="2400" b="1" kern="100" dirty="0">
                <a:solidFill>
                  <a:srgbClr val="FF0000"/>
                </a:solidFill>
                <a:latin typeface="Trebuchet MS" panose="020B0603020202020204" pitchFamily="34" charset="0"/>
                <a:cs typeface="Times New Roman" panose="02020603050405020304" pitchFamily="18" charset="0"/>
              </a:rPr>
              <a:t>∧</a:t>
            </a:r>
            <a:r>
              <a:rPr lang="en-US" altLang="zh-CN" sz="2400" b="1" kern="100" dirty="0">
                <a:solidFill>
                  <a:srgbClr val="FF0000"/>
                </a:solidFill>
                <a:latin typeface="Trebuchet MS" panose="020B0603020202020204" pitchFamily="34" charset="0"/>
                <a:cs typeface="Times New Roman" panose="02020603050405020304" pitchFamily="18" charset="0"/>
              </a:rPr>
              <a:t>6=1</a:t>
            </a:r>
            <a:r>
              <a:rPr lang="en-US" altLang="zh-CN" sz="2400" dirty="0">
                <a:solidFill>
                  <a:schemeClr val="tx1"/>
                </a:solidFill>
                <a:latin typeface="Trebuchet MS" panose="020B0603020202020204" pitchFamily="34" charset="0"/>
              </a:rPr>
              <a:t>— the GCD of all elements.</a:t>
            </a:r>
          </a:p>
          <a:p>
            <a:pPr marL="536575" indent="-360363">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rPr>
              <a:t>③ </a:t>
            </a:r>
            <a:r>
              <a:rPr lang="en-US" altLang="zh-CN" sz="2400" dirty="0">
                <a:solidFill>
                  <a:schemeClr val="tx1"/>
                </a:solidFill>
                <a:latin typeface="Trebuchet MS" panose="020B0603020202020204" pitchFamily="34" charset="0"/>
              </a:rPr>
              <a:t>The </a:t>
            </a:r>
            <a:r>
              <a:rPr lang="en-US" altLang="zh-CN" sz="2400" b="1" dirty="0">
                <a:solidFill>
                  <a:schemeClr val="tx1"/>
                </a:solidFill>
                <a:latin typeface="Trebuchet MS" panose="020B0603020202020204" pitchFamily="34" charset="0"/>
              </a:rPr>
              <a:t>least upper bound</a:t>
            </a:r>
            <a:r>
              <a:rPr lang="en-US" altLang="zh-CN" sz="2400" dirty="0">
                <a:solidFill>
                  <a:schemeClr val="tx1"/>
                </a:solidFill>
                <a:latin typeface="Trebuchet MS" panose="020B0603020202020204" pitchFamily="34" charset="0"/>
              </a:rPr>
              <a:t> (LCM of all elements):</a:t>
            </a:r>
            <a:br>
              <a:rPr lang="en-US" altLang="zh-CN" sz="2400" dirty="0">
                <a:solidFill>
                  <a:schemeClr val="tx1"/>
                </a:solidFill>
                <a:latin typeface="Trebuchet MS" panose="020B0603020202020204" pitchFamily="34" charset="0"/>
              </a:rPr>
            </a:br>
            <a:r>
              <a:rPr lang="en-US" altLang="zh-CN" sz="2400" b="1" kern="100" dirty="0">
                <a:solidFill>
                  <a:srgbClr val="FF0000"/>
                </a:solidFill>
                <a:latin typeface="Trebuchet MS" panose="020B0603020202020204" pitchFamily="34" charset="0"/>
                <a:cs typeface="Times New Roman" panose="02020603050405020304" pitchFamily="18" charset="0"/>
              </a:rPr>
              <a:t>1</a:t>
            </a:r>
            <a:r>
              <a:rPr lang="zh-CN" altLang="zh-CN" sz="2400" b="1" kern="100" dirty="0">
                <a:solidFill>
                  <a:srgbClr val="FF0000"/>
                </a:solidFill>
                <a:latin typeface="Trebuchet MS" panose="020B0603020202020204" pitchFamily="34" charset="0"/>
                <a:cs typeface="Times New Roman" panose="02020603050405020304" pitchFamily="18" charset="0"/>
              </a:rPr>
              <a:t>∨</a:t>
            </a:r>
            <a:r>
              <a:rPr lang="en-US" altLang="zh-CN" sz="2400" b="1" kern="100" dirty="0">
                <a:solidFill>
                  <a:srgbClr val="FF0000"/>
                </a:solidFill>
                <a:latin typeface="Trebuchet MS" panose="020B0603020202020204" pitchFamily="34" charset="0"/>
                <a:cs typeface="Times New Roman" panose="02020603050405020304" pitchFamily="18" charset="0"/>
              </a:rPr>
              <a:t>2</a:t>
            </a:r>
            <a:r>
              <a:rPr lang="zh-CN" altLang="zh-CN" sz="2400" b="1" kern="100" dirty="0">
                <a:solidFill>
                  <a:srgbClr val="FF0000"/>
                </a:solidFill>
                <a:latin typeface="Trebuchet MS" panose="020B0603020202020204" pitchFamily="34" charset="0"/>
                <a:cs typeface="Times New Roman" panose="02020603050405020304" pitchFamily="18" charset="0"/>
              </a:rPr>
              <a:t>∨</a:t>
            </a:r>
            <a:r>
              <a:rPr lang="en-US" altLang="zh-CN" sz="2400" b="1" kern="100" dirty="0">
                <a:solidFill>
                  <a:srgbClr val="FF0000"/>
                </a:solidFill>
                <a:latin typeface="Trebuchet MS" panose="020B0603020202020204" pitchFamily="34" charset="0"/>
                <a:cs typeface="Times New Roman" panose="02020603050405020304" pitchFamily="18" charset="0"/>
              </a:rPr>
              <a:t>3</a:t>
            </a:r>
            <a:r>
              <a:rPr lang="zh-CN" altLang="zh-CN" sz="2400" b="1" kern="100" dirty="0">
                <a:solidFill>
                  <a:srgbClr val="FF0000"/>
                </a:solidFill>
                <a:latin typeface="Trebuchet MS" panose="020B0603020202020204" pitchFamily="34" charset="0"/>
                <a:cs typeface="Times New Roman" panose="02020603050405020304" pitchFamily="18" charset="0"/>
              </a:rPr>
              <a:t>∨</a:t>
            </a:r>
            <a:r>
              <a:rPr lang="en-US" altLang="zh-CN" sz="2400" b="1" kern="100" dirty="0">
                <a:solidFill>
                  <a:srgbClr val="FF0000"/>
                </a:solidFill>
                <a:latin typeface="Trebuchet MS" panose="020B0603020202020204" pitchFamily="34" charset="0"/>
                <a:cs typeface="Times New Roman" panose="02020603050405020304" pitchFamily="18" charset="0"/>
              </a:rPr>
              <a:t>6=6</a:t>
            </a:r>
            <a:r>
              <a:rPr lang="en-US" altLang="zh-CN" sz="2400" dirty="0">
                <a:solidFill>
                  <a:schemeClr val="tx1"/>
                </a:solidFill>
                <a:latin typeface="Trebuchet MS" panose="020B0603020202020204" pitchFamily="34" charset="0"/>
              </a:rPr>
              <a:t>— the LCM of all elements.</a:t>
            </a:r>
          </a:p>
        </p:txBody>
      </p:sp>
      <p:pic>
        <p:nvPicPr>
          <p:cNvPr id="6" name="图片 5">
            <a:extLst>
              <a:ext uri="{FF2B5EF4-FFF2-40B4-BE49-F238E27FC236}">
                <a16:creationId xmlns:a16="http://schemas.microsoft.com/office/drawing/2014/main" id="{D874742E-BA3B-4314-A085-17C4D9B42746}"/>
              </a:ext>
            </a:extLst>
          </p:cNvPr>
          <p:cNvPicPr>
            <a:picLocks noChangeAspect="1"/>
          </p:cNvPicPr>
          <p:nvPr/>
        </p:nvPicPr>
        <p:blipFill>
          <a:blip r:embed="rId5"/>
          <a:stretch>
            <a:fillRect/>
          </a:stretch>
        </p:blipFill>
        <p:spPr>
          <a:xfrm>
            <a:off x="9240880" y="3591386"/>
            <a:ext cx="1905000" cy="2286000"/>
          </a:xfrm>
          <a:prstGeom prst="rect">
            <a:avLst/>
          </a:prstGeom>
        </p:spPr>
      </p:pic>
    </p:spTree>
    <p:extLst>
      <p:ext uri="{BB962C8B-B14F-4D97-AF65-F5344CB8AC3E}">
        <p14:creationId xmlns:p14="http://schemas.microsoft.com/office/powerpoint/2010/main" val="33534692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fade">
                                      <p:cBhvr>
                                        <p:cTn id="7" dur="1000"/>
                                        <p:tgtEl>
                                          <p:spTgt spid="16">
                                            <p:txEl>
                                              <p:pRg st="1" end="1"/>
                                            </p:txEl>
                                          </p:spTgt>
                                        </p:tgtEl>
                                      </p:cBhvr>
                                    </p:animEffect>
                                    <p:anim calcmode="lin" valueType="num">
                                      <p:cBhvr>
                                        <p:cTn id="8"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xEl>
                                              <p:pRg st="2" end="2"/>
                                            </p:txEl>
                                          </p:spTgt>
                                        </p:tgtEl>
                                        <p:attrNameLst>
                                          <p:attrName>style.visibility</p:attrName>
                                        </p:attrNameLst>
                                      </p:cBhvr>
                                      <p:to>
                                        <p:strVal val="visible"/>
                                      </p:to>
                                    </p:set>
                                    <p:animEffect transition="in" filter="fade">
                                      <p:cBhvr>
                                        <p:cTn id="14" dur="1000"/>
                                        <p:tgtEl>
                                          <p:spTgt spid="16">
                                            <p:txEl>
                                              <p:pRg st="2" end="2"/>
                                            </p:txEl>
                                          </p:spTgt>
                                        </p:tgtEl>
                                      </p:cBhvr>
                                    </p:animEffect>
                                    <p:anim calcmode="lin" valueType="num">
                                      <p:cBhvr>
                                        <p:cTn id="15"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6">
                                            <p:txEl>
                                              <p:pRg st="3" end="3"/>
                                            </p:txEl>
                                          </p:spTgt>
                                        </p:tgtEl>
                                        <p:attrNameLst>
                                          <p:attrName>style.visibility</p:attrName>
                                        </p:attrNameLst>
                                      </p:cBhvr>
                                      <p:to>
                                        <p:strVal val="visible"/>
                                      </p:to>
                                    </p:set>
                                    <p:animEffect transition="in" filter="fade">
                                      <p:cBhvr>
                                        <p:cTn id="21" dur="1000"/>
                                        <p:tgtEl>
                                          <p:spTgt spid="16">
                                            <p:txEl>
                                              <p:pRg st="3" end="3"/>
                                            </p:txEl>
                                          </p:spTgt>
                                        </p:tgtEl>
                                      </p:cBhvr>
                                    </p:animEffect>
                                    <p:anim calcmode="lin" valueType="num">
                                      <p:cBhvr>
                                        <p:cTn id="22" dur="1000" fill="hold"/>
                                        <p:tgtEl>
                                          <p:spTgt spid="16">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6">
                                            <p:txEl>
                                              <p:pRg st="4" end="4"/>
                                            </p:txEl>
                                          </p:spTgt>
                                        </p:tgtEl>
                                        <p:attrNameLst>
                                          <p:attrName>style.visibility</p:attrName>
                                        </p:attrNameLst>
                                      </p:cBhvr>
                                      <p:to>
                                        <p:strVal val="visible"/>
                                      </p:to>
                                    </p:set>
                                    <p:animEffect transition="in" filter="fade">
                                      <p:cBhvr>
                                        <p:cTn id="28" dur="1000"/>
                                        <p:tgtEl>
                                          <p:spTgt spid="16">
                                            <p:txEl>
                                              <p:pRg st="4" end="4"/>
                                            </p:txEl>
                                          </p:spTgt>
                                        </p:tgtEl>
                                      </p:cBhvr>
                                    </p:animEffect>
                                    <p:anim calcmode="lin" valueType="num">
                                      <p:cBhvr>
                                        <p:cTn id="29" dur="1000" fill="hold"/>
                                        <p:tgtEl>
                                          <p:spTgt spid="16">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b="1" dirty="0">
                <a:latin typeface="Trebuchet MS" panose="020B0603020202020204" pitchFamily="34"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Determining Bounded Lattices</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7" name="Rectangle 5">
            <a:extLst>
              <a:ext uri="{FF2B5EF4-FFF2-40B4-BE49-F238E27FC236}">
                <a16:creationId xmlns:a16="http://schemas.microsoft.com/office/drawing/2014/main" id="{6C76B820-2E70-4803-AAE8-A799F6B9FE5E}"/>
              </a:ext>
            </a:extLst>
          </p:cNvPr>
          <p:cNvSpPr>
            <a:spLocks noChangeArrowheads="1"/>
          </p:cNvSpPr>
          <p:nvPr/>
        </p:nvSpPr>
        <p:spPr bwMode="auto">
          <a:xfrm>
            <a:off x="1000125" y="868730"/>
            <a:ext cx="8503329" cy="5192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t" anchorCtr="0">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71463" indent="-271463">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a:t>
            </a:r>
            <a:r>
              <a:rPr lang="en-US" altLang="zh-CN" sz="2400" b="1" dirty="0">
                <a:solidFill>
                  <a:srgbClr val="0B61FF"/>
                </a:solidFill>
                <a:latin typeface="Trebuchet MS" panose="020B0603020202020204" pitchFamily="34" charset="0"/>
              </a:rPr>
              <a:t>(2)</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The power set lattice </a:t>
            </a:r>
            <a:r>
              <a:rPr lang="en-US" altLang="zh-CN" sz="2400" b="1" i="1" dirty="0">
                <a:solidFill>
                  <a:schemeClr val="tx1"/>
                </a:solidFill>
                <a:latin typeface="Trebuchet MS" panose="020B0603020202020204" pitchFamily="34" charset="0"/>
                <a:sym typeface="Symbol" panose="05050102010706020507" pitchFamily="18" charset="2"/>
              </a:rPr>
              <a:t>P</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B</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is a </a:t>
            </a:r>
            <a:r>
              <a:rPr lang="en-US" altLang="zh-CN" sz="2400" b="1" dirty="0">
                <a:solidFill>
                  <a:schemeClr val="tx1"/>
                </a:solidFill>
                <a:latin typeface="Trebuchet MS" panose="020B0603020202020204" pitchFamily="34" charset="0"/>
              </a:rPr>
              <a:t>bounded lattice</a:t>
            </a:r>
            <a:r>
              <a:rPr lang="en-US" altLang="zh-CN" sz="2400" dirty="0">
                <a:solidFill>
                  <a:schemeClr val="tx1"/>
                </a:solidFill>
                <a:latin typeface="Trebuchet MS" panose="020B0603020202020204" pitchFamily="34" charset="0"/>
              </a:rPr>
              <a:t>, even when </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dirty="0">
                <a:solidFill>
                  <a:schemeClr val="tx1"/>
                </a:solidFill>
                <a:latin typeface="Trebuchet MS" panose="020B0603020202020204" pitchFamily="34" charset="0"/>
              </a:rPr>
              <a:t> is an infinite set.</a:t>
            </a:r>
          </a:p>
          <a:p>
            <a:pPr marL="536575" indent="-360363">
              <a:lnSpc>
                <a:spcPct val="120000"/>
              </a:lnSpc>
              <a:buClr>
                <a:srgbClr val="0B61FF"/>
              </a:buClr>
              <a:buSzPct val="80000"/>
            </a:pPr>
            <a:r>
              <a:rPr lang="en-US" altLang="zh-CN" sz="2400" b="1" dirty="0">
                <a:solidFill>
                  <a:srgbClr val="0B61FF"/>
                </a:solidFill>
                <a:latin typeface="Trebuchet MS" panose="020B0603020202020204" pitchFamily="34" charset="0"/>
                <a:ea typeface="宋体" panose="02010600030101010101" pitchFamily="2" charset="-122"/>
              </a:rPr>
              <a:t>① </a:t>
            </a:r>
            <a:r>
              <a:rPr lang="en-US" altLang="zh-CN" sz="2400" dirty="0">
                <a:solidFill>
                  <a:schemeClr val="tx1"/>
                </a:solidFill>
                <a:latin typeface="Trebuchet MS" panose="020B0603020202020204" pitchFamily="34" charset="0"/>
              </a:rPr>
              <a:t>The empty set </a:t>
            </a:r>
            <a:r>
              <a:rPr lang="zh-CN" altLang="zh-CN" sz="2400" b="1" dirty="0">
                <a:solidFill>
                  <a:srgbClr val="FF0000"/>
                </a:solidFill>
                <a:latin typeface="Cambria Math" panose="02040503050406030204" pitchFamily="18" charset="0"/>
                <a:ea typeface="MS Gothic" panose="020B0609070205080204" pitchFamily="49" charset="-128"/>
                <a:cs typeface="Times New Roman" panose="02020603050405020304" pitchFamily="18" charset="0"/>
              </a:rPr>
              <a:t>∅</a:t>
            </a:r>
            <a:r>
              <a:rPr lang="zh-CN" altLang="zh-CN" sz="2400" b="1" i="1" dirty="0">
                <a:solidFill>
                  <a:schemeClr val="tx1"/>
                </a:solidFill>
                <a:latin typeface="Cambria Math" panose="02040503050406030204" pitchFamily="18" charset="0"/>
                <a:ea typeface="MS Gothic" panose="020B0609070205080204" pitchFamily="49" charset="-128"/>
                <a:cs typeface="Times New Roman" panose="02020603050405020304" pitchFamily="18" charset="0"/>
              </a:rPr>
              <a:t> </a:t>
            </a:r>
            <a:r>
              <a:rPr lang="en-US" altLang="zh-CN" sz="2400" b="1" i="1" dirty="0">
                <a:solidFill>
                  <a:schemeClr val="tx1"/>
                </a:solidFill>
                <a:latin typeface="Trebuchet MS" panose="020B0603020202020204" pitchFamily="34" charset="0"/>
                <a:ea typeface="MS Gothic" panose="020B0609070205080204" pitchFamily="49" charset="-128"/>
                <a:cs typeface="Times New Roman" panose="02020603050405020304" pitchFamily="18" charset="0"/>
              </a:rPr>
              <a:t> </a:t>
            </a:r>
            <a:r>
              <a:rPr lang="en-US" altLang="zh-CN" sz="2400" dirty="0">
                <a:solidFill>
                  <a:schemeClr val="tx1"/>
                </a:solidFill>
                <a:latin typeface="Trebuchet MS" panose="020B0603020202020204" pitchFamily="34" charset="0"/>
              </a:rPr>
              <a:t>is a subset of every set in </a:t>
            </a:r>
            <a:r>
              <a:rPr lang="en-US"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dirty="0">
                <a:solidFill>
                  <a:schemeClr val="tx1"/>
                </a:solidFill>
                <a:latin typeface="Trebuchet MS" panose="020B0603020202020204" pitchFamily="34" charset="0"/>
              </a:rPr>
              <a:t>, making it the </a:t>
            </a:r>
            <a:r>
              <a:rPr lang="en-US" altLang="zh-CN" sz="2400" b="1" i="1" dirty="0">
                <a:solidFill>
                  <a:srgbClr val="0B61FF"/>
                </a:solidFill>
                <a:latin typeface="Trebuchet MS" panose="020B0603020202020204" pitchFamily="34" charset="0"/>
              </a:rPr>
              <a:t>greatest lower bound</a:t>
            </a:r>
            <a:r>
              <a:rPr lang="en-US" altLang="zh-CN" sz="2400" i="1" dirty="0">
                <a:solidFill>
                  <a:srgbClr val="0B61FF"/>
                </a:solidFill>
                <a:latin typeface="Trebuchet MS" panose="020B0603020202020204" pitchFamily="34" charset="0"/>
              </a:rPr>
              <a:t> </a:t>
            </a:r>
            <a:r>
              <a:rPr lang="en-US" altLang="zh-CN" sz="2400" dirty="0">
                <a:solidFill>
                  <a:schemeClr val="tx1"/>
                </a:solidFill>
                <a:latin typeface="Trebuchet MS" panose="020B0603020202020204" pitchFamily="34" charset="0"/>
              </a:rPr>
              <a:t>(bottom element) of all elements.</a:t>
            </a:r>
          </a:p>
          <a:p>
            <a:pPr marL="536575" indent="-360363">
              <a:lnSpc>
                <a:spcPct val="120000"/>
              </a:lnSpc>
              <a:buClr>
                <a:srgbClr val="0B61FF"/>
              </a:buClr>
              <a:buSzPct val="80000"/>
            </a:pPr>
            <a:r>
              <a:rPr lang="en-US" altLang="zh-CN" sz="2400" dirty="0">
                <a:solidFill>
                  <a:srgbClr val="0B61FF"/>
                </a:solidFill>
                <a:latin typeface="Trebuchet MS" panose="020B0603020202020204" pitchFamily="34" charset="0"/>
                <a:ea typeface="宋体" panose="02010600030101010101" pitchFamily="2" charset="-122"/>
              </a:rPr>
              <a:t>②</a:t>
            </a:r>
            <a:r>
              <a:rPr lang="en-US" altLang="zh-CN" sz="2400" dirty="0">
                <a:solidFill>
                  <a:schemeClr val="tx1"/>
                </a:solidFill>
                <a:latin typeface="Trebuchet MS" panose="020B0603020202020204" pitchFamily="34" charset="0"/>
                <a:ea typeface="宋体" panose="02010600030101010101" pitchFamily="2" charset="-122"/>
              </a:rPr>
              <a:t> </a:t>
            </a:r>
            <a:r>
              <a:rPr lang="en-US" altLang="zh-CN" sz="2400" dirty="0">
                <a:solidFill>
                  <a:schemeClr val="tx1"/>
                </a:solidFill>
                <a:latin typeface="Trebuchet MS" panose="020B0603020202020204" pitchFamily="34" charset="0"/>
              </a:rPr>
              <a:t>The set </a:t>
            </a:r>
            <a:r>
              <a:rPr lang="en-US" altLang="zh-CN" sz="2400" b="1" i="1" dirty="0">
                <a:solidFill>
                  <a:srgbClr val="FF0000"/>
                </a:solidFill>
                <a:latin typeface="Trebuchet MS" panose="020B0603020202020204" pitchFamily="34" charset="0"/>
                <a:cs typeface="Times New Roman" panose="02020603050405020304" pitchFamily="18" charset="0"/>
              </a:rPr>
              <a:t>B</a:t>
            </a:r>
            <a:r>
              <a:rPr lang="en-US" altLang="zh-CN" sz="2400" dirty="0">
                <a:solidFill>
                  <a:schemeClr val="tx1"/>
                </a:solidFill>
                <a:latin typeface="Trebuchet MS" panose="020B0603020202020204" pitchFamily="34" charset="0"/>
              </a:rPr>
              <a:t> is a superset of every subset in </a:t>
            </a:r>
            <a:r>
              <a:rPr lang="en-US"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 </a:t>
            </a:r>
            <a:r>
              <a:rPr lang="zh-CN"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making it the </a:t>
            </a:r>
            <a:r>
              <a:rPr lang="en-US" altLang="zh-CN" sz="2400" b="1" i="1" dirty="0">
                <a:solidFill>
                  <a:srgbClr val="0B61FF"/>
                </a:solidFill>
                <a:latin typeface="Trebuchet MS" panose="020B0603020202020204" pitchFamily="34" charset="0"/>
              </a:rPr>
              <a:t>least upper bound </a:t>
            </a:r>
            <a:r>
              <a:rPr lang="en-US" altLang="zh-CN" sz="2400" dirty="0">
                <a:solidFill>
                  <a:schemeClr val="tx1"/>
                </a:solidFill>
                <a:latin typeface="Trebuchet MS" panose="020B0603020202020204" pitchFamily="34" charset="0"/>
              </a:rPr>
              <a:t>(top element).</a:t>
            </a:r>
          </a:p>
          <a:p>
            <a:pPr marL="536575" indent="-360363">
              <a:lnSpc>
                <a:spcPct val="120000"/>
              </a:lnSpc>
              <a:buClr>
                <a:srgbClr val="0B61FF"/>
              </a:buClr>
              <a:buSzPct val="80000"/>
            </a:pPr>
            <a:r>
              <a:rPr lang="en-US" altLang="zh-CN" sz="2400" dirty="0">
                <a:solidFill>
                  <a:srgbClr val="0B61FF"/>
                </a:solidFill>
                <a:latin typeface="Trebuchet MS" panose="020B0603020202020204" pitchFamily="34" charset="0"/>
                <a:ea typeface="宋体" panose="02010600030101010101" pitchFamily="2" charset="-122"/>
              </a:rPr>
              <a:t>③</a:t>
            </a:r>
            <a:r>
              <a:rPr lang="en-US" altLang="zh-CN" sz="2400" dirty="0">
                <a:solidFill>
                  <a:schemeClr val="tx1"/>
                </a:solidFill>
                <a:latin typeface="Trebuchet MS" panose="020B0603020202020204" pitchFamily="34" charset="0"/>
                <a:ea typeface="宋体" panose="02010600030101010101" pitchFamily="2" charset="-122"/>
              </a:rPr>
              <a:t> </a:t>
            </a:r>
            <a:r>
              <a:rPr lang="en-US" altLang="zh-CN" sz="2400" dirty="0">
                <a:solidFill>
                  <a:schemeClr val="tx1"/>
                </a:solidFill>
                <a:latin typeface="Trebuchet MS" panose="020B0603020202020204" pitchFamily="34" charset="0"/>
              </a:rPr>
              <a:t>Regardless of whether the set </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dirty="0">
                <a:solidFill>
                  <a:schemeClr val="tx1"/>
                </a:solidFill>
                <a:latin typeface="Trebuchet MS" panose="020B0603020202020204" pitchFamily="34" charset="0"/>
              </a:rPr>
              <a:t> is finite or infinite, the power set </a:t>
            </a:r>
            <a:r>
              <a:rPr lang="en-US" altLang="zh-CN" sz="2400" b="1" i="1" dirty="0">
                <a:solidFill>
                  <a:schemeClr val="tx1"/>
                </a:solidFill>
                <a:latin typeface="Trebuchet MS" panose="020B0603020202020204" pitchFamily="34" charset="0"/>
                <a:cs typeface="Times New Roman" panose="02020603050405020304" pitchFamily="18" charset="0"/>
              </a:rPr>
              <a:t>P</a:t>
            </a:r>
            <a:r>
              <a:rPr lang="en-US" altLang="zh-CN" sz="2400" b="1" dirty="0">
                <a:solidFill>
                  <a:schemeClr val="tx1"/>
                </a:solidFill>
                <a:latin typeface="Trebuchet MS" panose="020B0603020202020204" pitchFamily="34" charset="0"/>
                <a:cs typeface="Times New Roman" panose="02020603050405020304" pitchFamily="18" charset="0"/>
              </a:rPr>
              <a:t>(</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b="1" dirty="0">
                <a:solidFill>
                  <a:schemeClr val="tx1"/>
                </a:solidFill>
                <a:latin typeface="Trebuchet MS" panose="020B0603020202020204" pitchFamily="34" charset="0"/>
                <a:cs typeface="Times New Roman" panose="02020603050405020304" pitchFamily="18" charset="0"/>
              </a:rPr>
              <a:t>)</a:t>
            </a:r>
            <a:r>
              <a:rPr lang="zh-CN" altLang="zh-CN" sz="2400" b="1" dirty="0">
                <a:solidFill>
                  <a:schemeClr val="tx1"/>
                </a:solidFill>
                <a:latin typeface="Trebuchet MS" panose="020B0603020202020204" pitchFamily="34" charset="0"/>
                <a:cs typeface="Times New Roman" panose="02020603050405020304" pitchFamily="18" charset="0"/>
              </a:rPr>
              <a:t> </a:t>
            </a:r>
            <a:r>
              <a:rPr lang="en-US" altLang="zh-CN" sz="2400" b="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always has a well-defined </a:t>
            </a:r>
            <a:r>
              <a:rPr lang="en-US" altLang="zh-CN" sz="2400" b="1" dirty="0">
                <a:solidFill>
                  <a:schemeClr val="tx1"/>
                </a:solidFill>
                <a:latin typeface="Trebuchet MS" panose="020B0603020202020204" pitchFamily="34" charset="0"/>
              </a:rPr>
              <a:t>bottom element</a:t>
            </a:r>
            <a:r>
              <a:rPr lang="en-US" altLang="zh-CN" sz="2400" dirty="0">
                <a:solidFill>
                  <a:schemeClr val="tx1"/>
                </a:solidFill>
                <a:latin typeface="Trebuchet MS" panose="020B0603020202020204" pitchFamily="34" charset="0"/>
              </a:rPr>
              <a:t> (the empty set </a:t>
            </a:r>
            <a:r>
              <a:rPr lang="zh-CN" altLang="zh-CN" sz="2400" b="1" dirty="0">
                <a:solidFill>
                  <a:schemeClr val="tx1"/>
                </a:solidFill>
                <a:latin typeface="Trebuchet MS" panose="020B0603020202020204" pitchFamily="34" charset="0"/>
                <a:ea typeface="MS Gothic" panose="020B0609070205080204" pitchFamily="49" charset="-128"/>
                <a:cs typeface="Times New Roman" panose="02020603050405020304" pitchFamily="18" charset="0"/>
              </a:rPr>
              <a:t>∅</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top element</a:t>
            </a:r>
            <a:r>
              <a:rPr lang="en-US" altLang="zh-CN" sz="2400" dirty="0">
                <a:solidFill>
                  <a:schemeClr val="tx1"/>
                </a:solidFill>
                <a:latin typeface="Trebuchet MS" panose="020B0603020202020204" pitchFamily="34" charset="0"/>
              </a:rPr>
              <a:t> (the set </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dirty="0">
                <a:solidFill>
                  <a:schemeClr val="tx1"/>
                </a:solidFill>
                <a:latin typeface="Trebuchet MS" panose="020B0603020202020204" pitchFamily="34" charset="0"/>
              </a:rPr>
              <a:t>), and thus forms a </a:t>
            </a:r>
            <a:r>
              <a:rPr lang="en-US" altLang="zh-CN" sz="2400" b="1" i="1" dirty="0">
                <a:solidFill>
                  <a:srgbClr val="0B61FF"/>
                </a:solidFill>
                <a:latin typeface="Trebuchet MS" panose="020B0603020202020204" pitchFamily="34" charset="0"/>
              </a:rPr>
              <a:t>bounded lattice </a:t>
            </a:r>
            <a:r>
              <a:rPr lang="en-US" altLang="zh-CN" sz="2400" b="1" dirty="0">
                <a:solidFill>
                  <a:srgbClr val="FF0000"/>
                </a:solidFill>
              </a:rPr>
              <a:t>&lt;</a:t>
            </a:r>
            <a:r>
              <a:rPr lang="en-US" altLang="zh-CN" sz="2400" b="1" i="1" dirty="0">
                <a:solidFill>
                  <a:srgbClr val="FF0000"/>
                </a:solidFill>
                <a:latin typeface="Trebuchet MS" panose="020B0603020202020204" pitchFamily="34" charset="0"/>
                <a:sym typeface="Symbol" panose="05050102010706020507" pitchFamily="18" charset="2"/>
              </a:rPr>
              <a:t>P</a:t>
            </a:r>
            <a:r>
              <a:rPr lang="en-US" altLang="zh-CN" sz="2400" b="1" dirty="0">
                <a:solidFill>
                  <a:srgbClr val="FF0000"/>
                </a:solidFill>
                <a:latin typeface="Trebuchet MS" panose="020B0603020202020204" pitchFamily="34" charset="0"/>
                <a:sym typeface="Symbol" panose="05050102010706020507" pitchFamily="18" charset="2"/>
              </a:rPr>
              <a:t>(</a:t>
            </a:r>
            <a:r>
              <a:rPr lang="en-US" altLang="zh-CN" sz="2400" b="1" i="1" dirty="0">
                <a:solidFill>
                  <a:srgbClr val="FF0000"/>
                </a:solidFill>
                <a:latin typeface="Trebuchet MS" panose="020B0603020202020204" pitchFamily="34" charset="0"/>
                <a:sym typeface="Symbol" panose="05050102010706020507" pitchFamily="18" charset="2"/>
              </a:rPr>
              <a:t>B</a:t>
            </a:r>
            <a:r>
              <a:rPr lang="en-US" altLang="zh-CN" sz="2400" b="1" dirty="0">
                <a:solidFill>
                  <a:srgbClr val="FF0000"/>
                </a:solidFill>
                <a:latin typeface="Trebuchet MS" panose="020B0603020202020204" pitchFamily="34" charset="0"/>
                <a:sym typeface="Symbol" panose="05050102010706020507" pitchFamily="18" charset="2"/>
              </a:rPr>
              <a:t>)</a:t>
            </a:r>
            <a:r>
              <a:rPr lang="en-US" altLang="zh-CN" sz="2400" b="1" dirty="0">
                <a:solidFill>
                  <a:srgbClr val="FF0000"/>
                </a:solidFill>
              </a:rPr>
              <a:t>,⊆,∩,∪,∅,</a:t>
            </a:r>
            <a:r>
              <a:rPr lang="en-US" altLang="zh-CN" sz="2400" b="1" i="1" dirty="0">
                <a:solidFill>
                  <a:srgbClr val="FF0000"/>
                </a:solidFill>
              </a:rPr>
              <a:t>B</a:t>
            </a:r>
            <a:r>
              <a:rPr lang="en-US" altLang="zh-CN" sz="2400" b="1" dirty="0">
                <a:solidFill>
                  <a:srgbClr val="FF0000"/>
                </a:solidFill>
              </a:rPr>
              <a:t>&gt;</a:t>
            </a:r>
            <a:r>
              <a:rPr lang="en-US" altLang="zh-CN" sz="2400" b="1" dirty="0">
                <a:solidFill>
                  <a:srgbClr val="FF0000"/>
                </a:solidFill>
                <a:latin typeface="Trebuchet MS" panose="020B0603020202020204" pitchFamily="34" charset="0"/>
              </a:rPr>
              <a:t>.</a:t>
            </a:r>
          </a:p>
        </p:txBody>
      </p:sp>
    </p:spTree>
    <p:extLst>
      <p:ext uri="{BB962C8B-B14F-4D97-AF65-F5344CB8AC3E}">
        <p14:creationId xmlns:p14="http://schemas.microsoft.com/office/powerpoint/2010/main" val="1580753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Effect transition="in" filter="fade">
                                      <p:cBhvr>
                                        <p:cTn id="7" dur="1000"/>
                                        <p:tgtEl>
                                          <p:spTgt spid="17">
                                            <p:txEl>
                                              <p:pRg st="1" end="1"/>
                                            </p:txEl>
                                          </p:spTgt>
                                        </p:tgtEl>
                                      </p:cBhvr>
                                    </p:animEffect>
                                    <p:anim calcmode="lin" valueType="num">
                                      <p:cBhvr>
                                        <p:cTn id="8"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2" end="2"/>
                                            </p:txEl>
                                          </p:spTgt>
                                        </p:tgtEl>
                                        <p:attrNameLst>
                                          <p:attrName>style.visibility</p:attrName>
                                        </p:attrNameLst>
                                      </p:cBhvr>
                                      <p:to>
                                        <p:strVal val="visible"/>
                                      </p:to>
                                    </p:set>
                                    <p:animEffect transition="in" filter="fade">
                                      <p:cBhvr>
                                        <p:cTn id="14" dur="1000"/>
                                        <p:tgtEl>
                                          <p:spTgt spid="17">
                                            <p:txEl>
                                              <p:pRg st="2" end="2"/>
                                            </p:txEl>
                                          </p:spTgt>
                                        </p:tgtEl>
                                      </p:cBhvr>
                                    </p:animEffect>
                                    <p:anim calcmode="lin" valueType="num">
                                      <p:cBhvr>
                                        <p:cTn id="15"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3" end="3"/>
                                            </p:txEl>
                                          </p:spTgt>
                                        </p:tgtEl>
                                        <p:attrNameLst>
                                          <p:attrName>style.visibility</p:attrName>
                                        </p:attrNameLst>
                                      </p:cBhvr>
                                      <p:to>
                                        <p:strVal val="visible"/>
                                      </p:to>
                                    </p:set>
                                    <p:animEffect transition="in" filter="fade">
                                      <p:cBhvr>
                                        <p:cTn id="21" dur="1000"/>
                                        <p:tgtEl>
                                          <p:spTgt spid="17">
                                            <p:txEl>
                                              <p:pRg st="3" end="3"/>
                                            </p:txEl>
                                          </p:spTgt>
                                        </p:tgtEl>
                                      </p:cBhvr>
                                    </p:animEffect>
                                    <p:anim calcmode="lin" valueType="num">
                                      <p:cBhvr>
                                        <p:cTn id="22"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Complement element </a:t>
            </a:r>
            <a:r>
              <a:rPr lang="en-US" altLang="zh-CN" sz="2400" b="1" dirty="0"/>
              <a:t>&amp;</a:t>
            </a:r>
            <a:r>
              <a:rPr lang="en-US" altLang="zh-CN" sz="2400" b="1" dirty="0">
                <a:latin typeface="Trebuchet MS" panose="020B0603020202020204" pitchFamily="34" charset="0"/>
              </a:rPr>
              <a:t> Complemented lattice</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id="{DA48A148-2021-4AC6-A913-D5AE3C370547}"/>
              </a:ext>
            </a:extLst>
          </p:cNvPr>
          <p:cNvSpPr>
            <a:spLocks noChangeArrowheads="1"/>
          </p:cNvSpPr>
          <p:nvPr/>
        </p:nvSpPr>
        <p:spPr bwMode="auto">
          <a:xfrm>
            <a:off x="775211" y="815365"/>
            <a:ext cx="9612025" cy="4671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indent="133350"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Definition 9.27: </a:t>
            </a:r>
            <a:r>
              <a:rPr lang="en-US" altLang="zh-CN" sz="2400" dirty="0">
                <a:solidFill>
                  <a:schemeClr val="tx1"/>
                </a:solidFill>
                <a:latin typeface="Trebuchet MS" panose="020B0603020202020204" pitchFamily="34" charset="0"/>
              </a:rPr>
              <a:t>Let </a:t>
            </a:r>
            <a:r>
              <a:rPr lang="en-US" altLang="zh-CN" sz="2400" b="1" dirty="0">
                <a:solidFill>
                  <a:schemeClr val="tx1"/>
                </a:solidFill>
                <a:latin typeface="Trebuchet MS" panose="020B0603020202020204" pitchFamily="34" charset="0"/>
              </a:rPr>
              <a:t>&lt;</a:t>
            </a:r>
            <a:r>
              <a:rPr lang="en-US" altLang="zh-CN" sz="2400" b="1" i="1" dirty="0">
                <a:solidFill>
                  <a:schemeClr val="tx1"/>
                </a:solidFill>
                <a:latin typeface="Trebuchet MS" panose="020B0603020202020204" pitchFamily="34" charset="0"/>
              </a:rPr>
              <a:t>L</a:t>
            </a:r>
            <a:r>
              <a:rPr lang="en-US" altLang="zh-CN" sz="2400" b="1" dirty="0">
                <a:solidFill>
                  <a:schemeClr val="tx1"/>
                </a:solidFill>
                <a:latin typeface="Trebuchet MS" panose="020B0603020202020204" pitchFamily="34" charset="0"/>
              </a:rPr>
              <a:t>,∧,∨,0,1&gt; </a:t>
            </a:r>
            <a:r>
              <a:rPr lang="en-US" altLang="zh-CN" sz="2400" dirty="0">
                <a:solidFill>
                  <a:schemeClr val="tx1"/>
                </a:solidFill>
                <a:latin typeface="Trebuchet MS" panose="020B0603020202020204" pitchFamily="34" charset="0"/>
              </a:rPr>
              <a:t>be a </a:t>
            </a:r>
            <a:r>
              <a:rPr lang="en-US" altLang="zh-CN" sz="2400" b="1" dirty="0">
                <a:solidFill>
                  <a:schemeClr val="tx1"/>
                </a:solidFill>
                <a:latin typeface="Trebuchet MS" panose="020B0603020202020204" pitchFamily="34" charset="0"/>
              </a:rPr>
              <a:t>bounded lattice</a:t>
            </a:r>
            <a:r>
              <a:rPr lang="en-US" altLang="zh-CN" sz="2400" dirty="0">
                <a:solidFill>
                  <a:schemeClr val="tx1"/>
                </a:solidFill>
                <a:latin typeface="Trebuchet MS" panose="020B0603020202020204" pitchFamily="34" charset="0"/>
              </a:rPr>
              <a:t>, and let </a:t>
            </a:r>
            <a:r>
              <a:rPr lang="en-US" altLang="zh-CN" sz="2400" b="1" i="1" dirty="0" err="1">
                <a:solidFill>
                  <a:schemeClr val="tx1"/>
                </a:solidFill>
                <a:latin typeface="Trebuchet MS" panose="020B0603020202020204" pitchFamily="34" charset="0"/>
              </a:rPr>
              <a:t>a</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L</a:t>
            </a:r>
            <a:r>
              <a:rPr lang="en-US" altLang="zh-CN" sz="2400" dirty="0">
                <a:solidFill>
                  <a:schemeClr val="tx1"/>
                </a:solidFill>
                <a:latin typeface="Trebuchet MS" panose="020B0603020202020204" pitchFamily="34" charset="0"/>
              </a:rPr>
              <a:t>. If there exists </a:t>
            </a:r>
            <a:r>
              <a:rPr lang="en-US" altLang="zh-CN" sz="2400" b="1" i="1" dirty="0" err="1">
                <a:solidFill>
                  <a:schemeClr val="tx1"/>
                </a:solidFill>
                <a:latin typeface="Trebuchet MS" panose="020B0603020202020204" pitchFamily="34" charset="0"/>
              </a:rPr>
              <a:t>b</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L</a:t>
            </a:r>
            <a:r>
              <a:rPr lang="en-US" altLang="zh-CN" sz="2400" b="1" i="1"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rPr>
              <a:t>such that: </a:t>
            </a:r>
            <a:r>
              <a:rPr lang="en-US" altLang="zh-CN" sz="2400" b="1" i="1" dirty="0" err="1">
                <a:solidFill>
                  <a:schemeClr val="tx1"/>
                </a:solidFill>
                <a:latin typeface="Trebuchet MS" panose="020B0603020202020204" pitchFamily="34" charset="0"/>
              </a:rPr>
              <a:t>a</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b</a:t>
            </a:r>
            <a:r>
              <a:rPr lang="en-US" altLang="zh-CN" sz="2400" b="1" dirty="0">
                <a:solidFill>
                  <a:schemeClr val="tx1"/>
                </a:solidFill>
                <a:latin typeface="Trebuchet MS" panose="020B0603020202020204" pitchFamily="34" charset="0"/>
              </a:rPr>
              <a:t>=0</a:t>
            </a:r>
            <a:r>
              <a:rPr lang="zh-CN" altLang="en-US" sz="2400" b="1" dirty="0">
                <a:solidFill>
                  <a:schemeClr val="tx1"/>
                </a:solidFill>
                <a:latin typeface="Trebuchet MS" panose="020B0603020202020204" pitchFamily="34" charset="0"/>
              </a:rPr>
              <a:t> </a:t>
            </a:r>
            <a:r>
              <a:rPr lang="en-US" altLang="zh-CN" sz="2400" dirty="0">
                <a:solidFill>
                  <a:schemeClr val="tx1"/>
                </a:solidFill>
                <a:latin typeface="Trebuchet MS" panose="020B0603020202020204" pitchFamily="34" charset="0"/>
              </a:rPr>
              <a:t>and</a:t>
            </a:r>
            <a:r>
              <a:rPr lang="en-US" altLang="zh-CN" sz="2400" b="1" dirty="0">
                <a:solidFill>
                  <a:schemeClr val="tx1"/>
                </a:solidFill>
                <a:latin typeface="Trebuchet MS" panose="020B0603020202020204" pitchFamily="34" charset="0"/>
              </a:rPr>
              <a:t> </a:t>
            </a:r>
            <a:r>
              <a:rPr lang="en-US" altLang="zh-CN" sz="2400" b="1" i="1" dirty="0" err="1">
                <a:solidFill>
                  <a:schemeClr val="tx1"/>
                </a:solidFill>
                <a:latin typeface="Trebuchet MS" panose="020B0603020202020204" pitchFamily="34" charset="0"/>
              </a:rPr>
              <a:t>a</a:t>
            </a:r>
            <a:r>
              <a:rPr lang="en-US" altLang="zh-CN" sz="2400" b="1" dirty="0" err="1">
                <a:solidFill>
                  <a:schemeClr val="tx1"/>
                </a:solidFill>
                <a:latin typeface="Trebuchet MS" panose="020B0603020202020204" pitchFamily="34" charset="0"/>
              </a:rPr>
              <a:t>∨</a:t>
            </a:r>
            <a:r>
              <a:rPr lang="en-US" altLang="zh-CN" sz="2400" b="1" i="1" dirty="0" err="1">
                <a:solidFill>
                  <a:schemeClr val="tx1"/>
                </a:solidFill>
                <a:latin typeface="Trebuchet MS" panose="020B0603020202020204" pitchFamily="34" charset="0"/>
              </a:rPr>
              <a:t>b</a:t>
            </a:r>
            <a:r>
              <a:rPr lang="en-US" altLang="zh-CN" sz="2400" b="1" dirty="0">
                <a:solidFill>
                  <a:schemeClr val="tx1"/>
                </a:solidFill>
                <a:latin typeface="Trebuchet MS" panose="020B0603020202020204" pitchFamily="34" charset="0"/>
              </a:rPr>
              <a:t>=1</a:t>
            </a:r>
            <a:r>
              <a:rPr lang="en-US" altLang="zh-CN" sz="2400" dirty="0">
                <a:solidFill>
                  <a:schemeClr val="tx1"/>
                </a:solidFill>
                <a:latin typeface="Trebuchet MS" panose="020B0603020202020204" pitchFamily="34" charset="0"/>
              </a:rPr>
              <a:t>, then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is called a </a:t>
            </a:r>
            <a:r>
              <a:rPr lang="en-US" altLang="zh-CN" sz="2400" b="1" i="1" dirty="0">
                <a:solidFill>
                  <a:srgbClr val="0B61FF"/>
                </a:solidFill>
                <a:latin typeface="Trebuchet MS" panose="020B0603020202020204" pitchFamily="34" charset="0"/>
              </a:rPr>
              <a:t>complement</a:t>
            </a:r>
            <a:r>
              <a:rPr lang="en-US" altLang="zh-CN" sz="2400" dirty="0">
                <a:solidFill>
                  <a:schemeClr val="tx1"/>
                </a:solidFill>
                <a:latin typeface="Trebuchet MS" panose="020B0603020202020204" pitchFamily="34" charset="0"/>
              </a:rPr>
              <a:t> of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a:t>
            </a:r>
          </a:p>
          <a:p>
            <a:pPr marL="342900" indent="-166688">
              <a:lnSpc>
                <a:spcPct val="12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The elements </a:t>
            </a:r>
            <a:r>
              <a:rPr lang="en-US" altLang="zh-CN" sz="2400" b="1" dirty="0">
                <a:solidFill>
                  <a:srgbClr val="FF0000"/>
                </a:solidFill>
                <a:latin typeface="Trebuchet MS" panose="020B0603020202020204" pitchFamily="34" charset="0"/>
              </a:rPr>
              <a:t>0</a:t>
            </a:r>
            <a:r>
              <a:rPr lang="en-US" altLang="zh-CN" sz="2400" dirty="0">
                <a:solidFill>
                  <a:schemeClr val="tx1"/>
                </a:solidFill>
                <a:latin typeface="Trebuchet MS" panose="020B0603020202020204" pitchFamily="34" charset="0"/>
              </a:rPr>
              <a:t> (greatest lower bound) and </a:t>
            </a:r>
            <a:r>
              <a:rPr lang="en-US" altLang="zh-CN" sz="2400" b="1" dirty="0">
                <a:solidFill>
                  <a:srgbClr val="FF0000"/>
                </a:solidFill>
                <a:latin typeface="Trebuchet MS" panose="020B0603020202020204" pitchFamily="34" charset="0"/>
              </a:rPr>
              <a:t>1</a:t>
            </a:r>
            <a:r>
              <a:rPr lang="en-US" altLang="zh-CN" sz="2400" dirty="0">
                <a:solidFill>
                  <a:schemeClr val="tx1"/>
                </a:solidFill>
                <a:latin typeface="Trebuchet MS" panose="020B0603020202020204" pitchFamily="34" charset="0"/>
              </a:rPr>
              <a:t> (least upper bound) are </a:t>
            </a:r>
            <a:r>
              <a:rPr lang="en-US" altLang="zh-CN" sz="2400" b="1" i="1" dirty="0">
                <a:solidFill>
                  <a:srgbClr val="0B61FF"/>
                </a:solidFill>
                <a:latin typeface="Trebuchet MS" panose="020B0603020202020204" pitchFamily="34" charset="0"/>
              </a:rPr>
              <a:t>complements of each other</a:t>
            </a:r>
            <a:r>
              <a:rPr lang="en-US" altLang="zh-CN" sz="2400" dirty="0">
                <a:solidFill>
                  <a:schemeClr val="tx1"/>
                </a:solidFill>
                <a:latin typeface="Trebuchet MS" panose="020B0603020202020204" pitchFamily="34" charset="0"/>
              </a:rPr>
              <a:t>, and each has a </a:t>
            </a:r>
            <a:r>
              <a:rPr lang="en-US" altLang="zh-CN" sz="2400" b="1" dirty="0">
                <a:solidFill>
                  <a:schemeClr val="tx1"/>
                </a:solidFill>
                <a:latin typeface="Trebuchet MS" panose="020B0603020202020204" pitchFamily="34" charset="0"/>
              </a:rPr>
              <a:t>unique </a:t>
            </a:r>
            <a:r>
              <a:rPr lang="en-US" altLang="zh-CN" sz="2400" dirty="0">
                <a:solidFill>
                  <a:schemeClr val="tx1"/>
                </a:solidFill>
                <a:latin typeface="Trebuchet MS" panose="020B0603020202020204" pitchFamily="34" charset="0"/>
              </a:rPr>
              <a:t>complement.</a:t>
            </a:r>
          </a:p>
          <a:p>
            <a:pPr marL="342900" indent="-166688">
              <a:lnSpc>
                <a:spcPct val="12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Some elements may </a:t>
            </a:r>
            <a:r>
              <a:rPr lang="en-US" altLang="zh-CN" sz="2400" b="1" dirty="0">
                <a:solidFill>
                  <a:schemeClr val="tx1"/>
                </a:solidFill>
                <a:latin typeface="Trebuchet MS" panose="020B0603020202020204" pitchFamily="34" charset="0"/>
              </a:rPr>
              <a:t>not have any complements</a:t>
            </a:r>
            <a:r>
              <a:rPr lang="en-US" altLang="zh-CN" sz="2400" dirty="0">
                <a:solidFill>
                  <a:schemeClr val="tx1"/>
                </a:solidFill>
                <a:latin typeface="Trebuchet MS" panose="020B0603020202020204" pitchFamily="34" charset="0"/>
              </a:rPr>
              <a:t>, some may have </a:t>
            </a:r>
            <a:r>
              <a:rPr lang="en-US" altLang="zh-CN" sz="2400" b="1" dirty="0">
                <a:solidFill>
                  <a:schemeClr val="tx1"/>
                </a:solidFill>
                <a:latin typeface="Trebuchet MS" panose="020B0603020202020204" pitchFamily="34" charset="0"/>
              </a:rPr>
              <a:t>exactly one</a:t>
            </a:r>
            <a:r>
              <a:rPr lang="en-US" altLang="zh-CN" sz="2400" dirty="0">
                <a:solidFill>
                  <a:schemeClr val="tx1"/>
                </a:solidFill>
                <a:latin typeface="Trebuchet MS" panose="020B0603020202020204" pitchFamily="34" charset="0"/>
              </a:rPr>
              <a:t>, and some may have </a:t>
            </a:r>
            <a:r>
              <a:rPr lang="en-US" altLang="zh-CN" sz="2400" b="1" dirty="0">
                <a:solidFill>
                  <a:schemeClr val="tx1"/>
                </a:solidFill>
                <a:latin typeface="Trebuchet MS" panose="020B0603020202020204" pitchFamily="34" charset="0"/>
              </a:rPr>
              <a:t>more than one</a:t>
            </a:r>
            <a:r>
              <a:rPr lang="en-US" altLang="zh-CN" sz="2400" dirty="0">
                <a:solidFill>
                  <a:schemeClr val="tx1"/>
                </a:solidFill>
                <a:latin typeface="Trebuchet MS" panose="020B0603020202020204" pitchFamily="34" charset="0"/>
              </a:rPr>
              <a:t>.</a:t>
            </a:r>
          </a:p>
          <a:p>
            <a:pPr marL="342900" indent="-166688">
              <a:lnSpc>
                <a:spcPct val="12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If </a:t>
            </a:r>
            <a:r>
              <a:rPr lang="en-US" altLang="zh-CN" sz="2400" b="1" i="1" dirty="0">
                <a:solidFill>
                  <a:srgbClr val="0B61FF"/>
                </a:solidFill>
                <a:latin typeface="Trebuchet MS" panose="020B0603020202020204" pitchFamily="34" charset="0"/>
              </a:rPr>
              <a:t>every element </a:t>
            </a:r>
            <a:r>
              <a:rPr lang="en-US" altLang="zh-CN" sz="2400" dirty="0">
                <a:solidFill>
                  <a:schemeClr val="tx1"/>
                </a:solidFill>
                <a:latin typeface="Trebuchet MS" panose="020B0603020202020204" pitchFamily="34" charset="0"/>
              </a:rPr>
              <a:t>in the bounded lattice </a:t>
            </a:r>
            <a:r>
              <a:rPr lang="en-US" altLang="zh-CN" sz="2400" b="1" dirty="0">
                <a:solidFill>
                  <a:srgbClr val="FF0000"/>
                </a:solidFill>
                <a:latin typeface="Trebuchet MS" panose="020B0603020202020204" pitchFamily="34" charset="0"/>
              </a:rPr>
              <a:t>&lt;</a:t>
            </a:r>
            <a:r>
              <a:rPr lang="en-US" altLang="zh-CN" sz="2400" b="1" i="1" dirty="0">
                <a:solidFill>
                  <a:srgbClr val="FF0000"/>
                </a:solidFill>
                <a:latin typeface="Trebuchet MS" panose="020B0603020202020204" pitchFamily="34" charset="0"/>
              </a:rPr>
              <a:t>L</a:t>
            </a:r>
            <a:r>
              <a:rPr lang="en-US" altLang="zh-CN" sz="2400" b="1" dirty="0">
                <a:solidFill>
                  <a:srgbClr val="FF0000"/>
                </a:solidFill>
                <a:latin typeface="Trebuchet MS" panose="020B0603020202020204" pitchFamily="34" charset="0"/>
              </a:rPr>
              <a:t>,∧,∨,0,1&gt; </a:t>
            </a:r>
            <a:r>
              <a:rPr lang="en-US" altLang="zh-CN" sz="2400" b="1" i="1" dirty="0">
                <a:solidFill>
                  <a:srgbClr val="0B61FF"/>
                </a:solidFill>
                <a:latin typeface="Trebuchet MS" panose="020B0603020202020204" pitchFamily="34" charset="0"/>
              </a:rPr>
              <a:t>has a complement</a:t>
            </a:r>
            <a:r>
              <a:rPr lang="en-US" altLang="zh-CN" sz="2400" dirty="0">
                <a:solidFill>
                  <a:schemeClr val="tx1"/>
                </a:solidFill>
                <a:latin typeface="Trebuchet MS" panose="020B0603020202020204" pitchFamily="34" charset="0"/>
              </a:rPr>
              <a:t>, then the lattice is called a </a:t>
            </a:r>
            <a:r>
              <a:rPr lang="en-US" altLang="zh-CN" sz="2400" b="1" i="1" dirty="0">
                <a:solidFill>
                  <a:srgbClr val="0B61FF"/>
                </a:solidFill>
                <a:latin typeface="Trebuchet MS" panose="020B0603020202020204" pitchFamily="34" charset="0"/>
              </a:rPr>
              <a:t>complemented lattice.</a:t>
            </a:r>
            <a:endParaRPr lang="en-US" altLang="zh-CN" sz="2400" i="1" dirty="0">
              <a:solidFill>
                <a:srgbClr val="0B61FF"/>
              </a:solidFill>
              <a:latin typeface="Trebuchet MS" panose="020B0603020202020204" pitchFamily="34" charset="0"/>
            </a:endParaRPr>
          </a:p>
        </p:txBody>
      </p:sp>
    </p:spTree>
    <p:extLst>
      <p:ext uri="{BB962C8B-B14F-4D97-AF65-F5344CB8AC3E}">
        <p14:creationId xmlns:p14="http://schemas.microsoft.com/office/powerpoint/2010/main" val="3176877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A619A7D6-65B3-40E6-8125-D95C0F20E103}"/>
              </a:ext>
            </a:extLst>
          </p:cNvPr>
          <p:cNvSpPr>
            <a:spLocks noChangeArrowheads="1"/>
          </p:cNvSpPr>
          <p:nvPr/>
        </p:nvSpPr>
        <p:spPr bwMode="auto">
          <a:xfrm>
            <a:off x="824681" y="761999"/>
            <a:ext cx="10126217" cy="5649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271463" indent="-271463" eaLnBrk="1" hangingPunct="1">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 </a:t>
            </a:r>
            <a:r>
              <a:rPr lang="en-US" altLang="zh-CN" sz="2400" dirty="0">
                <a:solidFill>
                  <a:schemeClr val="tx1"/>
                </a:solidFill>
                <a:latin typeface="Trebuchet MS" panose="020B0603020202020204" pitchFamily="34" charset="0"/>
              </a:rPr>
              <a:t>Find the complements of all elements in each of the following four lattices, and determine whether each lattice is a </a:t>
            </a:r>
            <a:r>
              <a:rPr lang="en-US" altLang="zh-CN" sz="2400" b="1" dirty="0">
                <a:solidFill>
                  <a:schemeClr val="tx1"/>
                </a:solidFill>
                <a:latin typeface="Trebuchet MS" panose="020B0603020202020204" pitchFamily="34" charset="0"/>
              </a:rPr>
              <a:t>complemented lattice</a:t>
            </a:r>
            <a:r>
              <a:rPr lang="en-US" altLang="zh-CN" sz="2400" dirty="0">
                <a:solidFill>
                  <a:schemeClr val="tx1"/>
                </a:solidFill>
                <a:latin typeface="Trebuchet MS" panose="020B0603020202020204" pitchFamily="34" charset="0"/>
              </a:rPr>
              <a:t>.</a:t>
            </a:r>
          </a:p>
          <a:p>
            <a:pPr marL="271463" indent="-271463" eaLnBrk="1" hangingPunct="1">
              <a:buClr>
                <a:srgbClr val="0B61FF"/>
              </a:buClr>
              <a:buSzPct val="80000"/>
              <a:buFont typeface="Wingdings" panose="05000000000000000000" pitchFamily="2" charset="2"/>
              <a:buChar char="n"/>
            </a:pPr>
            <a:endParaRPr lang="en-US" altLang="zh-CN" sz="2400" dirty="0">
              <a:solidFill>
                <a:schemeClr val="tx1"/>
              </a:solidFill>
              <a:latin typeface="Trebuchet MS" panose="020B0603020202020204" pitchFamily="34" charset="0"/>
            </a:endParaRPr>
          </a:p>
          <a:p>
            <a:pPr marL="271463" indent="-271463" eaLnBrk="1" hangingPunct="1">
              <a:buClr>
                <a:srgbClr val="0B61FF"/>
              </a:buClr>
              <a:buSzPct val="80000"/>
              <a:buFont typeface="Wingdings" panose="05000000000000000000" pitchFamily="2" charset="2"/>
              <a:buChar char="n"/>
            </a:pPr>
            <a:endParaRPr lang="en-US" altLang="zh-CN" sz="2400" dirty="0">
              <a:solidFill>
                <a:schemeClr val="tx1"/>
              </a:solidFill>
              <a:latin typeface="Trebuchet MS" panose="020B0603020202020204" pitchFamily="34" charset="0"/>
            </a:endParaRPr>
          </a:p>
          <a:p>
            <a:pPr marL="271463" indent="-271463" eaLnBrk="1" hangingPunct="1">
              <a:buClr>
                <a:srgbClr val="0B61FF"/>
              </a:buClr>
              <a:buSzPct val="80000"/>
              <a:buFont typeface="Wingdings" panose="05000000000000000000" pitchFamily="2" charset="2"/>
              <a:buChar char="n"/>
            </a:pPr>
            <a:endParaRPr lang="en-US" altLang="zh-CN" sz="2400" dirty="0">
              <a:solidFill>
                <a:schemeClr val="tx1"/>
              </a:solidFill>
              <a:latin typeface="Trebuchet MS" panose="020B0603020202020204" pitchFamily="34" charset="0"/>
            </a:endParaRPr>
          </a:p>
          <a:p>
            <a:pPr marL="271463" indent="-271463" eaLnBrk="1" hangingPunct="1">
              <a:buClr>
                <a:srgbClr val="0B61FF"/>
              </a:buClr>
              <a:buSzPct val="80000"/>
              <a:buFont typeface="Wingdings" panose="05000000000000000000" pitchFamily="2" charset="2"/>
              <a:buChar char="n"/>
            </a:pPr>
            <a:endParaRPr lang="en-US" altLang="zh-CN" sz="2400" dirty="0">
              <a:solidFill>
                <a:schemeClr val="tx1"/>
              </a:solidFill>
              <a:latin typeface="Trebuchet MS" panose="020B0603020202020204" pitchFamily="34" charset="0"/>
            </a:endParaRPr>
          </a:p>
          <a:p>
            <a:pPr marL="271463" indent="-271463" eaLnBrk="1" hangingPunct="1">
              <a:buClr>
                <a:srgbClr val="0B61FF"/>
              </a:buClr>
              <a:buSzPct val="80000"/>
              <a:buFont typeface="Wingdings" panose="05000000000000000000" pitchFamily="2" charset="2"/>
              <a:buChar char="n"/>
            </a:pPr>
            <a:endParaRPr lang="en-US" altLang="zh-CN" sz="2400" dirty="0">
              <a:solidFill>
                <a:schemeClr val="tx1"/>
              </a:solidFill>
              <a:latin typeface="Trebuchet MS" panose="020B0603020202020204" pitchFamily="34" charset="0"/>
            </a:endParaRPr>
          </a:p>
          <a:p>
            <a:pPr marL="271463" indent="-95250" eaLnBrk="1" hangingPunct="1">
              <a:buClr>
                <a:srgbClr val="0B61FF"/>
              </a:buClr>
              <a:buSzPct val="120000"/>
              <a:buFont typeface="Arial" panose="020B0604020202020204" pitchFamily="34" charset="0"/>
              <a:buChar char="•"/>
            </a:pPr>
            <a:r>
              <a:rPr lang="en-US" altLang="zh-CN" sz="2400" b="1" dirty="0">
                <a:solidFill>
                  <a:schemeClr val="tx1"/>
                </a:solidFill>
                <a:latin typeface="Trebuchet MS" panose="020B0603020202020204" pitchFamily="34" charset="0"/>
              </a:rPr>
              <a:t> Solution:</a:t>
            </a:r>
          </a:p>
          <a:p>
            <a:pPr marL="630238" indent="-454025" eaLnBrk="1" hangingPunct="1">
              <a:buClr>
                <a:srgbClr val="0B61FF"/>
              </a:buClr>
              <a:buSzPct val="120000"/>
            </a:pPr>
            <a:r>
              <a:rPr lang="en-US" altLang="zh-CN" sz="2400" b="1" dirty="0">
                <a:solidFill>
                  <a:schemeClr val="tx1"/>
                </a:solidFill>
                <a:latin typeface="Trebuchet MS" panose="020B0603020202020204" pitchFamily="34" charset="0"/>
              </a:rPr>
              <a:t>(1) </a:t>
            </a:r>
            <a:r>
              <a:rPr lang="en-US" altLang="zh-CN" sz="2400" dirty="0">
                <a:solidFill>
                  <a:schemeClr val="tx1"/>
                </a:solidFill>
                <a:latin typeface="Trebuchet MS" panose="020B0603020202020204" pitchFamily="34" charset="0"/>
              </a:rPr>
              <a:t>In </a:t>
            </a:r>
            <a:r>
              <a:rPr lang="en-US" altLang="zh-CN" sz="2400" b="1" i="1" dirty="0">
                <a:solidFill>
                  <a:schemeClr val="tx1"/>
                </a:solidFill>
                <a:latin typeface="Trebuchet MS" panose="020B0603020202020204" pitchFamily="34" charset="0"/>
              </a:rPr>
              <a:t>L</a:t>
            </a:r>
            <a:r>
              <a:rPr lang="en-US" altLang="zh-CN" sz="2400" b="1" baseline="-25000" dirty="0">
                <a:solidFill>
                  <a:schemeClr val="tx1"/>
                </a:solidFill>
                <a:latin typeface="Trebuchet MS" panose="020B0603020202020204" pitchFamily="34" charset="0"/>
              </a:rPr>
              <a:t>1 </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cs typeface="Times New Roman" panose="02020603050405020304" pitchFamily="18" charset="0"/>
              </a:rPr>
              <a:t>a</a:t>
            </a:r>
            <a:r>
              <a:rPr lang="zh-CN"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a:t>
            </a:r>
            <a:r>
              <a:rPr lang="zh-CN"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a </a:t>
            </a:r>
            <a:r>
              <a:rPr lang="en-US" altLang="zh-CN" sz="2400" dirty="0">
                <a:solidFill>
                  <a:schemeClr val="tx1"/>
                </a:solidFill>
                <a:latin typeface="Trebuchet MS" panose="020B0603020202020204" pitchFamily="34" charset="0"/>
              </a:rPr>
              <a:t>and </a:t>
            </a:r>
            <a:r>
              <a:rPr lang="en-US" altLang="zh-CN" sz="2400" b="1" i="1" dirty="0">
                <a:solidFill>
                  <a:schemeClr val="tx1"/>
                </a:solidFill>
                <a:latin typeface="Trebuchet MS" panose="020B0603020202020204" pitchFamily="34" charset="0"/>
                <a:cs typeface="Times New Roman" panose="02020603050405020304" pitchFamily="18" charset="0"/>
              </a:rPr>
              <a:t>a</a:t>
            </a:r>
            <a:r>
              <a:rPr lang="zh-CN" altLang="zh-CN" sz="2400" b="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a:t>
            </a:r>
            <a:r>
              <a:rPr lang="en-US" altLang="zh-CN" sz="2400" b="1" i="1" dirty="0">
                <a:solidFill>
                  <a:schemeClr val="tx1"/>
                </a:solidFill>
                <a:latin typeface="Trebuchet MS" panose="020B0603020202020204" pitchFamily="34" charset="0"/>
                <a:cs typeface="Times New Roman" panose="02020603050405020304" pitchFamily="18" charset="0"/>
              </a:rPr>
              <a:t>=</a:t>
            </a:r>
            <a:r>
              <a:rPr lang="zh-CN" altLang="zh-CN" sz="2400" b="1" i="1" dirty="0">
                <a:solidFill>
                  <a:schemeClr val="tx1"/>
                </a:solidFill>
                <a:latin typeface="Trebuchet MS" panose="020B0603020202020204" pitchFamily="34" charset="0"/>
                <a:cs typeface="Times New Roman" panose="02020603050405020304" pitchFamily="18" charset="0"/>
              </a:rPr>
              <a:t>c</a:t>
            </a:r>
            <a:r>
              <a:rPr lang="en-US" altLang="zh-CN" sz="2400" b="1" i="1" dirty="0">
                <a:solidFill>
                  <a:schemeClr val="tx1"/>
                </a:solidFill>
                <a:latin typeface="Trebuchet MS" panose="020B0603020202020204" pitchFamily="34" charset="0"/>
                <a:cs typeface="Times New Roman" panose="02020603050405020304" pitchFamily="18" charset="0"/>
              </a:rPr>
              <a:t> </a:t>
            </a:r>
            <a:r>
              <a:rPr lang="en-US" altLang="zh-CN" sz="2400" dirty="0">
                <a:solidFill>
                  <a:schemeClr val="tx1"/>
                </a:solidFill>
                <a:latin typeface="Trebuchet MS" panose="020B0603020202020204" pitchFamily="34" charset="0"/>
              </a:rPr>
              <a:t>(the maximum element), so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are complements of each other. However, </a:t>
            </a:r>
            <a:r>
              <a:rPr lang="en-US" altLang="zh-CN" sz="2400" b="1" i="1" dirty="0">
                <a:solidFill>
                  <a:srgbClr val="FF0000"/>
                </a:solidFill>
                <a:latin typeface="Trebuchet MS" panose="020B0603020202020204" pitchFamily="34" charset="0"/>
              </a:rPr>
              <a:t>b</a:t>
            </a:r>
            <a:r>
              <a:rPr lang="en-US" altLang="zh-CN" sz="2400" dirty="0">
                <a:solidFill>
                  <a:schemeClr val="tx1"/>
                </a:solidFill>
                <a:latin typeface="Trebuchet MS" panose="020B0603020202020204" pitchFamily="34" charset="0"/>
              </a:rPr>
              <a:t> has </a:t>
            </a:r>
            <a:r>
              <a:rPr lang="en-US" altLang="zh-CN" sz="2400" b="1" i="1" dirty="0">
                <a:solidFill>
                  <a:srgbClr val="0B61FF"/>
                </a:solidFill>
                <a:latin typeface="Trebuchet MS" panose="020B0603020202020204" pitchFamily="34" charset="0"/>
              </a:rPr>
              <a:t>no complement</a:t>
            </a:r>
            <a:r>
              <a:rPr lang="en-US" altLang="zh-CN" sz="2400" dirty="0">
                <a:solidFill>
                  <a:schemeClr val="tx1"/>
                </a:solidFill>
                <a:latin typeface="Trebuchet MS" panose="020B0603020202020204" pitchFamily="34" charset="0"/>
              </a:rPr>
              <a:t>, so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b="1" baseline="-25000" dirty="0">
                <a:solidFill>
                  <a:schemeClr val="tx1"/>
                </a:solidFill>
                <a:latin typeface="Trebuchet MS" panose="020B0603020202020204" pitchFamily="34" charset="0"/>
                <a:cs typeface="Times New Roman" panose="02020603050405020304" pitchFamily="18" charset="0"/>
              </a:rPr>
              <a:t>1 </a:t>
            </a:r>
            <a:r>
              <a:rPr lang="en-US" altLang="zh-CN" sz="2400" dirty="0">
                <a:solidFill>
                  <a:schemeClr val="tx1"/>
                </a:solidFill>
                <a:latin typeface="Trebuchet MS" panose="020B0603020202020204" pitchFamily="34" charset="0"/>
              </a:rPr>
              <a:t>​ is </a:t>
            </a:r>
            <a:r>
              <a:rPr lang="en-US" altLang="zh-CN" sz="2400" b="1" dirty="0">
                <a:solidFill>
                  <a:schemeClr val="tx1"/>
                </a:solidFill>
                <a:latin typeface="Trebuchet MS" panose="020B0603020202020204" pitchFamily="34" charset="0"/>
              </a:rPr>
              <a:t>not a complemented lattice</a:t>
            </a:r>
            <a:r>
              <a:rPr lang="en-US" altLang="zh-CN" sz="2400" dirty="0">
                <a:solidFill>
                  <a:schemeClr val="tx1"/>
                </a:solidFill>
                <a:latin typeface="Trebuchet MS" panose="020B0603020202020204" pitchFamily="34" charset="0"/>
              </a:rPr>
              <a:t>.</a:t>
            </a:r>
          </a:p>
          <a:p>
            <a:pPr marL="630238" indent="-454025" eaLnBrk="1" hangingPunct="1">
              <a:buClr>
                <a:srgbClr val="0B61FF"/>
              </a:buClr>
              <a:buSzPct val="120000"/>
            </a:pPr>
            <a:r>
              <a:rPr lang="en-US" altLang="zh-CN" sz="2400" b="1" dirty="0">
                <a:solidFill>
                  <a:schemeClr val="tx1"/>
                </a:solidFill>
                <a:latin typeface="Trebuchet MS" panose="020B0603020202020204" pitchFamily="34" charset="0"/>
              </a:rPr>
              <a:t>(2)</a:t>
            </a:r>
            <a:r>
              <a:rPr lang="en-US" altLang="zh-CN" sz="2400" dirty="0">
                <a:solidFill>
                  <a:schemeClr val="tx1"/>
                </a:solidFill>
                <a:latin typeface="Trebuchet MS" panose="020B0603020202020204" pitchFamily="34" charset="0"/>
              </a:rPr>
              <a:t> In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b="1" baseline="-25000" dirty="0">
                <a:solidFill>
                  <a:schemeClr val="tx1"/>
                </a:solidFill>
                <a:latin typeface="Trebuchet MS" panose="020B0603020202020204" pitchFamily="34" charset="0"/>
                <a:cs typeface="Times New Roman" panose="02020603050405020304" pitchFamily="18" charset="0"/>
              </a:rPr>
              <a:t>2</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cs typeface="Times New Roman" panose="02020603050405020304" pitchFamily="18" charset="0"/>
              </a:rPr>
              <a:t>d</a:t>
            </a:r>
            <a:r>
              <a:rPr lang="en-US" altLang="zh-CN" sz="2400" dirty="0">
                <a:solidFill>
                  <a:schemeClr val="tx1"/>
                </a:solidFill>
                <a:latin typeface="Trebuchet MS" panose="020B0603020202020204" pitchFamily="34" charset="0"/>
              </a:rPr>
              <a:t> are complements of each other, and </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cs typeface="Times New Roman" panose="02020603050405020304" pitchFamily="18" charset="0"/>
              </a:rPr>
              <a:t>c</a:t>
            </a:r>
            <a:r>
              <a:rPr lang="en-US" altLang="zh-CN" sz="2400" dirty="0">
                <a:solidFill>
                  <a:schemeClr val="tx1"/>
                </a:solidFill>
                <a:latin typeface="Trebuchet MS" panose="020B0603020202020204" pitchFamily="34" charset="0"/>
              </a:rPr>
              <a:t> are complements of each other. Therefore,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b="1" baseline="-25000" dirty="0">
                <a:solidFill>
                  <a:schemeClr val="tx1"/>
                </a:solidFill>
                <a:latin typeface="Trebuchet MS" panose="020B0603020202020204" pitchFamily="34" charset="0"/>
                <a:cs typeface="Times New Roman" panose="02020603050405020304" pitchFamily="18" charset="0"/>
              </a:rPr>
              <a:t>2 </a:t>
            </a:r>
            <a:r>
              <a:rPr lang="en-US" altLang="zh-CN" sz="2400" b="1" dirty="0">
                <a:solidFill>
                  <a:schemeClr val="tx1"/>
                </a:solidFill>
                <a:latin typeface="Trebuchet MS" panose="020B0603020202020204" pitchFamily="34" charset="0"/>
              </a:rPr>
              <a:t>is a </a:t>
            </a:r>
            <a:r>
              <a:rPr lang="en-US" altLang="zh-CN" sz="2400" b="1" i="1" dirty="0">
                <a:solidFill>
                  <a:srgbClr val="0B61FF"/>
                </a:solidFill>
                <a:latin typeface="Trebuchet MS" panose="020B0603020202020204" pitchFamily="34" charset="0"/>
              </a:rPr>
              <a:t>complemented lattice</a:t>
            </a:r>
            <a:r>
              <a:rPr lang="en-US" altLang="zh-CN" sz="2400" dirty="0">
                <a:solidFill>
                  <a:schemeClr val="tx1"/>
                </a:solidFill>
                <a:latin typeface="Trebuchet MS" panose="020B0603020202020204" pitchFamily="34" charset="0"/>
              </a:rPr>
              <a:t>.</a:t>
            </a:r>
            <a:r>
              <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rPr>
              <a:t>   </a:t>
            </a:r>
          </a:p>
          <a:p>
            <a:pPr marL="630238" indent="-454025" eaLnBrk="1" hangingPunct="1">
              <a:buClr>
                <a:srgbClr val="0B61FF"/>
              </a:buClr>
              <a:buSzPct val="120000"/>
            </a:pPr>
            <a:endParaRPr lang="en-US" altLang="zh-CN" sz="2400" dirty="0">
              <a:solidFill>
                <a:schemeClr val="tx1"/>
              </a:solidFill>
              <a:latin typeface="Trebuchet MS" panose="020B0603020202020204" pitchFamily="34" charset="0"/>
            </a:endParaRPr>
          </a:p>
          <a:p>
            <a:pPr marL="342900" indent="-342900" eaLnBrk="1" hangingPunct="1">
              <a:buClr>
                <a:srgbClr val="0B61FF"/>
              </a:buClr>
              <a:buSzPct val="80000"/>
              <a:buFont typeface="Wingdings" panose="05000000000000000000" pitchFamily="2" charset="2"/>
              <a:buChar char="n"/>
            </a:pPr>
            <a:endParaRPr lang="en-US" altLang="zh-CN" sz="2400" dirty="0">
              <a:solidFill>
                <a:schemeClr val="tx1"/>
              </a:solidFill>
              <a:latin typeface="Trebuchet MS" panose="020B0603020202020204" pitchFamily="34" charset="0"/>
            </a:endParaRPr>
          </a:p>
          <a:p>
            <a:pPr marL="342900" indent="-342900" eaLnBrk="1" hangingPunct="1">
              <a:buClr>
                <a:srgbClr val="0B61FF"/>
              </a:buClr>
              <a:buSzPct val="80000"/>
              <a:buFont typeface="Wingdings" panose="05000000000000000000" pitchFamily="2" charset="2"/>
              <a:buChar char="n"/>
            </a:pPr>
            <a:endParaRPr lang="en-US" altLang="zh-CN" sz="2400" b="1" dirty="0">
              <a:solidFill>
                <a:schemeClr val="tx1"/>
              </a:solidFill>
              <a:latin typeface="Trebuchet MS" panose="020B0603020202020204" pitchFamily="34" charset="0"/>
              <a:ea typeface="宋体" panose="02010600030101010101" pitchFamily="2" charset="-122"/>
            </a:endParaRPr>
          </a:p>
        </p:txBody>
      </p:sp>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Determining Complemented Lattices</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Picture 4" descr="13-5">
            <a:extLst>
              <a:ext uri="{FF2B5EF4-FFF2-40B4-BE49-F238E27FC236}">
                <a16:creationId xmlns:a16="http://schemas.microsoft.com/office/drawing/2014/main" id="{FAD60EFC-AF08-4D7E-ADD9-6F9279FE05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2364" b="14261"/>
          <a:stretch>
            <a:fillRect/>
          </a:stretch>
        </p:blipFill>
        <p:spPr bwMode="auto">
          <a:xfrm>
            <a:off x="4962449" y="1705959"/>
            <a:ext cx="4679950" cy="215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71031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6" end="6"/>
                                            </p:txEl>
                                          </p:spTgt>
                                        </p:tgtEl>
                                        <p:attrNameLst>
                                          <p:attrName>style.visibility</p:attrName>
                                        </p:attrNameLst>
                                      </p:cBhvr>
                                      <p:to>
                                        <p:strVal val="visible"/>
                                      </p:to>
                                    </p:set>
                                    <p:animEffect transition="in" filter="fade">
                                      <p:cBhvr>
                                        <p:cTn id="7" dur="1000"/>
                                        <p:tgtEl>
                                          <p:spTgt spid="11">
                                            <p:txEl>
                                              <p:pRg st="6" end="6"/>
                                            </p:txEl>
                                          </p:spTgt>
                                        </p:tgtEl>
                                      </p:cBhvr>
                                    </p:animEffect>
                                    <p:anim calcmode="lin" valueType="num">
                                      <p:cBhvr>
                                        <p:cTn id="8"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7" end="7"/>
                                            </p:txEl>
                                          </p:spTgt>
                                        </p:tgtEl>
                                        <p:attrNameLst>
                                          <p:attrName>style.visibility</p:attrName>
                                        </p:attrNameLst>
                                      </p:cBhvr>
                                      <p:to>
                                        <p:strVal val="visible"/>
                                      </p:to>
                                    </p:set>
                                    <p:animEffect transition="in" filter="fade">
                                      <p:cBhvr>
                                        <p:cTn id="12" dur="1000"/>
                                        <p:tgtEl>
                                          <p:spTgt spid="11">
                                            <p:txEl>
                                              <p:pRg st="7" end="7"/>
                                            </p:txEl>
                                          </p:spTgt>
                                        </p:tgtEl>
                                      </p:cBhvr>
                                    </p:animEffect>
                                    <p:anim calcmode="lin" valueType="num">
                                      <p:cBhvr>
                                        <p:cTn id="13"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xEl>
                                              <p:pRg st="8" end="8"/>
                                            </p:txEl>
                                          </p:spTgt>
                                        </p:tgtEl>
                                        <p:attrNameLst>
                                          <p:attrName>style.visibility</p:attrName>
                                        </p:attrNameLst>
                                      </p:cBhvr>
                                      <p:to>
                                        <p:strVal val="visible"/>
                                      </p:to>
                                    </p:set>
                                    <p:animEffect transition="in" filter="fade">
                                      <p:cBhvr>
                                        <p:cTn id="19" dur="1000"/>
                                        <p:tgtEl>
                                          <p:spTgt spid="11">
                                            <p:txEl>
                                              <p:pRg st="8" end="8"/>
                                            </p:txEl>
                                          </p:spTgt>
                                        </p:tgtEl>
                                      </p:cBhvr>
                                    </p:animEffect>
                                    <p:anim calcmode="lin" valueType="num">
                                      <p:cBhvr>
                                        <p:cTn id="20" dur="1000" fill="hold"/>
                                        <p:tgtEl>
                                          <p:spTgt spid="11">
                                            <p:txEl>
                                              <p:pRg st="8" end="8"/>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A619A7D6-65B3-40E6-8125-D95C0F20E103}"/>
              </a:ext>
            </a:extLst>
          </p:cNvPr>
          <p:cNvSpPr>
            <a:spLocks noChangeArrowheads="1"/>
          </p:cNvSpPr>
          <p:nvPr/>
        </p:nvSpPr>
        <p:spPr bwMode="auto">
          <a:xfrm>
            <a:off x="834508" y="2894946"/>
            <a:ext cx="9974029" cy="305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630238" indent="-454025" eaLnBrk="1" hangingPunct="1">
              <a:lnSpc>
                <a:spcPct val="110000"/>
              </a:lnSpc>
              <a:buClr>
                <a:srgbClr val="0B61FF"/>
              </a:buClr>
              <a:buSzPct val="120000"/>
            </a:pPr>
            <a:r>
              <a:rPr lang="en-US" altLang="zh-CN" sz="2400" b="1" dirty="0">
                <a:solidFill>
                  <a:srgbClr val="0B61FF"/>
                </a:solidFill>
                <a:latin typeface="Trebuchet MS" panose="020B0603020202020204" pitchFamily="34" charset="0"/>
              </a:rPr>
              <a:t>(3) </a:t>
            </a:r>
            <a:r>
              <a:rPr lang="en-US" altLang="zh-CN" sz="2400" dirty="0">
                <a:solidFill>
                  <a:schemeClr val="tx1"/>
                </a:solidFill>
                <a:latin typeface="Trebuchet MS" panose="020B0603020202020204" pitchFamily="34" charset="0"/>
              </a:rPr>
              <a:t>In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b="1" baseline="-25000" dirty="0">
                <a:solidFill>
                  <a:schemeClr val="tx1"/>
                </a:solidFill>
                <a:latin typeface="Trebuchet MS" panose="020B0603020202020204" pitchFamily="34" charset="0"/>
                <a:cs typeface="Times New Roman" panose="02020603050405020304" pitchFamily="18" charset="0"/>
              </a:rPr>
              <a:t>3 </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cs typeface="Times New Roman" panose="02020603050405020304" pitchFamily="18" charset="0"/>
              </a:rPr>
              <a:t>a</a:t>
            </a:r>
            <a:r>
              <a:rPr lang="en-US" altLang="zh-CN" sz="2400" dirty="0">
                <a:solidFill>
                  <a:schemeClr val="tx1"/>
                </a:solidFill>
                <a:latin typeface="Trebuchet MS" panose="020B0603020202020204" pitchFamily="34" charset="0"/>
              </a:rPr>
              <a:t> are complements of each other. Element </a:t>
            </a:r>
            <a:r>
              <a:rPr lang="en-US" altLang="zh-CN" sz="2400" b="1" i="1" dirty="0">
                <a:solidFill>
                  <a:schemeClr val="tx1"/>
                </a:solidFill>
                <a:latin typeface="Trebuchet MS" panose="020B0603020202020204" pitchFamily="34" charset="0"/>
                <a:cs typeface="Times New Roman" panose="02020603050405020304" pitchFamily="18" charset="0"/>
              </a:rPr>
              <a:t>b</a:t>
            </a:r>
            <a:r>
              <a:rPr lang="en-US" altLang="zh-CN" sz="2400" dirty="0">
                <a:solidFill>
                  <a:schemeClr val="tx1"/>
                </a:solidFill>
                <a:latin typeface="Trebuchet MS" panose="020B0603020202020204" pitchFamily="34" charset="0"/>
              </a:rPr>
              <a:t> has two complements: </a:t>
            </a:r>
            <a:r>
              <a:rPr lang="en-US" altLang="zh-CN" sz="2400" b="1" i="1" dirty="0">
                <a:solidFill>
                  <a:schemeClr val="tx1"/>
                </a:solidFill>
                <a:latin typeface="Trebuchet MS" panose="020B0603020202020204" pitchFamily="34" charset="0"/>
                <a:cs typeface="Times New Roman" panose="02020603050405020304" pitchFamily="18" charset="0"/>
              </a:rPr>
              <a:t>c, d</a:t>
            </a:r>
            <a:r>
              <a:rPr lang="en-US" altLang="zh-CN" sz="2400" dirty="0">
                <a:solidFill>
                  <a:schemeClr val="tx1"/>
                </a:solidFill>
                <a:latin typeface="Trebuchet MS" panose="020B0603020202020204" pitchFamily="34" charset="0"/>
              </a:rPr>
              <a:t>. Element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has complements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d</a:t>
            </a:r>
            <a:r>
              <a:rPr lang="en-US" altLang="zh-CN" sz="2400" dirty="0">
                <a:solidFill>
                  <a:schemeClr val="tx1"/>
                </a:solidFill>
                <a:latin typeface="Trebuchet MS" panose="020B0603020202020204" pitchFamily="34" charset="0"/>
              </a:rPr>
              <a:t>. Element </a:t>
            </a:r>
            <a:r>
              <a:rPr lang="en-US" altLang="zh-CN" sz="2400" b="1" i="1" dirty="0">
                <a:solidFill>
                  <a:schemeClr val="tx1"/>
                </a:solidFill>
                <a:latin typeface="Trebuchet MS" panose="020B0603020202020204" pitchFamily="34" charset="0"/>
              </a:rPr>
              <a:t>d</a:t>
            </a:r>
            <a:r>
              <a:rPr lang="en-US" altLang="zh-CN" sz="2400" dirty="0">
                <a:solidFill>
                  <a:schemeClr val="tx1"/>
                </a:solidFill>
                <a:latin typeface="Trebuchet MS" panose="020B0603020202020204" pitchFamily="34" charset="0"/>
              </a:rPr>
              <a:t> has complements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Therefore,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b="1" baseline="-25000" dirty="0">
                <a:solidFill>
                  <a:schemeClr val="tx1"/>
                </a:solidFill>
                <a:latin typeface="Trebuchet MS" panose="020B0603020202020204" pitchFamily="34" charset="0"/>
                <a:cs typeface="Times New Roman" panose="02020603050405020304" pitchFamily="18" charset="0"/>
              </a:rPr>
              <a:t>3 </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is a </a:t>
            </a:r>
            <a:r>
              <a:rPr lang="en-US" altLang="zh-CN" sz="2400" b="1" i="1" dirty="0">
                <a:solidFill>
                  <a:srgbClr val="0B61FF"/>
                </a:solidFill>
                <a:latin typeface="Trebuchet MS" panose="020B0603020202020204" pitchFamily="34" charset="0"/>
              </a:rPr>
              <a:t>complemented lattice</a:t>
            </a:r>
            <a:r>
              <a:rPr lang="en-US" altLang="zh-CN" sz="2400" dirty="0">
                <a:solidFill>
                  <a:schemeClr val="tx1"/>
                </a:solidFill>
                <a:latin typeface="Trebuchet MS" panose="020B0603020202020204" pitchFamily="34" charset="0"/>
              </a:rPr>
              <a:t>.</a:t>
            </a:r>
          </a:p>
          <a:p>
            <a:pPr marL="630238" indent="-454025" eaLnBrk="1" hangingPunct="1">
              <a:lnSpc>
                <a:spcPct val="110000"/>
              </a:lnSpc>
              <a:buClr>
                <a:srgbClr val="0B61FF"/>
              </a:buClr>
              <a:buSzPct val="120000"/>
            </a:pPr>
            <a:r>
              <a:rPr lang="en-US" altLang="zh-CN" sz="2400" b="1" dirty="0">
                <a:solidFill>
                  <a:srgbClr val="0B61FF"/>
                </a:solidFill>
                <a:latin typeface="Trebuchet MS" panose="020B0603020202020204" pitchFamily="34" charset="0"/>
              </a:rPr>
              <a:t>(4) </a:t>
            </a:r>
            <a:r>
              <a:rPr lang="en-US" altLang="zh-CN" sz="2400" dirty="0">
                <a:solidFill>
                  <a:schemeClr val="tx1"/>
                </a:solidFill>
                <a:latin typeface="Trebuchet MS" panose="020B0603020202020204" pitchFamily="34" charset="0"/>
              </a:rPr>
              <a:t>In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b="1" baseline="-25000" dirty="0">
                <a:solidFill>
                  <a:schemeClr val="tx1"/>
                </a:solidFill>
                <a:latin typeface="Trebuchet MS" panose="020B0603020202020204" pitchFamily="34" charset="0"/>
                <a:cs typeface="Times New Roman" panose="02020603050405020304" pitchFamily="18" charset="0"/>
              </a:rPr>
              <a:t>4 </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rPr>
              <a:t>a</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e</a:t>
            </a:r>
            <a:r>
              <a:rPr lang="en-US" altLang="zh-CN" sz="2400" dirty="0">
                <a:solidFill>
                  <a:schemeClr val="tx1"/>
                </a:solidFill>
                <a:latin typeface="Trebuchet MS" panose="020B0603020202020204" pitchFamily="34" charset="0"/>
              </a:rPr>
              <a:t> are complements of each other. Element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has complements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rPr>
              <a:t>d</a:t>
            </a:r>
            <a:r>
              <a:rPr lang="en-US" altLang="zh-CN" sz="2400" dirty="0">
                <a:solidFill>
                  <a:schemeClr val="tx1"/>
                </a:solidFill>
                <a:latin typeface="Trebuchet MS" panose="020B0603020202020204" pitchFamily="34" charset="0"/>
              </a:rPr>
              <a:t>. Element </a:t>
            </a:r>
            <a:r>
              <a:rPr lang="en-US" altLang="zh-CN" sz="2400" b="1" i="1" dirty="0">
                <a:solidFill>
                  <a:schemeClr val="tx1"/>
                </a:solidFill>
                <a:latin typeface="Trebuchet MS" panose="020B0603020202020204" pitchFamily="34" charset="0"/>
              </a:rPr>
              <a:t>c</a:t>
            </a:r>
            <a:r>
              <a:rPr lang="en-US" altLang="zh-CN" sz="2400" dirty="0">
                <a:solidFill>
                  <a:schemeClr val="tx1"/>
                </a:solidFill>
                <a:latin typeface="Trebuchet MS" panose="020B0603020202020204" pitchFamily="34" charset="0"/>
              </a:rPr>
              <a:t> has complement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Element </a:t>
            </a:r>
            <a:r>
              <a:rPr lang="en-US" altLang="zh-CN" sz="2400" b="1" dirty="0">
                <a:solidFill>
                  <a:schemeClr val="tx1"/>
                </a:solidFill>
                <a:latin typeface="Trebuchet MS" panose="020B0603020202020204" pitchFamily="34" charset="0"/>
              </a:rPr>
              <a:t>d</a:t>
            </a:r>
            <a:r>
              <a:rPr lang="en-US" altLang="zh-CN" sz="2400" dirty="0">
                <a:solidFill>
                  <a:schemeClr val="tx1"/>
                </a:solidFill>
                <a:latin typeface="Trebuchet MS" panose="020B0603020202020204" pitchFamily="34" charset="0"/>
              </a:rPr>
              <a:t> has complement </a:t>
            </a:r>
            <a:r>
              <a:rPr lang="en-US" altLang="zh-CN" sz="2400" b="1" i="1" dirty="0">
                <a:solidFill>
                  <a:schemeClr val="tx1"/>
                </a:solidFill>
                <a:latin typeface="Trebuchet MS" panose="020B0603020202020204" pitchFamily="34" charset="0"/>
              </a:rPr>
              <a:t>b</a:t>
            </a:r>
            <a:r>
              <a:rPr lang="en-US" altLang="zh-CN" sz="2400" dirty="0">
                <a:solidFill>
                  <a:schemeClr val="tx1"/>
                </a:solidFill>
                <a:latin typeface="Trebuchet MS" panose="020B0603020202020204" pitchFamily="34" charset="0"/>
              </a:rPr>
              <a:t>. Therefore,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b="1" baseline="-25000" dirty="0">
                <a:solidFill>
                  <a:schemeClr val="tx1"/>
                </a:solidFill>
                <a:latin typeface="Trebuchet MS" panose="020B0603020202020204" pitchFamily="34" charset="0"/>
                <a:cs typeface="Times New Roman" panose="02020603050405020304" pitchFamily="18" charset="0"/>
              </a:rPr>
              <a:t>4 </a:t>
            </a:r>
            <a:r>
              <a:rPr lang="en-US" altLang="zh-CN" sz="2400" b="1" dirty="0">
                <a:solidFill>
                  <a:schemeClr val="tx1"/>
                </a:solidFill>
                <a:latin typeface="Trebuchet MS" panose="020B0603020202020204" pitchFamily="34" charset="0"/>
              </a:rPr>
              <a:t>is a </a:t>
            </a:r>
            <a:r>
              <a:rPr lang="en-US" altLang="zh-CN" sz="2400" b="1" i="1" dirty="0">
                <a:solidFill>
                  <a:srgbClr val="0B61FF"/>
                </a:solidFill>
                <a:latin typeface="Trebuchet MS" panose="020B0603020202020204" pitchFamily="34" charset="0"/>
              </a:rPr>
              <a:t>complemented lattice</a:t>
            </a:r>
            <a:r>
              <a:rPr lang="en-US" altLang="zh-CN" sz="2400" dirty="0">
                <a:solidFill>
                  <a:schemeClr val="tx1"/>
                </a:solidFill>
                <a:latin typeface="Trebuchet MS" panose="020B0603020202020204" pitchFamily="34" charset="0"/>
              </a:rPr>
              <a:t>.</a:t>
            </a:r>
            <a:endParaRPr lang="en-US" altLang="zh-CN" sz="2400" b="1" dirty="0">
              <a:solidFill>
                <a:schemeClr val="tx1"/>
              </a:solidFill>
              <a:latin typeface="Trebuchet MS" panose="020B0603020202020204" pitchFamily="34" charset="0"/>
              <a:ea typeface="宋体" panose="02010600030101010101" pitchFamily="2" charset="-122"/>
            </a:endParaRPr>
          </a:p>
        </p:txBody>
      </p:sp>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Determining Complemented Lattices</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Picture 4" descr="13-5">
            <a:extLst>
              <a:ext uri="{FF2B5EF4-FFF2-40B4-BE49-F238E27FC236}">
                <a16:creationId xmlns:a16="http://schemas.microsoft.com/office/drawing/2014/main" id="{FAD60EFC-AF08-4D7E-ADD9-6F9279FE05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2364" b="14261"/>
          <a:stretch>
            <a:fillRect/>
          </a:stretch>
        </p:blipFill>
        <p:spPr bwMode="auto">
          <a:xfrm>
            <a:off x="1469112" y="868732"/>
            <a:ext cx="4679950" cy="185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60806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anim calcmode="lin" valueType="num">
                                      <p:cBhvr>
                                        <p:cTn id="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1" end="1"/>
                                            </p:txEl>
                                          </p:spTgt>
                                        </p:tgtEl>
                                        <p:attrNameLst>
                                          <p:attrName>style.visibility</p:attrName>
                                        </p:attrNameLst>
                                      </p:cBhvr>
                                      <p:to>
                                        <p:strVal val="visible"/>
                                      </p:to>
                                    </p:set>
                                    <p:animEffect transition="in" filter="fade">
                                      <p:cBhvr>
                                        <p:cTn id="14" dur="1000"/>
                                        <p:tgtEl>
                                          <p:spTgt spid="11">
                                            <p:txEl>
                                              <p:pRg st="1" end="1"/>
                                            </p:txEl>
                                          </p:spTgt>
                                        </p:tgtEl>
                                      </p:cBhvr>
                                    </p:animEffect>
                                    <p:anim calcmode="lin" valueType="num">
                                      <p:cBhvr>
                                        <p:cTn id="15"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Definition of Boolean Lattice (Boolean Algebra)</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id="{41847154-A8CF-4E9A-A78D-4FBB0358EE5E}"/>
              </a:ext>
            </a:extLst>
          </p:cNvPr>
          <p:cNvSpPr>
            <a:spLocks noChangeArrowheads="1"/>
          </p:cNvSpPr>
          <p:nvPr/>
        </p:nvSpPr>
        <p:spPr bwMode="auto">
          <a:xfrm>
            <a:off x="944010" y="762000"/>
            <a:ext cx="10224282" cy="5449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indent="268288"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Definition 9.28: </a:t>
            </a:r>
            <a:r>
              <a:rPr lang="en-US" altLang="zh-CN" sz="2400" dirty="0">
                <a:solidFill>
                  <a:schemeClr val="tx1"/>
                </a:solidFill>
                <a:latin typeface="Trebuchet MS" panose="020B0603020202020204" pitchFamily="34" charset="0"/>
              </a:rPr>
              <a:t>If a bounded lattice </a:t>
            </a:r>
            <a:r>
              <a:rPr lang="en-US" altLang="zh-CN" sz="2400" b="1" dirty="0">
                <a:solidFill>
                  <a:schemeClr val="tx1"/>
                </a:solidFill>
                <a:latin typeface="Trebuchet MS" panose="020B0603020202020204" pitchFamily="34" charset="0"/>
              </a:rPr>
              <a:t>&lt;</a:t>
            </a:r>
            <a:r>
              <a:rPr lang="en-US" altLang="zh-CN" sz="2400" b="1" i="1" dirty="0">
                <a:solidFill>
                  <a:schemeClr val="tx1"/>
                </a:solidFill>
                <a:latin typeface="Trebuchet MS" panose="020B0603020202020204" pitchFamily="34" charset="0"/>
              </a:rPr>
              <a:t>L</a:t>
            </a:r>
            <a:r>
              <a:rPr lang="en-US" altLang="zh-CN" sz="2400" b="1" dirty="0">
                <a:solidFill>
                  <a:schemeClr val="tx1"/>
                </a:solidFill>
                <a:latin typeface="Trebuchet MS" panose="020B0603020202020204" pitchFamily="34" charset="0"/>
              </a:rPr>
              <a:t>,∧,∨,0,1&gt;</a:t>
            </a:r>
            <a:r>
              <a:rPr lang="en-US" altLang="zh-CN" sz="2400" dirty="0">
                <a:solidFill>
                  <a:schemeClr val="tx1"/>
                </a:solidFill>
                <a:latin typeface="Trebuchet MS" panose="020B0603020202020204" pitchFamily="34" charset="0"/>
              </a:rPr>
              <a:t>⟩ is both </a:t>
            </a:r>
            <a:r>
              <a:rPr lang="en-US" altLang="zh-CN" sz="2400" b="1" dirty="0">
                <a:solidFill>
                  <a:schemeClr val="tx1"/>
                </a:solidFill>
                <a:latin typeface="Trebuchet MS" panose="020B0603020202020204" pitchFamily="34" charset="0"/>
              </a:rPr>
              <a:t>complemented</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distributive</a:t>
            </a:r>
            <a:r>
              <a:rPr lang="en-US" altLang="zh-CN" sz="2400" dirty="0">
                <a:solidFill>
                  <a:schemeClr val="tx1"/>
                </a:solidFill>
                <a:latin typeface="Trebuchet MS" panose="020B0603020202020204" pitchFamily="34" charset="0"/>
              </a:rPr>
              <a:t>, then </a:t>
            </a:r>
            <a:r>
              <a:rPr lang="en-US" altLang="zh-CN" sz="2400" b="1" i="1" dirty="0">
                <a:solidFill>
                  <a:schemeClr val="tx1"/>
                </a:solidFill>
                <a:latin typeface="Trebuchet MS" panose="020B0603020202020204" pitchFamily="34" charset="0"/>
              </a:rPr>
              <a:t>L</a:t>
            </a:r>
            <a:r>
              <a:rPr lang="en-US" altLang="zh-CN" sz="2400" dirty="0">
                <a:solidFill>
                  <a:schemeClr val="tx1"/>
                </a:solidFill>
                <a:latin typeface="Trebuchet MS" panose="020B0603020202020204" pitchFamily="34" charset="0"/>
              </a:rPr>
              <a:t> is called a </a:t>
            </a:r>
            <a:r>
              <a:rPr lang="en-US" altLang="zh-CN" sz="2400" b="1" i="1" dirty="0">
                <a:solidFill>
                  <a:srgbClr val="0B61FF"/>
                </a:solidFill>
                <a:latin typeface="Trebuchet MS" panose="020B0603020202020204" pitchFamily="34" charset="0"/>
              </a:rPr>
              <a:t>Boolean lattice</a:t>
            </a:r>
            <a:r>
              <a:rPr lang="en-US" altLang="zh-CN" sz="2400" dirty="0">
                <a:solidFill>
                  <a:schemeClr val="tx1"/>
                </a:solidFill>
                <a:latin typeface="Trebuchet MS" panose="020B0603020202020204" pitchFamily="34" charset="0"/>
              </a:rPr>
              <a:t> or </a:t>
            </a:r>
            <a:r>
              <a:rPr lang="en-US" altLang="zh-CN" sz="2400" b="1" i="1" dirty="0">
                <a:solidFill>
                  <a:srgbClr val="0B61FF"/>
                </a:solidFill>
                <a:latin typeface="Trebuchet MS" panose="020B0603020202020204" pitchFamily="34" charset="0"/>
              </a:rPr>
              <a:t>Boolean algebra</a:t>
            </a:r>
            <a:r>
              <a:rPr lang="en-US" altLang="zh-CN" sz="2400" dirty="0">
                <a:solidFill>
                  <a:schemeClr val="tx1"/>
                </a:solidFill>
                <a:latin typeface="Trebuchet MS" panose="020B0603020202020204" pitchFamily="34" charset="0"/>
              </a:rPr>
              <a:t>.</a:t>
            </a:r>
          </a:p>
          <a:p>
            <a:pPr marL="358775" indent="-166688">
              <a:lnSpc>
                <a:spcPct val="12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A </a:t>
            </a:r>
            <a:r>
              <a:rPr lang="en-US" altLang="zh-CN" sz="2400" b="1" i="1" dirty="0">
                <a:solidFill>
                  <a:srgbClr val="0B61FF"/>
                </a:solidFill>
                <a:latin typeface="Trebuchet MS" panose="020B0603020202020204" pitchFamily="34" charset="0"/>
              </a:rPr>
              <a:t>distributive lattice</a:t>
            </a:r>
            <a:r>
              <a:rPr lang="en-US" altLang="zh-CN" sz="2400" dirty="0">
                <a:solidFill>
                  <a:schemeClr val="tx1"/>
                </a:solidFill>
                <a:latin typeface="Trebuchet MS" panose="020B0603020202020204" pitchFamily="34" charset="0"/>
              </a:rPr>
              <a:t> must </a:t>
            </a:r>
            <a:r>
              <a:rPr lang="en-US" altLang="zh-CN" sz="2400" b="1" dirty="0">
                <a:solidFill>
                  <a:schemeClr val="tx1"/>
                </a:solidFill>
                <a:latin typeface="Trebuchet MS" panose="020B0603020202020204" pitchFamily="34" charset="0"/>
              </a:rPr>
              <a:t>satisfy the distributive laws</a:t>
            </a:r>
            <a:r>
              <a:rPr lang="en-US" altLang="zh-CN" sz="2400" dirty="0">
                <a:solidFill>
                  <a:schemeClr val="tx1"/>
                </a:solidFill>
                <a:latin typeface="Trebuchet MS" panose="020B0603020202020204" pitchFamily="34" charset="0"/>
              </a:rPr>
              <a:t>, that is, for all </a:t>
            </a:r>
            <a:r>
              <a:rPr lang="en-US" altLang="zh-CN" sz="2400" b="1" dirty="0" err="1">
                <a:solidFill>
                  <a:schemeClr val="tx1"/>
                </a:solidFill>
                <a:latin typeface="Trebuchet MS" panose="020B0603020202020204" pitchFamily="34" charset="0"/>
              </a:rPr>
              <a:t>a,b,c∈L</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a:t>
            </a:r>
            <a:r>
              <a:rPr lang="en-US" altLang="zh-CN" sz="2400" b="1" dirty="0" err="1">
                <a:solidFill>
                  <a:schemeClr val="tx1"/>
                </a:solidFill>
                <a:latin typeface="Trebuchet MS" panose="020B0603020202020204" pitchFamily="34" charset="0"/>
              </a:rPr>
              <a:t>b∨c</a:t>
            </a:r>
            <a:r>
              <a:rPr lang="en-US" altLang="zh-CN" sz="2400" b="1" dirty="0">
                <a:solidFill>
                  <a:schemeClr val="tx1"/>
                </a:solidFill>
                <a:latin typeface="Trebuchet MS" panose="020B0603020202020204" pitchFamily="34" charset="0"/>
              </a:rPr>
              <a:t>)=(</a:t>
            </a:r>
            <a:r>
              <a:rPr lang="en-US" altLang="zh-CN" sz="2400" b="1" dirty="0" err="1">
                <a:solidFill>
                  <a:schemeClr val="tx1"/>
                </a:solidFill>
                <a:latin typeface="Trebuchet MS" panose="020B0603020202020204" pitchFamily="34" charset="0"/>
              </a:rPr>
              <a:t>a∧b</a:t>
            </a:r>
            <a:r>
              <a:rPr lang="en-US" altLang="zh-CN" sz="2400" b="1" dirty="0">
                <a:solidFill>
                  <a:schemeClr val="tx1"/>
                </a:solidFill>
                <a:latin typeface="Trebuchet MS" panose="020B0603020202020204" pitchFamily="34" charset="0"/>
              </a:rPr>
              <a:t>)∨(</a:t>
            </a:r>
            <a:r>
              <a:rPr lang="en-US" altLang="zh-CN" sz="2400" b="1" dirty="0" err="1">
                <a:solidFill>
                  <a:schemeClr val="tx1"/>
                </a:solidFill>
                <a:latin typeface="Trebuchet MS" panose="020B0603020202020204" pitchFamily="34" charset="0"/>
              </a:rPr>
              <a:t>a∧c</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a∨(</a:t>
            </a:r>
            <a:r>
              <a:rPr lang="en-US" altLang="zh-CN" sz="2400" b="1" dirty="0" err="1">
                <a:solidFill>
                  <a:schemeClr val="tx1"/>
                </a:solidFill>
                <a:latin typeface="Trebuchet MS" panose="020B0603020202020204" pitchFamily="34" charset="0"/>
              </a:rPr>
              <a:t>b∧c</a:t>
            </a:r>
            <a:r>
              <a:rPr lang="en-US" altLang="zh-CN" sz="2400" b="1" dirty="0">
                <a:solidFill>
                  <a:schemeClr val="tx1"/>
                </a:solidFill>
                <a:latin typeface="Trebuchet MS" panose="020B0603020202020204" pitchFamily="34" charset="0"/>
              </a:rPr>
              <a:t>)=(</a:t>
            </a:r>
            <a:r>
              <a:rPr lang="en-US" altLang="zh-CN" sz="2400" b="1" dirty="0" err="1">
                <a:solidFill>
                  <a:schemeClr val="tx1"/>
                </a:solidFill>
                <a:latin typeface="Trebuchet MS" panose="020B0603020202020204" pitchFamily="34" charset="0"/>
              </a:rPr>
              <a:t>a∨b</a:t>
            </a:r>
            <a:r>
              <a:rPr lang="en-US" altLang="zh-CN" sz="2400" b="1" dirty="0">
                <a:solidFill>
                  <a:schemeClr val="tx1"/>
                </a:solidFill>
                <a:latin typeface="Trebuchet MS" panose="020B0603020202020204" pitchFamily="34" charset="0"/>
              </a:rPr>
              <a:t>)∧(</a:t>
            </a:r>
            <a:r>
              <a:rPr lang="en-US" altLang="zh-CN" sz="2400" b="1" dirty="0" err="1">
                <a:solidFill>
                  <a:schemeClr val="tx1"/>
                </a:solidFill>
                <a:latin typeface="Trebuchet MS" panose="020B0603020202020204" pitchFamily="34" charset="0"/>
              </a:rPr>
              <a:t>a∨c</a:t>
            </a:r>
            <a:r>
              <a:rPr lang="en-US" altLang="zh-CN" sz="2400" b="1" dirty="0">
                <a:solidFill>
                  <a:schemeClr val="tx1"/>
                </a:solidFill>
                <a:latin typeface="Trebuchet MS" panose="020B0603020202020204" pitchFamily="34" charset="0"/>
              </a:rPr>
              <a:t>). </a:t>
            </a:r>
          </a:p>
          <a:p>
            <a:pPr marL="358775" indent="-166688">
              <a:lnSpc>
                <a:spcPct val="12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A </a:t>
            </a:r>
            <a:r>
              <a:rPr lang="en-US" altLang="zh-CN" sz="2400" b="1" i="1" dirty="0">
                <a:solidFill>
                  <a:srgbClr val="0B61FF"/>
                </a:solidFill>
                <a:latin typeface="Trebuchet MS" panose="020B0603020202020204" pitchFamily="34" charset="0"/>
              </a:rPr>
              <a:t>complemented distributive lattice </a:t>
            </a:r>
            <a:r>
              <a:rPr lang="en-US" altLang="zh-CN" sz="2400" dirty="0">
                <a:solidFill>
                  <a:schemeClr val="tx1"/>
                </a:solidFill>
                <a:latin typeface="Trebuchet MS" panose="020B0603020202020204" pitchFamily="34" charset="0"/>
              </a:rPr>
              <a:t>not only requires the existence of complements but also that each complement is </a:t>
            </a:r>
            <a:r>
              <a:rPr lang="en-US" altLang="zh-CN" sz="2400" b="1" dirty="0">
                <a:solidFill>
                  <a:schemeClr val="tx1"/>
                </a:solidFill>
                <a:latin typeface="Trebuchet MS" panose="020B0603020202020204" pitchFamily="34" charset="0"/>
              </a:rPr>
              <a:t>unique</a:t>
            </a:r>
            <a:r>
              <a:rPr lang="en-US" altLang="zh-CN" sz="2400" dirty="0">
                <a:solidFill>
                  <a:schemeClr val="tx1"/>
                </a:solidFill>
                <a:latin typeface="Trebuchet MS" panose="020B0603020202020204" pitchFamily="34" charset="0"/>
              </a:rPr>
              <a:t>.</a:t>
            </a:r>
          </a:p>
          <a:p>
            <a:pPr marL="358775" indent="-166688">
              <a:lnSpc>
                <a:spcPct val="12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In a </a:t>
            </a:r>
            <a:r>
              <a:rPr lang="en-US" altLang="zh-CN" sz="2400" b="1" dirty="0">
                <a:solidFill>
                  <a:schemeClr val="tx1"/>
                </a:solidFill>
                <a:latin typeface="Trebuchet MS" panose="020B0603020202020204" pitchFamily="34" charset="0"/>
              </a:rPr>
              <a:t>Boolean lattice (algebra)</a:t>
            </a:r>
            <a:r>
              <a:rPr lang="en-US" altLang="zh-CN" sz="2400" dirty="0">
                <a:solidFill>
                  <a:schemeClr val="tx1"/>
                </a:solidFill>
                <a:latin typeface="Trebuchet MS" panose="020B0603020202020204" pitchFamily="34" charset="0"/>
              </a:rPr>
              <a:t>, the operation of taking the </a:t>
            </a:r>
            <a:r>
              <a:rPr lang="en-US" altLang="zh-CN" sz="2400" b="1" i="1" dirty="0">
                <a:solidFill>
                  <a:srgbClr val="0B61FF"/>
                </a:solidFill>
                <a:latin typeface="Trebuchet MS" panose="020B0603020202020204" pitchFamily="34" charset="0"/>
              </a:rPr>
              <a:t>complement</a:t>
            </a:r>
            <a:r>
              <a:rPr lang="en-US" altLang="zh-CN" sz="2400" dirty="0">
                <a:solidFill>
                  <a:schemeClr val="tx1"/>
                </a:solidFill>
                <a:latin typeface="Trebuchet MS" panose="020B0603020202020204" pitchFamily="34" charset="0"/>
              </a:rPr>
              <a:t> can be regarded as a </a:t>
            </a:r>
            <a:r>
              <a:rPr lang="en-US" altLang="zh-CN" sz="2400" b="1" i="1" dirty="0">
                <a:solidFill>
                  <a:srgbClr val="0B61FF"/>
                </a:solidFill>
                <a:latin typeface="Trebuchet MS" panose="020B0603020202020204" pitchFamily="34" charset="0"/>
              </a:rPr>
              <a:t>unary operation</a:t>
            </a:r>
            <a:r>
              <a:rPr lang="en-US" altLang="zh-CN" sz="2400" i="1" dirty="0">
                <a:solidFill>
                  <a:srgbClr val="0B61FF"/>
                </a:solidFill>
                <a:latin typeface="Trebuchet MS" panose="020B0603020202020204" pitchFamily="34" charset="0"/>
              </a:rPr>
              <a:t> </a:t>
            </a:r>
            <a:r>
              <a:rPr lang="en-US" altLang="zh-CN" sz="2400" dirty="0">
                <a:solidFill>
                  <a:schemeClr val="tx1"/>
                </a:solidFill>
                <a:latin typeface="Trebuchet MS" panose="020B0603020202020204" pitchFamily="34" charset="0"/>
              </a:rPr>
              <a:t>in Boolean algebra.</a:t>
            </a:r>
          </a:p>
          <a:p>
            <a:pPr marL="358775" indent="-166688">
              <a:lnSpc>
                <a:spcPct val="120000"/>
              </a:lnSpc>
              <a:buClr>
                <a:srgbClr val="0B61FF"/>
              </a:buClr>
              <a:buSzPct val="120000"/>
              <a:buFont typeface="Arial" panose="020B0604020202020204" pitchFamily="34" charset="0"/>
              <a:buChar char="•"/>
            </a:pPr>
            <a:r>
              <a:rPr lang="en-US" altLang="zh-CN" sz="2400" dirty="0">
                <a:solidFill>
                  <a:schemeClr val="tx1"/>
                </a:solidFill>
                <a:latin typeface="Trebuchet MS" panose="020B0603020202020204" pitchFamily="34" charset="0"/>
              </a:rPr>
              <a:t>A Boolean algebra is typically denoted as </a:t>
            </a:r>
            <a:r>
              <a:rPr lang="en-US" altLang="zh-CN" sz="2400" b="1" dirty="0">
                <a:solidFill>
                  <a:srgbClr val="FF0000"/>
                </a:solidFill>
                <a:latin typeface="Trebuchet MS" panose="020B0603020202020204" pitchFamily="34" charset="0"/>
              </a:rPr>
              <a:t>&lt;</a:t>
            </a:r>
            <a:r>
              <a:rPr lang="en-US" altLang="zh-CN" sz="2400" b="1" i="1" dirty="0">
                <a:solidFill>
                  <a:srgbClr val="FF0000"/>
                </a:solidFill>
                <a:latin typeface="Trebuchet MS" panose="020B0603020202020204" pitchFamily="34" charset="0"/>
              </a:rPr>
              <a:t>B</a:t>
            </a:r>
            <a:r>
              <a:rPr lang="en-US" altLang="zh-CN" sz="2400" b="1" dirty="0">
                <a:solidFill>
                  <a:srgbClr val="FF0000"/>
                </a:solidFill>
                <a:latin typeface="Trebuchet MS" panose="020B0603020202020204" pitchFamily="34" charset="0"/>
              </a:rPr>
              <a:t>,∧,∨,</a:t>
            </a:r>
            <a:r>
              <a:rPr lang="en-US" altLang="zh-CN" sz="2400" b="1" dirty="0">
                <a:solidFill>
                  <a:srgbClr val="FF0000"/>
                </a:solidFill>
                <a:latin typeface="Trebuchet MS" panose="020B0603020202020204" pitchFamily="34" charset="0"/>
                <a:sym typeface="Symbol" panose="05050102010706020507" pitchFamily="18" charset="2"/>
              </a:rPr>
              <a:t></a:t>
            </a:r>
            <a:r>
              <a:rPr lang="en-US" altLang="zh-CN" sz="2400" b="1" dirty="0">
                <a:solidFill>
                  <a:srgbClr val="FF0000"/>
                </a:solidFill>
                <a:latin typeface="Trebuchet MS" panose="020B0603020202020204" pitchFamily="34" charset="0"/>
              </a:rPr>
              <a:t>, 0, 1&gt;</a:t>
            </a:r>
            <a:r>
              <a:rPr lang="en-US" altLang="zh-CN" sz="2400" b="1" dirty="0">
                <a:solidFill>
                  <a:schemeClr val="tx1"/>
                </a:solidFill>
                <a:latin typeface="Trebuchet MS" panose="020B0603020202020204" pitchFamily="34" charset="0"/>
              </a:rPr>
              <a:t>, </a:t>
            </a:r>
            <a:r>
              <a:rPr lang="en-US" altLang="zh-CN" sz="2400" b="1" dirty="0">
                <a:solidFill>
                  <a:srgbClr val="FF0000"/>
                </a:solidFill>
                <a:latin typeface="Trebuchet MS" panose="020B0603020202020204" pitchFamily="34" charset="0"/>
              </a:rPr>
              <a:t> </a:t>
            </a:r>
            <a:r>
              <a:rPr lang="en-US" altLang="zh-CN" sz="2400" dirty="0">
                <a:solidFill>
                  <a:schemeClr val="tx1"/>
                </a:solidFill>
                <a:latin typeface="Trebuchet MS" panose="020B0603020202020204" pitchFamily="34" charset="0"/>
              </a:rPr>
              <a:t>where ′ </a:t>
            </a:r>
            <a:r>
              <a:rPr lang="en-US" altLang="zh-CN" sz="2400" b="1" dirty="0">
                <a:solidFill>
                  <a:srgbClr val="FF0000"/>
                </a:solidFill>
                <a:latin typeface="Trebuchet MS" panose="020B0603020202020204" pitchFamily="34" charset="0"/>
                <a:sym typeface="Symbol" panose="05050102010706020507" pitchFamily="18" charset="2"/>
              </a:rPr>
              <a:t></a:t>
            </a:r>
            <a:r>
              <a:rPr lang="en-US" altLang="zh-CN" sz="2400" dirty="0">
                <a:solidFill>
                  <a:schemeClr val="tx1"/>
                </a:solidFill>
                <a:latin typeface="Trebuchet MS" panose="020B0603020202020204" pitchFamily="34" charset="0"/>
              </a:rPr>
              <a:t> ′ represents the </a:t>
            </a:r>
            <a:r>
              <a:rPr lang="en-US" altLang="zh-CN" sz="2400" b="1" i="1" dirty="0">
                <a:solidFill>
                  <a:srgbClr val="0B61FF"/>
                </a:solidFill>
                <a:latin typeface="Trebuchet MS" panose="020B0603020202020204" pitchFamily="34" charset="0"/>
              </a:rPr>
              <a:t>complement operation</a:t>
            </a:r>
            <a:r>
              <a:rPr lang="en-US" altLang="zh-CN" sz="2400" dirty="0">
                <a:solidFill>
                  <a:schemeClr val="tx1"/>
                </a:solidFill>
                <a:latin typeface="Trebuchet MS" panose="020B0603020202020204" pitchFamily="34" charset="0"/>
              </a:rPr>
              <a:t>.</a:t>
            </a:r>
          </a:p>
          <a:p>
            <a:pPr eaLnBrk="1" hangingPunct="1">
              <a:lnSpc>
                <a:spcPct val="110000"/>
              </a:lnSpc>
            </a:pPr>
            <a:r>
              <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rPr>
              <a:t> </a:t>
            </a:r>
          </a:p>
        </p:txBody>
      </p:sp>
    </p:spTree>
    <p:extLst>
      <p:ext uri="{BB962C8B-B14F-4D97-AF65-F5344CB8AC3E}">
        <p14:creationId xmlns:p14="http://schemas.microsoft.com/office/powerpoint/2010/main" val="22615971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Determining Boolean Lattice (Boolean Algebra)</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id="{41847154-A8CF-4E9A-A78D-4FBB0358EE5E}"/>
              </a:ext>
            </a:extLst>
          </p:cNvPr>
          <p:cNvSpPr>
            <a:spLocks noChangeArrowheads="1"/>
          </p:cNvSpPr>
          <p:nvPr/>
        </p:nvSpPr>
        <p:spPr bwMode="auto">
          <a:xfrm>
            <a:off x="927012" y="798831"/>
            <a:ext cx="10323262" cy="536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indent="268288"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eaLnBrk="1" hangingPunct="1">
              <a:lnSpc>
                <a:spcPct val="120000"/>
              </a:lnSpc>
              <a:spcBef>
                <a:spcPts val="300"/>
              </a:spcBef>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Example:</a:t>
            </a:r>
            <a:r>
              <a:rPr lang="en-US" altLang="zh-CN" sz="2400" dirty="0">
                <a:solidFill>
                  <a:schemeClr val="tx1"/>
                </a:solidFill>
                <a:latin typeface="Trebuchet MS" panose="020B0603020202020204" pitchFamily="34" charset="0"/>
              </a:rPr>
              <a:t> Determine whether the power set lattice </a:t>
            </a:r>
            <a:r>
              <a:rPr lang="en-US" altLang="zh-CN" sz="2400" b="1" i="1" dirty="0">
                <a:solidFill>
                  <a:schemeClr val="tx1"/>
                </a:solidFill>
                <a:latin typeface="Trebuchet MS" panose="020B0603020202020204" pitchFamily="34" charset="0"/>
              </a:rPr>
              <a:t>P</a:t>
            </a:r>
            <a:r>
              <a:rPr lang="en-US" altLang="zh-CN" sz="2400" b="1" dirty="0">
                <a:solidFill>
                  <a:schemeClr val="tx1"/>
                </a:solidFill>
                <a:latin typeface="Trebuchet MS" panose="020B0603020202020204" pitchFamily="34" charset="0"/>
              </a:rPr>
              <a:t>(</a:t>
            </a:r>
            <a:r>
              <a:rPr lang="en-US" altLang="zh-CN" sz="2400" b="1" i="1" dirty="0">
                <a:solidFill>
                  <a:schemeClr val="tx1"/>
                </a:solidFill>
                <a:latin typeface="Trebuchet MS" panose="020B0603020202020204" pitchFamily="34" charset="0"/>
              </a:rPr>
              <a:t>B</a:t>
            </a:r>
            <a:r>
              <a:rPr lang="en-US" altLang="zh-CN" sz="2400" b="1"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is a </a:t>
            </a:r>
            <a:r>
              <a:rPr lang="en-US" altLang="zh-CN" sz="2400" b="1" dirty="0">
                <a:solidFill>
                  <a:schemeClr val="tx1"/>
                </a:solidFill>
                <a:latin typeface="Trebuchet MS" panose="020B0603020202020204" pitchFamily="34" charset="0"/>
              </a:rPr>
              <a:t>Boolean algebra</a:t>
            </a:r>
            <a:r>
              <a:rPr lang="en-US" altLang="zh-CN" sz="2400" dirty="0">
                <a:solidFill>
                  <a:schemeClr val="tx1"/>
                </a:solidFill>
                <a:latin typeface="Trebuchet MS" panose="020B0603020202020204" pitchFamily="34" charset="0"/>
              </a:rPr>
              <a:t>.</a:t>
            </a:r>
          </a:p>
          <a:p>
            <a:pPr marL="342900" indent="-166688" eaLnBrk="1" hangingPunct="1">
              <a:lnSpc>
                <a:spcPct val="120000"/>
              </a:lnSpc>
              <a:spcBef>
                <a:spcPts val="300"/>
              </a:spcBef>
              <a:buClr>
                <a:srgbClr val="0B61FF"/>
              </a:buClr>
              <a:buSzPct val="120000"/>
              <a:buFont typeface="Arial" panose="020B0604020202020204" pitchFamily="34" charset="0"/>
              <a:buChar char="•"/>
            </a:pPr>
            <a:r>
              <a:rPr lang="en-US" altLang="zh-CN" sz="2400" b="1" dirty="0">
                <a:solidFill>
                  <a:schemeClr val="tx1"/>
                </a:solidFill>
                <a:latin typeface="Trebuchet MS" panose="020B0603020202020204" pitchFamily="34" charset="0"/>
              </a:rPr>
              <a:t>Solution:</a:t>
            </a:r>
          </a:p>
          <a:p>
            <a:pPr marL="623888" indent="-449263" eaLnBrk="1" hangingPunct="1">
              <a:lnSpc>
                <a:spcPct val="120000"/>
              </a:lnSpc>
              <a:spcBef>
                <a:spcPts val="300"/>
              </a:spcBef>
              <a:buClr>
                <a:srgbClr val="0B61FF"/>
              </a:buClr>
              <a:buSzPct val="120000"/>
            </a:pPr>
            <a:r>
              <a:rPr lang="en-US" altLang="zh-CN" sz="2400" b="1" dirty="0">
                <a:solidFill>
                  <a:srgbClr val="0B61FF"/>
                </a:solidFill>
                <a:latin typeface="Trebuchet MS" panose="020B0603020202020204" pitchFamily="34" charset="0"/>
              </a:rPr>
              <a:t>(1) </a:t>
            </a:r>
            <a:r>
              <a:rPr lang="en-US" altLang="zh-CN" sz="2400" dirty="0">
                <a:solidFill>
                  <a:schemeClr val="tx1"/>
                </a:solidFill>
                <a:latin typeface="Trebuchet MS" panose="020B0603020202020204" pitchFamily="34" charset="0"/>
              </a:rPr>
              <a:t>To determine whether </a:t>
            </a:r>
            <a:r>
              <a:rPr lang="en-US" altLang="zh-CN" sz="2400" b="1" i="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B</a:t>
            </a:r>
            <a:r>
              <a:rPr lang="en-US" altLang="zh-CN" sz="2400" b="1" dirty="0">
                <a:solidFill>
                  <a:srgbClr val="FF0000"/>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solidFill>
                  <a:schemeClr val="tx1"/>
                </a:solidFill>
                <a:latin typeface="Trebuchet MS" panose="020B0603020202020204" pitchFamily="34" charset="0"/>
              </a:rPr>
              <a:t>is a</a:t>
            </a:r>
            <a:r>
              <a:rPr lang="en-US" altLang="zh-CN" sz="2400" b="1" i="1" dirty="0">
                <a:solidFill>
                  <a:srgbClr val="0B61FF"/>
                </a:solidFill>
                <a:latin typeface="Trebuchet MS" panose="020B0603020202020204" pitchFamily="34" charset="0"/>
              </a:rPr>
              <a:t> lattice</a:t>
            </a:r>
            <a:r>
              <a:rPr lang="en-US" altLang="zh-CN" sz="2400" dirty="0">
                <a:solidFill>
                  <a:schemeClr val="tx1"/>
                </a:solidFill>
                <a:latin typeface="Trebuchet MS" panose="020B0603020202020204" pitchFamily="34" charset="0"/>
              </a:rPr>
              <a:t>: For any two subsets </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B</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B</a:t>
            </a:r>
            <a:r>
              <a:rPr lang="en-US" altLang="zh-CN" sz="2400" dirty="0">
                <a:solidFill>
                  <a:schemeClr val="tx1"/>
                </a:solidFill>
                <a:latin typeface="Trebuchet MS" panose="020B0603020202020204" pitchFamily="34" charset="0"/>
              </a:rPr>
              <a:t>, both the </a:t>
            </a:r>
            <a:r>
              <a:rPr lang="en-US" altLang="zh-CN" sz="2400" b="1" dirty="0">
                <a:solidFill>
                  <a:schemeClr val="tx1"/>
                </a:solidFill>
                <a:latin typeface="Trebuchet MS" panose="020B0603020202020204" pitchFamily="34" charset="0"/>
              </a:rPr>
              <a:t>union</a:t>
            </a:r>
            <a:r>
              <a:rPr lang="en-US" altLang="zh-CN" sz="2400" dirty="0">
                <a:solidFill>
                  <a:schemeClr val="tx1"/>
                </a:solidFill>
                <a:latin typeface="Trebuchet MS" panose="020B0603020202020204" pitchFamily="34" charset="0"/>
              </a:rPr>
              <a:t> </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B</a:t>
            </a:r>
            <a:r>
              <a:rPr lang="en-US" altLang="zh-CN" sz="2400" dirty="0">
                <a:solidFill>
                  <a:schemeClr val="tx1"/>
                </a:solidFill>
                <a:latin typeface="Trebuchet MS" panose="020B0603020202020204" pitchFamily="34" charset="0"/>
              </a:rPr>
              <a:t>(least upper bound) and the </a:t>
            </a:r>
            <a:r>
              <a:rPr lang="en-US" altLang="zh-CN" sz="2400" b="1" dirty="0">
                <a:solidFill>
                  <a:schemeClr val="tx1"/>
                </a:solidFill>
                <a:latin typeface="Trebuchet MS" panose="020B0603020202020204" pitchFamily="34" charset="0"/>
              </a:rPr>
              <a:t>intersection </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B</a:t>
            </a:r>
            <a:r>
              <a:rPr lang="en-US" altLang="zh-CN" sz="2400" dirty="0">
                <a:solidFill>
                  <a:schemeClr val="tx1"/>
                </a:solidFill>
                <a:latin typeface="Trebuchet MS" panose="020B0603020202020204" pitchFamily="34" charset="0"/>
              </a:rPr>
              <a:t>(greatest lower bound) exist and belong to </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B</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solidFill>
                  <a:schemeClr val="tx1"/>
                </a:solidFill>
                <a:latin typeface="Trebuchet MS" panose="020B0603020202020204" pitchFamily="34" charset="0"/>
              </a:rPr>
              <a:t>so the definition of a lattice is satisfied.</a:t>
            </a:r>
          </a:p>
          <a:p>
            <a:pPr marL="623888" indent="-449263" eaLnBrk="1" hangingPunct="1">
              <a:lnSpc>
                <a:spcPct val="120000"/>
              </a:lnSpc>
              <a:spcBef>
                <a:spcPts val="300"/>
              </a:spcBef>
              <a:buClr>
                <a:srgbClr val="0B61FF"/>
              </a:buClr>
              <a:buSzPct val="120000"/>
            </a:pPr>
            <a:r>
              <a:rPr lang="zh-CN" altLang="zh-CN" sz="2400" b="1" dirty="0">
                <a:solidFill>
                  <a:srgbClr val="0B61FF"/>
                </a:solidFill>
                <a:latin typeface="Trebuchet MS" panose="020B0603020202020204" pitchFamily="34" charset="0"/>
              </a:rPr>
              <a:t>(2) </a:t>
            </a:r>
            <a:r>
              <a:rPr lang="zh-CN" altLang="zh-CN" sz="2400" dirty="0">
                <a:solidFill>
                  <a:schemeClr val="tx1"/>
                </a:solidFill>
                <a:latin typeface="Trebuchet MS" panose="020B0603020202020204" pitchFamily="34" charset="0"/>
              </a:rPr>
              <a:t>To determine whether </a:t>
            </a:r>
            <a:r>
              <a:rPr lang="en-US" altLang="zh-CN" sz="2400" b="1" i="1" dirty="0">
                <a:solidFill>
                  <a:srgbClr val="FF0000"/>
                </a:solidFill>
                <a:latin typeface="Trebuchet MS" panose="020B0603020202020204" pitchFamily="34" charset="0"/>
                <a:sym typeface="Symbol" panose="05050102010706020507" pitchFamily="18" charset="2"/>
              </a:rPr>
              <a:t>P</a:t>
            </a:r>
            <a:r>
              <a:rPr lang="en-US" altLang="zh-CN" sz="2400" b="1" dirty="0">
                <a:solidFill>
                  <a:srgbClr val="FF0000"/>
                </a:solidFill>
                <a:latin typeface="Trebuchet MS" panose="020B0603020202020204" pitchFamily="34" charset="0"/>
                <a:sym typeface="Symbol" panose="05050102010706020507" pitchFamily="18" charset="2"/>
              </a:rPr>
              <a:t>(</a:t>
            </a:r>
            <a:r>
              <a:rPr lang="en-US" altLang="zh-CN" sz="2400" b="1" i="1" dirty="0">
                <a:solidFill>
                  <a:srgbClr val="FF0000"/>
                </a:solidFill>
                <a:latin typeface="Trebuchet MS" panose="020B0603020202020204" pitchFamily="34" charset="0"/>
                <a:sym typeface="Symbol" panose="05050102010706020507" pitchFamily="18" charset="2"/>
              </a:rPr>
              <a:t>B</a:t>
            </a:r>
            <a:r>
              <a:rPr lang="en-US" altLang="zh-CN" sz="2400" b="1" dirty="0">
                <a:solidFill>
                  <a:srgbClr val="FF0000"/>
                </a:solidFill>
                <a:latin typeface="Trebuchet MS" panose="020B0603020202020204" pitchFamily="34" charset="0"/>
                <a:sym typeface="Symbol" panose="05050102010706020507" pitchFamily="18" charset="2"/>
              </a:rPr>
              <a:t>) </a:t>
            </a:r>
            <a:r>
              <a:rPr lang="zh-CN" altLang="zh-CN" sz="2400" dirty="0">
                <a:solidFill>
                  <a:schemeClr val="tx1"/>
                </a:solidFill>
                <a:latin typeface="Trebuchet MS" panose="020B0603020202020204" pitchFamily="34" charset="0"/>
              </a:rPr>
              <a:t>is a </a:t>
            </a:r>
            <a:r>
              <a:rPr lang="zh-CN" altLang="zh-CN" sz="2400" b="1" i="1" dirty="0">
                <a:solidFill>
                  <a:srgbClr val="0B61FF"/>
                </a:solidFill>
                <a:latin typeface="Trebuchet MS" panose="020B0603020202020204" pitchFamily="34" charset="0"/>
              </a:rPr>
              <a:t>distributive lattice</a:t>
            </a:r>
            <a:r>
              <a:rPr lang="zh-CN" altLang="zh-CN" sz="2400" dirty="0">
                <a:solidFill>
                  <a:schemeClr val="tx1"/>
                </a:solidFill>
                <a:latin typeface="Trebuchet MS" panose="020B0603020202020204" pitchFamily="34" charset="0"/>
              </a:rPr>
              <a:t>:</a:t>
            </a:r>
            <a:r>
              <a:rPr lang="en-US" altLang="zh-CN" sz="2400" dirty="0">
                <a:solidFill>
                  <a:schemeClr val="tx1"/>
                </a:solidFill>
                <a:latin typeface="Trebuchet MS" panose="020B0603020202020204" pitchFamily="34" charset="0"/>
              </a:rPr>
              <a:t> </a:t>
            </a:r>
            <a:r>
              <a:rPr lang="zh-CN" altLang="zh-CN" sz="2400" dirty="0">
                <a:solidFill>
                  <a:schemeClr val="tx1"/>
                </a:solidFill>
                <a:latin typeface="Trebuchet MS" panose="020B0603020202020204" pitchFamily="34" charset="0"/>
              </a:rPr>
              <a:t>For any three elements in </a:t>
            </a:r>
            <a:r>
              <a:rPr lang="en-US" altLang="zh-CN" sz="2400" b="1" i="1" dirty="0">
                <a:solidFill>
                  <a:schemeClr val="tx1"/>
                </a:solidFill>
                <a:latin typeface="Trebuchet MS" panose="020B0603020202020204" pitchFamily="34" charset="0"/>
                <a:sym typeface="Symbol" panose="05050102010706020507" pitchFamily="18" charset="2"/>
              </a:rPr>
              <a:t>P</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B</a:t>
            </a:r>
            <a:r>
              <a:rPr lang="en-US" altLang="zh-CN" sz="2400" b="1" dirty="0">
                <a:solidFill>
                  <a:schemeClr val="tx1"/>
                </a:solidFill>
                <a:latin typeface="Trebuchet MS" panose="020B0603020202020204" pitchFamily="34" charset="0"/>
                <a:sym typeface="Symbol" panose="05050102010706020507" pitchFamily="18" charset="2"/>
              </a:rPr>
              <a:t>)</a:t>
            </a:r>
            <a:r>
              <a:rPr lang="zh-CN" altLang="zh-CN" sz="2400" dirty="0">
                <a:solidFill>
                  <a:schemeClr val="tx1"/>
                </a:solidFill>
                <a:latin typeface="Trebuchet MS" panose="020B0603020202020204" pitchFamily="34" charset="0"/>
              </a:rPr>
              <a:t>, the operations of </a:t>
            </a:r>
            <a:r>
              <a:rPr lang="zh-CN" altLang="zh-CN" sz="2400" b="1" dirty="0">
                <a:solidFill>
                  <a:schemeClr val="tx1"/>
                </a:solidFill>
                <a:latin typeface="Trebuchet MS" panose="020B0603020202020204" pitchFamily="34" charset="0"/>
              </a:rPr>
              <a:t>union</a:t>
            </a:r>
            <a:r>
              <a:rPr lang="zh-CN" altLang="zh-CN" sz="2400" dirty="0">
                <a:solidFill>
                  <a:schemeClr val="tx1"/>
                </a:solidFill>
                <a:latin typeface="Trebuchet MS" panose="020B0603020202020204" pitchFamily="34" charset="0"/>
              </a:rPr>
              <a:t> </a:t>
            </a:r>
            <a:r>
              <a:rPr lang="zh-CN" altLang="zh-CN" sz="2400" b="1" kern="100" dirty="0">
                <a:solidFill>
                  <a:schemeClr val="tx1"/>
                </a:solidFill>
                <a:latin typeface="Trebuchet MS" panose="020B0603020202020204" pitchFamily="34" charset="0"/>
                <a:cs typeface="Times New Roman" panose="02020603050405020304" pitchFamily="18" charset="0"/>
              </a:rPr>
              <a:t>∪ </a:t>
            </a:r>
            <a:r>
              <a:rPr lang="en-US" altLang="zh-CN" sz="2400" b="1" kern="100" dirty="0">
                <a:solidFill>
                  <a:schemeClr val="tx1"/>
                </a:solidFill>
                <a:latin typeface="Trebuchet MS" panose="020B0603020202020204" pitchFamily="34" charset="0"/>
                <a:cs typeface="Times New Roman" panose="02020603050405020304" pitchFamily="18" charset="0"/>
              </a:rPr>
              <a:t> </a:t>
            </a:r>
            <a:r>
              <a:rPr lang="zh-CN" altLang="zh-CN" sz="2400" dirty="0">
                <a:solidFill>
                  <a:schemeClr val="tx1"/>
                </a:solidFill>
                <a:latin typeface="Trebuchet MS" panose="020B0603020202020204" pitchFamily="34" charset="0"/>
              </a:rPr>
              <a:t>and </a:t>
            </a:r>
            <a:r>
              <a:rPr lang="zh-CN" altLang="zh-CN" sz="2400" b="1" dirty="0">
                <a:solidFill>
                  <a:schemeClr val="tx1"/>
                </a:solidFill>
                <a:latin typeface="Trebuchet MS" panose="020B0603020202020204" pitchFamily="34" charset="0"/>
              </a:rPr>
              <a:t>intersection</a:t>
            </a:r>
            <a:r>
              <a:rPr lang="zh-CN" altLang="zh-CN" sz="2400" dirty="0">
                <a:solidFill>
                  <a:schemeClr val="tx1"/>
                </a:solidFill>
                <a:latin typeface="Trebuchet MS" panose="020B0603020202020204" pitchFamily="34" charset="0"/>
              </a:rPr>
              <a:t> </a:t>
            </a:r>
            <a:r>
              <a:rPr lang="en-US" altLang="zh-CN" sz="2400" b="1" kern="100" dirty="0">
                <a:solidFill>
                  <a:schemeClr val="tx1"/>
                </a:solidFill>
                <a:latin typeface="Trebuchet MS" panose="020B0603020202020204" pitchFamily="34" charset="0"/>
                <a:cs typeface="Times New Roman" panose="02020603050405020304" pitchFamily="18" charset="0"/>
              </a:rPr>
              <a:t>∩ </a:t>
            </a:r>
            <a:r>
              <a:rPr lang="zh-CN" altLang="zh-CN" sz="2400" dirty="0">
                <a:solidFill>
                  <a:schemeClr val="tx1"/>
                </a:solidFill>
                <a:latin typeface="Trebuchet MS" panose="020B0603020202020204" pitchFamily="34" charset="0"/>
              </a:rPr>
              <a:t>satisfy the </a:t>
            </a:r>
            <a:r>
              <a:rPr lang="zh-CN" altLang="zh-CN" sz="2400" b="1" dirty="0">
                <a:solidFill>
                  <a:schemeClr val="tx1"/>
                </a:solidFill>
                <a:latin typeface="Trebuchet MS" panose="020B0603020202020204" pitchFamily="34" charset="0"/>
              </a:rPr>
              <a:t>distributive laws</a:t>
            </a:r>
            <a:r>
              <a:rPr lang="zh-CN" altLang="zh-CN" sz="2400" dirty="0">
                <a:solidFill>
                  <a:schemeClr val="tx1"/>
                </a:solidFill>
                <a:latin typeface="Trebuchet MS" panose="020B0603020202020204" pitchFamily="34" charset="0"/>
              </a:rPr>
              <a:t>, so the definition of a distributive lattice is fulfilled.</a:t>
            </a:r>
            <a:endParaRPr lang="en-US" altLang="zh-CN" sz="2400" dirty="0">
              <a:solidFill>
                <a:schemeClr val="tx1"/>
              </a:solidFill>
              <a:latin typeface="Trebuchet MS" panose="020B0603020202020204" pitchFamily="34" charset="0"/>
            </a:endParaRPr>
          </a:p>
          <a:p>
            <a:pPr marL="623888" indent="-449263" eaLnBrk="1" hangingPunct="1">
              <a:lnSpc>
                <a:spcPct val="110000"/>
              </a:lnSpc>
              <a:buClr>
                <a:srgbClr val="0B61FF"/>
              </a:buClr>
              <a:buSzPct val="120000"/>
            </a:pPr>
            <a:endParaRPr lang="zh-CN" altLang="zh-CN" sz="2400" dirty="0">
              <a:solidFill>
                <a:schemeClr val="tx1"/>
              </a:solidFill>
              <a:latin typeface="Trebuchet MS" panose="020B0603020202020204" pitchFamily="34" charset="0"/>
            </a:endParaRPr>
          </a:p>
          <a:p>
            <a:pPr marL="623888" indent="-449263" eaLnBrk="1" hangingPunct="1">
              <a:lnSpc>
                <a:spcPct val="120000"/>
              </a:lnSpc>
              <a:buClr>
                <a:srgbClr val="0B61FF"/>
              </a:buClr>
              <a:buSzPct val="120000"/>
            </a:pPr>
            <a:endParaRPr lang="en-US" altLang="zh-CN" sz="2400" dirty="0">
              <a:solidFill>
                <a:schemeClr val="tx1"/>
              </a:solidFill>
              <a:latin typeface="Trebuchet MS" panose="020B0603020202020204" pitchFamily="34" charset="0"/>
            </a:endParaRPr>
          </a:p>
          <a:p>
            <a:pPr marL="623888" indent="-449263" eaLnBrk="1" hangingPunct="1">
              <a:lnSpc>
                <a:spcPct val="120000"/>
              </a:lnSpc>
              <a:buClr>
                <a:srgbClr val="0B61FF"/>
              </a:buClr>
              <a:buSzPct val="120000"/>
            </a:pPr>
            <a:endParaRPr lang="en-US" altLang="zh-CN" sz="2400" b="1" dirty="0">
              <a:solidFill>
                <a:schemeClr val="tx1"/>
              </a:solidFill>
              <a:latin typeface="Trebuchet MS" panose="020B0603020202020204" pitchFamily="34" charset="0"/>
              <a:ea typeface="宋体" panose="02010600030101010101" pitchFamily="2" charset="-122"/>
              <a:cs typeface="Times New Roman" panose="02020603050405020304" pitchFamily="18" charset="0"/>
              <a:sym typeface="Symbol" panose="05050102010706020507" pitchFamily="18" charset="2"/>
            </a:endParaRPr>
          </a:p>
          <a:p>
            <a:pPr marL="342900" indent="-342900" eaLnBrk="1" hangingPunct="1">
              <a:lnSpc>
                <a:spcPct val="120000"/>
              </a:lnSpc>
              <a:buClr>
                <a:srgbClr val="0B61FF"/>
              </a:buClr>
              <a:buSzPct val="80000"/>
              <a:buFont typeface="Wingdings" panose="05000000000000000000" pitchFamily="2" charset="2"/>
              <a:buChar char="n"/>
            </a:pPr>
            <a:endParaRPr lang="en-US" altLang="zh-CN" sz="2400" b="1" dirty="0">
              <a:solidFill>
                <a:schemeClr val="tx1"/>
              </a:solidFill>
              <a:latin typeface="Trebuchet MS" panose="020B0603020202020204" pitchFamily="34" charset="0"/>
              <a:ea typeface="宋体" panose="02010600030101010101" pitchFamily="2" charset="-122"/>
              <a:sym typeface="Symbol" panose="05050102010706020507" pitchFamily="18" charset="2"/>
            </a:endParaRPr>
          </a:p>
        </p:txBody>
      </p:sp>
    </p:spTree>
    <p:extLst>
      <p:ext uri="{BB962C8B-B14F-4D97-AF65-F5344CB8AC3E}">
        <p14:creationId xmlns:p14="http://schemas.microsoft.com/office/powerpoint/2010/main" val="1426743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Examples of Determining Boolean Lattice (Boolean Algebra)</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a:extLst>
              <a:ext uri="{FF2B5EF4-FFF2-40B4-BE49-F238E27FC236}">
                <a16:creationId xmlns:a16="http://schemas.microsoft.com/office/drawing/2014/main" id="{B2434D7F-708E-4F92-AE23-07E6347ED3E0}"/>
              </a:ext>
            </a:extLst>
          </p:cNvPr>
          <p:cNvSpPr>
            <a:spLocks noChangeArrowheads="1"/>
          </p:cNvSpPr>
          <p:nvPr/>
        </p:nvSpPr>
        <p:spPr bwMode="auto">
          <a:xfrm>
            <a:off x="927012" y="794338"/>
            <a:ext cx="10178218" cy="5366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indent="268288"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447675" indent="-447675" eaLnBrk="1" hangingPunct="1">
              <a:lnSpc>
                <a:spcPct val="120000"/>
              </a:lnSpc>
            </a:pP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(3)</a:t>
            </a:r>
            <a:r>
              <a:rPr lang="en-US" altLang="zh-CN" sz="2400" b="1" dirty="0">
                <a:solidFill>
                  <a:srgbClr val="0B61FF"/>
                </a:solidFill>
                <a:latin typeface="Trebuchet MS" panose="020B0603020202020204" pitchFamily="34" charset="0"/>
              </a:rPr>
              <a:t> </a:t>
            </a:r>
            <a:r>
              <a:rPr lang="en-US" altLang="zh-CN" sz="2400" dirty="0">
                <a:solidFill>
                  <a:schemeClr val="tx1"/>
                </a:solidFill>
                <a:latin typeface="Trebuchet MS" panose="020B0603020202020204" pitchFamily="34" charset="0"/>
              </a:rPr>
              <a:t>To determine whether </a:t>
            </a:r>
            <a:r>
              <a:rPr lang="en-US" altLang="zh-CN" sz="2400" b="1" i="1" dirty="0">
                <a:solidFill>
                  <a:srgbClr val="FF0000"/>
                </a:solidFill>
                <a:latin typeface="Trebuchet MS" panose="020B0603020202020204" pitchFamily="34" charset="0"/>
                <a:sym typeface="Symbol" panose="05050102010706020507" pitchFamily="18" charset="2"/>
              </a:rPr>
              <a:t>P</a:t>
            </a:r>
            <a:r>
              <a:rPr lang="en-US" altLang="zh-CN" sz="2400" b="1" dirty="0">
                <a:solidFill>
                  <a:srgbClr val="FF0000"/>
                </a:solidFill>
                <a:latin typeface="Trebuchet MS" panose="020B0603020202020204" pitchFamily="34" charset="0"/>
                <a:sym typeface="Symbol" panose="05050102010706020507" pitchFamily="18" charset="2"/>
              </a:rPr>
              <a:t>(</a:t>
            </a:r>
            <a:r>
              <a:rPr lang="en-US" altLang="zh-CN" sz="2400" b="1" i="1" dirty="0">
                <a:solidFill>
                  <a:srgbClr val="FF0000"/>
                </a:solidFill>
                <a:latin typeface="Trebuchet MS" panose="020B0603020202020204" pitchFamily="34" charset="0"/>
                <a:sym typeface="Symbol" panose="05050102010706020507" pitchFamily="18" charset="2"/>
              </a:rPr>
              <a:t>B</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is a </a:t>
            </a:r>
            <a:r>
              <a:rPr lang="en-US" altLang="zh-CN" sz="2400" b="1" i="1" dirty="0">
                <a:solidFill>
                  <a:srgbClr val="0B61FF"/>
                </a:solidFill>
                <a:latin typeface="Trebuchet MS" panose="020B0603020202020204" pitchFamily="34" charset="0"/>
              </a:rPr>
              <a:t>complemented lattice</a:t>
            </a:r>
            <a:r>
              <a:rPr lang="en-US" altLang="zh-CN" sz="2400" dirty="0">
                <a:solidFill>
                  <a:schemeClr val="tx1"/>
                </a:solidFill>
                <a:latin typeface="Trebuchet MS" panose="020B0603020202020204" pitchFamily="34" charset="0"/>
              </a:rPr>
              <a:t>: For every subset </a:t>
            </a:r>
            <a:r>
              <a:rPr lang="en-US" altLang="zh-CN" sz="2400" b="1" i="1" kern="100" dirty="0">
                <a:solidFill>
                  <a:schemeClr val="tx1"/>
                </a:solidFill>
                <a:latin typeface="Trebuchet MS" panose="020B0603020202020204" pitchFamily="34" charset="0"/>
                <a:cs typeface="Times New Roman" panose="02020603050405020304" pitchFamily="18" charset="0"/>
              </a:rPr>
              <a:t>A</a:t>
            </a:r>
            <a:r>
              <a:rPr lang="en-US" altLang="zh-CN" sz="2400" b="1" kern="100" dirty="0">
                <a:solidFill>
                  <a:schemeClr val="tx1"/>
                </a:solidFill>
                <a:latin typeface="Trebuchet MS" panose="020B0603020202020204" pitchFamily="34" charset="0"/>
                <a:cs typeface="Times New Roman" panose="02020603050405020304" pitchFamily="18" charset="0"/>
              </a:rPr>
              <a:t>⊆</a:t>
            </a:r>
            <a:r>
              <a:rPr lang="zh-CN" altLang="zh-CN" sz="2400" b="1" i="1" kern="100" dirty="0">
                <a:solidFill>
                  <a:schemeClr val="tx1"/>
                </a:solidFill>
                <a:latin typeface="Trebuchet MS" panose="020B0603020202020204" pitchFamily="34" charset="0"/>
                <a:cs typeface="Times New Roman" panose="02020603050405020304" pitchFamily="18" charset="0"/>
              </a:rPr>
              <a:t>B</a:t>
            </a:r>
            <a:r>
              <a:rPr lang="zh-CN" altLang="zh-CN" sz="2400" b="1" kern="100" dirty="0">
                <a:solidFill>
                  <a:schemeClr val="tx1"/>
                </a:solidFill>
                <a:latin typeface="Trebuchet MS" panose="020B0603020202020204" pitchFamily="34" charset="0"/>
                <a:cs typeface="Times New Roman" panose="02020603050405020304" pitchFamily="18" charset="0"/>
              </a:rPr>
              <a:t>,</a:t>
            </a:r>
            <a:r>
              <a:rPr lang="en-US" altLang="zh-CN" sz="2400" dirty="0">
                <a:solidFill>
                  <a:schemeClr val="tx1"/>
                </a:solidFill>
                <a:latin typeface="Trebuchet MS" panose="020B0603020202020204" pitchFamily="34" charset="0"/>
              </a:rPr>
              <a:t> there exists a </a:t>
            </a:r>
            <a:r>
              <a:rPr lang="en-US" altLang="zh-CN" sz="2400" b="1" dirty="0">
                <a:solidFill>
                  <a:schemeClr val="tx1"/>
                </a:solidFill>
                <a:latin typeface="Trebuchet MS" panose="020B0603020202020204" pitchFamily="34" charset="0"/>
              </a:rPr>
              <a:t>complement</a:t>
            </a:r>
            <a:r>
              <a:rPr lang="en-US" altLang="zh-CN" sz="2400" dirty="0">
                <a:solidFill>
                  <a:schemeClr val="tx1"/>
                </a:solidFill>
                <a:latin typeface="Trebuchet MS" panose="020B0603020202020204" pitchFamily="34" charset="0"/>
              </a:rPr>
              <a:t> </a:t>
            </a:r>
            <a:r>
              <a:rPr lang="zh-CN" altLang="zh-CN" sz="2400" b="1" i="1" kern="100" dirty="0">
                <a:solidFill>
                  <a:schemeClr val="tx1"/>
                </a:solidFill>
                <a:latin typeface="Trebuchet MS" panose="020B0603020202020204" pitchFamily="34" charset="0"/>
                <a:cs typeface="Times New Roman" panose="02020603050405020304" pitchFamily="18" charset="0"/>
              </a:rPr>
              <a:t>A</a:t>
            </a:r>
            <a:r>
              <a:rPr lang="zh-CN" altLang="zh-CN" sz="2400" b="1" kern="100" baseline="30000" dirty="0">
                <a:solidFill>
                  <a:schemeClr val="tx1"/>
                </a:solidFill>
                <a:latin typeface="Trebuchet MS" panose="020B0603020202020204" pitchFamily="34" charset="0"/>
                <a:cs typeface="Times New Roman" panose="02020603050405020304" pitchFamily="18" charset="0"/>
              </a:rPr>
              <a:t>c </a:t>
            </a:r>
            <a:r>
              <a:rPr lang="zh-CN" altLang="zh-CN" sz="2400" b="1" kern="100" dirty="0">
                <a:solidFill>
                  <a:schemeClr val="tx1"/>
                </a:solidFill>
                <a:latin typeface="Trebuchet MS" panose="020B0603020202020204" pitchFamily="34" charset="0"/>
                <a:cs typeface="Times New Roman" panose="02020603050405020304" pitchFamily="18" charset="0"/>
              </a:rPr>
              <a:t>=</a:t>
            </a:r>
            <a:r>
              <a:rPr lang="zh-CN" altLang="zh-CN" sz="2400" b="1" i="1" kern="100" dirty="0">
                <a:solidFill>
                  <a:schemeClr val="tx1"/>
                </a:solidFill>
                <a:latin typeface="Trebuchet MS" panose="020B0603020202020204" pitchFamily="34" charset="0"/>
                <a:cs typeface="Times New Roman" panose="02020603050405020304" pitchFamily="18" charset="0"/>
              </a:rPr>
              <a:t>B</a:t>
            </a:r>
            <a:r>
              <a:rPr lang="en-US" altLang="zh-CN" sz="2400" b="1" kern="100" dirty="0">
                <a:solidFill>
                  <a:schemeClr val="tx1"/>
                </a:solidFill>
                <a:latin typeface="Trebuchet MS" panose="020B0603020202020204" pitchFamily="34" charset="0"/>
                <a:cs typeface="Times New Roman" panose="02020603050405020304" pitchFamily="18" charset="0"/>
              </a:rPr>
              <a:t>-</a:t>
            </a:r>
            <a:r>
              <a:rPr lang="zh-CN" altLang="zh-CN" sz="2400" b="1" i="1" kern="100" dirty="0">
                <a:solidFill>
                  <a:schemeClr val="tx1"/>
                </a:solidFill>
                <a:latin typeface="Trebuchet MS" panose="020B0603020202020204" pitchFamily="34" charset="0"/>
                <a:cs typeface="Times New Roman" panose="02020603050405020304" pitchFamily="18" charset="0"/>
              </a:rPr>
              <a:t>A </a:t>
            </a:r>
            <a:r>
              <a:rPr lang="en-US" altLang="zh-CN" sz="2400" dirty="0">
                <a:solidFill>
                  <a:schemeClr val="tx1"/>
                </a:solidFill>
                <a:latin typeface="Trebuchet MS" panose="020B0603020202020204" pitchFamily="34" charset="0"/>
              </a:rPr>
              <a:t>such that </a:t>
            </a:r>
            <a:r>
              <a:rPr lang="en-US" altLang="zh-CN" sz="2400" b="1" i="1" kern="100" dirty="0">
                <a:solidFill>
                  <a:schemeClr val="tx1"/>
                </a:solidFill>
                <a:latin typeface="Trebuchet MS" panose="020B0603020202020204" pitchFamily="34" charset="0"/>
                <a:cs typeface="Times New Roman" panose="02020603050405020304" pitchFamily="18" charset="0"/>
              </a:rPr>
              <a:t>A</a:t>
            </a:r>
            <a:r>
              <a:rPr lang="en-US" altLang="zh-CN" sz="2400" b="1" kern="100" dirty="0">
                <a:solidFill>
                  <a:schemeClr val="tx1"/>
                </a:solidFill>
                <a:latin typeface="Trebuchet MS" panose="020B0603020202020204" pitchFamily="34" charset="0"/>
                <a:cs typeface="Times New Roman" panose="02020603050405020304" pitchFamily="18" charset="0"/>
              </a:rPr>
              <a:t>∩</a:t>
            </a:r>
            <a:r>
              <a:rPr lang="zh-CN" altLang="zh-CN" sz="2400" b="1" kern="100" dirty="0">
                <a:solidFill>
                  <a:schemeClr val="tx1"/>
                </a:solidFill>
                <a:latin typeface="Trebuchet MS" panose="020B0603020202020204" pitchFamily="34" charset="0"/>
                <a:cs typeface="Times New Roman" panose="02020603050405020304" pitchFamily="18" charset="0"/>
              </a:rPr>
              <a:t> </a:t>
            </a:r>
            <a:r>
              <a:rPr lang="zh-CN" altLang="zh-CN" sz="2400" b="1" i="1" kern="100" dirty="0">
                <a:solidFill>
                  <a:schemeClr val="tx1"/>
                </a:solidFill>
                <a:latin typeface="Trebuchet MS" panose="020B0603020202020204" pitchFamily="34" charset="0"/>
                <a:cs typeface="Times New Roman" panose="02020603050405020304" pitchFamily="18" charset="0"/>
              </a:rPr>
              <a:t>A</a:t>
            </a:r>
            <a:r>
              <a:rPr lang="zh-CN" altLang="zh-CN" sz="2400" b="1" kern="100" baseline="30000" dirty="0">
                <a:solidFill>
                  <a:schemeClr val="tx1"/>
                </a:solidFill>
                <a:latin typeface="Trebuchet MS" panose="020B0603020202020204" pitchFamily="34" charset="0"/>
                <a:cs typeface="Times New Roman" panose="02020603050405020304" pitchFamily="18" charset="0"/>
              </a:rPr>
              <a:t>c </a:t>
            </a:r>
            <a:r>
              <a:rPr lang="zh-CN" altLang="zh-CN" sz="2400" b="1" kern="100" dirty="0">
                <a:solidFill>
                  <a:schemeClr val="tx1"/>
                </a:solidFill>
                <a:latin typeface="Trebuchet MS" panose="020B0603020202020204" pitchFamily="34" charset="0"/>
                <a:cs typeface="Times New Roman" panose="02020603050405020304" pitchFamily="18" charset="0"/>
              </a:rPr>
              <a:t>=∅</a:t>
            </a:r>
            <a:r>
              <a:rPr lang="en-US" altLang="zh-CN" sz="2400" dirty="0">
                <a:solidFill>
                  <a:schemeClr val="tx1"/>
                </a:solidFill>
                <a:latin typeface="Trebuchet MS" panose="020B0603020202020204" pitchFamily="34" charset="0"/>
              </a:rPr>
              <a:t> (the bottom element) and </a:t>
            </a:r>
            <a:r>
              <a:rPr lang="en-US" altLang="zh-CN" sz="2400" b="1" i="1" kern="100" dirty="0">
                <a:solidFill>
                  <a:schemeClr val="tx1"/>
                </a:solidFill>
                <a:latin typeface="Trebuchet MS" panose="020B0603020202020204" pitchFamily="34" charset="0"/>
                <a:cs typeface="Times New Roman" panose="02020603050405020304" pitchFamily="18" charset="0"/>
              </a:rPr>
              <a:t>A</a:t>
            </a:r>
            <a:r>
              <a:rPr lang="zh-CN" altLang="zh-CN" sz="2400" b="1" kern="100" dirty="0">
                <a:solidFill>
                  <a:schemeClr val="tx1"/>
                </a:solidFill>
                <a:latin typeface="Trebuchet MS" panose="020B0603020202020204" pitchFamily="34" charset="0"/>
                <a:cs typeface="Times New Roman" panose="02020603050405020304" pitchFamily="18" charset="0"/>
              </a:rPr>
              <a:t>∪</a:t>
            </a:r>
            <a:r>
              <a:rPr lang="zh-CN" altLang="zh-CN" sz="2400" b="1" i="1" kern="100" dirty="0">
                <a:solidFill>
                  <a:schemeClr val="tx1"/>
                </a:solidFill>
                <a:latin typeface="Trebuchet MS" panose="020B0603020202020204" pitchFamily="34" charset="0"/>
                <a:cs typeface="Times New Roman" panose="02020603050405020304" pitchFamily="18" charset="0"/>
              </a:rPr>
              <a:t>A</a:t>
            </a:r>
            <a:r>
              <a:rPr lang="zh-CN" altLang="zh-CN" sz="2400" b="1" kern="100" baseline="30000" dirty="0">
                <a:solidFill>
                  <a:schemeClr val="tx1"/>
                </a:solidFill>
                <a:latin typeface="Trebuchet MS" panose="020B0603020202020204" pitchFamily="34" charset="0"/>
                <a:cs typeface="Times New Roman" panose="02020603050405020304" pitchFamily="18" charset="0"/>
              </a:rPr>
              <a:t>c</a:t>
            </a:r>
            <a:r>
              <a:rPr lang="zh-CN" altLang="zh-CN" sz="2400" b="1" kern="100" dirty="0">
                <a:solidFill>
                  <a:schemeClr val="tx1"/>
                </a:solidFill>
                <a:latin typeface="Trebuchet MS" panose="020B0603020202020204" pitchFamily="34" charset="0"/>
                <a:cs typeface="Times New Roman" panose="02020603050405020304" pitchFamily="18" charset="0"/>
              </a:rPr>
              <a:t>=</a:t>
            </a:r>
            <a:r>
              <a:rPr lang="zh-CN" altLang="zh-CN" sz="2400" b="1" i="1" kern="100" dirty="0">
                <a:solidFill>
                  <a:schemeClr val="tx1"/>
                </a:solidFill>
                <a:latin typeface="Trebuchet MS" panose="020B0603020202020204" pitchFamily="34" charset="0"/>
                <a:cs typeface="Times New Roman" panose="02020603050405020304" pitchFamily="18" charset="0"/>
              </a:rPr>
              <a:t>B</a:t>
            </a:r>
            <a:r>
              <a:rPr lang="en-US" altLang="zh-CN" sz="2400" dirty="0">
                <a:solidFill>
                  <a:schemeClr val="tx1"/>
                </a:solidFill>
                <a:latin typeface="Trebuchet MS" panose="020B0603020202020204" pitchFamily="34" charset="0"/>
              </a:rPr>
              <a:t>(the top element), satisfying the definition of a complemented lattice.</a:t>
            </a:r>
            <a:endPar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endParaRPr>
          </a:p>
          <a:p>
            <a:pPr marL="447675" indent="-447675" eaLnBrk="1" hangingPunct="1">
              <a:lnSpc>
                <a:spcPct val="120000"/>
              </a:lnSpc>
            </a:pPr>
            <a:r>
              <a:rPr lang="en-US" altLang="zh-CN" sz="2400" b="1" dirty="0">
                <a:solidFill>
                  <a:srgbClr val="0B61FF"/>
                </a:solidFill>
                <a:latin typeface="Trebuchet MS" panose="020B0603020202020204" pitchFamily="34" charset="0"/>
                <a:ea typeface="宋体" panose="02010600030101010101" pitchFamily="2" charset="-122"/>
                <a:sym typeface="Symbol" panose="05050102010706020507" pitchFamily="18" charset="2"/>
              </a:rPr>
              <a:t>(4)</a:t>
            </a:r>
            <a:r>
              <a:rPr lang="en-US" altLang="zh-CN" sz="2400" b="1" dirty="0">
                <a:solidFill>
                  <a:srgbClr val="0B61FF"/>
                </a:solidFill>
                <a:latin typeface="Trebuchet MS" panose="020B0603020202020204" pitchFamily="34" charset="0"/>
              </a:rPr>
              <a:t> </a:t>
            </a:r>
            <a:r>
              <a:rPr lang="en-US" altLang="zh-CN" sz="2400" dirty="0">
                <a:solidFill>
                  <a:schemeClr val="tx1"/>
                </a:solidFill>
                <a:latin typeface="Trebuchet MS" panose="020B0603020202020204" pitchFamily="34" charset="0"/>
              </a:rPr>
              <a:t>To determine whether </a:t>
            </a:r>
            <a:r>
              <a:rPr lang="en-US" altLang="zh-CN" sz="2400" b="1" i="1" dirty="0">
                <a:solidFill>
                  <a:srgbClr val="FF0000"/>
                </a:solidFill>
                <a:latin typeface="Trebuchet MS" panose="020B0603020202020204" pitchFamily="34" charset="0"/>
                <a:sym typeface="Symbol" panose="05050102010706020507" pitchFamily="18" charset="2"/>
              </a:rPr>
              <a:t>P</a:t>
            </a:r>
            <a:r>
              <a:rPr lang="en-US" altLang="zh-CN" sz="2400" b="1" dirty="0">
                <a:solidFill>
                  <a:srgbClr val="FF0000"/>
                </a:solidFill>
                <a:latin typeface="Trebuchet MS" panose="020B0603020202020204" pitchFamily="34" charset="0"/>
                <a:sym typeface="Symbol" panose="05050102010706020507" pitchFamily="18" charset="2"/>
              </a:rPr>
              <a:t>(</a:t>
            </a:r>
            <a:r>
              <a:rPr lang="en-US" altLang="zh-CN" sz="2400" b="1" i="1" dirty="0">
                <a:solidFill>
                  <a:srgbClr val="FF0000"/>
                </a:solidFill>
                <a:latin typeface="Trebuchet MS" panose="020B0603020202020204" pitchFamily="34" charset="0"/>
                <a:sym typeface="Symbol" panose="05050102010706020507" pitchFamily="18" charset="2"/>
              </a:rPr>
              <a:t>B</a:t>
            </a:r>
            <a:r>
              <a:rPr lang="en-US" altLang="zh-CN" sz="2400" b="1" dirty="0">
                <a:solidFill>
                  <a:srgbClr val="FF0000"/>
                </a:solidFill>
                <a:latin typeface="Trebuchet MS" panose="020B0603020202020204" pitchFamily="34" charset="0"/>
                <a:sym typeface="Symbol" panose="05050102010706020507" pitchFamily="18" charset="2"/>
              </a:rPr>
              <a:t>)</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is a </a:t>
            </a:r>
            <a:r>
              <a:rPr lang="en-US" altLang="zh-CN" sz="2400" b="1" i="1" dirty="0">
                <a:solidFill>
                  <a:srgbClr val="0B61FF"/>
                </a:solidFill>
                <a:latin typeface="Trebuchet MS" panose="020B0603020202020204" pitchFamily="34" charset="0"/>
              </a:rPr>
              <a:t>Boolean lattice</a:t>
            </a:r>
            <a:r>
              <a:rPr lang="en-US" altLang="zh-CN" sz="2400" dirty="0">
                <a:solidFill>
                  <a:schemeClr val="tx1"/>
                </a:solidFill>
                <a:latin typeface="Trebuchet MS" panose="020B0603020202020204" pitchFamily="34" charset="0"/>
              </a:rPr>
              <a:t>: Since </a:t>
            </a:r>
            <a:r>
              <a:rPr lang="en-US" altLang="zh-CN" sz="2400" b="1" i="1" dirty="0">
                <a:solidFill>
                  <a:schemeClr val="tx1"/>
                </a:solidFill>
                <a:latin typeface="Trebuchet MS" panose="020B0603020202020204" pitchFamily="34" charset="0"/>
                <a:sym typeface="Symbol" panose="05050102010706020507" pitchFamily="18" charset="2"/>
              </a:rPr>
              <a:t>P</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B</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is already known to be a </a:t>
            </a:r>
            <a:r>
              <a:rPr lang="en-US" altLang="zh-CN" sz="2400" b="1" dirty="0">
                <a:solidFill>
                  <a:schemeClr val="tx1"/>
                </a:solidFill>
                <a:latin typeface="Trebuchet MS" panose="020B0603020202020204" pitchFamily="34" charset="0"/>
              </a:rPr>
              <a:t>lattice</a:t>
            </a:r>
            <a:r>
              <a:rPr lang="en-US" altLang="zh-CN" sz="2400" dirty="0">
                <a:solidFill>
                  <a:schemeClr val="tx1"/>
                </a:solidFill>
                <a:latin typeface="Trebuchet MS" panose="020B0603020202020204" pitchFamily="34" charset="0"/>
              </a:rPr>
              <a:t>, a </a:t>
            </a:r>
            <a:r>
              <a:rPr lang="en-US" altLang="zh-CN" sz="2400" b="1" dirty="0">
                <a:solidFill>
                  <a:schemeClr val="tx1"/>
                </a:solidFill>
                <a:latin typeface="Trebuchet MS" panose="020B0603020202020204" pitchFamily="34" charset="0"/>
              </a:rPr>
              <a:t>distributive lattice</a:t>
            </a:r>
            <a:r>
              <a:rPr lang="en-US" altLang="zh-CN" sz="2400" dirty="0">
                <a:solidFill>
                  <a:schemeClr val="tx1"/>
                </a:solidFill>
                <a:latin typeface="Trebuchet MS" panose="020B0603020202020204" pitchFamily="34" charset="0"/>
              </a:rPr>
              <a:t>, and a </a:t>
            </a:r>
            <a:r>
              <a:rPr lang="en-US" altLang="zh-CN" sz="2400" b="1" dirty="0">
                <a:solidFill>
                  <a:schemeClr val="tx1"/>
                </a:solidFill>
                <a:latin typeface="Trebuchet MS" panose="020B0603020202020204" pitchFamily="34" charset="0"/>
              </a:rPr>
              <a:t>complemented lattice</a:t>
            </a:r>
            <a:r>
              <a:rPr lang="en-US" altLang="zh-CN" sz="2400" dirty="0">
                <a:solidFill>
                  <a:schemeClr val="tx1"/>
                </a:solidFill>
                <a:latin typeface="Trebuchet MS" panose="020B0603020202020204" pitchFamily="34" charset="0"/>
              </a:rPr>
              <a:t>, it follows that the power set lattice </a:t>
            </a:r>
            <a:r>
              <a:rPr lang="en-US" altLang="zh-CN" sz="2400" b="1" i="1" dirty="0">
                <a:solidFill>
                  <a:schemeClr val="tx1"/>
                </a:solidFill>
                <a:latin typeface="Trebuchet MS" panose="020B0603020202020204" pitchFamily="34" charset="0"/>
                <a:sym typeface="Symbol" panose="05050102010706020507" pitchFamily="18" charset="2"/>
              </a:rPr>
              <a:t>P</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B</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is a </a:t>
            </a:r>
            <a:r>
              <a:rPr lang="en-US" altLang="zh-CN" sz="2400" b="1" dirty="0">
                <a:solidFill>
                  <a:schemeClr val="tx1"/>
                </a:solidFill>
                <a:latin typeface="Trebuchet MS" panose="020B0603020202020204" pitchFamily="34" charset="0"/>
              </a:rPr>
              <a:t>Boolean lattice</a:t>
            </a:r>
            <a:r>
              <a:rPr lang="en-US" altLang="zh-CN" sz="2400" dirty="0">
                <a:solidFill>
                  <a:schemeClr val="tx1"/>
                </a:solidFill>
                <a:latin typeface="Trebuchet MS" panose="020B0603020202020204" pitchFamily="34" charset="0"/>
              </a:rPr>
              <a:t> (Boolean algebra).</a:t>
            </a:r>
          </a:p>
          <a:p>
            <a:pPr marL="176213" indent="-176213" eaLnBrk="1" hangingPunct="1">
              <a:lnSpc>
                <a:spcPct val="120000"/>
              </a:lnSpc>
              <a:buClr>
                <a:srgbClr val="0B61FF"/>
              </a:buClr>
              <a:buSzPct val="120000"/>
              <a:buFont typeface="Arial" panose="020B0604020202020204" pitchFamily="34" charset="0"/>
              <a:buChar char="•"/>
            </a:pPr>
            <a:r>
              <a:rPr lang="en-US" altLang="zh-CN" sz="2400" b="1" dirty="0">
                <a:solidFill>
                  <a:schemeClr val="tx1"/>
                </a:solidFill>
                <a:latin typeface="Trebuchet MS" panose="020B0603020202020204" pitchFamily="34" charset="0"/>
              </a:rPr>
              <a:t>Note:</a:t>
            </a:r>
            <a:br>
              <a:rPr lang="en-US" altLang="zh-CN" sz="2400" dirty="0">
                <a:solidFill>
                  <a:schemeClr val="tx1"/>
                </a:solidFill>
                <a:latin typeface="Trebuchet MS" panose="020B0603020202020204" pitchFamily="34" charset="0"/>
              </a:rPr>
            </a:br>
            <a:r>
              <a:rPr lang="en-US" altLang="zh-CN" sz="2400" dirty="0">
                <a:solidFill>
                  <a:schemeClr val="tx1"/>
                </a:solidFill>
                <a:latin typeface="Trebuchet MS" panose="020B0603020202020204" pitchFamily="34" charset="0"/>
              </a:rPr>
              <a:t>The </a:t>
            </a:r>
            <a:r>
              <a:rPr lang="en-US" altLang="zh-CN" sz="2400" b="1" i="1" dirty="0">
                <a:solidFill>
                  <a:srgbClr val="0B61FF"/>
                </a:solidFill>
                <a:latin typeface="Trebuchet MS" panose="020B0603020202020204" pitchFamily="34" charset="0"/>
              </a:rPr>
              <a:t>uniqueness of complements</a:t>
            </a:r>
            <a:r>
              <a:rPr lang="en-US" altLang="zh-CN" sz="2400" i="1" dirty="0">
                <a:solidFill>
                  <a:srgbClr val="0B61FF"/>
                </a:solidFill>
                <a:latin typeface="Trebuchet MS" panose="020B0603020202020204" pitchFamily="34" charset="0"/>
              </a:rPr>
              <a:t> </a:t>
            </a:r>
            <a:r>
              <a:rPr lang="en-US" altLang="zh-CN" sz="2400" dirty="0">
                <a:solidFill>
                  <a:schemeClr val="tx1"/>
                </a:solidFill>
                <a:latin typeface="Trebuchet MS" panose="020B0603020202020204" pitchFamily="34" charset="0"/>
              </a:rPr>
              <a:t>in the Boolean lattice </a:t>
            </a:r>
            <a:r>
              <a:rPr lang="en-US" altLang="zh-CN" sz="2400" b="1" i="1" dirty="0">
                <a:solidFill>
                  <a:schemeClr val="tx1"/>
                </a:solidFill>
                <a:latin typeface="Trebuchet MS" panose="020B0603020202020204" pitchFamily="34" charset="0"/>
                <a:sym typeface="Symbol" panose="05050102010706020507" pitchFamily="18" charset="2"/>
              </a:rPr>
              <a:t>P</a:t>
            </a:r>
            <a:r>
              <a:rPr lang="en-US" altLang="zh-CN" sz="2400" b="1" dirty="0">
                <a:solidFill>
                  <a:schemeClr val="tx1"/>
                </a:solidFill>
                <a:latin typeface="Trebuchet MS" panose="020B0603020202020204" pitchFamily="34" charset="0"/>
                <a:sym typeface="Symbol" panose="05050102010706020507" pitchFamily="18" charset="2"/>
              </a:rPr>
              <a:t>(</a:t>
            </a:r>
            <a:r>
              <a:rPr lang="en-US" altLang="zh-CN" sz="2400" b="1" i="1" dirty="0">
                <a:solidFill>
                  <a:schemeClr val="tx1"/>
                </a:solidFill>
                <a:latin typeface="Trebuchet MS" panose="020B0603020202020204" pitchFamily="34" charset="0"/>
                <a:sym typeface="Symbol" panose="05050102010706020507" pitchFamily="18" charset="2"/>
              </a:rPr>
              <a:t>B</a:t>
            </a:r>
            <a:r>
              <a:rPr lang="en-US" altLang="zh-CN" sz="2400" b="1" dirty="0">
                <a:solidFill>
                  <a:schemeClr val="tx1"/>
                </a:solidFill>
                <a:latin typeface="Trebuchet MS" panose="020B0603020202020204" pitchFamily="34" charset="0"/>
                <a:sym typeface="Symbol" panose="05050102010706020507" pitchFamily="18" charset="2"/>
              </a:rPr>
              <a:t>) </a:t>
            </a:r>
            <a:r>
              <a:rPr lang="en-US" altLang="zh-CN" sz="2400" dirty="0">
                <a:solidFill>
                  <a:schemeClr val="tx1"/>
                </a:solidFill>
                <a:latin typeface="Trebuchet MS" panose="020B0603020202020204" pitchFamily="34" charset="0"/>
              </a:rPr>
              <a:t>can be proven using the properties of Boolean algebra — namely, the </a:t>
            </a:r>
            <a:r>
              <a:rPr lang="en-US" altLang="zh-CN" sz="2400" b="1" dirty="0">
                <a:solidFill>
                  <a:schemeClr val="tx1"/>
                </a:solidFill>
                <a:latin typeface="Trebuchet MS" panose="020B0603020202020204" pitchFamily="34" charset="0"/>
              </a:rPr>
              <a:t>commutative</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associative</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distributive</a:t>
            </a:r>
            <a:r>
              <a:rPr lang="en-US" altLang="zh-CN" sz="2400" dirty="0">
                <a:solidFill>
                  <a:schemeClr val="tx1"/>
                </a:solidFill>
                <a:latin typeface="Trebuchet MS" panose="020B0603020202020204" pitchFamily="34" charset="0"/>
              </a:rPr>
              <a:t> laws.</a:t>
            </a:r>
            <a:endParaRPr lang="en-US" altLang="zh-CN" sz="2400" b="1" dirty="0">
              <a:solidFill>
                <a:schemeClr val="tx1"/>
              </a:solidFill>
              <a:latin typeface="Trebuchet MS" panose="020B0603020202020204" pitchFamily="34" charset="0"/>
              <a:sym typeface="Symbol" panose="05050102010706020507" pitchFamily="18" charset="2"/>
            </a:endParaRPr>
          </a:p>
          <a:p>
            <a:pPr marL="447675" indent="-447675" eaLnBrk="1" hangingPunct="1">
              <a:lnSpc>
                <a:spcPct val="120000"/>
              </a:lnSpc>
            </a:pPr>
            <a:endPar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endParaRPr>
          </a:p>
          <a:p>
            <a:pPr indent="0" eaLnBrk="1" hangingPunct="1">
              <a:lnSpc>
                <a:spcPct val="120000"/>
              </a:lnSpc>
            </a:pPr>
            <a:endParaRPr lang="en-US" altLang="zh-CN" sz="2400" b="1" dirty="0">
              <a:solidFill>
                <a:schemeClr val="tx1"/>
              </a:solidFill>
              <a:latin typeface="Trebuchet MS" panose="020B0603020202020204" pitchFamily="34" charset="0"/>
              <a:ea typeface="+mn-ea"/>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33498973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2" end="2"/>
                                            </p:txEl>
                                          </p:spTgt>
                                        </p:tgtEl>
                                        <p:attrNameLst>
                                          <p:attrName>style.visibility</p:attrName>
                                        </p:attrNameLst>
                                      </p:cBhvr>
                                      <p:to>
                                        <p:strVal val="visible"/>
                                      </p:to>
                                    </p:set>
                                    <p:animEffect transition="in" filter="fade">
                                      <p:cBhvr>
                                        <p:cTn id="14" dur="1000"/>
                                        <p:tgtEl>
                                          <p:spTgt spid="11">
                                            <p:txEl>
                                              <p:pRg st="2" end="2"/>
                                            </p:txEl>
                                          </p:spTgt>
                                        </p:tgtEl>
                                      </p:cBhvr>
                                    </p:animEffect>
                                    <p:anim calcmode="lin" valueType="num">
                                      <p:cBhvr>
                                        <p:cTn id="15"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9.3.4 Lattices and Boolean Algebras</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Structure Theorem for Finite Boolean Algebras</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6">
            <a:extLst>
              <a:ext uri="{FF2B5EF4-FFF2-40B4-BE49-F238E27FC236}">
                <a16:creationId xmlns:a16="http://schemas.microsoft.com/office/drawing/2014/main" id="{71CACC2B-898A-4F6A-9B34-12882EA7DECE}"/>
              </a:ext>
            </a:extLst>
          </p:cNvPr>
          <p:cNvSpPr>
            <a:spLocks noChangeArrowheads="1"/>
          </p:cNvSpPr>
          <p:nvPr/>
        </p:nvSpPr>
        <p:spPr bwMode="auto">
          <a:xfrm>
            <a:off x="6603349" y="3561096"/>
            <a:ext cx="2508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r>
              <a:rPr lang="en-US" altLang="zh-CN" sz="1000">
                <a:solidFill>
                  <a:srgbClr val="000000"/>
                </a:solidFill>
                <a:latin typeface="ˎ̥" charset="0"/>
                <a:ea typeface="宋体" panose="02010600030101010101" pitchFamily="2" charset="-122"/>
              </a:rPr>
              <a:t>.</a:t>
            </a:r>
            <a:r>
              <a:rPr lang="en-US" altLang="zh-CN" sz="1000">
                <a:solidFill>
                  <a:srgbClr val="000000"/>
                </a:solidFill>
                <a:latin typeface="Times New Roman" panose="02020603050405020304" pitchFamily="18" charset="0"/>
                <a:ea typeface="宋体" panose="02010600030101010101" pitchFamily="2" charset="-122"/>
              </a:rPr>
              <a:t> </a:t>
            </a:r>
            <a:endParaRPr lang="en-US" altLang="zh-CN" sz="2400">
              <a:solidFill>
                <a:schemeClr val="tx1"/>
              </a:solidFill>
              <a:latin typeface="Times New Roman" panose="02020603050405020304" pitchFamily="18" charset="0"/>
            </a:endParaRPr>
          </a:p>
        </p:txBody>
      </p:sp>
      <p:sp>
        <p:nvSpPr>
          <p:cNvPr id="11" name="Rectangle 4">
            <a:extLst>
              <a:ext uri="{FF2B5EF4-FFF2-40B4-BE49-F238E27FC236}">
                <a16:creationId xmlns:a16="http://schemas.microsoft.com/office/drawing/2014/main" id="{9C756B2E-37BB-47F4-8F36-083C9996D08B}"/>
              </a:ext>
            </a:extLst>
          </p:cNvPr>
          <p:cNvSpPr>
            <a:spLocks noChangeArrowheads="1"/>
          </p:cNvSpPr>
          <p:nvPr/>
        </p:nvSpPr>
        <p:spPr bwMode="auto">
          <a:xfrm>
            <a:off x="1000125" y="815364"/>
            <a:ext cx="9520390" cy="4950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55600" indent="-355600" eaLnBrk="1" hangingPunct="1">
              <a:lnSpc>
                <a:spcPct val="120000"/>
              </a:lnSpc>
              <a:spcBef>
                <a:spcPts val="600"/>
              </a:spcBef>
              <a:buClr>
                <a:srgbClr val="0B61FF"/>
              </a:buClr>
              <a:buSzPct val="80000"/>
              <a:buFont typeface="Wingdings" panose="05000000000000000000" pitchFamily="2" charset="2"/>
              <a:buChar char="n"/>
              <a:tabLst>
                <a:tab pos="269875" algn="l"/>
              </a:tabLst>
            </a:pPr>
            <a:r>
              <a:rPr lang="en-US" altLang="zh-CN" sz="2400" b="1" dirty="0">
                <a:solidFill>
                  <a:schemeClr val="tx1"/>
                </a:solidFill>
                <a:latin typeface="Trebuchet MS" panose="020B0603020202020204" pitchFamily="34" charset="0"/>
              </a:rPr>
              <a:t>Theorem 9.12: </a:t>
            </a:r>
            <a:r>
              <a:rPr lang="en-US" altLang="zh-CN" sz="2400" dirty="0">
                <a:solidFill>
                  <a:schemeClr val="tx1"/>
                </a:solidFill>
                <a:latin typeface="Trebuchet MS" panose="020B0603020202020204" pitchFamily="34" charset="0"/>
              </a:rPr>
              <a:t>Let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dirty="0">
                <a:solidFill>
                  <a:schemeClr val="tx1"/>
                </a:solidFill>
                <a:latin typeface="Trebuchet MS" panose="020B0603020202020204" pitchFamily="34" charset="0"/>
              </a:rPr>
              <a:t> be a </a:t>
            </a:r>
            <a:r>
              <a:rPr lang="en-US" altLang="zh-CN" sz="2400" b="1" dirty="0">
                <a:solidFill>
                  <a:schemeClr val="tx1"/>
                </a:solidFill>
                <a:latin typeface="Trebuchet MS" panose="020B0603020202020204" pitchFamily="34" charset="0"/>
              </a:rPr>
              <a:t>finite Boolean algebra</a:t>
            </a:r>
            <a:r>
              <a:rPr lang="en-US" altLang="zh-CN" sz="2400" dirty="0">
                <a:solidFill>
                  <a:schemeClr val="tx1"/>
                </a:solidFill>
                <a:latin typeface="Trebuchet MS" panose="020B0603020202020204" pitchFamily="34" charset="0"/>
              </a:rPr>
              <a:t>. Then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dirty="0">
                <a:solidFill>
                  <a:schemeClr val="tx1"/>
                </a:solidFill>
                <a:latin typeface="Trebuchet MS" panose="020B0603020202020204" pitchFamily="34" charset="0"/>
              </a:rPr>
              <a:t> contains </a:t>
            </a:r>
            <a:r>
              <a:rPr lang="en-US" altLang="zh-CN" sz="2400" b="1" dirty="0">
                <a:solidFill>
                  <a:schemeClr val="tx1"/>
                </a:solidFill>
                <a:latin typeface="Trebuchet MS" panose="020B0603020202020204" pitchFamily="34" charset="0"/>
                <a:cs typeface="Times New Roman" panose="02020603050405020304" pitchFamily="18" charset="0"/>
              </a:rPr>
              <a:t>2</a:t>
            </a:r>
            <a:r>
              <a:rPr lang="en-US" altLang="zh-CN" sz="2400" b="1" i="1" baseline="30000" dirty="0">
                <a:solidFill>
                  <a:schemeClr val="tx1"/>
                </a:solidFill>
                <a:latin typeface="Trebuchet MS" panose="020B0603020202020204" pitchFamily="34" charset="0"/>
                <a:cs typeface="Times New Roman" panose="02020603050405020304" pitchFamily="18" charset="0"/>
              </a:rPr>
              <a:t>n</a:t>
            </a:r>
            <a:r>
              <a:rPr lang="en-US" altLang="zh-CN" sz="2400" dirty="0">
                <a:solidFill>
                  <a:schemeClr val="tx1"/>
                </a:solidFill>
                <a:latin typeface="Trebuchet MS" panose="020B0603020202020204" pitchFamily="34" charset="0"/>
              </a:rPr>
              <a:t> elements for some </a:t>
            </a:r>
            <a:r>
              <a:rPr lang="en-US" altLang="zh-CN" sz="2400" b="1" i="1" dirty="0" err="1">
                <a:solidFill>
                  <a:schemeClr val="tx1"/>
                </a:solidFill>
                <a:latin typeface="Trebuchet MS" panose="020B0603020202020204" pitchFamily="34" charset="0"/>
                <a:cs typeface="Times New Roman" panose="02020603050405020304" pitchFamily="18" charset="0"/>
              </a:rPr>
              <a:t>n</a:t>
            </a:r>
            <a:r>
              <a:rPr lang="en-US" altLang="zh-CN" sz="2400" b="1" dirty="0" err="1">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solidFill>
                  <a:schemeClr val="tx1"/>
                </a:solidFill>
                <a:latin typeface="Trebuchet MS" panose="020B0603020202020204" pitchFamily="34" charset="0"/>
                <a:cs typeface="Times New Roman" panose="02020603050405020304" pitchFamily="18" charset="0"/>
                <a:sym typeface="Symbol" panose="05050102010706020507" pitchFamily="18" charset="2"/>
              </a:rPr>
              <a:t>N</a:t>
            </a:r>
            <a:r>
              <a:rPr lang="en-US" altLang="zh-CN" sz="2400" dirty="0">
                <a:solidFill>
                  <a:schemeClr val="tx1"/>
                </a:solidFill>
                <a:latin typeface="Trebuchet MS" panose="020B0603020202020204" pitchFamily="34" charset="0"/>
              </a:rPr>
              <a:t>, and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dirty="0">
                <a:solidFill>
                  <a:schemeClr val="tx1"/>
                </a:solidFill>
                <a:latin typeface="Trebuchet MS" panose="020B0603020202020204" pitchFamily="34" charset="0"/>
              </a:rPr>
              <a:t> is </a:t>
            </a:r>
            <a:r>
              <a:rPr lang="en-US" altLang="zh-CN" sz="2400" b="1" i="1" dirty="0">
                <a:solidFill>
                  <a:srgbClr val="0B61FF"/>
                </a:solidFill>
                <a:latin typeface="Trebuchet MS" panose="020B0603020202020204" pitchFamily="34" charset="0"/>
              </a:rPr>
              <a:t>isomorphic to the Boolean algebra</a:t>
            </a:r>
            <a:r>
              <a:rPr lang="en-US" altLang="zh-CN" sz="2400" dirty="0">
                <a:solidFill>
                  <a:schemeClr val="tx1"/>
                </a:solidFill>
                <a:latin typeface="Trebuchet MS" panose="020B0603020202020204" pitchFamily="34" charset="0"/>
              </a:rPr>
              <a:t> </a:t>
            </a:r>
            <a:r>
              <a:rPr lang="en-US" altLang="zh-CN" sz="2400" b="1" dirty="0">
                <a:solidFill>
                  <a:srgbClr val="FF0000"/>
                </a:solidFill>
                <a:latin typeface="Trebuchet MS" panose="020B0603020202020204" pitchFamily="34" charset="0"/>
                <a:ea typeface="+mn-ea"/>
                <a:cs typeface="Times New Roman" panose="02020603050405020304" pitchFamily="18" charset="0"/>
              </a:rPr>
              <a:t>&lt;</a:t>
            </a:r>
            <a:r>
              <a:rPr lang="en-US" altLang="zh-CN" sz="2400" b="1" i="1" dirty="0">
                <a:solidFill>
                  <a:srgbClr val="FF0000"/>
                </a:solidFill>
                <a:latin typeface="Trebuchet MS" panose="020B0603020202020204" pitchFamily="34" charset="0"/>
                <a:ea typeface="+mn-ea"/>
                <a:cs typeface="Times New Roman" panose="02020603050405020304" pitchFamily="18" charset="0"/>
              </a:rPr>
              <a:t>P</a:t>
            </a:r>
            <a:r>
              <a:rPr lang="en-US" altLang="zh-CN" sz="2400" b="1" dirty="0">
                <a:solidFill>
                  <a:srgbClr val="FF0000"/>
                </a:solidFill>
                <a:latin typeface="Trebuchet MS" panose="020B0603020202020204" pitchFamily="34" charset="0"/>
                <a:ea typeface="+mn-ea"/>
                <a:cs typeface="Times New Roman" panose="02020603050405020304" pitchFamily="18" charset="0"/>
              </a:rPr>
              <a:t>(</a:t>
            </a:r>
            <a:r>
              <a:rPr lang="en-US" altLang="zh-CN" sz="2400" b="1" i="1" dirty="0">
                <a:solidFill>
                  <a:srgbClr val="FF0000"/>
                </a:solidFill>
                <a:latin typeface="Trebuchet MS" panose="020B0603020202020204" pitchFamily="34" charset="0"/>
                <a:ea typeface="+mn-ea"/>
                <a:cs typeface="Times New Roman" panose="02020603050405020304" pitchFamily="18" charset="0"/>
              </a:rPr>
              <a:t>S</a:t>
            </a:r>
            <a:r>
              <a:rPr lang="en-US" altLang="zh-CN" sz="2400" b="1" dirty="0">
                <a:solidFill>
                  <a:srgbClr val="FF0000"/>
                </a:solidFill>
                <a:latin typeface="Trebuchet MS" panose="020B0603020202020204" pitchFamily="34" charset="0"/>
                <a:ea typeface="+mn-ea"/>
                <a:cs typeface="Times New Roman" panose="02020603050405020304" pitchFamily="18" charset="0"/>
              </a:rPr>
              <a:t>),</a:t>
            </a:r>
            <a:r>
              <a:rPr lang="en-US" altLang="zh-CN" sz="2400" b="1" dirty="0">
                <a:solidFill>
                  <a:srgbClr val="FF0000"/>
                </a:solidFill>
                <a:latin typeface="Trebuchet MS" panose="020B0603020202020204" pitchFamily="34" charset="0"/>
                <a:ea typeface="+mn-ea"/>
                <a:cs typeface="Times New Roman" panose="02020603050405020304" pitchFamily="18" charset="0"/>
                <a:sym typeface="Symbol" panose="05050102010706020507" pitchFamily="18" charset="2"/>
              </a:rPr>
              <a:t>,,,,</a:t>
            </a:r>
            <a:r>
              <a:rPr lang="en-US" altLang="zh-CN" sz="2400" b="1" i="1" dirty="0">
                <a:solidFill>
                  <a:srgbClr val="FF0000"/>
                </a:solidFill>
                <a:latin typeface="Trebuchet MS" panose="020B0603020202020204" pitchFamily="34" charset="0"/>
                <a:ea typeface="+mn-ea"/>
                <a:cs typeface="Times New Roman" panose="02020603050405020304" pitchFamily="18" charset="0"/>
                <a:sym typeface="Symbol" panose="05050102010706020507" pitchFamily="18" charset="2"/>
              </a:rPr>
              <a:t>S</a:t>
            </a:r>
            <a:r>
              <a:rPr lang="en-US" altLang="zh-CN" sz="2400" b="1" dirty="0">
                <a:solidFill>
                  <a:srgbClr val="FF0000"/>
                </a:solidFill>
                <a:latin typeface="Trebuchet MS" panose="020B0603020202020204" pitchFamily="34" charset="0"/>
                <a:ea typeface="+mn-ea"/>
                <a:cs typeface="Times New Roman" panose="02020603050405020304" pitchFamily="18" charset="0"/>
                <a:sym typeface="Symbol" panose="05050102010706020507" pitchFamily="18" charset="2"/>
              </a:rPr>
              <a:t>&gt;</a:t>
            </a:r>
            <a:r>
              <a:rPr lang="en-US" altLang="zh-CN" sz="2400" b="1" dirty="0">
                <a:solidFill>
                  <a:schemeClr val="tx1"/>
                </a:solidFill>
                <a:latin typeface="Trebuchet MS" panose="020B0603020202020204" pitchFamily="34" charset="0"/>
                <a:ea typeface="+mn-ea"/>
                <a:cs typeface="Times New Roman" panose="02020603050405020304" pitchFamily="18" charset="0"/>
                <a:sym typeface="Symbol" panose="05050102010706020507" pitchFamily="18" charset="2"/>
              </a:rPr>
              <a:t>,</a:t>
            </a:r>
            <a:r>
              <a:rPr lang="en-US" altLang="zh-CN" sz="2400" b="1" dirty="0">
                <a:solidFill>
                  <a:srgbClr val="FF0000"/>
                </a:solidFill>
                <a:latin typeface="Trebuchet MS" panose="020B0603020202020204" pitchFamily="34" charset="0"/>
                <a:ea typeface="+mn-ea"/>
                <a:cs typeface="Times New Roman" panose="02020603050405020304" pitchFamily="18" charset="0"/>
                <a:sym typeface="Symbol" panose="05050102010706020507" pitchFamily="18" charset="2"/>
              </a:rPr>
              <a:t> </a:t>
            </a:r>
            <a:r>
              <a:rPr lang="en-US" altLang="zh-CN" sz="2400" dirty="0">
                <a:solidFill>
                  <a:schemeClr val="tx1"/>
                </a:solidFill>
                <a:latin typeface="Trebuchet MS" panose="020B0603020202020204" pitchFamily="34" charset="0"/>
              </a:rPr>
              <a:t>where </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S</a:t>
            </a:r>
            <a:r>
              <a:rPr lang="en-US" altLang="zh-CN" sz="2400" dirty="0">
                <a:solidFill>
                  <a:schemeClr val="tx1"/>
                </a:solidFill>
                <a:latin typeface="Trebuchet MS" panose="020B0603020202020204" pitchFamily="34" charset="0"/>
              </a:rPr>
              <a:t> is a set with </a:t>
            </a:r>
            <a:r>
              <a:rPr lang="en-US" altLang="zh-CN" sz="2400" b="1" i="1" dirty="0">
                <a:solidFill>
                  <a:schemeClr val="tx1"/>
                </a:solidFill>
                <a:latin typeface="Trebuchet MS" panose="020B0603020202020204" pitchFamily="34" charset="0"/>
                <a:cs typeface="Times New Roman" panose="02020603050405020304" pitchFamily="18" charset="0"/>
              </a:rPr>
              <a:t>n</a:t>
            </a:r>
            <a:r>
              <a:rPr lang="en-US" altLang="zh-CN" sz="2400" dirty="0">
                <a:solidFill>
                  <a:schemeClr val="tx1"/>
                </a:solidFill>
                <a:latin typeface="Trebuchet MS" panose="020B0603020202020204" pitchFamily="34" charset="0"/>
              </a:rPr>
              <a:t> elements.</a:t>
            </a:r>
          </a:p>
          <a:p>
            <a:pPr marL="269875" indent="-269875" eaLnBrk="1" hangingPunct="1">
              <a:lnSpc>
                <a:spcPct val="120000"/>
              </a:lnSpc>
              <a:spcBef>
                <a:spcPts val="600"/>
              </a:spcBef>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Note: </a:t>
            </a:r>
          </a:p>
          <a:p>
            <a:pPr marL="539750" indent="-357188" eaLnBrk="1" hangingPunct="1">
              <a:lnSpc>
                <a:spcPct val="120000"/>
              </a:lnSpc>
              <a:spcBef>
                <a:spcPts val="600"/>
              </a:spcBef>
              <a:buClr>
                <a:srgbClr val="0B61FF"/>
              </a:buClr>
              <a:buSzPct val="80000"/>
            </a:pPr>
            <a:r>
              <a:rPr lang="en-US" altLang="zh-CN" sz="2400" b="1" dirty="0">
                <a:solidFill>
                  <a:srgbClr val="0B61FF"/>
                </a:solidFill>
                <a:latin typeface="宋体" panose="02010600030101010101" pitchFamily="2" charset="-122"/>
                <a:ea typeface="宋体" panose="02010600030101010101" pitchFamily="2" charset="-122"/>
              </a:rPr>
              <a:t>① </a:t>
            </a:r>
            <a:r>
              <a:rPr lang="en-US" altLang="zh-CN" sz="2400" dirty="0">
                <a:solidFill>
                  <a:schemeClr val="tx1"/>
                </a:solidFill>
                <a:latin typeface="Trebuchet MS" panose="020B0603020202020204" pitchFamily="34" charset="0"/>
              </a:rPr>
              <a:t>An </a:t>
            </a:r>
            <a:r>
              <a:rPr lang="en-US" altLang="zh-CN" sz="2400" b="1" i="1" dirty="0">
                <a:solidFill>
                  <a:srgbClr val="0B61FF"/>
                </a:solidFill>
                <a:latin typeface="Trebuchet MS" panose="020B0603020202020204" pitchFamily="34" charset="0"/>
              </a:rPr>
              <a:t>isomorphism</a:t>
            </a:r>
            <a:r>
              <a:rPr lang="en-US" altLang="zh-CN" sz="2400" dirty="0">
                <a:solidFill>
                  <a:schemeClr val="tx1"/>
                </a:solidFill>
                <a:latin typeface="Trebuchet MS" panose="020B0603020202020204" pitchFamily="34" charset="0"/>
              </a:rPr>
              <a:t> between two Boolean algebras </a:t>
            </a:r>
            <a:r>
              <a:rPr lang="en-US" altLang="zh-CN" sz="2400" b="1" i="1" dirty="0">
                <a:solidFill>
                  <a:srgbClr val="0B61FF"/>
                </a:solidFill>
                <a:latin typeface="Trebuchet MS" panose="020B0603020202020204" pitchFamily="34" charset="0"/>
              </a:rPr>
              <a:t>requires</a:t>
            </a:r>
            <a:r>
              <a:rPr lang="en-US" altLang="zh-CN" sz="2400" dirty="0">
                <a:solidFill>
                  <a:schemeClr val="tx1"/>
                </a:solidFill>
                <a:latin typeface="Trebuchet MS" panose="020B0603020202020204" pitchFamily="34" charset="0"/>
              </a:rPr>
              <a:t> a </a:t>
            </a:r>
            <a:r>
              <a:rPr lang="en-US" altLang="zh-CN" sz="2400" b="1" dirty="0">
                <a:solidFill>
                  <a:schemeClr val="tx1"/>
                </a:solidFill>
                <a:latin typeface="Trebuchet MS" panose="020B0603020202020204" pitchFamily="34" charset="0"/>
              </a:rPr>
              <a:t>bijection</a:t>
            </a:r>
            <a:r>
              <a:rPr lang="en-US" altLang="zh-CN" sz="2400" dirty="0">
                <a:solidFill>
                  <a:schemeClr val="tx1"/>
                </a:solidFill>
                <a:latin typeface="Trebuchet MS" panose="020B0603020202020204" pitchFamily="34" charset="0"/>
              </a:rPr>
              <a:t> that preserves </a:t>
            </a:r>
            <a:r>
              <a:rPr lang="en-US" altLang="zh-CN" sz="2400" b="1" dirty="0">
                <a:solidFill>
                  <a:schemeClr val="tx1"/>
                </a:solidFill>
                <a:latin typeface="Trebuchet MS" panose="020B0603020202020204" pitchFamily="34" charset="0"/>
              </a:rPr>
              <a:t>meet</a:t>
            </a:r>
            <a:r>
              <a:rPr lang="en-US" altLang="zh-CN" sz="2400" dirty="0">
                <a:solidFill>
                  <a:schemeClr val="tx1"/>
                </a:solidFill>
                <a:latin typeface="Trebuchet MS" panose="020B0603020202020204" pitchFamily="34" charset="0"/>
              </a:rPr>
              <a:t> (∧), </a:t>
            </a:r>
            <a:r>
              <a:rPr lang="en-US" altLang="zh-CN" sz="2400" b="1" dirty="0">
                <a:solidFill>
                  <a:schemeClr val="tx1"/>
                </a:solidFill>
                <a:latin typeface="Trebuchet MS" panose="020B0603020202020204" pitchFamily="34" charset="0"/>
              </a:rPr>
              <a:t>join</a:t>
            </a:r>
            <a:r>
              <a:rPr lang="en-US" altLang="zh-CN" sz="2400" dirty="0">
                <a:solidFill>
                  <a:schemeClr val="tx1"/>
                </a:solidFill>
                <a:latin typeface="Trebuchet MS" panose="020B0603020202020204" pitchFamily="34" charset="0"/>
              </a:rPr>
              <a:t> (∨), and </a:t>
            </a:r>
            <a:r>
              <a:rPr lang="en-US" altLang="zh-CN" sz="2400" b="1" dirty="0">
                <a:solidFill>
                  <a:schemeClr val="tx1"/>
                </a:solidFill>
                <a:latin typeface="Trebuchet MS" panose="020B0603020202020204" pitchFamily="34" charset="0"/>
              </a:rPr>
              <a:t>complement</a:t>
            </a:r>
            <a:r>
              <a:rPr lang="en-US" altLang="zh-CN" sz="2400" dirty="0">
                <a:solidFill>
                  <a:schemeClr val="tx1"/>
                </a:solidFill>
                <a:latin typeface="Trebuchet MS" panose="020B0603020202020204" pitchFamily="34" charset="0"/>
              </a:rPr>
              <a:t> operations, as well as the </a:t>
            </a:r>
            <a:r>
              <a:rPr lang="en-US" altLang="zh-CN" sz="2400" b="1" dirty="0">
                <a:solidFill>
                  <a:schemeClr val="tx1"/>
                </a:solidFill>
                <a:latin typeface="Trebuchet MS" panose="020B0603020202020204" pitchFamily="34" charset="0"/>
              </a:rPr>
              <a:t>zero</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unit</a:t>
            </a:r>
            <a:r>
              <a:rPr lang="en-US" altLang="zh-CN" sz="2400" dirty="0">
                <a:solidFill>
                  <a:schemeClr val="tx1"/>
                </a:solidFill>
                <a:latin typeface="Trebuchet MS" panose="020B0603020202020204" pitchFamily="34" charset="0"/>
              </a:rPr>
              <a:t> elements.</a:t>
            </a:r>
          </a:p>
          <a:p>
            <a:pPr marL="539750" indent="-357188" eaLnBrk="1" hangingPunct="1">
              <a:lnSpc>
                <a:spcPct val="120000"/>
              </a:lnSpc>
              <a:spcBef>
                <a:spcPts val="600"/>
              </a:spcBef>
              <a:buClr>
                <a:srgbClr val="0B61FF"/>
              </a:buClr>
              <a:buSzPct val="80000"/>
            </a:pPr>
            <a:r>
              <a:rPr lang="en-US" altLang="zh-CN" sz="2400" b="1" dirty="0">
                <a:solidFill>
                  <a:srgbClr val="0B61FF"/>
                </a:solidFill>
                <a:latin typeface="宋体" panose="02010600030101010101" pitchFamily="2" charset="-122"/>
                <a:ea typeface="宋体" panose="02010600030101010101" pitchFamily="2" charset="-122"/>
              </a:rPr>
              <a:t>② </a:t>
            </a:r>
            <a:r>
              <a:rPr lang="en-US" altLang="zh-CN" sz="2400" dirty="0">
                <a:solidFill>
                  <a:schemeClr val="tx1"/>
                </a:solidFill>
                <a:latin typeface="Trebuchet MS" panose="020B0603020202020204" pitchFamily="34" charset="0"/>
              </a:rPr>
              <a:t>Up to isomorphism, there is </a:t>
            </a:r>
            <a:r>
              <a:rPr lang="en-US" altLang="zh-CN" sz="2400" i="1" dirty="0">
                <a:solidFill>
                  <a:srgbClr val="0B61FF"/>
                </a:solidFill>
                <a:latin typeface="Trebuchet MS" panose="020B0603020202020204" pitchFamily="34" charset="0"/>
              </a:rPr>
              <a:t>only one Boolean algebra </a:t>
            </a:r>
            <a:r>
              <a:rPr lang="en-US" altLang="zh-CN" sz="2400" dirty="0">
                <a:solidFill>
                  <a:schemeClr val="tx1"/>
                </a:solidFill>
                <a:latin typeface="Trebuchet MS" panose="020B0603020202020204" pitchFamily="34" charset="0"/>
              </a:rPr>
              <a:t>with </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i="1" baseline="30000"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30000"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solidFill>
                  <a:schemeClr val="tx1"/>
                </a:solidFill>
                <a:latin typeface="Trebuchet MS" panose="020B0603020202020204" pitchFamily="34" charset="0"/>
              </a:rPr>
              <a:t>elements.</a:t>
            </a:r>
            <a:endParaRPr lang="en-US" altLang="zh-CN" sz="2400" b="1" dirty="0">
              <a:solidFill>
                <a:schemeClr val="tx1"/>
              </a:solidFill>
              <a:latin typeface="Trebuchet MS" panose="020B0603020202020204" pitchFamily="34" charset="0"/>
              <a:ea typeface="+mn-ea"/>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3482924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1000"/>
                                        <p:tgtEl>
                                          <p:spTgt spid="11">
                                            <p:txEl>
                                              <p:pRg st="2" end="2"/>
                                            </p:txEl>
                                          </p:spTgt>
                                        </p:tgtEl>
                                      </p:cBhvr>
                                    </p:animEffect>
                                    <p:anim calcmode="lin" valueType="num">
                                      <p:cBhvr>
                                        <p:cTn id="13"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Effect transition="in" filter="fade">
                                      <p:cBhvr>
                                        <p:cTn id="19" dur="1000"/>
                                        <p:tgtEl>
                                          <p:spTgt spid="11">
                                            <p:txEl>
                                              <p:pRg st="3" end="3"/>
                                            </p:txEl>
                                          </p:spTgt>
                                        </p:tgtEl>
                                      </p:cBhvr>
                                    </p:animEffect>
                                    <p:anim calcmode="lin" valueType="num">
                                      <p:cBhvr>
                                        <p:cTn id="20"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9.3.4 Lattices and Boolean Algebras</a:t>
            </a:r>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Structure Theorem for Finite Boolean Algebras</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6">
            <a:extLst>
              <a:ext uri="{FF2B5EF4-FFF2-40B4-BE49-F238E27FC236}">
                <a16:creationId xmlns:a16="http://schemas.microsoft.com/office/drawing/2014/main" id="{71CACC2B-898A-4F6A-9B34-12882EA7DECE}"/>
              </a:ext>
            </a:extLst>
          </p:cNvPr>
          <p:cNvSpPr>
            <a:spLocks noChangeArrowheads="1"/>
          </p:cNvSpPr>
          <p:nvPr/>
        </p:nvSpPr>
        <p:spPr bwMode="auto">
          <a:xfrm>
            <a:off x="6603349" y="3561096"/>
            <a:ext cx="2508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r>
              <a:rPr lang="en-US" altLang="zh-CN" sz="1000">
                <a:solidFill>
                  <a:srgbClr val="000000"/>
                </a:solidFill>
                <a:latin typeface="ˎ̥" charset="0"/>
                <a:ea typeface="宋体" panose="02010600030101010101" pitchFamily="2" charset="-122"/>
              </a:rPr>
              <a:t>.</a:t>
            </a:r>
            <a:r>
              <a:rPr lang="en-US" altLang="zh-CN" sz="1000">
                <a:solidFill>
                  <a:srgbClr val="000000"/>
                </a:solidFill>
                <a:latin typeface="Times New Roman" panose="02020603050405020304" pitchFamily="18" charset="0"/>
                <a:ea typeface="宋体" panose="02010600030101010101" pitchFamily="2" charset="-122"/>
              </a:rPr>
              <a:t> </a:t>
            </a:r>
            <a:endParaRPr lang="en-US" altLang="zh-CN" sz="2400">
              <a:solidFill>
                <a:schemeClr val="tx1"/>
              </a:solidFill>
              <a:latin typeface="Times New Roman" panose="02020603050405020304" pitchFamily="18" charset="0"/>
            </a:endParaRPr>
          </a:p>
        </p:txBody>
      </p:sp>
      <p:sp>
        <p:nvSpPr>
          <p:cNvPr id="11" name="Rectangle 4">
            <a:extLst>
              <a:ext uri="{FF2B5EF4-FFF2-40B4-BE49-F238E27FC236}">
                <a16:creationId xmlns:a16="http://schemas.microsoft.com/office/drawing/2014/main" id="{9C756B2E-37BB-47F4-8F36-083C9996D08B}"/>
              </a:ext>
            </a:extLst>
          </p:cNvPr>
          <p:cNvSpPr>
            <a:spLocks noChangeArrowheads="1"/>
          </p:cNvSpPr>
          <p:nvPr/>
        </p:nvSpPr>
        <p:spPr bwMode="auto">
          <a:xfrm>
            <a:off x="824682" y="815365"/>
            <a:ext cx="9695833" cy="150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eaLnBrk="1" hangingPunct="1">
              <a:lnSpc>
                <a:spcPct val="110000"/>
              </a:lnSpc>
              <a:buClr>
                <a:srgbClr val="0B61FF"/>
              </a:buClr>
              <a:buSzPct val="80000"/>
              <a:buFont typeface="Wingdings" panose="05000000000000000000" pitchFamily="2" charset="2"/>
              <a:buChar char="n"/>
            </a:pPr>
            <a:endParaRPr lang="en-US" altLang="zh-CN" sz="2400" b="1" dirty="0">
              <a:solidFill>
                <a:schemeClr val="tx1"/>
              </a:solidFill>
              <a:latin typeface="Trebuchet MS" panose="020B0603020202020204" pitchFamily="34" charset="0"/>
              <a:ea typeface="+mn-ea"/>
              <a:cs typeface="Times New Roman" panose="02020603050405020304" pitchFamily="18" charset="0"/>
              <a:sym typeface="Symbol" panose="05050102010706020507" pitchFamily="18" charset="2"/>
            </a:endParaRPr>
          </a:p>
        </p:txBody>
      </p:sp>
      <p:sp>
        <p:nvSpPr>
          <p:cNvPr id="14" name="Rectangle 4">
            <a:extLst>
              <a:ext uri="{FF2B5EF4-FFF2-40B4-BE49-F238E27FC236}">
                <a16:creationId xmlns:a16="http://schemas.microsoft.com/office/drawing/2014/main" id="{0599C39C-F437-4DFA-B296-1297B291314F}"/>
              </a:ext>
            </a:extLst>
          </p:cNvPr>
          <p:cNvSpPr>
            <a:spLocks noChangeArrowheads="1"/>
          </p:cNvSpPr>
          <p:nvPr/>
        </p:nvSpPr>
        <p:spPr bwMode="auto">
          <a:xfrm>
            <a:off x="907175" y="868732"/>
            <a:ext cx="10219629" cy="498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chor="t" anchorCtr="0">
            <a:noAutofit/>
          </a:bodyPr>
          <a:lstStyle>
            <a:lvl1pPr eaLnBrk="0" hangingPunct="0">
              <a:defRPr>
                <a:solidFill>
                  <a:schemeClr val="accent2"/>
                </a:solidFill>
                <a:latin typeface="Arial" panose="020B0604020202020204" pitchFamily="34" charset="0"/>
                <a:ea typeface="华文行楷" panose="02010800040101010101" pitchFamily="2" charset="-122"/>
              </a:defRPr>
            </a:lvl1pPr>
            <a:lvl2pPr marL="742950" indent="-285750" eaLnBrk="0" hangingPunct="0">
              <a:defRPr>
                <a:solidFill>
                  <a:schemeClr val="accent2"/>
                </a:solidFill>
                <a:latin typeface="Arial" panose="020B0604020202020204" pitchFamily="34" charset="0"/>
                <a:ea typeface="华文行楷" panose="02010800040101010101" pitchFamily="2" charset="-122"/>
              </a:defRPr>
            </a:lvl2pPr>
            <a:lvl3pPr marL="1143000" indent="-228600" eaLnBrk="0" hangingPunct="0">
              <a:defRPr>
                <a:solidFill>
                  <a:schemeClr val="accent2"/>
                </a:solidFill>
                <a:latin typeface="Arial" panose="020B0604020202020204" pitchFamily="34" charset="0"/>
                <a:ea typeface="华文行楷" panose="02010800040101010101" pitchFamily="2" charset="-122"/>
              </a:defRPr>
            </a:lvl3pPr>
            <a:lvl4pPr marL="1600200" indent="-228600" eaLnBrk="0" hangingPunct="0">
              <a:defRPr>
                <a:solidFill>
                  <a:schemeClr val="accent2"/>
                </a:solidFill>
                <a:latin typeface="Arial" panose="020B0604020202020204" pitchFamily="34" charset="0"/>
                <a:ea typeface="华文行楷" panose="02010800040101010101" pitchFamily="2" charset="-122"/>
              </a:defRPr>
            </a:lvl4pPr>
            <a:lvl5pPr marL="2057400" indent="-228600" eaLnBrk="0" hangingPunct="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342900" indent="-342900">
              <a:lnSpc>
                <a:spcPct val="120000"/>
              </a:lnSpc>
              <a:buClr>
                <a:srgbClr val="0B61FF"/>
              </a:buClr>
              <a:buSzPct val="80000"/>
              <a:buFont typeface="Wingdings" panose="05000000000000000000" pitchFamily="2" charset="2"/>
              <a:buChar char="n"/>
            </a:pPr>
            <a:r>
              <a:rPr lang="en-US" altLang="zh-CN" sz="2400" b="1" dirty="0">
                <a:solidFill>
                  <a:schemeClr val="tx1"/>
                </a:solidFill>
                <a:latin typeface="Trebuchet MS" panose="020B0603020202020204" pitchFamily="34" charset="0"/>
              </a:rPr>
              <a:t>Note: </a:t>
            </a:r>
            <a:endParaRPr lang="en-US" altLang="zh-CN" sz="2400" b="1" dirty="0">
              <a:solidFill>
                <a:srgbClr val="0B61FF"/>
              </a:solidFill>
              <a:latin typeface="宋体" panose="02010600030101010101" pitchFamily="2" charset="-122"/>
              <a:ea typeface="宋体" panose="02010600030101010101" pitchFamily="2" charset="-122"/>
            </a:endParaRPr>
          </a:p>
          <a:p>
            <a:pPr marL="625475" indent="-442913">
              <a:lnSpc>
                <a:spcPct val="120000"/>
              </a:lnSpc>
            </a:pPr>
            <a:r>
              <a:rPr lang="en-US" altLang="zh-CN" sz="2400" b="1" dirty="0">
                <a:solidFill>
                  <a:srgbClr val="0B61FF"/>
                </a:solidFill>
                <a:latin typeface="宋体" panose="02010600030101010101" pitchFamily="2" charset="-122"/>
                <a:ea typeface="宋体" panose="02010600030101010101" pitchFamily="2" charset="-122"/>
              </a:rPr>
              <a:t>③ </a:t>
            </a:r>
            <a:r>
              <a:rPr lang="en-US" altLang="zh-CN" sz="2400" dirty="0">
                <a:solidFill>
                  <a:schemeClr val="tx1"/>
                </a:solidFill>
                <a:latin typeface="Trebuchet MS" panose="020B0603020202020204" pitchFamily="34" charset="0"/>
              </a:rPr>
              <a:t>Any finite Boolean algebra </a:t>
            </a:r>
            <a:r>
              <a:rPr lang="en-US" altLang="zh-CN" sz="2400" b="1" i="1" dirty="0">
                <a:solidFill>
                  <a:schemeClr val="tx1"/>
                </a:solidFill>
                <a:latin typeface="Trebuchet MS" panose="020B0603020202020204" pitchFamily="34" charset="0"/>
                <a:cs typeface="Times New Roman" panose="02020603050405020304" pitchFamily="18" charset="0"/>
              </a:rPr>
              <a:t>L</a:t>
            </a:r>
            <a:r>
              <a:rPr lang="en-US" altLang="zh-CN" sz="2400" dirty="0">
                <a:solidFill>
                  <a:schemeClr val="tx1"/>
                </a:solidFill>
                <a:latin typeface="Trebuchet MS" panose="020B0603020202020204" pitchFamily="34" charset="0"/>
              </a:rPr>
              <a:t> is isomorphic to the power set algebra </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&lt;</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S</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S</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&gt; , </a:t>
            </a:r>
            <a:r>
              <a:rPr lang="en-US" altLang="zh-CN" sz="2400" dirty="0">
                <a:solidFill>
                  <a:schemeClr val="tx1"/>
                </a:solidFill>
                <a:latin typeface="Trebuchet MS" panose="020B0603020202020204" pitchFamily="34" charset="0"/>
              </a:rPr>
              <a:t>where </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S</a:t>
            </a:r>
            <a:r>
              <a:rPr lang="en-US" altLang="zh-CN" sz="2400" b="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solidFill>
                  <a:schemeClr val="tx1"/>
                </a:solidFill>
                <a:latin typeface="Trebuchet MS" panose="020B0603020202020204" pitchFamily="34" charset="0"/>
              </a:rPr>
              <a:t>is the power set of an </a:t>
            </a:r>
            <a:r>
              <a:rPr lang="en-US" altLang="zh-CN" sz="2400" b="1" i="1" dirty="0">
                <a:solidFill>
                  <a:schemeClr val="tx1"/>
                </a:solidFill>
                <a:latin typeface="Trebuchet MS" panose="020B0603020202020204" pitchFamily="34" charset="0"/>
              </a:rPr>
              <a:t>n</a:t>
            </a:r>
            <a:r>
              <a:rPr lang="en-US" altLang="zh-CN" sz="2400" dirty="0">
                <a:solidFill>
                  <a:schemeClr val="tx1"/>
                </a:solidFill>
                <a:latin typeface="Trebuchet MS" panose="020B0603020202020204" pitchFamily="34" charset="0"/>
              </a:rPr>
              <a:t>-element set </a:t>
            </a:r>
            <a:r>
              <a:rPr lang="en-US" altLang="zh-CN" sz="2400" b="1" i="1" dirty="0">
                <a:solidFill>
                  <a:schemeClr val="tx1"/>
                </a:solidFill>
                <a:latin typeface="Trebuchet MS" panose="020B0603020202020204" pitchFamily="34" charset="0"/>
                <a:cs typeface="Times New Roman" panose="02020603050405020304" pitchFamily="18" charset="0"/>
                <a:sym typeface="Symbol" panose="05050102010706020507" pitchFamily="18" charset="2"/>
              </a:rPr>
              <a:t>S</a:t>
            </a:r>
            <a:r>
              <a:rPr lang="en-US" altLang="zh-CN" sz="2400" dirty="0">
                <a:solidFill>
                  <a:schemeClr val="tx1"/>
                </a:solidFill>
                <a:latin typeface="Trebuchet MS" panose="020B0603020202020204" pitchFamily="34" charset="0"/>
              </a:rPr>
              <a:t>. This </a:t>
            </a:r>
            <a:r>
              <a:rPr lang="en-US" altLang="zh-CN" sz="2400" b="1" i="1" dirty="0">
                <a:solidFill>
                  <a:srgbClr val="0B61FF"/>
                </a:solidFill>
                <a:latin typeface="Trebuchet MS" panose="020B0603020202020204" pitchFamily="34" charset="0"/>
              </a:rPr>
              <a:t>intuitive model </a:t>
            </a:r>
            <a:r>
              <a:rPr lang="en-US" altLang="zh-CN" sz="2400" dirty="0">
                <a:solidFill>
                  <a:schemeClr val="tx1"/>
                </a:solidFill>
                <a:latin typeface="Trebuchet MS" panose="020B0603020202020204" pitchFamily="34" charset="0"/>
              </a:rPr>
              <a:t>facilitates a better understanding and manipulation of Boolean algebra.</a:t>
            </a:r>
          </a:p>
          <a:p>
            <a:pPr marL="625475" indent="-442913">
              <a:lnSpc>
                <a:spcPct val="120000"/>
              </a:lnSpc>
            </a:pPr>
            <a:r>
              <a:rPr lang="en-US" altLang="zh-CN" sz="2400" b="1" dirty="0">
                <a:solidFill>
                  <a:srgbClr val="0B61FF"/>
                </a:solidFill>
                <a:latin typeface="宋体" panose="02010600030101010101" pitchFamily="2" charset="-122"/>
                <a:ea typeface="宋体" panose="02010600030101010101" pitchFamily="2" charset="-122"/>
              </a:rPr>
              <a:t>④ </a:t>
            </a:r>
            <a:r>
              <a:rPr lang="en-US" altLang="zh-CN" sz="2400" dirty="0">
                <a:solidFill>
                  <a:schemeClr val="tx1"/>
                </a:solidFill>
                <a:latin typeface="Trebuchet MS" panose="020B0603020202020204" pitchFamily="34" charset="0"/>
              </a:rPr>
              <a:t>This theorem </a:t>
            </a:r>
            <a:r>
              <a:rPr lang="en-US" altLang="zh-CN" sz="2400" b="1" i="1" dirty="0">
                <a:solidFill>
                  <a:srgbClr val="0B61FF"/>
                </a:solidFill>
                <a:latin typeface="Trebuchet MS" panose="020B0603020202020204" pitchFamily="34" charset="0"/>
              </a:rPr>
              <a:t>bridges</a:t>
            </a:r>
            <a:r>
              <a:rPr lang="en-US" altLang="zh-CN" sz="2400" dirty="0">
                <a:solidFill>
                  <a:schemeClr val="tx1"/>
                </a:solidFill>
                <a:latin typeface="Trebuchet MS" panose="020B0603020202020204" pitchFamily="34" charset="0"/>
              </a:rPr>
              <a:t> abstract algebra (Boolean algebras) and set theory (power set algebras), enabling broad applications in </a:t>
            </a:r>
            <a:r>
              <a:rPr lang="en-US" altLang="zh-CN" sz="2400" b="1" dirty="0">
                <a:solidFill>
                  <a:schemeClr val="tx1"/>
                </a:solidFill>
                <a:latin typeface="Trebuchet MS" panose="020B0603020202020204" pitchFamily="34" charset="0"/>
              </a:rPr>
              <a:t>logic</a:t>
            </a:r>
            <a:r>
              <a:rPr lang="en-US" altLang="zh-CN" sz="2400"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computer science</a:t>
            </a:r>
            <a:r>
              <a:rPr lang="en-US" altLang="zh-CN" sz="2400" dirty="0">
                <a:solidFill>
                  <a:schemeClr val="tx1"/>
                </a:solidFill>
                <a:latin typeface="Trebuchet MS" panose="020B0603020202020204" pitchFamily="34" charset="0"/>
              </a:rPr>
              <a:t>, and </a:t>
            </a:r>
            <a:r>
              <a:rPr lang="en-US" altLang="zh-CN" sz="2400" b="1" dirty="0">
                <a:solidFill>
                  <a:schemeClr val="tx1"/>
                </a:solidFill>
                <a:latin typeface="Trebuchet MS" panose="020B0603020202020204" pitchFamily="34" charset="0"/>
              </a:rPr>
              <a:t>algebraic geometry</a:t>
            </a:r>
            <a:r>
              <a:rPr lang="en-US" altLang="zh-CN" sz="2400" dirty="0">
                <a:solidFill>
                  <a:schemeClr val="tx1"/>
                </a:solidFill>
                <a:latin typeface="Trebuchet MS" panose="020B0603020202020204" pitchFamily="34" charset="0"/>
              </a:rPr>
              <a:t>.</a:t>
            </a:r>
          </a:p>
          <a:p>
            <a:pPr marL="625475" indent="-442913">
              <a:lnSpc>
                <a:spcPct val="120000"/>
              </a:lnSpc>
            </a:pPr>
            <a:r>
              <a:rPr lang="en-US" altLang="zh-CN" sz="2400" b="1" dirty="0">
                <a:solidFill>
                  <a:srgbClr val="0B61FF"/>
                </a:solidFill>
                <a:latin typeface="宋体" panose="02010600030101010101" pitchFamily="2" charset="-122"/>
                <a:ea typeface="宋体" panose="02010600030101010101" pitchFamily="2" charset="-122"/>
              </a:rPr>
              <a:t>⑤ </a:t>
            </a:r>
            <a:r>
              <a:rPr lang="en-US" altLang="zh-CN" sz="2400" dirty="0">
                <a:solidFill>
                  <a:schemeClr val="tx1"/>
                </a:solidFill>
                <a:latin typeface="Trebuchet MS" panose="020B0603020202020204" pitchFamily="34" charset="0"/>
              </a:rPr>
              <a:t>Understanding the </a:t>
            </a:r>
            <a:r>
              <a:rPr lang="en-US" altLang="zh-CN" sz="2400" b="1" i="1" dirty="0">
                <a:solidFill>
                  <a:srgbClr val="0B61FF"/>
                </a:solidFill>
                <a:latin typeface="Trebuchet MS" panose="020B0603020202020204" pitchFamily="34" charset="0"/>
              </a:rPr>
              <a:t>algebraic structure </a:t>
            </a:r>
            <a:r>
              <a:rPr lang="en-US" altLang="zh-CN" sz="2400" dirty="0">
                <a:solidFill>
                  <a:schemeClr val="tx1"/>
                </a:solidFill>
                <a:latin typeface="Trebuchet MS" panose="020B0603020202020204" pitchFamily="34" charset="0"/>
              </a:rPr>
              <a:t>and its </a:t>
            </a:r>
            <a:r>
              <a:rPr lang="en-US" altLang="zh-CN" sz="2400" b="1" dirty="0">
                <a:solidFill>
                  <a:schemeClr val="tx1"/>
                </a:solidFill>
                <a:latin typeface="Trebuchet MS" panose="020B0603020202020204" pitchFamily="34" charset="0"/>
              </a:rPr>
              <a:t>isomorphism</a:t>
            </a:r>
            <a:r>
              <a:rPr lang="en-US" altLang="zh-CN" sz="2400" dirty="0">
                <a:solidFill>
                  <a:schemeClr val="tx1"/>
                </a:solidFill>
                <a:latin typeface="Trebuchet MS" panose="020B0603020202020204" pitchFamily="34" charset="0"/>
              </a:rPr>
              <a:t> to </a:t>
            </a:r>
            <a:r>
              <a:rPr lang="en-US" altLang="zh-CN" sz="2400" b="1" i="1" dirty="0">
                <a:solidFill>
                  <a:srgbClr val="0B61FF"/>
                </a:solidFill>
                <a:latin typeface="Trebuchet MS" panose="020B0603020202020204" pitchFamily="34" charset="0"/>
              </a:rPr>
              <a:t>set-theoretic models</a:t>
            </a:r>
            <a:r>
              <a:rPr lang="en-US" altLang="zh-CN" sz="2400" dirty="0">
                <a:solidFill>
                  <a:schemeClr val="tx1"/>
                </a:solidFill>
                <a:latin typeface="Trebuchet MS" panose="020B0603020202020204" pitchFamily="34" charset="0"/>
              </a:rPr>
              <a:t> aids in simplifying logical expressions and optimizing algorithm design.</a:t>
            </a:r>
          </a:p>
        </p:txBody>
      </p:sp>
    </p:spTree>
    <p:extLst>
      <p:ext uri="{BB962C8B-B14F-4D97-AF65-F5344CB8AC3E}">
        <p14:creationId xmlns:p14="http://schemas.microsoft.com/office/powerpoint/2010/main" val="29578405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animEffect transition="in" filter="fade">
                                      <p:cBhvr>
                                        <p:cTn id="7" dur="1000"/>
                                        <p:tgtEl>
                                          <p:spTgt spid="14">
                                            <p:txEl>
                                              <p:pRg st="2" end="2"/>
                                            </p:txEl>
                                          </p:spTgt>
                                        </p:tgtEl>
                                      </p:cBhvr>
                                    </p:animEffect>
                                    <p:anim calcmode="lin" valueType="num">
                                      <p:cBhvr>
                                        <p:cTn id="8"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3" end="3"/>
                                            </p:txEl>
                                          </p:spTgt>
                                        </p:tgtEl>
                                        <p:attrNameLst>
                                          <p:attrName>style.visibility</p:attrName>
                                        </p:attrNameLst>
                                      </p:cBhvr>
                                      <p:to>
                                        <p:strVal val="visible"/>
                                      </p:to>
                                    </p:set>
                                    <p:animEffect transition="in" filter="fade">
                                      <p:cBhvr>
                                        <p:cTn id="14" dur="1000"/>
                                        <p:tgtEl>
                                          <p:spTgt spid="14">
                                            <p:txEl>
                                              <p:pRg st="3" end="3"/>
                                            </p:txEl>
                                          </p:spTgt>
                                        </p:tgtEl>
                                      </p:cBhvr>
                                    </p:animEffect>
                                    <p:anim calcmode="lin" valueType="num">
                                      <p:cBhvr>
                                        <p:cTn id="15"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7620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9.3.4 Lattices and Boolean Algebras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8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From lattices to Boolean algebra</a:t>
            </a:r>
            <a:endParaRPr lang="zh-CN" altLang="en-US" sz="2400" b="1" dirty="0">
              <a:solidFill>
                <a:srgbClr val="FF0000"/>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pic>
        <p:nvPicPr>
          <p:cNvPr id="12" name="图片 11">
            <a:extLst>
              <a:ext uri="{FF2B5EF4-FFF2-40B4-BE49-F238E27FC236}">
                <a16:creationId xmlns:a16="http://schemas.microsoft.com/office/drawing/2014/main" id="{2B3C52E9-E54E-41A3-8C8E-4DACB6A9D2BA}"/>
              </a:ext>
            </a:extLst>
          </p:cNvPr>
          <p:cNvPicPr>
            <a:picLocks noChangeAspect="1"/>
          </p:cNvPicPr>
          <p:nvPr/>
        </p:nvPicPr>
        <p:blipFill>
          <a:blip r:embed="rId4"/>
          <a:stretch>
            <a:fillRect/>
          </a:stretch>
        </p:blipFill>
        <p:spPr>
          <a:xfrm>
            <a:off x="824682" y="1811056"/>
            <a:ext cx="9756000" cy="1057334"/>
          </a:xfrm>
          <a:prstGeom prst="rect">
            <a:avLst/>
          </a:prstGeom>
        </p:spPr>
      </p:pic>
      <p:pic>
        <p:nvPicPr>
          <p:cNvPr id="21" name="图片 20">
            <a:extLst>
              <a:ext uri="{FF2B5EF4-FFF2-40B4-BE49-F238E27FC236}">
                <a16:creationId xmlns:a16="http://schemas.microsoft.com/office/drawing/2014/main" id="{C1692F90-7BB8-48D1-9B89-73E70FB31302}"/>
              </a:ext>
            </a:extLst>
          </p:cNvPr>
          <p:cNvPicPr>
            <a:picLocks noChangeAspect="1"/>
          </p:cNvPicPr>
          <p:nvPr/>
        </p:nvPicPr>
        <p:blipFill>
          <a:blip r:embed="rId5"/>
          <a:stretch>
            <a:fillRect/>
          </a:stretch>
        </p:blipFill>
        <p:spPr>
          <a:xfrm>
            <a:off x="824682" y="744801"/>
            <a:ext cx="8775000" cy="832000"/>
          </a:xfrm>
          <a:prstGeom prst="rect">
            <a:avLst/>
          </a:prstGeom>
        </p:spPr>
      </p:pic>
      <p:pic>
        <p:nvPicPr>
          <p:cNvPr id="28" name="图片 27">
            <a:extLst>
              <a:ext uri="{FF2B5EF4-FFF2-40B4-BE49-F238E27FC236}">
                <a16:creationId xmlns:a16="http://schemas.microsoft.com/office/drawing/2014/main" id="{D70DBEBE-88D1-415E-97C9-E7CB57227369}"/>
              </a:ext>
            </a:extLst>
          </p:cNvPr>
          <p:cNvPicPr>
            <a:picLocks noChangeAspect="1"/>
          </p:cNvPicPr>
          <p:nvPr/>
        </p:nvPicPr>
        <p:blipFill>
          <a:blip r:embed="rId6"/>
          <a:stretch>
            <a:fillRect/>
          </a:stretch>
        </p:blipFill>
        <p:spPr>
          <a:xfrm>
            <a:off x="824682" y="3102645"/>
            <a:ext cx="8649000" cy="979333"/>
          </a:xfrm>
          <a:prstGeom prst="rect">
            <a:avLst/>
          </a:prstGeom>
        </p:spPr>
      </p:pic>
      <p:pic>
        <p:nvPicPr>
          <p:cNvPr id="35" name="图片 34">
            <a:extLst>
              <a:ext uri="{FF2B5EF4-FFF2-40B4-BE49-F238E27FC236}">
                <a16:creationId xmlns:a16="http://schemas.microsoft.com/office/drawing/2014/main" id="{B31166B3-2FFB-43C7-93EC-D195B6BFF39B}"/>
              </a:ext>
            </a:extLst>
          </p:cNvPr>
          <p:cNvPicPr>
            <a:picLocks noChangeAspect="1"/>
          </p:cNvPicPr>
          <p:nvPr/>
        </p:nvPicPr>
        <p:blipFill>
          <a:blip r:embed="rId7"/>
          <a:stretch>
            <a:fillRect/>
          </a:stretch>
        </p:blipFill>
        <p:spPr>
          <a:xfrm>
            <a:off x="824682" y="4316233"/>
            <a:ext cx="10278000" cy="771333"/>
          </a:xfrm>
          <a:prstGeom prst="rect">
            <a:avLst/>
          </a:prstGeom>
        </p:spPr>
      </p:pic>
      <p:pic>
        <p:nvPicPr>
          <p:cNvPr id="41" name="图片 40">
            <a:extLst>
              <a:ext uri="{FF2B5EF4-FFF2-40B4-BE49-F238E27FC236}">
                <a16:creationId xmlns:a16="http://schemas.microsoft.com/office/drawing/2014/main" id="{44180EE6-5BF7-4819-BD72-65F20E8FCE8B}"/>
              </a:ext>
            </a:extLst>
          </p:cNvPr>
          <p:cNvPicPr>
            <a:picLocks noChangeAspect="1"/>
          </p:cNvPicPr>
          <p:nvPr/>
        </p:nvPicPr>
        <p:blipFill>
          <a:blip r:embed="rId8"/>
          <a:stretch>
            <a:fillRect/>
          </a:stretch>
        </p:blipFill>
        <p:spPr>
          <a:xfrm>
            <a:off x="824682" y="5103923"/>
            <a:ext cx="9567000" cy="1265334"/>
          </a:xfrm>
          <a:prstGeom prst="rect">
            <a:avLst/>
          </a:prstGeom>
        </p:spPr>
      </p:pic>
    </p:spTree>
    <p:extLst>
      <p:ext uri="{BB962C8B-B14F-4D97-AF65-F5344CB8AC3E}">
        <p14:creationId xmlns:p14="http://schemas.microsoft.com/office/powerpoint/2010/main" val="1136869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1000"/>
                                        <p:tgtEl>
                                          <p:spTgt spid="35"/>
                                        </p:tgtEl>
                                      </p:cBhvr>
                                    </p:animEffect>
                                    <p:anim calcmode="lin" valueType="num">
                                      <p:cBhvr>
                                        <p:cTn id="15" dur="1000" fill="hold"/>
                                        <p:tgtEl>
                                          <p:spTgt spid="35"/>
                                        </p:tgtEl>
                                        <p:attrNameLst>
                                          <p:attrName>ppt_x</p:attrName>
                                        </p:attrNameLst>
                                      </p:cBhvr>
                                      <p:tavLst>
                                        <p:tav tm="0">
                                          <p:val>
                                            <p:strVal val="#ppt_x"/>
                                          </p:val>
                                        </p:tav>
                                        <p:tav tm="100000">
                                          <p:val>
                                            <p:strVal val="#ppt_x"/>
                                          </p:val>
                                        </p:tav>
                                      </p:tavLst>
                                    </p:anim>
                                    <p:anim calcmode="lin" valueType="num">
                                      <p:cBhvr>
                                        <p:cTn id="16"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1000"/>
                                        <p:tgtEl>
                                          <p:spTgt spid="28"/>
                                        </p:tgtEl>
                                      </p:cBhvr>
                                    </p:animEffect>
                                    <p:anim calcmode="lin" valueType="num">
                                      <p:cBhvr>
                                        <p:cTn id="22" dur="1000" fill="hold"/>
                                        <p:tgtEl>
                                          <p:spTgt spid="28"/>
                                        </p:tgtEl>
                                        <p:attrNameLst>
                                          <p:attrName>ppt_x</p:attrName>
                                        </p:attrNameLst>
                                      </p:cBhvr>
                                      <p:tavLst>
                                        <p:tav tm="0">
                                          <p:val>
                                            <p:strVal val="#ppt_x"/>
                                          </p:val>
                                        </p:tav>
                                        <p:tav tm="100000">
                                          <p:val>
                                            <p:strVal val="#ppt_x"/>
                                          </p:val>
                                        </p:tav>
                                      </p:tavLst>
                                    </p:anim>
                                    <p:anim calcmode="lin" valueType="num">
                                      <p:cBhvr>
                                        <p:cTn id="2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1000"/>
                                        <p:tgtEl>
                                          <p:spTgt spid="21"/>
                                        </p:tgtEl>
                                      </p:cBhvr>
                                    </p:animEffect>
                                    <p:anim calcmode="lin" valueType="num">
                                      <p:cBhvr>
                                        <p:cTn id="36" dur="1000" fill="hold"/>
                                        <p:tgtEl>
                                          <p:spTgt spid="21"/>
                                        </p:tgtEl>
                                        <p:attrNameLst>
                                          <p:attrName>ppt_x</p:attrName>
                                        </p:attrNameLst>
                                      </p:cBhvr>
                                      <p:tavLst>
                                        <p:tav tm="0">
                                          <p:val>
                                            <p:strVal val="#ppt_x"/>
                                          </p:val>
                                        </p:tav>
                                        <p:tav tm="100000">
                                          <p:val>
                                            <p:strVal val="#ppt_x"/>
                                          </p:val>
                                        </p:tav>
                                      </p:tavLst>
                                    </p:anim>
                                    <p:anim calcmode="lin" valueType="num">
                                      <p:cBhvr>
                                        <p:cTn id="3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p:cNvSpPr/>
          <p:nvPr/>
        </p:nvSpPr>
        <p:spPr>
          <a:xfrm>
            <a:off x="0" y="-7620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9.3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几个典型的代数系统</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9.3.4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格与布尔代数</a:t>
            </a: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格</a:t>
            </a:r>
            <a:r>
              <a:rPr lang="zh-CN" altLang="en-US" sz="2400" b="1" dirty="0">
                <a:highlight>
                  <a:srgbClr val="FF0000"/>
                </a:highlight>
                <a:latin typeface="楷体" panose="02010609060101010101" pitchFamily="49" charset="-122"/>
                <a:ea typeface="楷体" panose="02010609060101010101" pitchFamily="49" charset="-122"/>
                <a:cs typeface="Times New Roman" panose="02020603050405020304" pitchFamily="18" charset="0"/>
              </a:rPr>
              <a:t>→</a:t>
            </a:r>
            <a:r>
              <a:rPr lang="zh-CN" altLang="en-US" sz="2400" b="1" dirty="0">
                <a:highlight>
                  <a:srgbClr val="FF0000"/>
                </a:highlight>
                <a:latin typeface="Cambria Math" panose="02040503050406030204" pitchFamily="18" charset="0"/>
                <a:ea typeface="Cambria Math" panose="02040503050406030204" pitchFamily="18" charset="0"/>
                <a:cs typeface="Times New Roman" panose="02020603050405020304" pitchFamily="18" charset="0"/>
              </a:rPr>
              <a:t>布尔代数</a:t>
            </a:r>
            <a:endParaRPr lang="zh-CN" altLang="en-US" sz="2400" b="1" dirty="0">
              <a:solidFill>
                <a:srgbClr val="3D557A"/>
              </a:solidFill>
              <a:highlight>
                <a:srgbClr val="FF0000"/>
              </a:highlight>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903514"/>
            <a:ext cx="8283499" cy="5475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eaLnBrk="1" hangingPunct="1">
              <a:lnSpc>
                <a:spcPct val="90000"/>
              </a:lnSpc>
              <a:buFontTx/>
              <a:buNone/>
            </a:pPr>
            <a:endParaRPr lang="en-US" altLang="zh-CN" b="1" dirty="0"/>
          </a:p>
        </p:txBody>
      </p:sp>
      <p:pic>
        <p:nvPicPr>
          <p:cNvPr id="25" name="图片 24">
            <a:extLst>
              <a:ext uri="{FF2B5EF4-FFF2-40B4-BE49-F238E27FC236}">
                <a16:creationId xmlns:a16="http://schemas.microsoft.com/office/drawing/2014/main" id="{5E71A2AE-2555-4E36-8EBC-21C5527CFAF3}"/>
              </a:ext>
            </a:extLst>
          </p:cNvPr>
          <p:cNvPicPr>
            <a:picLocks noChangeAspect="1"/>
          </p:cNvPicPr>
          <p:nvPr/>
        </p:nvPicPr>
        <p:blipFill>
          <a:blip r:embed="rId4"/>
          <a:stretch>
            <a:fillRect/>
          </a:stretch>
        </p:blipFill>
        <p:spPr>
          <a:xfrm>
            <a:off x="962930" y="5184772"/>
            <a:ext cx="10443211" cy="1324885"/>
          </a:xfrm>
          <a:prstGeom prst="rect">
            <a:avLst/>
          </a:prstGeom>
        </p:spPr>
      </p:pic>
      <p:pic>
        <p:nvPicPr>
          <p:cNvPr id="27" name="图片 26">
            <a:extLst>
              <a:ext uri="{FF2B5EF4-FFF2-40B4-BE49-F238E27FC236}">
                <a16:creationId xmlns:a16="http://schemas.microsoft.com/office/drawing/2014/main" id="{539C358E-04A1-490A-978F-CF1F3FCEBA9A}"/>
              </a:ext>
            </a:extLst>
          </p:cNvPr>
          <p:cNvPicPr>
            <a:picLocks noChangeAspect="1"/>
          </p:cNvPicPr>
          <p:nvPr/>
        </p:nvPicPr>
        <p:blipFill>
          <a:blip r:embed="rId5"/>
          <a:stretch>
            <a:fillRect/>
          </a:stretch>
        </p:blipFill>
        <p:spPr>
          <a:xfrm>
            <a:off x="962931" y="4063637"/>
            <a:ext cx="10365274" cy="1102215"/>
          </a:xfrm>
          <a:prstGeom prst="rect">
            <a:avLst/>
          </a:prstGeom>
        </p:spPr>
      </p:pic>
      <p:pic>
        <p:nvPicPr>
          <p:cNvPr id="29" name="图片 28">
            <a:extLst>
              <a:ext uri="{FF2B5EF4-FFF2-40B4-BE49-F238E27FC236}">
                <a16:creationId xmlns:a16="http://schemas.microsoft.com/office/drawing/2014/main" id="{D0E4735E-C86A-4FEE-931A-FC5C5CE72932}"/>
              </a:ext>
            </a:extLst>
          </p:cNvPr>
          <p:cNvPicPr>
            <a:picLocks noChangeAspect="1"/>
          </p:cNvPicPr>
          <p:nvPr/>
        </p:nvPicPr>
        <p:blipFill>
          <a:blip r:embed="rId6"/>
          <a:stretch>
            <a:fillRect/>
          </a:stretch>
        </p:blipFill>
        <p:spPr>
          <a:xfrm>
            <a:off x="962930" y="2964769"/>
            <a:ext cx="9051523" cy="1079948"/>
          </a:xfrm>
          <a:prstGeom prst="rect">
            <a:avLst/>
          </a:prstGeom>
        </p:spPr>
      </p:pic>
      <p:pic>
        <p:nvPicPr>
          <p:cNvPr id="31" name="图片 30">
            <a:extLst>
              <a:ext uri="{FF2B5EF4-FFF2-40B4-BE49-F238E27FC236}">
                <a16:creationId xmlns:a16="http://schemas.microsoft.com/office/drawing/2014/main" id="{31586D78-589F-4078-802F-8D2BC410784D}"/>
              </a:ext>
            </a:extLst>
          </p:cNvPr>
          <p:cNvPicPr>
            <a:picLocks noChangeAspect="1"/>
          </p:cNvPicPr>
          <p:nvPr/>
        </p:nvPicPr>
        <p:blipFill>
          <a:blip r:embed="rId7"/>
          <a:stretch>
            <a:fillRect/>
          </a:stretch>
        </p:blipFill>
        <p:spPr>
          <a:xfrm>
            <a:off x="962930" y="1854767"/>
            <a:ext cx="7570773" cy="1091082"/>
          </a:xfrm>
          <a:prstGeom prst="rect">
            <a:avLst/>
          </a:prstGeom>
        </p:spPr>
      </p:pic>
      <p:pic>
        <p:nvPicPr>
          <p:cNvPr id="33" name="图片 32">
            <a:extLst>
              <a:ext uri="{FF2B5EF4-FFF2-40B4-BE49-F238E27FC236}">
                <a16:creationId xmlns:a16="http://schemas.microsoft.com/office/drawing/2014/main" id="{78F8A349-E4AC-4731-B3C1-EE139AE3F7A3}"/>
              </a:ext>
            </a:extLst>
          </p:cNvPr>
          <p:cNvPicPr>
            <a:picLocks noChangeAspect="1"/>
          </p:cNvPicPr>
          <p:nvPr/>
        </p:nvPicPr>
        <p:blipFill>
          <a:blip r:embed="rId8"/>
          <a:stretch>
            <a:fillRect/>
          </a:stretch>
        </p:blipFill>
        <p:spPr>
          <a:xfrm>
            <a:off x="962930" y="744765"/>
            <a:ext cx="6835963" cy="1091082"/>
          </a:xfrm>
          <a:prstGeom prst="rect">
            <a:avLst/>
          </a:prstGeom>
        </p:spPr>
      </p:pic>
    </p:spTree>
    <p:extLst>
      <p:ext uri="{BB962C8B-B14F-4D97-AF65-F5344CB8AC3E}">
        <p14:creationId xmlns:p14="http://schemas.microsoft.com/office/powerpoint/2010/main" val="3054672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7"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1000"/>
                                        <p:tgtEl>
                                          <p:spTgt spid="27"/>
                                        </p:tgtEl>
                                      </p:cBhvr>
                                    </p:animEffect>
                                    <p:anim calcmode="lin" valueType="num">
                                      <p:cBhvr>
                                        <p:cTn id="14" dur="1000" fill="hold"/>
                                        <p:tgtEl>
                                          <p:spTgt spid="27"/>
                                        </p:tgtEl>
                                        <p:attrNameLst>
                                          <p:attrName>ppt_x</p:attrName>
                                        </p:attrNameLst>
                                      </p:cBhvr>
                                      <p:tavLst>
                                        <p:tav tm="0">
                                          <p:val>
                                            <p:strVal val="#ppt_x"/>
                                          </p:val>
                                        </p:tav>
                                        <p:tav tm="100000">
                                          <p:val>
                                            <p:strVal val="#ppt_x"/>
                                          </p:val>
                                        </p:tav>
                                      </p:tavLst>
                                    </p:anim>
                                    <p:anim calcmode="lin" valueType="num">
                                      <p:cBhvr>
                                        <p:cTn id="15"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7"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1000"/>
                                        <p:tgtEl>
                                          <p:spTgt spid="29"/>
                                        </p:tgtEl>
                                      </p:cBhvr>
                                    </p:animEffect>
                                    <p:anim calcmode="lin" valueType="num">
                                      <p:cBhvr>
                                        <p:cTn id="21" dur="1000" fill="hold"/>
                                        <p:tgtEl>
                                          <p:spTgt spid="29"/>
                                        </p:tgtEl>
                                        <p:attrNameLst>
                                          <p:attrName>ppt_x</p:attrName>
                                        </p:attrNameLst>
                                      </p:cBhvr>
                                      <p:tavLst>
                                        <p:tav tm="0">
                                          <p:val>
                                            <p:strVal val="#ppt_x"/>
                                          </p:val>
                                        </p:tav>
                                        <p:tav tm="100000">
                                          <p:val>
                                            <p:strVal val="#ppt_x"/>
                                          </p:val>
                                        </p:tav>
                                      </p:tavLst>
                                    </p:anim>
                                    <p:anim calcmode="lin" valueType="num">
                                      <p:cBhvr>
                                        <p:cTn id="22"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1000"/>
                                        <p:tgtEl>
                                          <p:spTgt spid="31"/>
                                        </p:tgtEl>
                                      </p:cBhvr>
                                    </p:animEffect>
                                    <p:anim calcmode="lin" valueType="num">
                                      <p:cBhvr>
                                        <p:cTn id="28" dur="1000" fill="hold"/>
                                        <p:tgtEl>
                                          <p:spTgt spid="31"/>
                                        </p:tgtEl>
                                        <p:attrNameLst>
                                          <p:attrName>ppt_x</p:attrName>
                                        </p:attrNameLst>
                                      </p:cBhvr>
                                      <p:tavLst>
                                        <p:tav tm="0">
                                          <p:val>
                                            <p:strVal val="#ppt_x"/>
                                          </p:val>
                                        </p:tav>
                                        <p:tav tm="100000">
                                          <p:val>
                                            <p:strVal val="#ppt_x"/>
                                          </p:val>
                                        </p:tav>
                                      </p:tavLst>
                                    </p:anim>
                                    <p:anim calcmode="lin" valueType="num">
                                      <p:cBhvr>
                                        <p:cTn id="2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nodeType="click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1000"/>
                                        <p:tgtEl>
                                          <p:spTgt spid="33"/>
                                        </p:tgtEl>
                                      </p:cBhvr>
                                    </p:animEffect>
                                    <p:anim calcmode="lin" valueType="num">
                                      <p:cBhvr>
                                        <p:cTn id="35" dur="1000" fill="hold"/>
                                        <p:tgtEl>
                                          <p:spTgt spid="33"/>
                                        </p:tgtEl>
                                        <p:attrNameLst>
                                          <p:attrName>ppt_x</p:attrName>
                                        </p:attrNameLst>
                                      </p:cBhvr>
                                      <p:tavLst>
                                        <p:tav tm="0">
                                          <p:val>
                                            <p:strVal val="#ppt_x"/>
                                          </p:val>
                                        </p:tav>
                                        <p:tav tm="100000">
                                          <p:val>
                                            <p:strVal val="#ppt_x"/>
                                          </p:val>
                                        </p:tav>
                                      </p:tavLst>
                                    </p:anim>
                                    <p:anim calcmode="lin" valueType="num">
                                      <p:cBhvr>
                                        <p:cTn id="36"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9.3 Several Typical Algebraic Systems</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chemeClr val="bg1"/>
                </a:solidFill>
                <a:latin typeface="Trebuchet MS" panose="020B0603020202020204" pitchFamily="34" charset="0"/>
                <a:cs typeface="Times New Roman" panose="02020603050405020304" pitchFamily="18" charset="0"/>
              </a:rPr>
              <a:t>Brief summary</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3023571256"/>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9</a:t>
            </a: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rPr>
              <a:t>Algebraic Systems </a:t>
            </a:r>
            <a:r>
              <a:rPr lang="en-US" altLang="zh-CN" sz="2400" b="1" dirty="0">
                <a:solidFill>
                  <a:schemeClr val="bg1"/>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chemeClr val="bg1"/>
                </a:solidFill>
                <a:latin typeface="Trebuchet MS" panose="020B0603020202020204" pitchFamily="34" charset="0"/>
                <a:cs typeface="Times New Roman" panose="02020603050405020304" pitchFamily="18" charset="0"/>
              </a:rPr>
              <a:t>Brief summary</a:t>
            </a:r>
            <a:endParaRPr lang="zh-CN" altLang="en-US" sz="2400" b="1" dirty="0">
              <a:solidFill>
                <a:schemeClr val="bg1"/>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270376972"/>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a:spAutoFit/>
      </a:bodyPr>
      <a:lstStyle>
        <a:defPPr algn="l">
          <a:lnSpc>
            <a:spcPct val="120000"/>
          </a:lnSpc>
          <a:defRPr sz="24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12663</TotalTime>
  <Words>47534</Words>
  <Application>Microsoft Office PowerPoint</Application>
  <PresentationFormat>宽屏</PresentationFormat>
  <Paragraphs>3087</Paragraphs>
  <Slides>156</Slides>
  <Notes>156</Notes>
  <HiddenSlides>2</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3</vt:i4>
      </vt:variant>
      <vt:variant>
        <vt:lpstr>幻灯片标题</vt:lpstr>
      </vt:variant>
      <vt:variant>
        <vt:i4>156</vt:i4>
      </vt:variant>
    </vt:vector>
  </HeadingPairs>
  <TitlesOfParts>
    <vt:vector size="179" baseType="lpstr">
      <vt:lpstr>ˎ̥</vt:lpstr>
      <vt:lpstr>楷体</vt:lpstr>
      <vt:lpstr>KaTeX_AMS</vt:lpstr>
      <vt:lpstr>KaTeX_Main</vt:lpstr>
      <vt:lpstr>KaTeX_Math</vt:lpstr>
      <vt:lpstr>宋体</vt:lpstr>
      <vt:lpstr>Söhne</vt:lpstr>
      <vt:lpstr>system-ui</vt:lpstr>
      <vt:lpstr>ui-sans-serif</vt:lpstr>
      <vt:lpstr>Arial</vt:lpstr>
      <vt:lpstr>Calibri</vt:lpstr>
      <vt:lpstr>Calibri Light</vt:lpstr>
      <vt:lpstr>Cambria Math</vt:lpstr>
      <vt:lpstr>Lucida Sans Unicode</vt:lpstr>
      <vt:lpstr>Segoe UI</vt:lpstr>
      <vt:lpstr>Symbol</vt:lpstr>
      <vt:lpstr>Times New Roman</vt:lpstr>
      <vt:lpstr>Trebuchet MS</vt:lpstr>
      <vt:lpstr>Wingdings</vt:lpstr>
      <vt:lpstr>Office 主题</vt:lpstr>
      <vt:lpstr>Equation</vt:lpstr>
      <vt:lpstr>Document</vt:lpstr>
      <vt:lpstr>Equation.3</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Mathemstics</dc:title>
  <dc:creator>keji</dc:creator>
  <cp:keywords>2025</cp:keywords>
  <cp:lastModifiedBy>keji</cp:lastModifiedBy>
  <cp:revision>1755</cp:revision>
  <dcterms:created xsi:type="dcterms:W3CDTF">2017-07-24T02:14:00Z</dcterms:created>
  <dcterms:modified xsi:type="dcterms:W3CDTF">2025-06-17T02:24:06Z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73C6946277D1426C8BB6322F8B832BA4</vt:lpwstr>
  </property>
</Properties>
</file>